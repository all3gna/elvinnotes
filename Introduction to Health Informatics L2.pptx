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75" r:id="rId3"/>
    <p:sldId id="291" r:id="rId4"/>
    <p:sldId id="292" r:id="rId5"/>
    <p:sldId id="258" r:id="rId6"/>
    <p:sldId id="276" r:id="rId7"/>
    <p:sldId id="259" r:id="rId8"/>
    <p:sldId id="260" r:id="rId9"/>
    <p:sldId id="277" r:id="rId10"/>
    <p:sldId id="278" r:id="rId11"/>
    <p:sldId id="279" r:id="rId12"/>
    <p:sldId id="280" r:id="rId13"/>
    <p:sldId id="281" r:id="rId14"/>
    <p:sldId id="282" r:id="rId15"/>
    <p:sldId id="283" r:id="rId16"/>
    <p:sldId id="284" r:id="rId17"/>
    <p:sldId id="285" r:id="rId18"/>
    <p:sldId id="286" r:id="rId19"/>
    <p:sldId id="287" r:id="rId20"/>
    <p:sldId id="288" r:id="rId21"/>
    <p:sldId id="261" r:id="rId22"/>
    <p:sldId id="262" r:id="rId23"/>
    <p:sldId id="263" r:id="rId24"/>
    <p:sldId id="264" r:id="rId25"/>
    <p:sldId id="265" r:id="rId26"/>
    <p:sldId id="266" r:id="rId27"/>
    <p:sldId id="267" r:id="rId28"/>
    <p:sldId id="268" r:id="rId29"/>
    <p:sldId id="271" r:id="rId30"/>
    <p:sldId id="272" r:id="rId31"/>
    <p:sldId id="273" r:id="rId32"/>
    <p:sldId id="295" r:id="rId33"/>
    <p:sldId id="296" r:id="rId34"/>
    <p:sldId id="301" r:id="rId35"/>
    <p:sldId id="302" r:id="rId36"/>
    <p:sldId id="304" r:id="rId37"/>
    <p:sldId id="307" r:id="rId38"/>
    <p:sldId id="308" r:id="rId39"/>
    <p:sldId id="309" r:id="rId40"/>
    <p:sldId id="312" r:id="rId41"/>
    <p:sldId id="314" r:id="rId42"/>
    <p:sldId id="315" r:id="rId43"/>
    <p:sldId id="369" r:id="rId44"/>
    <p:sldId id="371" r:id="rId45"/>
    <p:sldId id="372" r:id="rId46"/>
    <p:sldId id="373"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1400"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viewProps" Target="view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slide" Target="slides/slide40.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presProps" Target="presProp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notesMaster" Target="notesMasters/notesMaster1.xml" /><Relationship Id="rId8" Type="http://schemas.openxmlformats.org/officeDocument/2006/relationships/slide" Target="slides/slide7.xml" /><Relationship Id="rId51"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B2E5BC7-84FC-4CAA-AA6E-CFC5F125274E}" type="datetimeFigureOut">
              <a:rPr lang="en-US" smtClean="0"/>
              <a:pPr/>
              <a:t>6/16/2026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7231878-20D7-4B43-9833-15EB16DB9899}" type="slidenum">
              <a:rPr lang="en-US" smtClean="0"/>
              <a:pPr/>
              <a:t>‹#›</a:t>
            </a:fld>
            <a:endParaRPr lang="en-US"/>
          </a:p>
        </p:txBody>
      </p:sp>
    </p:spTree>
    <p:extLst>
      <p:ext uri="{BB962C8B-B14F-4D97-AF65-F5344CB8AC3E}">
        <p14:creationId xmlns:p14="http://schemas.microsoft.com/office/powerpoint/2010/main" val="337835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F07907-FBBD-4853-BF6E-8CFA78EC7487}" type="slidenum">
              <a:rPr lang="en-GB"/>
              <a:pPr/>
              <a:t>3</a:t>
            </a:fld>
            <a:endParaRPr lang="en-GB"/>
          </a:p>
        </p:txBody>
      </p:sp>
      <p:sp>
        <p:nvSpPr>
          <p:cNvPr id="734210" name="Rectangle 2"/>
          <p:cNvSpPr>
            <a:spLocks noGrp="1" noRot="1" noChangeAspect="1" noChangeArrowheads="1" noTextEdit="1"/>
          </p:cNvSpPr>
          <p:nvPr>
            <p:ph type="sldImg"/>
          </p:nvPr>
        </p:nvSpPr>
        <p:spPr>
          <a:xfrm>
            <a:off x="1184275" y="708025"/>
            <a:ext cx="4537075" cy="3402013"/>
          </a:xfrm>
          <a:ln/>
        </p:spPr>
      </p:sp>
      <p:sp>
        <p:nvSpPr>
          <p:cNvPr id="734211" name="Rectangle 3"/>
          <p:cNvSpPr>
            <a:spLocks noGrp="1" noChangeArrowheads="1"/>
          </p:cNvSpPr>
          <p:nvPr>
            <p:ph type="body" idx="1"/>
          </p:nvPr>
        </p:nvSpPr>
        <p:spPr/>
        <p:txBody>
          <a:bodyPr/>
          <a:lstStyle/>
          <a:p>
            <a:endParaRPr lang="ru-RU"/>
          </a:p>
        </p:txBody>
      </p:sp>
    </p:spTree>
    <p:extLst>
      <p:ext uri="{BB962C8B-B14F-4D97-AF65-F5344CB8AC3E}">
        <p14:creationId xmlns:p14="http://schemas.microsoft.com/office/powerpoint/2010/main" val="3866900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Rectangle 9"/>
          <p:cNvSpPr>
            <a:spLocks noGrp="1" noChangeArrowheads="1"/>
          </p:cNvSpPr>
          <p:nvPr>
            <p:ph type="sldNum" sz="quarter"/>
          </p:nvPr>
        </p:nvSpPr>
        <p:spPr>
          <a:noFill/>
        </p:spPr>
        <p:txBody>
          <a:bodyPr/>
          <a:lstStyle/>
          <a:p>
            <a:fld id="{FD1AF38A-DC14-466F-9AE1-2201D3063BC4}" type="slidenum">
              <a:rPr lang="en-US"/>
              <a:pPr/>
              <a:t>5</a:t>
            </a:fld>
            <a:endParaRPr lang="en-US"/>
          </a:p>
        </p:txBody>
      </p:sp>
      <p:sp>
        <p:nvSpPr>
          <p:cNvPr id="22531" name="Text Box 1"/>
          <p:cNvSpPr txBox="1">
            <a:spLocks noChangeArrowheads="1"/>
          </p:cNvSpPr>
          <p:nvPr/>
        </p:nvSpPr>
        <p:spPr bwMode="auto">
          <a:xfrm>
            <a:off x="924854" y="686201"/>
            <a:ext cx="5011492" cy="3429548"/>
          </a:xfrm>
          <a:prstGeom prst="rect">
            <a:avLst/>
          </a:prstGeom>
          <a:solidFill>
            <a:srgbClr val="FFFFFF"/>
          </a:solidFill>
          <a:ln w="9360">
            <a:solidFill>
              <a:srgbClr val="000000"/>
            </a:solidFill>
            <a:miter lim="800000"/>
            <a:headEnd/>
            <a:tailEnd/>
          </a:ln>
        </p:spPr>
        <p:txBody>
          <a:bodyPr wrap="none" anchor="ctr"/>
          <a:lstStyle/>
          <a:p>
            <a:endParaRPr lang="ru-RU"/>
          </a:p>
        </p:txBody>
      </p:sp>
      <p:sp>
        <p:nvSpPr>
          <p:cNvPr id="22532" name="Text Box 2"/>
          <p:cNvSpPr txBox="1">
            <a:spLocks noGrp="1" noChangeArrowheads="1"/>
          </p:cNvSpPr>
          <p:nvPr>
            <p:ph type="body"/>
          </p:nvPr>
        </p:nvSpPr>
        <p:spPr>
          <a:xfrm>
            <a:off x="686441" y="4343510"/>
            <a:ext cx="5486720" cy="4118668"/>
          </a:xfrm>
          <a:noFill/>
          <a:ln/>
        </p:spPr>
        <p:txBody>
          <a:bodyPr tIns="57384"/>
          <a:lstStyle/>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dirty="0">
              <a:latin typeface="Arial" charset="0"/>
              <a:cs typeface="Arial" charset="0"/>
            </a:endParaRPr>
          </a:p>
        </p:txBody>
      </p:sp>
    </p:spTree>
    <p:extLst>
      <p:ext uri="{BB962C8B-B14F-4D97-AF65-F5344CB8AC3E}">
        <p14:creationId xmlns:p14="http://schemas.microsoft.com/office/powerpoint/2010/main" val="19418736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9"/>
          <p:cNvSpPr>
            <a:spLocks noGrp="1" noChangeArrowheads="1"/>
          </p:cNvSpPr>
          <p:nvPr>
            <p:ph type="sldNum" sz="quarter"/>
          </p:nvPr>
        </p:nvSpPr>
        <p:spPr>
          <a:noFill/>
        </p:spPr>
        <p:txBody>
          <a:bodyPr/>
          <a:lstStyle/>
          <a:p>
            <a:fld id="{0AB14BAE-D7A6-4089-8361-11BD6D399166}" type="slidenum">
              <a:rPr lang="en-US"/>
              <a:pPr/>
              <a:t>7</a:t>
            </a:fld>
            <a:endParaRPr lang="en-US"/>
          </a:p>
        </p:txBody>
      </p:sp>
      <p:sp>
        <p:nvSpPr>
          <p:cNvPr id="23555" name="Text Box 1"/>
          <p:cNvSpPr txBox="1">
            <a:spLocks noChangeArrowheads="1"/>
          </p:cNvSpPr>
          <p:nvPr/>
        </p:nvSpPr>
        <p:spPr bwMode="auto">
          <a:xfrm>
            <a:off x="924854" y="686201"/>
            <a:ext cx="5011492" cy="3429548"/>
          </a:xfrm>
          <a:prstGeom prst="rect">
            <a:avLst/>
          </a:prstGeom>
          <a:solidFill>
            <a:srgbClr val="FFFFFF"/>
          </a:solidFill>
          <a:ln w="9360">
            <a:solidFill>
              <a:srgbClr val="000000"/>
            </a:solidFill>
            <a:miter lim="800000"/>
            <a:headEnd/>
            <a:tailEnd/>
          </a:ln>
        </p:spPr>
        <p:txBody>
          <a:bodyPr wrap="none" anchor="ctr"/>
          <a:lstStyle/>
          <a:p>
            <a:endParaRPr lang="ru-RU"/>
          </a:p>
        </p:txBody>
      </p:sp>
      <p:sp>
        <p:nvSpPr>
          <p:cNvPr id="23556" name="Text Box 2"/>
          <p:cNvSpPr txBox="1">
            <a:spLocks noGrp="1" noChangeArrowheads="1"/>
          </p:cNvSpPr>
          <p:nvPr>
            <p:ph type="body"/>
          </p:nvPr>
        </p:nvSpPr>
        <p:spPr>
          <a:xfrm>
            <a:off x="686441" y="4343510"/>
            <a:ext cx="5486720" cy="4115748"/>
          </a:xfrm>
          <a:noFill/>
          <a:ln/>
        </p:spPr>
        <p:txBody>
          <a:bodyPr tIns="56502"/>
          <a:lstStyle/>
          <a:p>
            <a:pPr eaLnBrk="1" hangingPunct="1">
              <a:lnSpc>
                <a:spcPct val="93000"/>
              </a:lnSpc>
              <a:spcBef>
                <a:spcPts val="413"/>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1100">
                <a:latin typeface="Arial" charset="0"/>
                <a:cs typeface="Arial" charset="0"/>
              </a:rPr>
              <a:t>Multidisciplinary discipline/study/profession/approach of how people transform technology and how technology transforms people </a:t>
            </a:r>
          </a:p>
          <a:p>
            <a:pPr eaLnBrk="1" hangingPunct="1">
              <a:lnSpc>
                <a:spcPct val="93000"/>
              </a:lnSpc>
              <a:spcBef>
                <a:spcPts val="413"/>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1100">
                <a:latin typeface="Arial" charset="0"/>
                <a:cs typeface="Arial" charset="0"/>
              </a:rPr>
              <a:t>Lies at the intersection of people, technology and information systems and focuses on the expanding relationship between information systems and the daily lives of real people </a:t>
            </a:r>
          </a:p>
          <a:p>
            <a:pPr eaLnBrk="1" hangingPunct="1">
              <a:lnSpc>
                <a:spcPct val="93000"/>
              </a:lnSpc>
              <a:spcBef>
                <a:spcPts val="413"/>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1100">
                <a:latin typeface="Arial" charset="0"/>
                <a:cs typeface="Arial" charset="0"/>
              </a:rPr>
              <a:t>Helps develop new/better uses for information technology (IT) in order to design solutions that reflect the way people create, use and find information, and it takes into account the social, cultural, political and organizational settings in which those solutions will be used</a:t>
            </a:r>
          </a:p>
          <a:p>
            <a:pPr eaLnBrk="1" hangingPunct="1">
              <a:lnSpc>
                <a:spcPct val="93000"/>
              </a:lnSpc>
              <a:spcBef>
                <a:spcPts val="713"/>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1900">
                <a:latin typeface="Arial" charset="0"/>
                <a:cs typeface="Arial" charset="0"/>
              </a:rPr>
              <a:t>Informatics includes the use of computers for change management, human-computer interactions, communications, risk management, organizational behavior, workflow redesign, productivity improvement, and organizational culture, safety, and quality. </a:t>
            </a:r>
          </a:p>
          <a:p>
            <a:pPr eaLnBrk="1" hangingPunct="1">
              <a:lnSpc>
                <a:spcPct val="93000"/>
              </a:lnSpc>
              <a:spcBef>
                <a:spcPts val="713"/>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sz="1900">
              <a:latin typeface="Arial" charset="0"/>
              <a:cs typeface="Arial" charset="0"/>
            </a:endParaRPr>
          </a:p>
        </p:txBody>
      </p:sp>
    </p:spTree>
    <p:extLst>
      <p:ext uri="{BB962C8B-B14F-4D97-AF65-F5344CB8AC3E}">
        <p14:creationId xmlns:p14="http://schemas.microsoft.com/office/powerpoint/2010/main" val="10744389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9"/>
          <p:cNvSpPr>
            <a:spLocks noGrp="1" noChangeArrowheads="1"/>
          </p:cNvSpPr>
          <p:nvPr>
            <p:ph type="sldNum" sz="quarter"/>
          </p:nvPr>
        </p:nvSpPr>
        <p:spPr>
          <a:noFill/>
        </p:spPr>
        <p:txBody>
          <a:bodyPr/>
          <a:lstStyle/>
          <a:p>
            <a:fld id="{DD6B6163-6E49-420A-A073-2D8A54D0551A}" type="slidenum">
              <a:rPr lang="en-US"/>
              <a:pPr/>
              <a:t>8</a:t>
            </a:fld>
            <a:endParaRPr lang="en-US"/>
          </a:p>
        </p:txBody>
      </p:sp>
      <p:sp>
        <p:nvSpPr>
          <p:cNvPr id="24579" name="Text Box 1"/>
          <p:cNvSpPr txBox="1">
            <a:spLocks noChangeArrowheads="1"/>
          </p:cNvSpPr>
          <p:nvPr/>
        </p:nvSpPr>
        <p:spPr bwMode="auto">
          <a:xfrm>
            <a:off x="924854" y="686201"/>
            <a:ext cx="5011492" cy="3429548"/>
          </a:xfrm>
          <a:prstGeom prst="rect">
            <a:avLst/>
          </a:prstGeom>
          <a:solidFill>
            <a:srgbClr val="FFFFFF"/>
          </a:solidFill>
          <a:ln w="9360">
            <a:solidFill>
              <a:srgbClr val="000000"/>
            </a:solidFill>
            <a:miter lim="800000"/>
            <a:headEnd/>
            <a:tailEnd/>
          </a:ln>
        </p:spPr>
        <p:txBody>
          <a:bodyPr wrap="none" anchor="ctr"/>
          <a:lstStyle/>
          <a:p>
            <a:endParaRPr lang="ru-RU"/>
          </a:p>
        </p:txBody>
      </p:sp>
      <p:sp>
        <p:nvSpPr>
          <p:cNvPr id="24580" name="Rectangle 2"/>
          <p:cNvSpPr txBox="1">
            <a:spLocks noGrp="1" noChangeArrowheads="1"/>
          </p:cNvSpPr>
          <p:nvPr>
            <p:ph type="body"/>
          </p:nvPr>
        </p:nvSpPr>
        <p:spPr>
          <a:xfrm>
            <a:off x="686441" y="4343510"/>
            <a:ext cx="5483519" cy="4198969"/>
          </a:xfrm>
          <a:noFill/>
          <a:ln/>
        </p:spPr>
        <p:txBody>
          <a:bodyPr wrap="none" anchor="ctr"/>
          <a:lstStyle/>
          <a:p>
            <a:endParaRPr lang="ru-RU"/>
          </a:p>
        </p:txBody>
      </p:sp>
    </p:spTree>
    <p:extLst>
      <p:ext uri="{BB962C8B-B14F-4D97-AF65-F5344CB8AC3E}">
        <p14:creationId xmlns:p14="http://schemas.microsoft.com/office/powerpoint/2010/main" val="35100558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headEnd/>
            <a:tailEnd/>
          </a:ln>
        </p:spPr>
      </p:sp>
      <p:sp>
        <p:nvSpPr>
          <p:cNvPr id="4198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
        <p:nvSpPr>
          <p:cNvPr id="41988"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endParaRPr lang="en-US"/>
          </a:p>
        </p:txBody>
      </p:sp>
      <p:sp>
        <p:nvSpPr>
          <p:cNvPr id="41989" name="Slide Number Placeholder 4"/>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6C19F54-64D4-4F94-B391-9D62A169B412}" type="slidenum">
              <a:rPr lang="en-US" smtClean="0"/>
              <a:pPr fontAlgn="base">
                <a:spcBef>
                  <a:spcPct val="0"/>
                </a:spcBef>
                <a:spcAft>
                  <a:spcPct val="0"/>
                </a:spcAft>
              </a:pPr>
              <a:t>20</a:t>
            </a:fld>
            <a:endParaRPr lang="en-US"/>
          </a:p>
        </p:txBody>
      </p:sp>
    </p:spTree>
    <p:extLst>
      <p:ext uri="{BB962C8B-B14F-4D97-AF65-F5344CB8AC3E}">
        <p14:creationId xmlns:p14="http://schemas.microsoft.com/office/powerpoint/2010/main" val="262883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9"/>
          <p:cNvSpPr>
            <a:spLocks noGrp="1" noChangeArrowheads="1"/>
          </p:cNvSpPr>
          <p:nvPr>
            <p:ph type="sldNum" sz="quarter"/>
          </p:nvPr>
        </p:nvSpPr>
        <p:spPr>
          <a:noFill/>
        </p:spPr>
        <p:txBody>
          <a:bodyPr/>
          <a:lstStyle/>
          <a:p>
            <a:fld id="{EA851F8E-6ED3-479C-AAE1-F733C01704DD}" type="slidenum">
              <a:rPr lang="en-US"/>
              <a:pPr/>
              <a:t>21</a:t>
            </a:fld>
            <a:endParaRPr lang="en-US"/>
          </a:p>
        </p:txBody>
      </p:sp>
      <p:sp>
        <p:nvSpPr>
          <p:cNvPr id="25603" name="Text Box 1"/>
          <p:cNvSpPr txBox="1">
            <a:spLocks noChangeArrowheads="1"/>
          </p:cNvSpPr>
          <p:nvPr/>
        </p:nvSpPr>
        <p:spPr bwMode="auto">
          <a:xfrm>
            <a:off x="924854" y="686201"/>
            <a:ext cx="5011492" cy="3429548"/>
          </a:xfrm>
          <a:prstGeom prst="rect">
            <a:avLst/>
          </a:prstGeom>
          <a:solidFill>
            <a:srgbClr val="FFFFFF"/>
          </a:solidFill>
          <a:ln w="9360">
            <a:solidFill>
              <a:srgbClr val="000000"/>
            </a:solidFill>
            <a:miter lim="800000"/>
            <a:headEnd/>
            <a:tailEnd/>
          </a:ln>
        </p:spPr>
        <p:txBody>
          <a:bodyPr wrap="none" anchor="ctr"/>
          <a:lstStyle/>
          <a:p>
            <a:endParaRPr lang="ru-RU"/>
          </a:p>
        </p:txBody>
      </p:sp>
      <p:sp>
        <p:nvSpPr>
          <p:cNvPr id="25604" name="Text Box 2"/>
          <p:cNvSpPr txBox="1">
            <a:spLocks noGrp="1" noChangeArrowheads="1"/>
          </p:cNvSpPr>
          <p:nvPr>
            <p:ph type="body"/>
          </p:nvPr>
        </p:nvSpPr>
        <p:spPr>
          <a:xfrm>
            <a:off x="686441" y="4343510"/>
            <a:ext cx="5486720" cy="4115748"/>
          </a:xfrm>
          <a:noFill/>
          <a:ln/>
        </p:spPr>
        <p:txBody>
          <a:bodyPr tIns="57384"/>
          <a:lstStyle/>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dirty="0">
              <a:latin typeface="Arial" charset="0"/>
              <a:cs typeface="Arial" charset="0"/>
            </a:endParaRPr>
          </a:p>
        </p:txBody>
      </p:sp>
    </p:spTree>
    <p:extLst>
      <p:ext uri="{BB962C8B-B14F-4D97-AF65-F5344CB8AC3E}">
        <p14:creationId xmlns:p14="http://schemas.microsoft.com/office/powerpoint/2010/main" val="56480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9"/>
          <p:cNvSpPr>
            <a:spLocks noGrp="1" noChangeArrowheads="1"/>
          </p:cNvSpPr>
          <p:nvPr>
            <p:ph type="sldNum" sz="quarter"/>
          </p:nvPr>
        </p:nvSpPr>
        <p:spPr>
          <a:noFill/>
        </p:spPr>
        <p:txBody>
          <a:bodyPr/>
          <a:lstStyle/>
          <a:p>
            <a:fld id="{1F24AD83-6228-4D90-93A6-110B9003C876}" type="slidenum">
              <a:rPr lang="en-US"/>
              <a:pPr/>
              <a:t>22</a:t>
            </a:fld>
            <a:endParaRPr lang="en-US"/>
          </a:p>
        </p:txBody>
      </p:sp>
      <p:sp>
        <p:nvSpPr>
          <p:cNvPr id="26627" name="Text Box 1"/>
          <p:cNvSpPr txBox="1">
            <a:spLocks noChangeArrowheads="1"/>
          </p:cNvSpPr>
          <p:nvPr/>
        </p:nvSpPr>
        <p:spPr bwMode="auto">
          <a:xfrm>
            <a:off x="924854" y="686201"/>
            <a:ext cx="5011492" cy="3429548"/>
          </a:xfrm>
          <a:prstGeom prst="rect">
            <a:avLst/>
          </a:prstGeom>
          <a:solidFill>
            <a:srgbClr val="FFFFFF"/>
          </a:solidFill>
          <a:ln w="9360">
            <a:solidFill>
              <a:srgbClr val="000000"/>
            </a:solidFill>
            <a:miter lim="800000"/>
            <a:headEnd/>
            <a:tailEnd/>
          </a:ln>
        </p:spPr>
        <p:txBody>
          <a:bodyPr wrap="none" anchor="ctr"/>
          <a:lstStyle/>
          <a:p>
            <a:endParaRPr lang="ru-RU"/>
          </a:p>
        </p:txBody>
      </p:sp>
      <p:sp>
        <p:nvSpPr>
          <p:cNvPr id="26628" name="Text Box 2"/>
          <p:cNvSpPr txBox="1">
            <a:spLocks noGrp="1" noChangeArrowheads="1"/>
          </p:cNvSpPr>
          <p:nvPr>
            <p:ph type="body"/>
          </p:nvPr>
        </p:nvSpPr>
        <p:spPr>
          <a:xfrm>
            <a:off x="686441" y="4343510"/>
            <a:ext cx="5486720" cy="4115748"/>
          </a:xfrm>
          <a:noFill/>
          <a:ln/>
        </p:spPr>
        <p:txBody>
          <a:bodyPr tIns="57384"/>
          <a:lstStyle/>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Since the term eHealth is widely used, it is useful to define it also and it's relationship to health informatics.</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atin typeface="Arial" charset="0"/>
              <a:cs typeface="Arial" charset="0"/>
            </a:endParaRP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Unfortunately, the term eHealth has many informal meanings so it is difficult to define clearly and can lead to confusion.</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eHealth has been applied to: telemedicine, patient centered health records and information access, health data collections, research using electronic records, and many other areas.</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atin typeface="Arial" charset="0"/>
              <a:cs typeface="Arial" charset="0"/>
            </a:endParaRP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We prefer to use the more precise term health informatics to define the collection, manipulation, and use of health information.</a:t>
            </a:r>
          </a:p>
        </p:txBody>
      </p:sp>
    </p:spTree>
    <p:extLst>
      <p:ext uri="{BB962C8B-B14F-4D97-AF65-F5344CB8AC3E}">
        <p14:creationId xmlns:p14="http://schemas.microsoft.com/office/powerpoint/2010/main" val="22360546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9"/>
          <p:cNvSpPr>
            <a:spLocks noGrp="1" noChangeArrowheads="1"/>
          </p:cNvSpPr>
          <p:nvPr>
            <p:ph type="sldNum" sz="quarter"/>
          </p:nvPr>
        </p:nvSpPr>
        <p:spPr>
          <a:noFill/>
        </p:spPr>
        <p:txBody>
          <a:bodyPr/>
          <a:lstStyle/>
          <a:p>
            <a:fld id="{E1E200A0-41DC-4271-8D2D-4CAD8E16F52C}" type="slidenum">
              <a:rPr lang="en-US"/>
              <a:pPr/>
              <a:t>23</a:t>
            </a:fld>
            <a:endParaRPr lang="en-US"/>
          </a:p>
        </p:txBody>
      </p:sp>
      <p:sp>
        <p:nvSpPr>
          <p:cNvPr id="27651" name="Text Box 1"/>
          <p:cNvSpPr txBox="1">
            <a:spLocks noChangeArrowheads="1"/>
          </p:cNvSpPr>
          <p:nvPr/>
        </p:nvSpPr>
        <p:spPr bwMode="auto">
          <a:xfrm>
            <a:off x="924854" y="686201"/>
            <a:ext cx="5011492" cy="3429548"/>
          </a:xfrm>
          <a:prstGeom prst="rect">
            <a:avLst/>
          </a:prstGeom>
          <a:solidFill>
            <a:srgbClr val="FFFFFF"/>
          </a:solidFill>
          <a:ln w="9360">
            <a:solidFill>
              <a:srgbClr val="000000"/>
            </a:solidFill>
            <a:miter lim="800000"/>
            <a:headEnd/>
            <a:tailEnd/>
          </a:ln>
        </p:spPr>
        <p:txBody>
          <a:bodyPr wrap="none" anchor="ctr"/>
          <a:lstStyle/>
          <a:p>
            <a:endParaRPr lang="ru-RU"/>
          </a:p>
        </p:txBody>
      </p:sp>
      <p:sp>
        <p:nvSpPr>
          <p:cNvPr id="27652" name="Rectangle 2"/>
          <p:cNvSpPr txBox="1">
            <a:spLocks noGrp="1" noChangeArrowheads="1"/>
          </p:cNvSpPr>
          <p:nvPr>
            <p:ph type="body"/>
          </p:nvPr>
        </p:nvSpPr>
        <p:spPr>
          <a:xfrm>
            <a:off x="686441" y="4343510"/>
            <a:ext cx="5483519" cy="4198969"/>
          </a:xfrm>
          <a:noFill/>
          <a:ln/>
        </p:spPr>
        <p:txBody>
          <a:bodyPr wrap="none" anchor="ctr"/>
          <a:lstStyle/>
          <a:p>
            <a:endParaRPr lang="ru-RU"/>
          </a:p>
        </p:txBody>
      </p:sp>
    </p:spTree>
    <p:extLst>
      <p:ext uri="{BB962C8B-B14F-4D97-AF65-F5344CB8AC3E}">
        <p14:creationId xmlns:p14="http://schemas.microsoft.com/office/powerpoint/2010/main" val="2200890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4" name="Rectangle 9"/>
          <p:cNvSpPr>
            <a:spLocks noGrp="1" noChangeArrowheads="1"/>
          </p:cNvSpPr>
          <p:nvPr>
            <p:ph type="sldNum" sz="quarter"/>
          </p:nvPr>
        </p:nvSpPr>
        <p:spPr>
          <a:noFill/>
        </p:spPr>
        <p:txBody>
          <a:bodyPr/>
          <a:lstStyle/>
          <a:p>
            <a:fld id="{430871DE-D0CC-4465-AD8D-123CB3FB11F1}" type="slidenum">
              <a:rPr lang="en-US"/>
              <a:pPr/>
              <a:t>24</a:t>
            </a:fld>
            <a:endParaRPr lang="en-US"/>
          </a:p>
        </p:txBody>
      </p:sp>
      <p:sp>
        <p:nvSpPr>
          <p:cNvPr id="28675" name="Text Box 1"/>
          <p:cNvSpPr txBox="1">
            <a:spLocks noChangeArrowheads="1"/>
          </p:cNvSpPr>
          <p:nvPr/>
        </p:nvSpPr>
        <p:spPr bwMode="auto">
          <a:xfrm>
            <a:off x="924854" y="686201"/>
            <a:ext cx="5011492" cy="3429548"/>
          </a:xfrm>
          <a:prstGeom prst="rect">
            <a:avLst/>
          </a:prstGeom>
          <a:solidFill>
            <a:srgbClr val="FFFFFF"/>
          </a:solidFill>
          <a:ln w="9360">
            <a:solidFill>
              <a:srgbClr val="000000"/>
            </a:solidFill>
            <a:miter lim="800000"/>
            <a:headEnd/>
            <a:tailEnd/>
          </a:ln>
        </p:spPr>
        <p:txBody>
          <a:bodyPr wrap="none" anchor="ctr"/>
          <a:lstStyle/>
          <a:p>
            <a:endParaRPr lang="ru-RU"/>
          </a:p>
        </p:txBody>
      </p:sp>
      <p:sp>
        <p:nvSpPr>
          <p:cNvPr id="28676" name="Text Box 2"/>
          <p:cNvSpPr txBox="1">
            <a:spLocks noGrp="1" noChangeArrowheads="1"/>
          </p:cNvSpPr>
          <p:nvPr>
            <p:ph type="body"/>
          </p:nvPr>
        </p:nvSpPr>
        <p:spPr>
          <a:xfrm>
            <a:off x="686441" y="4343510"/>
            <a:ext cx="5486720" cy="4115748"/>
          </a:xfrm>
          <a:noFill/>
          <a:ln/>
        </p:spPr>
        <p:txBody>
          <a:bodyPr tIns="57384"/>
          <a:lstStyle/>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Informatics is the collection, manipulation and use of information.</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atin typeface="Arial" charset="0"/>
              <a:cs typeface="Arial" charset="0"/>
            </a:endParaRP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Information Technology is the hardware and software that Informatics uses.</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atin typeface="Arial" charset="0"/>
              <a:cs typeface="Arial" charset="0"/>
            </a:endParaRP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There is debate about whether to call paper records an "information system" or "information technology" and whether or not it can be considered part of "informatics".</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I believe that paper records should be considered part of the information system and should be considered as part of "health informatics".  I would probably draw the line at considering it "information technology" (unless you have a very low bar for defining technology).</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atin typeface="Arial" charset="0"/>
              <a:cs typeface="Arial" charset="0"/>
            </a:endParaRP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atin typeface="Arial" charset="0"/>
              <a:cs typeface="Arial" charset="0"/>
            </a:endParaRPr>
          </a:p>
        </p:txBody>
      </p:sp>
    </p:spTree>
    <p:extLst>
      <p:ext uri="{BB962C8B-B14F-4D97-AF65-F5344CB8AC3E}">
        <p14:creationId xmlns:p14="http://schemas.microsoft.com/office/powerpoint/2010/main" val="7622827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8" name="Rectangle 9"/>
          <p:cNvSpPr>
            <a:spLocks noGrp="1" noChangeArrowheads="1"/>
          </p:cNvSpPr>
          <p:nvPr>
            <p:ph type="sldNum" sz="quarter"/>
          </p:nvPr>
        </p:nvSpPr>
        <p:spPr>
          <a:noFill/>
        </p:spPr>
        <p:txBody>
          <a:bodyPr/>
          <a:lstStyle/>
          <a:p>
            <a:fld id="{59560624-FDC4-47B4-AD72-964070BDC8EC}" type="slidenum">
              <a:rPr lang="en-US"/>
              <a:pPr/>
              <a:t>25</a:t>
            </a:fld>
            <a:endParaRPr lang="en-US"/>
          </a:p>
        </p:txBody>
      </p:sp>
      <p:sp>
        <p:nvSpPr>
          <p:cNvPr id="29699" name="Text Box 1"/>
          <p:cNvSpPr txBox="1">
            <a:spLocks noChangeArrowheads="1"/>
          </p:cNvSpPr>
          <p:nvPr/>
        </p:nvSpPr>
        <p:spPr bwMode="auto">
          <a:xfrm>
            <a:off x="924854" y="686201"/>
            <a:ext cx="5011492" cy="3429548"/>
          </a:xfrm>
          <a:prstGeom prst="rect">
            <a:avLst/>
          </a:prstGeom>
          <a:solidFill>
            <a:srgbClr val="FFFFFF"/>
          </a:solidFill>
          <a:ln w="9360">
            <a:solidFill>
              <a:srgbClr val="000000"/>
            </a:solidFill>
            <a:miter lim="800000"/>
            <a:headEnd/>
            <a:tailEnd/>
          </a:ln>
        </p:spPr>
        <p:txBody>
          <a:bodyPr wrap="none" anchor="ctr"/>
          <a:lstStyle/>
          <a:p>
            <a:endParaRPr lang="ru-RU"/>
          </a:p>
        </p:txBody>
      </p:sp>
      <p:sp>
        <p:nvSpPr>
          <p:cNvPr id="29700" name="Text Box 2"/>
          <p:cNvSpPr txBox="1">
            <a:spLocks noGrp="1" noChangeArrowheads="1"/>
          </p:cNvSpPr>
          <p:nvPr>
            <p:ph type="body"/>
          </p:nvPr>
        </p:nvSpPr>
        <p:spPr>
          <a:xfrm>
            <a:off x="686441" y="4343510"/>
            <a:ext cx="5486720" cy="4115748"/>
          </a:xfrm>
          <a:noFill/>
          <a:ln/>
        </p:spPr>
        <p:txBody>
          <a:bodyPr tIns="57384"/>
          <a:lstStyle/>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Acquisition: capture data taking care to strive for quality (accurate, timely, reliable, complete)</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Storage: save data so that it can be retrieved (the key term here is retrieval… the trash bin will store data but it is difficult to retrieve)</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Communication: Data needs to be moved from point of collection to storage, for analysis, and finally to point of use (this may a very short distance and time where data is used near collection point or may be widely separated points.)</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Manipulation: data usually needs to be manipulated in some way, combined with other data, aggregated, or compared</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Display: How can the data be best displayed so that it can be easily understood and acted upon?</a:t>
            </a:r>
          </a:p>
        </p:txBody>
      </p:sp>
    </p:spTree>
    <p:extLst>
      <p:ext uri="{BB962C8B-B14F-4D97-AF65-F5344CB8AC3E}">
        <p14:creationId xmlns:p14="http://schemas.microsoft.com/office/powerpoint/2010/main" val="28999948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Rectangle 9"/>
          <p:cNvSpPr>
            <a:spLocks noGrp="1" noChangeArrowheads="1"/>
          </p:cNvSpPr>
          <p:nvPr>
            <p:ph type="sldNum" sz="quarter"/>
          </p:nvPr>
        </p:nvSpPr>
        <p:spPr>
          <a:noFill/>
        </p:spPr>
        <p:txBody>
          <a:bodyPr/>
          <a:lstStyle/>
          <a:p>
            <a:fld id="{F2E0DDB6-9F16-46AA-AE30-57CAFAB9CEB1}" type="slidenum">
              <a:rPr lang="en-US"/>
              <a:pPr/>
              <a:t>26</a:t>
            </a:fld>
            <a:endParaRPr lang="en-US"/>
          </a:p>
        </p:txBody>
      </p:sp>
      <p:sp>
        <p:nvSpPr>
          <p:cNvPr id="30723" name="Text Box 1"/>
          <p:cNvSpPr txBox="1">
            <a:spLocks noChangeArrowheads="1"/>
          </p:cNvSpPr>
          <p:nvPr/>
        </p:nvSpPr>
        <p:spPr bwMode="auto">
          <a:xfrm>
            <a:off x="924854" y="686201"/>
            <a:ext cx="5011492" cy="3429548"/>
          </a:xfrm>
          <a:prstGeom prst="rect">
            <a:avLst/>
          </a:prstGeom>
          <a:solidFill>
            <a:srgbClr val="FFFFFF"/>
          </a:solidFill>
          <a:ln w="9360">
            <a:solidFill>
              <a:srgbClr val="000000"/>
            </a:solidFill>
            <a:miter lim="800000"/>
            <a:headEnd/>
            <a:tailEnd/>
          </a:ln>
        </p:spPr>
        <p:txBody>
          <a:bodyPr wrap="none" anchor="ctr"/>
          <a:lstStyle/>
          <a:p>
            <a:endParaRPr lang="ru-RU"/>
          </a:p>
        </p:txBody>
      </p:sp>
      <p:sp>
        <p:nvSpPr>
          <p:cNvPr id="30724" name="Text Box 2"/>
          <p:cNvSpPr txBox="1">
            <a:spLocks noGrp="1" noChangeArrowheads="1"/>
          </p:cNvSpPr>
          <p:nvPr>
            <p:ph type="body"/>
          </p:nvPr>
        </p:nvSpPr>
        <p:spPr>
          <a:xfrm>
            <a:off x="686441" y="4343510"/>
            <a:ext cx="5486720" cy="4115748"/>
          </a:xfrm>
          <a:noFill/>
          <a:ln/>
        </p:spPr>
        <p:txBody>
          <a:bodyPr tIns="57384"/>
          <a:lstStyle/>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ea typeface="宋体" charset="-122"/>
              </a:rPr>
              <a:t>We spend so much time looking at aggregate indicators that sometimes we forget:</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ea typeface="宋体" charset="-122"/>
              </a:rPr>
              <a:t>- Data comes from individual people.</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ea typeface="宋体" charset="-122"/>
              </a:rPr>
              <a:t>It is now becoming more necessary and feasible to:</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ea typeface="宋体" charset="-122"/>
              </a:rPr>
              <a:t> -  record information about individual people.</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ea typeface="宋体" charset="-122"/>
              </a:rPr>
              <a:t> - share information at all levels (from individual patient care to management to planning to monitoring)</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ea typeface="宋体" charset="-122"/>
              </a:rPr>
              <a:t>HIS stack now includes individual patient records in addition to community, facility, district, and national systems.</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atin typeface="Arial" charset="0"/>
              <a:ea typeface="宋体" charset="-122"/>
            </a:endParaRP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Traditionally, public health informatics has included only aggregate indicators such as those routinely collected from facilities on attendance, services, diseases.</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However, chronic diseases such as HIV/AIDS, MDR TB, as well as diabetes, hypertension have made it essential to include individual medical records in health informatics.</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atin typeface="Arial" charset="0"/>
              <a:cs typeface="Arial" charset="0"/>
            </a:endParaRP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atin typeface="Arial" charset="0"/>
              <a:cs typeface="Arial" charset="0"/>
            </a:endParaRPr>
          </a:p>
        </p:txBody>
      </p:sp>
    </p:spTree>
    <p:extLst>
      <p:ext uri="{BB962C8B-B14F-4D97-AF65-F5344CB8AC3E}">
        <p14:creationId xmlns:p14="http://schemas.microsoft.com/office/powerpoint/2010/main" val="42778601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9"/>
          <p:cNvSpPr>
            <a:spLocks noGrp="1" noChangeArrowheads="1"/>
          </p:cNvSpPr>
          <p:nvPr>
            <p:ph type="sldNum" sz="quarter"/>
          </p:nvPr>
        </p:nvSpPr>
        <p:spPr>
          <a:noFill/>
        </p:spPr>
        <p:txBody>
          <a:bodyPr/>
          <a:lstStyle/>
          <a:p>
            <a:fld id="{C19265E6-22E3-46F3-B685-464C99D0412B}" type="slidenum">
              <a:rPr lang="en-US"/>
              <a:pPr/>
              <a:t>27</a:t>
            </a:fld>
            <a:endParaRPr lang="en-US"/>
          </a:p>
        </p:txBody>
      </p:sp>
      <p:sp>
        <p:nvSpPr>
          <p:cNvPr id="31747" name="Text Box 1"/>
          <p:cNvSpPr txBox="1">
            <a:spLocks noChangeArrowheads="1"/>
          </p:cNvSpPr>
          <p:nvPr/>
        </p:nvSpPr>
        <p:spPr bwMode="auto">
          <a:xfrm>
            <a:off x="924854" y="686201"/>
            <a:ext cx="5011492" cy="3429548"/>
          </a:xfrm>
          <a:prstGeom prst="rect">
            <a:avLst/>
          </a:prstGeom>
          <a:solidFill>
            <a:srgbClr val="FFFFFF"/>
          </a:solidFill>
          <a:ln w="9360">
            <a:solidFill>
              <a:srgbClr val="000000"/>
            </a:solidFill>
            <a:miter lim="800000"/>
            <a:headEnd/>
            <a:tailEnd/>
          </a:ln>
        </p:spPr>
        <p:txBody>
          <a:bodyPr wrap="none" anchor="ctr"/>
          <a:lstStyle/>
          <a:p>
            <a:endParaRPr lang="ru-RU"/>
          </a:p>
        </p:txBody>
      </p:sp>
      <p:sp>
        <p:nvSpPr>
          <p:cNvPr id="31748" name="Text Box 2"/>
          <p:cNvSpPr txBox="1">
            <a:spLocks noGrp="1" noChangeArrowheads="1"/>
          </p:cNvSpPr>
          <p:nvPr>
            <p:ph type="body"/>
          </p:nvPr>
        </p:nvSpPr>
        <p:spPr>
          <a:xfrm>
            <a:off x="686441" y="4343510"/>
            <a:ext cx="5486720" cy="4115748"/>
          </a:xfrm>
          <a:noFill/>
          <a:ln/>
        </p:spPr>
        <p:txBody>
          <a:bodyPr tIns="57384"/>
          <a:lstStyle/>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Principles to apply health informatics.</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atin typeface="Arial" charset="0"/>
              <a:cs typeface="Arial" charset="0"/>
            </a:endParaRPr>
          </a:p>
        </p:txBody>
      </p:sp>
    </p:spTree>
    <p:extLst>
      <p:ext uri="{BB962C8B-B14F-4D97-AF65-F5344CB8AC3E}">
        <p14:creationId xmlns:p14="http://schemas.microsoft.com/office/powerpoint/2010/main" val="31796794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9"/>
          <p:cNvSpPr>
            <a:spLocks noGrp="1" noChangeArrowheads="1"/>
          </p:cNvSpPr>
          <p:nvPr>
            <p:ph type="sldNum" sz="quarter"/>
          </p:nvPr>
        </p:nvSpPr>
        <p:spPr>
          <a:noFill/>
        </p:spPr>
        <p:txBody>
          <a:bodyPr/>
          <a:lstStyle/>
          <a:p>
            <a:fld id="{CC3E6FB9-800F-46C5-80B5-C856BEE2841F}" type="slidenum">
              <a:rPr lang="en-US"/>
              <a:pPr/>
              <a:t>28</a:t>
            </a:fld>
            <a:endParaRPr lang="en-US"/>
          </a:p>
        </p:txBody>
      </p:sp>
      <p:sp>
        <p:nvSpPr>
          <p:cNvPr id="32771" name="Text Box 1"/>
          <p:cNvSpPr txBox="1">
            <a:spLocks noChangeArrowheads="1"/>
          </p:cNvSpPr>
          <p:nvPr/>
        </p:nvSpPr>
        <p:spPr bwMode="auto">
          <a:xfrm>
            <a:off x="924854" y="686201"/>
            <a:ext cx="5011492" cy="3429548"/>
          </a:xfrm>
          <a:prstGeom prst="rect">
            <a:avLst/>
          </a:prstGeom>
          <a:solidFill>
            <a:srgbClr val="FFFFFF"/>
          </a:solidFill>
          <a:ln w="9360">
            <a:solidFill>
              <a:srgbClr val="000000"/>
            </a:solidFill>
            <a:miter lim="800000"/>
            <a:headEnd/>
            <a:tailEnd/>
          </a:ln>
        </p:spPr>
        <p:txBody>
          <a:bodyPr wrap="none" anchor="ctr"/>
          <a:lstStyle/>
          <a:p>
            <a:endParaRPr lang="ru-RU"/>
          </a:p>
        </p:txBody>
      </p:sp>
      <p:sp>
        <p:nvSpPr>
          <p:cNvPr id="32772" name="Text Box 2"/>
          <p:cNvSpPr txBox="1">
            <a:spLocks noGrp="1" noChangeArrowheads="1"/>
          </p:cNvSpPr>
          <p:nvPr>
            <p:ph type="body"/>
          </p:nvPr>
        </p:nvSpPr>
        <p:spPr>
          <a:xfrm>
            <a:off x="686441" y="4343510"/>
            <a:ext cx="5486720" cy="4115748"/>
          </a:xfrm>
          <a:noFill/>
          <a:ln/>
        </p:spPr>
        <p:txBody>
          <a:bodyPr tIns="57384"/>
          <a:lstStyle/>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This is the fundamental process that SHOULD take place for information system design.</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atin typeface="Arial" charset="0"/>
              <a:cs typeface="Arial" charset="0"/>
            </a:endParaRP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START with the decision</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Then, what data do we need?</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How are we going to collect, store, communicate, analyze and present the information so that the decision can be made?</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atin typeface="Arial" charset="0"/>
              <a:cs typeface="Arial" charset="0"/>
            </a:endParaRP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Ideally, the presentation should show a clear decision.</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atin typeface="Arial" charset="0"/>
              <a:cs typeface="Arial" charset="0"/>
            </a:endParaRPr>
          </a:p>
        </p:txBody>
      </p:sp>
    </p:spTree>
    <p:extLst>
      <p:ext uri="{BB962C8B-B14F-4D97-AF65-F5344CB8AC3E}">
        <p14:creationId xmlns:p14="http://schemas.microsoft.com/office/powerpoint/2010/main" val="14543704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2" name="Rectangle 9"/>
          <p:cNvSpPr>
            <a:spLocks noGrp="1" noChangeArrowheads="1"/>
          </p:cNvSpPr>
          <p:nvPr>
            <p:ph type="sldNum" sz="quarter"/>
          </p:nvPr>
        </p:nvSpPr>
        <p:spPr>
          <a:noFill/>
        </p:spPr>
        <p:txBody>
          <a:bodyPr/>
          <a:lstStyle/>
          <a:p>
            <a:fld id="{662FD4F9-DE8A-4DE9-8782-038EAC2362F5}" type="slidenum">
              <a:rPr lang="en-US"/>
              <a:pPr/>
              <a:t>29</a:t>
            </a:fld>
            <a:endParaRPr lang="en-US"/>
          </a:p>
        </p:txBody>
      </p:sp>
      <p:sp>
        <p:nvSpPr>
          <p:cNvPr id="35843" name="Text Box 1"/>
          <p:cNvSpPr txBox="1">
            <a:spLocks noChangeArrowheads="1"/>
          </p:cNvSpPr>
          <p:nvPr/>
        </p:nvSpPr>
        <p:spPr bwMode="auto">
          <a:xfrm>
            <a:off x="924854" y="686201"/>
            <a:ext cx="5011492" cy="3429548"/>
          </a:xfrm>
          <a:prstGeom prst="rect">
            <a:avLst/>
          </a:prstGeom>
          <a:solidFill>
            <a:srgbClr val="FFFFFF"/>
          </a:solidFill>
          <a:ln w="9360">
            <a:solidFill>
              <a:srgbClr val="000000"/>
            </a:solidFill>
            <a:miter lim="800000"/>
            <a:headEnd/>
            <a:tailEnd/>
          </a:ln>
        </p:spPr>
        <p:txBody>
          <a:bodyPr wrap="none" anchor="ctr"/>
          <a:lstStyle/>
          <a:p>
            <a:endParaRPr lang="ru-RU"/>
          </a:p>
        </p:txBody>
      </p:sp>
      <p:sp>
        <p:nvSpPr>
          <p:cNvPr id="35844" name="Text Box 2"/>
          <p:cNvSpPr txBox="1">
            <a:spLocks noGrp="1" noChangeArrowheads="1"/>
          </p:cNvSpPr>
          <p:nvPr>
            <p:ph type="body"/>
          </p:nvPr>
        </p:nvSpPr>
        <p:spPr>
          <a:xfrm>
            <a:off x="686441" y="4343510"/>
            <a:ext cx="5486720" cy="4115748"/>
          </a:xfrm>
          <a:noFill/>
          <a:ln/>
        </p:spPr>
        <p:txBody>
          <a:bodyPr tIns="57384"/>
          <a:lstStyle/>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Don't reinvent the wheel.  Especially don't reinvent the wheel BADLY.</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There is a lot of very capable open source software that is suitable for use in health informatics systems.</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Make sure that you get maximum return on the system investment you make today by ensuring that you and others can reuse your developments.</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Developers should work for you. Make sure that you control the process.</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atin typeface="Arial" charset="0"/>
              <a:cs typeface="Arial" charset="0"/>
            </a:endParaRP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atin typeface="Arial" charset="0"/>
              <a:cs typeface="Arial" charset="0"/>
            </a:endParaRPr>
          </a:p>
        </p:txBody>
      </p:sp>
    </p:spTree>
    <p:extLst>
      <p:ext uri="{BB962C8B-B14F-4D97-AF65-F5344CB8AC3E}">
        <p14:creationId xmlns:p14="http://schemas.microsoft.com/office/powerpoint/2010/main" val="26232438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6" name="Rectangle 9"/>
          <p:cNvSpPr>
            <a:spLocks noGrp="1" noChangeArrowheads="1"/>
          </p:cNvSpPr>
          <p:nvPr>
            <p:ph type="sldNum" sz="quarter"/>
          </p:nvPr>
        </p:nvSpPr>
        <p:spPr>
          <a:noFill/>
        </p:spPr>
        <p:txBody>
          <a:bodyPr/>
          <a:lstStyle/>
          <a:p>
            <a:fld id="{EFB49BFE-E24B-4C45-8664-32E4469137CB}" type="slidenum">
              <a:rPr lang="en-US"/>
              <a:pPr/>
              <a:t>30</a:t>
            </a:fld>
            <a:endParaRPr lang="en-US"/>
          </a:p>
        </p:txBody>
      </p:sp>
      <p:sp>
        <p:nvSpPr>
          <p:cNvPr id="36867" name="Text Box 1"/>
          <p:cNvSpPr txBox="1">
            <a:spLocks noChangeArrowheads="1"/>
          </p:cNvSpPr>
          <p:nvPr/>
        </p:nvSpPr>
        <p:spPr bwMode="auto">
          <a:xfrm>
            <a:off x="924854" y="686201"/>
            <a:ext cx="5011492" cy="3429548"/>
          </a:xfrm>
          <a:prstGeom prst="rect">
            <a:avLst/>
          </a:prstGeom>
          <a:solidFill>
            <a:srgbClr val="FFFFFF"/>
          </a:solidFill>
          <a:ln w="9360">
            <a:solidFill>
              <a:srgbClr val="000000"/>
            </a:solidFill>
            <a:miter lim="800000"/>
            <a:headEnd/>
            <a:tailEnd/>
          </a:ln>
        </p:spPr>
        <p:txBody>
          <a:bodyPr wrap="none" anchor="ctr"/>
          <a:lstStyle/>
          <a:p>
            <a:endParaRPr lang="ru-RU"/>
          </a:p>
        </p:txBody>
      </p:sp>
      <p:sp>
        <p:nvSpPr>
          <p:cNvPr id="36868" name="Text Box 2"/>
          <p:cNvSpPr txBox="1">
            <a:spLocks noGrp="1" noChangeArrowheads="1"/>
          </p:cNvSpPr>
          <p:nvPr>
            <p:ph type="body"/>
          </p:nvPr>
        </p:nvSpPr>
        <p:spPr>
          <a:xfrm>
            <a:off x="686441" y="4343510"/>
            <a:ext cx="5486720" cy="4115748"/>
          </a:xfrm>
          <a:noFill/>
          <a:ln/>
        </p:spPr>
        <p:txBody>
          <a:bodyPr tIns="57384"/>
          <a:lstStyle/>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Often the decision on software is presented as a "build vs. buy" decision where you look for software that meets your needs and then buy it or you don't find software that meets your needs and then you have to build it from scratch.</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There is another option that is increasingly attractive.  This is the "modify" option.  You can start with software that meets some of your needs or which has a useful basic architecture and then modify it to meet all of your needs.  This option is difficult with commercial proprietary software which requires that the vendor be agreeable to make the changes. (Often local vendors are not skilled or not permitted to make changes.)  However, with open source software, you have access to the underlying instructions "source code" to the software so it becomes a much more feasible project to make the changes yourself or to hire someone to make the changes.  </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charset="0"/>
                <a:cs typeface="Arial" charset="0"/>
              </a:rPr>
              <a:t>Another advantage of this option is that the investment you make in changes to the software accrue to the benefit of you and others who use the software, rather than being locked up in a proprietary system</a:t>
            </a: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atin typeface="Arial" charset="0"/>
              <a:cs typeface="Arial" charset="0"/>
            </a:endParaRPr>
          </a:p>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atin typeface="Arial" charset="0"/>
              <a:cs typeface="Arial" charset="0"/>
            </a:endParaRPr>
          </a:p>
        </p:txBody>
      </p:sp>
    </p:spTree>
    <p:extLst>
      <p:ext uri="{BB962C8B-B14F-4D97-AF65-F5344CB8AC3E}">
        <p14:creationId xmlns:p14="http://schemas.microsoft.com/office/powerpoint/2010/main" val="13416008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90" name="Rectangle 9"/>
          <p:cNvSpPr>
            <a:spLocks noGrp="1" noChangeArrowheads="1"/>
          </p:cNvSpPr>
          <p:nvPr>
            <p:ph type="sldNum" sz="quarter"/>
          </p:nvPr>
        </p:nvSpPr>
        <p:spPr>
          <a:noFill/>
        </p:spPr>
        <p:txBody>
          <a:bodyPr/>
          <a:lstStyle/>
          <a:p>
            <a:fld id="{4D686212-F765-45B4-B525-1D164FBE2037}" type="slidenum">
              <a:rPr lang="en-US"/>
              <a:pPr/>
              <a:t>31</a:t>
            </a:fld>
            <a:endParaRPr lang="en-US"/>
          </a:p>
        </p:txBody>
      </p:sp>
      <p:sp>
        <p:nvSpPr>
          <p:cNvPr id="37891" name="Text Box 1"/>
          <p:cNvSpPr txBox="1">
            <a:spLocks noChangeArrowheads="1"/>
          </p:cNvSpPr>
          <p:nvPr/>
        </p:nvSpPr>
        <p:spPr bwMode="auto">
          <a:xfrm>
            <a:off x="924854" y="686201"/>
            <a:ext cx="5011492" cy="3429548"/>
          </a:xfrm>
          <a:prstGeom prst="rect">
            <a:avLst/>
          </a:prstGeom>
          <a:solidFill>
            <a:srgbClr val="FFFFFF"/>
          </a:solidFill>
          <a:ln w="9360">
            <a:solidFill>
              <a:srgbClr val="000000"/>
            </a:solidFill>
            <a:miter lim="800000"/>
            <a:headEnd/>
            <a:tailEnd/>
          </a:ln>
        </p:spPr>
        <p:txBody>
          <a:bodyPr wrap="none" anchor="ctr"/>
          <a:lstStyle/>
          <a:p>
            <a:endParaRPr lang="ru-RU"/>
          </a:p>
        </p:txBody>
      </p:sp>
      <p:sp>
        <p:nvSpPr>
          <p:cNvPr id="37892" name="Text Box 2"/>
          <p:cNvSpPr txBox="1">
            <a:spLocks noGrp="1" noChangeArrowheads="1"/>
          </p:cNvSpPr>
          <p:nvPr>
            <p:ph type="body"/>
          </p:nvPr>
        </p:nvSpPr>
        <p:spPr>
          <a:xfrm>
            <a:off x="686441" y="4343510"/>
            <a:ext cx="5486720" cy="4115748"/>
          </a:xfrm>
          <a:noFill/>
          <a:ln/>
        </p:spPr>
        <p:txBody>
          <a:bodyPr tIns="57384"/>
          <a:lstStyle/>
          <a:p>
            <a:pPr eaLnBrk="1" hangingPunct="1">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dirty="0">
              <a:latin typeface="Arial" charset="0"/>
              <a:cs typeface="Arial" charset="0"/>
            </a:endParaRPr>
          </a:p>
        </p:txBody>
      </p:sp>
    </p:spTree>
    <p:extLst>
      <p:ext uri="{BB962C8B-B14F-4D97-AF65-F5344CB8AC3E}">
        <p14:creationId xmlns:p14="http://schemas.microsoft.com/office/powerpoint/2010/main" val="12494543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28F7E6-6759-411F-8F26-3A314BA30EC8}" type="slidenum">
              <a:rPr lang="en-GB"/>
              <a:pPr/>
              <a:t>32</a:t>
            </a:fld>
            <a:endParaRPr lang="en-GB"/>
          </a:p>
        </p:txBody>
      </p:sp>
      <p:sp>
        <p:nvSpPr>
          <p:cNvPr id="523266" name="Rectangle 2"/>
          <p:cNvSpPr>
            <a:spLocks noGrp="1" noRot="1" noChangeAspect="1" noChangeArrowheads="1" noTextEdit="1"/>
          </p:cNvSpPr>
          <p:nvPr>
            <p:ph type="sldImg"/>
          </p:nvPr>
        </p:nvSpPr>
        <p:spPr>
          <a:xfrm>
            <a:off x="1184275" y="708025"/>
            <a:ext cx="4537075" cy="3402013"/>
          </a:xfrm>
          <a:ln/>
        </p:spPr>
      </p:sp>
      <p:sp>
        <p:nvSpPr>
          <p:cNvPr id="523267" name="Rectangle 3"/>
          <p:cNvSpPr>
            <a:spLocks noGrp="1" noChangeArrowheads="1"/>
          </p:cNvSpPr>
          <p:nvPr>
            <p:ph type="body" idx="1"/>
          </p:nvPr>
        </p:nvSpPr>
        <p:spPr/>
        <p:txBody>
          <a:bodyPr/>
          <a:lstStyle/>
          <a:p>
            <a:pPr>
              <a:lnSpc>
                <a:spcPct val="75000"/>
              </a:lnSpc>
              <a:buFont typeface="Monotype Sorts" pitchFamily="2" charset="2"/>
              <a:buNone/>
            </a:pPr>
            <a:r>
              <a:rPr lang="en-GB" sz="2800" b="1" dirty="0" err="1">
                <a:solidFill>
                  <a:srgbClr val="FF0066"/>
                </a:solidFill>
                <a:latin typeface="Tahoma" pitchFamily="34" charset="0"/>
              </a:rPr>
              <a:t>e</a:t>
            </a:r>
            <a:r>
              <a:rPr lang="en-GB" sz="2800" b="1" dirty="0" err="1">
                <a:solidFill>
                  <a:srgbClr val="0033CC"/>
                </a:solidFill>
                <a:latin typeface="Tahoma" pitchFamily="34" charset="0"/>
              </a:rPr>
              <a:t>Nursing</a:t>
            </a:r>
            <a:endParaRPr lang="en-GB" sz="2800" b="1" dirty="0">
              <a:solidFill>
                <a:srgbClr val="0033CC"/>
              </a:solidFill>
              <a:latin typeface="Tahoma" pitchFamily="34" charset="0"/>
            </a:endParaRPr>
          </a:p>
          <a:p>
            <a:pPr>
              <a:lnSpc>
                <a:spcPct val="75000"/>
              </a:lnSpc>
            </a:pPr>
            <a:r>
              <a:rPr lang="en-GB" sz="1200" b="1" dirty="0" err="1">
                <a:solidFill>
                  <a:srgbClr val="FF0066"/>
                </a:solidFill>
                <a:latin typeface="Tahoma" pitchFamily="34" charset="0"/>
              </a:rPr>
              <a:t>e</a:t>
            </a:r>
            <a:r>
              <a:rPr lang="en-GB" sz="1200" b="1" dirty="0" err="1">
                <a:solidFill>
                  <a:srgbClr val="0033CC"/>
                </a:solidFill>
                <a:latin typeface="Tahoma" pitchFamily="34" charset="0"/>
              </a:rPr>
              <a:t>Dissemination</a:t>
            </a:r>
            <a:r>
              <a:rPr lang="en-GB" sz="1200" b="1" dirty="0">
                <a:solidFill>
                  <a:srgbClr val="0033CC"/>
                </a:solidFill>
                <a:latin typeface="Tahoma" pitchFamily="34" charset="0"/>
              </a:rPr>
              <a:t> of – personalised - Healthcare Professional 	Continuing Education</a:t>
            </a:r>
          </a:p>
          <a:p>
            <a:pPr>
              <a:lnSpc>
                <a:spcPct val="75000"/>
              </a:lnSpc>
            </a:pPr>
            <a:endParaRPr lang="en-GB" sz="1200" b="1" dirty="0">
              <a:solidFill>
                <a:srgbClr val="0033CC"/>
              </a:solidFill>
              <a:latin typeface="Tahoma" pitchFamily="34" charset="0"/>
            </a:endParaRPr>
          </a:p>
          <a:p>
            <a:pPr>
              <a:lnSpc>
                <a:spcPct val="75000"/>
              </a:lnSpc>
            </a:pPr>
            <a:r>
              <a:rPr lang="en-GB" sz="1200" b="1" dirty="0">
                <a:solidFill>
                  <a:srgbClr val="0033CC"/>
                </a:solidFill>
                <a:latin typeface="Tahoma" pitchFamily="34" charset="0"/>
              </a:rPr>
              <a:t>Public Health </a:t>
            </a:r>
            <a:r>
              <a:rPr lang="en-GB" sz="1200" b="1" dirty="0">
                <a:solidFill>
                  <a:srgbClr val="FF0066"/>
                </a:solidFill>
                <a:latin typeface="Tahoma" pitchFamily="34" charset="0"/>
              </a:rPr>
              <a:t>e</a:t>
            </a:r>
            <a:r>
              <a:rPr lang="en-GB" sz="1200" b="1" dirty="0">
                <a:solidFill>
                  <a:srgbClr val="0033CC"/>
                </a:solidFill>
                <a:latin typeface="Tahoma" pitchFamily="34" charset="0"/>
              </a:rPr>
              <a:t>ducation &amp; Information</a:t>
            </a:r>
          </a:p>
          <a:p>
            <a:pPr>
              <a:lnSpc>
                <a:spcPct val="75000"/>
              </a:lnSpc>
            </a:pPr>
            <a:endParaRPr lang="en-GB" sz="1200" b="1" dirty="0">
              <a:solidFill>
                <a:srgbClr val="0033CC"/>
              </a:solidFill>
              <a:latin typeface="Tahoma" pitchFamily="34" charset="0"/>
            </a:endParaRPr>
          </a:p>
          <a:p>
            <a:pPr>
              <a:lnSpc>
                <a:spcPct val="75000"/>
              </a:lnSpc>
            </a:pPr>
            <a:r>
              <a:rPr lang="en-GB" sz="1200" b="1" dirty="0" err="1">
                <a:solidFill>
                  <a:srgbClr val="0033CC"/>
                </a:solidFill>
                <a:latin typeface="Tahoma" pitchFamily="34" charset="0"/>
              </a:rPr>
              <a:t>LifeTime</a:t>
            </a:r>
            <a:r>
              <a:rPr lang="en-GB" sz="1200" b="1" dirty="0">
                <a:solidFill>
                  <a:srgbClr val="0033CC"/>
                </a:solidFill>
                <a:latin typeface="Tahoma" pitchFamily="34" charset="0"/>
              </a:rPr>
              <a:t> Health R</a:t>
            </a:r>
            <a:r>
              <a:rPr lang="en-GB" sz="1200" b="1" dirty="0">
                <a:solidFill>
                  <a:srgbClr val="FF0066"/>
                </a:solidFill>
                <a:latin typeface="Tahoma" pitchFamily="34" charset="0"/>
              </a:rPr>
              <a:t>e</a:t>
            </a:r>
            <a:r>
              <a:rPr lang="en-GB" sz="1200" b="1" dirty="0">
                <a:solidFill>
                  <a:srgbClr val="0033CC"/>
                </a:solidFill>
                <a:latin typeface="Tahoma" pitchFamily="34" charset="0"/>
              </a:rPr>
              <a:t>cords - longitudinal healthcare 	event recording - </a:t>
            </a:r>
            <a:r>
              <a:rPr lang="en-GB" sz="1200" b="1" dirty="0" err="1">
                <a:solidFill>
                  <a:schemeClr val="folHlink"/>
                </a:solidFill>
                <a:latin typeface="Tahoma" pitchFamily="34" charset="0"/>
              </a:rPr>
              <a:t>e</a:t>
            </a:r>
            <a:r>
              <a:rPr lang="en-GB" sz="1200" b="1" dirty="0" err="1">
                <a:solidFill>
                  <a:srgbClr val="0033CC"/>
                </a:solidFill>
                <a:latin typeface="Tahoma" pitchFamily="34" charset="0"/>
              </a:rPr>
              <a:t>Prevention</a:t>
            </a:r>
            <a:r>
              <a:rPr lang="en-GB" sz="1200" b="1" dirty="0">
                <a:solidFill>
                  <a:srgbClr val="0033CC"/>
                </a:solidFill>
                <a:latin typeface="Tahoma" pitchFamily="34" charset="0"/>
              </a:rPr>
              <a:t>		</a:t>
            </a:r>
            <a:endParaRPr lang="en-US" sz="1200" b="1" dirty="0">
              <a:solidFill>
                <a:srgbClr val="0033CC"/>
              </a:solidFill>
              <a:latin typeface="Tahoma" pitchFamily="34" charset="0"/>
            </a:endParaRPr>
          </a:p>
        </p:txBody>
      </p:sp>
    </p:spTree>
    <p:extLst>
      <p:ext uri="{BB962C8B-B14F-4D97-AF65-F5344CB8AC3E}">
        <p14:creationId xmlns:p14="http://schemas.microsoft.com/office/powerpoint/2010/main" val="2095597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036D9612-7820-4278-B42C-4297DD94B963}" type="slidenum">
              <a:rPr lang="en-US" smtClean="0"/>
              <a:pPr/>
              <a:t>39</a:t>
            </a:fld>
            <a:endParaRPr lang="en-US"/>
          </a:p>
        </p:txBody>
      </p:sp>
      <p:sp>
        <p:nvSpPr>
          <p:cNvPr id="102403" name="Slide Image Placeholder 1"/>
          <p:cNvSpPr>
            <a:spLocks noGrp="1" noRot="1" noChangeAspect="1" noTextEdit="1"/>
          </p:cNvSpPr>
          <p:nvPr>
            <p:ph type="sldImg"/>
          </p:nvPr>
        </p:nvSpPr>
        <p:spPr bwMode="auto">
          <a:noFill/>
          <a:ln>
            <a:solidFill>
              <a:srgbClr val="000000"/>
            </a:solidFill>
            <a:miter lim="800000"/>
            <a:headEnd/>
            <a:tailEnd/>
          </a:ln>
        </p:spPr>
      </p:sp>
      <p:sp>
        <p:nvSpPr>
          <p:cNvPr id="102404" name="Notes Placeholder 2"/>
          <p:cNvSpPr>
            <a:spLocks noGrp="1"/>
          </p:cNvSpPr>
          <p:nvPr>
            <p:ph type="body" idx="1"/>
          </p:nvPr>
        </p:nvSpPr>
        <p:spPr bwMode="auto">
          <a:noFill/>
        </p:spPr>
        <p:txBody>
          <a:bodyPr wrap="square" lIns="91430" tIns="45716" rIns="91430" bIns="45716" numCol="1" anchor="t" anchorCtr="0" compatLnSpc="1">
            <a:prstTxWarp prst="textNoShape">
              <a:avLst/>
            </a:prstTxWarp>
          </a:bodyPr>
          <a:lstStyle/>
          <a:p>
            <a:pPr eaLnBrk="1" hangingPunct="1"/>
            <a:endParaRPr lang="en-US"/>
          </a:p>
        </p:txBody>
      </p:sp>
      <p:sp>
        <p:nvSpPr>
          <p:cNvPr id="102405" name="Slide Number Placeholder 3"/>
          <p:cNvSpPr txBox="1">
            <a:spLocks noGrp="1"/>
          </p:cNvSpPr>
          <p:nvPr/>
        </p:nvSpPr>
        <p:spPr bwMode="auto">
          <a:xfrm>
            <a:off x="3884027" y="8684926"/>
            <a:ext cx="2972421" cy="457513"/>
          </a:xfrm>
          <a:prstGeom prst="rect">
            <a:avLst/>
          </a:prstGeom>
          <a:noFill/>
          <a:ln w="9525">
            <a:noFill/>
            <a:miter lim="800000"/>
            <a:headEnd/>
            <a:tailEnd/>
          </a:ln>
        </p:spPr>
        <p:txBody>
          <a:bodyPr lIns="91430" tIns="45716" rIns="91430" bIns="45716" anchor="b"/>
          <a:lstStyle/>
          <a:p>
            <a:pPr algn="r" eaLnBrk="1" hangingPunct="1"/>
            <a:fld id="{3405DF9A-9457-4C63-8D23-8EF1305A2E78}" type="slidenum">
              <a:rPr lang="en-US" sz="1200"/>
              <a:pPr algn="r" eaLnBrk="1" hangingPunct="1"/>
              <a:t>39</a:t>
            </a:fld>
            <a:endParaRPr lang="en-US" sz="1200" dirty="0"/>
          </a:p>
        </p:txBody>
      </p:sp>
    </p:spTree>
    <p:extLst>
      <p:ext uri="{BB962C8B-B14F-4D97-AF65-F5344CB8AC3E}">
        <p14:creationId xmlns:p14="http://schemas.microsoft.com/office/powerpoint/2010/main" val="25469077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bwMode="auto">
          <a:noFill/>
          <a:ln>
            <a:solidFill>
              <a:srgbClr val="000000"/>
            </a:solidFill>
            <a:miter lim="800000"/>
            <a:headEnd/>
            <a:tailEnd/>
          </a:ln>
        </p:spPr>
      </p:sp>
      <p:sp>
        <p:nvSpPr>
          <p:cNvPr id="10445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10445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FFAA9D9-4A40-4198-810C-66BB4B2FEEEB}" type="slidenum">
              <a:rPr lang="en-US" smtClean="0"/>
              <a:pPr/>
              <a:t>40</a:t>
            </a:fld>
            <a:endParaRPr lang="en-US"/>
          </a:p>
        </p:txBody>
      </p:sp>
    </p:spTree>
    <p:extLst>
      <p:ext uri="{BB962C8B-B14F-4D97-AF65-F5344CB8AC3E}">
        <p14:creationId xmlns:p14="http://schemas.microsoft.com/office/powerpoint/2010/main" val="38852653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886C7CAC-AF9D-4B19-939B-10CD439D64CC}" type="slidenum">
              <a:rPr lang="en-US" smtClean="0"/>
              <a:pPr/>
              <a:t>41</a:t>
            </a:fld>
            <a:endParaRPr lang="en-US"/>
          </a:p>
        </p:txBody>
      </p:sp>
      <p:sp>
        <p:nvSpPr>
          <p:cNvPr id="106499" name="Slide Image Placeholder 1"/>
          <p:cNvSpPr>
            <a:spLocks noGrp="1" noRot="1" noChangeAspect="1" noTextEdit="1"/>
          </p:cNvSpPr>
          <p:nvPr>
            <p:ph type="sldImg"/>
          </p:nvPr>
        </p:nvSpPr>
        <p:spPr bwMode="auto">
          <a:noFill/>
          <a:ln>
            <a:solidFill>
              <a:srgbClr val="000000"/>
            </a:solidFill>
            <a:miter lim="800000"/>
            <a:headEnd/>
            <a:tailEnd/>
          </a:ln>
        </p:spPr>
      </p:sp>
      <p:sp>
        <p:nvSpPr>
          <p:cNvPr id="106500" name="Notes Placeholder 2"/>
          <p:cNvSpPr>
            <a:spLocks noGrp="1"/>
          </p:cNvSpPr>
          <p:nvPr>
            <p:ph type="body" idx="1"/>
          </p:nvPr>
        </p:nvSpPr>
        <p:spPr bwMode="auto">
          <a:noFill/>
        </p:spPr>
        <p:txBody>
          <a:bodyPr wrap="square" lIns="91430" tIns="45716" rIns="91430" bIns="45716" numCol="1" anchor="t" anchorCtr="0" compatLnSpc="1">
            <a:prstTxWarp prst="textNoShape">
              <a:avLst/>
            </a:prstTxWarp>
          </a:bodyPr>
          <a:lstStyle/>
          <a:p>
            <a:pPr eaLnBrk="1" hangingPunct="1"/>
            <a:endParaRPr lang="en-US"/>
          </a:p>
        </p:txBody>
      </p:sp>
      <p:sp>
        <p:nvSpPr>
          <p:cNvPr id="106501" name="Slide Number Placeholder 3"/>
          <p:cNvSpPr txBox="1">
            <a:spLocks noGrp="1"/>
          </p:cNvSpPr>
          <p:nvPr/>
        </p:nvSpPr>
        <p:spPr bwMode="auto">
          <a:xfrm>
            <a:off x="3884027" y="8684926"/>
            <a:ext cx="2972421" cy="457513"/>
          </a:xfrm>
          <a:prstGeom prst="rect">
            <a:avLst/>
          </a:prstGeom>
          <a:noFill/>
          <a:ln w="9525">
            <a:noFill/>
            <a:miter lim="800000"/>
            <a:headEnd/>
            <a:tailEnd/>
          </a:ln>
        </p:spPr>
        <p:txBody>
          <a:bodyPr lIns="91430" tIns="45716" rIns="91430" bIns="45716" anchor="b"/>
          <a:lstStyle/>
          <a:p>
            <a:pPr algn="r" eaLnBrk="1" hangingPunct="1"/>
            <a:fld id="{171EF0FC-C43E-4112-B133-236685490032}" type="slidenum">
              <a:rPr lang="en-US" sz="1200"/>
              <a:pPr algn="r" eaLnBrk="1" hangingPunct="1"/>
              <a:t>41</a:t>
            </a:fld>
            <a:endParaRPr lang="en-US" sz="1200" dirty="0"/>
          </a:p>
        </p:txBody>
      </p:sp>
    </p:spTree>
    <p:extLst>
      <p:ext uri="{BB962C8B-B14F-4D97-AF65-F5344CB8AC3E}">
        <p14:creationId xmlns:p14="http://schemas.microsoft.com/office/powerpoint/2010/main" val="1186468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AB531F7-3A41-4787-97CB-E6F42ED61328}" type="datetime1">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ACCF2-871A-4DA5-AEBE-57D54C7244B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107DFD-571D-4E87-99D0-6C06CABF9C11}" type="datetime1">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ACCF2-871A-4DA5-AEBE-57D54C7244B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3E4B76-33E9-4CEF-9A4B-1F3D65FC3054}" type="datetime1">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ACCF2-871A-4DA5-AEBE-57D54C7244B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A38ECE8-1080-4504-A07A-1D85326E9721}" type="datetime1">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ACCF2-871A-4DA5-AEBE-57D54C7244B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9EC8785-664C-48D6-A243-C65CCF16A035}" type="datetime1">
              <a:rPr lang="en-US" smtClean="0"/>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ACCF2-871A-4DA5-AEBE-57D54C7244B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C030FB4-E5FF-43F8-BD7C-CC1CFBDCAA3F}" type="datetime1">
              <a:rPr lang="en-US" smtClean="0"/>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ACCF2-871A-4DA5-AEBE-57D54C7244B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ACB327-49B7-4267-A127-92370A476AF6}" type="datetime1">
              <a:rPr lang="en-US" smtClean="0"/>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ACCF2-871A-4DA5-AEBE-57D54C7244B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0D3D41D-F410-416E-A180-9542BDF85F5C}" type="datetime1">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ACCF2-871A-4DA5-AEBE-57D54C7244B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C6BC62-DE08-483E-AE04-13A268E50606}" type="datetime1">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ACCF2-871A-4DA5-AEBE-57D54C7244B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3C2AD0-47B6-441E-B5EA-5C606DCF2CB4}" type="datetime1">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ACCF2-871A-4DA5-AEBE-57D54C7244B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10E6DF2-2224-422A-B808-1AB563A03324}" type="datetime1">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ACCF2-871A-4DA5-AEBE-57D54C7244B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Lectur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143000"/>
          </a:xfrm>
          <a:prstGeom prst="rect">
            <a:avLst/>
          </a:prstGeom>
        </p:spPr>
        <p:txBody>
          <a:bodyPr/>
          <a:lstStyle>
            <a:lvl1pPr>
              <a:defRPr sz="3600">
                <a:latin typeface="Verdana" pitchFamily="34" charset="0"/>
                <a:ea typeface="Verdana" pitchFamily="34" charset="0"/>
                <a:cs typeface="Verdana" pitchFamily="34" charset="0"/>
              </a:defRPr>
            </a:lvl1pPr>
          </a:lstStyle>
          <a:p>
            <a:r>
              <a:rPr lang="en-US" dirty="0"/>
              <a:t>Click to edit Master title style</a:t>
            </a:r>
          </a:p>
        </p:txBody>
      </p:sp>
      <p:sp>
        <p:nvSpPr>
          <p:cNvPr id="8" name="Content Placeholder 7"/>
          <p:cNvSpPr>
            <a:spLocks noGrp="1"/>
          </p:cNvSpPr>
          <p:nvPr>
            <p:ph sz="quarter" idx="14"/>
          </p:nvPr>
        </p:nvSpPr>
        <p:spPr>
          <a:xfrm>
            <a:off x="457200" y="1984248"/>
            <a:ext cx="8229600" cy="4206240"/>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p:cNvSpPr>
            <a:spLocks noGrp="1"/>
          </p:cNvSpPr>
          <p:nvPr>
            <p:ph type="sldNum" sz="quarter" idx="15"/>
          </p:nvPr>
        </p:nvSpPr>
        <p:spPr/>
        <p:txBody>
          <a:bodyPr/>
          <a:lstStyle>
            <a:lvl1pPr>
              <a:defRPr/>
            </a:lvl1pPr>
          </a:lstStyle>
          <a:p>
            <a:pPr>
              <a:defRPr/>
            </a:pPr>
            <a:fld id="{56CDD11B-C996-4B36-912B-30711ED442A3}" type="slidenum">
              <a:rPr lang="en-US"/>
              <a:pPr>
                <a:defRPr/>
              </a:pPr>
              <a:t>‹#›</a:t>
            </a:fld>
            <a:endParaRPr lang="en-US" dirty="0"/>
          </a:p>
        </p:txBody>
      </p:sp>
      <p:sp>
        <p:nvSpPr>
          <p:cNvPr id="5" name="Date Placeholder 4"/>
          <p:cNvSpPr>
            <a:spLocks noGrp="1"/>
          </p:cNvSpPr>
          <p:nvPr>
            <p:ph type="dt" sz="half" idx="16"/>
          </p:nvPr>
        </p:nvSpPr>
        <p:spPr/>
        <p:txBody>
          <a:bodyPr/>
          <a:lstStyle>
            <a:lvl1pPr>
              <a:defRPr/>
            </a:lvl1pPr>
          </a:lstStyle>
          <a:p>
            <a:pPr>
              <a:defRPr/>
            </a:pPr>
            <a:fld id="{5F837DFF-922D-4AC7-8DC1-16F03E918C7D}" type="datetime1">
              <a:rPr lang="en-US" smtClean="0"/>
              <a:t>6/16/2026</a:t>
            </a:fld>
            <a:endParaRPr lang="en-US"/>
          </a:p>
        </p:txBody>
      </p:sp>
      <p:sp>
        <p:nvSpPr>
          <p:cNvPr id="6" name="Footer Placeholder 5"/>
          <p:cNvSpPr>
            <a:spLocks noGrp="1"/>
          </p:cNvSpPr>
          <p:nvPr>
            <p:ph type="ftr" sz="quarter" idx="17"/>
          </p:nvPr>
        </p:nvSpPr>
        <p:spPr/>
        <p:txBody>
          <a:bodyPr/>
          <a:lstStyle>
            <a:lvl1pPr>
              <a:defRPr/>
            </a:lvl1pPr>
          </a:lstStyle>
          <a:p>
            <a:pPr>
              <a:defRPr/>
            </a:pP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331744-256E-4961-AE2D-4A5E60F376BB}" type="datetime1">
              <a:rPr lang="en-US" smtClean="0"/>
              <a:t>6/16/2026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4ACCF2-871A-4DA5-AEBE-57D54C7244B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2.xml" /></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notesSlide" Target="../notesSlides/notesSlide11.xml" /><Relationship Id="rId1" Type="http://schemas.openxmlformats.org/officeDocument/2006/relationships/slideLayout" Target="../slideLayouts/slideLayout2.xml" /><Relationship Id="rId4" Type="http://schemas.openxmlformats.org/officeDocument/2006/relationships/image" Target="../media/image3.jpeg" /></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3" Type="http://schemas.openxmlformats.org/officeDocument/2006/relationships/image" Target="../media/image4.jpeg" /><Relationship Id="rId2" Type="http://schemas.openxmlformats.org/officeDocument/2006/relationships/notesSlide" Target="../notesSlides/notesSlide13.xml"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3" Type="http://schemas.openxmlformats.org/officeDocument/2006/relationships/image" Target="../media/image5.gif" /><Relationship Id="rId2" Type="http://schemas.openxmlformats.org/officeDocument/2006/relationships/notesSlide" Target="../notesSlides/notesSlide14.xml" /><Relationship Id="rId1" Type="http://schemas.openxmlformats.org/officeDocument/2006/relationships/slideLayout" Target="../slideLayouts/slideLayout2.xml" /><Relationship Id="rId4" Type="http://schemas.openxmlformats.org/officeDocument/2006/relationships/image" Target="../media/image6.jpeg" /></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3" Type="http://schemas.openxmlformats.org/officeDocument/2006/relationships/image" Target="../media/image7.jpeg" /><Relationship Id="rId2" Type="http://schemas.openxmlformats.org/officeDocument/2006/relationships/notesSlide" Target="../notesSlides/notesSlide16.xml" /><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3" Type="http://schemas.openxmlformats.org/officeDocument/2006/relationships/image" Target="../media/image9.jpeg" /><Relationship Id="rId2" Type="http://schemas.openxmlformats.org/officeDocument/2006/relationships/image" Target="../media/image8.jpeg" /><Relationship Id="rId1" Type="http://schemas.openxmlformats.org/officeDocument/2006/relationships/slideLayout" Target="../slideLayouts/slideLayout7.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 /><Relationship Id="rId1" Type="http://schemas.openxmlformats.org/officeDocument/2006/relationships/slideLayout" Target="../slideLayouts/slideLayout7.xml" /></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 /><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 /><Relationship Id="rId1" Type="http://schemas.openxmlformats.org/officeDocument/2006/relationships/slideLayout" Target="../slideLayouts/slideLayout7.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GB" b="1" dirty="0">
                <a:latin typeface="Times New Roman" pitchFamily="16" charset="0"/>
                <a:cs typeface="Arial Unicode MS" charset="0"/>
              </a:rPr>
              <a:t>Introduction to Health Informatics</a:t>
            </a:r>
            <a:br>
              <a:rPr lang="en-GB" b="1" dirty="0">
                <a:solidFill>
                  <a:srgbClr val="FFFF00"/>
                </a:solidFill>
                <a:latin typeface="Times New Roman" pitchFamily="16" charset="0"/>
                <a:cs typeface="Arial Unicode MS" charset="0"/>
              </a:rPr>
            </a:br>
            <a:endParaRPr lang="en-US" dirty="0"/>
          </a:p>
        </p:txBody>
      </p:sp>
      <p:sp>
        <p:nvSpPr>
          <p:cNvPr id="3" name="Subtitle 2"/>
          <p:cNvSpPr>
            <a:spLocks noGrp="1"/>
          </p:cNvSpPr>
          <p:nvPr>
            <p:ph type="subTitle" idx="1"/>
          </p:nvPr>
        </p:nvSpPr>
        <p:spPr/>
        <p:txBody>
          <a:bodyPr/>
          <a:lstStyle/>
          <a:p>
            <a:endParaRPr lang="en-US" dirty="0"/>
          </a:p>
        </p:txBody>
      </p:sp>
      <p:sp>
        <p:nvSpPr>
          <p:cNvPr id="4" name="Slide Number Placeholder 3"/>
          <p:cNvSpPr>
            <a:spLocks noGrp="1"/>
          </p:cNvSpPr>
          <p:nvPr>
            <p:ph type="sldNum" sz="quarter" idx="12"/>
          </p:nvPr>
        </p:nvSpPr>
        <p:spPr/>
        <p:txBody>
          <a:bodyPr/>
          <a:lstStyle/>
          <a:p>
            <a:fld id="{D54ACCF2-871A-4DA5-AEBE-57D54C7244BB}"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rial" charset="0"/>
                <a:cs typeface="Arial" charset="0"/>
              </a:rPr>
              <a:t>Learning Objectives:</a:t>
            </a:r>
            <a:br>
              <a:rPr lang="en-US" dirty="0">
                <a:latin typeface="Arial" charset="0"/>
                <a:cs typeface="Arial" charset="0"/>
              </a:rPr>
            </a:br>
            <a:endParaRPr lang="en-US" dirty="0"/>
          </a:p>
        </p:txBody>
      </p:sp>
      <p:sp>
        <p:nvSpPr>
          <p:cNvPr id="3" name="Content Placeholder 2"/>
          <p:cNvSpPr>
            <a:spLocks noGrp="1"/>
          </p:cNvSpPr>
          <p:nvPr>
            <p:ph idx="1"/>
          </p:nvPr>
        </p:nvSpPr>
        <p:spPr/>
        <p:txBody>
          <a:bodyPr>
            <a:normAutofit fontScale="70000" lnSpcReduction="20000"/>
          </a:bodyPr>
          <a:lstStyle/>
          <a:p>
            <a:pPr marL="514350" indent="-514350">
              <a:lnSpc>
                <a:spcPct val="93000"/>
              </a:lnSpc>
              <a:spcBef>
                <a:spcPts val="450"/>
              </a:spcBef>
              <a:buFont typeface="+mj-lt"/>
              <a:buAutoNum type="arabicPeriod"/>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400" b="1" dirty="0">
                <a:latin typeface="+mj-lt"/>
                <a:cs typeface="Arial" charset="0"/>
              </a:rPr>
              <a:t>To understand the concept of Health Informatics</a:t>
            </a:r>
          </a:p>
          <a:p>
            <a:pPr marL="514350" indent="-514350">
              <a:lnSpc>
                <a:spcPct val="93000"/>
              </a:lnSpc>
              <a:spcBef>
                <a:spcPts val="450"/>
              </a:spcBef>
              <a:buFont typeface="+mj-lt"/>
              <a:buAutoNum type="arabicPeriod"/>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400" b="1" dirty="0">
                <a:latin typeface="+mj-lt"/>
                <a:cs typeface="Arial" charset="0"/>
              </a:rPr>
              <a:t>To understand the elements of Health Informatics</a:t>
            </a:r>
          </a:p>
          <a:p>
            <a:pPr marL="514350" indent="-514350">
              <a:lnSpc>
                <a:spcPct val="93000"/>
              </a:lnSpc>
              <a:spcBef>
                <a:spcPts val="450"/>
              </a:spcBef>
              <a:buFont typeface="+mj-lt"/>
              <a:buAutoNum type="arabicPeriod"/>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400" b="1" dirty="0">
                <a:latin typeface="+mj-lt"/>
                <a:cs typeface="Arial" charset="0"/>
              </a:rPr>
              <a:t>To understand the Health Informatics Context</a:t>
            </a:r>
          </a:p>
          <a:p>
            <a:pPr marL="514350" indent="-514350">
              <a:buFont typeface="+mj-lt"/>
              <a:buAutoNum type="arabicPeriod"/>
            </a:pPr>
            <a:r>
              <a:rPr lang="en-US" sz="3400" b="1" dirty="0">
                <a:latin typeface="+mj-lt"/>
              </a:rPr>
              <a:t>Define the concept of an information system and its characteristics</a:t>
            </a:r>
          </a:p>
          <a:p>
            <a:pPr marL="514350" indent="-514350">
              <a:buFont typeface="+mj-lt"/>
              <a:buAutoNum type="arabicPeriod"/>
            </a:pPr>
            <a:r>
              <a:rPr lang="en-US" sz="3400" b="1" dirty="0">
                <a:latin typeface="+mj-lt"/>
              </a:rPr>
              <a:t>Describe the different types of information systems</a:t>
            </a:r>
          </a:p>
          <a:p>
            <a:pPr marL="514350" indent="-514350">
              <a:buFont typeface="+mj-lt"/>
              <a:buAutoNum type="arabicPeriod"/>
            </a:pPr>
            <a:r>
              <a:rPr lang="en-US" sz="3400" b="1" dirty="0">
                <a:latin typeface="+mj-lt"/>
              </a:rPr>
              <a:t>Describe various types of technologies that support health care information systems</a:t>
            </a:r>
          </a:p>
          <a:p>
            <a:pPr marL="514350" indent="-514350">
              <a:buFont typeface="+mj-lt"/>
              <a:buAutoNum type="arabicPeriod"/>
            </a:pPr>
            <a:r>
              <a:rPr lang="en-US" sz="3400" b="1" dirty="0">
                <a:latin typeface="+mj-lt"/>
              </a:rPr>
              <a:t>Examine the challenges presented by emerging trends in information technology, social media, and global communications </a:t>
            </a:r>
          </a:p>
          <a:p>
            <a:pPr marL="514350" indent="-514350">
              <a:buFont typeface="+mj-lt"/>
              <a:buAutoNum type="arabicPeriod"/>
            </a:pPr>
            <a:r>
              <a:rPr lang="en-US" sz="3400" b="1" dirty="0">
                <a:latin typeface="+mj-lt"/>
              </a:rPr>
              <a:t>Discuss the advantages and disadvantages of using the Internet as a platform for health care applications</a:t>
            </a:r>
          </a:p>
          <a:p>
            <a:pPr marL="514350" indent="-514350">
              <a:buFont typeface="+mj-lt"/>
              <a:buAutoNum type="arabicPeriod"/>
            </a:pPr>
            <a:endParaRPr lang="en-US" dirty="0"/>
          </a:p>
          <a:p>
            <a:pPr>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dirty="0">
              <a:latin typeface="Arial" charset="0"/>
              <a:cs typeface="Arial" charset="0"/>
            </a:endParaRPr>
          </a:p>
          <a:p>
            <a:pPr>
              <a:buNone/>
            </a:pPr>
            <a:endParaRPr lang="en-US" dirty="0"/>
          </a:p>
        </p:txBody>
      </p:sp>
      <p:sp>
        <p:nvSpPr>
          <p:cNvPr id="4" name="Slide Number Placeholder 3"/>
          <p:cNvSpPr>
            <a:spLocks noGrp="1"/>
          </p:cNvSpPr>
          <p:nvPr>
            <p:ph type="sldNum" sz="quarter" idx="12"/>
          </p:nvPr>
        </p:nvSpPr>
        <p:spPr/>
        <p:txBody>
          <a:bodyPr/>
          <a:lstStyle/>
          <a:p>
            <a:fld id="{D54ACCF2-871A-4DA5-AEBE-57D54C7244B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0" name="Rectangle 2"/>
          <p:cNvSpPr>
            <a:spLocks noGrp="1" noChangeArrowheads="1"/>
          </p:cNvSpPr>
          <p:nvPr>
            <p:ph type="title"/>
          </p:nvPr>
        </p:nvSpPr>
        <p:spPr>
          <a:xfrm>
            <a:off x="533400" y="914400"/>
            <a:ext cx="8001000" cy="1219200"/>
          </a:xfrm>
        </p:spPr>
        <p:txBody>
          <a:bodyPr/>
          <a:lstStyle/>
          <a:p>
            <a:r>
              <a:rPr lang="en-GB" sz="4400">
                <a:solidFill>
                  <a:srgbClr val="0033CC"/>
                </a:solidFill>
                <a:latin typeface="Tahoma" pitchFamily="34" charset="0"/>
              </a:rPr>
              <a:t>The </a:t>
            </a:r>
            <a:r>
              <a:rPr lang="en-GB" sz="4400">
                <a:solidFill>
                  <a:srgbClr val="FF0066"/>
                </a:solidFill>
                <a:latin typeface="Tahoma" pitchFamily="34" charset="0"/>
              </a:rPr>
              <a:t>(e)</a:t>
            </a:r>
            <a:r>
              <a:rPr lang="en-GB" sz="4400">
                <a:solidFill>
                  <a:srgbClr val="0033CC"/>
                </a:solidFill>
                <a:latin typeface="Tahoma" pitchFamily="34" charset="0"/>
              </a:rPr>
              <a:t>ATM of Healthcare</a:t>
            </a:r>
          </a:p>
        </p:txBody>
      </p:sp>
      <p:pic>
        <p:nvPicPr>
          <p:cNvPr id="565251" name="Picture 3" descr="!ATM1"/>
          <p:cNvPicPr>
            <a:picLocks noChangeAspect="1" noChangeArrowheads="1"/>
          </p:cNvPicPr>
          <p:nvPr/>
        </p:nvPicPr>
        <p:blipFill>
          <a:blip r:embed="rId3"/>
          <a:srcRect/>
          <a:stretch>
            <a:fillRect/>
          </a:stretch>
        </p:blipFill>
        <p:spPr bwMode="auto">
          <a:xfrm>
            <a:off x="914400" y="2209800"/>
            <a:ext cx="7543800" cy="4495800"/>
          </a:xfrm>
          <a:prstGeom prst="rect">
            <a:avLst/>
          </a:prstGeom>
          <a:noFill/>
        </p:spPr>
      </p:pic>
      <p:sp>
        <p:nvSpPr>
          <p:cNvPr id="4" name="Slide Number Placeholder 3"/>
          <p:cNvSpPr>
            <a:spLocks noGrp="1"/>
          </p:cNvSpPr>
          <p:nvPr>
            <p:ph type="sldNum" sz="quarter" idx="12"/>
          </p:nvPr>
        </p:nvSpPr>
        <p:spPr/>
        <p:txBody>
          <a:bodyPr/>
          <a:lstStyle/>
          <a:p>
            <a:fld id="{D54ACCF2-871A-4DA5-AEBE-57D54C7244B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a:t>
            </a:r>
          </a:p>
        </p:txBody>
      </p:sp>
      <p:sp>
        <p:nvSpPr>
          <p:cNvPr id="3" name="Content Placeholder 2"/>
          <p:cNvSpPr>
            <a:spLocks noGrp="1"/>
          </p:cNvSpPr>
          <p:nvPr>
            <p:ph idx="1"/>
          </p:nvPr>
        </p:nvSpPr>
        <p:spPr>
          <a:xfrm>
            <a:off x="457200" y="1219200"/>
            <a:ext cx="8229600" cy="4906963"/>
          </a:xfrm>
        </p:spPr>
        <p:txBody>
          <a:bodyPr>
            <a:normAutofit fontScale="92500" lnSpcReduction="10000"/>
          </a:bodyPr>
          <a:lstStyle/>
          <a:p>
            <a:r>
              <a:rPr lang="en-US" dirty="0"/>
              <a:t>A health information system (HIS) is any form of structured repository of data, information, or knowledge that can be used to support health care delivery or to promote health development. </a:t>
            </a:r>
          </a:p>
          <a:p>
            <a:r>
              <a:rPr lang="en-US" dirty="0"/>
              <a:t>HIS should be part of the health technology assessment framework. Data is an essential element of HIS and it is usually an expensive resource. Investments in HIS should look into its opportunity costs and the efficacy/effectiveness of its potential contribution to health development</a:t>
            </a:r>
          </a:p>
          <a:p>
            <a:endParaRPr lang="en-US" dirty="0"/>
          </a:p>
        </p:txBody>
      </p:sp>
      <p:sp>
        <p:nvSpPr>
          <p:cNvPr id="4" name="Slide Number Placeholder 3"/>
          <p:cNvSpPr>
            <a:spLocks noGrp="1"/>
          </p:cNvSpPr>
          <p:nvPr>
            <p:ph type="sldNum" sz="quarter" idx="12"/>
          </p:nvPr>
        </p:nvSpPr>
        <p:spPr/>
        <p:txBody>
          <a:bodyPr/>
          <a:lstStyle/>
          <a:p>
            <a:fld id="{D54ACCF2-871A-4DA5-AEBE-57D54C7244B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
          <p:cNvSpPr>
            <a:spLocks noGrp="1" noChangeArrowheads="1"/>
          </p:cNvSpPr>
          <p:nvPr>
            <p:ph type="title"/>
          </p:nvPr>
        </p:nvSpPr>
        <p:spPr>
          <a:xfrm>
            <a:off x="0" y="-1588"/>
            <a:ext cx="9144000" cy="1243013"/>
          </a:xfrm>
        </p:spPr>
        <p:txBody>
          <a:bodyPr tIns="85608"/>
          <a:lstStyle/>
          <a:p>
            <a:pPr eaLnBrk="1" hangingPunct="1">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dirty="0"/>
              <a:t>Why Health Informatics?</a:t>
            </a:r>
          </a:p>
        </p:txBody>
      </p:sp>
      <p:sp>
        <p:nvSpPr>
          <p:cNvPr id="3075" name="Rectangle 2"/>
          <p:cNvSpPr>
            <a:spLocks noGrp="1" noChangeArrowheads="1"/>
          </p:cNvSpPr>
          <p:nvPr>
            <p:ph type="body" idx="1"/>
          </p:nvPr>
        </p:nvSpPr>
        <p:spPr>
          <a:xfrm>
            <a:off x="442913" y="1381125"/>
            <a:ext cx="8291512" cy="4522788"/>
          </a:xfrm>
        </p:spPr>
        <p:txBody>
          <a:bodyPr/>
          <a:lstStyle/>
          <a:p>
            <a:pPr marL="338138" indent="-338138" eaLnBrk="1" hangingPunct="1">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US" dirty="0"/>
              <a:t>Health Informatics provides information to make decisions</a:t>
            </a:r>
          </a:p>
          <a:p>
            <a:pPr marL="338138" indent="-338138" eaLnBrk="1" hangingPunct="1">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US" dirty="0"/>
              <a:t>Better information leads to better decisions</a:t>
            </a:r>
          </a:p>
          <a:p>
            <a:pPr marL="338138" indent="-338138" eaLnBrk="1" hangingPunct="1">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US" dirty="0"/>
              <a:t>Health care, management, planning and policy all need good information</a:t>
            </a:r>
          </a:p>
        </p:txBody>
      </p:sp>
      <p:sp>
        <p:nvSpPr>
          <p:cNvPr id="4" name="Slide Number Placeholder 3"/>
          <p:cNvSpPr>
            <a:spLocks noGrp="1"/>
          </p:cNvSpPr>
          <p:nvPr>
            <p:ph type="sldNum" sz="quarter" idx="12"/>
          </p:nvPr>
        </p:nvSpPr>
        <p:spPr/>
        <p:txBody>
          <a:bodyPr/>
          <a:lstStyle/>
          <a:p>
            <a:fld id="{D54ACCF2-871A-4DA5-AEBE-57D54C7244BB}" type="slidenum">
              <a:rPr lang="en-US" smtClean="0"/>
              <a:pPr/>
              <a:t>5</a:t>
            </a:fld>
            <a:endParaRPr lang="en-US"/>
          </a:p>
        </p:txBody>
      </p:sp>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rial" charset="0"/>
                <a:cs typeface="Arial" charset="0"/>
              </a:rPr>
              <a:t>good information is needed to make decisions on </a:t>
            </a:r>
            <a:endParaRPr lang="en-US" dirty="0"/>
          </a:p>
        </p:txBody>
      </p:sp>
      <p:sp>
        <p:nvSpPr>
          <p:cNvPr id="3" name="Content Placeholder 2"/>
          <p:cNvSpPr>
            <a:spLocks noGrp="1"/>
          </p:cNvSpPr>
          <p:nvPr>
            <p:ph idx="1"/>
          </p:nvPr>
        </p:nvSpPr>
        <p:spPr/>
        <p:txBody>
          <a:bodyPr>
            <a:normAutofit/>
          </a:bodyPr>
          <a:lstStyle/>
          <a:p>
            <a:pPr>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dirty="0">
                <a:latin typeface="Arial" charset="0"/>
                <a:cs typeface="Arial" charset="0"/>
              </a:rPr>
              <a:t>Health care, </a:t>
            </a:r>
          </a:p>
          <a:p>
            <a:pPr>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dirty="0">
                <a:latin typeface="Arial" charset="0"/>
                <a:cs typeface="Arial" charset="0"/>
              </a:rPr>
              <a:t>health management,</a:t>
            </a:r>
          </a:p>
          <a:p>
            <a:pPr>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dirty="0">
                <a:latin typeface="Arial" charset="0"/>
                <a:cs typeface="Arial" charset="0"/>
              </a:rPr>
              <a:t> health policy and </a:t>
            </a:r>
          </a:p>
          <a:p>
            <a:pPr>
              <a:lnSpc>
                <a:spcPct val="93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dirty="0">
                <a:latin typeface="Arial" charset="0"/>
                <a:cs typeface="Arial" charset="0"/>
              </a:rPr>
              <a:t>health planning</a:t>
            </a:r>
          </a:p>
          <a:p>
            <a:pPr>
              <a:buNone/>
            </a:pPr>
            <a:endParaRPr lang="en-US" dirty="0"/>
          </a:p>
        </p:txBody>
      </p:sp>
      <p:sp>
        <p:nvSpPr>
          <p:cNvPr id="4" name="Slide Number Placeholder 3"/>
          <p:cNvSpPr>
            <a:spLocks noGrp="1"/>
          </p:cNvSpPr>
          <p:nvPr>
            <p:ph type="sldNum" sz="quarter" idx="12"/>
          </p:nvPr>
        </p:nvSpPr>
        <p:spPr/>
        <p:txBody>
          <a:bodyPr/>
          <a:lstStyle/>
          <a:p>
            <a:fld id="{D54ACCF2-871A-4DA5-AEBE-57D54C7244BB}"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p:cNvSpPr>
            <a:spLocks noGrp="1" noChangeArrowheads="1"/>
          </p:cNvSpPr>
          <p:nvPr>
            <p:ph type="title"/>
          </p:nvPr>
        </p:nvSpPr>
        <p:spPr>
          <a:xfrm>
            <a:off x="0" y="0"/>
            <a:ext cx="9144000" cy="1238250"/>
          </a:xfrm>
        </p:spPr>
        <p:txBody>
          <a:bodyPr lIns="0" tIns="38808" rIns="0" bIns="0"/>
          <a:lstStyle/>
          <a:p>
            <a:pPr eaLnBrk="1" hangingPunct="1">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t>Health Informatics</a:t>
            </a:r>
          </a:p>
        </p:txBody>
      </p:sp>
      <p:sp>
        <p:nvSpPr>
          <p:cNvPr id="4099" name="Rectangle 2"/>
          <p:cNvSpPr>
            <a:spLocks noGrp="1" noChangeArrowheads="1"/>
          </p:cNvSpPr>
          <p:nvPr>
            <p:ph type="body" idx="1"/>
          </p:nvPr>
        </p:nvSpPr>
        <p:spPr>
          <a:xfrm>
            <a:off x="360363" y="1273175"/>
            <a:ext cx="8291512" cy="4611688"/>
          </a:xfrm>
        </p:spPr>
        <p:txBody>
          <a:bodyPr/>
          <a:lstStyle/>
          <a:p>
            <a:pPr marL="338138" indent="-338138" eaLnBrk="1" hangingPunct="1">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i="1" dirty="0"/>
              <a:t>The intersection of information science, computer science, and health care.  </a:t>
            </a:r>
          </a:p>
          <a:p>
            <a:pPr marL="338138" indent="-338138" eaLnBrk="1" hangingPunct="1">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i="1" dirty="0"/>
              <a:t>It deals with the resources, devices and methods required to optimize the acquisition, storage, retrieval and use of information in health. </a:t>
            </a:r>
          </a:p>
        </p:txBody>
      </p:sp>
      <p:sp>
        <p:nvSpPr>
          <p:cNvPr id="4" name="Slide Number Placeholder 3"/>
          <p:cNvSpPr>
            <a:spLocks noGrp="1"/>
          </p:cNvSpPr>
          <p:nvPr>
            <p:ph type="sldNum" sz="quarter" idx="12"/>
          </p:nvPr>
        </p:nvSpPr>
        <p:spPr/>
        <p:txBody>
          <a:bodyPr/>
          <a:lstStyle/>
          <a:p>
            <a:fld id="{D54ACCF2-871A-4DA5-AEBE-57D54C7244BB}" type="slidenum">
              <a:rPr lang="en-US" smtClean="0"/>
              <a:pPr/>
              <a:t>7</a:t>
            </a:fld>
            <a:endParaRPr lang="en-US"/>
          </a:p>
        </p:txBody>
      </p:sp>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0" y="-1588"/>
            <a:ext cx="9144000" cy="1243013"/>
          </a:xfrm>
        </p:spPr>
        <p:txBody>
          <a:bodyPr tIns="85608">
            <a:normAutofit fontScale="90000"/>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i="1" dirty="0"/>
              <a:t>Health informatics tools include </a:t>
            </a:r>
            <a:br>
              <a:rPr lang="en-GB" i="1" dirty="0"/>
            </a:br>
            <a:r>
              <a:rPr lang="en-US" dirty="0"/>
              <a:t>Tools</a:t>
            </a:r>
          </a:p>
        </p:txBody>
      </p:sp>
      <p:sp>
        <p:nvSpPr>
          <p:cNvPr id="5123" name="Rectangle 2"/>
          <p:cNvSpPr>
            <a:spLocks noGrp="1" noChangeArrowheads="1"/>
          </p:cNvSpPr>
          <p:nvPr>
            <p:ph type="body" idx="1"/>
          </p:nvPr>
        </p:nvSpPr>
        <p:spPr>
          <a:xfrm>
            <a:off x="442913" y="1381125"/>
            <a:ext cx="8291512" cy="4522788"/>
          </a:xfrm>
        </p:spPr>
        <p:txBody>
          <a:bodyPr/>
          <a:lstStyle/>
          <a:p>
            <a:pPr marL="338138" indent="-338138" eaLnBrk="1" hangingPunct="1">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i="1" dirty="0"/>
              <a:t>computers </a:t>
            </a:r>
          </a:p>
          <a:p>
            <a:pPr marL="338138" indent="-338138" eaLnBrk="1" hangingPunct="1">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i="1" dirty="0"/>
              <a:t>clinical guidelines, </a:t>
            </a:r>
          </a:p>
          <a:p>
            <a:pPr marL="338138" indent="-338138" eaLnBrk="1" hangingPunct="1">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i="1" dirty="0"/>
              <a:t>formal medical terminologies, </a:t>
            </a:r>
          </a:p>
          <a:p>
            <a:pPr marL="338138" indent="-338138" eaLnBrk="1" hangingPunct="1">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i="1" dirty="0"/>
              <a:t>Information and communication systems.</a:t>
            </a:r>
          </a:p>
        </p:txBody>
      </p:sp>
      <p:sp>
        <p:nvSpPr>
          <p:cNvPr id="4" name="Slide Number Placeholder 3"/>
          <p:cNvSpPr>
            <a:spLocks noGrp="1"/>
          </p:cNvSpPr>
          <p:nvPr>
            <p:ph type="sldNum" sz="quarter" idx="12"/>
          </p:nvPr>
        </p:nvSpPr>
        <p:spPr/>
        <p:txBody>
          <a:bodyPr/>
          <a:lstStyle/>
          <a:p>
            <a:fld id="{D54ACCF2-871A-4DA5-AEBE-57D54C7244BB}" type="slidenum">
              <a:rPr lang="en-US" smtClean="0"/>
              <a:pPr/>
              <a:t>8</a:t>
            </a:fld>
            <a:endParaRPr lang="en-US"/>
          </a:p>
        </p:txBody>
      </p:sp>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Definition of health information system </a:t>
            </a:r>
          </a:p>
        </p:txBody>
      </p:sp>
      <p:sp>
        <p:nvSpPr>
          <p:cNvPr id="3" name="Content Placeholder 2"/>
          <p:cNvSpPr>
            <a:spLocks noGrp="1"/>
          </p:cNvSpPr>
          <p:nvPr>
            <p:ph idx="1"/>
          </p:nvPr>
        </p:nvSpPr>
        <p:spPr/>
        <p:txBody>
          <a:bodyPr/>
          <a:lstStyle/>
          <a:p>
            <a:r>
              <a:rPr lang="en-US" dirty="0"/>
              <a:t>An automated system that uses computer hardware and software to record, manipulate, store, recover, and disseminate data. </a:t>
            </a:r>
          </a:p>
          <a:p>
            <a:r>
              <a:rPr lang="en-US" dirty="0"/>
              <a:t>that is, a system that receives and processes input and provides output.</a:t>
            </a:r>
          </a:p>
        </p:txBody>
      </p:sp>
      <p:sp>
        <p:nvSpPr>
          <p:cNvPr id="4" name="Slide Number Placeholder 3"/>
          <p:cNvSpPr>
            <a:spLocks noGrp="1"/>
          </p:cNvSpPr>
          <p:nvPr>
            <p:ph type="sldNum" sz="quarter" idx="12"/>
          </p:nvPr>
        </p:nvSpPr>
        <p:spPr/>
        <p:txBody>
          <a:bodyPr/>
          <a:lstStyle/>
          <a:p>
            <a:fld id="{D54ACCF2-871A-4DA5-AEBE-57D54C7244BB}"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Inputs</a:t>
            </a:r>
          </a:p>
          <a:p>
            <a:pPr lvl="1"/>
            <a:r>
              <a:rPr lang="en-US" dirty="0"/>
              <a:t>Order for a drug</a:t>
            </a:r>
          </a:p>
          <a:p>
            <a:r>
              <a:rPr lang="en-US" dirty="0"/>
              <a:t>Data </a:t>
            </a:r>
          </a:p>
          <a:p>
            <a:pPr lvl="1"/>
            <a:r>
              <a:rPr lang="en-US" dirty="0"/>
              <a:t>Prescribed drug</a:t>
            </a:r>
          </a:p>
          <a:p>
            <a:r>
              <a:rPr lang="en-US" dirty="0"/>
              <a:t>Process</a:t>
            </a:r>
          </a:p>
          <a:p>
            <a:pPr lvl="1"/>
            <a:r>
              <a:rPr lang="en-US" dirty="0"/>
              <a:t>Verifies drug is correct for the order</a:t>
            </a:r>
          </a:p>
          <a:p>
            <a:r>
              <a:rPr lang="en-US" dirty="0"/>
              <a:t>Outputs</a:t>
            </a:r>
          </a:p>
          <a:p>
            <a:pPr>
              <a:buNone/>
            </a:pPr>
            <a:endParaRPr lang="en-US" dirty="0"/>
          </a:p>
        </p:txBody>
      </p:sp>
      <p:sp>
        <p:nvSpPr>
          <p:cNvPr id="4" name="Slide Number Placeholder 3"/>
          <p:cNvSpPr>
            <a:spLocks noGrp="1"/>
          </p:cNvSpPr>
          <p:nvPr>
            <p:ph type="sldNum" sz="quarter" idx="12"/>
          </p:nvPr>
        </p:nvSpPr>
        <p:spPr/>
        <p:txBody>
          <a:bodyPr/>
          <a:lstStyle/>
          <a:p>
            <a:fld id="{D54ACCF2-871A-4DA5-AEBE-57D54C7244BB}"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Categories of IS</a:t>
            </a:r>
          </a:p>
        </p:txBody>
      </p:sp>
      <p:sp>
        <p:nvSpPr>
          <p:cNvPr id="3" name="Content Placeholder 2"/>
          <p:cNvSpPr>
            <a:spLocks noGrp="1"/>
          </p:cNvSpPr>
          <p:nvPr>
            <p:ph idx="1"/>
          </p:nvPr>
        </p:nvSpPr>
        <p:spPr/>
        <p:txBody>
          <a:bodyPr/>
          <a:lstStyle/>
          <a:p>
            <a:pPr>
              <a:spcBef>
                <a:spcPts val="0"/>
              </a:spcBef>
              <a:buNone/>
              <a:defRPr/>
            </a:pPr>
            <a:r>
              <a:rPr lang="en-US" dirty="0"/>
              <a:t>With regards to information systems, there are three major categories. They are </a:t>
            </a:r>
          </a:p>
          <a:p>
            <a:pPr>
              <a:spcBef>
                <a:spcPts val="0"/>
              </a:spcBef>
              <a:defRPr/>
            </a:pPr>
            <a:endParaRPr lang="en-US" dirty="0"/>
          </a:p>
          <a:p>
            <a:pPr marL="279532" indent="-174708">
              <a:spcBef>
                <a:spcPts val="0"/>
              </a:spcBef>
              <a:defRPr/>
            </a:pPr>
            <a:r>
              <a:rPr lang="en-US" dirty="0"/>
              <a:t>Transaction Processing System (TPS),</a:t>
            </a:r>
          </a:p>
          <a:p>
            <a:pPr marL="279532" indent="-174708">
              <a:spcBef>
                <a:spcPts val="0"/>
              </a:spcBef>
              <a:defRPr/>
            </a:pPr>
            <a:r>
              <a:rPr lang="en-US" dirty="0"/>
              <a:t>Management Information System (MIS), and </a:t>
            </a:r>
          </a:p>
          <a:p>
            <a:pPr marL="279532" indent="-174708">
              <a:spcBef>
                <a:spcPts val="0"/>
              </a:spcBef>
              <a:defRPr/>
            </a:pPr>
            <a:r>
              <a:rPr lang="en-US" dirty="0"/>
              <a:t>Decision Support System (DSS)</a:t>
            </a:r>
          </a:p>
          <a:p>
            <a:endParaRPr lang="en-US" dirty="0"/>
          </a:p>
        </p:txBody>
      </p:sp>
      <p:sp>
        <p:nvSpPr>
          <p:cNvPr id="4" name="Slide Number Placeholder 3"/>
          <p:cNvSpPr>
            <a:spLocks noGrp="1"/>
          </p:cNvSpPr>
          <p:nvPr>
            <p:ph type="sldNum" sz="quarter" idx="12"/>
          </p:nvPr>
        </p:nvSpPr>
        <p:spPr/>
        <p:txBody>
          <a:bodyPr/>
          <a:lstStyle/>
          <a:p>
            <a:fld id="{D54ACCF2-871A-4DA5-AEBE-57D54C7244BB}"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 transaction processing system (TPS)</a:t>
            </a:r>
          </a:p>
        </p:txBody>
      </p:sp>
      <p:sp>
        <p:nvSpPr>
          <p:cNvPr id="3" name="Content Placeholder 2"/>
          <p:cNvSpPr>
            <a:spLocks noGrp="1"/>
          </p:cNvSpPr>
          <p:nvPr>
            <p:ph idx="1"/>
          </p:nvPr>
        </p:nvSpPr>
        <p:spPr/>
        <p:txBody>
          <a:bodyPr/>
          <a:lstStyle/>
          <a:p>
            <a:r>
              <a:rPr lang="en-US" dirty="0"/>
              <a:t>A transaction processing system (TPS) processes information in order to complete a transaction. </a:t>
            </a:r>
          </a:p>
          <a:p>
            <a:r>
              <a:rPr lang="en-US" dirty="0"/>
              <a:t>Two examples are the Admit, discharge, transfer (ADT) and patient billing systems.</a:t>
            </a:r>
          </a:p>
          <a:p>
            <a:endParaRPr lang="en-US" dirty="0"/>
          </a:p>
          <a:p>
            <a:endParaRPr lang="en-US" dirty="0"/>
          </a:p>
        </p:txBody>
      </p:sp>
      <p:sp>
        <p:nvSpPr>
          <p:cNvPr id="4" name="Slide Number Placeholder 3"/>
          <p:cNvSpPr>
            <a:spLocks noGrp="1"/>
          </p:cNvSpPr>
          <p:nvPr>
            <p:ph type="sldNum" sz="quarter" idx="12"/>
          </p:nvPr>
        </p:nvSpPr>
        <p:spPr/>
        <p:txBody>
          <a:bodyPr/>
          <a:lstStyle/>
          <a:p>
            <a:fld id="{D54ACCF2-871A-4DA5-AEBE-57D54C7244BB}"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Autofit/>
          </a:bodyPr>
          <a:lstStyle/>
          <a:p>
            <a:pPr lvl="1" algn="ctr" rtl="0">
              <a:spcBef>
                <a:spcPct val="0"/>
              </a:spcBef>
            </a:pPr>
            <a:r>
              <a:rPr lang="en-US" sz="3200" dirty="0"/>
              <a:t>An admission, discharge, and transfer system</a:t>
            </a:r>
            <a:r>
              <a:rPr lang="en-US" sz="3200" dirty="0">
                <a:sym typeface="Wingdings" pitchFamily="2" charset="2"/>
              </a:rPr>
              <a:t>( ADR)</a:t>
            </a:r>
            <a:br>
              <a:rPr lang="en-US" sz="4000" dirty="0"/>
            </a:br>
            <a:endParaRPr lang="en-US" sz="4000" dirty="0"/>
          </a:p>
        </p:txBody>
      </p:sp>
      <p:sp>
        <p:nvSpPr>
          <p:cNvPr id="3" name="Content Placeholder 2"/>
          <p:cNvSpPr>
            <a:spLocks noGrp="1"/>
          </p:cNvSpPr>
          <p:nvPr>
            <p:ph idx="1"/>
          </p:nvPr>
        </p:nvSpPr>
        <p:spPr>
          <a:xfrm>
            <a:off x="457200" y="1646237"/>
            <a:ext cx="8229600" cy="4525963"/>
          </a:xfrm>
        </p:spPr>
        <p:txBody>
          <a:bodyPr/>
          <a:lstStyle/>
          <a:p>
            <a:pPr marL="342900" lvl="1" indent="-342900">
              <a:buFont typeface="Arial" pitchFamily="34" charset="0"/>
              <a:buChar char="•"/>
            </a:pPr>
            <a:r>
              <a:rPr lang="en-US" dirty="0"/>
              <a:t>This is the name given to software systems used in health care facilities that register and track patients from admission through discharge including transfers; usually interfaced with other systems used throughout a facility such as an electronic health record or lab information system”</a:t>
            </a:r>
          </a:p>
          <a:p>
            <a:pPr>
              <a:buNone/>
            </a:pPr>
            <a:endParaRPr lang="en-US" dirty="0"/>
          </a:p>
        </p:txBody>
      </p:sp>
      <p:sp>
        <p:nvSpPr>
          <p:cNvPr id="4" name="Slide Number Placeholder 3"/>
          <p:cNvSpPr>
            <a:spLocks noGrp="1"/>
          </p:cNvSpPr>
          <p:nvPr>
            <p:ph type="sldNum" sz="quarter" idx="12"/>
          </p:nvPr>
        </p:nvSpPr>
        <p:spPr/>
        <p:txBody>
          <a:bodyPr/>
          <a:lstStyle/>
          <a:p>
            <a:fld id="{D54ACCF2-871A-4DA5-AEBE-57D54C7244BB}"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Management Information System (MIS)</a:t>
            </a:r>
            <a:br>
              <a:rPr lang="en-US" dirty="0"/>
            </a:br>
            <a:endParaRPr lang="en-US" dirty="0"/>
          </a:p>
        </p:txBody>
      </p:sp>
      <p:sp>
        <p:nvSpPr>
          <p:cNvPr id="3" name="Content Placeholder 2"/>
          <p:cNvSpPr>
            <a:spLocks noGrp="1"/>
          </p:cNvSpPr>
          <p:nvPr>
            <p:ph idx="1"/>
          </p:nvPr>
        </p:nvSpPr>
        <p:spPr/>
        <p:txBody>
          <a:bodyPr/>
          <a:lstStyle/>
          <a:p>
            <a:pPr lvl="1">
              <a:buNone/>
            </a:pPr>
            <a:r>
              <a:rPr lang="en-US" dirty="0"/>
              <a:t>Helps managers plan, organize, and evaluate their department</a:t>
            </a:r>
          </a:p>
          <a:p>
            <a:r>
              <a:rPr lang="en-US" dirty="0"/>
              <a:t>Examples:</a:t>
            </a:r>
          </a:p>
          <a:p>
            <a:pPr lvl="1"/>
            <a:r>
              <a:rPr lang="en-US" dirty="0"/>
              <a:t>Laboratory department</a:t>
            </a:r>
          </a:p>
          <a:p>
            <a:pPr lvl="1"/>
            <a:r>
              <a:rPr lang="en-US" dirty="0"/>
              <a:t>Emergency department</a:t>
            </a:r>
          </a:p>
          <a:p>
            <a:endParaRPr lang="en-US" dirty="0"/>
          </a:p>
        </p:txBody>
      </p:sp>
      <p:sp>
        <p:nvSpPr>
          <p:cNvPr id="4" name="Slide Number Placeholder 3"/>
          <p:cNvSpPr>
            <a:spLocks noGrp="1"/>
          </p:cNvSpPr>
          <p:nvPr>
            <p:ph type="sldNum" sz="quarter" idx="12"/>
          </p:nvPr>
        </p:nvSpPr>
        <p:spPr/>
        <p:txBody>
          <a:bodyPr/>
          <a:lstStyle/>
          <a:p>
            <a:fld id="{D54ACCF2-871A-4DA5-AEBE-57D54C7244BB}"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Emergency care INFORMATION SYSTEM </a:t>
            </a:r>
          </a:p>
        </p:txBody>
      </p:sp>
      <p:sp>
        <p:nvSpPr>
          <p:cNvPr id="3" name="Content Placeholder 2"/>
          <p:cNvSpPr>
            <a:spLocks noGrp="1"/>
          </p:cNvSpPr>
          <p:nvPr>
            <p:ph idx="1"/>
          </p:nvPr>
        </p:nvSpPr>
        <p:spPr/>
        <p:txBody>
          <a:bodyPr/>
          <a:lstStyle/>
          <a:p>
            <a:r>
              <a:rPr lang="en-US" dirty="0"/>
              <a:t>Dashboard systems</a:t>
            </a:r>
          </a:p>
          <a:p>
            <a:r>
              <a:rPr lang="en-US" dirty="0"/>
              <a:t>Communication systems</a:t>
            </a:r>
          </a:p>
          <a:p>
            <a:r>
              <a:rPr lang="en-US" dirty="0"/>
              <a:t>Clinical decision support </a:t>
            </a:r>
          </a:p>
          <a:p>
            <a:r>
              <a:rPr lang="en-US" dirty="0"/>
              <a:t>Documentation systems</a:t>
            </a:r>
          </a:p>
          <a:p>
            <a:r>
              <a:rPr lang="en-US" dirty="0"/>
              <a:t>Computerized training and information retrieval</a:t>
            </a:r>
          </a:p>
          <a:p>
            <a:r>
              <a:rPr lang="en-US" dirty="0"/>
              <a:t>Systems to facilitate public health surveillance</a:t>
            </a:r>
          </a:p>
          <a:p>
            <a:pPr>
              <a:buNone/>
            </a:pPr>
            <a:endParaRPr lang="en-US" dirty="0"/>
          </a:p>
        </p:txBody>
      </p:sp>
      <p:sp>
        <p:nvSpPr>
          <p:cNvPr id="4" name="Slide Number Placeholder 3"/>
          <p:cNvSpPr>
            <a:spLocks noGrp="1"/>
          </p:cNvSpPr>
          <p:nvPr>
            <p:ph type="sldNum" sz="quarter" idx="12"/>
          </p:nvPr>
        </p:nvSpPr>
        <p:spPr/>
        <p:txBody>
          <a:bodyPr/>
          <a:lstStyle/>
          <a:p>
            <a:fld id="{D54ACCF2-871A-4DA5-AEBE-57D54C7244BB}"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Emergency care INFORMATION SYSTEM </a:t>
            </a:r>
          </a:p>
        </p:txBody>
      </p:sp>
      <p:sp>
        <p:nvSpPr>
          <p:cNvPr id="3" name="Content Placeholder 2"/>
          <p:cNvSpPr>
            <a:spLocks noGrp="1"/>
          </p:cNvSpPr>
          <p:nvPr>
            <p:ph idx="1"/>
          </p:nvPr>
        </p:nvSpPr>
        <p:spPr/>
        <p:txBody>
          <a:bodyPr>
            <a:normAutofit fontScale="92500" lnSpcReduction="20000"/>
          </a:bodyPr>
          <a:lstStyle/>
          <a:p>
            <a:pPr marL="228600" indent="-228600">
              <a:defRPr/>
            </a:pPr>
            <a:r>
              <a:rPr lang="en-US" dirty="0"/>
              <a:t>“dashboard systems that track and coordinate patient flow, </a:t>
            </a:r>
          </a:p>
          <a:p>
            <a:pPr marL="228600" indent="-228600">
              <a:defRPr/>
            </a:pPr>
            <a:r>
              <a:rPr lang="en-US" dirty="0"/>
              <a:t>communications systems that enable ED physicians to link to patients’ records or providers, </a:t>
            </a:r>
          </a:p>
          <a:p>
            <a:pPr marL="228600" indent="-228600">
              <a:defRPr/>
            </a:pPr>
            <a:r>
              <a:rPr lang="en-US" dirty="0"/>
              <a:t>clinical decision support programs that improve decision making, </a:t>
            </a:r>
          </a:p>
          <a:p>
            <a:pPr marL="228600" indent="-228600">
              <a:defRPr/>
            </a:pPr>
            <a:r>
              <a:rPr lang="en-US" dirty="0"/>
              <a:t>documentation systems for collecting and storing patient data, </a:t>
            </a:r>
          </a:p>
          <a:p>
            <a:pPr marL="228600" indent="-228600">
              <a:defRPr/>
            </a:pPr>
            <a:r>
              <a:rPr lang="en-US" dirty="0"/>
              <a:t>computerized training and information retrieval, and  systems to facilitate public health surveillance</a:t>
            </a:r>
          </a:p>
          <a:p>
            <a:endParaRPr lang="en-US" dirty="0"/>
          </a:p>
        </p:txBody>
      </p:sp>
      <p:sp>
        <p:nvSpPr>
          <p:cNvPr id="4" name="Slide Number Placeholder 3"/>
          <p:cNvSpPr>
            <a:spLocks noGrp="1"/>
          </p:cNvSpPr>
          <p:nvPr>
            <p:ph type="sldNum" sz="quarter" idx="12"/>
          </p:nvPr>
        </p:nvSpPr>
        <p:spPr/>
        <p:txBody>
          <a:bodyPr/>
          <a:lstStyle/>
          <a:p>
            <a:fld id="{D54ACCF2-871A-4DA5-AEBE-57D54C7244BB}"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support system (DSS)</a:t>
            </a:r>
          </a:p>
        </p:txBody>
      </p:sp>
      <p:sp>
        <p:nvSpPr>
          <p:cNvPr id="3" name="Content Placeholder 2"/>
          <p:cNvSpPr>
            <a:spLocks noGrp="1"/>
          </p:cNvSpPr>
          <p:nvPr>
            <p:ph idx="1"/>
          </p:nvPr>
        </p:nvSpPr>
        <p:spPr/>
        <p:txBody>
          <a:bodyPr/>
          <a:lstStyle/>
          <a:p>
            <a:r>
              <a:rPr lang="en-US" dirty="0"/>
              <a:t>Information system </a:t>
            </a:r>
          </a:p>
          <a:p>
            <a:pPr lvl="1"/>
            <a:r>
              <a:rPr lang="en-US" dirty="0"/>
              <a:t>Gathers data from a variety of sources</a:t>
            </a:r>
          </a:p>
          <a:p>
            <a:pPr lvl="1"/>
            <a:r>
              <a:rPr lang="en-US" dirty="0"/>
              <a:t>Assists in providing structure to the data</a:t>
            </a:r>
          </a:p>
          <a:p>
            <a:pPr lvl="1"/>
            <a:r>
              <a:rPr lang="en-US" dirty="0"/>
              <a:t>Facilitates and improves the outcome of business and organizational decision-making activities</a:t>
            </a:r>
          </a:p>
          <a:p>
            <a:r>
              <a:rPr lang="en-US" dirty="0"/>
              <a:t>Example:</a:t>
            </a:r>
          </a:p>
          <a:p>
            <a:pPr lvl="1"/>
            <a:r>
              <a:rPr lang="en-US" dirty="0"/>
              <a:t>Clinical DSS</a:t>
            </a:r>
          </a:p>
        </p:txBody>
      </p:sp>
      <p:sp>
        <p:nvSpPr>
          <p:cNvPr id="4" name="Slide Number Placeholder 3"/>
          <p:cNvSpPr>
            <a:spLocks noGrp="1"/>
          </p:cNvSpPr>
          <p:nvPr>
            <p:ph type="sldNum" sz="quarter" idx="12"/>
          </p:nvPr>
        </p:nvSpPr>
        <p:spPr/>
        <p:txBody>
          <a:bodyPr/>
          <a:lstStyle/>
          <a:p>
            <a:fld id="{D54ACCF2-871A-4DA5-AEBE-57D54C7244BB}"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Health Care Information </a:t>
            </a:r>
            <a:br>
              <a:rPr lang="en-US" dirty="0"/>
            </a:br>
            <a:r>
              <a:rPr lang="en-US" dirty="0"/>
              <a:t>System (HCIS)</a:t>
            </a:r>
          </a:p>
        </p:txBody>
      </p:sp>
      <p:sp>
        <p:nvSpPr>
          <p:cNvPr id="3" name="Content Placeholder 2"/>
          <p:cNvSpPr>
            <a:spLocks noGrp="1"/>
          </p:cNvSpPr>
          <p:nvPr>
            <p:ph idx="1"/>
          </p:nvPr>
        </p:nvSpPr>
        <p:spPr/>
        <p:txBody>
          <a:bodyPr/>
          <a:lstStyle/>
          <a:p>
            <a:r>
              <a:rPr lang="en-US" dirty="0"/>
              <a:t>Information system used within a health care organization </a:t>
            </a:r>
          </a:p>
          <a:p>
            <a:pPr lvl="1"/>
            <a:r>
              <a:rPr lang="en-US" dirty="0"/>
              <a:t>Facilitates communication</a:t>
            </a:r>
          </a:p>
          <a:p>
            <a:pPr lvl="1"/>
            <a:r>
              <a:rPr lang="en-US" dirty="0"/>
              <a:t>Integrates information</a:t>
            </a:r>
          </a:p>
          <a:p>
            <a:pPr lvl="1"/>
            <a:r>
              <a:rPr lang="en-US" dirty="0"/>
              <a:t>Documents health care interventions</a:t>
            </a:r>
          </a:p>
          <a:p>
            <a:pPr lvl="1"/>
            <a:r>
              <a:rPr lang="en-US" dirty="0"/>
              <a:t>Performs record keeping </a:t>
            </a:r>
          </a:p>
          <a:p>
            <a:pPr lvl="1"/>
            <a:r>
              <a:rPr lang="en-US" dirty="0"/>
              <a:t>Otherwise support the functions of the organization</a:t>
            </a:r>
          </a:p>
        </p:txBody>
      </p:sp>
      <p:sp>
        <p:nvSpPr>
          <p:cNvPr id="4" name="Slide Number Placeholder 3"/>
          <p:cNvSpPr>
            <a:spLocks noGrp="1"/>
          </p:cNvSpPr>
          <p:nvPr>
            <p:ph type="sldNum" sz="quarter" idx="12"/>
          </p:nvPr>
        </p:nvSpPr>
        <p:spPr/>
        <p:txBody>
          <a:bodyPr/>
          <a:lstStyle/>
          <a:p>
            <a:fld id="{D54ACCF2-871A-4DA5-AEBE-57D54C7244BB}"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HCIS components</a:t>
            </a:r>
          </a:p>
        </p:txBody>
      </p:sp>
      <p:sp>
        <p:nvSpPr>
          <p:cNvPr id="3" name="Content Placeholder 2"/>
          <p:cNvSpPr>
            <a:spLocks noGrp="1"/>
          </p:cNvSpPr>
          <p:nvPr>
            <p:ph idx="1"/>
          </p:nvPr>
        </p:nvSpPr>
        <p:spPr/>
        <p:txBody>
          <a:bodyPr/>
          <a:lstStyle/>
          <a:p>
            <a:pPr>
              <a:spcBef>
                <a:spcPts val="0"/>
              </a:spcBef>
              <a:buNone/>
              <a:defRPr/>
            </a:pPr>
            <a:endParaRPr lang="en-US" dirty="0"/>
          </a:p>
          <a:p>
            <a:pPr marL="228600" indent="-228600">
              <a:spcBef>
                <a:spcPts val="0"/>
              </a:spcBef>
              <a:buFontTx/>
              <a:buAutoNum type="arabicParenR"/>
              <a:defRPr/>
            </a:pPr>
            <a:r>
              <a:rPr lang="en-US" dirty="0"/>
              <a:t>Patient management and billing</a:t>
            </a:r>
          </a:p>
          <a:p>
            <a:pPr marL="228600" indent="-228600">
              <a:spcBef>
                <a:spcPts val="0"/>
              </a:spcBef>
              <a:buFontTx/>
              <a:buAutoNum type="arabicParenR"/>
              <a:defRPr/>
            </a:pPr>
            <a:r>
              <a:rPr lang="en-US" dirty="0"/>
              <a:t>Department management</a:t>
            </a:r>
          </a:p>
          <a:p>
            <a:pPr marL="228600" indent="-228600">
              <a:spcBef>
                <a:spcPts val="0"/>
              </a:spcBef>
              <a:buFontTx/>
              <a:buAutoNum type="arabicParenR"/>
              <a:defRPr/>
            </a:pPr>
            <a:r>
              <a:rPr lang="en-US" dirty="0"/>
              <a:t>Care delivery and clinical documentation</a:t>
            </a:r>
          </a:p>
          <a:p>
            <a:pPr marL="228600" indent="-228600">
              <a:spcBef>
                <a:spcPts val="0"/>
              </a:spcBef>
              <a:buFontTx/>
              <a:buAutoNum type="arabicParenR"/>
              <a:defRPr/>
            </a:pPr>
            <a:r>
              <a:rPr lang="en-US" dirty="0"/>
              <a:t>Clinical decision support </a:t>
            </a:r>
          </a:p>
          <a:p>
            <a:pPr marL="228600" indent="-228600">
              <a:spcBef>
                <a:spcPts val="0"/>
              </a:spcBef>
              <a:buFontTx/>
              <a:buAutoNum type="arabicParenR"/>
              <a:defRPr/>
            </a:pPr>
            <a:r>
              <a:rPr lang="en-US" dirty="0"/>
              <a:t>Financial and resource management </a:t>
            </a:r>
          </a:p>
          <a:p>
            <a:endParaRPr lang="en-US" dirty="0"/>
          </a:p>
        </p:txBody>
      </p:sp>
      <p:sp>
        <p:nvSpPr>
          <p:cNvPr id="4" name="Slide Number Placeholder 3"/>
          <p:cNvSpPr>
            <a:spLocks noGrp="1"/>
          </p:cNvSpPr>
          <p:nvPr>
            <p:ph type="sldNum" sz="quarter" idx="12"/>
          </p:nvPr>
        </p:nvSpPr>
        <p:spPr/>
        <p:txBody>
          <a:bodyPr/>
          <a:lstStyle/>
          <a:p>
            <a:fld id="{D54ACCF2-871A-4DA5-AEBE-57D54C7244BB}"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6"/>
          <p:cNvSpPr>
            <a:spLocks noGrp="1"/>
          </p:cNvSpPr>
          <p:nvPr>
            <p:ph type="title"/>
          </p:nvPr>
        </p:nvSpPr>
        <p:spPr>
          <a:xfrm>
            <a:off x="457200" y="274638"/>
            <a:ext cx="8229600" cy="1143000"/>
          </a:xfrm>
        </p:spPr>
        <p:txBody>
          <a:bodyPr/>
          <a:lstStyle/>
          <a:p>
            <a:r>
              <a:rPr lang="en-US" dirty="0"/>
              <a:t>Patient Management and Billing</a:t>
            </a:r>
          </a:p>
        </p:txBody>
      </p:sp>
      <p:sp>
        <p:nvSpPr>
          <p:cNvPr id="18435" name="Content Placeholder 7"/>
          <p:cNvSpPr>
            <a:spLocks noGrp="1"/>
          </p:cNvSpPr>
          <p:nvPr>
            <p:ph sz="quarter" idx="14"/>
          </p:nvPr>
        </p:nvSpPr>
        <p:spPr>
          <a:xfrm>
            <a:off x="457200" y="1447800"/>
            <a:ext cx="8229600" cy="4419600"/>
          </a:xfrm>
        </p:spPr>
        <p:txBody>
          <a:bodyPr/>
          <a:lstStyle/>
          <a:p>
            <a:r>
              <a:rPr lang="en-US" dirty="0"/>
              <a:t>Systems that support the management of the patient </a:t>
            </a:r>
          </a:p>
          <a:p>
            <a:pPr lvl="1"/>
            <a:r>
              <a:rPr lang="en-US" sz="2400" dirty="0"/>
              <a:t>Example</a:t>
            </a:r>
          </a:p>
          <a:p>
            <a:pPr lvl="2"/>
            <a:r>
              <a:rPr lang="en-US" dirty="0"/>
              <a:t>Patient identification</a:t>
            </a:r>
          </a:p>
          <a:p>
            <a:pPr lvl="1"/>
            <a:r>
              <a:rPr lang="en-US" sz="2400" dirty="0"/>
              <a:t>Supporting technology</a:t>
            </a:r>
          </a:p>
          <a:p>
            <a:pPr lvl="2"/>
            <a:r>
              <a:rPr lang="en-US" dirty="0"/>
              <a:t>Master patient index</a:t>
            </a:r>
          </a:p>
          <a:p>
            <a:pPr lvl="3"/>
            <a:r>
              <a:rPr lang="en-US" dirty="0"/>
              <a:t>Patient-identifying directory</a:t>
            </a:r>
          </a:p>
          <a:p>
            <a:pPr lvl="3"/>
            <a:r>
              <a:rPr lang="en-US" dirty="0"/>
              <a:t>Links to the patient record</a:t>
            </a:r>
          </a:p>
          <a:p>
            <a:pPr lvl="3"/>
            <a:r>
              <a:rPr lang="en-US" dirty="0"/>
              <a:t>Facilitates patient identification</a:t>
            </a:r>
          </a:p>
          <a:p>
            <a:pPr lvl="3"/>
            <a:r>
              <a:rPr lang="en-US" dirty="0">
                <a:cs typeface="Arial" pitchFamily="34" charset="0"/>
              </a:rPr>
              <a:t>Assists in maintaining a longitudinal patient record </a:t>
            </a:r>
            <a:endParaRPr lang="en-US" dirty="0"/>
          </a:p>
        </p:txBody>
      </p:sp>
      <p:sp>
        <p:nvSpPr>
          <p:cNvPr id="3" name="Slide Number Placeholder 2"/>
          <p:cNvSpPr>
            <a:spLocks noGrp="1"/>
          </p:cNvSpPr>
          <p:nvPr>
            <p:ph type="sldNum" sz="quarter" idx="15"/>
          </p:nvPr>
        </p:nvSpPr>
        <p:spPr/>
        <p:txBody>
          <a:bodyPr/>
          <a:lstStyle/>
          <a:p>
            <a:pPr>
              <a:defRPr/>
            </a:pPr>
            <a:fld id="{20EC6ADD-EFF4-4AB2-BCD7-98B822AC1A76}" type="slidenum">
              <a:rPr lang="en-US"/>
              <a:pPr>
                <a:defRPr/>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
          <p:cNvSpPr>
            <a:spLocks noGrp="1" noChangeArrowheads="1"/>
          </p:cNvSpPr>
          <p:nvPr>
            <p:ph type="title"/>
          </p:nvPr>
        </p:nvSpPr>
        <p:spPr>
          <a:xfrm>
            <a:off x="0" y="0"/>
            <a:ext cx="9144000" cy="1238250"/>
          </a:xfrm>
        </p:spPr>
        <p:txBody>
          <a:bodyPr lIns="0" tIns="38808" rIns="0" bIns="0"/>
          <a:lstStyle/>
          <a:p>
            <a:pPr eaLnBrk="1" hangingPunct="1">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dirty="0"/>
              <a:t>MoH Health Informatics</a:t>
            </a:r>
          </a:p>
        </p:txBody>
      </p:sp>
      <p:sp>
        <p:nvSpPr>
          <p:cNvPr id="6147" name="Rectangle 2"/>
          <p:cNvSpPr>
            <a:spLocks noGrp="1" noChangeArrowheads="1"/>
          </p:cNvSpPr>
          <p:nvPr>
            <p:ph type="body" idx="1"/>
          </p:nvPr>
        </p:nvSpPr>
        <p:spPr>
          <a:xfrm>
            <a:off x="442913" y="1381125"/>
            <a:ext cx="8291512" cy="4611688"/>
          </a:xfrm>
        </p:spPr>
        <p:txBody>
          <a:bodyPr tIns="100800">
            <a:normAutofit/>
          </a:bodyPr>
          <a:lstStyle/>
          <a:p>
            <a:pPr marL="338138" indent="-338138" eaLnBrk="1" hangingPunct="1">
              <a:lnSpc>
                <a:spcPct val="75000"/>
              </a:lnSpc>
              <a:spcBef>
                <a:spcPts val="3200"/>
              </a:spcBef>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US" sz="3200" dirty="0"/>
              <a:t>provides leadership in the application of information and computer science and technology to public health practice, research, and learning. </a:t>
            </a:r>
          </a:p>
          <a:p>
            <a:pPr marL="800100" lvl="1" indent="-276225" eaLnBrk="1" hangingPunct="1">
              <a:lnSpc>
                <a:spcPct val="75000"/>
              </a:lnSpc>
              <a:spcBef>
                <a:spcPts val="500"/>
              </a:spcBef>
              <a:buClr>
                <a:srgbClr val="1E7FB8"/>
              </a:buClr>
              <a:buFont typeface="Arial" charset="0"/>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US" dirty="0"/>
              <a:t>Electronic health record support the public health functions</a:t>
            </a:r>
          </a:p>
          <a:p>
            <a:pPr marL="800100" lvl="1" indent="-276225" eaLnBrk="1" hangingPunct="1">
              <a:lnSpc>
                <a:spcPct val="75000"/>
              </a:lnSpc>
              <a:spcBef>
                <a:spcPts val="500"/>
              </a:spcBef>
              <a:buClr>
                <a:srgbClr val="1E7FB8"/>
              </a:buClr>
              <a:buFont typeface="Arial" charset="0"/>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US" dirty="0"/>
              <a:t>Use of health care records, population census and other public health data in supporting public health systems and analyses</a:t>
            </a:r>
          </a:p>
          <a:p>
            <a:pPr marL="800100" lvl="1" indent="-276225" eaLnBrk="1" hangingPunct="1">
              <a:lnSpc>
                <a:spcPct val="75000"/>
              </a:lnSpc>
              <a:spcBef>
                <a:spcPts val="500"/>
              </a:spcBef>
              <a:buClr>
                <a:srgbClr val="1E7FB8"/>
              </a:buClr>
              <a:buFont typeface="Arial" charset="0"/>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US" dirty="0"/>
              <a:t>Basic capabilities that support public health practice such as statistical and health surveillance</a:t>
            </a:r>
          </a:p>
          <a:p>
            <a:pPr marL="800100" lvl="1" indent="-276225" eaLnBrk="1" hangingPunct="1">
              <a:lnSpc>
                <a:spcPct val="75000"/>
              </a:lnSpc>
              <a:spcBef>
                <a:spcPts val="500"/>
              </a:spcBef>
              <a:buClr>
                <a:srgbClr val="1E7FB8"/>
              </a:buClr>
              <a:buFont typeface="Arial" charset="0"/>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US" dirty="0"/>
              <a:t>Public Health decision support</a:t>
            </a:r>
          </a:p>
        </p:txBody>
      </p:sp>
      <p:sp>
        <p:nvSpPr>
          <p:cNvPr id="4" name="Slide Number Placeholder 3"/>
          <p:cNvSpPr>
            <a:spLocks noGrp="1"/>
          </p:cNvSpPr>
          <p:nvPr>
            <p:ph type="sldNum" sz="quarter" idx="12"/>
          </p:nvPr>
        </p:nvSpPr>
        <p:spPr/>
        <p:txBody>
          <a:bodyPr/>
          <a:lstStyle/>
          <a:p>
            <a:fld id="{D54ACCF2-871A-4DA5-AEBE-57D54C7244BB}" type="slidenum">
              <a:rPr lang="en-US" smtClean="0"/>
              <a:pPr/>
              <a:t>21</a:t>
            </a:fld>
            <a:endParaRPr lang="en-US"/>
          </a:p>
        </p:txBody>
      </p:sp>
    </p:spTree>
  </p:cSld>
  <p:clrMapOvr>
    <a:masterClrMapping/>
  </p:clrMapOvr>
  <p:transition>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
          <p:cNvSpPr>
            <a:spLocks noGrp="1" noChangeArrowheads="1"/>
          </p:cNvSpPr>
          <p:nvPr>
            <p:ph type="title"/>
          </p:nvPr>
        </p:nvSpPr>
        <p:spPr>
          <a:xfrm>
            <a:off x="0" y="0"/>
            <a:ext cx="9144000" cy="1238250"/>
          </a:xfrm>
        </p:spPr>
        <p:txBody>
          <a:bodyPr lIns="0" tIns="38808" rIns="0" bIns="0"/>
          <a:lstStyle/>
          <a:p>
            <a:pPr eaLnBrk="1" hangingPunct="1">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dirty="0"/>
              <a:t>eHealth</a:t>
            </a:r>
          </a:p>
        </p:txBody>
      </p:sp>
      <p:sp>
        <p:nvSpPr>
          <p:cNvPr id="7171" name="Rectangle 2"/>
          <p:cNvSpPr>
            <a:spLocks noGrp="1" noChangeArrowheads="1"/>
          </p:cNvSpPr>
          <p:nvPr>
            <p:ph type="body" idx="1"/>
          </p:nvPr>
        </p:nvSpPr>
        <p:spPr>
          <a:xfrm>
            <a:off x="442913" y="1381125"/>
            <a:ext cx="8291512" cy="4611688"/>
          </a:xfrm>
        </p:spPr>
        <p:txBody>
          <a:bodyPr tIns="28224"/>
          <a:lstStyle/>
          <a:p>
            <a:pPr marL="338138" indent="-338138" eaLnBrk="1" hangingPunct="1">
              <a:spcBef>
                <a:spcPts val="3200"/>
              </a:spcBef>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US" sz="3200" b="1" dirty="0"/>
              <a:t>eHealth</a:t>
            </a:r>
            <a:r>
              <a:rPr lang="en-US" sz="3200" dirty="0"/>
              <a:t> is a broad term for healthcare practice which is supported by electronic processes and communication. </a:t>
            </a:r>
          </a:p>
          <a:p>
            <a:pPr marL="338138" indent="-338138" eaLnBrk="1" hangingPunct="1">
              <a:spcBef>
                <a:spcPts val="3200"/>
              </a:spcBef>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US" sz="3200" dirty="0"/>
              <a:t>The term can encompass a range of services that are at the edge of medicine/healthcare and information technology.</a:t>
            </a:r>
          </a:p>
        </p:txBody>
      </p:sp>
      <p:sp>
        <p:nvSpPr>
          <p:cNvPr id="4" name="Slide Number Placeholder 3"/>
          <p:cNvSpPr>
            <a:spLocks noGrp="1"/>
          </p:cNvSpPr>
          <p:nvPr>
            <p:ph type="sldNum" sz="quarter" idx="12"/>
          </p:nvPr>
        </p:nvSpPr>
        <p:spPr/>
        <p:txBody>
          <a:bodyPr/>
          <a:lstStyle/>
          <a:p>
            <a:fld id="{D54ACCF2-871A-4DA5-AEBE-57D54C7244BB}" type="slidenum">
              <a:rPr lang="en-US" smtClean="0"/>
              <a:pPr/>
              <a:t>22</a:t>
            </a:fld>
            <a:endParaRPr lang="en-US"/>
          </a:p>
        </p:txBody>
      </p:sp>
    </p:spTree>
  </p:cSld>
  <p:clrMapOvr>
    <a:masterClrMapping/>
  </p:clrMapOvr>
  <p:transition>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noChangeArrowheads="1"/>
          </p:cNvSpPr>
          <p:nvPr>
            <p:ph type="title"/>
          </p:nvPr>
        </p:nvSpPr>
        <p:spPr>
          <a:xfrm>
            <a:off x="0" y="-1588"/>
            <a:ext cx="9144000" cy="1243013"/>
          </a:xfrm>
        </p:spPr>
        <p:txBody>
          <a:bodyPr tIns="85608"/>
          <a:lstStyle/>
          <a:p>
            <a:pPr eaLnBrk="1" hangingPunct="1">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dirty="0"/>
              <a:t>mHealth</a:t>
            </a:r>
          </a:p>
        </p:txBody>
      </p:sp>
      <p:sp>
        <p:nvSpPr>
          <p:cNvPr id="8195" name="Rectangle 2"/>
          <p:cNvSpPr>
            <a:spLocks noGrp="1" noChangeArrowheads="1"/>
          </p:cNvSpPr>
          <p:nvPr>
            <p:ph type="body" idx="1"/>
          </p:nvPr>
        </p:nvSpPr>
        <p:spPr>
          <a:xfrm>
            <a:off x="442913" y="1381125"/>
            <a:ext cx="8291512" cy="4522788"/>
          </a:xfrm>
        </p:spPr>
        <p:txBody>
          <a:bodyPr tIns="35280"/>
          <a:lstStyle/>
          <a:p>
            <a:pPr marL="338138" indent="-338138" eaLnBrk="1" hangingPunct="1">
              <a:spcBef>
                <a:spcPts val="3200"/>
              </a:spcBef>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sz="4000" dirty="0"/>
              <a:t>Mobile Health</a:t>
            </a:r>
          </a:p>
          <a:p>
            <a:pPr marL="338138" indent="-338138" eaLnBrk="1" hangingPunct="1">
              <a:spcBef>
                <a:spcPts val="3200"/>
              </a:spcBef>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sz="4000" dirty="0"/>
              <a:t>Mobile technologies such as mobile phones  collect and access health information.</a:t>
            </a:r>
          </a:p>
        </p:txBody>
      </p:sp>
      <p:sp>
        <p:nvSpPr>
          <p:cNvPr id="4" name="Slide Number Placeholder 3"/>
          <p:cNvSpPr>
            <a:spLocks noGrp="1"/>
          </p:cNvSpPr>
          <p:nvPr>
            <p:ph type="sldNum" sz="quarter" idx="12"/>
          </p:nvPr>
        </p:nvSpPr>
        <p:spPr/>
        <p:txBody>
          <a:bodyPr/>
          <a:lstStyle/>
          <a:p>
            <a:fld id="{D54ACCF2-871A-4DA5-AEBE-57D54C7244BB}" type="slidenum">
              <a:rPr lang="en-US" smtClean="0"/>
              <a:pPr/>
              <a:t>23</a:t>
            </a:fld>
            <a:endParaRPr lang="en-US"/>
          </a:p>
        </p:txBody>
      </p:sp>
    </p:spTree>
  </p:cSld>
  <p:clrMapOvr>
    <a:masterClrMapping/>
  </p:clrMapOvr>
  <p:transition>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noChangeArrowheads="1"/>
          </p:cNvSpPr>
          <p:nvPr>
            <p:ph type="title"/>
          </p:nvPr>
        </p:nvSpPr>
        <p:spPr>
          <a:xfrm>
            <a:off x="0" y="0"/>
            <a:ext cx="9144000" cy="1238250"/>
          </a:xfrm>
        </p:spPr>
        <p:txBody>
          <a:bodyPr lIns="0" tIns="38808" rIns="0" bIns="0"/>
          <a:lstStyle/>
          <a:p>
            <a:pPr eaLnBrk="1" hangingPunct="1">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t>Informatics  ≠ IT</a:t>
            </a:r>
          </a:p>
        </p:txBody>
      </p:sp>
      <p:sp>
        <p:nvSpPr>
          <p:cNvPr id="9219" name="Rectangle 2"/>
          <p:cNvSpPr>
            <a:spLocks noGrp="1" noChangeArrowheads="1"/>
          </p:cNvSpPr>
          <p:nvPr>
            <p:ph type="body" idx="1"/>
          </p:nvPr>
        </p:nvSpPr>
        <p:spPr>
          <a:xfrm>
            <a:off x="442913" y="1381125"/>
            <a:ext cx="8291512" cy="4611688"/>
          </a:xfrm>
        </p:spPr>
        <p:txBody>
          <a:bodyPr tIns="132300"/>
          <a:lstStyle/>
          <a:p>
            <a:pPr marL="338138" indent="-338138" eaLnBrk="1" hangingPunct="1">
              <a:lnSpc>
                <a:spcPct val="75000"/>
              </a:lnSpc>
              <a:spcBef>
                <a:spcPts val="4200"/>
              </a:spcBef>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US" sz="4200"/>
              <a:t>Information Technology is not Informatics</a:t>
            </a:r>
          </a:p>
          <a:p>
            <a:pPr marL="338138" indent="-338138" eaLnBrk="1" hangingPunct="1">
              <a:lnSpc>
                <a:spcPct val="75000"/>
              </a:lnSpc>
              <a:spcBef>
                <a:spcPts val="4200"/>
              </a:spcBef>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US" sz="4200"/>
              <a:t>Information technology is hardware &amp; software. </a:t>
            </a:r>
          </a:p>
          <a:p>
            <a:pPr marL="1250950" lvl="2" indent="-266700" eaLnBrk="1" hangingPunct="1">
              <a:lnSpc>
                <a:spcPct val="77000"/>
              </a:lnSpc>
              <a:spcBef>
                <a:spcPts val="750"/>
              </a:spcBef>
              <a:buClr>
                <a:srgbClr val="1E7FB8"/>
              </a:buClr>
              <a:buFont typeface="Arial Narrow" pitchFamily="32" charset="0"/>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US" sz="3000"/>
              <a:t>IT is to nouns, as informatics is to verbs. </a:t>
            </a:r>
          </a:p>
          <a:p>
            <a:pPr marL="1250950" lvl="2" indent="-266700" eaLnBrk="1" hangingPunct="1">
              <a:lnSpc>
                <a:spcPct val="77000"/>
              </a:lnSpc>
              <a:spcBef>
                <a:spcPts val="750"/>
              </a:spcBef>
              <a:buClr>
                <a:srgbClr val="1E7FB8"/>
              </a:buClr>
              <a:buFont typeface="Arial Narrow" pitchFamily="32" charset="0"/>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US" sz="3000"/>
              <a:t>Informatics helps IT ‘work appropriately.’</a:t>
            </a:r>
          </a:p>
          <a:p>
            <a:pPr marL="338138" indent="-338138" eaLnBrk="1" hangingPunct="1">
              <a:lnSpc>
                <a:spcPct val="75000"/>
              </a:lnSpc>
              <a:spcBef>
                <a:spcPts val="3000"/>
              </a:spcBef>
              <a:buClrTx/>
              <a:buSzTx/>
              <a:buFontTx/>
              <a:buNone/>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endParaRPr lang="en-US" sz="3000"/>
          </a:p>
        </p:txBody>
      </p:sp>
      <p:sp>
        <p:nvSpPr>
          <p:cNvPr id="4" name="Slide Number Placeholder 3"/>
          <p:cNvSpPr>
            <a:spLocks noGrp="1"/>
          </p:cNvSpPr>
          <p:nvPr>
            <p:ph type="sldNum" sz="quarter" idx="12"/>
          </p:nvPr>
        </p:nvSpPr>
        <p:spPr/>
        <p:txBody>
          <a:bodyPr/>
          <a:lstStyle/>
          <a:p>
            <a:fld id="{D54ACCF2-871A-4DA5-AEBE-57D54C7244BB}" type="slidenum">
              <a:rPr lang="en-US" smtClean="0"/>
              <a:pPr/>
              <a:t>24</a:t>
            </a:fld>
            <a:endParaRPr lang="en-US"/>
          </a:p>
        </p:txBody>
      </p:sp>
    </p:spTree>
  </p:cSld>
  <p:clrMapOvr>
    <a:masterClrMapping/>
  </p:clrMapOvr>
  <p:transition>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p:cNvSpPr>
            <a:spLocks noGrp="1" noChangeArrowheads="1"/>
          </p:cNvSpPr>
          <p:nvPr>
            <p:ph type="title"/>
          </p:nvPr>
        </p:nvSpPr>
        <p:spPr>
          <a:xfrm>
            <a:off x="0" y="0"/>
            <a:ext cx="9144000" cy="1238250"/>
          </a:xfrm>
        </p:spPr>
        <p:txBody>
          <a:bodyPr lIns="0" tIns="38808" rIns="0" bIns="0"/>
          <a:lstStyle/>
          <a:p>
            <a:pPr eaLnBrk="1" hangingPunct="1">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t>Key Elements of Informatics</a:t>
            </a:r>
          </a:p>
        </p:txBody>
      </p:sp>
      <p:sp>
        <p:nvSpPr>
          <p:cNvPr id="10243" name="Rectangle 2"/>
          <p:cNvSpPr>
            <a:spLocks noGrp="1" noChangeArrowheads="1"/>
          </p:cNvSpPr>
          <p:nvPr>
            <p:ph type="body" idx="1"/>
          </p:nvPr>
        </p:nvSpPr>
        <p:spPr>
          <a:xfrm>
            <a:off x="442913" y="1381125"/>
            <a:ext cx="8291512" cy="4611688"/>
          </a:xfrm>
        </p:spPr>
        <p:txBody>
          <a:bodyPr/>
          <a:lstStyle/>
          <a:p>
            <a:pPr marL="338138" indent="-338138" eaLnBrk="1" hangingPunct="1">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a:t>Acquisition</a:t>
            </a:r>
          </a:p>
          <a:p>
            <a:pPr marL="338138" indent="-338138" eaLnBrk="1" hangingPunct="1">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a:t>Storage</a:t>
            </a:r>
          </a:p>
          <a:p>
            <a:pPr marL="338138" indent="-338138" eaLnBrk="1" hangingPunct="1">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a:t>Communication</a:t>
            </a:r>
          </a:p>
          <a:p>
            <a:pPr marL="338138" indent="-338138" eaLnBrk="1" hangingPunct="1">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a:t>Manipulation</a:t>
            </a:r>
          </a:p>
          <a:p>
            <a:pPr marL="338138" indent="-338138" eaLnBrk="1" hangingPunct="1">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a:t>Display</a:t>
            </a:r>
          </a:p>
        </p:txBody>
      </p:sp>
      <p:sp>
        <p:nvSpPr>
          <p:cNvPr id="4" name="Slide Number Placeholder 3"/>
          <p:cNvSpPr>
            <a:spLocks noGrp="1"/>
          </p:cNvSpPr>
          <p:nvPr>
            <p:ph type="sldNum" sz="quarter" idx="12"/>
          </p:nvPr>
        </p:nvSpPr>
        <p:spPr/>
        <p:txBody>
          <a:bodyPr/>
          <a:lstStyle/>
          <a:p>
            <a:fld id="{D54ACCF2-871A-4DA5-AEBE-57D54C7244BB}" type="slidenum">
              <a:rPr lang="en-US" smtClean="0"/>
              <a:pPr/>
              <a:t>25</a:t>
            </a:fld>
            <a:endParaRPr lang="en-US"/>
          </a:p>
        </p:txBody>
      </p:sp>
    </p:spTree>
  </p:cSld>
  <p:clrMapOvr>
    <a:masterClrMapping/>
  </p:clrMapOvr>
  <p:transition>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
          <p:cNvSpPr>
            <a:spLocks noGrp="1" noChangeArrowheads="1"/>
          </p:cNvSpPr>
          <p:nvPr>
            <p:ph type="title"/>
          </p:nvPr>
        </p:nvSpPr>
        <p:spPr>
          <a:xfrm>
            <a:off x="0" y="-50800"/>
            <a:ext cx="9144000" cy="1341438"/>
          </a:xfrm>
        </p:spPr>
        <p:txBody>
          <a:bodyPr lIns="0" tIns="38808" rIns="0" bIns="0"/>
          <a:lstStyle/>
          <a:p>
            <a:pPr eaLnBrk="1" hangingPunct="1">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ea typeface="宋体" charset="-122"/>
              </a:rPr>
              <a:t>Health Information Systems Context</a:t>
            </a:r>
          </a:p>
        </p:txBody>
      </p:sp>
      <p:pic>
        <p:nvPicPr>
          <p:cNvPr id="11267" name="Picture 2"/>
          <p:cNvPicPr>
            <a:picLocks noChangeAspect="1" noChangeArrowheads="1"/>
          </p:cNvPicPr>
          <p:nvPr/>
        </p:nvPicPr>
        <p:blipFill>
          <a:blip r:embed="rId3"/>
          <a:srcRect/>
          <a:stretch>
            <a:fillRect/>
          </a:stretch>
        </p:blipFill>
        <p:spPr bwMode="auto">
          <a:xfrm>
            <a:off x="3643313" y="1214438"/>
            <a:ext cx="5511800" cy="5572125"/>
          </a:xfrm>
          <a:prstGeom prst="rect">
            <a:avLst/>
          </a:prstGeom>
          <a:noFill/>
          <a:ln w="9525">
            <a:noFill/>
            <a:round/>
            <a:headEnd/>
            <a:tailEnd/>
          </a:ln>
        </p:spPr>
      </p:pic>
      <p:pic>
        <p:nvPicPr>
          <p:cNvPr id="11268" name="Picture 3"/>
          <p:cNvPicPr>
            <a:picLocks noChangeAspect="1" noChangeArrowheads="1"/>
          </p:cNvPicPr>
          <p:nvPr/>
        </p:nvPicPr>
        <p:blipFill>
          <a:blip r:embed="rId4"/>
          <a:srcRect/>
          <a:stretch>
            <a:fillRect/>
          </a:stretch>
        </p:blipFill>
        <p:spPr bwMode="auto">
          <a:xfrm>
            <a:off x="395288" y="1484313"/>
            <a:ext cx="3273425" cy="2801937"/>
          </a:xfrm>
          <a:prstGeom prst="rect">
            <a:avLst/>
          </a:prstGeom>
          <a:noFill/>
          <a:ln w="9525">
            <a:noFill/>
            <a:round/>
            <a:headEnd/>
            <a:tailEnd/>
          </a:ln>
        </p:spPr>
      </p:pic>
      <p:sp>
        <p:nvSpPr>
          <p:cNvPr id="5" name="Slide Number Placeholder 4"/>
          <p:cNvSpPr>
            <a:spLocks noGrp="1"/>
          </p:cNvSpPr>
          <p:nvPr>
            <p:ph type="sldNum" sz="quarter" idx="12"/>
          </p:nvPr>
        </p:nvSpPr>
        <p:spPr/>
        <p:txBody>
          <a:bodyPr/>
          <a:lstStyle/>
          <a:p>
            <a:fld id="{D54ACCF2-871A-4DA5-AEBE-57D54C7244BB}" type="slidenum">
              <a:rPr lang="en-US" smtClean="0"/>
              <a:pPr/>
              <a:t>26</a:t>
            </a:fld>
            <a:endParaRPr lang="en-US"/>
          </a:p>
        </p:txBody>
      </p:sp>
    </p:spTree>
  </p:cSld>
  <p:clrMapOvr>
    <a:masterClrMapping/>
  </p:clrMapOvr>
  <p:transition>
    <p:fade thruBlk="1"/>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ChangeArrowheads="1"/>
          </p:cNvSpPr>
          <p:nvPr>
            <p:ph type="title"/>
          </p:nvPr>
        </p:nvSpPr>
        <p:spPr>
          <a:xfrm>
            <a:off x="0" y="0"/>
            <a:ext cx="9144000" cy="1238250"/>
          </a:xfrm>
        </p:spPr>
        <p:txBody>
          <a:bodyPr lIns="0" tIns="38808" rIns="0" bIns="0"/>
          <a:lstStyle/>
          <a:p>
            <a:pPr eaLnBrk="1" hangingPunct="1">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dirty="0">
                <a:ea typeface="宋体" charset="-122"/>
              </a:rPr>
              <a:t>Health Informatics Principles</a:t>
            </a:r>
          </a:p>
        </p:txBody>
      </p:sp>
      <p:sp>
        <p:nvSpPr>
          <p:cNvPr id="12291" name="Rectangle 2"/>
          <p:cNvSpPr>
            <a:spLocks noGrp="1" noChangeArrowheads="1"/>
          </p:cNvSpPr>
          <p:nvPr>
            <p:ph type="body" idx="1"/>
          </p:nvPr>
        </p:nvSpPr>
        <p:spPr>
          <a:xfrm>
            <a:off x="442913" y="1381125"/>
            <a:ext cx="8291512" cy="5121275"/>
          </a:xfrm>
        </p:spPr>
        <p:txBody>
          <a:bodyPr/>
          <a:lstStyle/>
          <a:p>
            <a:pPr marL="338138" indent="-338138" eaLnBrk="1" hangingPunct="1">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dirty="0"/>
              <a:t>Use drives data</a:t>
            </a:r>
          </a:p>
          <a:p>
            <a:pPr marL="338138" indent="-338138" eaLnBrk="1" hangingPunct="1">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dirty="0"/>
              <a:t>Interoperability using open standards</a:t>
            </a:r>
          </a:p>
          <a:p>
            <a:pPr marL="338138" indent="-338138" eaLnBrk="1" hangingPunct="1">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dirty="0"/>
              <a:t>Incremental development and strengthening of systems</a:t>
            </a:r>
          </a:p>
          <a:p>
            <a:pPr marL="338138" indent="-338138" eaLnBrk="1" hangingPunct="1">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dirty="0"/>
              <a:t>Enterprise Architecture approach</a:t>
            </a:r>
          </a:p>
          <a:p>
            <a:pPr marL="338138" indent="-338138" eaLnBrk="1" hangingPunct="1">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dirty="0"/>
              <a:t>Collaborative Communities</a:t>
            </a:r>
          </a:p>
        </p:txBody>
      </p:sp>
      <p:sp>
        <p:nvSpPr>
          <p:cNvPr id="4" name="Slide Number Placeholder 3"/>
          <p:cNvSpPr>
            <a:spLocks noGrp="1"/>
          </p:cNvSpPr>
          <p:nvPr>
            <p:ph type="sldNum" sz="quarter" idx="12"/>
          </p:nvPr>
        </p:nvSpPr>
        <p:spPr/>
        <p:txBody>
          <a:bodyPr/>
          <a:lstStyle/>
          <a:p>
            <a:fld id="{D54ACCF2-871A-4DA5-AEBE-57D54C7244BB}" type="slidenum">
              <a:rPr lang="en-US" smtClean="0"/>
              <a:pPr/>
              <a:t>27</a:t>
            </a:fld>
            <a:endParaRPr lang="en-US"/>
          </a:p>
        </p:txBody>
      </p:sp>
    </p:spTree>
  </p:cSld>
  <p:clrMapOvr>
    <a:masterClrMapping/>
  </p:clrMapOvr>
  <p:transition>
    <p:fade thruBlk="1"/>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
          <p:cNvSpPr>
            <a:spLocks noGrp="1" noChangeArrowheads="1"/>
          </p:cNvSpPr>
          <p:nvPr>
            <p:ph type="title"/>
          </p:nvPr>
        </p:nvSpPr>
        <p:spPr>
          <a:xfrm>
            <a:off x="0" y="0"/>
            <a:ext cx="9144000" cy="785813"/>
          </a:xfrm>
        </p:spPr>
        <p:txBody>
          <a:bodyPr lIns="0" tIns="38808" rIns="0" bIns="0"/>
          <a:lstStyle/>
          <a:p>
            <a:pPr eaLnBrk="1" hangingPunct="1">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ea typeface="宋体" charset="-122"/>
              </a:rPr>
              <a:t>Decisions Determine Data</a:t>
            </a:r>
          </a:p>
        </p:txBody>
      </p:sp>
      <p:pic>
        <p:nvPicPr>
          <p:cNvPr id="13315" name="Picture 2"/>
          <p:cNvPicPr>
            <a:picLocks noChangeAspect="1" noChangeArrowheads="1"/>
          </p:cNvPicPr>
          <p:nvPr/>
        </p:nvPicPr>
        <p:blipFill>
          <a:blip r:embed="rId3"/>
          <a:srcRect/>
          <a:stretch>
            <a:fillRect/>
          </a:stretch>
        </p:blipFill>
        <p:spPr bwMode="auto">
          <a:xfrm>
            <a:off x="0" y="833438"/>
            <a:ext cx="9159875" cy="5881687"/>
          </a:xfrm>
          <a:prstGeom prst="rect">
            <a:avLst/>
          </a:prstGeom>
          <a:noFill/>
          <a:ln w="9525">
            <a:noFill/>
            <a:round/>
            <a:headEnd/>
            <a:tailEnd/>
          </a:ln>
        </p:spPr>
      </p:pic>
      <p:sp>
        <p:nvSpPr>
          <p:cNvPr id="4" name="Slide Number Placeholder 3"/>
          <p:cNvSpPr>
            <a:spLocks noGrp="1"/>
          </p:cNvSpPr>
          <p:nvPr>
            <p:ph type="sldNum" sz="quarter" idx="12"/>
          </p:nvPr>
        </p:nvSpPr>
        <p:spPr/>
        <p:txBody>
          <a:bodyPr/>
          <a:lstStyle/>
          <a:p>
            <a:fld id="{D54ACCF2-871A-4DA5-AEBE-57D54C7244BB}" type="slidenum">
              <a:rPr lang="en-US" smtClean="0"/>
              <a:pPr/>
              <a:t>28</a:t>
            </a:fld>
            <a:endParaRPr lang="en-US"/>
          </a:p>
        </p:txBody>
      </p:sp>
    </p:spTree>
  </p:cSld>
  <p:clrMapOvr>
    <a:masterClrMapping/>
  </p:clrMapOvr>
  <p:transition>
    <p:fade thruBlk="1"/>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
          <p:cNvSpPr>
            <a:spLocks noGrp="1" noChangeArrowheads="1"/>
          </p:cNvSpPr>
          <p:nvPr>
            <p:ph type="title"/>
          </p:nvPr>
        </p:nvSpPr>
        <p:spPr>
          <a:xfrm>
            <a:off x="0" y="0"/>
            <a:ext cx="9144000" cy="1238250"/>
          </a:xfrm>
        </p:spPr>
        <p:txBody>
          <a:bodyPr lIns="0" tIns="38808" rIns="0" bIns="0"/>
          <a:lstStyle/>
          <a:p>
            <a:pPr eaLnBrk="1" hangingPunct="1">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ea typeface="宋体" charset="-122"/>
              </a:rPr>
              <a:t>Encourage open systems</a:t>
            </a:r>
          </a:p>
        </p:txBody>
      </p:sp>
      <p:pic>
        <p:nvPicPr>
          <p:cNvPr id="16387" name="Picture 2"/>
          <p:cNvPicPr>
            <a:picLocks noChangeAspect="1" noChangeArrowheads="1"/>
          </p:cNvPicPr>
          <p:nvPr/>
        </p:nvPicPr>
        <p:blipFill>
          <a:blip r:embed="rId3"/>
          <a:srcRect/>
          <a:stretch>
            <a:fillRect/>
          </a:stretch>
        </p:blipFill>
        <p:spPr bwMode="auto">
          <a:xfrm>
            <a:off x="827088" y="1989138"/>
            <a:ext cx="2971800" cy="3429000"/>
          </a:xfrm>
          <a:prstGeom prst="rect">
            <a:avLst/>
          </a:prstGeom>
          <a:noFill/>
          <a:ln w="9525">
            <a:noFill/>
            <a:round/>
            <a:headEnd/>
            <a:tailEnd/>
          </a:ln>
        </p:spPr>
      </p:pic>
      <p:pic>
        <p:nvPicPr>
          <p:cNvPr id="16388" name="Picture 3"/>
          <p:cNvPicPr>
            <a:picLocks noChangeAspect="1" noChangeArrowheads="1"/>
          </p:cNvPicPr>
          <p:nvPr/>
        </p:nvPicPr>
        <p:blipFill>
          <a:blip r:embed="rId4"/>
          <a:srcRect/>
          <a:stretch>
            <a:fillRect/>
          </a:stretch>
        </p:blipFill>
        <p:spPr bwMode="auto">
          <a:xfrm>
            <a:off x="4427538" y="1773238"/>
            <a:ext cx="3843337" cy="3843337"/>
          </a:xfrm>
          <a:prstGeom prst="rect">
            <a:avLst/>
          </a:prstGeom>
          <a:noFill/>
          <a:ln w="9525">
            <a:noFill/>
            <a:round/>
            <a:headEnd/>
            <a:tailEnd/>
          </a:ln>
        </p:spPr>
      </p:pic>
      <p:sp>
        <p:nvSpPr>
          <p:cNvPr id="5" name="Slide Number Placeholder 4"/>
          <p:cNvSpPr>
            <a:spLocks noGrp="1"/>
          </p:cNvSpPr>
          <p:nvPr>
            <p:ph type="sldNum" sz="quarter" idx="12"/>
          </p:nvPr>
        </p:nvSpPr>
        <p:spPr/>
        <p:txBody>
          <a:bodyPr/>
          <a:lstStyle/>
          <a:p>
            <a:fld id="{D54ACCF2-871A-4DA5-AEBE-57D54C7244BB}" type="slidenum">
              <a:rPr lang="en-US" smtClean="0"/>
              <a:pPr/>
              <a:t>29</a:t>
            </a:fld>
            <a:endParaRPr lang="en-US"/>
          </a:p>
        </p:txBody>
      </p:sp>
    </p:spTree>
  </p:cSld>
  <p:clrMapOvr>
    <a:masterClrMapping/>
  </p:clrMapOvr>
  <p:transition>
    <p:fade thruBlk="1"/>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
          <p:cNvSpPr>
            <a:spLocks noGrp="1" noChangeArrowheads="1"/>
          </p:cNvSpPr>
          <p:nvPr>
            <p:ph type="title"/>
          </p:nvPr>
        </p:nvSpPr>
        <p:spPr>
          <a:xfrm>
            <a:off x="0" y="0"/>
            <a:ext cx="9144000" cy="1238250"/>
          </a:xfrm>
        </p:spPr>
        <p:txBody>
          <a:bodyPr lIns="0" tIns="38808" rIns="0" bIns="0"/>
          <a:lstStyle/>
          <a:p>
            <a:pPr eaLnBrk="1" hangingPunct="1">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t>Make vs. Buy… Or Modify</a:t>
            </a:r>
          </a:p>
        </p:txBody>
      </p:sp>
      <p:sp>
        <p:nvSpPr>
          <p:cNvPr id="17411" name="Rectangle 2"/>
          <p:cNvSpPr>
            <a:spLocks noGrp="1" noChangeArrowheads="1"/>
          </p:cNvSpPr>
          <p:nvPr>
            <p:ph type="body" idx="1"/>
          </p:nvPr>
        </p:nvSpPr>
        <p:spPr>
          <a:xfrm>
            <a:off x="442913" y="1381125"/>
            <a:ext cx="8291512" cy="4768850"/>
          </a:xfrm>
        </p:spPr>
        <p:txBody>
          <a:bodyPr>
            <a:normAutofit fontScale="92500"/>
          </a:bodyPr>
          <a:lstStyle/>
          <a:p>
            <a:pPr marL="338138" indent="-338138" eaLnBrk="1" hangingPunct="1">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a:t>Buy Software</a:t>
            </a:r>
          </a:p>
          <a:p>
            <a:pPr marL="800100" lvl="1" indent="-276225" eaLnBrk="1" hangingPunct="1">
              <a:buClr>
                <a:srgbClr val="1E7FB8"/>
              </a:buClr>
              <a:buFont typeface="Arial" charset="0"/>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a:t>May not be an exact fit to your needs</a:t>
            </a:r>
          </a:p>
          <a:p>
            <a:pPr marL="338138" indent="-338138" eaLnBrk="1" hangingPunct="1">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a:t>Build Software</a:t>
            </a:r>
          </a:p>
          <a:p>
            <a:pPr marL="800100" lvl="1" indent="-276225" eaLnBrk="1" hangingPunct="1">
              <a:buClr>
                <a:srgbClr val="1E7FB8"/>
              </a:buClr>
              <a:buFont typeface="Arial" charset="0"/>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a:t>Long expensive process not guaranteed to succeed.</a:t>
            </a:r>
          </a:p>
          <a:p>
            <a:pPr marL="338138" indent="-338138" eaLnBrk="1" hangingPunct="1">
              <a:buClr>
                <a:srgbClr val="1E7FB8"/>
              </a:buClr>
              <a:buFont typeface="Wingdings"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a:t>Modify</a:t>
            </a:r>
          </a:p>
          <a:p>
            <a:pPr marL="800100" lvl="1" indent="-276225" eaLnBrk="1" hangingPunct="1">
              <a:buClr>
                <a:srgbClr val="1E7FB8"/>
              </a:buClr>
              <a:buFont typeface="Arial" charset="0"/>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a:t>Start with open source software that you can modify</a:t>
            </a:r>
          </a:p>
          <a:p>
            <a:pPr marL="800100" lvl="1" indent="-276225" eaLnBrk="1" hangingPunct="1">
              <a:buClr>
                <a:srgbClr val="1E7FB8"/>
              </a:buClr>
              <a:buFont typeface="Arial" charset="0"/>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a:t>Modified software to meet your exact requirements</a:t>
            </a:r>
          </a:p>
          <a:p>
            <a:pPr marL="800100" lvl="1" indent="-276225" eaLnBrk="1" hangingPunct="1">
              <a:buClr>
                <a:srgbClr val="1E7FB8"/>
              </a:buClr>
              <a:buFont typeface="Arial" charset="0"/>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a:t>Everyone benefits from your investment in the software</a:t>
            </a:r>
          </a:p>
        </p:txBody>
      </p:sp>
      <p:sp>
        <p:nvSpPr>
          <p:cNvPr id="4" name="Slide Number Placeholder 3"/>
          <p:cNvSpPr>
            <a:spLocks noGrp="1"/>
          </p:cNvSpPr>
          <p:nvPr>
            <p:ph type="sldNum" sz="quarter" idx="12"/>
          </p:nvPr>
        </p:nvSpPr>
        <p:spPr/>
        <p:txBody>
          <a:bodyPr/>
          <a:lstStyle/>
          <a:p>
            <a:fld id="{D54ACCF2-871A-4DA5-AEBE-57D54C7244BB}" type="slidenum">
              <a:rPr lang="en-US" smtClean="0"/>
              <a:pPr/>
              <a:t>30</a:t>
            </a:fld>
            <a:endParaRPr lang="en-US"/>
          </a:p>
        </p:txBody>
      </p:sp>
    </p:spTree>
  </p:cSld>
  <p:clrMapOvr>
    <a:masterClrMapping/>
  </p:clrMapOvr>
  <p:transition>
    <p:fade thruBlk="1"/>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Grp="1" noChangeArrowheads="1"/>
          </p:cNvSpPr>
          <p:nvPr>
            <p:ph type="title"/>
          </p:nvPr>
        </p:nvSpPr>
        <p:spPr>
          <a:xfrm>
            <a:off x="0" y="-50800"/>
            <a:ext cx="9144000" cy="1341438"/>
          </a:xfrm>
        </p:spPr>
        <p:txBody>
          <a:bodyPr lIns="0" tIns="38808" rIns="0" bIns="0"/>
          <a:lstStyle/>
          <a:p>
            <a:pPr eaLnBrk="1" hangingPunct="1">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ea typeface="宋体" charset="-122"/>
              </a:rPr>
              <a:t>Collaborative communities of practice</a:t>
            </a:r>
          </a:p>
        </p:txBody>
      </p:sp>
      <p:pic>
        <p:nvPicPr>
          <p:cNvPr id="18435" name="Picture 2"/>
          <p:cNvPicPr>
            <a:picLocks noChangeAspect="1" noChangeArrowheads="1"/>
          </p:cNvPicPr>
          <p:nvPr/>
        </p:nvPicPr>
        <p:blipFill>
          <a:blip r:embed="rId3"/>
          <a:srcRect/>
          <a:stretch>
            <a:fillRect/>
          </a:stretch>
        </p:blipFill>
        <p:spPr bwMode="auto">
          <a:xfrm>
            <a:off x="957263" y="1500188"/>
            <a:ext cx="7186612" cy="4572000"/>
          </a:xfrm>
          <a:prstGeom prst="rect">
            <a:avLst/>
          </a:prstGeom>
          <a:noFill/>
          <a:ln w="9525">
            <a:noFill/>
            <a:round/>
            <a:headEnd/>
            <a:tailEnd/>
          </a:ln>
        </p:spPr>
      </p:pic>
      <p:sp>
        <p:nvSpPr>
          <p:cNvPr id="4" name="Slide Number Placeholder 3"/>
          <p:cNvSpPr>
            <a:spLocks noGrp="1"/>
          </p:cNvSpPr>
          <p:nvPr>
            <p:ph type="sldNum" sz="quarter" idx="12"/>
          </p:nvPr>
        </p:nvSpPr>
        <p:spPr/>
        <p:txBody>
          <a:bodyPr/>
          <a:lstStyle/>
          <a:p>
            <a:fld id="{D54ACCF2-871A-4DA5-AEBE-57D54C7244BB}" type="slidenum">
              <a:rPr lang="en-US" smtClean="0"/>
              <a:pPr/>
              <a:t>31</a:t>
            </a:fld>
            <a:endParaRPr lang="en-US"/>
          </a:p>
        </p:txBody>
      </p:sp>
    </p:spTree>
  </p:cSld>
  <p:clrMapOvr>
    <a:masterClrMapping/>
  </p:clrMapOvr>
  <p:transition>
    <p:fade thruBlk="1"/>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p:cNvSpPr>
            <a:spLocks noGrp="1" noChangeArrowheads="1"/>
          </p:cNvSpPr>
          <p:nvPr>
            <p:ph type="title"/>
          </p:nvPr>
        </p:nvSpPr>
        <p:spPr>
          <a:xfrm>
            <a:off x="-990600" y="533400"/>
            <a:ext cx="8534400" cy="838200"/>
          </a:xfrm>
        </p:spPr>
        <p:txBody>
          <a:bodyPr>
            <a:normAutofit fontScale="90000"/>
          </a:bodyPr>
          <a:lstStyle/>
          <a:p>
            <a:r>
              <a:rPr lang="en-GB" sz="8000">
                <a:solidFill>
                  <a:srgbClr val="FF0000"/>
                </a:solidFill>
                <a:latin typeface="Tahoma" pitchFamily="34" charset="0"/>
              </a:rPr>
              <a:t>				</a:t>
            </a:r>
            <a:r>
              <a:rPr lang="en-GB" sz="7200" u="sng">
                <a:solidFill>
                  <a:srgbClr val="FF0066"/>
                </a:solidFill>
                <a:latin typeface="Tahoma" pitchFamily="34" charset="0"/>
              </a:rPr>
              <a:t>e</a:t>
            </a:r>
            <a:r>
              <a:rPr lang="en-GB" sz="7200" u="sng">
                <a:solidFill>
                  <a:srgbClr val="0033CC"/>
                </a:solidFill>
                <a:latin typeface="Tahoma" pitchFamily="34" charset="0"/>
              </a:rPr>
              <a:t>Health</a:t>
            </a:r>
            <a:endParaRPr lang="en-US" sz="4000" u="sng">
              <a:solidFill>
                <a:srgbClr val="0033CC"/>
              </a:solidFill>
              <a:latin typeface="Tahoma" pitchFamily="34" charset="0"/>
            </a:endParaRPr>
          </a:p>
        </p:txBody>
      </p:sp>
      <p:sp>
        <p:nvSpPr>
          <p:cNvPr id="437251" name="Rectangle 3"/>
          <p:cNvSpPr>
            <a:spLocks noGrp="1" noChangeArrowheads="1"/>
          </p:cNvSpPr>
          <p:nvPr>
            <p:ph type="body" idx="1"/>
          </p:nvPr>
        </p:nvSpPr>
        <p:spPr>
          <a:xfrm>
            <a:off x="0" y="2057400"/>
            <a:ext cx="9144000" cy="5486400"/>
          </a:xfrm>
        </p:spPr>
        <p:txBody>
          <a:bodyPr>
            <a:normAutofit/>
          </a:bodyPr>
          <a:lstStyle/>
          <a:p>
            <a:pPr>
              <a:lnSpc>
                <a:spcPct val="75000"/>
              </a:lnSpc>
              <a:buClr>
                <a:srgbClr val="FFFF00"/>
              </a:buClr>
              <a:buFont typeface="Monotype Sorts" pitchFamily="2" charset="2"/>
              <a:buNone/>
            </a:pPr>
            <a:r>
              <a:rPr lang="en-GB" b="1" dirty="0">
                <a:effectLst>
                  <a:outerShdw blurRad="38100" dist="38100" dir="2700000" algn="tl">
                    <a:srgbClr val="000000"/>
                  </a:outerShdw>
                </a:effectLst>
                <a:latin typeface="Tahoma" pitchFamily="34" charset="0"/>
              </a:rPr>
              <a:t>TeleConsultations </a:t>
            </a:r>
          </a:p>
          <a:p>
            <a:pPr>
              <a:lnSpc>
                <a:spcPct val="75000"/>
              </a:lnSpc>
              <a:buClr>
                <a:srgbClr val="FFFF00"/>
              </a:buClr>
              <a:buFont typeface="Monotype Sorts" pitchFamily="2" charset="2"/>
              <a:buNone/>
            </a:pPr>
            <a:r>
              <a:rPr lang="en-GB" b="1" dirty="0">
                <a:effectLst>
                  <a:outerShdw blurRad="38100" dist="38100" dir="2700000" algn="tl">
                    <a:srgbClr val="000000"/>
                  </a:outerShdw>
                </a:effectLst>
                <a:latin typeface="Tahoma" pitchFamily="34" charset="0"/>
              </a:rPr>
              <a:t>previously   Telemedicine</a:t>
            </a:r>
          </a:p>
          <a:p>
            <a:pPr>
              <a:lnSpc>
                <a:spcPct val="75000"/>
              </a:lnSpc>
              <a:buClr>
                <a:srgbClr val="FFFF00"/>
              </a:buClr>
              <a:buFont typeface="Monotype Sorts" pitchFamily="2" charset="2"/>
              <a:buNone/>
            </a:pPr>
            <a:r>
              <a:rPr lang="en-GB" b="1" dirty="0">
                <a:effectLst>
                  <a:outerShdw blurRad="38100" dist="38100" dir="2700000" algn="tl">
                    <a:srgbClr val="000000"/>
                  </a:outerShdw>
                </a:effectLst>
                <a:latin typeface="Tahoma" pitchFamily="34" charset="0"/>
              </a:rPr>
              <a:t>Services</a:t>
            </a:r>
          </a:p>
          <a:p>
            <a:pPr>
              <a:lnSpc>
                <a:spcPct val="75000"/>
              </a:lnSpc>
              <a:buClr>
                <a:srgbClr val="FFFF00"/>
              </a:buClr>
              <a:buFont typeface="Monotype Sorts" pitchFamily="2" charset="2"/>
              <a:buNone/>
            </a:pPr>
            <a:br>
              <a:rPr lang="en-GB" b="1" dirty="0">
                <a:solidFill>
                  <a:srgbClr val="0033CC"/>
                </a:solidFill>
                <a:effectLst>
                  <a:outerShdw blurRad="38100" dist="38100" dir="2700000" algn="tl">
                    <a:srgbClr val="000000"/>
                  </a:outerShdw>
                </a:effectLst>
                <a:latin typeface="Tahoma" pitchFamily="34" charset="0"/>
              </a:rPr>
            </a:br>
            <a:r>
              <a:rPr lang="en-GB" b="1" dirty="0">
                <a:solidFill>
                  <a:srgbClr val="0033CC"/>
                </a:solidFill>
                <a:effectLst>
                  <a:outerShdw blurRad="38100" dist="38100" dir="2700000" algn="tl">
                    <a:srgbClr val="000000"/>
                  </a:outerShdw>
                </a:effectLst>
                <a:latin typeface="Tahoma" pitchFamily="34" charset="0"/>
              </a:rPr>
              <a:t>		</a:t>
            </a:r>
            <a:endParaRPr lang="en-US" b="1" dirty="0">
              <a:solidFill>
                <a:srgbClr val="0033CC"/>
              </a:solidFill>
              <a:effectLst>
                <a:outerShdw blurRad="38100" dist="38100" dir="2700000" algn="tl">
                  <a:srgbClr val="000000"/>
                </a:outerShdw>
              </a:effectLst>
              <a:latin typeface="Tahoma" pitchFamily="34" charset="0"/>
            </a:endParaRPr>
          </a:p>
        </p:txBody>
      </p:sp>
      <p:sp>
        <p:nvSpPr>
          <p:cNvPr id="4" name="Slide Number Placeholder 3"/>
          <p:cNvSpPr>
            <a:spLocks noGrp="1"/>
          </p:cNvSpPr>
          <p:nvPr>
            <p:ph type="sldNum" sz="quarter" idx="12"/>
          </p:nvPr>
        </p:nvSpPr>
        <p:spPr/>
        <p:txBody>
          <a:bodyPr/>
          <a:lstStyle/>
          <a:p>
            <a:fld id="{D54ACCF2-871A-4DA5-AEBE-57D54C7244BB}"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solidFill>
                  <a:srgbClr val="0033CC"/>
                </a:solidFill>
                <a:effectLst>
                  <a:outerShdw blurRad="38100" dist="38100" dir="2700000" algn="tl">
                    <a:srgbClr val="000000"/>
                  </a:outerShdw>
                </a:effectLst>
                <a:latin typeface="Tahoma" pitchFamily="34" charset="0"/>
              </a:rPr>
              <a:t>The </a:t>
            </a:r>
            <a:r>
              <a:rPr lang="en-GB" b="1" i="1" dirty="0">
                <a:solidFill>
                  <a:srgbClr val="FF0066"/>
                </a:solidFill>
                <a:effectLst>
                  <a:outerShdw blurRad="38100" dist="38100" dir="2700000" algn="tl">
                    <a:srgbClr val="000000"/>
                  </a:outerShdw>
                </a:effectLst>
                <a:latin typeface="Tahoma" pitchFamily="34" charset="0"/>
              </a:rPr>
              <a:t>eight</a:t>
            </a:r>
            <a:r>
              <a:rPr lang="en-GB" b="1" dirty="0">
                <a:solidFill>
                  <a:srgbClr val="0033CC"/>
                </a:solidFill>
                <a:effectLst>
                  <a:outerShdw blurRad="38100" dist="38100" dir="2700000" algn="tl">
                    <a:srgbClr val="000000"/>
                  </a:outerShdw>
                </a:effectLst>
                <a:latin typeface="Tahoma" pitchFamily="34" charset="0"/>
              </a:rPr>
              <a:t>  Drivers Forcing Change TO TELEMEDICINE </a:t>
            </a:r>
            <a:br>
              <a:rPr lang="en-GB" b="1" dirty="0">
                <a:solidFill>
                  <a:srgbClr val="0033CC"/>
                </a:solidFill>
                <a:effectLst>
                  <a:outerShdw blurRad="38100" dist="38100" dir="2700000" algn="tl">
                    <a:srgbClr val="000000"/>
                  </a:outerShdw>
                </a:effectLst>
                <a:latin typeface="Tahoma" pitchFamily="34" charset="0"/>
              </a:rPr>
            </a:br>
            <a:endParaRPr lang="en-US" dirty="0"/>
          </a:p>
        </p:txBody>
      </p:sp>
      <p:sp>
        <p:nvSpPr>
          <p:cNvPr id="3" name="Content Placeholder 2"/>
          <p:cNvSpPr>
            <a:spLocks noGrp="1"/>
          </p:cNvSpPr>
          <p:nvPr>
            <p:ph idx="1"/>
          </p:nvPr>
        </p:nvSpPr>
        <p:spPr>
          <a:xfrm>
            <a:off x="381000" y="1676400"/>
            <a:ext cx="8229600" cy="4525963"/>
          </a:xfrm>
        </p:spPr>
        <p:txBody>
          <a:bodyPr>
            <a:normAutofit fontScale="85000" lnSpcReduction="10000"/>
          </a:bodyPr>
          <a:lstStyle/>
          <a:p>
            <a:pPr marL="460375" indent="-460375" defTabSz="762000">
              <a:lnSpc>
                <a:spcPct val="70000"/>
              </a:lnSpc>
              <a:spcAft>
                <a:spcPct val="50000"/>
              </a:spcAft>
              <a:buFontTx/>
              <a:buChar char="•"/>
            </a:pPr>
            <a:r>
              <a:rPr lang="en-GB" dirty="0">
                <a:effectLst>
                  <a:outerShdw blurRad="38100" dist="38100" dir="2700000" algn="tl">
                    <a:srgbClr val="000000"/>
                  </a:outerShdw>
                </a:effectLst>
                <a:latin typeface="Tahoma" pitchFamily="34" charset="0"/>
              </a:rPr>
              <a:t>Obligatory search for cost containment</a:t>
            </a:r>
          </a:p>
          <a:p>
            <a:pPr marL="460375" indent="-460375" defTabSz="762000">
              <a:lnSpc>
                <a:spcPct val="70000"/>
              </a:lnSpc>
              <a:buClr>
                <a:srgbClr val="0033CC"/>
              </a:buClr>
              <a:buFontTx/>
              <a:buChar char="•"/>
            </a:pPr>
            <a:r>
              <a:rPr lang="en-GB" dirty="0">
                <a:effectLst>
                  <a:outerShdw blurRad="38100" dist="38100" dir="2700000" algn="tl">
                    <a:srgbClr val="000000"/>
                  </a:outerShdw>
                </a:effectLst>
                <a:latin typeface="Tahoma" pitchFamily="34" charset="0"/>
              </a:rPr>
              <a:t>Changing demographics</a:t>
            </a:r>
          </a:p>
          <a:p>
            <a:pPr marL="460375" indent="-460375" defTabSz="762000">
              <a:lnSpc>
                <a:spcPct val="85000"/>
              </a:lnSpc>
              <a:buClr>
                <a:srgbClr val="0033CC"/>
              </a:buClr>
              <a:buFontTx/>
              <a:buChar char="•"/>
            </a:pPr>
            <a:r>
              <a:rPr lang="en-GB" dirty="0" err="1">
                <a:effectLst>
                  <a:outerShdw blurRad="38100" dist="38100" dir="2700000" algn="tl">
                    <a:srgbClr val="000000"/>
                  </a:outerShdw>
                </a:effectLst>
                <a:latin typeface="Tahoma" pitchFamily="34" charset="0"/>
              </a:rPr>
              <a:t>Peripheralisation</a:t>
            </a:r>
            <a:r>
              <a:rPr lang="en-GB" dirty="0">
                <a:effectLst>
                  <a:outerShdw blurRad="38100" dist="38100" dir="2700000" algn="tl">
                    <a:srgbClr val="000000"/>
                  </a:outerShdw>
                </a:effectLst>
                <a:latin typeface="Tahoma" pitchFamily="34" charset="0"/>
              </a:rPr>
              <a:t> of health care delivery</a:t>
            </a:r>
          </a:p>
          <a:p>
            <a:pPr marL="460375" indent="-460375" defTabSz="762000">
              <a:lnSpc>
                <a:spcPct val="85000"/>
              </a:lnSpc>
              <a:buClr>
                <a:srgbClr val="0033CC"/>
              </a:buClr>
              <a:buFontTx/>
              <a:buChar char="•"/>
            </a:pPr>
            <a:r>
              <a:rPr lang="en-GB" dirty="0">
                <a:effectLst>
                  <a:outerShdw blurRad="38100" dist="38100" dir="2700000" algn="tl">
                    <a:srgbClr val="000000"/>
                  </a:outerShdw>
                </a:effectLst>
                <a:latin typeface="Tahoma" pitchFamily="34" charset="0"/>
              </a:rPr>
              <a:t>Changing disease patterns</a:t>
            </a:r>
          </a:p>
          <a:p>
            <a:pPr marL="460375" indent="-460375" defTabSz="762000">
              <a:lnSpc>
                <a:spcPct val="85000"/>
              </a:lnSpc>
              <a:buClr>
                <a:srgbClr val="0033CC"/>
              </a:buClr>
              <a:buFontTx/>
              <a:buChar char="•"/>
            </a:pPr>
            <a:r>
              <a:rPr lang="en-GB" dirty="0">
                <a:effectLst>
                  <a:outerShdw blurRad="38100" dist="38100" dir="2700000" algn="tl">
                    <a:srgbClr val="000000"/>
                  </a:outerShdw>
                </a:effectLst>
                <a:latin typeface="Tahoma" pitchFamily="34" charset="0"/>
              </a:rPr>
              <a:t>Impact of information technology including IT support for clinical decisions -  </a:t>
            </a:r>
            <a:r>
              <a:rPr lang="en-GB" i="1" dirty="0">
                <a:effectLst>
                  <a:outerShdw blurRad="38100" dist="38100" dir="2700000" algn="tl">
                    <a:srgbClr val="000000"/>
                  </a:outerShdw>
                </a:effectLst>
                <a:latin typeface="Tahoma" pitchFamily="34" charset="0"/>
              </a:rPr>
              <a:t>Telemedicine &amp; 								</a:t>
            </a:r>
            <a:r>
              <a:rPr lang="en-GB" i="1" dirty="0" err="1">
                <a:effectLst>
                  <a:outerShdw blurRad="38100" dist="38100" dir="2700000" algn="tl">
                    <a:srgbClr val="000000"/>
                  </a:outerShdw>
                </a:effectLst>
                <a:latin typeface="Tahoma" pitchFamily="34" charset="0"/>
              </a:rPr>
              <a:t>eHealth</a:t>
            </a:r>
            <a:r>
              <a:rPr lang="en-GB" dirty="0">
                <a:effectLst>
                  <a:outerShdw blurRad="38100" dist="38100" dir="2700000" algn="tl">
                    <a:srgbClr val="000000"/>
                  </a:outerShdw>
                </a:effectLst>
                <a:latin typeface="Tahoma" pitchFamily="34" charset="0"/>
              </a:rPr>
              <a:t> </a:t>
            </a:r>
          </a:p>
          <a:p>
            <a:pPr marL="460375" indent="-460375" defTabSz="762000">
              <a:spcBef>
                <a:spcPct val="23000"/>
              </a:spcBef>
              <a:buClr>
                <a:srgbClr val="0033CC"/>
              </a:buClr>
              <a:buFontTx/>
              <a:buChar char="•"/>
            </a:pPr>
            <a:r>
              <a:rPr lang="en-GB" dirty="0">
                <a:effectLst>
                  <a:outerShdw blurRad="38100" dist="38100" dir="2700000" algn="tl">
                    <a:srgbClr val="000000"/>
                  </a:outerShdw>
                </a:effectLst>
                <a:latin typeface="Tahoma" pitchFamily="34" charset="0"/>
              </a:rPr>
              <a:t>More informed and expectant patients C-Health</a:t>
            </a:r>
          </a:p>
          <a:p>
            <a:pPr marL="460375" indent="-460375" defTabSz="762000">
              <a:spcBef>
                <a:spcPct val="23000"/>
              </a:spcBef>
              <a:buClr>
                <a:srgbClr val="0033CC"/>
              </a:buClr>
              <a:buFontTx/>
              <a:buChar char="•"/>
            </a:pPr>
            <a:r>
              <a:rPr lang="en-GB" dirty="0">
                <a:effectLst>
                  <a:outerShdw blurRad="38100" dist="38100" dir="2700000" algn="tl">
                    <a:srgbClr val="000000"/>
                  </a:outerShdw>
                </a:effectLst>
                <a:latin typeface="Tahoma" pitchFamily="34" charset="0"/>
              </a:rPr>
              <a:t>The well-being factor – responsibility shift into patients hands - The Wellness Paradigm</a:t>
            </a:r>
          </a:p>
          <a:p>
            <a:pPr marL="460375" indent="-460375" defTabSz="762000">
              <a:spcBef>
                <a:spcPct val="23000"/>
              </a:spcBef>
              <a:buClr>
                <a:srgbClr val="0033CC"/>
              </a:buClr>
              <a:buFontTx/>
              <a:buChar char="•"/>
            </a:pPr>
            <a:r>
              <a:rPr lang="en-GB" dirty="0">
                <a:effectLst>
                  <a:outerShdw blurRad="38100" dist="38100" dir="2700000" algn="tl">
                    <a:srgbClr val="000000"/>
                  </a:outerShdw>
                </a:effectLst>
                <a:latin typeface="Tahoma" pitchFamily="34" charset="0"/>
              </a:rPr>
              <a:t>Knowledge Management – changing world</a:t>
            </a:r>
            <a:endParaRPr lang="en-GB" sz="2800" dirty="0">
              <a:latin typeface="Tahoma" pitchFamily="34" charset="0"/>
            </a:endParaRPr>
          </a:p>
          <a:p>
            <a:endParaRPr lang="en-US" dirty="0"/>
          </a:p>
        </p:txBody>
      </p:sp>
      <p:sp>
        <p:nvSpPr>
          <p:cNvPr id="4" name="Slide Number Placeholder 3"/>
          <p:cNvSpPr>
            <a:spLocks noGrp="1"/>
          </p:cNvSpPr>
          <p:nvPr>
            <p:ph type="sldNum" sz="quarter" idx="12"/>
          </p:nvPr>
        </p:nvSpPr>
        <p:spPr/>
        <p:txBody>
          <a:bodyPr/>
          <a:lstStyle/>
          <a:p>
            <a:fld id="{D54ACCF2-871A-4DA5-AEBE-57D54C7244BB}" type="slidenum">
              <a:rPr lang="en-US" smtClean="0"/>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685800" y="457200"/>
            <a:ext cx="7772400" cy="1193800"/>
          </a:xfrm>
        </p:spPr>
        <p:txBody>
          <a:bodyPr>
            <a:normAutofit fontScale="90000"/>
          </a:bodyPr>
          <a:lstStyle/>
          <a:p>
            <a:pPr>
              <a:defRPr/>
            </a:pPr>
            <a:r>
              <a:rPr lang="en-US" dirty="0"/>
              <a:t>Examples of Telemedicine/    E-Health Applications</a:t>
            </a:r>
          </a:p>
        </p:txBody>
      </p:sp>
      <p:sp>
        <p:nvSpPr>
          <p:cNvPr id="89091" name="Rectangle 3"/>
          <p:cNvSpPr>
            <a:spLocks noGrp="1" noChangeArrowheads="1"/>
          </p:cNvSpPr>
          <p:nvPr>
            <p:ph type="body" idx="1"/>
          </p:nvPr>
        </p:nvSpPr>
        <p:spPr>
          <a:xfrm>
            <a:off x="304800" y="1905000"/>
            <a:ext cx="8610600" cy="4114800"/>
          </a:xfrm>
        </p:spPr>
        <p:txBody>
          <a:bodyPr/>
          <a:lstStyle/>
          <a:p>
            <a:pPr>
              <a:lnSpc>
                <a:spcPct val="80000"/>
              </a:lnSpc>
              <a:defRPr/>
            </a:pPr>
            <a:r>
              <a:rPr lang="en-US" dirty="0"/>
              <a:t>Diagnosis and treatment of patients at distant locations</a:t>
            </a:r>
          </a:p>
          <a:p>
            <a:pPr>
              <a:lnSpc>
                <a:spcPct val="80000"/>
              </a:lnSpc>
              <a:defRPr/>
            </a:pPr>
            <a:r>
              <a:rPr lang="en-US" dirty="0"/>
              <a:t>Monitoring of patients with chronic illness/disease</a:t>
            </a:r>
          </a:p>
          <a:p>
            <a:pPr>
              <a:lnSpc>
                <a:spcPct val="80000"/>
              </a:lnSpc>
              <a:defRPr/>
            </a:pPr>
            <a:r>
              <a:rPr lang="en-US" dirty="0"/>
              <a:t>Automated message reminders (e.g., medications, appointments)</a:t>
            </a:r>
          </a:p>
          <a:p>
            <a:pPr>
              <a:lnSpc>
                <a:spcPct val="80000"/>
              </a:lnSpc>
              <a:defRPr/>
            </a:pPr>
            <a:r>
              <a:rPr lang="en-US" dirty="0"/>
              <a:t>Physician consultations</a:t>
            </a:r>
          </a:p>
          <a:p>
            <a:pPr>
              <a:lnSpc>
                <a:spcPct val="80000"/>
              </a:lnSpc>
              <a:defRPr/>
            </a:pPr>
            <a:r>
              <a:rPr lang="en-US" dirty="0"/>
              <a:t>Patient portals of EHR systems</a:t>
            </a:r>
          </a:p>
        </p:txBody>
      </p:sp>
      <p:sp>
        <p:nvSpPr>
          <p:cNvPr id="4" name="Slide Number Placeholder 3"/>
          <p:cNvSpPr>
            <a:spLocks noGrp="1"/>
          </p:cNvSpPr>
          <p:nvPr>
            <p:ph type="sldNum" sz="quarter" idx="12"/>
          </p:nvPr>
        </p:nvSpPr>
        <p:spPr/>
        <p:txBody>
          <a:bodyPr/>
          <a:lstStyle/>
          <a:p>
            <a:fld id="{D54ACCF2-871A-4DA5-AEBE-57D54C7244BB}"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tele1"/>
          <p:cNvPicPr>
            <a:picLocks noChangeAspect="1" noChangeArrowheads="1"/>
          </p:cNvPicPr>
          <p:nvPr/>
        </p:nvPicPr>
        <p:blipFill>
          <a:blip r:embed="rId2"/>
          <a:srcRect/>
          <a:stretch>
            <a:fillRect/>
          </a:stretch>
        </p:blipFill>
        <p:spPr bwMode="auto">
          <a:xfrm>
            <a:off x="3886200" y="0"/>
            <a:ext cx="5257800" cy="5065713"/>
          </a:xfrm>
          <a:prstGeom prst="rect">
            <a:avLst/>
          </a:prstGeom>
          <a:noFill/>
          <a:ln w="9525">
            <a:noFill/>
            <a:miter lim="800000"/>
            <a:headEnd/>
            <a:tailEnd/>
          </a:ln>
        </p:spPr>
      </p:pic>
      <p:pic>
        <p:nvPicPr>
          <p:cNvPr id="25603" name="Picture 2" descr="DINA.jpg"/>
          <p:cNvPicPr>
            <a:picLocks noChangeAspect="1"/>
          </p:cNvPicPr>
          <p:nvPr/>
        </p:nvPicPr>
        <p:blipFill>
          <a:blip r:embed="rId3"/>
          <a:srcRect/>
          <a:stretch>
            <a:fillRect/>
          </a:stretch>
        </p:blipFill>
        <p:spPr bwMode="auto">
          <a:xfrm>
            <a:off x="0" y="457200"/>
            <a:ext cx="3478213" cy="54102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D54ACCF2-871A-4DA5-AEBE-57D54C7244BB}"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8" name="Rectangle 4"/>
          <p:cNvSpPr>
            <a:spLocks noChangeArrowheads="1"/>
          </p:cNvSpPr>
          <p:nvPr/>
        </p:nvSpPr>
        <p:spPr bwMode="auto">
          <a:xfrm>
            <a:off x="685800" y="457200"/>
            <a:ext cx="7772400" cy="1193800"/>
          </a:xfrm>
          <a:prstGeom prst="rect">
            <a:avLst/>
          </a:prstGeom>
          <a:noFill/>
          <a:ln w="9525">
            <a:noFill/>
            <a:miter lim="800000"/>
            <a:headEnd/>
            <a:tailEnd/>
          </a:ln>
          <a:effectLst>
            <a:outerShdw dist="35921" dir="2700000" algn="ctr" rotWithShape="0">
              <a:schemeClr val="bg1"/>
            </a:outerShdw>
          </a:effectLst>
        </p:spPr>
        <p:txBody>
          <a:bodyPr anchorCtr="1">
            <a:spAutoFit/>
          </a:bodyPr>
          <a:lstStyle/>
          <a:p>
            <a:pPr>
              <a:lnSpc>
                <a:spcPct val="95000"/>
              </a:lnSpc>
              <a:spcBef>
                <a:spcPct val="0"/>
              </a:spcBef>
              <a:buFontTx/>
              <a:buNone/>
              <a:defRPr/>
            </a:pPr>
            <a:r>
              <a:rPr lang="en-US" sz="3800" dirty="0">
                <a:solidFill>
                  <a:srgbClr val="F8D422"/>
                </a:solidFill>
                <a:effectLst>
                  <a:outerShdw blurRad="38100" dist="38100" dir="2700000" algn="tl">
                    <a:srgbClr val="000000"/>
                  </a:outerShdw>
                </a:effectLst>
              </a:rPr>
              <a:t>Examples of Telemedicine/          E-Health Applications</a:t>
            </a:r>
          </a:p>
        </p:txBody>
      </p:sp>
      <p:sp>
        <p:nvSpPr>
          <p:cNvPr id="154629" name="Rectangle 5"/>
          <p:cNvSpPr>
            <a:spLocks noChangeArrowheads="1"/>
          </p:cNvSpPr>
          <p:nvPr/>
        </p:nvSpPr>
        <p:spPr bwMode="auto">
          <a:xfrm>
            <a:off x="304800" y="2133600"/>
            <a:ext cx="8610600" cy="4114800"/>
          </a:xfrm>
          <a:prstGeom prst="rect">
            <a:avLst/>
          </a:prstGeom>
          <a:noFill/>
          <a:ln w="9525">
            <a:noFill/>
            <a:miter lim="800000"/>
            <a:headEnd/>
            <a:tailEnd/>
          </a:ln>
          <a:effectLst/>
        </p:spPr>
        <p:txBody>
          <a:bodyPr anchorCtr="1"/>
          <a:lstStyle/>
          <a:p>
            <a:pPr marL="342900" indent="-342900" algn="l">
              <a:lnSpc>
                <a:spcPct val="80000"/>
              </a:lnSpc>
              <a:spcBef>
                <a:spcPct val="40000"/>
              </a:spcBef>
              <a:buClr>
                <a:srgbClr val="FF6600"/>
              </a:buClr>
              <a:buSzPct val="70000"/>
              <a:buFont typeface="Wingdings" pitchFamily="2" charset="2"/>
              <a:buChar char="u"/>
              <a:defRPr/>
            </a:pPr>
            <a:r>
              <a:rPr lang="en-US" sz="3000" dirty="0">
                <a:solidFill>
                  <a:srgbClr val="FFFFFF"/>
                </a:solidFill>
                <a:effectLst>
                  <a:outerShdw blurRad="38100" dist="38100" dir="2700000" algn="tl">
                    <a:srgbClr val="000000"/>
                  </a:outerShdw>
                </a:effectLst>
              </a:rPr>
              <a:t>On-line peer support systems</a:t>
            </a:r>
          </a:p>
          <a:p>
            <a:pPr marL="342900" indent="-342900" algn="l">
              <a:lnSpc>
                <a:spcPct val="80000"/>
              </a:lnSpc>
              <a:spcBef>
                <a:spcPct val="40000"/>
              </a:spcBef>
              <a:buClr>
                <a:srgbClr val="FF6600"/>
              </a:buClr>
              <a:buSzPct val="70000"/>
              <a:buFont typeface="Wingdings" pitchFamily="2" charset="2"/>
              <a:buChar char="u"/>
              <a:defRPr/>
            </a:pPr>
            <a:r>
              <a:rPr lang="en-US" sz="3000" dirty="0">
                <a:solidFill>
                  <a:srgbClr val="FFFFFF"/>
                </a:solidFill>
                <a:effectLst>
                  <a:outerShdw blurRad="38100" dist="38100" dir="2700000" algn="tl">
                    <a:srgbClr val="000000"/>
                  </a:outerShdw>
                </a:effectLst>
              </a:rPr>
              <a:t>Health websites that provide health-care information and resources and services</a:t>
            </a:r>
          </a:p>
          <a:p>
            <a:pPr marL="342900" indent="-342900" algn="l">
              <a:lnSpc>
                <a:spcPct val="80000"/>
              </a:lnSpc>
              <a:spcBef>
                <a:spcPct val="40000"/>
              </a:spcBef>
              <a:buClr>
                <a:srgbClr val="FF6600"/>
              </a:buClr>
              <a:buSzPct val="70000"/>
              <a:buFont typeface="Wingdings" pitchFamily="2" charset="2"/>
              <a:buChar char="u"/>
              <a:defRPr/>
            </a:pPr>
            <a:r>
              <a:rPr lang="en-US" sz="3000" dirty="0">
                <a:solidFill>
                  <a:srgbClr val="FFFFFF"/>
                </a:solidFill>
                <a:effectLst>
                  <a:outerShdw blurRad="38100" dist="38100" dir="2700000" algn="tl">
                    <a:srgbClr val="000000"/>
                  </a:outerShdw>
                </a:effectLst>
              </a:rPr>
              <a:t>Prescription drug sale</a:t>
            </a:r>
          </a:p>
          <a:p>
            <a:pPr marL="342900" indent="-342900" algn="l">
              <a:lnSpc>
                <a:spcPct val="80000"/>
              </a:lnSpc>
              <a:spcBef>
                <a:spcPct val="40000"/>
              </a:spcBef>
              <a:buClr>
                <a:srgbClr val="FF6600"/>
              </a:buClr>
              <a:buSzPct val="70000"/>
              <a:buFont typeface="Wingdings" pitchFamily="2" charset="2"/>
              <a:buChar char="u"/>
              <a:defRPr/>
            </a:pPr>
            <a:r>
              <a:rPr lang="en-US" sz="3000" dirty="0">
                <a:solidFill>
                  <a:srgbClr val="FFFFFF"/>
                </a:solidFill>
                <a:effectLst>
                  <a:outerShdw blurRad="38100" dist="38100" dir="2700000" algn="tl">
                    <a:srgbClr val="000000"/>
                  </a:outerShdw>
                </a:effectLst>
              </a:rPr>
              <a:t>Sale of medical equipment and supplies</a:t>
            </a:r>
          </a:p>
        </p:txBody>
      </p:sp>
      <p:sp>
        <p:nvSpPr>
          <p:cNvPr id="4" name="Slide Number Placeholder 3"/>
          <p:cNvSpPr>
            <a:spLocks noGrp="1"/>
          </p:cNvSpPr>
          <p:nvPr>
            <p:ph type="sldNum" sz="quarter" idx="12"/>
          </p:nvPr>
        </p:nvSpPr>
        <p:spPr/>
        <p:txBody>
          <a:bodyPr/>
          <a:lstStyle/>
          <a:p>
            <a:fld id="{D54ACCF2-871A-4DA5-AEBE-57D54C7244BB}"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400050" y="381000"/>
            <a:ext cx="8743950" cy="685800"/>
          </a:xfrm>
          <a:prstGeom prst="rect">
            <a:avLst/>
          </a:prstGeom>
          <a:noFill/>
          <a:ln w="9525">
            <a:noFill/>
            <a:miter lim="800000"/>
            <a:headEnd/>
            <a:tailEnd/>
          </a:ln>
        </p:spPr>
        <p:txBody>
          <a:bodyPr anchor="ctr"/>
          <a:lstStyle/>
          <a:p>
            <a:pPr algn="l" eaLnBrk="1" hangingPunct="1">
              <a:spcBef>
                <a:spcPct val="0"/>
              </a:spcBef>
              <a:buFontTx/>
              <a:buNone/>
            </a:pPr>
            <a:r>
              <a:rPr lang="en-US" sz="3600" dirty="0">
                <a:solidFill>
                  <a:schemeClr val="tx2"/>
                </a:solidFill>
              </a:rPr>
              <a:t>Potential Advantages of Technology </a:t>
            </a:r>
            <a:endParaRPr lang="en-US" sz="4000" dirty="0">
              <a:solidFill>
                <a:schemeClr val="tx2"/>
              </a:solidFill>
            </a:endParaRPr>
          </a:p>
        </p:txBody>
      </p:sp>
      <p:sp>
        <p:nvSpPr>
          <p:cNvPr id="30723" name="Rectangle 5"/>
          <p:cNvSpPr>
            <a:spLocks noGrp="1" noChangeArrowheads="1"/>
          </p:cNvSpPr>
          <p:nvPr>
            <p:ph type="body" idx="1"/>
          </p:nvPr>
        </p:nvSpPr>
        <p:spPr>
          <a:xfrm>
            <a:off x="255588" y="1143000"/>
            <a:ext cx="8431212" cy="4114800"/>
          </a:xfrm>
        </p:spPr>
        <p:txBody>
          <a:bodyPr>
            <a:normAutofit lnSpcReduction="10000"/>
          </a:bodyPr>
          <a:lstStyle/>
          <a:p>
            <a:pPr>
              <a:lnSpc>
                <a:spcPct val="90000"/>
              </a:lnSpc>
              <a:defRPr/>
            </a:pPr>
            <a:r>
              <a:rPr lang="en-US" sz="2900" dirty="0">
                <a:solidFill>
                  <a:schemeClr val="tx1"/>
                </a:solidFill>
                <a:effectLst>
                  <a:outerShdw blurRad="38100" dist="38100" dir="2700000" algn="tl">
                    <a:srgbClr val="000000">
                      <a:alpha val="43137"/>
                    </a:srgbClr>
                  </a:outerShdw>
                </a:effectLst>
              </a:rPr>
              <a:t>Eliminates the need for patients and health care professionals to travel</a:t>
            </a:r>
          </a:p>
          <a:p>
            <a:pPr>
              <a:lnSpc>
                <a:spcPct val="90000"/>
              </a:lnSpc>
              <a:defRPr/>
            </a:pPr>
            <a:r>
              <a:rPr lang="en-US" sz="2900" dirty="0">
                <a:solidFill>
                  <a:schemeClr val="tx1"/>
                </a:solidFill>
                <a:effectLst>
                  <a:outerShdw blurRad="38100" dist="38100" dir="2700000" algn="tl">
                    <a:srgbClr val="000000">
                      <a:alpha val="43137"/>
                    </a:srgbClr>
                  </a:outerShdw>
                </a:effectLst>
              </a:rPr>
              <a:t>Permits more flexible appointment scheduling</a:t>
            </a:r>
          </a:p>
          <a:p>
            <a:pPr>
              <a:lnSpc>
                <a:spcPct val="90000"/>
              </a:lnSpc>
              <a:defRPr/>
            </a:pPr>
            <a:r>
              <a:rPr lang="en-US" sz="2900" dirty="0">
                <a:solidFill>
                  <a:schemeClr val="tx1"/>
                </a:solidFill>
                <a:effectLst>
                  <a:outerShdw blurRad="38100" dist="38100" dir="2700000" algn="tl">
                    <a:srgbClr val="000000">
                      <a:alpha val="43137"/>
                    </a:srgbClr>
                  </a:outerShdw>
                </a:effectLst>
              </a:rPr>
              <a:t>Permits easier access to a wider array of information and services especially for rural and underserved patients</a:t>
            </a:r>
          </a:p>
          <a:p>
            <a:pPr>
              <a:lnSpc>
                <a:spcPct val="90000"/>
              </a:lnSpc>
              <a:defRPr/>
            </a:pPr>
            <a:r>
              <a:rPr lang="en-US" sz="2900" dirty="0">
                <a:solidFill>
                  <a:schemeClr val="tx1"/>
                </a:solidFill>
                <a:effectLst>
                  <a:outerShdw blurRad="38100" dist="38100" dir="2700000" algn="tl">
                    <a:srgbClr val="000000">
                      <a:alpha val="43137"/>
                    </a:srgbClr>
                  </a:outerShdw>
                </a:effectLst>
              </a:rPr>
              <a:t>Permits increased access to specialists</a:t>
            </a:r>
          </a:p>
          <a:p>
            <a:pPr>
              <a:lnSpc>
                <a:spcPct val="90000"/>
              </a:lnSpc>
              <a:defRPr/>
            </a:pPr>
            <a:r>
              <a:rPr lang="en-US" sz="2900" dirty="0">
                <a:solidFill>
                  <a:schemeClr val="tx1"/>
                </a:solidFill>
                <a:effectLst>
                  <a:outerShdw blurRad="38100" dist="38100" dir="2700000" algn="tl">
                    <a:srgbClr val="000000">
                      <a:alpha val="43137"/>
                    </a:srgbClr>
                  </a:outerShdw>
                </a:effectLst>
              </a:rPr>
              <a:t>Permits asynchronous communication</a:t>
            </a:r>
          </a:p>
          <a:p>
            <a:pPr>
              <a:lnSpc>
                <a:spcPct val="90000"/>
              </a:lnSpc>
              <a:defRPr/>
            </a:pPr>
            <a:r>
              <a:rPr lang="en-US" sz="2900" dirty="0">
                <a:solidFill>
                  <a:schemeClr val="tx1"/>
                </a:solidFill>
                <a:effectLst>
                  <a:outerShdw blurRad="38100" dist="38100" dir="2700000" algn="tl">
                    <a:srgbClr val="000000">
                      <a:alpha val="43137"/>
                    </a:srgbClr>
                  </a:outerShdw>
                </a:effectLst>
              </a:rPr>
              <a:t>Patient empowerment (e.g., well-informed questions; information on treatment options)</a:t>
            </a:r>
          </a:p>
        </p:txBody>
      </p:sp>
      <p:sp>
        <p:nvSpPr>
          <p:cNvPr id="4" name="Slide Number Placeholder 3"/>
          <p:cNvSpPr>
            <a:spLocks noGrp="1"/>
          </p:cNvSpPr>
          <p:nvPr>
            <p:ph type="sldNum" sz="quarter" idx="12"/>
          </p:nvPr>
        </p:nvSpPr>
        <p:spPr/>
        <p:txBody>
          <a:bodyPr/>
          <a:lstStyle/>
          <a:p>
            <a:fld id="{D54ACCF2-871A-4DA5-AEBE-57D54C7244BB}" type="slidenum">
              <a:rPr lang="en-US" smtClean="0"/>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152400" y="457200"/>
            <a:ext cx="8839200" cy="1066800"/>
          </a:xfrm>
          <a:prstGeom prst="rect">
            <a:avLst/>
          </a:prstGeom>
          <a:noFill/>
          <a:ln w="9525">
            <a:noFill/>
            <a:miter lim="800000"/>
            <a:headEnd/>
            <a:tailEnd/>
          </a:ln>
        </p:spPr>
        <p:txBody>
          <a:bodyPr anchor="ctr"/>
          <a:lstStyle/>
          <a:p>
            <a:pPr eaLnBrk="1" hangingPunct="1">
              <a:spcBef>
                <a:spcPct val="0"/>
              </a:spcBef>
              <a:buFontTx/>
              <a:buNone/>
            </a:pPr>
            <a:r>
              <a:rPr lang="en-US" sz="3600" dirty="0">
                <a:solidFill>
                  <a:schemeClr val="tx2"/>
                </a:solidFill>
              </a:rPr>
              <a:t>Potential Disadvantages of Technology</a:t>
            </a:r>
          </a:p>
        </p:txBody>
      </p:sp>
      <p:sp>
        <p:nvSpPr>
          <p:cNvPr id="31747" name="Rectangle 3"/>
          <p:cNvSpPr>
            <a:spLocks noChangeArrowheads="1"/>
          </p:cNvSpPr>
          <p:nvPr/>
        </p:nvSpPr>
        <p:spPr bwMode="auto">
          <a:xfrm>
            <a:off x="685800" y="1752600"/>
            <a:ext cx="8229600" cy="3505200"/>
          </a:xfrm>
          <a:prstGeom prst="rect">
            <a:avLst/>
          </a:prstGeom>
          <a:noFill/>
          <a:ln w="9525">
            <a:noFill/>
            <a:miter lim="800000"/>
            <a:headEnd/>
            <a:tailEnd/>
          </a:ln>
        </p:spPr>
        <p:txBody>
          <a:bodyPr/>
          <a:lstStyle/>
          <a:p>
            <a:pPr marL="342900" indent="-342900" algn="l" eaLnBrk="1" hangingPunct="1"/>
            <a:endParaRPr lang="en-US" sz="3200" b="0">
              <a:latin typeface="Times New Roman" pitchFamily="18" charset="0"/>
            </a:endParaRPr>
          </a:p>
        </p:txBody>
      </p:sp>
      <p:sp>
        <p:nvSpPr>
          <p:cNvPr id="93189" name="Rectangle 5"/>
          <p:cNvSpPr>
            <a:spLocks noGrp="1" noChangeArrowheads="1"/>
          </p:cNvSpPr>
          <p:nvPr>
            <p:ph type="body" idx="1"/>
          </p:nvPr>
        </p:nvSpPr>
        <p:spPr>
          <a:xfrm>
            <a:off x="503238" y="1676400"/>
            <a:ext cx="7954962" cy="3806825"/>
          </a:xfrm>
        </p:spPr>
        <p:txBody>
          <a:bodyPr>
            <a:normAutofit lnSpcReduction="10000"/>
          </a:bodyPr>
          <a:lstStyle/>
          <a:p>
            <a:pPr>
              <a:lnSpc>
                <a:spcPct val="90000"/>
              </a:lnSpc>
              <a:defRPr/>
            </a:pPr>
            <a:r>
              <a:rPr lang="en-US" sz="2800" dirty="0">
                <a:solidFill>
                  <a:schemeClr val="tx1"/>
                </a:solidFill>
                <a:effectLst>
                  <a:outerShdw blurRad="38100" dist="38100" dir="2700000" algn="tl">
                    <a:srgbClr val="000000">
                      <a:alpha val="43137"/>
                    </a:srgbClr>
                  </a:outerShdw>
                </a:effectLst>
              </a:rPr>
              <a:t>Proliferation of incorrect or inappropriate information</a:t>
            </a:r>
          </a:p>
          <a:p>
            <a:pPr>
              <a:lnSpc>
                <a:spcPct val="90000"/>
              </a:lnSpc>
              <a:defRPr/>
            </a:pPr>
            <a:r>
              <a:rPr lang="en-US" sz="2800" dirty="0">
                <a:solidFill>
                  <a:schemeClr val="tx1"/>
                </a:solidFill>
                <a:effectLst>
                  <a:outerShdw blurRad="38100" dist="38100" dir="2700000" algn="tl">
                    <a:srgbClr val="000000">
                      <a:alpha val="43137"/>
                    </a:srgbClr>
                  </a:outerShdw>
                </a:effectLst>
              </a:rPr>
              <a:t>Proliferation of too much information</a:t>
            </a:r>
          </a:p>
          <a:p>
            <a:pPr>
              <a:lnSpc>
                <a:spcPct val="90000"/>
              </a:lnSpc>
              <a:defRPr/>
            </a:pPr>
            <a:r>
              <a:rPr lang="en-US" sz="2800" dirty="0">
                <a:solidFill>
                  <a:schemeClr val="tx1"/>
                </a:solidFill>
                <a:effectLst>
                  <a:outerShdw blurRad="38100" dist="38100" dir="2700000" algn="tl">
                    <a:srgbClr val="000000">
                      <a:alpha val="43137"/>
                    </a:srgbClr>
                  </a:outerShdw>
                </a:effectLst>
              </a:rPr>
              <a:t>Potential disruptions in physician/patient relationships</a:t>
            </a:r>
          </a:p>
          <a:p>
            <a:pPr>
              <a:lnSpc>
                <a:spcPct val="90000"/>
              </a:lnSpc>
              <a:defRPr/>
            </a:pPr>
            <a:r>
              <a:rPr lang="en-US" sz="2800" dirty="0">
                <a:solidFill>
                  <a:schemeClr val="tx1"/>
                </a:solidFill>
                <a:effectLst>
                  <a:outerShdw blurRad="38100" dist="38100" dir="2700000" algn="tl">
                    <a:srgbClr val="000000">
                      <a:alpha val="43137"/>
                    </a:srgbClr>
                  </a:outerShdw>
                </a:effectLst>
              </a:rPr>
              <a:t>Privacy issues</a:t>
            </a:r>
          </a:p>
          <a:p>
            <a:pPr>
              <a:lnSpc>
                <a:spcPct val="90000"/>
              </a:lnSpc>
              <a:defRPr/>
            </a:pPr>
            <a:r>
              <a:rPr lang="en-US" sz="2800" dirty="0">
                <a:solidFill>
                  <a:schemeClr val="tx1"/>
                </a:solidFill>
                <a:effectLst>
                  <a:outerShdw blurRad="38100" dist="38100" dir="2700000" algn="tl">
                    <a:srgbClr val="000000">
                      <a:alpha val="43137"/>
                    </a:srgbClr>
                  </a:outerShdw>
                </a:effectLst>
              </a:rPr>
              <a:t>Technology breakdowns/failures</a:t>
            </a:r>
          </a:p>
          <a:p>
            <a:pPr>
              <a:lnSpc>
                <a:spcPct val="90000"/>
              </a:lnSpc>
              <a:defRPr/>
            </a:pPr>
            <a:r>
              <a:rPr lang="en-US" sz="2800" dirty="0">
                <a:solidFill>
                  <a:schemeClr val="tx1"/>
                </a:solidFill>
                <a:effectLst>
                  <a:outerShdw blurRad="38100" dist="38100" dir="2700000" algn="tl">
                    <a:srgbClr val="000000">
                      <a:alpha val="43137"/>
                    </a:srgbClr>
                  </a:outerShdw>
                </a:effectLst>
              </a:rPr>
              <a:t>Promotes false sense of security</a:t>
            </a:r>
          </a:p>
          <a:p>
            <a:pPr>
              <a:lnSpc>
                <a:spcPct val="90000"/>
              </a:lnSpc>
              <a:defRPr/>
            </a:pPr>
            <a:r>
              <a:rPr lang="en-US" sz="2800" dirty="0">
                <a:solidFill>
                  <a:schemeClr val="tx1"/>
                </a:solidFill>
                <a:effectLst>
                  <a:outerShdw blurRad="38100" dist="38100" dir="2700000" algn="tl">
                    <a:srgbClr val="000000">
                      <a:alpha val="43137"/>
                    </a:srgbClr>
                  </a:outerShdw>
                </a:effectLst>
              </a:rPr>
              <a:t>Potential for increasing health care disparities</a:t>
            </a:r>
            <a:endParaRPr lang="en-US" sz="2800" dirty="0">
              <a:effectLst>
                <a:outerShdw blurRad="38100" dist="38100" dir="2700000" algn="tl">
                  <a:srgbClr val="000000">
                    <a:alpha val="43137"/>
                  </a:srgbClr>
                </a:outerShdw>
              </a:effectLst>
            </a:endParaRPr>
          </a:p>
        </p:txBody>
      </p:sp>
      <p:sp>
        <p:nvSpPr>
          <p:cNvPr id="5" name="Slide Number Placeholder 4"/>
          <p:cNvSpPr>
            <a:spLocks noGrp="1"/>
          </p:cNvSpPr>
          <p:nvPr>
            <p:ph type="sldNum" sz="quarter" idx="12"/>
          </p:nvPr>
        </p:nvSpPr>
        <p:spPr/>
        <p:txBody>
          <a:bodyPr/>
          <a:lstStyle/>
          <a:p>
            <a:fld id="{D54ACCF2-871A-4DA5-AEBE-57D54C7244BB}" type="slidenum">
              <a:rPr lang="en-US" smtClean="0"/>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3"/>
          <p:cNvSpPr>
            <a:spLocks noGrp="1" noChangeArrowheads="1"/>
          </p:cNvSpPr>
          <p:nvPr>
            <p:ph type="body" idx="4294967295"/>
          </p:nvPr>
        </p:nvSpPr>
        <p:spPr>
          <a:xfrm>
            <a:off x="533400" y="1600200"/>
            <a:ext cx="7954963" cy="2513013"/>
          </a:xfrm>
        </p:spPr>
        <p:txBody>
          <a:bodyPr/>
          <a:lstStyle/>
          <a:p>
            <a:pPr>
              <a:defRPr/>
            </a:pPr>
            <a:r>
              <a:rPr lang="en-US" sz="3200" dirty="0">
                <a:solidFill>
                  <a:schemeClr val="tx1"/>
                </a:solidFill>
              </a:rPr>
              <a:t>Will older people be able to access and successfully adapt to  and use telemedicine and e-health tools?</a:t>
            </a:r>
          </a:p>
          <a:p>
            <a:pPr>
              <a:defRPr/>
            </a:pPr>
            <a:endParaRPr lang="en-US" sz="3200" dirty="0">
              <a:solidFill>
                <a:schemeClr val="tx1"/>
              </a:solidFill>
            </a:endParaRPr>
          </a:p>
        </p:txBody>
      </p:sp>
      <p:sp>
        <p:nvSpPr>
          <p:cNvPr id="4" name="Rectangle 2"/>
          <p:cNvSpPr txBox="1">
            <a:spLocks noChangeArrowheads="1"/>
          </p:cNvSpPr>
          <p:nvPr/>
        </p:nvSpPr>
        <p:spPr bwMode="auto">
          <a:xfrm>
            <a:off x="533400" y="533400"/>
            <a:ext cx="8172450" cy="677863"/>
          </a:xfrm>
          <a:prstGeom prst="rect">
            <a:avLst/>
          </a:prstGeom>
          <a:noFill/>
          <a:ln w="9525">
            <a:noFill/>
            <a:miter lim="800000"/>
            <a:headEnd/>
            <a:tailEnd/>
          </a:ln>
          <a:effectLst>
            <a:outerShdw dist="35921" dir="2700000" algn="ctr" rotWithShape="0">
              <a:schemeClr val="bg1"/>
            </a:outerShdw>
          </a:effectLst>
        </p:spPr>
        <p:txBody>
          <a:bodyPr anchorCtr="1">
            <a:spAutoFit/>
          </a:bodyPr>
          <a:lstStyle/>
          <a:p>
            <a:pPr>
              <a:lnSpc>
                <a:spcPct val="95000"/>
              </a:lnSpc>
              <a:buFontTx/>
              <a:buNone/>
              <a:defRPr/>
            </a:pPr>
            <a:r>
              <a:rPr lang="en-US" sz="4000" kern="0" dirty="0">
                <a:solidFill>
                  <a:srgbClr val="FFCC00"/>
                </a:solidFill>
                <a:effectLst>
                  <a:outerShdw blurRad="38100" dist="38100" dir="2700000" algn="tl">
                    <a:srgbClr val="000000"/>
                  </a:outerShdw>
                </a:effectLst>
                <a:ea typeface="+mj-ea"/>
                <a:cs typeface="+mj-cs"/>
              </a:rPr>
              <a:t>Critical Question</a:t>
            </a:r>
          </a:p>
        </p:txBody>
      </p:sp>
      <p:sp>
        <p:nvSpPr>
          <p:cNvPr id="5" name="Slide Number Placeholder 4"/>
          <p:cNvSpPr>
            <a:spLocks noGrp="1"/>
          </p:cNvSpPr>
          <p:nvPr>
            <p:ph type="sldNum" sz="quarter" idx="12"/>
          </p:nvPr>
        </p:nvSpPr>
        <p:spPr/>
        <p:txBody>
          <a:bodyPr/>
          <a:lstStyle/>
          <a:p>
            <a:fld id="{D54ACCF2-871A-4DA5-AEBE-57D54C7244BB}" type="slidenum">
              <a:rPr lang="en-US" smtClean="0"/>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8150" y="388938"/>
            <a:ext cx="8172450" cy="1262062"/>
          </a:xfrm>
        </p:spPr>
        <p:txBody>
          <a:bodyPr>
            <a:normAutofit fontScale="90000"/>
          </a:bodyPr>
          <a:lstStyle/>
          <a:p>
            <a:pPr>
              <a:defRPr/>
            </a:pPr>
            <a:r>
              <a:rPr lang="en-US" sz="4000" dirty="0"/>
              <a:t>Requirements of Meaningful Access to Health IT</a:t>
            </a:r>
          </a:p>
        </p:txBody>
      </p:sp>
      <p:sp>
        <p:nvSpPr>
          <p:cNvPr id="3" name="Content Placeholder 2"/>
          <p:cNvSpPr>
            <a:spLocks noGrp="1"/>
          </p:cNvSpPr>
          <p:nvPr>
            <p:ph idx="1"/>
          </p:nvPr>
        </p:nvSpPr>
        <p:spPr>
          <a:xfrm>
            <a:off x="579438" y="1752600"/>
            <a:ext cx="7954962" cy="3427413"/>
          </a:xfrm>
        </p:spPr>
        <p:txBody>
          <a:bodyPr>
            <a:normAutofit fontScale="92500" lnSpcReduction="10000"/>
          </a:bodyPr>
          <a:lstStyle/>
          <a:p>
            <a:pPr>
              <a:defRPr/>
            </a:pPr>
            <a:r>
              <a:rPr lang="en-US" dirty="0"/>
              <a:t>Awareness of technology</a:t>
            </a:r>
          </a:p>
          <a:p>
            <a:pPr>
              <a:defRPr/>
            </a:pPr>
            <a:r>
              <a:rPr lang="en-US" dirty="0"/>
              <a:t>Access to technology and technical support</a:t>
            </a:r>
          </a:p>
          <a:p>
            <a:pPr>
              <a:defRPr/>
            </a:pPr>
            <a:r>
              <a:rPr lang="en-US" dirty="0"/>
              <a:t>Requisite knowledge and skills to use the technology </a:t>
            </a:r>
          </a:p>
          <a:p>
            <a:pPr>
              <a:defRPr/>
            </a:pPr>
            <a:r>
              <a:rPr lang="en-US" dirty="0"/>
              <a:t>Able to comprehend and integrate the information and use the information appropriately</a:t>
            </a:r>
          </a:p>
        </p:txBody>
      </p:sp>
      <p:sp>
        <p:nvSpPr>
          <p:cNvPr id="4" name="Slide Number Placeholder 3"/>
          <p:cNvSpPr>
            <a:spLocks noGrp="1"/>
          </p:cNvSpPr>
          <p:nvPr>
            <p:ph type="sldNum" sz="quarter" idx="12"/>
          </p:nvPr>
        </p:nvSpPr>
        <p:spPr/>
        <p:txBody>
          <a:bodyPr/>
          <a:lstStyle/>
          <a:p>
            <a:fld id="{D54ACCF2-871A-4DA5-AEBE-57D54C7244BB}" type="slidenum">
              <a:rPr lang="en-US" smtClean="0"/>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5588" y="447675"/>
            <a:ext cx="8172450" cy="1144588"/>
          </a:xfrm>
        </p:spPr>
        <p:txBody>
          <a:bodyPr/>
          <a:lstStyle/>
          <a:p>
            <a:pPr>
              <a:defRPr/>
            </a:pPr>
            <a:r>
              <a:rPr lang="en-US" sz="3600" dirty="0"/>
              <a:t>Barriers to Use of Healthcare Technologies</a:t>
            </a:r>
          </a:p>
        </p:txBody>
      </p:sp>
      <p:sp>
        <p:nvSpPr>
          <p:cNvPr id="3" name="Content Placeholder 2"/>
          <p:cNvSpPr>
            <a:spLocks noGrp="1"/>
          </p:cNvSpPr>
          <p:nvPr>
            <p:ph idx="4294967295"/>
          </p:nvPr>
        </p:nvSpPr>
        <p:spPr>
          <a:xfrm>
            <a:off x="503238" y="1676400"/>
            <a:ext cx="7954962" cy="3733800"/>
          </a:xfrm>
        </p:spPr>
        <p:txBody>
          <a:bodyPr>
            <a:normAutofit lnSpcReduction="10000"/>
          </a:bodyPr>
          <a:lstStyle/>
          <a:p>
            <a:pPr>
              <a:defRPr/>
            </a:pPr>
            <a:r>
              <a:rPr lang="en-US" sz="2800" dirty="0"/>
              <a:t>Limited knowledge of potential uses/benefits of technology</a:t>
            </a:r>
          </a:p>
          <a:p>
            <a:pPr>
              <a:defRPr/>
            </a:pPr>
            <a:r>
              <a:rPr lang="en-US" sz="2800" dirty="0"/>
              <a:t>Cost</a:t>
            </a:r>
          </a:p>
          <a:p>
            <a:pPr>
              <a:defRPr/>
            </a:pPr>
            <a:r>
              <a:rPr lang="en-US" sz="2800" dirty="0"/>
              <a:t>Rapid developments and changes in technical systems</a:t>
            </a:r>
          </a:p>
          <a:p>
            <a:pPr>
              <a:defRPr/>
            </a:pPr>
            <a:r>
              <a:rPr lang="en-US" sz="2800" dirty="0" err="1"/>
              <a:t>Interphace</a:t>
            </a:r>
            <a:r>
              <a:rPr lang="en-US" sz="2800" dirty="0"/>
              <a:t> issues</a:t>
            </a:r>
          </a:p>
          <a:p>
            <a:pPr>
              <a:defRPr/>
            </a:pPr>
            <a:r>
              <a:rPr lang="en-US" sz="2800" dirty="0"/>
              <a:t>Use of most telemedicine and E-health tools require at least adequate levels of health literacy</a:t>
            </a:r>
          </a:p>
        </p:txBody>
      </p:sp>
      <p:sp>
        <p:nvSpPr>
          <p:cNvPr id="4" name="Slide Number Placeholder 3"/>
          <p:cNvSpPr>
            <a:spLocks noGrp="1"/>
          </p:cNvSpPr>
          <p:nvPr>
            <p:ph type="sldNum" sz="quarter" idx="12"/>
          </p:nvPr>
        </p:nvSpPr>
        <p:spPr/>
        <p:txBody>
          <a:bodyPr/>
          <a:lstStyle/>
          <a:p>
            <a:fld id="{D54ACCF2-871A-4DA5-AEBE-57D54C7244BB}" type="slidenum">
              <a:rPr lang="en-US" smtClean="0"/>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588" y="223838"/>
            <a:ext cx="8172450" cy="1203325"/>
          </a:xfrm>
        </p:spPr>
        <p:txBody>
          <a:bodyPr>
            <a:normAutofit fontScale="90000"/>
          </a:bodyPr>
          <a:lstStyle/>
          <a:p>
            <a:pPr>
              <a:defRPr/>
            </a:pPr>
            <a:r>
              <a:rPr lang="en-US" dirty="0"/>
              <a:t>Barriers to Use of Healthcare Technologies</a:t>
            </a:r>
          </a:p>
        </p:txBody>
      </p:sp>
      <p:sp>
        <p:nvSpPr>
          <p:cNvPr id="3" name="Content Placeholder 2"/>
          <p:cNvSpPr>
            <a:spLocks noGrp="1"/>
          </p:cNvSpPr>
          <p:nvPr>
            <p:ph idx="1"/>
          </p:nvPr>
        </p:nvSpPr>
        <p:spPr>
          <a:xfrm>
            <a:off x="255588" y="1752600"/>
            <a:ext cx="7954962" cy="3427413"/>
          </a:xfrm>
        </p:spPr>
        <p:txBody>
          <a:bodyPr>
            <a:normAutofit/>
          </a:bodyPr>
          <a:lstStyle/>
          <a:p>
            <a:pPr>
              <a:defRPr/>
            </a:pPr>
            <a:r>
              <a:rPr lang="en-US" sz="2800" dirty="0">
                <a:effectLst/>
              </a:rPr>
              <a:t>Older adults especially minority have lower health literacy than other segments of the populations</a:t>
            </a:r>
            <a:endParaRPr lang="en-US" sz="2800" dirty="0"/>
          </a:p>
          <a:p>
            <a:pPr>
              <a:defRPr/>
            </a:pPr>
            <a:r>
              <a:rPr lang="en-US" sz="2800" dirty="0"/>
              <a:t>Human-technology interaction involves  information processing and places demands on memory and other  cognitive abilities</a:t>
            </a:r>
          </a:p>
          <a:p>
            <a:pPr>
              <a:defRPr/>
            </a:pPr>
            <a:r>
              <a:rPr lang="en-US" sz="2800" dirty="0"/>
              <a:t>Age is associated with declines in some aspects of cognition</a:t>
            </a:r>
          </a:p>
          <a:p>
            <a:pPr>
              <a:defRPr/>
            </a:pPr>
            <a:endParaRPr lang="en-US" dirty="0"/>
          </a:p>
        </p:txBody>
      </p:sp>
      <p:sp>
        <p:nvSpPr>
          <p:cNvPr id="4" name="Slide Number Placeholder 3"/>
          <p:cNvSpPr>
            <a:spLocks noGrp="1"/>
          </p:cNvSpPr>
          <p:nvPr>
            <p:ph type="sldNum" sz="quarter" idx="12"/>
          </p:nvPr>
        </p:nvSpPr>
        <p:spPr/>
        <p:txBody>
          <a:bodyPr/>
          <a:lstStyle/>
          <a:p>
            <a:fld id="{D54ACCF2-871A-4DA5-AEBE-57D54C7244BB}" type="slidenum">
              <a:rPr lang="en-US" smtClean="0"/>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255588" y="223838"/>
            <a:ext cx="8172450" cy="1057275"/>
          </a:xfrm>
        </p:spPr>
        <p:txBody>
          <a:bodyPr>
            <a:normAutofit fontScale="90000"/>
          </a:bodyPr>
          <a:lstStyle/>
          <a:p>
            <a:pPr eaLnBrk="1" hangingPunct="1">
              <a:defRPr/>
            </a:pPr>
            <a:r>
              <a:rPr lang="en-US" sz="2800" dirty="0"/>
              <a:t>The Internet enables patients to make more informed decisions</a:t>
            </a:r>
            <a:r>
              <a:rPr lang="en-US" dirty="0"/>
              <a:t> </a:t>
            </a:r>
          </a:p>
        </p:txBody>
      </p:sp>
      <p:sp>
        <p:nvSpPr>
          <p:cNvPr id="13315" name="Rectangle 3"/>
          <p:cNvSpPr>
            <a:spLocks noGrp="1" noChangeArrowheads="1"/>
          </p:cNvSpPr>
          <p:nvPr>
            <p:ph type="body" idx="1"/>
          </p:nvPr>
        </p:nvSpPr>
        <p:spPr/>
        <p:txBody>
          <a:bodyPr/>
          <a:lstStyle/>
          <a:p>
            <a:pPr eaLnBrk="1" hangingPunct="1">
              <a:defRPr/>
            </a:pPr>
            <a:r>
              <a:rPr lang="en-US"/>
              <a:t>Majority (59%) of physicians felt the Internet enables patients to make more informed decisions regarding health choices</a:t>
            </a:r>
          </a:p>
          <a:p>
            <a:pPr lvl="1" eaLnBrk="1" hangingPunct="1">
              <a:defRPr/>
            </a:pPr>
            <a:r>
              <a:rPr lang="en-US"/>
              <a:t>Helps patient understand their condition and their medications</a:t>
            </a:r>
          </a:p>
          <a:p>
            <a:pPr lvl="1" eaLnBrk="1" hangingPunct="1">
              <a:defRPr/>
            </a:pPr>
            <a:r>
              <a:rPr lang="en-US"/>
              <a:t>Helps patient in asking questions during the visit</a:t>
            </a:r>
          </a:p>
          <a:p>
            <a:pPr lvl="1" eaLnBrk="1" hangingPunct="1">
              <a:defRPr/>
            </a:pPr>
            <a:r>
              <a:rPr lang="en-US"/>
              <a:t>Allows patient to find out about more options than what was discussed by their provider</a:t>
            </a:r>
          </a:p>
          <a:p>
            <a:pPr lvl="1" eaLnBrk="1" hangingPunct="1">
              <a:defRPr/>
            </a:pPr>
            <a:r>
              <a:rPr lang="en-US"/>
              <a:t>Allows patient to be their own advocate</a:t>
            </a:r>
          </a:p>
        </p:txBody>
      </p:sp>
      <p:sp>
        <p:nvSpPr>
          <p:cNvPr id="4" name="Slide Number Placeholder 3"/>
          <p:cNvSpPr>
            <a:spLocks noGrp="1"/>
          </p:cNvSpPr>
          <p:nvPr>
            <p:ph type="sldNum" sz="quarter" idx="12"/>
          </p:nvPr>
        </p:nvSpPr>
        <p:spPr/>
        <p:txBody>
          <a:bodyPr/>
          <a:lstStyle/>
          <a:p>
            <a:fld id="{D54ACCF2-871A-4DA5-AEBE-57D54C7244BB}" type="slidenum">
              <a:rPr lang="en-US" smtClean="0"/>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255588" y="223838"/>
            <a:ext cx="8172450" cy="1028700"/>
          </a:xfrm>
        </p:spPr>
        <p:txBody>
          <a:bodyPr>
            <a:normAutofit fontScale="90000"/>
          </a:bodyPr>
          <a:lstStyle/>
          <a:p>
            <a:pPr eaLnBrk="1" hangingPunct="1">
              <a:defRPr/>
            </a:pPr>
            <a:r>
              <a:rPr lang="en-US" sz="3200" dirty="0"/>
              <a:t> How can patients better prepare for office visits?</a:t>
            </a:r>
          </a:p>
        </p:txBody>
      </p:sp>
      <p:sp>
        <p:nvSpPr>
          <p:cNvPr id="23555" name="Rectangle 3"/>
          <p:cNvSpPr>
            <a:spLocks noGrp="1" noChangeArrowheads="1"/>
          </p:cNvSpPr>
          <p:nvPr>
            <p:ph type="body" idx="1"/>
          </p:nvPr>
        </p:nvSpPr>
        <p:spPr/>
        <p:txBody>
          <a:bodyPr/>
          <a:lstStyle/>
          <a:p>
            <a:pPr eaLnBrk="1" hangingPunct="1">
              <a:defRPr/>
            </a:pPr>
            <a:r>
              <a:rPr lang="en-US" sz="2400"/>
              <a:t>If using the Internet to get information, use major sites and stay away from commercial promotions; check the source and weigh the information accordingly</a:t>
            </a:r>
          </a:p>
          <a:p>
            <a:pPr eaLnBrk="1" hangingPunct="1">
              <a:buFont typeface="Wingdings" pitchFamily="2" charset="2"/>
              <a:buNone/>
              <a:defRPr/>
            </a:pPr>
            <a:endParaRPr lang="en-US" sz="2400"/>
          </a:p>
          <a:p>
            <a:pPr eaLnBrk="1" hangingPunct="1">
              <a:defRPr/>
            </a:pPr>
            <a:r>
              <a:rPr lang="en-US" sz="2400"/>
              <a:t>To improve communication, patients should not think that they have all of the answers based upon what they read online and be open to discussion with their physician</a:t>
            </a:r>
          </a:p>
          <a:p>
            <a:pPr eaLnBrk="1" hangingPunct="1">
              <a:defRPr/>
            </a:pPr>
            <a:endParaRPr lang="en-US" sz="2400"/>
          </a:p>
        </p:txBody>
      </p:sp>
      <p:sp>
        <p:nvSpPr>
          <p:cNvPr id="4" name="Slide Number Placeholder 3"/>
          <p:cNvSpPr>
            <a:spLocks noGrp="1"/>
          </p:cNvSpPr>
          <p:nvPr>
            <p:ph type="sldNum" sz="quarter" idx="12"/>
          </p:nvPr>
        </p:nvSpPr>
        <p:spPr/>
        <p:txBody>
          <a:bodyPr/>
          <a:lstStyle/>
          <a:p>
            <a:fld id="{D54ACCF2-871A-4DA5-AEBE-57D54C7244BB}" type="slidenum">
              <a:rPr lang="en-US" smtClean="0"/>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55588" y="223838"/>
            <a:ext cx="8172450" cy="1028700"/>
          </a:xfrm>
        </p:spPr>
        <p:txBody>
          <a:bodyPr>
            <a:normAutofit fontScale="90000"/>
          </a:bodyPr>
          <a:lstStyle/>
          <a:p>
            <a:pPr eaLnBrk="1" hangingPunct="1">
              <a:defRPr/>
            </a:pPr>
            <a:r>
              <a:rPr lang="en-US" sz="3200" dirty="0"/>
              <a:t>How can patients better prepare for office visits?</a:t>
            </a:r>
          </a:p>
        </p:txBody>
      </p:sp>
      <p:sp>
        <p:nvSpPr>
          <p:cNvPr id="24579" name="Rectangle 3"/>
          <p:cNvSpPr>
            <a:spLocks noGrp="1" noChangeArrowheads="1"/>
          </p:cNvSpPr>
          <p:nvPr>
            <p:ph type="body" idx="1"/>
          </p:nvPr>
        </p:nvSpPr>
        <p:spPr/>
        <p:txBody>
          <a:bodyPr/>
          <a:lstStyle/>
          <a:p>
            <a:pPr lvl="1" eaLnBrk="1" hangingPunct="1">
              <a:defRPr/>
            </a:pPr>
            <a:endParaRPr lang="en-US" sz="2200"/>
          </a:p>
          <a:p>
            <a:pPr lvl="1" eaLnBrk="1" hangingPunct="1">
              <a:defRPr/>
            </a:pPr>
            <a:r>
              <a:rPr lang="en-US"/>
              <a:t>“…you can’t expect to do medical school and residency training online in front of your computer in an evening before you go in to see your doctor… [use] what information you gather in order to spark discussion and [gain] information but [don’t come] to too many conclusions on something that is probably quite complicated.”</a:t>
            </a:r>
          </a:p>
        </p:txBody>
      </p:sp>
      <p:sp>
        <p:nvSpPr>
          <p:cNvPr id="4" name="Slide Number Placeholder 3"/>
          <p:cNvSpPr>
            <a:spLocks noGrp="1"/>
          </p:cNvSpPr>
          <p:nvPr>
            <p:ph type="sldNum" sz="quarter" idx="12"/>
          </p:nvPr>
        </p:nvSpPr>
        <p:spPr/>
        <p:txBody>
          <a:bodyPr/>
          <a:lstStyle/>
          <a:p>
            <a:fld id="{D54ACCF2-871A-4DA5-AEBE-57D54C7244BB}" type="slidenum">
              <a:rPr lang="en-US" smtClean="0"/>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Electronic Medical Records</a:t>
            </a:r>
          </a:p>
        </p:txBody>
      </p:sp>
      <p:sp>
        <p:nvSpPr>
          <p:cNvPr id="3" name="Content Placeholder 2"/>
          <p:cNvSpPr>
            <a:spLocks noGrp="1"/>
          </p:cNvSpPr>
          <p:nvPr>
            <p:ph idx="1"/>
          </p:nvPr>
        </p:nvSpPr>
        <p:spPr/>
        <p:txBody>
          <a:bodyPr/>
          <a:lstStyle/>
          <a:p>
            <a:pPr>
              <a:defRPr/>
            </a:pPr>
            <a:r>
              <a:rPr lang="en-US" dirty="0"/>
              <a:t>Examining the ability of older adults to use patient portals of EMRs to perform routine tasks and identify usability problems</a:t>
            </a:r>
          </a:p>
          <a:p>
            <a:pPr>
              <a:defRPr/>
            </a:pPr>
            <a:r>
              <a:rPr lang="en-US" dirty="0"/>
              <a:t>Also gathering information on issues related to privacy and trust</a:t>
            </a:r>
          </a:p>
          <a:p>
            <a:pPr>
              <a:defRPr/>
            </a:pPr>
            <a:r>
              <a:rPr lang="en-US" dirty="0"/>
              <a:t>Focus on lower SES populations with low health literacy</a:t>
            </a:r>
          </a:p>
        </p:txBody>
      </p:sp>
      <p:sp>
        <p:nvSpPr>
          <p:cNvPr id="4" name="Slide Number Placeholder 3"/>
          <p:cNvSpPr>
            <a:spLocks noGrp="1"/>
          </p:cNvSpPr>
          <p:nvPr>
            <p:ph type="sldNum" sz="quarter" idx="12"/>
          </p:nvPr>
        </p:nvSpPr>
        <p:spPr/>
        <p:txBody>
          <a:bodyPr/>
          <a:lstStyle/>
          <a:p>
            <a:fld id="{D54ACCF2-871A-4DA5-AEBE-57D54C7244BB}" type="slidenum">
              <a:rPr lang="en-US" smtClean="0"/>
              <a:pPr/>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328</TotalTime>
  <Words>2648</Words>
  <Application>Microsoft Office PowerPoint</Application>
  <PresentationFormat>On-screen Show (4:3)</PresentationFormat>
  <Paragraphs>337</Paragraphs>
  <Slides>46</Slides>
  <Notes>20</Notes>
  <HiddenSlides>0</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Office Theme</vt:lpstr>
      <vt:lpstr>Introduction to Health Informatics </vt:lpstr>
      <vt:lpstr>Learning Objectives: </vt:lpstr>
      <vt:lpstr>The (e)ATM of Healthcare</vt:lpstr>
      <vt:lpstr>HIS</vt:lpstr>
      <vt:lpstr>Why Health Informatics?</vt:lpstr>
      <vt:lpstr>good information is needed to make decisions on </vt:lpstr>
      <vt:lpstr>Health Informatics</vt:lpstr>
      <vt:lpstr>Health informatics tools include  Tools</vt:lpstr>
      <vt:lpstr>Definition of health information system </vt:lpstr>
      <vt:lpstr>PowerPoint Presentation</vt:lpstr>
      <vt:lpstr>Categories of IS</vt:lpstr>
      <vt:lpstr>A transaction processing system (TPS)</vt:lpstr>
      <vt:lpstr>An admission, discharge, and transfer system( ADR) </vt:lpstr>
      <vt:lpstr>Management Information System (MIS) </vt:lpstr>
      <vt:lpstr>Emergency care INFORMATION SYSTEM </vt:lpstr>
      <vt:lpstr>Emergency care INFORMATION SYSTEM </vt:lpstr>
      <vt:lpstr>Decision support system (DSS)</vt:lpstr>
      <vt:lpstr>Health Care Information  System (HCIS)</vt:lpstr>
      <vt:lpstr>HCIS components</vt:lpstr>
      <vt:lpstr>Patient Management and Billing</vt:lpstr>
      <vt:lpstr>MoH Health Informatics</vt:lpstr>
      <vt:lpstr>eHealth</vt:lpstr>
      <vt:lpstr>mHealth</vt:lpstr>
      <vt:lpstr>Informatics  ≠ IT</vt:lpstr>
      <vt:lpstr>Key Elements of Informatics</vt:lpstr>
      <vt:lpstr>Health Information Systems Context</vt:lpstr>
      <vt:lpstr>Health Informatics Principles</vt:lpstr>
      <vt:lpstr>Decisions Determine Data</vt:lpstr>
      <vt:lpstr>Encourage open systems</vt:lpstr>
      <vt:lpstr>Make vs. Buy… Or Modify</vt:lpstr>
      <vt:lpstr>Collaborative communities of practice</vt:lpstr>
      <vt:lpstr>    eHealth</vt:lpstr>
      <vt:lpstr>The eight  Drivers Forcing Change TO TELEMEDICINE  </vt:lpstr>
      <vt:lpstr>Examples of Telemedicine/    E-Health Applications</vt:lpstr>
      <vt:lpstr>PowerPoint Presentation</vt:lpstr>
      <vt:lpstr>PowerPoint Presentation</vt:lpstr>
      <vt:lpstr>PowerPoint Presentation</vt:lpstr>
      <vt:lpstr>PowerPoint Presentation</vt:lpstr>
      <vt:lpstr>PowerPoint Presentation</vt:lpstr>
      <vt:lpstr>Requirements of Meaningful Access to Health IT</vt:lpstr>
      <vt:lpstr>Barriers to Use of Healthcare Technologies</vt:lpstr>
      <vt:lpstr>Barriers to Use of Healthcare Technologies</vt:lpstr>
      <vt:lpstr>The Internet enables patients to make more informed decisions </vt:lpstr>
      <vt:lpstr> How can patients better prepare for office visits?</vt:lpstr>
      <vt:lpstr>How can patients better prepare for office visits?</vt:lpstr>
      <vt:lpstr>Electronic Medical Records</vt:lpstr>
    </vt:vector>
  </TitlesOfParts>
  <Company>user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Health Informatics</dc:title>
  <dc:creator>user</dc:creator>
  <cp:lastModifiedBy>Jimmy Fahari Mtawali</cp:lastModifiedBy>
  <cp:revision>30</cp:revision>
  <dcterms:created xsi:type="dcterms:W3CDTF">2013-07-08T20:52:33Z</dcterms:created>
  <dcterms:modified xsi:type="dcterms:W3CDTF">2026-06-16T19:35:07Z</dcterms:modified>
</cp:coreProperties>
</file>