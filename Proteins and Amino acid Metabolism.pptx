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jCUJgoW9/y1JpTLVcyjKz1bKDIU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showComments="0">
  <p:normalViewPr>
    <p:restoredLeft sz="25255"/>
    <p:restoredTop sz="50000"/>
  </p:normalViewPr>
  <p:slideViewPr>
    <p:cSldViewPr snapToGrid="0">
      <p:cViewPr varScale="1">
        <p:scale>
          <a:sx n="50" d="100"/>
          <a:sy n="50" d="100"/>
        </p:scale>
        <p:origin x="2368"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customschemas.google.com/relationships/presentationmetadata" Target="metadata"/><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446215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657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8316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5555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963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701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846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5754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1868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6761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2097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0219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6740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3979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278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7054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262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204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5802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9986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6161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31833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73699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2017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4874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316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11714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30567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4939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7130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55788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353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0" name="Google Shape;360;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03899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6" name="Google Shape;366;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727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39280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58077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9326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27009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44569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61012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23598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43513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8" name="Google Shape;418;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0556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10153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64587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6244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26862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91047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67248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5560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38944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1" name="Google Shape;471;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9724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2701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3" name="Google Shape;483;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7315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56"/>
          <p:cNvGrpSpPr/>
          <p:nvPr/>
        </p:nvGrpSpPr>
        <p:grpSpPr>
          <a:xfrm>
            <a:off x="0" y="0"/>
            <a:ext cx="9144677" cy="6858000"/>
            <a:chOff x="0" y="0"/>
            <a:chExt cx="9144677" cy="6858000"/>
          </a:xfrm>
        </p:grpSpPr>
        <p:pic>
          <p:nvPicPr>
            <p:cNvPr id="18" name="Google Shape;18;p56" descr="SD-PanelTitle-R1.pn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19" name="Google Shape;19;p56"/>
            <p:cNvSpPr/>
            <p:nvPr/>
          </p:nvSpPr>
          <p:spPr>
            <a:xfrm>
              <a:off x="1515532" y="1520422"/>
              <a:ext cx="6112935" cy="3818468"/>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20;p56" descr="HDRibbonTitle-UniformTrim.png"/>
            <p:cNvPicPr preferRelativeResize="0"/>
            <p:nvPr/>
          </p:nvPicPr>
          <p:blipFill rotWithShape="1">
            <a:blip r:embed="rId3">
              <a:alphaModFix/>
            </a:blip>
            <a:srcRect l="-2" r="47958"/>
            <a:stretch/>
          </p:blipFill>
          <p:spPr>
            <a:xfrm>
              <a:off x="0" y="3128434"/>
              <a:ext cx="1664208" cy="612648"/>
            </a:xfrm>
            <a:prstGeom prst="rect">
              <a:avLst/>
            </a:prstGeom>
            <a:noFill/>
            <a:ln>
              <a:noFill/>
            </a:ln>
          </p:spPr>
        </p:pic>
        <p:pic>
          <p:nvPicPr>
            <p:cNvPr id="21" name="Google Shape;21;p56" descr="HDRibbonTitle-UniformTrim.png"/>
            <p:cNvPicPr preferRelativeResize="0"/>
            <p:nvPr/>
          </p:nvPicPr>
          <p:blipFill rotWithShape="1">
            <a:blip r:embed="rId3">
              <a:alphaModFix/>
            </a:blip>
            <a:srcRect l="-2" r="47958"/>
            <a:stretch/>
          </p:blipFill>
          <p:spPr>
            <a:xfrm>
              <a:off x="7480469" y="3128434"/>
              <a:ext cx="1664208" cy="612648"/>
            </a:xfrm>
            <a:prstGeom prst="rect">
              <a:avLst/>
            </a:prstGeom>
            <a:noFill/>
            <a:ln>
              <a:noFill/>
            </a:ln>
          </p:spPr>
        </p:pic>
      </p:grpSp>
      <p:sp>
        <p:nvSpPr>
          <p:cNvPr id="22" name="Google Shape;22;p56"/>
          <p:cNvSpPr txBox="1">
            <a:spLocks noGrp="1"/>
          </p:cNvSpPr>
          <p:nvPr>
            <p:ph type="ctrTitle"/>
          </p:nvPr>
        </p:nvSpPr>
        <p:spPr>
          <a:xfrm>
            <a:off x="1921934" y="1811863"/>
            <a:ext cx="5308866"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4800"/>
              <a:buFont typeface="Garamond"/>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6"/>
          <p:cNvSpPr txBox="1">
            <a:spLocks noGrp="1"/>
          </p:cNvSpPr>
          <p:nvPr>
            <p:ph type="subTitle" idx="1"/>
          </p:nvPr>
        </p:nvSpPr>
        <p:spPr>
          <a:xfrm>
            <a:off x="1921934" y="3598327"/>
            <a:ext cx="5308866" cy="1377651"/>
          </a:xfrm>
          <a:prstGeom prst="rect">
            <a:avLst/>
          </a:prstGeom>
          <a:noFill/>
          <a:ln>
            <a:noFill/>
          </a:ln>
        </p:spPr>
        <p:txBody>
          <a:bodyPr spcFirstLastPara="1" wrap="square" lIns="91425" tIns="45700" rIns="91425" bIns="45700" anchor="t" anchorCtr="0">
            <a:normAutofit/>
          </a:bodyPr>
          <a:lstStyle>
            <a:lvl1pPr lvl="0" algn="ctr">
              <a:spcBef>
                <a:spcPts val="400"/>
              </a:spcBef>
              <a:spcAft>
                <a:spcPts val="0"/>
              </a:spcAft>
              <a:buSzPts val="2300"/>
              <a:buNone/>
              <a:defRPr sz="20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24" name="Google Shape;24;p56"/>
          <p:cNvSpPr txBox="1">
            <a:spLocks noGrp="1"/>
          </p:cNvSpPr>
          <p:nvPr>
            <p:ph type="dt" idx="10"/>
          </p:nvPr>
        </p:nvSpPr>
        <p:spPr>
          <a:xfrm>
            <a:off x="6065417" y="5054602"/>
            <a:ext cx="673276"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6"/>
          <p:cNvSpPr txBox="1">
            <a:spLocks noGrp="1"/>
          </p:cNvSpPr>
          <p:nvPr>
            <p:ph type="ftr" idx="11"/>
          </p:nvPr>
        </p:nvSpPr>
        <p:spPr>
          <a:xfrm>
            <a:off x="1921934" y="5054602"/>
            <a:ext cx="406486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6"/>
          <p:cNvSpPr txBox="1">
            <a:spLocks noGrp="1"/>
          </p:cNvSpPr>
          <p:nvPr>
            <p:ph type="sldNum" idx="12"/>
          </p:nvPr>
        </p:nvSpPr>
        <p:spPr>
          <a:xfrm>
            <a:off x="6817317" y="5054602"/>
            <a:ext cx="413483"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27" name="Google Shape;27;p56"/>
          <p:cNvCxnSpPr/>
          <p:nvPr/>
        </p:nvCxnSpPr>
        <p:spPr>
          <a:xfrm>
            <a:off x="2019825" y="3471329"/>
            <a:ext cx="5113083"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cxnSp>
        <p:nvCxnSpPr>
          <p:cNvPr id="29" name="Google Shape;29;p57"/>
          <p:cNvCxnSpPr/>
          <p:nvPr/>
        </p:nvCxnSpPr>
        <p:spPr>
          <a:xfrm>
            <a:off x="1278465" y="2356260"/>
            <a:ext cx="6595534" cy="0"/>
          </a:xfrm>
          <a:prstGeom prst="straightConnector1">
            <a:avLst/>
          </a:prstGeom>
          <a:noFill/>
          <a:ln w="15875" cap="flat" cmpd="sng">
            <a:solidFill>
              <a:schemeClr val="accent1"/>
            </a:solidFill>
            <a:prstDash val="solid"/>
            <a:round/>
            <a:headEnd type="none" w="sm" len="sm"/>
            <a:tailEnd type="none" w="sm" len="sm"/>
          </a:ln>
        </p:spPr>
      </p:cxnSp>
      <p:sp>
        <p:nvSpPr>
          <p:cNvPr id="30" name="Google Shape;30;p57"/>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7"/>
          <p:cNvSpPr txBox="1">
            <a:spLocks noGrp="1"/>
          </p:cNvSpPr>
          <p:nvPr>
            <p:ph type="body" idx="1"/>
          </p:nvPr>
        </p:nvSpPr>
        <p:spPr>
          <a:xfrm>
            <a:off x="1176865" y="2490135"/>
            <a:ext cx="6798736" cy="3444997"/>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32" name="Google Shape;32;p57"/>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7"/>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7"/>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58"/>
          <p:cNvSpPr txBox="1">
            <a:spLocks noGrp="1"/>
          </p:cNvSpPr>
          <p:nvPr>
            <p:ph type="title"/>
          </p:nvPr>
        </p:nvSpPr>
        <p:spPr>
          <a:xfrm>
            <a:off x="1278465" y="1641413"/>
            <a:ext cx="6595534"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000"/>
              <a:buFont typeface="Garamond"/>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8"/>
          <p:cNvSpPr txBox="1">
            <a:spLocks noGrp="1"/>
          </p:cNvSpPr>
          <p:nvPr>
            <p:ph type="body" idx="1"/>
          </p:nvPr>
        </p:nvSpPr>
        <p:spPr>
          <a:xfrm>
            <a:off x="1278465" y="3734859"/>
            <a:ext cx="6595534" cy="1090015"/>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38" name="Google Shape;38;p58"/>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8"/>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8"/>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41" name="Google Shape;41;p58"/>
          <p:cNvCxnSpPr/>
          <p:nvPr/>
        </p:nvCxnSpPr>
        <p:spPr>
          <a:xfrm>
            <a:off x="1278466" y="3599392"/>
            <a:ext cx="6595533"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cxnSp>
        <p:nvCxnSpPr>
          <p:cNvPr id="43" name="Google Shape;43;p59"/>
          <p:cNvCxnSpPr/>
          <p:nvPr/>
        </p:nvCxnSpPr>
        <p:spPr>
          <a:xfrm>
            <a:off x="1278465" y="2356260"/>
            <a:ext cx="6595534" cy="0"/>
          </a:xfrm>
          <a:prstGeom prst="straightConnector1">
            <a:avLst/>
          </a:prstGeom>
          <a:noFill/>
          <a:ln w="15875" cap="flat" cmpd="sng">
            <a:solidFill>
              <a:schemeClr val="accent1"/>
            </a:solidFill>
            <a:prstDash val="solid"/>
            <a:round/>
            <a:headEnd type="none" w="sm" len="sm"/>
            <a:tailEnd type="none" w="sm" len="sm"/>
          </a:ln>
        </p:spPr>
      </p:cxnSp>
      <p:sp>
        <p:nvSpPr>
          <p:cNvPr id="44" name="Google Shape;44;p59"/>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9"/>
          <p:cNvSpPr txBox="1">
            <a:spLocks noGrp="1"/>
          </p:cNvSpPr>
          <p:nvPr>
            <p:ph type="body" idx="1"/>
          </p:nvPr>
        </p:nvSpPr>
        <p:spPr>
          <a:xfrm>
            <a:off x="1176866" y="2487168"/>
            <a:ext cx="3337560" cy="344728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6" name="Google Shape;46;p59"/>
          <p:cNvSpPr txBox="1">
            <a:spLocks noGrp="1"/>
          </p:cNvSpPr>
          <p:nvPr>
            <p:ph type="body" idx="2"/>
          </p:nvPr>
        </p:nvSpPr>
        <p:spPr>
          <a:xfrm>
            <a:off x="4645152" y="2487168"/>
            <a:ext cx="3337560" cy="344728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7" name="Google Shape;47;p59"/>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9"/>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9"/>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60"/>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0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0"/>
          <p:cNvSpPr txBox="1">
            <a:spLocks noGrp="1"/>
          </p:cNvSpPr>
          <p:nvPr>
            <p:ph type="body" idx="1"/>
          </p:nvPr>
        </p:nvSpPr>
        <p:spPr>
          <a:xfrm>
            <a:off x="1176868" y="2658533"/>
            <a:ext cx="3337560" cy="5762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760"/>
              <a:buNone/>
              <a:defRPr sz="24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3" name="Google Shape;53;p60"/>
          <p:cNvSpPr txBox="1">
            <a:spLocks noGrp="1"/>
          </p:cNvSpPr>
          <p:nvPr>
            <p:ph type="body" idx="2"/>
          </p:nvPr>
        </p:nvSpPr>
        <p:spPr>
          <a:xfrm>
            <a:off x="1176868" y="3243263"/>
            <a:ext cx="3337560" cy="2706624"/>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4" name="Google Shape;54;p60"/>
          <p:cNvSpPr txBox="1">
            <a:spLocks noGrp="1"/>
          </p:cNvSpPr>
          <p:nvPr>
            <p:ph type="body" idx="3"/>
          </p:nvPr>
        </p:nvSpPr>
        <p:spPr>
          <a:xfrm>
            <a:off x="4641832" y="2658533"/>
            <a:ext cx="3337560" cy="5762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760"/>
              <a:buNone/>
              <a:defRPr sz="24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5" name="Google Shape;55;p60"/>
          <p:cNvSpPr txBox="1">
            <a:spLocks noGrp="1"/>
          </p:cNvSpPr>
          <p:nvPr>
            <p:ph type="body" idx="4"/>
          </p:nvPr>
        </p:nvSpPr>
        <p:spPr>
          <a:xfrm>
            <a:off x="4641832" y="3243263"/>
            <a:ext cx="3337560" cy="2706624"/>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60"/>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0"/>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0"/>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59" name="Google Shape;59;p60"/>
          <p:cNvCxnSpPr/>
          <p:nvPr/>
        </p:nvCxnSpPr>
        <p:spPr>
          <a:xfrm>
            <a:off x="1278466" y="2354670"/>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61"/>
          <p:cNvSpPr txBox="1">
            <a:spLocks noGrp="1"/>
          </p:cNvSpPr>
          <p:nvPr>
            <p:ph type="title"/>
          </p:nvPr>
        </p:nvSpPr>
        <p:spPr>
          <a:xfrm>
            <a:off x="1176865" y="915337"/>
            <a:ext cx="6798735"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61"/>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1"/>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1"/>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65" name="Google Shape;65;p61"/>
          <p:cNvCxnSpPr/>
          <p:nvPr/>
        </p:nvCxnSpPr>
        <p:spPr>
          <a:xfrm>
            <a:off x="1278466" y="2354670"/>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62"/>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62"/>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2"/>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63"/>
          <p:cNvSpPr txBox="1">
            <a:spLocks noGrp="1"/>
          </p:cNvSpPr>
          <p:nvPr>
            <p:ph type="title"/>
          </p:nvPr>
        </p:nvSpPr>
        <p:spPr>
          <a:xfrm>
            <a:off x="1176865" y="1388534"/>
            <a:ext cx="2536798"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3"/>
          <p:cNvSpPr txBox="1">
            <a:spLocks noGrp="1"/>
          </p:cNvSpPr>
          <p:nvPr>
            <p:ph type="body" idx="1"/>
          </p:nvPr>
        </p:nvSpPr>
        <p:spPr>
          <a:xfrm>
            <a:off x="4120062" y="982132"/>
            <a:ext cx="3855539"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3" name="Google Shape;73;p63"/>
          <p:cNvSpPr txBox="1">
            <a:spLocks noGrp="1"/>
          </p:cNvSpPr>
          <p:nvPr>
            <p:ph type="body" idx="2"/>
          </p:nvPr>
        </p:nvSpPr>
        <p:spPr>
          <a:xfrm>
            <a:off x="1176865" y="3031065"/>
            <a:ext cx="2536798"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74" name="Google Shape;74;p63"/>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3"/>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3"/>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77" name="Google Shape;77;p63"/>
          <p:cNvCxnSpPr/>
          <p:nvPr/>
        </p:nvCxnSpPr>
        <p:spPr>
          <a:xfrm>
            <a:off x="1278466" y="2912533"/>
            <a:ext cx="233359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64"/>
          <p:cNvSpPr txBox="1">
            <a:spLocks noGrp="1"/>
          </p:cNvSpPr>
          <p:nvPr>
            <p:ph type="title"/>
          </p:nvPr>
        </p:nvSpPr>
        <p:spPr>
          <a:xfrm>
            <a:off x="1176865" y="1883832"/>
            <a:ext cx="3632202"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64"/>
          <p:cNvSpPr>
            <a:spLocks noGrp="1"/>
          </p:cNvSpPr>
          <p:nvPr>
            <p:ph type="pic" idx="2"/>
          </p:nvPr>
        </p:nvSpPr>
        <p:spPr>
          <a:xfrm>
            <a:off x="5183069" y="1032933"/>
            <a:ext cx="2929463" cy="4792136"/>
          </a:xfrm>
          <a:prstGeom prst="roundRect">
            <a:avLst>
              <a:gd name="adj" fmla="val 0"/>
            </a:avLst>
          </a:prstGeom>
          <a:noFill/>
          <a:ln w="57150" cap="flat" cmpd="thickThin">
            <a:solidFill>
              <a:srgbClr val="7F7F7F"/>
            </a:solidFill>
            <a:prstDash val="solid"/>
            <a:round/>
            <a:headEnd type="none" w="sm" len="sm"/>
            <a:tailEnd type="none" w="sm" len="sm"/>
          </a:ln>
        </p:spPr>
      </p:sp>
      <p:sp>
        <p:nvSpPr>
          <p:cNvPr id="81" name="Google Shape;81;p64"/>
          <p:cNvSpPr txBox="1">
            <a:spLocks noGrp="1"/>
          </p:cNvSpPr>
          <p:nvPr>
            <p:ph type="body" idx="1"/>
          </p:nvPr>
        </p:nvSpPr>
        <p:spPr>
          <a:xfrm>
            <a:off x="1176865" y="3255432"/>
            <a:ext cx="3632201"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2" name="Google Shape;82;p64"/>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4"/>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4"/>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5"/>
        <p:cNvGrpSpPr/>
        <p:nvPr/>
      </p:nvGrpSpPr>
      <p:grpSpPr>
        <a:xfrm>
          <a:off x="0" y="0"/>
          <a:ext cx="0" cy="0"/>
          <a:chOff x="0" y="0"/>
          <a:chExt cx="0" cy="0"/>
        </a:xfrm>
      </p:grpSpPr>
      <p:sp>
        <p:nvSpPr>
          <p:cNvPr id="86" name="Google Shape;86;p65"/>
          <p:cNvSpPr txBox="1">
            <a:spLocks noGrp="1"/>
          </p:cNvSpPr>
          <p:nvPr>
            <p:ph type="title"/>
          </p:nvPr>
        </p:nvSpPr>
        <p:spPr>
          <a:xfrm>
            <a:off x="1176866" y="4815415"/>
            <a:ext cx="6798734"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65"/>
          <p:cNvSpPr>
            <a:spLocks noGrp="1"/>
          </p:cNvSpPr>
          <p:nvPr>
            <p:ph type="pic" idx="2"/>
          </p:nvPr>
        </p:nvSpPr>
        <p:spPr>
          <a:xfrm>
            <a:off x="1026260" y="1032933"/>
            <a:ext cx="7091482" cy="3361269"/>
          </a:xfrm>
          <a:prstGeom prst="roundRect">
            <a:avLst>
              <a:gd name="adj" fmla="val 0"/>
            </a:avLst>
          </a:prstGeom>
          <a:noFill/>
          <a:ln w="57150" cap="flat" cmpd="thickThin">
            <a:solidFill>
              <a:srgbClr val="7F7F7F"/>
            </a:solidFill>
            <a:prstDash val="solid"/>
            <a:round/>
            <a:headEnd type="none" w="sm" len="sm"/>
            <a:tailEnd type="none" w="sm" len="sm"/>
          </a:ln>
        </p:spPr>
      </p:sp>
      <p:sp>
        <p:nvSpPr>
          <p:cNvPr id="88" name="Google Shape;88;p65"/>
          <p:cNvSpPr txBox="1">
            <a:spLocks noGrp="1"/>
          </p:cNvSpPr>
          <p:nvPr>
            <p:ph type="body" idx="1"/>
          </p:nvPr>
        </p:nvSpPr>
        <p:spPr>
          <a:xfrm>
            <a:off x="1176866" y="5382153"/>
            <a:ext cx="6798734"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9" name="Google Shape;89;p65"/>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5"/>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5"/>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2"/>
        <p:cNvGrpSpPr/>
        <p:nvPr/>
      </p:nvGrpSpPr>
      <p:grpSpPr>
        <a:xfrm>
          <a:off x="0" y="0"/>
          <a:ext cx="0" cy="0"/>
          <a:chOff x="0" y="0"/>
          <a:chExt cx="0" cy="0"/>
        </a:xfrm>
      </p:grpSpPr>
      <p:sp>
        <p:nvSpPr>
          <p:cNvPr id="93" name="Google Shape;93;p66"/>
          <p:cNvSpPr txBox="1">
            <a:spLocks noGrp="1"/>
          </p:cNvSpPr>
          <p:nvPr>
            <p:ph type="title"/>
          </p:nvPr>
        </p:nvSpPr>
        <p:spPr>
          <a:xfrm>
            <a:off x="1176866" y="906873"/>
            <a:ext cx="6798734" cy="309786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66"/>
          <p:cNvSpPr txBox="1">
            <a:spLocks noGrp="1"/>
          </p:cNvSpPr>
          <p:nvPr>
            <p:ph type="body" idx="1"/>
          </p:nvPr>
        </p:nvSpPr>
        <p:spPr>
          <a:xfrm>
            <a:off x="1176865" y="4275666"/>
            <a:ext cx="6798736" cy="1600202"/>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95" name="Google Shape;95;p66"/>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6"/>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66"/>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98" name="Google Shape;98;p66"/>
          <p:cNvCxnSpPr/>
          <p:nvPr/>
        </p:nvCxnSpPr>
        <p:spPr>
          <a:xfrm>
            <a:off x="1278465" y="4140199"/>
            <a:ext cx="6606425"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67"/>
          <p:cNvSpPr txBox="1">
            <a:spLocks noGrp="1"/>
          </p:cNvSpPr>
          <p:nvPr>
            <p:ph type="title"/>
          </p:nvPr>
        </p:nvSpPr>
        <p:spPr>
          <a:xfrm>
            <a:off x="1334333" y="982132"/>
            <a:ext cx="6400250"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7"/>
          <p:cNvSpPr txBox="1">
            <a:spLocks noGrp="1"/>
          </p:cNvSpPr>
          <p:nvPr>
            <p:ph type="body" idx="1"/>
          </p:nvPr>
        </p:nvSpPr>
        <p:spPr>
          <a:xfrm>
            <a:off x="1600200" y="3352799"/>
            <a:ext cx="5892798" cy="651933"/>
          </a:xfrm>
          <a:prstGeom prst="rect">
            <a:avLst/>
          </a:prstGeom>
          <a:noFill/>
          <a:ln>
            <a:noFill/>
          </a:ln>
        </p:spPr>
        <p:txBody>
          <a:bodyPr spcFirstLastPara="1" wrap="square" lIns="91425" tIns="45700" rIns="91425" bIns="45700" anchor="ctr" anchorCtr="0">
            <a:normAutofit/>
          </a:bodyPr>
          <a:lstStyle>
            <a:lvl1pPr marL="457200" lvl="0" indent="-228600" algn="r">
              <a:spcBef>
                <a:spcPts val="360"/>
              </a:spcBef>
              <a:spcAft>
                <a:spcPts val="0"/>
              </a:spcAft>
              <a:buSzPts val="2070"/>
              <a:buFont typeface="Garamond"/>
              <a:buNone/>
              <a:defRPr sz="18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2" name="Google Shape;102;p67"/>
          <p:cNvSpPr txBox="1">
            <a:spLocks noGrp="1"/>
          </p:cNvSpPr>
          <p:nvPr>
            <p:ph type="body" idx="2"/>
          </p:nvPr>
        </p:nvSpPr>
        <p:spPr>
          <a:xfrm>
            <a:off x="1176863" y="4343400"/>
            <a:ext cx="6798738"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3" name="Google Shape;103;p67"/>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67"/>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67"/>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06" name="Google Shape;106;p67"/>
          <p:cNvSpPr txBox="1"/>
          <p:nvPr/>
        </p:nvSpPr>
        <p:spPr>
          <a:xfrm>
            <a:off x="849969" y="905362"/>
            <a:ext cx="457319"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7200">
                <a:solidFill>
                  <a:schemeClr val="dk1"/>
                </a:solidFill>
                <a:latin typeface="Garamond"/>
                <a:ea typeface="Garamond"/>
                <a:cs typeface="Garamond"/>
                <a:sym typeface="Garamond"/>
              </a:rPr>
              <a:t>“</a:t>
            </a:r>
            <a:endParaRPr/>
          </a:p>
        </p:txBody>
      </p:sp>
      <p:sp>
        <p:nvSpPr>
          <p:cNvPr id="107" name="Google Shape;107;p67"/>
          <p:cNvSpPr txBox="1"/>
          <p:nvPr/>
        </p:nvSpPr>
        <p:spPr>
          <a:xfrm>
            <a:off x="7633503" y="2827870"/>
            <a:ext cx="457319"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GB" sz="7200">
                <a:solidFill>
                  <a:schemeClr val="dk1"/>
                </a:solidFill>
                <a:latin typeface="Garamond"/>
                <a:ea typeface="Garamond"/>
                <a:cs typeface="Garamond"/>
                <a:sym typeface="Garamond"/>
              </a:rPr>
              <a:t>”</a:t>
            </a:r>
            <a:endParaRPr/>
          </a:p>
        </p:txBody>
      </p:sp>
      <p:cxnSp>
        <p:nvCxnSpPr>
          <p:cNvPr id="108" name="Google Shape;108;p67"/>
          <p:cNvCxnSpPr/>
          <p:nvPr/>
        </p:nvCxnSpPr>
        <p:spPr>
          <a:xfrm>
            <a:off x="1278466" y="4140199"/>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68"/>
          <p:cNvSpPr txBox="1">
            <a:spLocks noGrp="1"/>
          </p:cNvSpPr>
          <p:nvPr>
            <p:ph type="title"/>
          </p:nvPr>
        </p:nvSpPr>
        <p:spPr>
          <a:xfrm>
            <a:off x="1176869" y="3308581"/>
            <a:ext cx="679872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68"/>
          <p:cNvSpPr txBox="1">
            <a:spLocks noGrp="1"/>
          </p:cNvSpPr>
          <p:nvPr>
            <p:ph type="body" idx="1"/>
          </p:nvPr>
        </p:nvSpPr>
        <p:spPr>
          <a:xfrm>
            <a:off x="1176868" y="4777381"/>
            <a:ext cx="6798730"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2" name="Google Shape;112;p68"/>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68"/>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68"/>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69"/>
          <p:cNvSpPr txBox="1">
            <a:spLocks noGrp="1"/>
          </p:cNvSpPr>
          <p:nvPr>
            <p:ph type="title"/>
          </p:nvPr>
        </p:nvSpPr>
        <p:spPr>
          <a:xfrm>
            <a:off x="1409416" y="982132"/>
            <a:ext cx="632516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69"/>
          <p:cNvSpPr txBox="1">
            <a:spLocks noGrp="1"/>
          </p:cNvSpPr>
          <p:nvPr>
            <p:ph type="body" idx="1"/>
          </p:nvPr>
        </p:nvSpPr>
        <p:spPr>
          <a:xfrm>
            <a:off x="1176868" y="3639312"/>
            <a:ext cx="6798730"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69"/>
          <p:cNvSpPr txBox="1">
            <a:spLocks noGrp="1"/>
          </p:cNvSpPr>
          <p:nvPr>
            <p:ph type="body" idx="2"/>
          </p:nvPr>
        </p:nvSpPr>
        <p:spPr>
          <a:xfrm>
            <a:off x="1176865" y="4529667"/>
            <a:ext cx="6798736"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840"/>
              <a:buNone/>
              <a:defRPr sz="1600">
                <a:solidFill>
                  <a:schemeClr val="dk1"/>
                </a:solidFill>
              </a:defRPr>
            </a:lvl1pPr>
            <a:lvl2pPr marL="914400" lvl="1" indent="-228600" algn="l">
              <a:spcBef>
                <a:spcPts val="600"/>
              </a:spcBef>
              <a:spcAft>
                <a:spcPts val="0"/>
              </a:spcAft>
              <a:buSzPts val="1840"/>
              <a:buNone/>
              <a:defRPr sz="16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9" name="Google Shape;119;p69"/>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69"/>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69"/>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22" name="Google Shape;122;p69"/>
          <p:cNvSpPr txBox="1"/>
          <p:nvPr/>
        </p:nvSpPr>
        <p:spPr>
          <a:xfrm>
            <a:off x="878060" y="896895"/>
            <a:ext cx="457319"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8000">
                <a:solidFill>
                  <a:schemeClr val="dk1"/>
                </a:solidFill>
                <a:latin typeface="Garamond"/>
                <a:ea typeface="Garamond"/>
                <a:cs typeface="Garamond"/>
                <a:sym typeface="Garamond"/>
              </a:rPr>
              <a:t>“</a:t>
            </a:r>
            <a:endParaRPr/>
          </a:p>
        </p:txBody>
      </p:sp>
      <p:sp>
        <p:nvSpPr>
          <p:cNvPr id="123" name="Google Shape;123;p69"/>
          <p:cNvSpPr txBox="1"/>
          <p:nvPr/>
        </p:nvSpPr>
        <p:spPr>
          <a:xfrm>
            <a:off x="7649796" y="2607728"/>
            <a:ext cx="457319"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GB" sz="8000">
                <a:solidFill>
                  <a:schemeClr val="dk1"/>
                </a:solidFill>
                <a:latin typeface="Garamond"/>
                <a:ea typeface="Garamond"/>
                <a:cs typeface="Garamond"/>
                <a:sym typeface="Garamond"/>
              </a:rPr>
              <a:t>”</a:t>
            </a:r>
            <a:endParaRPr/>
          </a:p>
        </p:txBody>
      </p:sp>
      <p:cxnSp>
        <p:nvCxnSpPr>
          <p:cNvPr id="124" name="Google Shape;124;p69"/>
          <p:cNvCxnSpPr/>
          <p:nvPr/>
        </p:nvCxnSpPr>
        <p:spPr>
          <a:xfrm>
            <a:off x="1278466" y="3429000"/>
            <a:ext cx="659553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5"/>
        <p:cNvGrpSpPr/>
        <p:nvPr/>
      </p:nvGrpSpPr>
      <p:grpSpPr>
        <a:xfrm>
          <a:off x="0" y="0"/>
          <a:ext cx="0" cy="0"/>
          <a:chOff x="0" y="0"/>
          <a:chExt cx="0" cy="0"/>
        </a:xfrm>
      </p:grpSpPr>
      <p:sp>
        <p:nvSpPr>
          <p:cNvPr id="126" name="Google Shape;126;p70"/>
          <p:cNvSpPr txBox="1">
            <a:spLocks noGrp="1"/>
          </p:cNvSpPr>
          <p:nvPr>
            <p:ph type="title"/>
          </p:nvPr>
        </p:nvSpPr>
        <p:spPr>
          <a:xfrm>
            <a:off x="1176865" y="982131"/>
            <a:ext cx="6798734" cy="22944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70"/>
          <p:cNvSpPr txBox="1">
            <a:spLocks noGrp="1"/>
          </p:cNvSpPr>
          <p:nvPr>
            <p:ph type="body" idx="1"/>
          </p:nvPr>
        </p:nvSpPr>
        <p:spPr>
          <a:xfrm>
            <a:off x="1176868" y="3566160"/>
            <a:ext cx="6798730" cy="905256"/>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8" name="Google Shape;128;p70"/>
          <p:cNvSpPr txBox="1">
            <a:spLocks noGrp="1"/>
          </p:cNvSpPr>
          <p:nvPr>
            <p:ph type="body" idx="2"/>
          </p:nvPr>
        </p:nvSpPr>
        <p:spPr>
          <a:xfrm>
            <a:off x="1176866" y="4470400"/>
            <a:ext cx="6798734"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SzPts val="1840"/>
              <a:buNone/>
              <a:defRPr sz="1600">
                <a:solidFill>
                  <a:schemeClr val="dk1"/>
                </a:solidFill>
              </a:defRPr>
            </a:lvl1pPr>
            <a:lvl2pPr marL="914400" lvl="1" indent="-228600" algn="l">
              <a:spcBef>
                <a:spcPts val="600"/>
              </a:spcBef>
              <a:spcAft>
                <a:spcPts val="0"/>
              </a:spcAft>
              <a:buSzPts val="1840"/>
              <a:buNone/>
              <a:defRPr sz="16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9" name="Google Shape;129;p70"/>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70"/>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70"/>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132" name="Google Shape;132;p70"/>
          <p:cNvCxnSpPr/>
          <p:nvPr/>
        </p:nvCxnSpPr>
        <p:spPr>
          <a:xfrm>
            <a:off x="1278469" y="3429000"/>
            <a:ext cx="6606421"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3"/>
        <p:cNvGrpSpPr/>
        <p:nvPr/>
      </p:nvGrpSpPr>
      <p:grpSpPr>
        <a:xfrm>
          <a:off x="0" y="0"/>
          <a:ext cx="0" cy="0"/>
          <a:chOff x="0" y="0"/>
          <a:chExt cx="0" cy="0"/>
        </a:xfrm>
      </p:grpSpPr>
      <p:sp>
        <p:nvSpPr>
          <p:cNvPr id="134" name="Google Shape;134;p71"/>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0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71"/>
          <p:cNvSpPr txBox="1">
            <a:spLocks noGrp="1"/>
          </p:cNvSpPr>
          <p:nvPr>
            <p:ph type="body" idx="1"/>
          </p:nvPr>
        </p:nvSpPr>
        <p:spPr>
          <a:xfrm rot="5400000">
            <a:off x="2883366" y="783633"/>
            <a:ext cx="3385733" cy="67987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36" name="Google Shape;136;p71"/>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71"/>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71"/>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139" name="Google Shape;139;p71"/>
          <p:cNvCxnSpPr/>
          <p:nvPr/>
        </p:nvCxnSpPr>
        <p:spPr>
          <a:xfrm>
            <a:off x="1278466" y="2354670"/>
            <a:ext cx="6606424"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72"/>
          <p:cNvSpPr txBox="1">
            <a:spLocks noGrp="1"/>
          </p:cNvSpPr>
          <p:nvPr>
            <p:ph type="title"/>
          </p:nvPr>
        </p:nvSpPr>
        <p:spPr>
          <a:xfrm rot="5400000">
            <a:off x="4681635" y="2581906"/>
            <a:ext cx="4968995" cy="16189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72"/>
          <p:cNvSpPr txBox="1">
            <a:spLocks noGrp="1"/>
          </p:cNvSpPr>
          <p:nvPr>
            <p:ph type="body" idx="1"/>
          </p:nvPr>
        </p:nvSpPr>
        <p:spPr>
          <a:xfrm rot="5400000">
            <a:off x="1150125" y="933615"/>
            <a:ext cx="4968993" cy="4915509"/>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3" name="Google Shape;143;p72"/>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72"/>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72"/>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146" name="Google Shape;146;p72"/>
          <p:cNvCxnSpPr/>
          <p:nvPr/>
        </p:nvCxnSpPr>
        <p:spPr>
          <a:xfrm>
            <a:off x="6245512" y="906873"/>
            <a:ext cx="0" cy="4968993"/>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image" Target="../media/image2.png"/><Relationship Id="rId21" Type="http://schemas.openxmlformats.org/officeDocument/2006/relationships/image" Target="../media/image3.pn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grpSp>
        <p:nvGrpSpPr>
          <p:cNvPr id="6" name="Google Shape;6;p55"/>
          <p:cNvGrpSpPr/>
          <p:nvPr/>
        </p:nvGrpSpPr>
        <p:grpSpPr>
          <a:xfrm>
            <a:off x="0" y="0"/>
            <a:ext cx="9152467" cy="6858000"/>
            <a:chOff x="0" y="0"/>
            <a:chExt cx="9152467" cy="6858000"/>
          </a:xfrm>
        </p:grpSpPr>
        <p:pic>
          <p:nvPicPr>
            <p:cNvPr id="7" name="Google Shape;7;p55" descr="SD-PanelContent.png"/>
            <p:cNvPicPr preferRelativeResize="0"/>
            <p:nvPr/>
          </p:nvPicPr>
          <p:blipFill rotWithShape="1">
            <a:blip r:embed="rId20">
              <a:alphaModFix/>
            </a:blip>
            <a:srcRect/>
            <a:stretch/>
          </p:blipFill>
          <p:spPr>
            <a:xfrm>
              <a:off x="0" y="0"/>
              <a:ext cx="9144000" cy="6858000"/>
            </a:xfrm>
            <a:prstGeom prst="rect">
              <a:avLst/>
            </a:prstGeom>
            <a:noFill/>
            <a:ln>
              <a:noFill/>
            </a:ln>
          </p:spPr>
        </p:pic>
        <p:sp>
          <p:nvSpPr>
            <p:cNvPr id="8" name="Google Shape;8;p55"/>
            <p:cNvSpPr/>
            <p:nvPr/>
          </p:nvSpPr>
          <p:spPr>
            <a:xfrm>
              <a:off x="553888" y="542807"/>
              <a:ext cx="8039776" cy="5756392"/>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55" descr="HDRibbonContent-UniformTrim.png"/>
            <p:cNvPicPr preferRelativeResize="0"/>
            <p:nvPr/>
          </p:nvPicPr>
          <p:blipFill rotWithShape="1">
            <a:blip r:embed="rId21">
              <a:alphaModFix/>
            </a:blip>
            <a:srcRect l="1" r="14240"/>
            <a:stretch/>
          </p:blipFill>
          <p:spPr>
            <a:xfrm>
              <a:off x="0" y="3128434"/>
              <a:ext cx="685800" cy="606425"/>
            </a:xfrm>
            <a:prstGeom prst="rect">
              <a:avLst/>
            </a:prstGeom>
            <a:noFill/>
            <a:ln>
              <a:noFill/>
            </a:ln>
          </p:spPr>
        </p:pic>
        <p:pic>
          <p:nvPicPr>
            <p:cNvPr id="10" name="Google Shape;10;p55" descr="HDRibbonContent-UniformTrim.png"/>
            <p:cNvPicPr preferRelativeResize="0"/>
            <p:nvPr/>
          </p:nvPicPr>
          <p:blipFill rotWithShape="1">
            <a:blip r:embed="rId21">
              <a:alphaModFix/>
            </a:blip>
            <a:srcRect l="1" r="14240"/>
            <a:stretch/>
          </p:blipFill>
          <p:spPr>
            <a:xfrm>
              <a:off x="8466667" y="3128434"/>
              <a:ext cx="685800" cy="606425"/>
            </a:xfrm>
            <a:prstGeom prst="rect">
              <a:avLst/>
            </a:prstGeom>
            <a:noFill/>
            <a:ln>
              <a:noFill/>
            </a:ln>
          </p:spPr>
        </p:pic>
      </p:grpSp>
      <p:sp>
        <p:nvSpPr>
          <p:cNvPr id="11" name="Google Shape;11;p55"/>
          <p:cNvSpPr txBox="1">
            <a:spLocks noGrp="1"/>
          </p:cNvSpPr>
          <p:nvPr>
            <p:ph type="title"/>
          </p:nvPr>
        </p:nvSpPr>
        <p:spPr>
          <a:xfrm>
            <a:off x="1176866" y="915337"/>
            <a:ext cx="6798734"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000"/>
              <a:buFont typeface="Garamond"/>
              <a:buNone/>
              <a:defRPr sz="40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2" name="Google Shape;12;p55"/>
          <p:cNvSpPr txBox="1">
            <a:spLocks noGrp="1"/>
          </p:cNvSpPr>
          <p:nvPr>
            <p:ph type="body" idx="1"/>
          </p:nvPr>
        </p:nvSpPr>
        <p:spPr>
          <a:xfrm>
            <a:off x="1176865" y="2490135"/>
            <a:ext cx="6798736" cy="3444997"/>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4"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39"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4"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4"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3" name="Google Shape;13;p55"/>
          <p:cNvSpPr txBox="1">
            <a:spLocks noGrp="1"/>
          </p:cNvSpPr>
          <p:nvPr>
            <p:ph type="dt" idx="10"/>
          </p:nvPr>
        </p:nvSpPr>
        <p:spPr>
          <a:xfrm>
            <a:off x="6356670" y="5960533"/>
            <a:ext cx="1148283"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4" name="Google Shape;14;p55"/>
          <p:cNvSpPr txBox="1">
            <a:spLocks noGrp="1"/>
          </p:cNvSpPr>
          <p:nvPr>
            <p:ph type="ftr" idx="11"/>
          </p:nvPr>
        </p:nvSpPr>
        <p:spPr>
          <a:xfrm>
            <a:off x="1176865" y="5960533"/>
            <a:ext cx="5104667"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5" name="Google Shape;15;p55"/>
          <p:cNvSpPr txBox="1">
            <a:spLocks noGrp="1"/>
          </p:cNvSpPr>
          <p:nvPr>
            <p:ph type="sldNum" idx="12"/>
          </p:nvPr>
        </p:nvSpPr>
        <p:spPr>
          <a:xfrm>
            <a:off x="7580091" y="5960533"/>
            <a:ext cx="395510" cy="279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Garamond"/>
                <a:ea typeface="Garamond"/>
                <a:cs typeface="Garamond"/>
                <a:sym typeface="Garamond"/>
              </a:defRPr>
            </a:lvl1pPr>
            <a:lvl2pPr marL="0" marR="0" lvl="1" indent="0" algn="r" rtl="0">
              <a:spcBef>
                <a:spcPts val="0"/>
              </a:spcBef>
              <a:buNone/>
              <a:defRPr sz="1000" b="0" i="0" u="none" strike="noStrike" cap="none">
                <a:solidFill>
                  <a:schemeClr val="dk1"/>
                </a:solidFill>
                <a:latin typeface="Garamond"/>
                <a:ea typeface="Garamond"/>
                <a:cs typeface="Garamond"/>
                <a:sym typeface="Garamond"/>
              </a:defRPr>
            </a:lvl2pPr>
            <a:lvl3pPr marL="0" marR="0" lvl="2" indent="0" algn="r" rtl="0">
              <a:spcBef>
                <a:spcPts val="0"/>
              </a:spcBef>
              <a:buNone/>
              <a:defRPr sz="1000" b="0" i="0" u="none" strike="noStrike" cap="none">
                <a:solidFill>
                  <a:schemeClr val="dk1"/>
                </a:solidFill>
                <a:latin typeface="Garamond"/>
                <a:ea typeface="Garamond"/>
                <a:cs typeface="Garamond"/>
                <a:sym typeface="Garamond"/>
              </a:defRPr>
            </a:lvl3pPr>
            <a:lvl4pPr marL="0" marR="0" lvl="3" indent="0" algn="r" rtl="0">
              <a:spcBef>
                <a:spcPts val="0"/>
              </a:spcBef>
              <a:buNone/>
              <a:defRPr sz="1000" b="0" i="0" u="none" strike="noStrike" cap="none">
                <a:solidFill>
                  <a:schemeClr val="dk1"/>
                </a:solidFill>
                <a:latin typeface="Garamond"/>
                <a:ea typeface="Garamond"/>
                <a:cs typeface="Garamond"/>
                <a:sym typeface="Garamond"/>
              </a:defRPr>
            </a:lvl4pPr>
            <a:lvl5pPr marL="0" marR="0" lvl="4" indent="0" algn="r" rtl="0">
              <a:spcBef>
                <a:spcPts val="0"/>
              </a:spcBef>
              <a:buNone/>
              <a:defRPr sz="1000" b="0" i="0" u="none" strike="noStrike" cap="none">
                <a:solidFill>
                  <a:schemeClr val="dk1"/>
                </a:solidFill>
                <a:latin typeface="Garamond"/>
                <a:ea typeface="Garamond"/>
                <a:cs typeface="Garamond"/>
                <a:sym typeface="Garamond"/>
              </a:defRPr>
            </a:lvl5pPr>
            <a:lvl6pPr marL="0" marR="0" lvl="5" indent="0" algn="r" rtl="0">
              <a:spcBef>
                <a:spcPts val="0"/>
              </a:spcBef>
              <a:buNone/>
              <a:defRPr sz="1000" b="0" i="0" u="none" strike="noStrike" cap="none">
                <a:solidFill>
                  <a:schemeClr val="dk1"/>
                </a:solidFill>
                <a:latin typeface="Garamond"/>
                <a:ea typeface="Garamond"/>
                <a:cs typeface="Garamond"/>
                <a:sym typeface="Garamond"/>
              </a:defRPr>
            </a:lvl6pPr>
            <a:lvl7pPr marL="0" marR="0" lvl="6" indent="0" algn="r" rtl="0">
              <a:spcBef>
                <a:spcPts val="0"/>
              </a:spcBef>
              <a:buNone/>
              <a:defRPr sz="1000" b="0" i="0" u="none" strike="noStrike" cap="none">
                <a:solidFill>
                  <a:schemeClr val="dk1"/>
                </a:solidFill>
                <a:latin typeface="Garamond"/>
                <a:ea typeface="Garamond"/>
                <a:cs typeface="Garamond"/>
                <a:sym typeface="Garamond"/>
              </a:defRPr>
            </a:lvl7pPr>
            <a:lvl8pPr marL="0" marR="0" lvl="7" indent="0" algn="r" rtl="0">
              <a:spcBef>
                <a:spcPts val="0"/>
              </a:spcBef>
              <a:buNone/>
              <a:defRPr sz="1000" b="0" i="0" u="none" strike="noStrike" cap="none">
                <a:solidFill>
                  <a:schemeClr val="dk1"/>
                </a:solidFill>
                <a:latin typeface="Garamond"/>
                <a:ea typeface="Garamond"/>
                <a:cs typeface="Garamond"/>
                <a:sym typeface="Garamond"/>
              </a:defRPr>
            </a:lvl8pPr>
            <a:lvl9pPr marL="0" marR="0" lvl="8" indent="0" algn="r" rtl="0">
              <a:spcBef>
                <a:spcPts val="0"/>
              </a:spcBef>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
          <p:cNvSpPr txBox="1">
            <a:spLocks noGrp="1"/>
          </p:cNvSpPr>
          <p:nvPr>
            <p:ph type="ctrTitle"/>
          </p:nvPr>
        </p:nvSpPr>
        <p:spPr>
          <a:xfrm>
            <a:off x="1921934" y="1811863"/>
            <a:ext cx="5308866" cy="151553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rgbClr val="262626"/>
              </a:buClr>
              <a:buSzPts val="4800"/>
              <a:buFont typeface="Garamond"/>
              <a:buNone/>
            </a:pPr>
            <a:r>
              <a:rPr lang="en-GB"/>
              <a:t>Protein and Amino acid Metabolism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
          <p:cNvSpPr txBox="1">
            <a:spLocks noGrp="1"/>
          </p:cNvSpPr>
          <p:nvPr>
            <p:ph type="title"/>
          </p:nvPr>
        </p:nvSpPr>
        <p:spPr>
          <a:xfrm>
            <a:off x="457200" y="274638"/>
            <a:ext cx="8229600" cy="43971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Biological importance</a:t>
            </a:r>
            <a:endParaRPr/>
          </a:p>
        </p:txBody>
      </p:sp>
      <p:sp>
        <p:nvSpPr>
          <p:cNvPr id="157" name="Google Shape;157;p2"/>
          <p:cNvSpPr txBox="1">
            <a:spLocks noGrp="1"/>
          </p:cNvSpPr>
          <p:nvPr>
            <p:ph type="body" idx="1"/>
          </p:nvPr>
        </p:nvSpPr>
        <p:spPr>
          <a:xfrm>
            <a:off x="142844" y="857232"/>
            <a:ext cx="8786874" cy="5572164"/>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Body proteins have life times. They undergo degradation and re-synthesis. about 6 gm of protein is synthesized and broken down per kg body weight per day.</a:t>
            </a:r>
            <a:endParaRPr/>
          </a:p>
          <a:p>
            <a:pPr marL="285750" lvl="0" indent="-285750" algn="just" rtl="0">
              <a:spcBef>
                <a:spcPts val="1080"/>
              </a:spcBef>
              <a:spcAft>
                <a:spcPts val="0"/>
              </a:spcAft>
              <a:buSzPts val="2760"/>
              <a:buChar char="•"/>
            </a:pPr>
            <a:r>
              <a:rPr lang="en-GB"/>
              <a:t>Aged proteins, damaged or modified proteins and non-functional proteins of the body undergo degradation(i.e enzyme control)-quality control mechanism.</a:t>
            </a:r>
            <a:endParaRPr/>
          </a:p>
          <a:p>
            <a:pPr marL="285750" lvl="0" indent="-285750" algn="l" rtl="0">
              <a:spcBef>
                <a:spcPts val="1080"/>
              </a:spcBef>
              <a:spcAft>
                <a:spcPts val="0"/>
              </a:spcAft>
              <a:buSzPts val="2760"/>
              <a:buChar char="•"/>
            </a:pPr>
            <a:r>
              <a:rPr lang="en-GB"/>
              <a:t>Protein degradation play an important role in shaping tissues and organs during pregnancy and development.</a:t>
            </a:r>
            <a:endParaRPr/>
          </a:p>
          <a:p>
            <a:pPr marL="285750" lvl="0" indent="-285750" algn="l" rtl="0">
              <a:spcBef>
                <a:spcPts val="1080"/>
              </a:spcBef>
              <a:spcAft>
                <a:spcPts val="0"/>
              </a:spcAft>
              <a:buSzPts val="2760"/>
              <a:buChar char="•"/>
            </a:pPr>
            <a:r>
              <a:rPr lang="en-GB"/>
              <a:t>Protein synthesis and degradation is an integral part of cellular adaptation to changed environment.</a:t>
            </a:r>
            <a:endParaRPr/>
          </a:p>
          <a:p>
            <a:pPr marL="285750" lvl="0" indent="-285750" algn="l" rtl="0">
              <a:spcBef>
                <a:spcPts val="1080"/>
              </a:spcBef>
              <a:spcAft>
                <a:spcPts val="0"/>
              </a:spcAft>
              <a:buSzPts val="2760"/>
              <a:buChar char="•"/>
            </a:pPr>
            <a:r>
              <a:rPr lang="en-GB"/>
              <a:t>Amino acids are needed for the formation of specialized products like: </a:t>
            </a:r>
            <a:r>
              <a:rPr lang="en-GB" b="1"/>
              <a:t>hormones</a:t>
            </a:r>
            <a:r>
              <a:rPr lang="en-GB"/>
              <a:t>, </a:t>
            </a:r>
            <a:r>
              <a:rPr lang="en-GB" b="1"/>
              <a:t>purines</a:t>
            </a:r>
            <a:r>
              <a:rPr lang="en-GB"/>
              <a:t>, </a:t>
            </a:r>
            <a:r>
              <a:rPr lang="en-GB" b="1"/>
              <a:t>pyrimidines</a:t>
            </a:r>
            <a:r>
              <a:rPr lang="en-GB"/>
              <a:t>, </a:t>
            </a:r>
            <a:r>
              <a:rPr lang="en-GB" b="1"/>
              <a:t>porphyrins</a:t>
            </a:r>
            <a:r>
              <a:rPr lang="en-GB"/>
              <a:t>, </a:t>
            </a:r>
            <a:r>
              <a:rPr lang="en-GB" b="1"/>
              <a:t>vitamins</a:t>
            </a:r>
            <a:r>
              <a:rPr lang="en-GB"/>
              <a:t>, </a:t>
            </a:r>
            <a:r>
              <a:rPr lang="en-GB" b="1"/>
              <a:t>amines</a:t>
            </a:r>
            <a:r>
              <a:rPr lang="en-GB"/>
              <a:t>, </a:t>
            </a:r>
            <a:r>
              <a:rPr lang="en-GB" b="1"/>
              <a:t>creatine</a:t>
            </a:r>
            <a:r>
              <a:rPr lang="en-GB"/>
              <a:t> and </a:t>
            </a:r>
            <a:r>
              <a:rPr lang="en-GB" b="1"/>
              <a:t>glutathione</a:t>
            </a:r>
            <a:r>
              <a:rPr lang="en-GB"/>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
          <p:cNvSpPr txBox="1"/>
          <p:nvPr/>
        </p:nvSpPr>
        <p:spPr>
          <a:xfrm>
            <a:off x="500034" y="500042"/>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Garamond"/>
              <a:ea typeface="Garamond"/>
              <a:cs typeface="Garamond"/>
              <a:sym typeface="Garamond"/>
            </a:endParaRPr>
          </a:p>
        </p:txBody>
      </p:sp>
      <p:sp>
        <p:nvSpPr>
          <p:cNvPr id="163" name="Google Shape;163;p3"/>
          <p:cNvSpPr txBox="1">
            <a:spLocks noGrp="1"/>
          </p:cNvSpPr>
          <p:nvPr>
            <p:ph type="body" idx="1"/>
          </p:nvPr>
        </p:nvSpPr>
        <p:spPr>
          <a:xfrm>
            <a:off x="285720" y="947742"/>
            <a:ext cx="8715436" cy="4981588"/>
          </a:xfrm>
          <a:prstGeom prst="rect">
            <a:avLst/>
          </a:prstGeom>
          <a:noFill/>
          <a:ln>
            <a:noFill/>
          </a:ln>
        </p:spPr>
        <p:txBody>
          <a:bodyPr spcFirstLastPara="1" wrap="square" lIns="91425" tIns="45700" rIns="91425" bIns="45700" anchor="t" anchorCtr="0">
            <a:normAutofit lnSpcReduction="10000"/>
          </a:bodyPr>
          <a:lstStyle/>
          <a:p>
            <a:pPr marL="285750" lvl="0" indent="-285750" algn="just" rtl="0">
              <a:spcBef>
                <a:spcPts val="0"/>
              </a:spcBef>
              <a:spcAft>
                <a:spcPts val="0"/>
              </a:spcAft>
              <a:buSzPts val="2760"/>
              <a:buChar char="•"/>
            </a:pPr>
            <a:r>
              <a:rPr lang="en-GB" sz="2400"/>
              <a:t> </a:t>
            </a:r>
            <a:r>
              <a:rPr lang="en-GB" sz="2800"/>
              <a:t>Like intermediates of metabolic pathways body proteins are in dynamic state.  </a:t>
            </a:r>
            <a:endParaRPr sz="2800"/>
          </a:p>
          <a:p>
            <a:pPr marL="285750" lvl="0" indent="-285750" algn="just" rtl="0">
              <a:spcBef>
                <a:spcPts val="1160"/>
              </a:spcBef>
              <a:spcAft>
                <a:spcPts val="0"/>
              </a:spcAft>
              <a:buSzPts val="3220"/>
              <a:buChar char="•"/>
            </a:pPr>
            <a:r>
              <a:rPr lang="en-GB" sz="2800"/>
              <a:t>Continuous synthesis and degradation of protein is known as </a:t>
            </a:r>
            <a:r>
              <a:rPr lang="en-GB" sz="2800" b="1"/>
              <a:t>protein turnover</a:t>
            </a:r>
            <a:r>
              <a:rPr lang="en-GB" sz="2800"/>
              <a:t>.</a:t>
            </a:r>
            <a:endParaRPr sz="2800"/>
          </a:p>
          <a:p>
            <a:pPr marL="285750" lvl="0" indent="-285750" algn="just" rtl="0">
              <a:spcBef>
                <a:spcPts val="1160"/>
              </a:spcBef>
              <a:spcAft>
                <a:spcPts val="0"/>
              </a:spcAft>
              <a:buSzPts val="3220"/>
              <a:buNone/>
            </a:pPr>
            <a:r>
              <a:rPr lang="en-GB" sz="2800" b="1"/>
              <a:t>Note</a:t>
            </a:r>
            <a:r>
              <a:rPr lang="en-GB" sz="2800"/>
              <a:t>: The rates of protein synthesis and degradation vary according to physiological needs.</a:t>
            </a:r>
            <a:endParaRPr/>
          </a:p>
          <a:p>
            <a:pPr marL="285750" lvl="0" indent="-285750" algn="just" rtl="0">
              <a:spcBef>
                <a:spcPts val="1160"/>
              </a:spcBef>
              <a:spcAft>
                <a:spcPts val="0"/>
              </a:spcAft>
              <a:buSzPts val="3220"/>
              <a:buChar char="•"/>
            </a:pPr>
            <a:r>
              <a:rPr lang="en-GB" sz="2800"/>
              <a:t>The rate of protein synthesis: high during growth, lactation and post operative recovery.</a:t>
            </a:r>
            <a:endParaRPr/>
          </a:p>
          <a:p>
            <a:pPr marL="285750" lvl="0" indent="-285750" algn="just" rtl="0">
              <a:spcBef>
                <a:spcPts val="1160"/>
              </a:spcBef>
              <a:spcAft>
                <a:spcPts val="0"/>
              </a:spcAft>
              <a:buSzPts val="3220"/>
              <a:buChar char="•"/>
            </a:pPr>
            <a:r>
              <a:rPr lang="en-GB" sz="2800"/>
              <a:t>The rate of protein degradation: high In starvation, cancer, fever and during morphogenesis.</a:t>
            </a:r>
            <a:endParaRPr sz="2400"/>
          </a:p>
          <a:p>
            <a:pPr marL="285750" lvl="0" indent="-110490" algn="l" rtl="0">
              <a:spcBef>
                <a:spcPts val="1080"/>
              </a:spcBef>
              <a:spcAft>
                <a:spcPts val="0"/>
              </a:spcAft>
              <a:buSzPts val="2760"/>
              <a:buNone/>
            </a:pPr>
            <a:endParaRPr sz="2400"/>
          </a:p>
          <a:p>
            <a:pPr marL="285750" lvl="0" indent="-110490" algn="l" rtl="0">
              <a:spcBef>
                <a:spcPts val="1080"/>
              </a:spcBef>
              <a:spcAft>
                <a:spcPts val="0"/>
              </a:spcAft>
              <a:buSzPts val="2760"/>
              <a:buNone/>
            </a:pPr>
            <a:endParaRPr sz="2400"/>
          </a:p>
          <a:p>
            <a:pPr marL="285750" lvl="0" indent="-110490" algn="l" rtl="0">
              <a:spcBef>
                <a:spcPts val="1080"/>
              </a:spcBef>
              <a:spcAft>
                <a:spcPts val="0"/>
              </a:spcAft>
              <a:buSzPts val="2760"/>
              <a:buNone/>
            </a:pPr>
            <a:endParaRPr sz="2400"/>
          </a:p>
        </p:txBody>
      </p:sp>
      <p:sp>
        <p:nvSpPr>
          <p:cNvPr id="164" name="Google Shape;164;p3"/>
          <p:cNvSpPr txBox="1"/>
          <p:nvPr/>
        </p:nvSpPr>
        <p:spPr>
          <a:xfrm>
            <a:off x="2801423" y="272457"/>
            <a:ext cx="319933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Garamond"/>
                <a:ea typeface="Garamond"/>
                <a:cs typeface="Garamond"/>
                <a:sym typeface="Garamond"/>
              </a:rPr>
              <a:t>Protein turn over</a:t>
            </a:r>
            <a:endParaRPr sz="3200">
              <a:solidFill>
                <a:schemeClr val="dk1"/>
              </a:solidFill>
              <a:latin typeface="Garamond"/>
              <a:ea typeface="Garamond"/>
              <a:cs typeface="Garamond"/>
              <a:sym typeface="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
          <p:cNvSpPr txBox="1">
            <a:spLocks noGrp="1"/>
          </p:cNvSpPr>
          <p:nvPr>
            <p:ph type="title"/>
          </p:nvPr>
        </p:nvSpPr>
        <p:spPr>
          <a:xfrm>
            <a:off x="457200" y="142852"/>
            <a:ext cx="8229600" cy="511156"/>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Protein half life</a:t>
            </a:r>
            <a:endParaRPr/>
          </a:p>
        </p:txBody>
      </p:sp>
      <p:sp>
        <p:nvSpPr>
          <p:cNvPr id="170" name="Google Shape;170;p4"/>
          <p:cNvSpPr txBox="1">
            <a:spLocks noGrp="1"/>
          </p:cNvSpPr>
          <p:nvPr>
            <p:ph type="body" idx="1"/>
          </p:nvPr>
        </p:nvSpPr>
        <p:spPr>
          <a:xfrm>
            <a:off x="71406" y="857232"/>
            <a:ext cx="8929718" cy="2143140"/>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Body proteins have life times which are expressed in terms of half-life.</a:t>
            </a:r>
            <a:endParaRPr/>
          </a:p>
          <a:p>
            <a:pPr marL="285750" lvl="0" indent="-285750" algn="just" rtl="0">
              <a:spcBef>
                <a:spcPts val="1080"/>
              </a:spcBef>
              <a:spcAft>
                <a:spcPts val="0"/>
              </a:spcAft>
              <a:buSzPts val="2760"/>
              <a:buChar char="•"/>
            </a:pPr>
            <a:r>
              <a:rPr lang="en-GB"/>
              <a:t>Half life of proteins ranges from minutes to years and may be increased or decreased depending on call needs.</a:t>
            </a:r>
            <a:endParaRPr/>
          </a:p>
          <a:p>
            <a:pPr marL="285750" lvl="0" indent="-110490" algn="l" rtl="0">
              <a:spcBef>
                <a:spcPts val="1080"/>
              </a:spcBef>
              <a:spcAft>
                <a:spcPts val="0"/>
              </a:spcAft>
              <a:buSzPts val="2760"/>
              <a:buNone/>
            </a:pPr>
            <a:endParaRPr/>
          </a:p>
        </p:txBody>
      </p:sp>
      <p:pic>
        <p:nvPicPr>
          <p:cNvPr id="171" name="Google Shape;171;p4"/>
          <p:cNvPicPr preferRelativeResize="0"/>
          <p:nvPr/>
        </p:nvPicPr>
        <p:blipFill rotWithShape="1">
          <a:blip r:embed="rId3">
            <a:alphaModFix/>
          </a:blip>
          <a:srcRect/>
          <a:stretch/>
        </p:blipFill>
        <p:spPr>
          <a:xfrm>
            <a:off x="1043608" y="2924944"/>
            <a:ext cx="6786610" cy="35004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457200" y="60325"/>
            <a:ext cx="8124600" cy="725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GB"/>
              <a:t>Signals for protein breakdown</a:t>
            </a:r>
            <a:endParaRPr/>
          </a:p>
        </p:txBody>
      </p:sp>
      <p:sp>
        <p:nvSpPr>
          <p:cNvPr id="177" name="Google Shape;177;p5"/>
          <p:cNvSpPr txBox="1">
            <a:spLocks noGrp="1"/>
          </p:cNvSpPr>
          <p:nvPr>
            <p:ph type="body" idx="1"/>
          </p:nvPr>
        </p:nvSpPr>
        <p:spPr>
          <a:xfrm>
            <a:off x="638725" y="642925"/>
            <a:ext cx="7943100" cy="5609100"/>
          </a:xfrm>
          <a:prstGeom prst="rect">
            <a:avLst/>
          </a:prstGeom>
          <a:noFill/>
          <a:ln>
            <a:noFill/>
          </a:ln>
        </p:spPr>
        <p:txBody>
          <a:bodyPr spcFirstLastPara="1" wrap="square" lIns="91425" tIns="45700" rIns="91425" bIns="45700" anchor="t" anchorCtr="0">
            <a:noAutofit/>
          </a:bodyPr>
          <a:lstStyle/>
          <a:p>
            <a:pPr marL="285750" lvl="0" indent="-285750" algn="just" rtl="0">
              <a:spcBef>
                <a:spcPts val="0"/>
              </a:spcBef>
              <a:spcAft>
                <a:spcPts val="0"/>
              </a:spcAft>
              <a:buSzPts val="2300"/>
              <a:buFont typeface="Noto Sans Symbols"/>
              <a:buChar char="❖"/>
            </a:pPr>
            <a:r>
              <a:rPr lang="en-GB" sz="2000"/>
              <a:t>It is not clear what triggers or initiates protein degradation. </a:t>
            </a:r>
            <a:endParaRPr/>
          </a:p>
          <a:p>
            <a:pPr marL="285750" lvl="0" indent="-285750" algn="just" rtl="0">
              <a:spcBef>
                <a:spcPts val="1000"/>
              </a:spcBef>
              <a:spcAft>
                <a:spcPts val="0"/>
              </a:spcAft>
              <a:buSzPts val="2300"/>
              <a:buFont typeface="Noto Sans Symbols"/>
              <a:buChar char="❖"/>
            </a:pPr>
            <a:r>
              <a:rPr lang="en-GB" sz="2000"/>
              <a:t>However, some </a:t>
            </a:r>
            <a:r>
              <a:rPr lang="en-GB" sz="2000" b="1"/>
              <a:t>structural features</a:t>
            </a:r>
            <a:r>
              <a:rPr lang="en-GB" sz="2000"/>
              <a:t> of proteins which serve as signals for their degradation have been identified.</a:t>
            </a:r>
            <a:endParaRPr/>
          </a:p>
          <a:p>
            <a:pPr marL="514350" lvl="0" indent="-514350" algn="just" rtl="0">
              <a:spcBef>
                <a:spcPts val="1000"/>
              </a:spcBef>
              <a:spcAft>
                <a:spcPts val="0"/>
              </a:spcAft>
              <a:buSzPts val="2300"/>
              <a:buFont typeface="Garamond"/>
              <a:buAutoNum type="arabicPeriod"/>
            </a:pPr>
            <a:r>
              <a:rPr lang="en-GB" sz="2000" b="1"/>
              <a:t> Ubiquitinization</a:t>
            </a:r>
            <a:endParaRPr sz="2000" b="1"/>
          </a:p>
          <a:p>
            <a:pPr marL="285750" lvl="0" indent="-285750" algn="just" rtl="0">
              <a:spcBef>
                <a:spcPts val="1000"/>
              </a:spcBef>
              <a:spcAft>
                <a:spcPts val="0"/>
              </a:spcAft>
              <a:buSzPts val="2300"/>
              <a:buChar char="•"/>
            </a:pPr>
            <a:r>
              <a:rPr lang="en-GB" sz="2000"/>
              <a:t>Ubiquitin is a small protein present in eukaryotes. </a:t>
            </a:r>
            <a:endParaRPr/>
          </a:p>
          <a:p>
            <a:pPr marL="285750" lvl="0" indent="-285750" algn="just" rtl="0">
              <a:spcBef>
                <a:spcPts val="1000"/>
              </a:spcBef>
              <a:spcAft>
                <a:spcPts val="0"/>
              </a:spcAft>
              <a:buSzPts val="2300"/>
              <a:buChar char="•"/>
            </a:pPr>
            <a:r>
              <a:rPr lang="en-GB" sz="2000"/>
              <a:t>Ubiquitin attachment to a protein serve as signal for degradation of that protein.</a:t>
            </a:r>
            <a:endParaRPr/>
          </a:p>
          <a:p>
            <a:pPr marL="514350" lvl="0" indent="-514350" algn="just" rtl="0">
              <a:spcBef>
                <a:spcPts val="1000"/>
              </a:spcBef>
              <a:spcAft>
                <a:spcPts val="0"/>
              </a:spcAft>
              <a:buSzPts val="2300"/>
              <a:buFont typeface="Garamond"/>
              <a:buAutoNum type="arabicPeriod" startAt="2"/>
            </a:pPr>
            <a:r>
              <a:rPr lang="en-GB" sz="2000"/>
              <a:t> </a:t>
            </a:r>
            <a:r>
              <a:rPr lang="en-GB" sz="2000" b="1"/>
              <a:t>PEST sequences</a:t>
            </a:r>
            <a:endParaRPr/>
          </a:p>
          <a:p>
            <a:pPr marL="285750" lvl="0" indent="-285750" algn="just" rtl="0">
              <a:spcBef>
                <a:spcPts val="1000"/>
              </a:spcBef>
              <a:spcAft>
                <a:spcPts val="0"/>
              </a:spcAft>
              <a:buSzPts val="2300"/>
              <a:buChar char="•"/>
            </a:pPr>
            <a:r>
              <a:rPr lang="en-GB" sz="2000"/>
              <a:t>PEST sequence </a:t>
            </a:r>
            <a:r>
              <a:rPr lang="en-GB" sz="2000" b="1"/>
              <a:t>proline (P), glutamate (E), serine (S) </a:t>
            </a:r>
            <a:r>
              <a:rPr lang="en-GB" sz="2000"/>
              <a:t>and </a:t>
            </a:r>
            <a:r>
              <a:rPr lang="en-GB" sz="2000" b="1"/>
              <a:t>threonine (T) </a:t>
            </a:r>
            <a:r>
              <a:rPr lang="en-GB" sz="2000"/>
              <a:t>rich region of a protein serves as mark for the degradation of the protein.</a:t>
            </a:r>
            <a:endParaRPr/>
          </a:p>
          <a:p>
            <a:pPr marL="514350" lvl="0" indent="-514350" algn="just" rtl="0">
              <a:spcBef>
                <a:spcPts val="1000"/>
              </a:spcBef>
              <a:spcAft>
                <a:spcPts val="0"/>
              </a:spcAft>
              <a:buSzPts val="2300"/>
              <a:buFont typeface="Garamond"/>
              <a:buAutoNum type="arabicPeriod" startAt="3"/>
            </a:pPr>
            <a:r>
              <a:rPr lang="en-GB" sz="2000" b="1"/>
              <a:t> N-terminal amino acids</a:t>
            </a:r>
            <a:endParaRPr/>
          </a:p>
          <a:p>
            <a:pPr marL="285750" lvl="0" indent="-285750" algn="just" rtl="0">
              <a:spcBef>
                <a:spcPts val="1000"/>
              </a:spcBef>
              <a:spcAft>
                <a:spcPts val="0"/>
              </a:spcAft>
              <a:buSzPts val="2300"/>
              <a:buChar char="•"/>
            </a:pPr>
            <a:r>
              <a:rPr lang="en-GB" sz="2000"/>
              <a:t>Presence of amino acids like </a:t>
            </a:r>
            <a:r>
              <a:rPr lang="en-GB" sz="2000" b="1"/>
              <a:t>arginine</a:t>
            </a:r>
            <a:r>
              <a:rPr lang="en-GB" sz="2000"/>
              <a:t> or</a:t>
            </a:r>
            <a:r>
              <a:rPr lang="en-GB" sz="2000" b="1"/>
              <a:t> lysine</a:t>
            </a:r>
            <a:r>
              <a:rPr lang="en-GB" sz="2000"/>
              <a:t>, </a:t>
            </a:r>
            <a:r>
              <a:rPr lang="en-GB" sz="2000" b="1"/>
              <a:t>phenyl alanine </a:t>
            </a:r>
            <a:r>
              <a:rPr lang="en-GB" sz="2000"/>
              <a:t>and </a:t>
            </a:r>
            <a:r>
              <a:rPr lang="en-GB" sz="2000" b="1"/>
              <a:t>aspartate </a:t>
            </a:r>
            <a:r>
              <a:rPr lang="en-GB" sz="2000"/>
              <a:t>at amino terminal serve as signal for degradation of the protein.</a:t>
            </a:r>
            <a:endParaRPr/>
          </a:p>
          <a:p>
            <a:pPr marL="514350" lvl="0" indent="-514350" algn="just" rtl="0">
              <a:spcBef>
                <a:spcPts val="1000"/>
              </a:spcBef>
              <a:spcAft>
                <a:spcPts val="0"/>
              </a:spcAft>
              <a:buSzPts val="2300"/>
              <a:buFont typeface="Garamond"/>
              <a:buAutoNum type="arabicPeriod" startAt="4"/>
            </a:pPr>
            <a:r>
              <a:rPr lang="en-GB" sz="2000" b="1"/>
              <a:t>Oxidized amino acids</a:t>
            </a:r>
            <a:endParaRPr/>
          </a:p>
          <a:p>
            <a:pPr marL="285750" lvl="0" indent="-285750" algn="just" rtl="0">
              <a:spcBef>
                <a:spcPts val="1000"/>
              </a:spcBef>
              <a:spcAft>
                <a:spcPts val="0"/>
              </a:spcAft>
              <a:buSzPts val="2300"/>
              <a:buChar char="•"/>
            </a:pPr>
            <a:r>
              <a:rPr lang="en-GB" sz="2000"/>
              <a:t>If a protein contains an oxidized amino acid then it undergoes degradation because oxidized amino acid is recognized by protein degrading enzymes.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7"/>
          <p:cNvSpPr txBox="1">
            <a:spLocks noGrp="1"/>
          </p:cNvSpPr>
          <p:nvPr>
            <p:ph type="title"/>
          </p:nvPr>
        </p:nvSpPr>
        <p:spPr>
          <a:xfrm>
            <a:off x="457200" y="663269"/>
            <a:ext cx="8109600" cy="552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Enzymes of protein degradation</a:t>
            </a:r>
            <a:endParaRPr/>
          </a:p>
        </p:txBody>
      </p:sp>
      <p:sp>
        <p:nvSpPr>
          <p:cNvPr id="183" name="Google Shape;183;p7"/>
          <p:cNvSpPr txBox="1">
            <a:spLocks noGrp="1"/>
          </p:cNvSpPr>
          <p:nvPr>
            <p:ph type="body" idx="1"/>
          </p:nvPr>
        </p:nvSpPr>
        <p:spPr>
          <a:xfrm>
            <a:off x="577300" y="1318376"/>
            <a:ext cx="8109600" cy="5182500"/>
          </a:xfrm>
          <a:prstGeom prst="rect">
            <a:avLst/>
          </a:prstGeom>
          <a:noFill/>
          <a:ln>
            <a:noFill/>
          </a:ln>
        </p:spPr>
        <p:txBody>
          <a:bodyPr spcFirstLastPara="1" wrap="square" lIns="91425" tIns="45700" rIns="91425" bIns="45700" anchor="t" anchorCtr="0">
            <a:normAutofit fontScale="77500" lnSpcReduction="20000"/>
          </a:bodyPr>
          <a:lstStyle/>
          <a:p>
            <a:pPr marL="514350" lvl="0" indent="-501205" algn="just" rtl="0">
              <a:spcBef>
                <a:spcPts val="0"/>
              </a:spcBef>
              <a:spcAft>
                <a:spcPts val="0"/>
              </a:spcAft>
              <a:buSzPct val="115000"/>
              <a:buFont typeface="Garamond"/>
              <a:buAutoNum type="arabicPeriod"/>
            </a:pPr>
            <a:r>
              <a:rPr lang="en-GB" b="1"/>
              <a:t> Protease and peptidases</a:t>
            </a:r>
            <a:endParaRPr/>
          </a:p>
          <a:p>
            <a:pPr marL="285750" lvl="0" indent="-272605" algn="just" rtl="0">
              <a:spcBef>
                <a:spcPts val="1008"/>
              </a:spcBef>
              <a:spcAft>
                <a:spcPts val="0"/>
              </a:spcAft>
              <a:buSzPct val="115000"/>
              <a:buChar char="•"/>
            </a:pPr>
            <a:r>
              <a:rPr lang="en-GB"/>
              <a:t>Several intracellular proteases and peptidases are involved in protein degradation. Proteases like </a:t>
            </a:r>
            <a:r>
              <a:rPr lang="en-GB" b="1"/>
              <a:t>tryptase</a:t>
            </a:r>
            <a:r>
              <a:rPr lang="en-GB"/>
              <a:t>, </a:t>
            </a:r>
            <a:r>
              <a:rPr lang="en-GB" b="1"/>
              <a:t>chymase</a:t>
            </a:r>
            <a:r>
              <a:rPr lang="en-GB"/>
              <a:t>, </a:t>
            </a:r>
            <a:r>
              <a:rPr lang="en-GB" b="1"/>
              <a:t>elastase</a:t>
            </a:r>
            <a:r>
              <a:rPr lang="en-GB"/>
              <a:t>, </a:t>
            </a:r>
            <a:r>
              <a:rPr lang="en-GB" b="1"/>
              <a:t>collagenase</a:t>
            </a:r>
            <a:r>
              <a:rPr lang="en-GB"/>
              <a:t> and </a:t>
            </a:r>
            <a:r>
              <a:rPr lang="en-GB" b="1"/>
              <a:t>calpains</a:t>
            </a:r>
            <a:r>
              <a:rPr lang="en-GB"/>
              <a:t> hydrolyzes proteins forming oligo peptides. </a:t>
            </a:r>
            <a:endParaRPr/>
          </a:p>
          <a:p>
            <a:pPr marL="285750" lvl="0" indent="-272605" algn="just" rtl="0">
              <a:spcBef>
                <a:spcPts val="1008"/>
              </a:spcBef>
              <a:spcAft>
                <a:spcPts val="0"/>
              </a:spcAft>
              <a:buSzPct val="115000"/>
              <a:buChar char="•"/>
            </a:pPr>
            <a:r>
              <a:rPr lang="en-GB" b="1"/>
              <a:t>Peptidases</a:t>
            </a:r>
            <a:r>
              <a:rPr lang="en-GB"/>
              <a:t> further degrade oligo peptides to dipeptides. </a:t>
            </a:r>
            <a:endParaRPr/>
          </a:p>
          <a:p>
            <a:pPr marL="285750" lvl="0" indent="-272605" algn="just" rtl="0">
              <a:spcBef>
                <a:spcPts val="1008"/>
              </a:spcBef>
              <a:spcAft>
                <a:spcPts val="0"/>
              </a:spcAft>
              <a:buSzPct val="115000"/>
              <a:buChar char="•"/>
            </a:pPr>
            <a:r>
              <a:rPr lang="en-GB"/>
              <a:t>Finally aminoacids are formed by the action of </a:t>
            </a:r>
            <a:r>
              <a:rPr lang="en-GB" b="1"/>
              <a:t>dipeptidases</a:t>
            </a:r>
            <a:r>
              <a:rPr lang="en-GB"/>
              <a:t> on dipeptides.</a:t>
            </a:r>
            <a:endParaRPr/>
          </a:p>
          <a:p>
            <a:pPr marL="514350" lvl="0" indent="-501205" algn="just" rtl="0">
              <a:spcBef>
                <a:spcPts val="1008"/>
              </a:spcBef>
              <a:spcAft>
                <a:spcPts val="0"/>
              </a:spcAft>
              <a:buSzPct val="115000"/>
              <a:buFont typeface="Garamond"/>
              <a:buAutoNum type="arabicPeriod" startAt="2"/>
            </a:pPr>
            <a:r>
              <a:rPr lang="en-GB" b="1"/>
              <a:t>Cathepsins</a:t>
            </a:r>
            <a:endParaRPr b="1"/>
          </a:p>
          <a:p>
            <a:pPr marL="285750" lvl="0" indent="-272605" algn="just" rtl="0">
              <a:spcBef>
                <a:spcPts val="1008"/>
              </a:spcBef>
              <a:spcAft>
                <a:spcPts val="0"/>
              </a:spcAft>
              <a:buSzPct val="115000"/>
              <a:buChar char="•"/>
            </a:pPr>
            <a:r>
              <a:rPr lang="en-GB"/>
              <a:t>They are hydrolytic enzymes present in lysosomes. They are responsible for the degradation of glycoprotein hormones and other intracellular proteins.</a:t>
            </a:r>
            <a:endParaRPr/>
          </a:p>
          <a:p>
            <a:pPr marL="514350" lvl="0" indent="-501205" algn="just" rtl="0">
              <a:spcBef>
                <a:spcPts val="1008"/>
              </a:spcBef>
              <a:spcAft>
                <a:spcPts val="0"/>
              </a:spcAft>
              <a:buSzPct val="115000"/>
              <a:buFont typeface="Garamond"/>
              <a:buAutoNum type="arabicPeriod" startAt="3"/>
            </a:pPr>
            <a:r>
              <a:rPr lang="en-GB" b="1"/>
              <a:t>Megapain</a:t>
            </a:r>
            <a:endParaRPr b="1"/>
          </a:p>
          <a:p>
            <a:pPr marL="285750" lvl="0" indent="-272605" algn="just" rtl="0">
              <a:spcBef>
                <a:spcPts val="1008"/>
              </a:spcBef>
              <a:spcAft>
                <a:spcPts val="0"/>
              </a:spcAft>
              <a:buSzPct val="115000"/>
              <a:buChar char="•"/>
            </a:pPr>
            <a:r>
              <a:rPr lang="en-GB"/>
              <a:t>It is a high molecular mass protease present in liver and skeletal muscle. It degrades proteins in presence of ubiquitin.</a:t>
            </a:r>
            <a:endParaRPr/>
          </a:p>
          <a:p>
            <a:pPr marL="514350" lvl="0" indent="-501205" algn="just" rtl="0">
              <a:spcBef>
                <a:spcPts val="1008"/>
              </a:spcBef>
              <a:spcAft>
                <a:spcPts val="0"/>
              </a:spcAft>
              <a:buSzPct val="115000"/>
              <a:buFont typeface="Garamond"/>
              <a:buAutoNum type="arabicPeriod" startAt="4"/>
            </a:pPr>
            <a:r>
              <a:rPr lang="en-GB" b="1"/>
              <a:t>Multicatalytic proteases (Proteosome)</a:t>
            </a:r>
            <a:endParaRPr/>
          </a:p>
          <a:p>
            <a:pPr marL="285750" lvl="0" indent="-272605" algn="just" rtl="0">
              <a:spcBef>
                <a:spcPts val="1008"/>
              </a:spcBef>
              <a:spcAft>
                <a:spcPts val="0"/>
              </a:spcAft>
              <a:buSzPct val="115000"/>
              <a:buChar char="•"/>
            </a:pPr>
            <a:r>
              <a:rPr lang="en-GB"/>
              <a:t> They pocess multicatalytic function and are present in the cytosol of most of mammalian cells.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body" idx="1"/>
          </p:nvPr>
        </p:nvSpPr>
        <p:spPr>
          <a:xfrm>
            <a:off x="638725" y="1625450"/>
            <a:ext cx="7922400" cy="4462800"/>
          </a:xfrm>
          <a:prstGeom prst="rect">
            <a:avLst/>
          </a:prstGeom>
          <a:noFill/>
          <a:ln>
            <a:noFill/>
          </a:ln>
        </p:spPr>
        <p:txBody>
          <a:bodyPr spcFirstLastPara="1" wrap="square" lIns="91425" tIns="45700" rIns="91425" bIns="45700" anchor="t" anchorCtr="0">
            <a:normAutofit fontScale="55000" lnSpcReduction="20000"/>
          </a:bodyPr>
          <a:lstStyle/>
          <a:p>
            <a:pPr marL="285750" lvl="0" indent="-203596" algn="just" rtl="0">
              <a:spcBef>
                <a:spcPts val="0"/>
              </a:spcBef>
              <a:spcAft>
                <a:spcPts val="0"/>
              </a:spcAft>
              <a:buSzPct val="115000"/>
              <a:buChar char="•"/>
            </a:pPr>
            <a:r>
              <a:rPr lang="en-GB" sz="3000" b="1"/>
              <a:t>Amino acid pool </a:t>
            </a:r>
            <a:r>
              <a:rPr lang="en-GB" sz="3000"/>
              <a:t>is the amount of free amino acids distributed throughout the body.</a:t>
            </a:r>
            <a:endParaRPr/>
          </a:p>
          <a:p>
            <a:pPr marL="285750" lvl="0" indent="-203596" algn="just" rtl="0">
              <a:spcBef>
                <a:spcPts val="1155"/>
              </a:spcBef>
              <a:spcAft>
                <a:spcPts val="0"/>
              </a:spcAft>
              <a:buSzPct val="115000"/>
              <a:buChar char="•"/>
            </a:pPr>
            <a:r>
              <a:rPr lang="en-GB" sz="3000"/>
              <a:t>Blood plasma contains most of the 20 amino acids, however the concentrations of individual amino acids in blood are different (e.g. There are very high con’c of glutamate and alanine and very low con’c of aspartate)</a:t>
            </a:r>
            <a:endParaRPr sz="3000"/>
          </a:p>
          <a:p>
            <a:pPr marL="285750" lvl="0" indent="-203596" algn="just" rtl="0">
              <a:spcBef>
                <a:spcPts val="1155"/>
              </a:spcBef>
              <a:spcAft>
                <a:spcPts val="0"/>
              </a:spcAft>
              <a:buSzPct val="115000"/>
              <a:buChar char="•"/>
            </a:pPr>
            <a:r>
              <a:rPr lang="en-GB" sz="3000"/>
              <a:t>Amino acids in plasma are rapidly taken up by tissues, therefore the average half life of a plasma amino acid is about 5 minutes.</a:t>
            </a:r>
            <a:endParaRPr sz="3000"/>
          </a:p>
          <a:p>
            <a:pPr marL="285750" lvl="0" indent="-285750" algn="just" rtl="0">
              <a:spcBef>
                <a:spcPts val="1155"/>
              </a:spcBef>
              <a:spcAft>
                <a:spcPts val="0"/>
              </a:spcAft>
              <a:buSzPct val="115000"/>
              <a:buNone/>
            </a:pPr>
            <a:r>
              <a:rPr lang="en-GB" sz="3000" b="1"/>
              <a:t>  Sources of amino acid pool</a:t>
            </a:r>
            <a:endParaRPr sz="3000"/>
          </a:p>
          <a:p>
            <a:pPr marL="285750" lvl="0" indent="-285750" algn="just" rtl="0">
              <a:spcBef>
                <a:spcPts val="1155"/>
              </a:spcBef>
              <a:spcAft>
                <a:spcPts val="0"/>
              </a:spcAft>
              <a:buSzPct val="115000"/>
              <a:buNone/>
            </a:pPr>
            <a:r>
              <a:rPr lang="en-GB" sz="3000"/>
              <a:t>    1. Dietary proteins.</a:t>
            </a:r>
            <a:endParaRPr/>
          </a:p>
          <a:p>
            <a:pPr marL="285750" lvl="0" indent="-285750" algn="just" rtl="0">
              <a:spcBef>
                <a:spcPts val="1155"/>
              </a:spcBef>
              <a:spcAft>
                <a:spcPts val="0"/>
              </a:spcAft>
              <a:buSzPct val="115000"/>
              <a:buNone/>
            </a:pPr>
            <a:r>
              <a:rPr lang="en-GB" sz="3000"/>
              <a:t>    2. Breakdown of tissue proteins.</a:t>
            </a:r>
            <a:endParaRPr/>
          </a:p>
          <a:p>
            <a:pPr marL="285750" lvl="0" indent="-285750" algn="just" rtl="0">
              <a:spcBef>
                <a:spcPts val="1155"/>
              </a:spcBef>
              <a:spcAft>
                <a:spcPts val="0"/>
              </a:spcAft>
              <a:buSzPct val="115000"/>
              <a:buNone/>
            </a:pPr>
            <a:r>
              <a:rPr lang="en-GB" sz="3000"/>
              <a:t>    3. Biosynthesis of non-essential amino acids.</a:t>
            </a:r>
            <a:endParaRPr/>
          </a:p>
          <a:p>
            <a:pPr marL="285750" lvl="0" indent="-285750" algn="l" rtl="0">
              <a:spcBef>
                <a:spcPts val="1044"/>
              </a:spcBef>
              <a:spcAft>
                <a:spcPts val="0"/>
              </a:spcAft>
              <a:buSzPct val="115000"/>
              <a:buNone/>
            </a:pPr>
            <a:endParaRPr sz="2400"/>
          </a:p>
          <a:p>
            <a:pPr marL="285750" lvl="0" indent="-123634" algn="l" rtl="0">
              <a:spcBef>
                <a:spcPts val="1044"/>
              </a:spcBef>
              <a:spcAft>
                <a:spcPts val="0"/>
              </a:spcAft>
              <a:buSzPct val="115000"/>
              <a:buNone/>
            </a:pPr>
            <a:endParaRPr sz="2400"/>
          </a:p>
          <a:p>
            <a:pPr marL="285750" lvl="0" indent="-123634" algn="l" rtl="0">
              <a:spcBef>
                <a:spcPts val="1044"/>
              </a:spcBef>
              <a:spcAft>
                <a:spcPts val="0"/>
              </a:spcAft>
              <a:buSzPct val="115000"/>
              <a:buNone/>
            </a:pPr>
            <a:endParaRPr sz="2400"/>
          </a:p>
          <a:p>
            <a:pPr marL="285750" lvl="0" indent="-123634" algn="l" rtl="0">
              <a:spcBef>
                <a:spcPts val="1044"/>
              </a:spcBef>
              <a:spcAft>
                <a:spcPts val="0"/>
              </a:spcAft>
              <a:buSzPct val="115000"/>
              <a:buNone/>
            </a:pPr>
            <a:endParaRPr sz="2400"/>
          </a:p>
        </p:txBody>
      </p:sp>
      <p:sp>
        <p:nvSpPr>
          <p:cNvPr id="189" name="Google Shape;189;p8"/>
          <p:cNvSpPr txBox="1"/>
          <p:nvPr/>
        </p:nvSpPr>
        <p:spPr>
          <a:xfrm>
            <a:off x="2030775" y="704225"/>
            <a:ext cx="39921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Garamond"/>
                <a:ea typeface="Garamond"/>
                <a:cs typeface="Garamond"/>
                <a:sym typeface="Garamond"/>
              </a:rPr>
              <a:t>Amino acid pool</a:t>
            </a:r>
            <a:endParaRPr sz="3200">
              <a:solidFill>
                <a:schemeClr val="dk1"/>
              </a:solidFill>
              <a:latin typeface="Garamond"/>
              <a:ea typeface="Garamond"/>
              <a:cs typeface="Garamond"/>
              <a:sym typeface="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txBox="1"/>
          <p:nvPr/>
        </p:nvSpPr>
        <p:spPr>
          <a:xfrm>
            <a:off x="1437100" y="827050"/>
            <a:ext cx="68172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dk1"/>
                </a:solidFill>
                <a:latin typeface="Garamond"/>
                <a:ea typeface="Garamond"/>
                <a:cs typeface="Garamond"/>
                <a:sym typeface="Garamond"/>
              </a:rPr>
              <a:t> </a:t>
            </a:r>
            <a:r>
              <a:rPr lang="en-GB" sz="3600" b="1">
                <a:solidFill>
                  <a:schemeClr val="dk1"/>
                </a:solidFill>
                <a:latin typeface="Garamond"/>
                <a:ea typeface="Garamond"/>
                <a:cs typeface="Garamond"/>
                <a:sym typeface="Garamond"/>
              </a:rPr>
              <a:t>Fate of Amino Acids</a:t>
            </a:r>
            <a:endParaRPr sz="3600">
              <a:solidFill>
                <a:schemeClr val="dk1"/>
              </a:solidFill>
              <a:latin typeface="Garamond"/>
              <a:ea typeface="Garamond"/>
              <a:cs typeface="Garamond"/>
              <a:sym typeface="Garamond"/>
            </a:endParaRPr>
          </a:p>
        </p:txBody>
      </p:sp>
      <p:sp>
        <p:nvSpPr>
          <p:cNvPr id="195" name="Google Shape;195;p9"/>
          <p:cNvSpPr txBox="1">
            <a:spLocks noGrp="1"/>
          </p:cNvSpPr>
          <p:nvPr>
            <p:ph type="body" idx="1"/>
          </p:nvPr>
        </p:nvSpPr>
        <p:spPr>
          <a:xfrm>
            <a:off x="741075" y="1604975"/>
            <a:ext cx="7349100" cy="3828000"/>
          </a:xfrm>
          <a:prstGeom prst="rect">
            <a:avLst/>
          </a:prstGeom>
          <a:noFill/>
          <a:ln>
            <a:noFill/>
          </a:ln>
        </p:spPr>
        <p:txBody>
          <a:bodyPr spcFirstLastPara="1" wrap="square" lIns="91425" tIns="45700" rIns="91425" bIns="45700" anchor="t" anchorCtr="0">
            <a:normAutofit lnSpcReduction="20000"/>
          </a:bodyPr>
          <a:lstStyle/>
          <a:p>
            <a:pPr marL="285750" lvl="0" indent="-285750" algn="just" rtl="0">
              <a:spcBef>
                <a:spcPts val="0"/>
              </a:spcBef>
              <a:spcAft>
                <a:spcPts val="0"/>
              </a:spcAft>
              <a:buSzPts val="2760"/>
              <a:buNone/>
            </a:pPr>
            <a:r>
              <a:rPr lang="en-GB"/>
              <a:t>1. Biosynthesis of structural proteins e.g tissue proteins</a:t>
            </a:r>
            <a:endParaRPr/>
          </a:p>
          <a:p>
            <a:pPr marL="285750" lvl="0" indent="-285750" algn="just" rtl="0">
              <a:spcBef>
                <a:spcPts val="1080"/>
              </a:spcBef>
              <a:spcAft>
                <a:spcPts val="0"/>
              </a:spcAft>
              <a:buSzPts val="2760"/>
              <a:buNone/>
            </a:pPr>
            <a:r>
              <a:rPr lang="en-GB"/>
              <a:t>2. Biosynthesis of functional proteins e.g  Haemoglobin , myoglobin, protein hormones and enzymes</a:t>
            </a:r>
            <a:endParaRPr/>
          </a:p>
          <a:p>
            <a:pPr marL="285750" lvl="0" indent="-285750" algn="just" rtl="0">
              <a:spcBef>
                <a:spcPts val="1080"/>
              </a:spcBef>
              <a:spcAft>
                <a:spcPts val="0"/>
              </a:spcAft>
              <a:buSzPts val="2760"/>
              <a:buNone/>
            </a:pPr>
            <a:r>
              <a:rPr lang="en-GB"/>
              <a:t>3. Biosynthesis of small peptides of biological importance e.g glutathione, endorphins and enkephalins.</a:t>
            </a:r>
            <a:endParaRPr/>
          </a:p>
          <a:p>
            <a:pPr marL="285750" lvl="0" indent="-285750" algn="just" rtl="0">
              <a:spcBef>
                <a:spcPts val="1080"/>
              </a:spcBef>
              <a:spcAft>
                <a:spcPts val="0"/>
              </a:spcAft>
              <a:buSzPts val="2760"/>
              <a:buNone/>
            </a:pPr>
            <a:r>
              <a:rPr lang="en-GB"/>
              <a:t>4. Biosynthesis of non protein nitrogenous compounds (NPN) such as urea, uric acid, creatine, creatinine, nucleotides and ammonia.</a:t>
            </a:r>
            <a:endParaRPr/>
          </a:p>
          <a:p>
            <a:pPr marL="285750" lvl="0" indent="-285750" algn="just" rtl="0">
              <a:spcBef>
                <a:spcPts val="1080"/>
              </a:spcBef>
              <a:spcAft>
                <a:spcPts val="0"/>
              </a:spcAft>
              <a:buSzPts val="2760"/>
              <a:buNone/>
            </a:pPr>
            <a:r>
              <a:rPr lang="en-GB"/>
              <a:t>5. Catabolism to ammonia and α-keto acids.</a:t>
            </a:r>
            <a:endParaRPr/>
          </a:p>
          <a:p>
            <a:pPr marL="285750" lvl="0" indent="-110490" algn="l" rtl="0">
              <a:spcBef>
                <a:spcPts val="1080"/>
              </a:spcBef>
              <a:spcAft>
                <a:spcPts val="0"/>
              </a:spcAft>
              <a:buSzPts val="276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0"/>
          <p:cNvSpPr txBox="1">
            <a:spLocks noGrp="1"/>
          </p:cNvSpPr>
          <p:nvPr>
            <p:ph type="title"/>
          </p:nvPr>
        </p:nvSpPr>
        <p:spPr>
          <a:xfrm>
            <a:off x="457200" y="131762"/>
            <a:ext cx="8229600" cy="58259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sz="3600" b="1"/>
              <a:t>Sources and metabolic fates of amino acids</a:t>
            </a:r>
            <a:endParaRPr/>
          </a:p>
        </p:txBody>
      </p:sp>
      <p:pic>
        <p:nvPicPr>
          <p:cNvPr id="201" name="Google Shape;201;p10"/>
          <p:cNvPicPr preferRelativeResize="0"/>
          <p:nvPr/>
        </p:nvPicPr>
        <p:blipFill rotWithShape="1">
          <a:blip r:embed="rId3">
            <a:alphaModFix/>
          </a:blip>
          <a:srcRect/>
          <a:stretch/>
        </p:blipFill>
        <p:spPr>
          <a:xfrm>
            <a:off x="571472" y="857232"/>
            <a:ext cx="8001056" cy="54292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1"/>
          <p:cNvSpPr txBox="1">
            <a:spLocks noGrp="1"/>
          </p:cNvSpPr>
          <p:nvPr>
            <p:ph type="title"/>
          </p:nvPr>
        </p:nvSpPr>
        <p:spPr>
          <a:xfrm>
            <a:off x="659175" y="493828"/>
            <a:ext cx="8027700" cy="818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GB"/>
              <a:t>Amino acid catabolism </a:t>
            </a:r>
            <a:endParaRPr/>
          </a:p>
        </p:txBody>
      </p:sp>
      <p:sp>
        <p:nvSpPr>
          <p:cNvPr id="207" name="Google Shape;207;p11"/>
          <p:cNvSpPr txBox="1">
            <a:spLocks noGrp="1"/>
          </p:cNvSpPr>
          <p:nvPr>
            <p:ph type="body" idx="1"/>
          </p:nvPr>
        </p:nvSpPr>
        <p:spPr>
          <a:xfrm>
            <a:off x="457200" y="1134125"/>
            <a:ext cx="8229600" cy="5076900"/>
          </a:xfrm>
          <a:prstGeom prst="rect">
            <a:avLst/>
          </a:prstGeom>
          <a:noFill/>
          <a:ln>
            <a:noFill/>
          </a:ln>
        </p:spPr>
        <p:txBody>
          <a:bodyPr spcFirstLastPara="1" wrap="square" lIns="91425" tIns="45700" rIns="91425" bIns="45700" anchor="t" anchorCtr="0">
            <a:normAutofit lnSpcReduction="10000"/>
          </a:bodyPr>
          <a:lstStyle/>
          <a:p>
            <a:pPr marL="285750" lvl="0" indent="-285750" algn="just" rtl="0">
              <a:spcBef>
                <a:spcPts val="0"/>
              </a:spcBef>
              <a:spcAft>
                <a:spcPts val="0"/>
              </a:spcAft>
              <a:buSzPts val="2760"/>
              <a:buChar char="•"/>
            </a:pPr>
            <a:r>
              <a:rPr lang="en-GB"/>
              <a:t>In the adult human body, only 20% of amino acids formed from protein degradation are catabolised to generate energy. </a:t>
            </a:r>
            <a:endParaRPr/>
          </a:p>
          <a:p>
            <a:pPr marL="285750" lvl="0" indent="-285750" algn="just" rtl="0">
              <a:spcBef>
                <a:spcPts val="1080"/>
              </a:spcBef>
              <a:spcAft>
                <a:spcPts val="0"/>
              </a:spcAft>
              <a:buSzPts val="2760"/>
              <a:buChar char="•"/>
            </a:pPr>
            <a:r>
              <a:rPr lang="en-GB"/>
              <a:t>The remaining 80% amino acids are used for protein biosynthesis.</a:t>
            </a:r>
            <a:endParaRPr/>
          </a:p>
          <a:p>
            <a:pPr marL="285750" lvl="0" indent="-285750" algn="just" rtl="0">
              <a:spcBef>
                <a:spcPts val="1080"/>
              </a:spcBef>
              <a:spcAft>
                <a:spcPts val="0"/>
              </a:spcAft>
              <a:buSzPts val="2760"/>
              <a:buChar char="•"/>
            </a:pPr>
            <a:r>
              <a:rPr lang="en-GB"/>
              <a:t>Excessive amino acids consumed from diet are also used for energy production because amino acids can not be stored in the body.</a:t>
            </a:r>
            <a:endParaRPr/>
          </a:p>
          <a:p>
            <a:pPr marL="285750" lvl="0" indent="-285750" algn="just" rtl="0">
              <a:spcBef>
                <a:spcPts val="1080"/>
              </a:spcBef>
              <a:spcAft>
                <a:spcPts val="0"/>
              </a:spcAft>
              <a:buSzPts val="2760"/>
              <a:buChar char="•"/>
            </a:pPr>
            <a:r>
              <a:rPr lang="en-GB"/>
              <a:t>Amino acid catabolism occurs in two main stages.</a:t>
            </a:r>
            <a:endParaRPr/>
          </a:p>
          <a:p>
            <a:pPr marL="514350" lvl="0" indent="-514350" algn="just" rtl="0">
              <a:spcBef>
                <a:spcPts val="1080"/>
              </a:spcBef>
              <a:spcAft>
                <a:spcPts val="0"/>
              </a:spcAft>
              <a:buSzPts val="2760"/>
              <a:buFont typeface="Garamond"/>
              <a:buAutoNum type="arabicPeriod"/>
            </a:pPr>
            <a:r>
              <a:rPr lang="en-GB"/>
              <a:t>Removal of amino group of amino acids as ammonia which is converted to urea and excreted in urine.</a:t>
            </a:r>
            <a:endParaRPr/>
          </a:p>
          <a:p>
            <a:pPr marL="514350" lvl="0" indent="-514350" algn="just" rtl="0">
              <a:spcBef>
                <a:spcPts val="1080"/>
              </a:spcBef>
              <a:spcAft>
                <a:spcPts val="0"/>
              </a:spcAft>
              <a:buSzPts val="2760"/>
              <a:buFont typeface="Garamond"/>
              <a:buAutoNum type="arabicPeriod"/>
            </a:pPr>
            <a:r>
              <a:rPr lang="en-GB"/>
              <a:t>Conversion of the carbon skeletons of amino acids into intermediates of TCA cycle and acetyl-CoA.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2"/>
          <p:cNvSpPr txBox="1"/>
          <p:nvPr/>
        </p:nvSpPr>
        <p:spPr>
          <a:xfrm>
            <a:off x="638725" y="908950"/>
            <a:ext cx="7758900" cy="5818200"/>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000000"/>
              </a:buClr>
              <a:buSzPts val="2400"/>
              <a:buFont typeface="Arial"/>
              <a:buChar char="•"/>
            </a:pPr>
            <a:r>
              <a:rPr lang="en-GB" sz="2400">
                <a:solidFill>
                  <a:srgbClr val="000000"/>
                </a:solidFill>
                <a:latin typeface="Garamond"/>
                <a:ea typeface="Garamond"/>
                <a:cs typeface="Garamond"/>
                <a:sym typeface="Garamond"/>
              </a:rPr>
              <a:t>In animals, amino acids undergo oxidative degradation in three different metabolic circumstances:</a:t>
            </a:r>
            <a:endParaRPr/>
          </a:p>
          <a:p>
            <a:pPr marL="342900" marR="0" lvl="0" indent="-342900" algn="just" rtl="0">
              <a:spcBef>
                <a:spcPts val="480"/>
              </a:spcBef>
              <a:spcAft>
                <a:spcPts val="0"/>
              </a:spcAft>
              <a:buNone/>
            </a:pPr>
            <a:r>
              <a:rPr lang="en-GB" sz="2400" i="1">
                <a:solidFill>
                  <a:srgbClr val="000000"/>
                </a:solidFill>
                <a:latin typeface="Garamond"/>
                <a:ea typeface="Garamond"/>
                <a:cs typeface="Garamond"/>
                <a:sym typeface="Garamond"/>
              </a:rPr>
              <a:t>1. During the normal synthesis and degradation of </a:t>
            </a:r>
            <a:r>
              <a:rPr lang="en-GB" sz="2400">
                <a:solidFill>
                  <a:srgbClr val="000000"/>
                </a:solidFill>
                <a:latin typeface="Garamond"/>
                <a:ea typeface="Garamond"/>
                <a:cs typeface="Garamond"/>
                <a:sym typeface="Garamond"/>
              </a:rPr>
              <a:t>cellular proteins (</a:t>
            </a:r>
            <a:r>
              <a:rPr lang="en-GB" sz="2400" b="1">
                <a:solidFill>
                  <a:srgbClr val="000000"/>
                </a:solidFill>
                <a:latin typeface="Garamond"/>
                <a:ea typeface="Garamond"/>
                <a:cs typeface="Garamond"/>
                <a:sym typeface="Garamond"/>
              </a:rPr>
              <a:t>protein turn over</a:t>
            </a:r>
            <a:r>
              <a:rPr lang="en-GB" sz="2400">
                <a:solidFill>
                  <a:srgbClr val="000000"/>
                </a:solidFill>
                <a:latin typeface="Garamond"/>
                <a:ea typeface="Garamond"/>
                <a:cs typeface="Garamond"/>
                <a:sym typeface="Garamond"/>
              </a:rPr>
              <a:t>)</a:t>
            </a:r>
            <a:endParaRPr sz="2400">
              <a:solidFill>
                <a:srgbClr val="000000"/>
              </a:solidFill>
              <a:latin typeface="Garamond"/>
              <a:ea typeface="Garamond"/>
              <a:cs typeface="Garamond"/>
              <a:sym typeface="Garamond"/>
            </a:endParaRPr>
          </a:p>
          <a:p>
            <a:pPr marL="342900" marR="0" lvl="0" indent="-342900" algn="just" rtl="0">
              <a:spcBef>
                <a:spcPts val="480"/>
              </a:spcBef>
              <a:spcAft>
                <a:spcPts val="0"/>
              </a:spcAft>
              <a:buNone/>
            </a:pPr>
            <a:r>
              <a:rPr lang="en-GB" sz="2400" i="1">
                <a:solidFill>
                  <a:srgbClr val="000000"/>
                </a:solidFill>
                <a:latin typeface="Garamond"/>
                <a:ea typeface="Garamond"/>
                <a:cs typeface="Garamond"/>
                <a:sym typeface="Garamond"/>
              </a:rPr>
              <a:t>2. In high protein diet, the ingested </a:t>
            </a:r>
            <a:r>
              <a:rPr lang="en-GB" sz="2400">
                <a:solidFill>
                  <a:srgbClr val="000000"/>
                </a:solidFill>
                <a:latin typeface="Garamond"/>
                <a:ea typeface="Garamond"/>
                <a:cs typeface="Garamond"/>
                <a:sym typeface="Garamond"/>
              </a:rPr>
              <a:t>amino acids exceed the body’s needs for protein synthesis, the surplus is catabolized (</a:t>
            </a:r>
            <a:r>
              <a:rPr lang="en-GB" sz="2400" b="1">
                <a:solidFill>
                  <a:srgbClr val="000000"/>
                </a:solidFill>
                <a:latin typeface="Garamond"/>
                <a:ea typeface="Garamond"/>
                <a:cs typeface="Garamond"/>
                <a:sym typeface="Garamond"/>
              </a:rPr>
              <a:t>amino acids cannot be stored</a:t>
            </a:r>
            <a:r>
              <a:rPr lang="en-GB" sz="2400">
                <a:solidFill>
                  <a:srgbClr val="000000"/>
                </a:solidFill>
                <a:latin typeface="Garamond"/>
                <a:ea typeface="Garamond"/>
                <a:cs typeface="Garamond"/>
                <a:sym typeface="Garamond"/>
              </a:rPr>
              <a:t>).</a:t>
            </a:r>
            <a:endParaRPr/>
          </a:p>
          <a:p>
            <a:pPr marL="342900" marR="0" lvl="0" indent="-342900" algn="just" rtl="0">
              <a:spcBef>
                <a:spcPts val="480"/>
              </a:spcBef>
              <a:spcAft>
                <a:spcPts val="0"/>
              </a:spcAft>
              <a:buNone/>
            </a:pPr>
            <a:r>
              <a:rPr lang="en-GB" sz="2400" i="1">
                <a:solidFill>
                  <a:srgbClr val="000000"/>
                </a:solidFill>
                <a:latin typeface="Garamond"/>
                <a:ea typeface="Garamond"/>
                <a:cs typeface="Garamond"/>
                <a:sym typeface="Garamond"/>
              </a:rPr>
              <a:t>3. During starvation or in uncontrolled diabetes mellitus, </a:t>
            </a:r>
            <a:r>
              <a:rPr lang="en-GB" sz="2400">
                <a:solidFill>
                  <a:srgbClr val="000000"/>
                </a:solidFill>
                <a:latin typeface="Garamond"/>
                <a:ea typeface="Garamond"/>
                <a:cs typeface="Garamond"/>
                <a:sym typeface="Garamond"/>
              </a:rPr>
              <a:t>when carbohydrates are either unavailable or not properly utilized, cellular proteins are used as fuel.</a:t>
            </a:r>
            <a:endParaRPr/>
          </a:p>
          <a:p>
            <a:pPr marL="0" marR="0" lvl="0" indent="-152400" algn="just" rtl="0">
              <a:spcBef>
                <a:spcPts val="0"/>
              </a:spcBef>
              <a:spcAft>
                <a:spcPts val="0"/>
              </a:spcAft>
              <a:buClr>
                <a:schemeClr val="dk1"/>
              </a:buClr>
              <a:buSzPts val="2400"/>
              <a:buFont typeface="Arial"/>
              <a:buChar char="•"/>
            </a:pPr>
            <a:r>
              <a:rPr lang="en-GB" sz="2400">
                <a:solidFill>
                  <a:schemeClr val="dk1"/>
                </a:solidFill>
                <a:latin typeface="Garamond"/>
                <a:ea typeface="Garamond"/>
                <a:cs typeface="Garamond"/>
                <a:sym typeface="Garamond"/>
              </a:rPr>
              <a:t>Amino acids are transaminated to form α-keto acids, (carbon skeletons).</a:t>
            </a:r>
            <a:endParaRPr/>
          </a:p>
          <a:p>
            <a:pPr marL="0" marR="0" lvl="0" indent="-152400" algn="just" rtl="0">
              <a:spcBef>
                <a:spcPts val="0"/>
              </a:spcBef>
              <a:spcAft>
                <a:spcPts val="0"/>
              </a:spcAft>
              <a:buClr>
                <a:schemeClr val="dk1"/>
              </a:buClr>
              <a:buSzPts val="2400"/>
              <a:buFont typeface="Arial"/>
              <a:buChar char="•"/>
            </a:pPr>
            <a:r>
              <a:rPr lang="en-GB" sz="2400">
                <a:solidFill>
                  <a:schemeClr val="dk1"/>
                </a:solidFill>
                <a:latin typeface="Garamond"/>
                <a:ea typeface="Garamond"/>
                <a:cs typeface="Garamond"/>
                <a:sym typeface="Garamond"/>
              </a:rPr>
              <a:t>The α-keto acids undergo oxidation to CO</a:t>
            </a:r>
            <a:r>
              <a:rPr lang="en-GB" sz="2400" baseline="-25000">
                <a:solidFill>
                  <a:schemeClr val="dk1"/>
                </a:solidFill>
                <a:latin typeface="Garamond"/>
                <a:ea typeface="Garamond"/>
                <a:cs typeface="Garamond"/>
                <a:sym typeface="Garamond"/>
              </a:rPr>
              <a:t>2 </a:t>
            </a:r>
            <a:r>
              <a:rPr lang="en-GB" sz="2400">
                <a:solidFill>
                  <a:schemeClr val="dk1"/>
                </a:solidFill>
                <a:latin typeface="Garamond"/>
                <a:ea typeface="Garamond"/>
                <a:cs typeface="Garamond"/>
                <a:sym typeface="Garamond"/>
              </a:rPr>
              <a:t>and H</a:t>
            </a:r>
            <a:r>
              <a:rPr lang="en-GB" sz="2400" baseline="-25000">
                <a:solidFill>
                  <a:schemeClr val="dk1"/>
                </a:solidFill>
                <a:latin typeface="Garamond"/>
                <a:ea typeface="Garamond"/>
                <a:cs typeface="Garamond"/>
                <a:sym typeface="Garamond"/>
              </a:rPr>
              <a:t>2</a:t>
            </a:r>
            <a:r>
              <a:rPr lang="en-GB" sz="2400">
                <a:solidFill>
                  <a:schemeClr val="dk1"/>
                </a:solidFill>
                <a:latin typeface="Garamond"/>
                <a:ea typeface="Garamond"/>
                <a:cs typeface="Garamond"/>
                <a:sym typeface="Garamond"/>
              </a:rPr>
              <a:t>O to provide energy for brain, skeletal muscle, and other tissues or, provide three- and four-carbon units for gluconeogenesis,.</a:t>
            </a:r>
            <a:endParaRPr/>
          </a:p>
        </p:txBody>
      </p:sp>
      <p:sp>
        <p:nvSpPr>
          <p:cNvPr id="213" name="Google Shape;213;p12"/>
          <p:cNvSpPr txBox="1">
            <a:spLocks noGrp="1"/>
          </p:cNvSpPr>
          <p:nvPr>
            <p:ph type="title"/>
          </p:nvPr>
        </p:nvSpPr>
        <p:spPr>
          <a:xfrm>
            <a:off x="285720" y="80962"/>
            <a:ext cx="8786874" cy="704832"/>
          </a:xfrm>
          <a:prstGeom prst="rect">
            <a:avLst/>
          </a:prstGeom>
          <a:noFill/>
          <a:ln>
            <a:noFill/>
          </a:ln>
        </p:spPr>
        <p:txBody>
          <a:bodyPr spcFirstLastPara="1" wrap="square" lIns="91425" tIns="45700" rIns="91425" bIns="45700" anchor="ctr" anchorCtr="0">
            <a:noAutofit/>
          </a:bodyPr>
          <a:lstStyle/>
          <a:p>
            <a:pPr marL="0" lvl="0" indent="0" algn="just" rtl="0">
              <a:spcBef>
                <a:spcPts val="0"/>
              </a:spcBef>
              <a:spcAft>
                <a:spcPts val="0"/>
              </a:spcAft>
              <a:buClr>
                <a:srgbClr val="262626"/>
              </a:buClr>
              <a:buSzPts val="3200"/>
              <a:buFont typeface="Garamond"/>
              <a:buNone/>
            </a:pPr>
            <a:r>
              <a:rPr lang="en-GB" sz="3200"/>
              <a:t>Metabolic Circumstances of Amino Acid Catabolism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3"/>
          <p:cNvSpPr txBox="1">
            <a:spLocks noGrp="1"/>
          </p:cNvSpPr>
          <p:nvPr>
            <p:ph type="title"/>
          </p:nvPr>
        </p:nvSpPr>
        <p:spPr>
          <a:xfrm>
            <a:off x="457200" y="142852"/>
            <a:ext cx="8229600" cy="42862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b="1"/>
              <a:t>Metabolic Fates of Amino Groups</a:t>
            </a:r>
            <a:endParaRPr/>
          </a:p>
        </p:txBody>
      </p:sp>
      <p:sp>
        <p:nvSpPr>
          <p:cNvPr id="219" name="Google Shape;219;p13"/>
          <p:cNvSpPr txBox="1">
            <a:spLocks noGrp="1"/>
          </p:cNvSpPr>
          <p:nvPr>
            <p:ph type="body" idx="1"/>
          </p:nvPr>
        </p:nvSpPr>
        <p:spPr>
          <a:xfrm>
            <a:off x="71406" y="714356"/>
            <a:ext cx="8839200" cy="6096000"/>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In the cytosol of hepatocytes, amino groups from most amino acids are transferred to α-ketoglutarate to form glutamate, which enters mitochondria and gives up its amino group to</a:t>
            </a:r>
            <a:endParaRPr/>
          </a:p>
          <a:p>
            <a:pPr marL="285750" lvl="0" indent="-285750" algn="just" rtl="0">
              <a:spcBef>
                <a:spcPts val="1080"/>
              </a:spcBef>
              <a:spcAft>
                <a:spcPts val="0"/>
              </a:spcAft>
              <a:buSzPts val="2760"/>
              <a:buNone/>
            </a:pPr>
            <a:r>
              <a:rPr lang="en-GB"/>
              <a:t>    form NH</a:t>
            </a:r>
            <a:r>
              <a:rPr lang="en-GB" baseline="-25000"/>
              <a:t>4</a:t>
            </a:r>
            <a:r>
              <a:rPr lang="en-GB" baseline="30000"/>
              <a:t>+</a:t>
            </a:r>
            <a:r>
              <a:rPr lang="en-GB"/>
              <a:t> </a:t>
            </a:r>
            <a:endParaRPr/>
          </a:p>
          <a:p>
            <a:pPr marL="285750" lvl="0" indent="-285750" algn="just" rtl="0">
              <a:spcBef>
                <a:spcPts val="1080"/>
              </a:spcBef>
              <a:spcAft>
                <a:spcPts val="0"/>
              </a:spcAft>
              <a:buSzPts val="2760"/>
              <a:buChar char="•"/>
            </a:pPr>
            <a:r>
              <a:rPr lang="en-GB"/>
              <a:t>Excess ammonia generated in other tissues is converted to the amide nitrogen of glutamine, which enters the mitochondria </a:t>
            </a:r>
            <a:r>
              <a:rPr lang="en-GB">
                <a:latin typeface="Times New Roman"/>
                <a:ea typeface="Times New Roman"/>
                <a:cs typeface="Times New Roman"/>
                <a:sym typeface="Times New Roman"/>
              </a:rPr>
              <a:t>→</a:t>
            </a:r>
            <a:r>
              <a:rPr lang="en-GB"/>
              <a:t> urea cycle.</a:t>
            </a:r>
            <a:endParaRPr/>
          </a:p>
          <a:p>
            <a:pPr marL="285750" lvl="0" indent="-285750" algn="just" rtl="0">
              <a:spcBef>
                <a:spcPts val="1080"/>
              </a:spcBef>
              <a:spcAft>
                <a:spcPts val="0"/>
              </a:spcAft>
              <a:buSzPts val="2760"/>
              <a:buChar char="•"/>
            </a:pPr>
            <a:r>
              <a:rPr lang="en-GB"/>
              <a:t>In skeletal muscle, excess amino groups are generally transferred to pyruvate to form alanine.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title"/>
          </p:nvPr>
        </p:nvSpPr>
        <p:spPr>
          <a:xfrm>
            <a:off x="638725" y="581403"/>
            <a:ext cx="7948500" cy="675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b="1"/>
              <a:t>Deamination of amino acids</a:t>
            </a:r>
            <a:endParaRPr/>
          </a:p>
        </p:txBody>
      </p:sp>
      <p:sp>
        <p:nvSpPr>
          <p:cNvPr id="225" name="Google Shape;225;p14"/>
          <p:cNvSpPr txBox="1">
            <a:spLocks noGrp="1"/>
          </p:cNvSpPr>
          <p:nvPr>
            <p:ph type="body" idx="1"/>
          </p:nvPr>
        </p:nvSpPr>
        <p:spPr>
          <a:xfrm>
            <a:off x="556825" y="1400249"/>
            <a:ext cx="8130000" cy="4725900"/>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This involves the first stage of amino acid catabolism.</a:t>
            </a:r>
            <a:endParaRPr/>
          </a:p>
          <a:p>
            <a:pPr marL="285750" lvl="0" indent="-285750" algn="just" rtl="0">
              <a:spcBef>
                <a:spcPts val="1080"/>
              </a:spcBef>
              <a:spcAft>
                <a:spcPts val="0"/>
              </a:spcAft>
              <a:buSzPts val="2760"/>
              <a:buChar char="•"/>
            </a:pPr>
            <a:r>
              <a:rPr lang="en-GB"/>
              <a:t>There are several ways for the removal of α-amino group of amino acids.</a:t>
            </a:r>
            <a:endParaRPr/>
          </a:p>
          <a:p>
            <a:pPr marL="285750" lvl="0" indent="-285750" algn="just" rtl="0">
              <a:spcBef>
                <a:spcPts val="1080"/>
              </a:spcBef>
              <a:spcAft>
                <a:spcPts val="0"/>
              </a:spcAft>
              <a:buSzPts val="2760"/>
              <a:buNone/>
            </a:pPr>
            <a:endParaRPr/>
          </a:p>
          <a:p>
            <a:pPr marL="514350" lvl="0" indent="-514350" algn="just" rtl="0">
              <a:spcBef>
                <a:spcPts val="1080"/>
              </a:spcBef>
              <a:spcAft>
                <a:spcPts val="0"/>
              </a:spcAft>
              <a:buSzPts val="2760"/>
              <a:buFont typeface="Garamond"/>
              <a:buAutoNum type="arabicPeriod"/>
            </a:pPr>
            <a:r>
              <a:rPr lang="en-GB"/>
              <a:t>Transamination followed by oxidative deamination (</a:t>
            </a:r>
            <a:r>
              <a:rPr lang="en-GB" b="1"/>
              <a:t>transdeamination</a:t>
            </a:r>
            <a:r>
              <a:rPr lang="en-GB"/>
              <a:t>).</a:t>
            </a:r>
            <a:endParaRPr/>
          </a:p>
          <a:p>
            <a:pPr marL="514350" lvl="0" indent="-514350" algn="just" rtl="0">
              <a:spcBef>
                <a:spcPts val="1080"/>
              </a:spcBef>
              <a:spcAft>
                <a:spcPts val="0"/>
              </a:spcAft>
              <a:buSzPts val="2760"/>
              <a:buFont typeface="Garamond"/>
              <a:buAutoNum type="arabicPeriod"/>
            </a:pPr>
            <a:r>
              <a:rPr lang="en-GB"/>
              <a:t>Oxidative deamination.</a:t>
            </a:r>
            <a:endParaRPr/>
          </a:p>
          <a:p>
            <a:pPr marL="514350" lvl="0" indent="-514350" algn="just" rtl="0">
              <a:spcBef>
                <a:spcPts val="1080"/>
              </a:spcBef>
              <a:spcAft>
                <a:spcPts val="0"/>
              </a:spcAft>
              <a:buSzPts val="2760"/>
              <a:buFont typeface="Garamond"/>
              <a:buAutoNum type="arabicPeriod"/>
            </a:pPr>
            <a:r>
              <a:rPr lang="en-GB"/>
              <a:t>Non-oxidative deamination.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71400" y="294800"/>
            <a:ext cx="8469300" cy="450300"/>
          </a:xfrm>
          <a:prstGeom prst="rect">
            <a:avLst/>
          </a:prstGeom>
          <a:noFill/>
          <a:ln>
            <a:noFill/>
          </a:ln>
        </p:spPr>
        <p:txBody>
          <a:bodyPr spcFirstLastPara="1" wrap="square" lIns="91425" tIns="45700" rIns="91425" bIns="45700" anchor="ctr" anchorCtr="0">
            <a:noAutofit/>
          </a:bodyPr>
          <a:lstStyle/>
          <a:p>
            <a:pPr marL="514350" lvl="0" indent="-514350" algn="ctr" rtl="0">
              <a:spcBef>
                <a:spcPts val="0"/>
              </a:spcBef>
              <a:spcAft>
                <a:spcPts val="0"/>
              </a:spcAft>
              <a:buClr>
                <a:srgbClr val="262626"/>
              </a:buClr>
              <a:buSzPts val="3200"/>
              <a:buFont typeface="Garamond"/>
              <a:buAutoNum type="arabicPeriod"/>
            </a:pPr>
            <a:r>
              <a:rPr lang="en-GB" sz="3200"/>
              <a:t>Transamination followed by oxidative deamination (</a:t>
            </a:r>
            <a:r>
              <a:rPr lang="en-GB" sz="3200" b="1"/>
              <a:t>transdeamination</a:t>
            </a:r>
            <a:r>
              <a:rPr lang="en-GB" sz="3200"/>
              <a:t>)</a:t>
            </a:r>
            <a:endParaRPr sz="3200"/>
          </a:p>
        </p:txBody>
      </p:sp>
      <p:sp>
        <p:nvSpPr>
          <p:cNvPr id="231" name="Google Shape;231;p15"/>
          <p:cNvSpPr txBox="1">
            <a:spLocks noGrp="1"/>
          </p:cNvSpPr>
          <p:nvPr>
            <p:ph type="body" idx="1"/>
          </p:nvPr>
        </p:nvSpPr>
        <p:spPr>
          <a:xfrm>
            <a:off x="214282" y="974739"/>
            <a:ext cx="8858312" cy="5383219"/>
          </a:xfrm>
          <a:prstGeom prst="rect">
            <a:avLst/>
          </a:prstGeom>
          <a:noFill/>
          <a:ln>
            <a:noFill/>
          </a:ln>
        </p:spPr>
        <p:txBody>
          <a:bodyPr spcFirstLastPara="1" wrap="square" lIns="91425" tIns="45700" rIns="91425" bIns="45700" anchor="t" anchorCtr="0">
            <a:normAutofit fontScale="62500" lnSpcReduction="20000"/>
          </a:bodyPr>
          <a:lstStyle/>
          <a:p>
            <a:pPr marL="514350" lvl="0" indent="-514350" algn="just" rtl="0">
              <a:spcBef>
                <a:spcPts val="0"/>
              </a:spcBef>
              <a:spcAft>
                <a:spcPts val="0"/>
              </a:spcAft>
              <a:buSzPct val="115000"/>
              <a:buFont typeface="Garamond"/>
              <a:buAutoNum type="alphaLcParenR"/>
            </a:pPr>
            <a:r>
              <a:rPr lang="en-GB" sz="3400" b="1"/>
              <a:t>Transamination</a:t>
            </a:r>
            <a:endParaRPr sz="3400" b="1"/>
          </a:p>
          <a:p>
            <a:pPr marL="285750" lvl="0" indent="-285750" algn="just" rtl="0">
              <a:spcBef>
                <a:spcPts val="1025"/>
              </a:spcBef>
              <a:spcAft>
                <a:spcPts val="0"/>
              </a:spcAft>
              <a:buSzPct val="115000"/>
              <a:buChar char="•"/>
            </a:pPr>
            <a:r>
              <a:rPr lang="en-GB" sz="3400"/>
              <a:t>This is the first step in the catabolism of most of the amino acids.</a:t>
            </a:r>
            <a:endParaRPr/>
          </a:p>
          <a:p>
            <a:pPr marL="285750" lvl="0" indent="-285750" algn="just" rtl="0">
              <a:spcBef>
                <a:spcPts val="1025"/>
              </a:spcBef>
              <a:spcAft>
                <a:spcPts val="0"/>
              </a:spcAft>
              <a:buSzPct val="115000"/>
              <a:buChar char="•"/>
            </a:pPr>
            <a:r>
              <a:rPr lang="en-GB" sz="3400"/>
              <a:t>The enzymes involved are known as </a:t>
            </a:r>
            <a:r>
              <a:rPr lang="en-GB" sz="3400" b="1"/>
              <a:t>transaminases</a:t>
            </a:r>
            <a:r>
              <a:rPr lang="en-GB" sz="3400"/>
              <a:t>, which are present in mitochondria and cytosol of most tissues and contain </a:t>
            </a:r>
            <a:r>
              <a:rPr lang="en-GB" sz="3400" b="1"/>
              <a:t>pyridoxal phospate </a:t>
            </a:r>
            <a:r>
              <a:rPr lang="en-GB" sz="3400"/>
              <a:t>as prosthetic group.</a:t>
            </a:r>
            <a:endParaRPr/>
          </a:p>
          <a:p>
            <a:pPr marL="285750" lvl="0" indent="-285750" algn="just" rtl="0">
              <a:spcBef>
                <a:spcPts val="1025"/>
              </a:spcBef>
              <a:spcAft>
                <a:spcPts val="0"/>
              </a:spcAft>
              <a:buSzPct val="115000"/>
              <a:buChar char="•"/>
            </a:pPr>
            <a:r>
              <a:rPr lang="en-GB" sz="3400"/>
              <a:t>They transfer α-amino group to an acceptor mostly to </a:t>
            </a:r>
            <a:r>
              <a:rPr lang="en-GB" sz="3400" b="1"/>
              <a:t>α-keto glutarate</a:t>
            </a:r>
            <a:r>
              <a:rPr lang="en-GB" sz="3400"/>
              <a:t>.</a:t>
            </a:r>
            <a:endParaRPr/>
          </a:p>
          <a:p>
            <a:pPr marL="285750" lvl="0" indent="-285750" algn="just" rtl="0">
              <a:spcBef>
                <a:spcPts val="1025"/>
              </a:spcBef>
              <a:spcAft>
                <a:spcPts val="0"/>
              </a:spcAft>
              <a:buSzPct val="115000"/>
              <a:buChar char="•"/>
            </a:pPr>
            <a:r>
              <a:rPr lang="en-GB" sz="3400"/>
              <a:t>They are named according to substrate whose aminogroup is transfered to α-keto glutarate.(e.g. aspartate transaminase).</a:t>
            </a:r>
            <a:endParaRPr/>
          </a:p>
          <a:p>
            <a:pPr marL="285750" lvl="0" indent="-285750" algn="just" rtl="0">
              <a:spcBef>
                <a:spcPts val="1025"/>
              </a:spcBef>
              <a:spcAft>
                <a:spcPts val="0"/>
              </a:spcAft>
              <a:buSzPct val="115000"/>
              <a:buChar char="•"/>
            </a:pPr>
            <a:r>
              <a:rPr lang="en-GB" sz="3400"/>
              <a:t>Though there are several transaminases, most important among them are </a:t>
            </a:r>
            <a:r>
              <a:rPr lang="en-GB" sz="3400" b="1"/>
              <a:t>aspartate amino transferase </a:t>
            </a:r>
            <a:r>
              <a:rPr lang="en-GB" sz="3400"/>
              <a:t>and </a:t>
            </a:r>
            <a:r>
              <a:rPr lang="en-GB" sz="3400" b="1"/>
              <a:t>alanine amino transferase</a:t>
            </a:r>
            <a:r>
              <a:rPr lang="en-GB" sz="3400"/>
              <a:t>.</a:t>
            </a:r>
            <a:endParaRPr/>
          </a:p>
          <a:p>
            <a:pPr marL="285750" lvl="0" indent="-285750" algn="just" rtl="0">
              <a:spcBef>
                <a:spcPts val="1025"/>
              </a:spcBef>
              <a:spcAft>
                <a:spcPts val="0"/>
              </a:spcAft>
              <a:buSzPct val="115000"/>
              <a:buNone/>
            </a:pPr>
            <a:r>
              <a:rPr lang="en-GB" sz="3400" b="1"/>
              <a:t>Note:</a:t>
            </a:r>
            <a:r>
              <a:rPr lang="en-GB" sz="3400"/>
              <a:t> Glutamate serves as a collecting point of α-amino groups.</a:t>
            </a:r>
            <a:endParaRPr/>
          </a:p>
          <a:p>
            <a:pPr marL="285750" lvl="0" indent="-285750" algn="just" rtl="0">
              <a:spcBef>
                <a:spcPts val="1025"/>
              </a:spcBef>
              <a:spcAft>
                <a:spcPts val="0"/>
              </a:spcAft>
              <a:buSzPct val="115000"/>
              <a:buFont typeface="Noto Sans Symbols"/>
              <a:buChar char="❖"/>
            </a:pPr>
            <a:r>
              <a:rPr lang="en-GB" sz="3400"/>
              <a:t>Glutamate then functions as an amino group donor for </a:t>
            </a:r>
            <a:r>
              <a:rPr lang="en-GB" sz="3400" b="1"/>
              <a:t>biosynthetic pathways </a:t>
            </a:r>
            <a:r>
              <a:rPr lang="en-GB" sz="3400"/>
              <a:t>or for </a:t>
            </a:r>
            <a:r>
              <a:rPr lang="en-GB" sz="3400" b="1"/>
              <a:t>excretion pathways </a:t>
            </a:r>
            <a:r>
              <a:rPr lang="en-GB" sz="3400"/>
              <a:t>that lead to the elimination of nitrogenous waste products (</a:t>
            </a:r>
            <a:r>
              <a:rPr lang="en-GB" sz="3400" b="1"/>
              <a:t>e.g. Urea Cycle</a:t>
            </a:r>
            <a:r>
              <a:rPr lang="en-GB" sz="3400"/>
              <a:t>).</a:t>
            </a:r>
            <a:endParaRPr sz="3400"/>
          </a:p>
          <a:p>
            <a:pPr marL="285750" lvl="0" indent="-285750" algn="just" rtl="0">
              <a:spcBef>
                <a:spcPts val="900"/>
              </a:spcBef>
              <a:spcAft>
                <a:spcPts val="0"/>
              </a:spcAft>
              <a:buSzPct val="115000"/>
              <a:buNone/>
            </a:pPr>
            <a:endParaRPr/>
          </a:p>
          <a:p>
            <a:pPr marL="285750" lvl="0" indent="-176212" algn="l" rtl="0">
              <a:spcBef>
                <a:spcPts val="900"/>
              </a:spcBef>
              <a:spcAft>
                <a:spcPts val="0"/>
              </a:spcAft>
              <a:buSzPct val="115000"/>
              <a:buNone/>
            </a:pPr>
            <a:endParaRPr/>
          </a:p>
          <a:p>
            <a:pPr marL="285750" lvl="0" indent="-176212" algn="l" rtl="0">
              <a:spcBef>
                <a:spcPts val="900"/>
              </a:spcBef>
              <a:spcAft>
                <a:spcPts val="0"/>
              </a:spcAft>
              <a:buSzPct val="115000"/>
              <a:buNone/>
            </a:pPr>
            <a:endParaRPr/>
          </a:p>
          <a:p>
            <a:pPr marL="514350" lvl="0" indent="-514350" algn="l" rtl="0">
              <a:spcBef>
                <a:spcPts val="900"/>
              </a:spcBef>
              <a:spcAft>
                <a:spcPts val="0"/>
              </a:spcAft>
              <a:buSzPct val="1150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785786" y="71414"/>
            <a:ext cx="77724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FB0DC"/>
              </a:buClr>
              <a:buSzPct val="100000"/>
              <a:buFont typeface="Garamond"/>
              <a:buNone/>
            </a:pPr>
            <a:r>
              <a:rPr lang="en-GB">
                <a:solidFill>
                  <a:srgbClr val="2FB0DC"/>
                </a:solidFill>
              </a:rPr>
              <a:t>Structure of Pyridoxal Phosphate and Pyridoxamine Phosphate</a:t>
            </a:r>
            <a:endParaRPr/>
          </a:p>
        </p:txBody>
      </p:sp>
      <p:sp>
        <p:nvSpPr>
          <p:cNvPr id="237" name="Google Shape;237;p16"/>
          <p:cNvSpPr/>
          <p:nvPr/>
        </p:nvSpPr>
        <p:spPr>
          <a:xfrm>
            <a:off x="142844" y="1409720"/>
            <a:ext cx="3962400" cy="4876800"/>
          </a:xfrm>
          <a:prstGeom prst="rect">
            <a:avLst/>
          </a:prstGeom>
          <a:noFill/>
          <a:ln>
            <a:noFill/>
          </a:ln>
        </p:spPr>
        <p:txBody>
          <a:bodyPr spcFirstLastPara="1" wrap="square" lIns="91425" tIns="45700" rIns="91425" bIns="45700" anchor="t" anchorCtr="0">
            <a:noAutofit/>
          </a:bodyPr>
          <a:lstStyle/>
          <a:p>
            <a:pPr marL="220663" marR="0" lvl="0" indent="-220663" algn="just" rtl="0">
              <a:lnSpc>
                <a:spcPct val="80000"/>
              </a:lnSpc>
              <a:spcBef>
                <a:spcPts val="0"/>
              </a:spcBef>
              <a:spcAft>
                <a:spcPts val="0"/>
              </a:spcAft>
              <a:buClr>
                <a:schemeClr val="dk1"/>
              </a:buClr>
              <a:buSzPts val="2800"/>
              <a:buFont typeface="Arial"/>
              <a:buChar char="•"/>
            </a:pPr>
            <a:r>
              <a:rPr lang="en-GB" sz="2800">
                <a:solidFill>
                  <a:schemeClr val="dk1"/>
                </a:solidFill>
                <a:latin typeface="Arial"/>
                <a:ea typeface="Arial"/>
                <a:cs typeface="Arial"/>
                <a:sym typeface="Arial"/>
              </a:rPr>
              <a:t>Intermediate, enzyme-bound carrier of amino groups. </a:t>
            </a:r>
            <a:endParaRPr/>
          </a:p>
          <a:p>
            <a:pPr marL="220663" marR="0" lvl="0" indent="-220663" algn="just" rtl="0">
              <a:lnSpc>
                <a:spcPct val="120000"/>
              </a:lnSpc>
              <a:spcBef>
                <a:spcPts val="560"/>
              </a:spcBef>
              <a:spcAft>
                <a:spcPts val="0"/>
              </a:spcAft>
              <a:buClr>
                <a:srgbClr val="0000FF"/>
              </a:buClr>
              <a:buSzPts val="2800"/>
              <a:buFont typeface="Arial"/>
              <a:buChar char="•"/>
            </a:pPr>
            <a:r>
              <a:rPr lang="en-GB" sz="2800">
                <a:solidFill>
                  <a:srgbClr val="0000FF"/>
                </a:solidFill>
                <a:latin typeface="Arial"/>
                <a:ea typeface="Arial"/>
                <a:cs typeface="Arial"/>
                <a:sym typeface="Arial"/>
              </a:rPr>
              <a:t>Aldehyde</a:t>
            </a:r>
            <a:r>
              <a:rPr lang="en-GB" sz="2800">
                <a:solidFill>
                  <a:schemeClr val="dk1"/>
                </a:solidFill>
                <a:latin typeface="Arial"/>
                <a:ea typeface="Arial"/>
                <a:cs typeface="Arial"/>
                <a:sym typeface="Arial"/>
              </a:rPr>
              <a:t> form can react reversibly </a:t>
            </a:r>
            <a:r>
              <a:rPr lang="en-GB" sz="2800">
                <a:solidFill>
                  <a:srgbClr val="0000FF"/>
                </a:solidFill>
                <a:latin typeface="Arial"/>
                <a:ea typeface="Arial"/>
                <a:cs typeface="Arial"/>
                <a:sym typeface="Arial"/>
              </a:rPr>
              <a:t>with amino groups.</a:t>
            </a:r>
            <a:endParaRPr/>
          </a:p>
          <a:p>
            <a:pPr marL="220663" marR="0" lvl="0" indent="-220663" algn="just" rtl="0">
              <a:lnSpc>
                <a:spcPct val="120000"/>
              </a:lnSpc>
              <a:spcBef>
                <a:spcPts val="560"/>
              </a:spcBef>
              <a:spcAft>
                <a:spcPts val="0"/>
              </a:spcAft>
              <a:buClr>
                <a:srgbClr val="0000FF"/>
              </a:buClr>
              <a:buSzPts val="2800"/>
              <a:buFont typeface="Arial"/>
              <a:buChar char="•"/>
            </a:pPr>
            <a:r>
              <a:rPr lang="en-GB" sz="2800">
                <a:solidFill>
                  <a:srgbClr val="0000FF"/>
                </a:solidFill>
                <a:latin typeface="Arial"/>
                <a:ea typeface="Arial"/>
                <a:cs typeface="Arial"/>
                <a:sym typeface="Arial"/>
              </a:rPr>
              <a:t>Aminated</a:t>
            </a:r>
            <a:r>
              <a:rPr lang="en-GB" sz="2800">
                <a:solidFill>
                  <a:schemeClr val="dk1"/>
                </a:solidFill>
                <a:latin typeface="Arial"/>
                <a:ea typeface="Arial"/>
                <a:cs typeface="Arial"/>
                <a:sym typeface="Arial"/>
              </a:rPr>
              <a:t> form can react reversibly </a:t>
            </a:r>
            <a:r>
              <a:rPr lang="en-GB" sz="2800">
                <a:solidFill>
                  <a:srgbClr val="0000FF"/>
                </a:solidFill>
                <a:latin typeface="Arial"/>
                <a:ea typeface="Arial"/>
                <a:cs typeface="Arial"/>
                <a:sym typeface="Arial"/>
              </a:rPr>
              <a:t>with carbonyl groups.</a:t>
            </a:r>
            <a:endParaRPr sz="2800">
              <a:solidFill>
                <a:schemeClr val="dk1"/>
              </a:solidFill>
              <a:latin typeface="Arial"/>
              <a:ea typeface="Arial"/>
              <a:cs typeface="Arial"/>
              <a:sym typeface="Arial"/>
            </a:endParaRPr>
          </a:p>
        </p:txBody>
      </p:sp>
      <p:pic>
        <p:nvPicPr>
          <p:cNvPr id="238" name="Google Shape;238;p16" descr="figure 18-05a"/>
          <p:cNvPicPr preferRelativeResize="0"/>
          <p:nvPr/>
        </p:nvPicPr>
        <p:blipFill rotWithShape="1">
          <a:blip r:embed="rId3">
            <a:alphaModFix/>
          </a:blip>
          <a:srcRect/>
          <a:stretch/>
        </p:blipFill>
        <p:spPr>
          <a:xfrm>
            <a:off x="4310925" y="1484521"/>
            <a:ext cx="4819646" cy="481965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7"/>
          <p:cNvSpPr txBox="1"/>
          <p:nvPr/>
        </p:nvSpPr>
        <p:spPr>
          <a:xfrm>
            <a:off x="142876" y="857233"/>
            <a:ext cx="5143504" cy="5324535"/>
          </a:xfrm>
          <a:prstGeom prst="rect">
            <a:avLst/>
          </a:prstGeom>
          <a:noFill/>
          <a:ln>
            <a:noFill/>
          </a:ln>
        </p:spPr>
        <p:txBody>
          <a:bodyPr spcFirstLastPara="1" wrap="square" lIns="91425" tIns="45700" rIns="91425" bIns="45700" anchor="t" anchorCtr="0">
            <a:spAutoFit/>
          </a:bodyPr>
          <a:lstStyle/>
          <a:p>
            <a:pPr marL="0" marR="0" lvl="0" indent="-127000" algn="just" rtl="0">
              <a:spcBef>
                <a:spcPts val="0"/>
              </a:spcBef>
              <a:spcAft>
                <a:spcPts val="0"/>
              </a:spcAft>
              <a:buClr>
                <a:schemeClr val="dk1"/>
              </a:buClr>
              <a:buSzPts val="2000"/>
              <a:buFont typeface="Noto Sans Symbols"/>
              <a:buChar char="❖"/>
            </a:pPr>
            <a:r>
              <a:rPr lang="en-GB" sz="2000">
                <a:solidFill>
                  <a:schemeClr val="dk1"/>
                </a:solidFill>
                <a:latin typeface="Garamond"/>
                <a:ea typeface="Garamond"/>
                <a:cs typeface="Garamond"/>
                <a:sym typeface="Garamond"/>
              </a:rPr>
              <a:t>In hepatocytes, glutamate is transported from the cytosol into mitochondria, where it undergoes </a:t>
            </a:r>
            <a:r>
              <a:rPr lang="en-GB" sz="2000" b="1">
                <a:solidFill>
                  <a:schemeClr val="dk1"/>
                </a:solidFill>
                <a:latin typeface="Garamond"/>
                <a:ea typeface="Garamond"/>
                <a:cs typeface="Garamond"/>
                <a:sym typeface="Garamond"/>
              </a:rPr>
              <a:t>oxidative deamination </a:t>
            </a:r>
            <a:r>
              <a:rPr lang="en-GB" sz="2000">
                <a:solidFill>
                  <a:schemeClr val="dk1"/>
                </a:solidFill>
                <a:latin typeface="Garamond"/>
                <a:ea typeface="Garamond"/>
                <a:cs typeface="Garamond"/>
                <a:sym typeface="Garamond"/>
              </a:rPr>
              <a:t>catalyzed by </a:t>
            </a:r>
            <a:r>
              <a:rPr lang="en-GB" sz="2000" b="1">
                <a:solidFill>
                  <a:schemeClr val="dk1"/>
                </a:solidFill>
                <a:latin typeface="Garamond"/>
                <a:ea typeface="Garamond"/>
                <a:cs typeface="Garamond"/>
                <a:sym typeface="Garamond"/>
              </a:rPr>
              <a:t>L-glutamate Dehydrogenase.</a:t>
            </a:r>
            <a:endParaRPr/>
          </a:p>
          <a:p>
            <a:pPr marL="0" marR="0" lvl="0" indent="-127000" algn="just" rtl="0">
              <a:spcBef>
                <a:spcPts val="0"/>
              </a:spcBef>
              <a:spcAft>
                <a:spcPts val="0"/>
              </a:spcAft>
              <a:buClr>
                <a:schemeClr val="dk1"/>
              </a:buClr>
              <a:buSzPts val="2000"/>
              <a:buFont typeface="Noto Sans Symbols"/>
              <a:buChar char="❖"/>
            </a:pPr>
            <a:r>
              <a:rPr lang="en-GB" sz="2000">
                <a:solidFill>
                  <a:schemeClr val="dk1"/>
                </a:solidFill>
                <a:latin typeface="Garamond"/>
                <a:ea typeface="Garamond"/>
                <a:cs typeface="Garamond"/>
                <a:sym typeface="Garamond"/>
              </a:rPr>
              <a:t>The combined action of an </a:t>
            </a:r>
            <a:r>
              <a:rPr lang="en-GB" sz="2000" b="1">
                <a:solidFill>
                  <a:schemeClr val="dk1"/>
                </a:solidFill>
                <a:latin typeface="Garamond"/>
                <a:ea typeface="Garamond"/>
                <a:cs typeface="Garamond"/>
                <a:sym typeface="Garamond"/>
              </a:rPr>
              <a:t>aminotransferase</a:t>
            </a:r>
            <a:r>
              <a:rPr lang="en-GB" sz="2000">
                <a:solidFill>
                  <a:schemeClr val="dk1"/>
                </a:solidFill>
                <a:latin typeface="Garamond"/>
                <a:ea typeface="Garamond"/>
                <a:cs typeface="Garamond"/>
                <a:sym typeface="Garamond"/>
              </a:rPr>
              <a:t> and</a:t>
            </a:r>
            <a:r>
              <a:rPr lang="en-GB" sz="2000" b="1">
                <a:solidFill>
                  <a:schemeClr val="dk1"/>
                </a:solidFill>
                <a:latin typeface="Garamond"/>
                <a:ea typeface="Garamond"/>
                <a:cs typeface="Garamond"/>
                <a:sym typeface="Garamond"/>
              </a:rPr>
              <a:t> glutamate dehydrogenase</a:t>
            </a:r>
            <a:r>
              <a:rPr lang="en-GB" sz="2000">
                <a:solidFill>
                  <a:schemeClr val="dk1"/>
                </a:solidFill>
                <a:latin typeface="Garamond"/>
                <a:ea typeface="Garamond"/>
                <a:cs typeface="Garamond"/>
                <a:sym typeface="Garamond"/>
              </a:rPr>
              <a:t> is referred to as </a:t>
            </a:r>
            <a:r>
              <a:rPr lang="en-GB" sz="2000" b="1">
                <a:solidFill>
                  <a:schemeClr val="dk1"/>
                </a:solidFill>
                <a:latin typeface="Garamond"/>
                <a:ea typeface="Garamond"/>
                <a:cs typeface="Garamond"/>
                <a:sym typeface="Garamond"/>
              </a:rPr>
              <a:t>transdeamination.</a:t>
            </a:r>
            <a:endParaRPr/>
          </a:p>
          <a:p>
            <a:pPr marL="0" marR="0" lvl="0" indent="-127000" algn="just" rtl="0">
              <a:spcBef>
                <a:spcPts val="0"/>
              </a:spcBef>
              <a:spcAft>
                <a:spcPts val="0"/>
              </a:spcAft>
              <a:buClr>
                <a:schemeClr val="dk1"/>
              </a:buClr>
              <a:buSzPts val="2000"/>
              <a:buFont typeface="Noto Sans Symbols"/>
              <a:buChar char="❖"/>
            </a:pPr>
            <a:r>
              <a:rPr lang="en-GB" sz="2000" b="1">
                <a:solidFill>
                  <a:schemeClr val="dk1"/>
                </a:solidFill>
                <a:latin typeface="Garamond"/>
                <a:ea typeface="Garamond"/>
                <a:cs typeface="Garamond"/>
                <a:sym typeface="Garamond"/>
              </a:rPr>
              <a:t>Glutamate dehydrogenase </a:t>
            </a:r>
            <a:r>
              <a:rPr lang="en-GB" sz="2000">
                <a:solidFill>
                  <a:schemeClr val="dk1"/>
                </a:solidFill>
                <a:latin typeface="Garamond"/>
                <a:ea typeface="Garamond"/>
                <a:cs typeface="Garamond"/>
                <a:sym typeface="Garamond"/>
              </a:rPr>
              <a:t>is influenced by an array of allosteric modulators (e.g. ADP is a positive modulator while GTP is a negative modulator).</a:t>
            </a:r>
            <a:endParaRPr/>
          </a:p>
          <a:p>
            <a:pPr marL="0" marR="0" lvl="0" indent="-127000" algn="just" rtl="0">
              <a:spcBef>
                <a:spcPts val="0"/>
              </a:spcBef>
              <a:spcAft>
                <a:spcPts val="0"/>
              </a:spcAft>
              <a:buClr>
                <a:schemeClr val="dk1"/>
              </a:buClr>
              <a:buSzPts val="2000"/>
              <a:buFont typeface="Noto Sans Symbols"/>
              <a:buChar char="❖"/>
            </a:pPr>
            <a:r>
              <a:rPr lang="en-GB" sz="2000">
                <a:solidFill>
                  <a:schemeClr val="dk1"/>
                </a:solidFill>
                <a:latin typeface="Garamond"/>
                <a:ea typeface="Garamond"/>
                <a:cs typeface="Garamond"/>
                <a:sym typeface="Garamond"/>
              </a:rPr>
              <a:t> Mutations that alter the allosteric binding site for GTP lead to a human genetic disorder called </a:t>
            </a:r>
            <a:r>
              <a:rPr lang="en-GB" sz="2000" b="1">
                <a:solidFill>
                  <a:schemeClr val="dk1"/>
                </a:solidFill>
                <a:latin typeface="Garamond"/>
                <a:ea typeface="Garamond"/>
                <a:cs typeface="Garamond"/>
                <a:sym typeface="Garamond"/>
              </a:rPr>
              <a:t>hyperinsulinism-hyperammonemia</a:t>
            </a:r>
            <a:r>
              <a:rPr lang="en-GB" sz="2000">
                <a:solidFill>
                  <a:schemeClr val="dk1"/>
                </a:solidFill>
                <a:latin typeface="Garamond"/>
                <a:ea typeface="Garamond"/>
                <a:cs typeface="Garamond"/>
                <a:sym typeface="Garamond"/>
              </a:rPr>
              <a:t> </a:t>
            </a:r>
            <a:r>
              <a:rPr lang="en-GB" sz="2000" b="1">
                <a:solidFill>
                  <a:schemeClr val="dk1"/>
                </a:solidFill>
                <a:latin typeface="Garamond"/>
                <a:ea typeface="Garamond"/>
                <a:cs typeface="Garamond"/>
                <a:sym typeface="Garamond"/>
              </a:rPr>
              <a:t>syndrome, </a:t>
            </a:r>
            <a:r>
              <a:rPr lang="en-GB" sz="2000">
                <a:solidFill>
                  <a:schemeClr val="dk1"/>
                </a:solidFill>
                <a:latin typeface="Garamond"/>
                <a:ea typeface="Garamond"/>
                <a:cs typeface="Garamond"/>
                <a:sym typeface="Garamond"/>
              </a:rPr>
              <a:t>characterized by elevated levels of ammonia in the bloodstream and hypoglycemia.</a:t>
            </a:r>
            <a:endParaRPr sz="2000">
              <a:solidFill>
                <a:schemeClr val="dk1"/>
              </a:solidFill>
              <a:latin typeface="Garamond"/>
              <a:ea typeface="Garamond"/>
              <a:cs typeface="Garamond"/>
              <a:sym typeface="Garamond"/>
            </a:endParaRPr>
          </a:p>
        </p:txBody>
      </p:sp>
      <p:pic>
        <p:nvPicPr>
          <p:cNvPr id="244" name="Google Shape;244;p17" descr="figure 18-07"/>
          <p:cNvPicPr preferRelativeResize="0"/>
          <p:nvPr/>
        </p:nvPicPr>
        <p:blipFill rotWithShape="1">
          <a:blip r:embed="rId3">
            <a:alphaModFix/>
          </a:blip>
          <a:srcRect/>
          <a:stretch/>
        </p:blipFill>
        <p:spPr>
          <a:xfrm>
            <a:off x="5357818" y="857232"/>
            <a:ext cx="3786214" cy="5305420"/>
          </a:xfrm>
          <a:prstGeom prst="rect">
            <a:avLst/>
          </a:prstGeom>
          <a:noFill/>
          <a:ln>
            <a:noFill/>
          </a:ln>
        </p:spPr>
      </p:pic>
      <p:sp>
        <p:nvSpPr>
          <p:cNvPr id="245" name="Google Shape;245;p17"/>
          <p:cNvSpPr txBox="1"/>
          <p:nvPr/>
        </p:nvSpPr>
        <p:spPr>
          <a:xfrm>
            <a:off x="357145" y="131024"/>
            <a:ext cx="5911200" cy="4617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Garamond"/>
              <a:buAutoNum type="alphaLcParenR" startAt="2"/>
            </a:pPr>
            <a:r>
              <a:rPr lang="en-GB" sz="2400" b="1">
                <a:solidFill>
                  <a:schemeClr val="dk1"/>
                </a:solidFill>
                <a:latin typeface="Garamond"/>
                <a:ea typeface="Garamond"/>
                <a:cs typeface="Garamond"/>
                <a:sym typeface="Garamond"/>
              </a:rPr>
              <a:t> Oxidative deamination</a:t>
            </a:r>
            <a:endParaRPr sz="2400" b="1">
              <a:solidFill>
                <a:schemeClr val="dk1"/>
              </a:solidFill>
              <a:latin typeface="Garamond"/>
              <a:ea typeface="Garamond"/>
              <a:cs typeface="Garamond"/>
              <a:sym typeface="Garamon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8"/>
          <p:cNvSpPr txBox="1">
            <a:spLocks noGrp="1"/>
          </p:cNvSpPr>
          <p:nvPr>
            <p:ph type="title"/>
          </p:nvPr>
        </p:nvSpPr>
        <p:spPr>
          <a:xfrm>
            <a:off x="457200" y="274638"/>
            <a:ext cx="8229600" cy="582594"/>
          </a:xfrm>
          <a:prstGeom prst="rect">
            <a:avLst/>
          </a:prstGeom>
          <a:noFill/>
          <a:ln>
            <a:noFill/>
          </a:ln>
        </p:spPr>
        <p:txBody>
          <a:bodyPr spcFirstLastPara="1" wrap="square" lIns="91425" tIns="45700" rIns="91425" bIns="45700" anchor="ctr" anchorCtr="0">
            <a:normAutofit fontScale="90000"/>
          </a:bodyPr>
          <a:lstStyle/>
          <a:p>
            <a:pPr marL="742950" lvl="0" indent="-742950" algn="ctr" rtl="0">
              <a:spcBef>
                <a:spcPts val="0"/>
              </a:spcBef>
              <a:spcAft>
                <a:spcPts val="0"/>
              </a:spcAft>
              <a:buClr>
                <a:srgbClr val="262626"/>
              </a:buClr>
              <a:buSzPct val="100000"/>
              <a:buFont typeface="Garamond"/>
              <a:buAutoNum type="arabicPeriod" startAt="2"/>
            </a:pPr>
            <a:r>
              <a:rPr lang="en-GB"/>
              <a:t>Oxidative deamination</a:t>
            </a:r>
            <a:endParaRPr/>
          </a:p>
        </p:txBody>
      </p:sp>
      <p:sp>
        <p:nvSpPr>
          <p:cNvPr id="251" name="Google Shape;251;p18"/>
          <p:cNvSpPr txBox="1">
            <a:spLocks noGrp="1"/>
          </p:cNvSpPr>
          <p:nvPr>
            <p:ph type="body" idx="1"/>
          </p:nvPr>
        </p:nvSpPr>
        <p:spPr>
          <a:xfrm>
            <a:off x="357158" y="1000108"/>
            <a:ext cx="8401080" cy="5143536"/>
          </a:xfrm>
          <a:prstGeom prst="rect">
            <a:avLst/>
          </a:prstGeom>
          <a:noFill/>
          <a:ln>
            <a:noFill/>
          </a:ln>
        </p:spPr>
        <p:txBody>
          <a:bodyPr spcFirstLastPara="1" wrap="square" lIns="91425" tIns="45700" rIns="91425" bIns="45700" anchor="t" anchorCtr="0">
            <a:noAutofit/>
          </a:bodyPr>
          <a:lstStyle/>
          <a:p>
            <a:pPr marL="285750" lvl="0" indent="-285750" algn="just" rtl="0">
              <a:spcBef>
                <a:spcPts val="0"/>
              </a:spcBef>
              <a:spcAft>
                <a:spcPts val="0"/>
              </a:spcAft>
              <a:buSzPts val="3220"/>
              <a:buChar char="•"/>
            </a:pPr>
            <a:r>
              <a:rPr lang="en-GB" sz="2800"/>
              <a:t>This is an NAD</a:t>
            </a:r>
            <a:r>
              <a:rPr lang="en-GB" sz="2800" baseline="30000"/>
              <a:t>+</a:t>
            </a:r>
            <a:r>
              <a:rPr lang="en-GB" sz="2800"/>
              <a:t> independent oxidative deamination.</a:t>
            </a:r>
            <a:endParaRPr/>
          </a:p>
          <a:p>
            <a:pPr marL="285750" lvl="0" indent="-285750" algn="just" rtl="0">
              <a:spcBef>
                <a:spcPts val="1160"/>
              </a:spcBef>
              <a:spcAft>
                <a:spcPts val="0"/>
              </a:spcAft>
              <a:buSzPts val="3220"/>
              <a:buChar char="•"/>
            </a:pPr>
            <a:r>
              <a:rPr lang="en-GB" sz="2800"/>
              <a:t>This type of oxidative deamination is catalyzed by </a:t>
            </a:r>
            <a:r>
              <a:rPr lang="en-GB" sz="2800" b="1"/>
              <a:t>amino acid oxidases</a:t>
            </a:r>
            <a:r>
              <a:rPr lang="en-GB" sz="2800"/>
              <a:t>,Present in the liver and kidney.</a:t>
            </a:r>
            <a:endParaRPr/>
          </a:p>
          <a:p>
            <a:pPr marL="285750" lvl="0" indent="-285750" algn="just" rtl="0">
              <a:spcBef>
                <a:spcPts val="1160"/>
              </a:spcBef>
              <a:spcAft>
                <a:spcPts val="0"/>
              </a:spcAft>
              <a:buSzPts val="3220"/>
              <a:buChar char="•"/>
            </a:pPr>
            <a:r>
              <a:rPr lang="en-GB" sz="2800"/>
              <a:t>They are of two types: </a:t>
            </a:r>
            <a:r>
              <a:rPr lang="en-GB" sz="2800" b="1"/>
              <a:t>D-amino acid oxidase </a:t>
            </a:r>
            <a:r>
              <a:rPr lang="en-GB" sz="2800"/>
              <a:t>and </a:t>
            </a:r>
            <a:r>
              <a:rPr lang="en-GB" sz="2800" b="1"/>
              <a:t>L-amino acid oxidase</a:t>
            </a:r>
            <a:r>
              <a:rPr lang="en-GB" sz="2800"/>
              <a:t>, which depend on FAD and FMN respectively.</a:t>
            </a:r>
            <a:endParaRPr/>
          </a:p>
          <a:p>
            <a:pPr marL="285750" lvl="0" indent="-285750" algn="just" rtl="0">
              <a:spcBef>
                <a:spcPts val="1160"/>
              </a:spcBef>
              <a:spcAft>
                <a:spcPts val="0"/>
              </a:spcAft>
              <a:buSzPts val="3220"/>
              <a:buChar char="•"/>
            </a:pPr>
            <a:r>
              <a:rPr lang="en-GB" sz="2800"/>
              <a:t>The reaction mechanism of these oxidases involves first oxidation of aminoacid to </a:t>
            </a:r>
            <a:r>
              <a:rPr lang="en-GB" sz="2800" b="1"/>
              <a:t>iminoacid</a:t>
            </a:r>
            <a:r>
              <a:rPr lang="en-GB" sz="2800"/>
              <a:t>, followed by hydrolytic loss of ammonia to produce α-keto acid.</a:t>
            </a:r>
            <a:endParaRPr/>
          </a:p>
          <a:p>
            <a:pPr marL="285750" lvl="0" indent="-285750" algn="just" rtl="0">
              <a:spcBef>
                <a:spcPts val="1160"/>
              </a:spcBef>
              <a:spcAft>
                <a:spcPts val="0"/>
              </a:spcAft>
              <a:buSzPts val="3220"/>
              <a:buNone/>
            </a:pPr>
            <a:r>
              <a:rPr lang="en-GB" sz="2800" b="1"/>
              <a:t>Note:</a:t>
            </a:r>
            <a:r>
              <a:rPr lang="en-GB" sz="2800"/>
              <a:t> The activity of </a:t>
            </a:r>
            <a:r>
              <a:rPr lang="en-GB" sz="2800" b="1"/>
              <a:t>L-amino acid oxidase</a:t>
            </a:r>
            <a:r>
              <a:rPr lang="en-GB" sz="2800"/>
              <a:t> is low, therefore its contribution to ammonia production minimal.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19"/>
          <p:cNvPicPr preferRelativeResize="0"/>
          <p:nvPr/>
        </p:nvPicPr>
        <p:blipFill rotWithShape="1">
          <a:blip r:embed="rId3">
            <a:alphaModFix/>
          </a:blip>
          <a:srcRect/>
          <a:stretch/>
        </p:blipFill>
        <p:spPr>
          <a:xfrm>
            <a:off x="428596" y="500042"/>
            <a:ext cx="8215369" cy="5143536"/>
          </a:xfrm>
          <a:prstGeom prst="rect">
            <a:avLst/>
          </a:prstGeom>
          <a:noFill/>
          <a:ln>
            <a:noFill/>
          </a:ln>
        </p:spPr>
      </p:pic>
      <p:sp>
        <p:nvSpPr>
          <p:cNvPr id="257" name="Google Shape;257;p19"/>
          <p:cNvSpPr txBox="1"/>
          <p:nvPr/>
        </p:nvSpPr>
        <p:spPr>
          <a:xfrm>
            <a:off x="5786446" y="428604"/>
            <a:ext cx="2951705" cy="461665"/>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Garamond"/>
              <a:buAutoNum type="arabicPeriod"/>
            </a:pPr>
            <a:r>
              <a:rPr lang="en-GB" sz="2400" b="1">
                <a:solidFill>
                  <a:schemeClr val="dk1"/>
                </a:solidFill>
                <a:latin typeface="Garamond"/>
                <a:ea typeface="Garamond"/>
                <a:cs typeface="Garamond"/>
                <a:sym typeface="Garamond"/>
              </a:rPr>
              <a:t>Transdeamination</a:t>
            </a:r>
            <a:endParaRPr sz="2400" b="1">
              <a:solidFill>
                <a:schemeClr val="dk1"/>
              </a:solidFill>
              <a:latin typeface="Garamond"/>
              <a:ea typeface="Garamond"/>
              <a:cs typeface="Garamond"/>
              <a:sym typeface="Garamond"/>
            </a:endParaRPr>
          </a:p>
        </p:txBody>
      </p:sp>
      <p:sp>
        <p:nvSpPr>
          <p:cNvPr id="258" name="Google Shape;258;p19"/>
          <p:cNvSpPr txBox="1"/>
          <p:nvPr/>
        </p:nvSpPr>
        <p:spPr>
          <a:xfrm>
            <a:off x="5357818" y="3824591"/>
            <a:ext cx="3559436" cy="461665"/>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Garamond"/>
              <a:buAutoNum type="arabicPeriod" startAt="2"/>
            </a:pPr>
            <a:r>
              <a:rPr lang="en-GB" sz="2400" b="1">
                <a:solidFill>
                  <a:schemeClr val="dk1"/>
                </a:solidFill>
                <a:latin typeface="Garamond"/>
                <a:ea typeface="Garamond"/>
                <a:cs typeface="Garamond"/>
                <a:sym typeface="Garamond"/>
              </a:rPr>
              <a:t>Oxidative deamination</a:t>
            </a:r>
            <a:endParaRPr sz="2400" b="1">
              <a:solidFill>
                <a:schemeClr val="dk1"/>
              </a:solidFill>
              <a:latin typeface="Garamond"/>
              <a:ea typeface="Garamond"/>
              <a:cs typeface="Garamond"/>
              <a:sym typeface="Garamond"/>
            </a:endParaRPr>
          </a:p>
        </p:txBody>
      </p:sp>
      <p:grpSp>
        <p:nvGrpSpPr>
          <p:cNvPr id="259" name="Google Shape;259;p19"/>
          <p:cNvGrpSpPr/>
          <p:nvPr/>
        </p:nvGrpSpPr>
        <p:grpSpPr>
          <a:xfrm>
            <a:off x="1071538" y="5643578"/>
            <a:ext cx="3258810" cy="923330"/>
            <a:chOff x="1071538" y="5643578"/>
            <a:chExt cx="3258810" cy="923330"/>
          </a:xfrm>
        </p:grpSpPr>
        <p:sp>
          <p:nvSpPr>
            <p:cNvPr id="260" name="Google Shape;260;p19"/>
            <p:cNvSpPr txBox="1"/>
            <p:nvPr/>
          </p:nvSpPr>
          <p:spPr>
            <a:xfrm>
              <a:off x="1357290" y="5643578"/>
              <a:ext cx="297305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Garamond"/>
                  <a:ea typeface="Garamond"/>
                  <a:cs typeface="Garamond"/>
                  <a:sym typeface="Garamond"/>
                </a:rPr>
                <a:t> Aspartate amino transferase</a:t>
              </a:r>
              <a:endParaRPr sz="1800">
                <a:solidFill>
                  <a:schemeClr val="dk1"/>
                </a:solidFill>
                <a:latin typeface="Garamond"/>
                <a:ea typeface="Garamond"/>
                <a:cs typeface="Garamond"/>
                <a:sym typeface="Garamond"/>
              </a:endParaRPr>
            </a:p>
            <a:p>
              <a:pPr marL="0" marR="0" lvl="0" indent="0" algn="l" rtl="0">
                <a:spcBef>
                  <a:spcPts val="0"/>
                </a:spcBef>
                <a:spcAft>
                  <a:spcPts val="0"/>
                </a:spcAft>
                <a:buNone/>
              </a:pPr>
              <a:endParaRPr sz="1800">
                <a:solidFill>
                  <a:schemeClr val="dk1"/>
                </a:solidFill>
                <a:latin typeface="Garamond"/>
                <a:ea typeface="Garamond"/>
                <a:cs typeface="Garamond"/>
                <a:sym typeface="Garamond"/>
              </a:endParaRPr>
            </a:p>
            <a:p>
              <a:pPr marL="0" marR="0" lvl="0" indent="0" algn="l" rtl="0">
                <a:spcBef>
                  <a:spcPts val="0"/>
                </a:spcBef>
                <a:spcAft>
                  <a:spcPts val="0"/>
                </a:spcAft>
                <a:buNone/>
              </a:pPr>
              <a:r>
                <a:rPr lang="en-GB" sz="1800">
                  <a:solidFill>
                    <a:schemeClr val="dk1"/>
                  </a:solidFill>
                  <a:latin typeface="Garamond"/>
                  <a:ea typeface="Garamond"/>
                  <a:cs typeface="Garamond"/>
                  <a:sym typeface="Garamond"/>
                </a:rPr>
                <a:t> Glutamate dehydrogenase</a:t>
              </a:r>
              <a:endParaRPr sz="1800">
                <a:solidFill>
                  <a:schemeClr val="dk1"/>
                </a:solidFill>
                <a:latin typeface="Garamond"/>
                <a:ea typeface="Garamond"/>
                <a:cs typeface="Garamond"/>
                <a:sym typeface="Garamond"/>
              </a:endParaRPr>
            </a:p>
          </p:txBody>
        </p:sp>
        <p:sp>
          <p:nvSpPr>
            <p:cNvPr id="261" name="Google Shape;261;p19"/>
            <p:cNvSpPr/>
            <p:nvPr/>
          </p:nvSpPr>
          <p:spPr>
            <a:xfrm>
              <a:off x="1071538" y="5715016"/>
              <a:ext cx="357190" cy="285752"/>
            </a:xfrm>
            <a:prstGeom prst="ellipse">
              <a:avLst/>
            </a:prstGeom>
            <a:solidFill>
              <a:schemeClr val="lt1"/>
            </a:solid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dk1"/>
                  </a:solidFill>
                  <a:latin typeface="Garamond"/>
                  <a:ea typeface="Garamond"/>
                  <a:cs typeface="Garamond"/>
                  <a:sym typeface="Garamond"/>
                </a:rPr>
                <a:t>1</a:t>
              </a:r>
              <a:endParaRPr/>
            </a:p>
          </p:txBody>
        </p:sp>
        <p:sp>
          <p:nvSpPr>
            <p:cNvPr id="262" name="Google Shape;262;p19"/>
            <p:cNvSpPr/>
            <p:nvPr/>
          </p:nvSpPr>
          <p:spPr>
            <a:xfrm>
              <a:off x="1071538" y="6215082"/>
              <a:ext cx="357190" cy="285752"/>
            </a:xfrm>
            <a:prstGeom prst="ellipse">
              <a:avLst/>
            </a:prstGeom>
            <a:solidFill>
              <a:schemeClr val="lt1"/>
            </a:solid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dk1"/>
                  </a:solidFill>
                  <a:latin typeface="Garamond"/>
                  <a:ea typeface="Garamond"/>
                  <a:cs typeface="Garamond"/>
                  <a:sym typeface="Garamond"/>
                </a:rPr>
                <a:t>2</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0"/>
          <p:cNvSpPr txBox="1">
            <a:spLocks noGrp="1"/>
          </p:cNvSpPr>
          <p:nvPr>
            <p:ph type="title"/>
          </p:nvPr>
        </p:nvSpPr>
        <p:spPr>
          <a:xfrm>
            <a:off x="457200" y="274638"/>
            <a:ext cx="8229600" cy="654032"/>
          </a:xfrm>
          <a:prstGeom prst="rect">
            <a:avLst/>
          </a:prstGeom>
          <a:noFill/>
          <a:ln>
            <a:noFill/>
          </a:ln>
        </p:spPr>
        <p:txBody>
          <a:bodyPr spcFirstLastPara="1" wrap="square" lIns="91425" tIns="45700" rIns="91425" bIns="45700" anchor="ctr" anchorCtr="0">
            <a:normAutofit fontScale="90000"/>
          </a:bodyPr>
          <a:lstStyle/>
          <a:p>
            <a:pPr marL="742950" lvl="0" indent="-742950" algn="ctr" rtl="0">
              <a:spcBef>
                <a:spcPts val="0"/>
              </a:spcBef>
              <a:spcAft>
                <a:spcPts val="0"/>
              </a:spcAft>
              <a:buClr>
                <a:srgbClr val="262626"/>
              </a:buClr>
              <a:buSzPct val="100000"/>
              <a:buFont typeface="Garamond"/>
              <a:buAutoNum type="arabicPeriod" startAt="3"/>
            </a:pPr>
            <a:r>
              <a:rPr lang="en-GB"/>
              <a:t>Non-oxidative deamination</a:t>
            </a:r>
            <a:endParaRPr/>
          </a:p>
        </p:txBody>
      </p:sp>
      <p:sp>
        <p:nvSpPr>
          <p:cNvPr id="268" name="Google Shape;268;p20"/>
          <p:cNvSpPr txBox="1">
            <a:spLocks noGrp="1"/>
          </p:cNvSpPr>
          <p:nvPr>
            <p:ph type="body" idx="1"/>
          </p:nvPr>
        </p:nvSpPr>
        <p:spPr>
          <a:xfrm>
            <a:off x="142844" y="1071546"/>
            <a:ext cx="8786874" cy="928694"/>
          </a:xfrm>
          <a:prstGeom prst="rect">
            <a:avLst/>
          </a:prstGeom>
          <a:noFill/>
          <a:ln>
            <a:noFill/>
          </a:ln>
        </p:spPr>
        <p:txBody>
          <a:bodyPr spcFirstLastPara="1" wrap="square" lIns="91425" tIns="45700" rIns="91425" bIns="45700" anchor="t" anchorCtr="0">
            <a:noAutofit/>
          </a:bodyPr>
          <a:lstStyle/>
          <a:p>
            <a:pPr marL="285750" lvl="0" indent="-285750" algn="just" rtl="0">
              <a:spcBef>
                <a:spcPts val="0"/>
              </a:spcBef>
              <a:spcAft>
                <a:spcPts val="0"/>
              </a:spcAft>
              <a:buSzPts val="3220"/>
              <a:buChar char="•"/>
            </a:pPr>
            <a:r>
              <a:rPr lang="en-GB" sz="2800"/>
              <a:t>Non-oxidative deamination of amino acids is catalyzed by specific enzymes.</a:t>
            </a:r>
            <a:endParaRPr/>
          </a:p>
        </p:txBody>
      </p:sp>
      <p:pic>
        <p:nvPicPr>
          <p:cNvPr id="269" name="Google Shape;269;p20"/>
          <p:cNvPicPr preferRelativeResize="0"/>
          <p:nvPr/>
        </p:nvPicPr>
        <p:blipFill rotWithShape="1">
          <a:blip r:embed="rId3">
            <a:alphaModFix/>
          </a:blip>
          <a:srcRect/>
          <a:stretch/>
        </p:blipFill>
        <p:spPr>
          <a:xfrm>
            <a:off x="142844" y="2100264"/>
            <a:ext cx="5857916" cy="4329132"/>
          </a:xfrm>
          <a:prstGeom prst="rect">
            <a:avLst/>
          </a:prstGeom>
          <a:noFill/>
          <a:ln>
            <a:noFill/>
          </a:ln>
        </p:spPr>
      </p:pic>
      <p:grpSp>
        <p:nvGrpSpPr>
          <p:cNvPr id="270" name="Google Shape;270;p20"/>
          <p:cNvGrpSpPr/>
          <p:nvPr/>
        </p:nvGrpSpPr>
        <p:grpSpPr>
          <a:xfrm>
            <a:off x="972550" y="5291752"/>
            <a:ext cx="2742194" cy="923330"/>
            <a:chOff x="1071538" y="5643578"/>
            <a:chExt cx="2742194" cy="923330"/>
          </a:xfrm>
        </p:grpSpPr>
        <p:sp>
          <p:nvSpPr>
            <p:cNvPr id="271" name="Google Shape;271;p20"/>
            <p:cNvSpPr txBox="1"/>
            <p:nvPr/>
          </p:nvSpPr>
          <p:spPr>
            <a:xfrm>
              <a:off x="1357290" y="5643578"/>
              <a:ext cx="245644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Garamond"/>
                  <a:ea typeface="Garamond"/>
                  <a:cs typeface="Garamond"/>
                  <a:sym typeface="Garamond"/>
                </a:rPr>
                <a:t> Serine dehydratase</a:t>
              </a:r>
              <a:endParaRPr sz="1800">
                <a:solidFill>
                  <a:schemeClr val="dk1"/>
                </a:solidFill>
                <a:latin typeface="Garamond"/>
                <a:ea typeface="Garamond"/>
                <a:cs typeface="Garamond"/>
                <a:sym typeface="Garamond"/>
              </a:endParaRPr>
            </a:p>
            <a:p>
              <a:pPr marL="0" marR="0" lvl="0" indent="0" algn="l" rtl="0">
                <a:spcBef>
                  <a:spcPts val="0"/>
                </a:spcBef>
                <a:spcAft>
                  <a:spcPts val="0"/>
                </a:spcAft>
                <a:buNone/>
              </a:pPr>
              <a:endParaRPr sz="1800">
                <a:solidFill>
                  <a:schemeClr val="dk1"/>
                </a:solidFill>
                <a:latin typeface="Garamond"/>
                <a:ea typeface="Garamond"/>
                <a:cs typeface="Garamond"/>
                <a:sym typeface="Garamond"/>
              </a:endParaRPr>
            </a:p>
            <a:p>
              <a:pPr marL="0" marR="0" lvl="0" indent="0" algn="l" rtl="0">
                <a:spcBef>
                  <a:spcPts val="0"/>
                </a:spcBef>
                <a:spcAft>
                  <a:spcPts val="0"/>
                </a:spcAft>
                <a:buNone/>
              </a:pPr>
              <a:r>
                <a:rPr lang="en-GB" sz="1800">
                  <a:solidFill>
                    <a:schemeClr val="dk1"/>
                  </a:solidFill>
                  <a:latin typeface="Garamond"/>
                  <a:ea typeface="Garamond"/>
                  <a:cs typeface="Garamond"/>
                  <a:sym typeface="Garamond"/>
                </a:rPr>
                <a:t> Cysteine deSulfhydrase</a:t>
              </a:r>
              <a:endParaRPr sz="1800">
                <a:solidFill>
                  <a:schemeClr val="dk1"/>
                </a:solidFill>
                <a:latin typeface="Garamond"/>
                <a:ea typeface="Garamond"/>
                <a:cs typeface="Garamond"/>
                <a:sym typeface="Garamond"/>
              </a:endParaRPr>
            </a:p>
          </p:txBody>
        </p:sp>
        <p:sp>
          <p:nvSpPr>
            <p:cNvPr id="272" name="Google Shape;272;p20"/>
            <p:cNvSpPr/>
            <p:nvPr/>
          </p:nvSpPr>
          <p:spPr>
            <a:xfrm>
              <a:off x="1071538" y="5715016"/>
              <a:ext cx="357190" cy="285752"/>
            </a:xfrm>
            <a:prstGeom prst="ellipse">
              <a:avLst/>
            </a:prstGeom>
            <a:solidFill>
              <a:schemeClr val="lt1"/>
            </a:solid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dk1"/>
                  </a:solidFill>
                  <a:latin typeface="Garamond"/>
                  <a:ea typeface="Garamond"/>
                  <a:cs typeface="Garamond"/>
                  <a:sym typeface="Garamond"/>
                </a:rPr>
                <a:t>1</a:t>
              </a:r>
              <a:endParaRPr/>
            </a:p>
          </p:txBody>
        </p:sp>
        <p:sp>
          <p:nvSpPr>
            <p:cNvPr id="273" name="Google Shape;273;p20"/>
            <p:cNvSpPr/>
            <p:nvPr/>
          </p:nvSpPr>
          <p:spPr>
            <a:xfrm>
              <a:off x="1071538" y="6215082"/>
              <a:ext cx="357190" cy="285752"/>
            </a:xfrm>
            <a:prstGeom prst="ellipse">
              <a:avLst/>
            </a:prstGeom>
            <a:solidFill>
              <a:schemeClr val="lt1"/>
            </a:solid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dk1"/>
                  </a:solidFill>
                  <a:latin typeface="Garamond"/>
                  <a:ea typeface="Garamond"/>
                  <a:cs typeface="Garamond"/>
                  <a:sym typeface="Garamond"/>
                </a:rPr>
                <a:t>2</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1"/>
          <p:cNvSpPr txBox="1">
            <a:spLocks noGrp="1"/>
          </p:cNvSpPr>
          <p:nvPr>
            <p:ph type="title"/>
          </p:nvPr>
        </p:nvSpPr>
        <p:spPr>
          <a:xfrm>
            <a:off x="214282" y="131762"/>
            <a:ext cx="8715436" cy="725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262626"/>
              </a:buClr>
              <a:buSzPts val="3600"/>
              <a:buFont typeface="Garamond"/>
              <a:buNone/>
            </a:pPr>
            <a:r>
              <a:rPr lang="en-GB" sz="3600" b="1"/>
              <a:t>Removal of amide nitrogen of glutamine and aspargine</a:t>
            </a:r>
            <a:endParaRPr sz="3600"/>
          </a:p>
        </p:txBody>
      </p:sp>
      <p:sp>
        <p:nvSpPr>
          <p:cNvPr id="279" name="Google Shape;279;p21"/>
          <p:cNvSpPr txBox="1">
            <a:spLocks noGrp="1"/>
          </p:cNvSpPr>
          <p:nvPr>
            <p:ph type="body" idx="1"/>
          </p:nvPr>
        </p:nvSpPr>
        <p:spPr>
          <a:xfrm>
            <a:off x="214282" y="1214422"/>
            <a:ext cx="8643998" cy="2143140"/>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Specific deamidinases removes amide nitrogen of glutamine and aspargine as ammonia.</a:t>
            </a:r>
            <a:endParaRPr/>
          </a:p>
          <a:p>
            <a:pPr marL="285750" lvl="0" indent="-285750" algn="just" rtl="0">
              <a:spcBef>
                <a:spcPts val="1080"/>
              </a:spcBef>
              <a:spcAft>
                <a:spcPts val="0"/>
              </a:spcAft>
              <a:buSzPts val="2760"/>
              <a:buChar char="•"/>
            </a:pPr>
            <a:r>
              <a:rPr lang="en-GB"/>
              <a:t>They are </a:t>
            </a:r>
            <a:r>
              <a:rPr lang="en-GB" b="1"/>
              <a:t>glutaminas</a:t>
            </a:r>
            <a:r>
              <a:rPr lang="en-GB"/>
              <a:t>e and </a:t>
            </a:r>
            <a:r>
              <a:rPr lang="en-GB" b="1"/>
              <a:t>asparginase</a:t>
            </a:r>
            <a:r>
              <a:rPr lang="en-GB"/>
              <a:t>,present in the kidney.</a:t>
            </a:r>
            <a:endParaRPr/>
          </a:p>
        </p:txBody>
      </p:sp>
      <p:pic>
        <p:nvPicPr>
          <p:cNvPr id="280" name="Google Shape;280;p21"/>
          <p:cNvPicPr preferRelativeResize="0"/>
          <p:nvPr/>
        </p:nvPicPr>
        <p:blipFill rotWithShape="1">
          <a:blip r:embed="rId3">
            <a:alphaModFix/>
          </a:blip>
          <a:srcRect/>
          <a:stretch/>
        </p:blipFill>
        <p:spPr>
          <a:xfrm>
            <a:off x="1785918" y="3286124"/>
            <a:ext cx="5715040" cy="335758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2"/>
          <p:cNvSpPr txBox="1">
            <a:spLocks noGrp="1"/>
          </p:cNvSpPr>
          <p:nvPr>
            <p:ph type="title"/>
          </p:nvPr>
        </p:nvSpPr>
        <p:spPr>
          <a:xfrm>
            <a:off x="485804" y="71414"/>
            <a:ext cx="8229600" cy="500066"/>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Transport of Ammonia</a:t>
            </a:r>
            <a:endParaRPr/>
          </a:p>
        </p:txBody>
      </p:sp>
      <p:sp>
        <p:nvSpPr>
          <p:cNvPr id="286" name="Google Shape;286;p22"/>
          <p:cNvSpPr txBox="1">
            <a:spLocks noGrp="1"/>
          </p:cNvSpPr>
          <p:nvPr>
            <p:ph type="body" idx="1"/>
          </p:nvPr>
        </p:nvSpPr>
        <p:spPr>
          <a:xfrm>
            <a:off x="285720" y="642918"/>
            <a:ext cx="8643998" cy="4214842"/>
          </a:xfrm>
          <a:prstGeom prst="rect">
            <a:avLst/>
          </a:prstGeom>
          <a:noFill/>
          <a:ln>
            <a:noFill/>
          </a:ln>
        </p:spPr>
        <p:txBody>
          <a:bodyPr spcFirstLastPara="1" wrap="square" lIns="91425" tIns="45700" rIns="91425" bIns="45700" anchor="t" anchorCtr="0">
            <a:normAutofit/>
          </a:bodyPr>
          <a:lstStyle/>
          <a:p>
            <a:pPr marL="285750" lvl="0" indent="-285750" algn="l" rtl="0">
              <a:spcBef>
                <a:spcPts val="0"/>
              </a:spcBef>
              <a:spcAft>
                <a:spcPts val="0"/>
              </a:spcAft>
              <a:buSzPts val="2760"/>
              <a:buChar char="•"/>
            </a:pPr>
            <a:r>
              <a:rPr lang="en-GB"/>
              <a:t>Ammonia produced in the tissues is transported in the form of glutamine and alanine, because free ammonia is toxic even in trace amounts.</a:t>
            </a:r>
            <a:endParaRPr/>
          </a:p>
          <a:p>
            <a:pPr marL="285750" lvl="0" indent="-285750" algn="l" rtl="0">
              <a:spcBef>
                <a:spcPts val="1080"/>
              </a:spcBef>
              <a:spcAft>
                <a:spcPts val="0"/>
              </a:spcAft>
              <a:buSzPts val="2760"/>
              <a:buNone/>
            </a:pPr>
            <a:r>
              <a:rPr lang="en-GB" b="1"/>
              <a:t>Transport of ammonia as glutamine</a:t>
            </a:r>
            <a:endParaRPr/>
          </a:p>
          <a:p>
            <a:pPr marL="285750" lvl="0" indent="-285750" algn="l" rtl="0">
              <a:spcBef>
                <a:spcPts val="1080"/>
              </a:spcBef>
              <a:spcAft>
                <a:spcPts val="0"/>
              </a:spcAft>
              <a:buSzPts val="2760"/>
              <a:buChar char="•"/>
            </a:pPr>
            <a:r>
              <a:rPr lang="en-GB" sz="2400"/>
              <a:t>From the brain and other peripheral organs except </a:t>
            </a:r>
            <a:r>
              <a:rPr lang="en-GB" sz="2400" b="1"/>
              <a:t>muscle</a:t>
            </a:r>
            <a:r>
              <a:rPr lang="en-GB" sz="2400"/>
              <a:t> ammonia released from amino acids is transported to liver and kidney as amide nitrogen of glutamine.</a:t>
            </a:r>
            <a:endParaRPr/>
          </a:p>
          <a:p>
            <a:pPr marL="285750" lvl="0" indent="-285750" algn="l" rtl="0">
              <a:spcBef>
                <a:spcPts val="1080"/>
              </a:spcBef>
              <a:spcAft>
                <a:spcPts val="0"/>
              </a:spcAft>
              <a:buSzPts val="2760"/>
              <a:buChar char="•"/>
            </a:pPr>
            <a:r>
              <a:rPr lang="en-GB" sz="2400"/>
              <a:t>The enzyme </a:t>
            </a:r>
            <a:r>
              <a:rPr lang="en-GB" sz="2400" b="1"/>
              <a:t>glutamine synthetase </a:t>
            </a:r>
            <a:r>
              <a:rPr lang="en-GB" sz="2400"/>
              <a:t>catalyzes the formation of glutamine from glutamate and ammonia in an ATP dependent reaction.</a:t>
            </a:r>
            <a:endParaRPr/>
          </a:p>
        </p:txBody>
      </p:sp>
      <p:pic>
        <p:nvPicPr>
          <p:cNvPr id="287" name="Google Shape;287;p22"/>
          <p:cNvPicPr preferRelativeResize="0"/>
          <p:nvPr/>
        </p:nvPicPr>
        <p:blipFill rotWithShape="1">
          <a:blip r:embed="rId3">
            <a:alphaModFix/>
          </a:blip>
          <a:srcRect/>
          <a:stretch/>
        </p:blipFill>
        <p:spPr>
          <a:xfrm>
            <a:off x="1115616" y="4725144"/>
            <a:ext cx="6143668" cy="20002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57200" y="274638"/>
            <a:ext cx="5114932" cy="58259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sz="2800" b="1"/>
              <a:t>Transport of ammonia as alanine</a:t>
            </a:r>
            <a:endParaRPr sz="2800" b="1"/>
          </a:p>
        </p:txBody>
      </p:sp>
      <p:sp>
        <p:nvSpPr>
          <p:cNvPr id="293" name="Google Shape;293;p23"/>
          <p:cNvSpPr txBox="1">
            <a:spLocks noGrp="1"/>
          </p:cNvSpPr>
          <p:nvPr>
            <p:ph type="body" idx="1"/>
          </p:nvPr>
        </p:nvSpPr>
        <p:spPr>
          <a:xfrm>
            <a:off x="142844" y="928671"/>
            <a:ext cx="8858280" cy="1428759"/>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3220"/>
              <a:buChar char="•"/>
            </a:pPr>
            <a:r>
              <a:rPr lang="en-GB" sz="2800"/>
              <a:t>Since </a:t>
            </a:r>
            <a:r>
              <a:rPr lang="en-GB" sz="2800" b="1"/>
              <a:t>glutamine synthetase</a:t>
            </a:r>
            <a:r>
              <a:rPr lang="en-GB" sz="2800"/>
              <a:t> activity is low in skeletal muscle ammonia released from deamination of amino acids is transported in the form alanine to liver.</a:t>
            </a:r>
            <a:endParaRPr/>
          </a:p>
        </p:txBody>
      </p:sp>
      <p:pic>
        <p:nvPicPr>
          <p:cNvPr id="294" name="Google Shape;294;p23"/>
          <p:cNvPicPr preferRelativeResize="0"/>
          <p:nvPr/>
        </p:nvPicPr>
        <p:blipFill rotWithShape="1">
          <a:blip r:embed="rId3">
            <a:alphaModFix/>
          </a:blip>
          <a:srcRect/>
          <a:stretch/>
        </p:blipFill>
        <p:spPr>
          <a:xfrm>
            <a:off x="357158" y="2428868"/>
            <a:ext cx="8286808" cy="34290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4"/>
          <p:cNvSpPr txBox="1">
            <a:spLocks noGrp="1"/>
          </p:cNvSpPr>
          <p:nvPr>
            <p:ph type="title"/>
          </p:nvPr>
        </p:nvSpPr>
        <p:spPr>
          <a:xfrm>
            <a:off x="0" y="428604"/>
            <a:ext cx="3786182" cy="165734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F0"/>
              </a:buClr>
              <a:buSzPts val="4000"/>
              <a:buFont typeface="Garamond"/>
              <a:buNone/>
            </a:pPr>
            <a:r>
              <a:rPr lang="en-GB">
                <a:solidFill>
                  <a:srgbClr val="00B0F0"/>
                </a:solidFill>
              </a:rPr>
              <a:t>Amino group catabolism.</a:t>
            </a:r>
            <a:endParaRPr>
              <a:solidFill>
                <a:srgbClr val="00B0F0"/>
              </a:solidFill>
            </a:endParaRPr>
          </a:p>
        </p:txBody>
      </p:sp>
      <p:pic>
        <p:nvPicPr>
          <p:cNvPr id="300" name="Google Shape;300;p24" descr="figure 18-02a"/>
          <p:cNvPicPr preferRelativeResize="0"/>
          <p:nvPr/>
        </p:nvPicPr>
        <p:blipFill rotWithShape="1">
          <a:blip r:embed="rId3">
            <a:alphaModFix/>
          </a:blip>
          <a:srcRect/>
          <a:stretch/>
        </p:blipFill>
        <p:spPr>
          <a:xfrm>
            <a:off x="3527425" y="-24"/>
            <a:ext cx="5616575" cy="6858000"/>
          </a:xfrm>
          <a:prstGeom prst="rect">
            <a:avLst/>
          </a:prstGeom>
          <a:noFill/>
          <a:ln>
            <a:noFill/>
          </a:ln>
        </p:spPr>
      </p:pic>
      <p:sp>
        <p:nvSpPr>
          <p:cNvPr id="301" name="Google Shape;301;p24"/>
          <p:cNvSpPr txBox="1"/>
          <p:nvPr/>
        </p:nvSpPr>
        <p:spPr>
          <a:xfrm>
            <a:off x="214282" y="1928802"/>
            <a:ext cx="3500462" cy="4154984"/>
          </a:xfrm>
          <a:prstGeom prst="rect">
            <a:avLst/>
          </a:prstGeom>
          <a:noFill/>
          <a:ln>
            <a:noFill/>
          </a:ln>
        </p:spPr>
        <p:txBody>
          <a:bodyPr spcFirstLastPara="1" wrap="square" lIns="91425" tIns="45700" rIns="91425" bIns="45700" anchor="t" anchorCtr="0">
            <a:spAutoFit/>
          </a:bodyPr>
          <a:lstStyle/>
          <a:p>
            <a:pPr marL="0" marR="0" lvl="0" indent="-152400" algn="just" rtl="0">
              <a:spcBef>
                <a:spcPts val="0"/>
              </a:spcBef>
              <a:spcAft>
                <a:spcPts val="0"/>
              </a:spcAft>
              <a:buClr>
                <a:schemeClr val="dk1"/>
              </a:buClr>
              <a:buSzPts val="2400"/>
              <a:buFont typeface="Arial"/>
              <a:buChar char="•"/>
            </a:pPr>
            <a:r>
              <a:rPr lang="en-GB" sz="2400">
                <a:solidFill>
                  <a:schemeClr val="dk1"/>
                </a:solidFill>
                <a:latin typeface="Garamond"/>
                <a:ea typeface="Garamond"/>
                <a:cs typeface="Garamond"/>
                <a:sym typeface="Garamond"/>
              </a:rPr>
              <a:t>Under normal conditions liver maintains blood ammonia level within limits by rapidly</a:t>
            </a:r>
            <a:endParaRPr/>
          </a:p>
          <a:p>
            <a:pPr marL="0" marR="0" lvl="0" indent="0" algn="just" rtl="0">
              <a:spcBef>
                <a:spcPts val="0"/>
              </a:spcBef>
              <a:spcAft>
                <a:spcPts val="0"/>
              </a:spcAft>
              <a:buNone/>
            </a:pPr>
            <a:r>
              <a:rPr lang="en-GB" sz="2400">
                <a:solidFill>
                  <a:schemeClr val="dk1"/>
                </a:solidFill>
                <a:latin typeface="Garamond"/>
                <a:ea typeface="Garamond"/>
                <a:cs typeface="Garamond"/>
                <a:sym typeface="Garamond"/>
              </a:rPr>
              <a:t>converting it into </a:t>
            </a:r>
            <a:r>
              <a:rPr lang="en-GB" sz="2400" b="1">
                <a:solidFill>
                  <a:schemeClr val="dk1"/>
                </a:solidFill>
                <a:latin typeface="Garamond"/>
                <a:ea typeface="Garamond"/>
                <a:cs typeface="Garamond"/>
                <a:sym typeface="Garamond"/>
              </a:rPr>
              <a:t>urea</a:t>
            </a:r>
            <a:r>
              <a:rPr lang="en-GB" sz="2400">
                <a:solidFill>
                  <a:schemeClr val="dk1"/>
                </a:solidFill>
                <a:latin typeface="Garamond"/>
                <a:ea typeface="Garamond"/>
                <a:cs typeface="Garamond"/>
                <a:sym typeface="Garamond"/>
              </a:rPr>
              <a:t>.</a:t>
            </a:r>
            <a:endParaRPr/>
          </a:p>
          <a:p>
            <a:pPr marL="0" marR="0" lvl="0" indent="-152400" algn="just" rtl="0">
              <a:spcBef>
                <a:spcPts val="0"/>
              </a:spcBef>
              <a:spcAft>
                <a:spcPts val="0"/>
              </a:spcAft>
              <a:buClr>
                <a:schemeClr val="dk1"/>
              </a:buClr>
              <a:buSzPts val="2400"/>
              <a:buFont typeface="Arial"/>
              <a:buChar char="•"/>
            </a:pPr>
            <a:r>
              <a:rPr lang="en-GB" sz="2400">
                <a:solidFill>
                  <a:schemeClr val="dk1"/>
                </a:solidFill>
                <a:latin typeface="Garamond"/>
                <a:ea typeface="Garamond"/>
                <a:cs typeface="Garamond"/>
                <a:sym typeface="Garamond"/>
              </a:rPr>
              <a:t>Thus ammonia produced from glutamine by the</a:t>
            </a:r>
            <a:endParaRPr/>
          </a:p>
          <a:p>
            <a:pPr marL="0" marR="0" lvl="0" indent="0" algn="just" rtl="0">
              <a:spcBef>
                <a:spcPts val="0"/>
              </a:spcBef>
              <a:spcAft>
                <a:spcPts val="0"/>
              </a:spcAft>
              <a:buNone/>
            </a:pPr>
            <a:r>
              <a:rPr lang="en-GB" sz="2400">
                <a:solidFill>
                  <a:schemeClr val="dk1"/>
                </a:solidFill>
                <a:latin typeface="Garamond"/>
                <a:ea typeface="Garamond"/>
                <a:cs typeface="Garamond"/>
                <a:sym typeface="Garamond"/>
              </a:rPr>
              <a:t>action of </a:t>
            </a:r>
            <a:r>
              <a:rPr lang="en-GB" sz="2400" b="1">
                <a:solidFill>
                  <a:schemeClr val="dk1"/>
                </a:solidFill>
                <a:latin typeface="Garamond"/>
                <a:ea typeface="Garamond"/>
                <a:cs typeface="Garamond"/>
                <a:sym typeface="Garamond"/>
              </a:rPr>
              <a:t>glutaminase</a:t>
            </a:r>
            <a:r>
              <a:rPr lang="en-GB" sz="2400">
                <a:solidFill>
                  <a:schemeClr val="dk1"/>
                </a:solidFill>
                <a:latin typeface="Garamond"/>
                <a:ea typeface="Garamond"/>
                <a:cs typeface="Garamond"/>
                <a:sym typeface="Garamond"/>
              </a:rPr>
              <a:t> and </a:t>
            </a:r>
            <a:r>
              <a:rPr lang="en-GB" sz="2400" b="1">
                <a:solidFill>
                  <a:schemeClr val="dk1"/>
                </a:solidFill>
                <a:latin typeface="Garamond"/>
                <a:ea typeface="Garamond"/>
                <a:cs typeface="Garamond"/>
                <a:sym typeface="Garamond"/>
              </a:rPr>
              <a:t>deamination</a:t>
            </a:r>
            <a:r>
              <a:rPr lang="en-GB" sz="2400">
                <a:solidFill>
                  <a:schemeClr val="dk1"/>
                </a:solidFill>
                <a:latin typeface="Garamond"/>
                <a:ea typeface="Garamond"/>
                <a:cs typeface="Garamond"/>
                <a:sym typeface="Garamond"/>
              </a:rPr>
              <a:t> of amino acids is converted to urea in the </a:t>
            </a:r>
            <a:r>
              <a:rPr lang="en-GB" sz="2400" b="1">
                <a:solidFill>
                  <a:schemeClr val="dk1"/>
                </a:solidFill>
                <a:latin typeface="Garamond"/>
                <a:ea typeface="Garamond"/>
                <a:cs typeface="Garamond"/>
                <a:sym typeface="Garamond"/>
              </a:rPr>
              <a:t>UREA CYCLE</a:t>
            </a:r>
            <a:r>
              <a:rPr lang="en-GB" sz="2400">
                <a:solidFill>
                  <a:schemeClr val="dk1"/>
                </a:solidFill>
                <a:latin typeface="Garamond"/>
                <a:ea typeface="Garamond"/>
                <a:cs typeface="Garamond"/>
                <a:sym typeface="Garamond"/>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05"/>
        <p:cNvGrpSpPr/>
        <p:nvPr/>
      </p:nvGrpSpPr>
      <p:grpSpPr>
        <a:xfrm>
          <a:off x="0" y="0"/>
          <a:ext cx="0" cy="0"/>
          <a:chOff x="0" y="0"/>
          <a:chExt cx="0" cy="0"/>
        </a:xfrm>
      </p:grpSpPr>
      <p:sp>
        <p:nvSpPr>
          <p:cNvPr id="306" name="Google Shape;306;p25"/>
          <p:cNvSpPr txBox="1">
            <a:spLocks noGrp="1"/>
          </p:cNvSpPr>
          <p:nvPr>
            <p:ph type="title"/>
          </p:nvPr>
        </p:nvSpPr>
        <p:spPr>
          <a:xfrm>
            <a:off x="457200" y="71414"/>
            <a:ext cx="8229600" cy="511156"/>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FF0000"/>
              </a:buClr>
              <a:buSzPct val="100000"/>
              <a:buFont typeface="Garamond"/>
              <a:buNone/>
            </a:pPr>
            <a:r>
              <a:rPr lang="en-GB">
                <a:solidFill>
                  <a:srgbClr val="FF0000"/>
                </a:solidFill>
              </a:rPr>
              <a:t>Urea cycle</a:t>
            </a:r>
            <a:endParaRPr/>
          </a:p>
        </p:txBody>
      </p:sp>
      <p:sp>
        <p:nvSpPr>
          <p:cNvPr id="307" name="Google Shape;307;p25"/>
          <p:cNvSpPr txBox="1">
            <a:spLocks noGrp="1"/>
          </p:cNvSpPr>
          <p:nvPr>
            <p:ph type="body" idx="1"/>
          </p:nvPr>
        </p:nvSpPr>
        <p:spPr>
          <a:xfrm>
            <a:off x="71438" y="571480"/>
            <a:ext cx="8929718" cy="6072230"/>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The site for urea synthesis is the liver.</a:t>
            </a:r>
            <a:endParaRPr/>
          </a:p>
          <a:p>
            <a:pPr marL="285750" lvl="0" indent="-285750" algn="just" rtl="0">
              <a:spcBef>
                <a:spcPts val="1080"/>
              </a:spcBef>
              <a:spcAft>
                <a:spcPts val="0"/>
              </a:spcAft>
              <a:buSzPts val="2760"/>
              <a:buChar char="•"/>
            </a:pPr>
            <a:r>
              <a:rPr lang="en-GB"/>
              <a:t>The reactions leading to formation of urea from ammonia were proposed by </a:t>
            </a:r>
            <a:r>
              <a:rPr lang="en-GB" b="1"/>
              <a:t>Krebs</a:t>
            </a:r>
            <a:r>
              <a:rPr lang="en-GB"/>
              <a:t> and </a:t>
            </a:r>
            <a:r>
              <a:rPr lang="en-GB" b="1"/>
              <a:t>Henseleit</a:t>
            </a:r>
            <a:r>
              <a:rPr lang="en-GB"/>
              <a:t>. Hence, urea cycle is also called as </a:t>
            </a:r>
            <a:r>
              <a:rPr lang="en-GB" b="1"/>
              <a:t>Krebs-Henseleit cycle</a:t>
            </a:r>
            <a:r>
              <a:rPr lang="en-GB"/>
              <a:t>.</a:t>
            </a:r>
            <a:endParaRPr/>
          </a:p>
          <a:p>
            <a:pPr marL="285750" lvl="0" indent="-285750" algn="just" rtl="0">
              <a:spcBef>
                <a:spcPts val="1080"/>
              </a:spcBef>
              <a:spcAft>
                <a:spcPts val="0"/>
              </a:spcAft>
              <a:buSzPts val="2760"/>
              <a:buChar char="•"/>
            </a:pPr>
            <a:r>
              <a:rPr lang="en-GB"/>
              <a:t>Formation of urea from ammonia in urea cycle occurs in five reactions. However the first reaction is not a part of the cycle but for the continuation of the cycle, the first reaction is essential.</a:t>
            </a:r>
            <a:endParaRPr/>
          </a:p>
          <a:p>
            <a:pPr marL="285750" lvl="0" indent="-285750" algn="just" rtl="0">
              <a:spcBef>
                <a:spcPts val="1080"/>
              </a:spcBef>
              <a:spcAft>
                <a:spcPts val="0"/>
              </a:spcAft>
              <a:buSzPts val="2760"/>
              <a:buChar char="•"/>
            </a:pPr>
            <a:r>
              <a:rPr lang="en-GB"/>
              <a:t>Synthesis of urea from ammonia is an energy dependent process.</a:t>
            </a:r>
            <a:endParaRPr/>
          </a:p>
          <a:p>
            <a:pPr marL="285750" lvl="0" indent="-285750" algn="just" rtl="0">
              <a:spcBef>
                <a:spcPts val="1080"/>
              </a:spcBef>
              <a:spcAft>
                <a:spcPts val="0"/>
              </a:spcAft>
              <a:buSzPts val="2760"/>
              <a:buChar char="•"/>
            </a:pPr>
            <a:r>
              <a:rPr lang="en-GB"/>
              <a:t>Enzymes of urea cycle are present in mitochondria and cytosol.</a:t>
            </a:r>
            <a:endParaRPr/>
          </a:p>
          <a:p>
            <a:pPr marL="285750" lvl="0" indent="-285750" algn="just" rtl="0">
              <a:spcBef>
                <a:spcPts val="1080"/>
              </a:spcBef>
              <a:spcAft>
                <a:spcPts val="0"/>
              </a:spcAft>
              <a:buSzPts val="2760"/>
              <a:buChar char="•"/>
            </a:pPr>
            <a:r>
              <a:rPr lang="en-GB"/>
              <a:t>First two reactions of urea formation occurs in mitochondria while the remaining reactions occur in cytosol.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311"/>
        <p:cNvGrpSpPr/>
        <p:nvPr/>
      </p:nvGrpSpPr>
      <p:grpSpPr>
        <a:xfrm>
          <a:off x="0" y="0"/>
          <a:ext cx="0" cy="0"/>
          <a:chOff x="0" y="0"/>
          <a:chExt cx="0" cy="0"/>
        </a:xfrm>
      </p:grpSpPr>
      <p:sp>
        <p:nvSpPr>
          <p:cNvPr id="312" name="Google Shape;312;p26"/>
          <p:cNvSpPr txBox="1">
            <a:spLocks noGrp="1"/>
          </p:cNvSpPr>
          <p:nvPr>
            <p:ph type="title"/>
          </p:nvPr>
        </p:nvSpPr>
        <p:spPr>
          <a:xfrm>
            <a:off x="457200" y="274638"/>
            <a:ext cx="8229600" cy="58259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b="1"/>
              <a:t>Reaction Sequence Of Urea Cycle</a:t>
            </a:r>
            <a:endParaRPr/>
          </a:p>
        </p:txBody>
      </p:sp>
      <p:sp>
        <p:nvSpPr>
          <p:cNvPr id="313" name="Google Shape;313;p26"/>
          <p:cNvSpPr txBox="1">
            <a:spLocks noGrp="1"/>
          </p:cNvSpPr>
          <p:nvPr>
            <p:ph type="body" idx="1"/>
          </p:nvPr>
        </p:nvSpPr>
        <p:spPr>
          <a:xfrm>
            <a:off x="214282" y="928670"/>
            <a:ext cx="8715436" cy="5572164"/>
          </a:xfrm>
          <a:prstGeom prst="rect">
            <a:avLst/>
          </a:prstGeom>
          <a:noFill/>
          <a:ln>
            <a:noFill/>
          </a:ln>
        </p:spPr>
        <p:txBody>
          <a:bodyPr spcFirstLastPara="1" wrap="square" lIns="91425" tIns="45700" rIns="91425" bIns="45700" anchor="t" anchorCtr="0">
            <a:normAutofit lnSpcReduction="10000"/>
          </a:bodyPr>
          <a:lstStyle/>
          <a:p>
            <a:pPr marL="285750" lvl="0" indent="-285750" algn="l" rtl="0">
              <a:spcBef>
                <a:spcPts val="0"/>
              </a:spcBef>
              <a:spcAft>
                <a:spcPts val="0"/>
              </a:spcAft>
              <a:buSzPts val="2760"/>
              <a:buNone/>
            </a:pPr>
            <a:r>
              <a:rPr lang="en-GB" b="1"/>
              <a:t>Formation of carbamoyl phosphate</a:t>
            </a:r>
            <a:endParaRPr/>
          </a:p>
          <a:p>
            <a:pPr marL="285750" lvl="0" indent="-285750" algn="just" rtl="0">
              <a:spcBef>
                <a:spcPts val="1080"/>
              </a:spcBef>
              <a:spcAft>
                <a:spcPts val="0"/>
              </a:spcAft>
              <a:buSzPts val="2760"/>
              <a:buChar char="•"/>
            </a:pPr>
            <a:r>
              <a:rPr lang="en-GB"/>
              <a:t>First reaction leading to urea formation is condensation of </a:t>
            </a:r>
            <a:r>
              <a:rPr lang="en-GB" b="1"/>
              <a:t>ammonia </a:t>
            </a:r>
            <a:r>
              <a:rPr lang="en-GB"/>
              <a:t>and HCO</a:t>
            </a:r>
            <a:r>
              <a:rPr lang="en-GB" baseline="-25000"/>
              <a:t>3</a:t>
            </a:r>
            <a:r>
              <a:rPr lang="en-GB" baseline="30000"/>
              <a:t>–</a:t>
            </a:r>
            <a:r>
              <a:rPr lang="en-GB"/>
              <a:t> at the expense of two high-energy bonds to form </a:t>
            </a:r>
            <a:r>
              <a:rPr lang="en-GB" b="1"/>
              <a:t>carbamoyl phosphate</a:t>
            </a:r>
            <a:r>
              <a:rPr lang="en-GB"/>
              <a:t>. </a:t>
            </a:r>
            <a:endParaRPr/>
          </a:p>
          <a:p>
            <a:pPr marL="285750" lvl="0" indent="-285750" algn="just" rtl="0">
              <a:spcBef>
                <a:spcPts val="1080"/>
              </a:spcBef>
              <a:spcAft>
                <a:spcPts val="0"/>
              </a:spcAft>
              <a:buSzPts val="2760"/>
              <a:buChar char="•"/>
            </a:pPr>
            <a:r>
              <a:rPr lang="en-GB"/>
              <a:t>The reaction is catalyzed by a mitochondrial </a:t>
            </a:r>
            <a:r>
              <a:rPr lang="en-GB" b="1"/>
              <a:t>carbamoyl phosphate synthetase-I</a:t>
            </a:r>
            <a:r>
              <a:rPr lang="en-GB"/>
              <a:t>. </a:t>
            </a:r>
            <a:endParaRPr/>
          </a:p>
          <a:p>
            <a:pPr marL="285750" lvl="0" indent="-285750" algn="just" rtl="0">
              <a:spcBef>
                <a:spcPts val="1080"/>
              </a:spcBef>
              <a:spcAft>
                <a:spcPts val="0"/>
              </a:spcAft>
              <a:buSzPts val="2760"/>
              <a:buChar char="•"/>
            </a:pPr>
            <a:r>
              <a:rPr lang="en-GB"/>
              <a:t>The enzyme requires N-acetyl glutamate, which is synthesized from acetyl-CoA and glutamate in the liver and Mg2</a:t>
            </a:r>
            <a:r>
              <a:rPr lang="en-GB" baseline="30000"/>
              <a:t>+</a:t>
            </a:r>
            <a:r>
              <a:rPr lang="en-GB"/>
              <a:t>. </a:t>
            </a:r>
            <a:endParaRPr/>
          </a:p>
          <a:p>
            <a:pPr marL="285750" lvl="0" indent="-285750" algn="just" rtl="0">
              <a:spcBef>
                <a:spcPts val="1080"/>
              </a:spcBef>
              <a:spcAft>
                <a:spcPts val="0"/>
              </a:spcAft>
              <a:buSzPts val="2760"/>
              <a:buChar char="•"/>
            </a:pPr>
            <a:r>
              <a:rPr lang="en-GB"/>
              <a:t>2ATP molecules are hydrolyzed to 2 ADP and 2Pi in the first reaction and of the 2Pi one Pi is consumed in the reaction.</a:t>
            </a:r>
            <a:endParaRPr/>
          </a:p>
          <a:p>
            <a:pPr marL="285750" lvl="0" indent="-285750" algn="just" rtl="0">
              <a:spcBef>
                <a:spcPts val="1080"/>
              </a:spcBef>
              <a:spcAft>
                <a:spcPts val="0"/>
              </a:spcAft>
              <a:buSzPts val="2760"/>
              <a:buChar char="•"/>
            </a:pPr>
            <a:r>
              <a:rPr lang="en-GB"/>
              <a:t>Since the product of the reaction </a:t>
            </a:r>
            <a:r>
              <a:rPr lang="en-GB" b="1"/>
              <a:t>carbamoyl phosphate </a:t>
            </a:r>
            <a:r>
              <a:rPr lang="en-GB"/>
              <a:t>is high energy compound its formation thermodynamically pulls subsequent reactions of urea cycle towards urea formation.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17"/>
        <p:cNvGrpSpPr/>
        <p:nvPr/>
      </p:nvGrpSpPr>
      <p:grpSpPr>
        <a:xfrm>
          <a:off x="0" y="0"/>
          <a:ext cx="0" cy="0"/>
          <a:chOff x="0" y="0"/>
          <a:chExt cx="0" cy="0"/>
        </a:xfrm>
      </p:grpSpPr>
      <p:sp>
        <p:nvSpPr>
          <p:cNvPr id="318" name="Google Shape;318;p27"/>
          <p:cNvSpPr txBox="1">
            <a:spLocks noGrp="1"/>
          </p:cNvSpPr>
          <p:nvPr>
            <p:ph type="body" idx="1"/>
          </p:nvPr>
        </p:nvSpPr>
        <p:spPr>
          <a:xfrm>
            <a:off x="285720" y="214290"/>
            <a:ext cx="8401080" cy="5911873"/>
          </a:xfrm>
          <a:prstGeom prst="rect">
            <a:avLst/>
          </a:prstGeom>
          <a:noFill/>
          <a:ln>
            <a:noFill/>
          </a:ln>
        </p:spPr>
        <p:txBody>
          <a:bodyPr spcFirstLastPara="1" wrap="square" lIns="91425" tIns="45700" rIns="91425" bIns="45700" anchor="t" anchorCtr="0">
            <a:normAutofit lnSpcReduction="10000"/>
          </a:bodyPr>
          <a:lstStyle/>
          <a:p>
            <a:pPr marL="285750" lvl="0" indent="-285750" algn="l" rtl="0">
              <a:spcBef>
                <a:spcPts val="0"/>
              </a:spcBef>
              <a:spcAft>
                <a:spcPts val="0"/>
              </a:spcAft>
              <a:buSzPts val="2760"/>
              <a:buNone/>
            </a:pPr>
            <a:r>
              <a:rPr lang="en-GB" b="1">
                <a:solidFill>
                  <a:srgbClr val="FF0000"/>
                </a:solidFill>
              </a:rPr>
              <a:t>Reactions of urea cycle</a:t>
            </a:r>
            <a:endParaRPr/>
          </a:p>
          <a:p>
            <a:pPr marL="285750" lvl="0" indent="-285750" algn="just" rtl="0">
              <a:spcBef>
                <a:spcPts val="1080"/>
              </a:spcBef>
              <a:spcAft>
                <a:spcPts val="0"/>
              </a:spcAft>
              <a:buSzPts val="2760"/>
              <a:buChar char="•"/>
            </a:pPr>
            <a:r>
              <a:rPr lang="en-GB"/>
              <a:t>The first reaction of urea cycle is catalyzed by </a:t>
            </a:r>
            <a:r>
              <a:rPr lang="en-GB" b="1"/>
              <a:t>ornithine transcarbamoylase</a:t>
            </a:r>
            <a:r>
              <a:rPr lang="en-GB"/>
              <a:t>. It condenses </a:t>
            </a:r>
            <a:r>
              <a:rPr lang="en-GB" b="1"/>
              <a:t>carbamoyl phosphate </a:t>
            </a:r>
            <a:r>
              <a:rPr lang="en-GB"/>
              <a:t>and </a:t>
            </a:r>
            <a:r>
              <a:rPr lang="en-GB" b="1"/>
              <a:t>ornithine</a:t>
            </a:r>
            <a:r>
              <a:rPr lang="en-GB"/>
              <a:t> to form </a:t>
            </a:r>
            <a:r>
              <a:rPr lang="en-GB" b="1"/>
              <a:t>citrulline </a:t>
            </a:r>
            <a:r>
              <a:rPr lang="en-GB"/>
              <a:t>(this occurs in the mitochondria).</a:t>
            </a:r>
            <a:endParaRPr/>
          </a:p>
          <a:p>
            <a:pPr marL="285750" lvl="0" indent="-285750" algn="just" rtl="0">
              <a:spcBef>
                <a:spcPts val="1080"/>
              </a:spcBef>
              <a:spcAft>
                <a:spcPts val="0"/>
              </a:spcAft>
              <a:buSzPts val="2760"/>
              <a:buNone/>
            </a:pPr>
            <a:r>
              <a:rPr lang="en-GB"/>
              <a:t>Note: Citrulline is then transported through</a:t>
            </a:r>
            <a:endParaRPr/>
          </a:p>
          <a:p>
            <a:pPr marL="285750" lvl="0" indent="-285750" algn="just" rtl="0">
              <a:spcBef>
                <a:spcPts val="1080"/>
              </a:spcBef>
              <a:spcAft>
                <a:spcPts val="0"/>
              </a:spcAft>
              <a:buSzPts val="2760"/>
              <a:buNone/>
            </a:pPr>
            <a:r>
              <a:rPr lang="en-GB"/>
              <a:t>specific transporters to the cytosol.</a:t>
            </a:r>
            <a:endParaRPr/>
          </a:p>
          <a:p>
            <a:pPr marL="285750" lvl="0" indent="-285750" algn="just" rtl="0">
              <a:spcBef>
                <a:spcPts val="1080"/>
              </a:spcBef>
              <a:spcAft>
                <a:spcPts val="0"/>
              </a:spcAft>
              <a:buSzPts val="2760"/>
              <a:buChar char="•"/>
            </a:pPr>
            <a:r>
              <a:rPr lang="en-GB" b="1"/>
              <a:t>Arginino succinate synthetase </a:t>
            </a:r>
            <a:r>
              <a:rPr lang="en-GB"/>
              <a:t>present in cytosol catalyzes the condensation of citrulline and aspartate at the expense of two high energy bonds to form </a:t>
            </a:r>
            <a:r>
              <a:rPr lang="en-GB" b="1"/>
              <a:t>argininosuccinate</a:t>
            </a:r>
            <a:r>
              <a:rPr lang="en-GB"/>
              <a:t>.</a:t>
            </a:r>
            <a:endParaRPr/>
          </a:p>
          <a:p>
            <a:pPr marL="285750" lvl="0" indent="-285750" algn="just" rtl="0">
              <a:spcBef>
                <a:spcPts val="1080"/>
              </a:spcBef>
              <a:spcAft>
                <a:spcPts val="0"/>
              </a:spcAft>
              <a:buSzPts val="2760"/>
              <a:buChar char="•"/>
            </a:pPr>
            <a:r>
              <a:rPr lang="en-GB"/>
              <a:t>In the third reaction of urea cycle </a:t>
            </a:r>
            <a:r>
              <a:rPr lang="en-GB" b="1"/>
              <a:t>argininosuccinate</a:t>
            </a:r>
            <a:r>
              <a:rPr lang="en-GB"/>
              <a:t> is cleaved by </a:t>
            </a:r>
            <a:r>
              <a:rPr lang="en-GB" b="1"/>
              <a:t>argininosuccinase </a:t>
            </a:r>
            <a:r>
              <a:rPr lang="en-GB"/>
              <a:t>to </a:t>
            </a:r>
            <a:r>
              <a:rPr lang="en-GB" b="1"/>
              <a:t>arginine</a:t>
            </a:r>
            <a:r>
              <a:rPr lang="en-GB"/>
              <a:t> and </a:t>
            </a:r>
            <a:r>
              <a:rPr lang="en-GB" b="1"/>
              <a:t>fumarate</a:t>
            </a:r>
            <a:r>
              <a:rPr lang="en-GB"/>
              <a:t>.</a:t>
            </a:r>
            <a:endParaRPr/>
          </a:p>
          <a:p>
            <a:pPr marL="285750" lvl="0" indent="-285750" algn="just" rtl="0">
              <a:spcBef>
                <a:spcPts val="1080"/>
              </a:spcBef>
              <a:spcAft>
                <a:spcPts val="0"/>
              </a:spcAft>
              <a:buSzPts val="2760"/>
              <a:buChar char="•"/>
            </a:pPr>
            <a:r>
              <a:rPr lang="en-GB"/>
              <a:t>Regeneration of </a:t>
            </a:r>
            <a:r>
              <a:rPr lang="en-GB" b="1"/>
              <a:t>ornithine</a:t>
            </a:r>
            <a:r>
              <a:rPr lang="en-GB"/>
              <a:t> and formation of </a:t>
            </a:r>
            <a:r>
              <a:rPr lang="en-GB" b="1"/>
              <a:t>urea</a:t>
            </a:r>
            <a:r>
              <a:rPr lang="en-GB"/>
              <a:t> from </a:t>
            </a:r>
            <a:r>
              <a:rPr lang="en-GB" b="1"/>
              <a:t>arginine</a:t>
            </a:r>
            <a:r>
              <a:rPr lang="en-GB"/>
              <a:t> is the final reaction of urea cycle. This reaction is catalyzed by </a:t>
            </a:r>
            <a:r>
              <a:rPr lang="en-GB" b="1"/>
              <a:t>arginase</a:t>
            </a:r>
            <a:r>
              <a:rPr lang="en-GB"/>
              <a:t>.</a:t>
            </a:r>
            <a:endParaRPr/>
          </a:p>
        </p:txBody>
      </p:sp>
      <p:pic>
        <p:nvPicPr>
          <p:cNvPr id="319" name="Google Shape;319;p27"/>
          <p:cNvPicPr preferRelativeResize="0"/>
          <p:nvPr/>
        </p:nvPicPr>
        <p:blipFill rotWithShape="1">
          <a:blip r:embed="rId3">
            <a:alphaModFix/>
          </a:blip>
          <a:srcRect/>
          <a:stretch/>
        </p:blipFill>
        <p:spPr>
          <a:xfrm>
            <a:off x="1187624" y="6101918"/>
            <a:ext cx="6858048" cy="57150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323"/>
        <p:cNvGrpSpPr/>
        <p:nvPr/>
      </p:nvGrpSpPr>
      <p:grpSpPr>
        <a:xfrm>
          <a:off x="0" y="0"/>
          <a:ext cx="0" cy="0"/>
          <a:chOff x="0" y="0"/>
          <a:chExt cx="0" cy="0"/>
        </a:xfrm>
      </p:grpSpPr>
      <p:pic>
        <p:nvPicPr>
          <p:cNvPr id="324" name="Google Shape;324;p28"/>
          <p:cNvPicPr preferRelativeResize="0"/>
          <p:nvPr/>
        </p:nvPicPr>
        <p:blipFill rotWithShape="1">
          <a:blip r:embed="rId3">
            <a:alphaModFix/>
          </a:blip>
          <a:srcRect/>
          <a:stretch/>
        </p:blipFill>
        <p:spPr>
          <a:xfrm>
            <a:off x="2652730" y="0"/>
            <a:ext cx="6419864" cy="6858000"/>
          </a:xfrm>
          <a:prstGeom prst="rect">
            <a:avLst/>
          </a:prstGeom>
          <a:noFill/>
          <a:ln>
            <a:noFill/>
          </a:ln>
        </p:spPr>
      </p:pic>
      <p:sp>
        <p:nvSpPr>
          <p:cNvPr id="325" name="Google Shape;325;p28"/>
          <p:cNvSpPr txBox="1">
            <a:spLocks noGrp="1"/>
          </p:cNvSpPr>
          <p:nvPr>
            <p:ph type="title"/>
          </p:nvPr>
        </p:nvSpPr>
        <p:spPr>
          <a:xfrm>
            <a:off x="80946" y="71414"/>
            <a:ext cx="2133600" cy="214314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2800"/>
              <a:buFont typeface="Garamond"/>
              <a:buNone/>
            </a:pPr>
            <a:r>
              <a:rPr lang="en-GB" sz="2800" b="1"/>
              <a:t> </a:t>
            </a:r>
            <a:r>
              <a:rPr lang="en-GB" sz="2800" b="1">
                <a:solidFill>
                  <a:srgbClr val="FF0000"/>
                </a:solidFill>
              </a:rPr>
              <a:t>Nitrogen Excretion and the Urea Cycle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329"/>
        <p:cNvGrpSpPr/>
        <p:nvPr/>
      </p:nvGrpSpPr>
      <p:grpSpPr>
        <a:xfrm>
          <a:off x="0" y="0"/>
          <a:ext cx="0" cy="0"/>
          <a:chOff x="0" y="0"/>
          <a:chExt cx="0" cy="0"/>
        </a:xfrm>
      </p:grpSpPr>
      <p:sp>
        <p:nvSpPr>
          <p:cNvPr id="330" name="Google Shape;330;p29"/>
          <p:cNvSpPr txBox="1">
            <a:spLocks noGrp="1"/>
          </p:cNvSpPr>
          <p:nvPr>
            <p:ph type="title"/>
          </p:nvPr>
        </p:nvSpPr>
        <p:spPr>
          <a:xfrm>
            <a:off x="457200" y="-99392"/>
            <a:ext cx="8229600" cy="22488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0000"/>
              </a:buClr>
              <a:buSzPts val="2800"/>
              <a:buFont typeface="Garamond"/>
              <a:buNone/>
            </a:pPr>
            <a:r>
              <a:rPr lang="en-GB" sz="2800">
                <a:solidFill>
                  <a:srgbClr val="FF0000"/>
                </a:solidFill>
              </a:rPr>
              <a:t>Urea cycle</a:t>
            </a:r>
            <a:endParaRPr/>
          </a:p>
        </p:txBody>
      </p:sp>
      <p:sp>
        <p:nvSpPr>
          <p:cNvPr id="331" name="Google Shape;331;p29"/>
          <p:cNvSpPr txBox="1">
            <a:spLocks noGrp="1"/>
          </p:cNvSpPr>
          <p:nvPr>
            <p:ph type="body" idx="1"/>
          </p:nvPr>
        </p:nvSpPr>
        <p:spPr>
          <a:xfrm>
            <a:off x="0" y="188640"/>
            <a:ext cx="9252520" cy="720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760"/>
              <a:buNone/>
            </a:pPr>
            <a:endParaRPr/>
          </a:p>
        </p:txBody>
      </p:sp>
      <p:pic>
        <p:nvPicPr>
          <p:cNvPr id="332" name="Google Shape;332;p29" descr="http://www.vetunited.com/vb/uploaded/281_11300173618.jpg"/>
          <p:cNvPicPr preferRelativeResize="0"/>
          <p:nvPr/>
        </p:nvPicPr>
        <p:blipFill rotWithShape="1">
          <a:blip r:embed="rId3">
            <a:alphaModFix/>
          </a:blip>
          <a:srcRect/>
          <a:stretch/>
        </p:blipFill>
        <p:spPr>
          <a:xfrm>
            <a:off x="0" y="260648"/>
            <a:ext cx="9252520" cy="659544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336"/>
        <p:cNvGrpSpPr/>
        <p:nvPr/>
      </p:nvGrpSpPr>
      <p:grpSpPr>
        <a:xfrm>
          <a:off x="0" y="0"/>
          <a:ext cx="0" cy="0"/>
          <a:chOff x="0" y="0"/>
          <a:chExt cx="0" cy="0"/>
        </a:xfrm>
      </p:grpSpPr>
      <p:sp>
        <p:nvSpPr>
          <p:cNvPr id="337" name="Google Shape;337;p30"/>
          <p:cNvSpPr txBox="1">
            <a:spLocks noGrp="1"/>
          </p:cNvSpPr>
          <p:nvPr>
            <p:ph type="title"/>
          </p:nvPr>
        </p:nvSpPr>
        <p:spPr>
          <a:xfrm>
            <a:off x="685800" y="152400"/>
            <a:ext cx="77724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FB0DC"/>
              </a:buClr>
              <a:buSzPts val="4000"/>
              <a:buFont typeface="Garamond"/>
              <a:buNone/>
            </a:pPr>
            <a:r>
              <a:rPr lang="en-GB">
                <a:solidFill>
                  <a:srgbClr val="2FB0DC"/>
                </a:solidFill>
              </a:rPr>
              <a:t>The Reactions in the Urea Cycle</a:t>
            </a:r>
            <a:endParaRPr/>
          </a:p>
        </p:txBody>
      </p:sp>
      <p:sp>
        <p:nvSpPr>
          <p:cNvPr id="338" name="Google Shape;338;p30"/>
          <p:cNvSpPr txBox="1">
            <a:spLocks noGrp="1"/>
          </p:cNvSpPr>
          <p:nvPr>
            <p:ph type="body" idx="1"/>
          </p:nvPr>
        </p:nvSpPr>
        <p:spPr>
          <a:xfrm>
            <a:off x="304800" y="1643050"/>
            <a:ext cx="8839200" cy="5026310"/>
          </a:xfrm>
          <a:prstGeom prst="rect">
            <a:avLst/>
          </a:prstGeom>
          <a:noFill/>
          <a:ln>
            <a:noFill/>
          </a:ln>
        </p:spPr>
        <p:txBody>
          <a:bodyPr spcFirstLastPara="1" wrap="square" lIns="91425" tIns="45700" rIns="91425" bIns="45700" anchor="t" anchorCtr="0">
            <a:normAutofit lnSpcReduction="10000"/>
          </a:bodyPr>
          <a:lstStyle/>
          <a:p>
            <a:pPr marL="285750" lvl="0" indent="-285750" algn="l" rtl="0">
              <a:spcBef>
                <a:spcPts val="0"/>
              </a:spcBef>
              <a:spcAft>
                <a:spcPts val="0"/>
              </a:spcAft>
              <a:buSzPts val="2760"/>
              <a:buChar char="•"/>
            </a:pPr>
            <a:r>
              <a:rPr lang="en-GB" sz="2400" b="1">
                <a:latin typeface="Arial"/>
                <a:ea typeface="Arial"/>
                <a:cs typeface="Arial"/>
                <a:sym typeface="Arial"/>
              </a:rPr>
              <a:t>1</a:t>
            </a:r>
            <a:r>
              <a:rPr lang="en-GB" sz="2400">
                <a:latin typeface="Arial"/>
                <a:ea typeface="Arial"/>
                <a:cs typeface="Arial"/>
                <a:sym typeface="Arial"/>
              </a:rPr>
              <a:t>  ornithine + carbamoyl phosphate =&gt; citrulline </a:t>
            </a:r>
            <a:endParaRPr/>
          </a:p>
          <a:p>
            <a:pPr marL="457200" lvl="1" indent="0" algn="l" rtl="0">
              <a:spcBef>
                <a:spcPts val="1080"/>
              </a:spcBef>
              <a:spcAft>
                <a:spcPts val="0"/>
              </a:spcAft>
              <a:buSzPts val="2760"/>
              <a:buNone/>
            </a:pPr>
            <a:r>
              <a:rPr lang="en-GB" sz="2400">
                <a:latin typeface="Arial"/>
                <a:ea typeface="Arial"/>
                <a:cs typeface="Arial"/>
                <a:sym typeface="Arial"/>
              </a:rPr>
              <a:t>(entry of the first amino group).</a:t>
            </a:r>
            <a:r>
              <a:rPr lang="en-GB" sz="2400" b="1">
                <a:latin typeface="Arial"/>
                <a:ea typeface="Arial"/>
                <a:cs typeface="Arial"/>
                <a:sym typeface="Arial"/>
              </a:rPr>
              <a:t> </a:t>
            </a:r>
            <a:endParaRPr sz="2400">
              <a:latin typeface="Arial"/>
              <a:ea typeface="Arial"/>
              <a:cs typeface="Arial"/>
              <a:sym typeface="Arial"/>
            </a:endParaRPr>
          </a:p>
          <a:p>
            <a:pPr marL="457200" lvl="1" indent="0" algn="l" rtl="0">
              <a:spcBef>
                <a:spcPts val="1080"/>
              </a:spcBef>
              <a:spcAft>
                <a:spcPts val="0"/>
              </a:spcAft>
              <a:buSzPts val="2760"/>
              <a:buNone/>
            </a:pPr>
            <a:r>
              <a:rPr lang="en-GB" sz="2400">
                <a:latin typeface="Arial"/>
                <a:ea typeface="Arial"/>
                <a:cs typeface="Arial"/>
                <a:sym typeface="Arial"/>
              </a:rPr>
              <a:t>citrulline passes into the cytosol. </a:t>
            </a:r>
            <a:endParaRPr/>
          </a:p>
          <a:p>
            <a:pPr marL="285750" lvl="0" indent="-285750" algn="l" rtl="0">
              <a:spcBef>
                <a:spcPts val="1080"/>
              </a:spcBef>
              <a:spcAft>
                <a:spcPts val="0"/>
              </a:spcAft>
              <a:buSzPts val="2760"/>
              <a:buChar char="•"/>
            </a:pPr>
            <a:r>
              <a:rPr lang="en-GB" sz="2400" b="1">
                <a:latin typeface="Arial"/>
                <a:ea typeface="Arial"/>
                <a:cs typeface="Arial"/>
                <a:sym typeface="Arial"/>
              </a:rPr>
              <a:t>2a  </a:t>
            </a:r>
            <a:r>
              <a:rPr lang="en-GB" sz="2400">
                <a:latin typeface="Arial"/>
                <a:ea typeface="Arial"/>
                <a:cs typeface="Arial"/>
                <a:sym typeface="Arial"/>
              </a:rPr>
              <a:t>citrulline + ATP =&gt; citrullyl-AMP + PPi</a:t>
            </a:r>
            <a:endParaRPr sz="2400" b="1">
              <a:latin typeface="Arial"/>
              <a:ea typeface="Arial"/>
              <a:cs typeface="Arial"/>
              <a:sym typeface="Arial"/>
            </a:endParaRPr>
          </a:p>
          <a:p>
            <a:pPr marL="285750" lvl="0" indent="-285750" algn="l" rtl="0">
              <a:spcBef>
                <a:spcPts val="1080"/>
              </a:spcBef>
              <a:spcAft>
                <a:spcPts val="0"/>
              </a:spcAft>
              <a:buSzPts val="2760"/>
              <a:buChar char="•"/>
            </a:pPr>
            <a:r>
              <a:rPr lang="en-GB" sz="2400" b="1">
                <a:latin typeface="Arial"/>
                <a:ea typeface="Arial"/>
                <a:cs typeface="Arial"/>
                <a:sym typeface="Arial"/>
              </a:rPr>
              <a:t>2b </a:t>
            </a:r>
            <a:r>
              <a:rPr lang="en-GB" sz="2400">
                <a:latin typeface="Arial"/>
                <a:ea typeface="Arial"/>
                <a:cs typeface="Arial"/>
                <a:sym typeface="Arial"/>
              </a:rPr>
              <a:t> citrullyl-AMP + Aspartate =&gt; argininosuccinate + AMP</a:t>
            </a:r>
            <a:endParaRPr/>
          </a:p>
          <a:p>
            <a:pPr marL="457200" lvl="1" indent="0" algn="l" rtl="0">
              <a:spcBef>
                <a:spcPts val="1080"/>
              </a:spcBef>
              <a:spcAft>
                <a:spcPts val="0"/>
              </a:spcAft>
              <a:buSzPts val="2760"/>
              <a:buNone/>
            </a:pPr>
            <a:r>
              <a:rPr lang="en-GB" sz="2400">
                <a:latin typeface="Arial"/>
                <a:ea typeface="Arial"/>
                <a:cs typeface="Arial"/>
                <a:sym typeface="Arial"/>
              </a:rPr>
              <a:t>(entry of the second amino group).</a:t>
            </a:r>
            <a:r>
              <a:rPr lang="en-GB" sz="2400" b="1">
                <a:latin typeface="Arial"/>
                <a:ea typeface="Arial"/>
                <a:cs typeface="Arial"/>
                <a:sym typeface="Arial"/>
              </a:rPr>
              <a:t> </a:t>
            </a:r>
            <a:endParaRPr/>
          </a:p>
          <a:p>
            <a:pPr marL="285750" lvl="0" indent="-285750" algn="l" rtl="0">
              <a:spcBef>
                <a:spcPts val="1080"/>
              </a:spcBef>
              <a:spcAft>
                <a:spcPts val="0"/>
              </a:spcAft>
              <a:buSzPts val="2760"/>
              <a:buChar char="•"/>
            </a:pPr>
            <a:r>
              <a:rPr lang="en-GB" sz="2400" b="1">
                <a:latin typeface="Arial"/>
                <a:ea typeface="Arial"/>
                <a:cs typeface="Arial"/>
                <a:sym typeface="Arial"/>
              </a:rPr>
              <a:t>3</a:t>
            </a:r>
            <a:r>
              <a:rPr lang="en-GB" sz="2400">
                <a:latin typeface="Arial"/>
                <a:ea typeface="Arial"/>
                <a:cs typeface="Arial"/>
                <a:sym typeface="Arial"/>
              </a:rPr>
              <a:t>  argininosuccinate =&gt; arginine + fumarate</a:t>
            </a:r>
            <a:endParaRPr sz="2400">
              <a:latin typeface="Arial"/>
              <a:ea typeface="Arial"/>
              <a:cs typeface="Arial"/>
              <a:sym typeface="Arial"/>
            </a:endParaRPr>
          </a:p>
          <a:p>
            <a:pPr marL="742950" lvl="1" indent="-285750" algn="l" rtl="0">
              <a:spcBef>
                <a:spcPts val="1080"/>
              </a:spcBef>
              <a:spcAft>
                <a:spcPts val="0"/>
              </a:spcAft>
              <a:buSzPts val="2760"/>
              <a:buChar char="•"/>
            </a:pPr>
            <a:r>
              <a:rPr lang="en-GB" sz="2400">
                <a:latin typeface="Arial"/>
                <a:ea typeface="Arial"/>
                <a:cs typeface="Arial"/>
                <a:sym typeface="Arial"/>
              </a:rPr>
              <a:t>fumarate enters the citric acid cycle. </a:t>
            </a:r>
            <a:endParaRPr/>
          </a:p>
          <a:p>
            <a:pPr marL="285750" lvl="0" indent="-285750" algn="l" rtl="0">
              <a:spcBef>
                <a:spcPts val="1080"/>
              </a:spcBef>
              <a:spcAft>
                <a:spcPts val="0"/>
              </a:spcAft>
              <a:buSzPts val="2760"/>
              <a:buChar char="•"/>
            </a:pPr>
            <a:r>
              <a:rPr lang="en-GB" sz="2400" b="1">
                <a:latin typeface="Arial"/>
                <a:ea typeface="Arial"/>
                <a:cs typeface="Arial"/>
                <a:sym typeface="Arial"/>
              </a:rPr>
              <a:t>4</a:t>
            </a:r>
            <a:r>
              <a:rPr lang="en-GB" sz="2400">
                <a:latin typeface="Arial"/>
                <a:ea typeface="Arial"/>
                <a:cs typeface="Arial"/>
                <a:sym typeface="Arial"/>
              </a:rPr>
              <a:t>  arginine =&gt; urea + ornithine</a:t>
            </a:r>
            <a:endParaRPr sz="2400">
              <a:latin typeface="Arial"/>
              <a:ea typeface="Arial"/>
              <a:cs typeface="Arial"/>
              <a:sym typeface="Arial"/>
            </a:endParaRPr>
          </a:p>
          <a:p>
            <a:pPr marL="742950" lvl="1" indent="-285750" algn="l" rtl="0">
              <a:spcBef>
                <a:spcPts val="1080"/>
              </a:spcBef>
              <a:spcAft>
                <a:spcPts val="0"/>
              </a:spcAft>
              <a:buSzPts val="2760"/>
              <a:buChar char="•"/>
            </a:pPr>
            <a:r>
              <a:rPr lang="en-GB" sz="2400">
                <a:latin typeface="Arial"/>
                <a:ea typeface="Arial"/>
                <a:cs typeface="Arial"/>
                <a:sym typeface="Arial"/>
              </a:rPr>
              <a:t>Ornithine passes to the mitochondria to continue the cycle </a:t>
            </a:r>
            <a:endParaRPr/>
          </a:p>
        </p:txBody>
      </p:sp>
      <p:grpSp>
        <p:nvGrpSpPr>
          <p:cNvPr id="339" name="Google Shape;339;p30"/>
          <p:cNvGrpSpPr/>
          <p:nvPr/>
        </p:nvGrpSpPr>
        <p:grpSpPr>
          <a:xfrm>
            <a:off x="642910" y="1714488"/>
            <a:ext cx="500066" cy="3929090"/>
            <a:chOff x="642910" y="1714488"/>
            <a:chExt cx="500066" cy="3929090"/>
          </a:xfrm>
        </p:grpSpPr>
        <p:sp>
          <p:nvSpPr>
            <p:cNvPr id="340" name="Google Shape;340;p30"/>
            <p:cNvSpPr/>
            <p:nvPr/>
          </p:nvSpPr>
          <p:spPr>
            <a:xfrm>
              <a:off x="642910" y="1714488"/>
              <a:ext cx="357190" cy="428628"/>
            </a:xfrm>
            <a:prstGeom prst="ellipse">
              <a:avLst/>
            </a:prstGeom>
            <a:no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aramond"/>
                <a:ea typeface="Garamond"/>
                <a:cs typeface="Garamond"/>
                <a:sym typeface="Garamond"/>
              </a:endParaRPr>
            </a:p>
          </p:txBody>
        </p:sp>
        <p:sp>
          <p:nvSpPr>
            <p:cNvPr id="341" name="Google Shape;341;p30"/>
            <p:cNvSpPr/>
            <p:nvPr/>
          </p:nvSpPr>
          <p:spPr>
            <a:xfrm>
              <a:off x="714348" y="3500438"/>
              <a:ext cx="428628" cy="428628"/>
            </a:xfrm>
            <a:prstGeom prst="ellipse">
              <a:avLst/>
            </a:prstGeom>
            <a:no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aramond"/>
                <a:ea typeface="Garamond"/>
                <a:cs typeface="Garamond"/>
                <a:sym typeface="Garamond"/>
              </a:endParaRPr>
            </a:p>
          </p:txBody>
        </p:sp>
        <p:sp>
          <p:nvSpPr>
            <p:cNvPr id="342" name="Google Shape;342;p30"/>
            <p:cNvSpPr/>
            <p:nvPr/>
          </p:nvSpPr>
          <p:spPr>
            <a:xfrm>
              <a:off x="642910" y="4357694"/>
              <a:ext cx="357190" cy="357190"/>
            </a:xfrm>
            <a:prstGeom prst="ellipse">
              <a:avLst/>
            </a:prstGeom>
            <a:no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aramond"/>
                <a:ea typeface="Garamond"/>
                <a:cs typeface="Garamond"/>
                <a:sym typeface="Garamond"/>
              </a:endParaRPr>
            </a:p>
          </p:txBody>
        </p:sp>
        <p:sp>
          <p:nvSpPr>
            <p:cNvPr id="343" name="Google Shape;343;p30"/>
            <p:cNvSpPr/>
            <p:nvPr/>
          </p:nvSpPr>
          <p:spPr>
            <a:xfrm>
              <a:off x="714348" y="3000372"/>
              <a:ext cx="428628" cy="428628"/>
            </a:xfrm>
            <a:prstGeom prst="ellipse">
              <a:avLst/>
            </a:prstGeom>
            <a:no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aramond"/>
                <a:ea typeface="Garamond"/>
                <a:cs typeface="Garamond"/>
                <a:sym typeface="Garamond"/>
              </a:endParaRPr>
            </a:p>
          </p:txBody>
        </p:sp>
        <p:sp>
          <p:nvSpPr>
            <p:cNvPr id="344" name="Google Shape;344;p30"/>
            <p:cNvSpPr/>
            <p:nvPr/>
          </p:nvSpPr>
          <p:spPr>
            <a:xfrm>
              <a:off x="642910" y="5214950"/>
              <a:ext cx="357190" cy="428628"/>
            </a:xfrm>
            <a:prstGeom prst="ellipse">
              <a:avLst/>
            </a:prstGeom>
            <a:no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aramond"/>
                <a:ea typeface="Garamond"/>
                <a:cs typeface="Garamond"/>
                <a:sym typeface="Garamond"/>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48"/>
        <p:cNvGrpSpPr/>
        <p:nvPr/>
      </p:nvGrpSpPr>
      <p:grpSpPr>
        <a:xfrm>
          <a:off x="0" y="0"/>
          <a:ext cx="0" cy="0"/>
          <a:chOff x="0" y="0"/>
          <a:chExt cx="0" cy="0"/>
        </a:xfrm>
      </p:grpSpPr>
      <p:sp>
        <p:nvSpPr>
          <p:cNvPr id="349" name="Google Shape;349;p31"/>
          <p:cNvSpPr txBox="1">
            <a:spLocks noGrp="1"/>
          </p:cNvSpPr>
          <p:nvPr>
            <p:ph type="title"/>
          </p:nvPr>
        </p:nvSpPr>
        <p:spPr>
          <a:xfrm>
            <a:off x="457200" y="274638"/>
            <a:ext cx="5972188" cy="511156"/>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262626"/>
              </a:buClr>
              <a:buSzPct val="100000"/>
              <a:buFont typeface="Garamond"/>
              <a:buNone/>
            </a:pPr>
            <a:r>
              <a:rPr lang="en-GB" sz="2800"/>
              <a:t>Fate of fumarate from the urea cycle</a:t>
            </a:r>
            <a:endParaRPr/>
          </a:p>
        </p:txBody>
      </p:sp>
      <p:pic>
        <p:nvPicPr>
          <p:cNvPr id="350" name="Google Shape;350;p31"/>
          <p:cNvPicPr preferRelativeResize="0"/>
          <p:nvPr/>
        </p:nvPicPr>
        <p:blipFill rotWithShape="1">
          <a:blip r:embed="rId3">
            <a:alphaModFix/>
          </a:blip>
          <a:srcRect/>
          <a:stretch/>
        </p:blipFill>
        <p:spPr>
          <a:xfrm>
            <a:off x="1" y="785793"/>
            <a:ext cx="6143636" cy="5955575"/>
          </a:xfrm>
          <a:prstGeom prst="rect">
            <a:avLst/>
          </a:prstGeom>
          <a:noFill/>
          <a:ln>
            <a:noFill/>
          </a:ln>
        </p:spPr>
      </p:pic>
      <p:sp>
        <p:nvSpPr>
          <p:cNvPr id="351" name="Google Shape;351;p31"/>
          <p:cNvSpPr txBox="1"/>
          <p:nvPr/>
        </p:nvSpPr>
        <p:spPr>
          <a:xfrm>
            <a:off x="6143636" y="2077042"/>
            <a:ext cx="3000364"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000">
                <a:solidFill>
                  <a:schemeClr val="dk1"/>
                </a:solidFill>
                <a:latin typeface="Garamond"/>
                <a:ea typeface="Garamond"/>
                <a:cs typeface="Garamond"/>
                <a:sym typeface="Garamond"/>
              </a:rPr>
              <a:t>Fumarate is recycled in urea cycle by converting it to aspartate.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355"/>
        <p:cNvGrpSpPr/>
        <p:nvPr/>
      </p:nvGrpSpPr>
      <p:grpSpPr>
        <a:xfrm>
          <a:off x="0" y="0"/>
          <a:ext cx="0" cy="0"/>
          <a:chOff x="0" y="0"/>
          <a:chExt cx="0" cy="0"/>
        </a:xfrm>
      </p:grpSpPr>
      <p:pic>
        <p:nvPicPr>
          <p:cNvPr id="356" name="Google Shape;356;p32" descr="figure 18-12"/>
          <p:cNvPicPr preferRelativeResize="0"/>
          <p:nvPr/>
        </p:nvPicPr>
        <p:blipFill rotWithShape="1">
          <a:blip r:embed="rId3">
            <a:alphaModFix/>
          </a:blip>
          <a:srcRect/>
          <a:stretch/>
        </p:blipFill>
        <p:spPr>
          <a:xfrm>
            <a:off x="500034" y="1295400"/>
            <a:ext cx="8536462" cy="5661992"/>
          </a:xfrm>
          <a:prstGeom prst="rect">
            <a:avLst/>
          </a:prstGeom>
          <a:noFill/>
          <a:ln>
            <a:noFill/>
          </a:ln>
        </p:spPr>
      </p:pic>
      <p:sp>
        <p:nvSpPr>
          <p:cNvPr id="357" name="Google Shape;357;p32"/>
          <p:cNvSpPr txBox="1">
            <a:spLocks noGrp="1"/>
          </p:cNvSpPr>
          <p:nvPr>
            <p:ph type="title"/>
          </p:nvPr>
        </p:nvSpPr>
        <p:spPr>
          <a:xfrm>
            <a:off x="304800" y="152400"/>
            <a:ext cx="8610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FF0000"/>
              </a:buClr>
              <a:buSzPct val="100000"/>
              <a:buFont typeface="Garamond"/>
              <a:buNone/>
            </a:pPr>
            <a:r>
              <a:rPr lang="en-GB" sz="3600" b="1">
                <a:solidFill>
                  <a:srgbClr val="FF0000"/>
                </a:solidFill>
              </a:rPr>
              <a:t>Aspartate –Arginosuccinate Shunt Links Urea Cycle and Citric Acid Cycle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61"/>
        <p:cNvGrpSpPr/>
        <p:nvPr/>
      </p:nvGrpSpPr>
      <p:grpSpPr>
        <a:xfrm>
          <a:off x="0" y="0"/>
          <a:ext cx="0" cy="0"/>
          <a:chOff x="0" y="0"/>
          <a:chExt cx="0" cy="0"/>
        </a:xfrm>
      </p:grpSpPr>
      <p:sp>
        <p:nvSpPr>
          <p:cNvPr id="362" name="Google Shape;362;p33"/>
          <p:cNvSpPr txBox="1">
            <a:spLocks noGrp="1"/>
          </p:cNvSpPr>
          <p:nvPr>
            <p:ph type="title"/>
          </p:nvPr>
        </p:nvSpPr>
        <p:spPr>
          <a:xfrm>
            <a:off x="457200" y="274638"/>
            <a:ext cx="8229600" cy="58259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FF0000"/>
              </a:buClr>
              <a:buSzPct val="100000"/>
              <a:buFont typeface="Garamond"/>
              <a:buNone/>
            </a:pPr>
            <a:r>
              <a:rPr lang="en-GB">
                <a:solidFill>
                  <a:srgbClr val="FF0000"/>
                </a:solidFill>
              </a:rPr>
              <a:t>Regulation of urea formation</a:t>
            </a:r>
            <a:endParaRPr/>
          </a:p>
        </p:txBody>
      </p:sp>
      <p:sp>
        <p:nvSpPr>
          <p:cNvPr id="363" name="Google Shape;363;p33"/>
          <p:cNvSpPr txBox="1">
            <a:spLocks noGrp="1"/>
          </p:cNvSpPr>
          <p:nvPr>
            <p:ph type="body" idx="1"/>
          </p:nvPr>
        </p:nvSpPr>
        <p:spPr>
          <a:xfrm>
            <a:off x="285720" y="857232"/>
            <a:ext cx="8572560" cy="5643602"/>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Formation of urea is regulated by activity of </a:t>
            </a:r>
            <a:r>
              <a:rPr lang="en-GB" b="1"/>
              <a:t>carbamoyl phosphate synthetase-I</a:t>
            </a:r>
            <a:r>
              <a:rPr lang="en-GB"/>
              <a:t>. This enzyme catalyzes committed step in urea synthesis. </a:t>
            </a:r>
            <a:endParaRPr/>
          </a:p>
          <a:p>
            <a:pPr marL="285750" lvl="0" indent="-285750" algn="just" rtl="0">
              <a:spcBef>
                <a:spcPts val="1080"/>
              </a:spcBef>
              <a:spcAft>
                <a:spcPts val="0"/>
              </a:spcAft>
              <a:buSzPts val="2760"/>
              <a:buChar char="•"/>
            </a:pPr>
            <a:r>
              <a:rPr lang="en-GB"/>
              <a:t>N-acetylglutamate is an allosteric activator of the enzyme. </a:t>
            </a:r>
            <a:endParaRPr/>
          </a:p>
          <a:p>
            <a:pPr marL="285750" lvl="0" indent="-285750" algn="just" rtl="0">
              <a:spcBef>
                <a:spcPts val="1080"/>
              </a:spcBef>
              <a:spcAft>
                <a:spcPts val="0"/>
              </a:spcAft>
              <a:buSzPts val="2760"/>
              <a:buChar char="•"/>
            </a:pPr>
            <a:r>
              <a:rPr lang="en-GB"/>
              <a:t>High protein in take leads to high levels of N-acetylglutamate formation.Thus high protein in take influences urea formation. </a:t>
            </a:r>
            <a:endParaRPr/>
          </a:p>
          <a:p>
            <a:pPr marL="285750" lvl="0" indent="-285750" algn="just" rtl="0">
              <a:spcBef>
                <a:spcPts val="1080"/>
              </a:spcBef>
              <a:spcAft>
                <a:spcPts val="0"/>
              </a:spcAft>
              <a:buSzPts val="2760"/>
              <a:buChar char="•"/>
            </a:pPr>
            <a:r>
              <a:rPr lang="en-GB"/>
              <a:t>In starvation the rate of urea synthesis is also high due to increased protein breakdown.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67"/>
        <p:cNvGrpSpPr/>
        <p:nvPr/>
      </p:nvGrpSpPr>
      <p:grpSpPr>
        <a:xfrm>
          <a:off x="0" y="0"/>
          <a:ext cx="0" cy="0"/>
          <a:chOff x="0" y="0"/>
          <a:chExt cx="0" cy="0"/>
        </a:xfrm>
      </p:grpSpPr>
      <p:sp>
        <p:nvSpPr>
          <p:cNvPr id="368" name="Google Shape;368;p34"/>
          <p:cNvSpPr txBox="1">
            <a:spLocks noGrp="1"/>
          </p:cNvSpPr>
          <p:nvPr>
            <p:ph type="title"/>
          </p:nvPr>
        </p:nvSpPr>
        <p:spPr>
          <a:xfrm>
            <a:off x="457200" y="71414"/>
            <a:ext cx="8229600" cy="57150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Diseases of the urea cycle</a:t>
            </a:r>
            <a:endParaRPr/>
          </a:p>
        </p:txBody>
      </p:sp>
      <p:sp>
        <p:nvSpPr>
          <p:cNvPr id="369" name="Google Shape;369;p34"/>
          <p:cNvSpPr txBox="1">
            <a:spLocks noGrp="1"/>
          </p:cNvSpPr>
          <p:nvPr>
            <p:ph type="body" idx="1"/>
          </p:nvPr>
        </p:nvSpPr>
        <p:spPr>
          <a:xfrm>
            <a:off x="142844" y="857232"/>
            <a:ext cx="8858280" cy="5268931"/>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Urea formation is impaired in several inherited diseases due to deficiency of enzymes of urea cycle.</a:t>
            </a:r>
            <a:endParaRPr/>
          </a:p>
          <a:p>
            <a:pPr marL="285750" lvl="0" indent="-285750" algn="just" rtl="0">
              <a:spcBef>
                <a:spcPts val="1080"/>
              </a:spcBef>
              <a:spcAft>
                <a:spcPts val="0"/>
              </a:spcAft>
              <a:buSzPts val="2760"/>
              <a:buChar char="•"/>
            </a:pPr>
            <a:r>
              <a:rPr lang="en-GB"/>
              <a:t>Since the urea cycle converts ammonia to urea these disorders may cause ammonia intoxication.</a:t>
            </a:r>
            <a:endParaRPr/>
          </a:p>
          <a:p>
            <a:pPr marL="285750" lvl="0" indent="-285750" algn="just" rtl="0">
              <a:spcBef>
                <a:spcPts val="1080"/>
              </a:spcBef>
              <a:spcAft>
                <a:spcPts val="0"/>
              </a:spcAft>
              <a:buSzPts val="2760"/>
              <a:buChar char="•"/>
            </a:pPr>
            <a:r>
              <a:rPr lang="en-GB"/>
              <a:t>Some common clinical symptoms seen in these diseases are vomiting, irritability, lethargy, seizures, mental retardation, coma and early death.</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73"/>
        <p:cNvGrpSpPr/>
        <p:nvPr/>
      </p:nvGrpSpPr>
      <p:grpSpPr>
        <a:xfrm>
          <a:off x="0" y="0"/>
          <a:ext cx="0" cy="0"/>
          <a:chOff x="0" y="0"/>
          <a:chExt cx="0" cy="0"/>
        </a:xfrm>
      </p:grpSpPr>
      <p:sp>
        <p:nvSpPr>
          <p:cNvPr id="374" name="Google Shape;374;p35"/>
          <p:cNvSpPr txBox="1">
            <a:spLocks noGrp="1"/>
          </p:cNvSpPr>
          <p:nvPr>
            <p:ph type="body" idx="1"/>
          </p:nvPr>
        </p:nvSpPr>
        <p:spPr>
          <a:xfrm>
            <a:off x="457200" y="357166"/>
            <a:ext cx="8229600" cy="5697559"/>
          </a:xfrm>
          <a:prstGeom prst="rect">
            <a:avLst/>
          </a:prstGeom>
          <a:noFill/>
          <a:ln>
            <a:noFill/>
          </a:ln>
        </p:spPr>
        <p:txBody>
          <a:bodyPr spcFirstLastPara="1" wrap="square" lIns="91425" tIns="45700" rIns="91425" bIns="45700" anchor="t" anchorCtr="0">
            <a:noAutofit/>
          </a:bodyPr>
          <a:lstStyle/>
          <a:p>
            <a:pPr marL="514350" lvl="0" indent="-514350" algn="just" rtl="0">
              <a:spcBef>
                <a:spcPts val="0"/>
              </a:spcBef>
              <a:spcAft>
                <a:spcPts val="0"/>
              </a:spcAft>
              <a:buSzPts val="2070"/>
              <a:buFont typeface="Garamond"/>
              <a:buAutoNum type="arabicPeriod"/>
            </a:pPr>
            <a:r>
              <a:rPr lang="en-GB" sz="1800" b="1"/>
              <a:t>Hyper ammonemia Type I</a:t>
            </a:r>
            <a:endParaRPr/>
          </a:p>
          <a:p>
            <a:pPr marL="285750" lvl="0" indent="-285750" algn="just" rtl="0">
              <a:spcBef>
                <a:spcPts val="960"/>
              </a:spcBef>
              <a:spcAft>
                <a:spcPts val="0"/>
              </a:spcAft>
              <a:buSzPts val="2070"/>
              <a:buChar char="•"/>
            </a:pPr>
            <a:r>
              <a:rPr lang="en-GB" sz="1800"/>
              <a:t>It is due to deficiency of enzyme </a:t>
            </a:r>
            <a:r>
              <a:rPr lang="en-GB" sz="1800" b="1"/>
              <a:t>carbamoyl phosphate synthetase-I</a:t>
            </a:r>
            <a:r>
              <a:rPr lang="en-GB" sz="1800"/>
              <a:t>. </a:t>
            </a:r>
            <a:endParaRPr/>
          </a:p>
          <a:p>
            <a:pPr marL="285750" lvl="0" indent="-285750" algn="just" rtl="0">
              <a:spcBef>
                <a:spcPts val="960"/>
              </a:spcBef>
              <a:spcAft>
                <a:spcPts val="0"/>
              </a:spcAft>
              <a:buSzPts val="2070"/>
              <a:buChar char="•"/>
            </a:pPr>
            <a:r>
              <a:rPr lang="en-GB" sz="1800"/>
              <a:t>Mental retardation is the main symptom of this condition.</a:t>
            </a:r>
            <a:endParaRPr/>
          </a:p>
          <a:p>
            <a:pPr marL="514350" lvl="0" indent="-514350" algn="just" rtl="0">
              <a:spcBef>
                <a:spcPts val="960"/>
              </a:spcBef>
              <a:spcAft>
                <a:spcPts val="0"/>
              </a:spcAft>
              <a:buSzPts val="2070"/>
              <a:buFont typeface="Garamond"/>
              <a:buAutoNum type="arabicPeriod" startAt="2"/>
            </a:pPr>
            <a:r>
              <a:rPr lang="en-GB" sz="1800" b="1"/>
              <a:t> Hyper ammonemia Type II</a:t>
            </a:r>
            <a:endParaRPr/>
          </a:p>
          <a:p>
            <a:pPr marL="285750" lvl="0" indent="-285750" algn="just" rtl="0">
              <a:spcBef>
                <a:spcPts val="960"/>
              </a:spcBef>
              <a:spcAft>
                <a:spcPts val="0"/>
              </a:spcAft>
              <a:buSzPts val="2070"/>
              <a:buChar char="•"/>
            </a:pPr>
            <a:r>
              <a:rPr lang="en-GB" sz="1800"/>
              <a:t>It is most common among others. It is due to deficiency of enzyme </a:t>
            </a:r>
            <a:r>
              <a:rPr lang="en-GB" sz="1800" b="1"/>
              <a:t>ornithine trans carbamoylase.</a:t>
            </a:r>
            <a:r>
              <a:rPr lang="en-GB" sz="1800"/>
              <a:t> </a:t>
            </a:r>
            <a:endParaRPr/>
          </a:p>
          <a:p>
            <a:pPr marL="285750" lvl="0" indent="-285750" algn="just" rtl="0">
              <a:spcBef>
                <a:spcPts val="960"/>
              </a:spcBef>
              <a:spcAft>
                <a:spcPts val="0"/>
              </a:spcAft>
              <a:buSzPts val="2070"/>
              <a:buChar char="•"/>
            </a:pPr>
            <a:r>
              <a:rPr lang="en-GB" sz="1800"/>
              <a:t>In this condition carbamoyl phosphate accumulates and diverted to pyrimidine formation resulting to excretion of oroticacid and uracil in urine. </a:t>
            </a:r>
            <a:endParaRPr/>
          </a:p>
          <a:p>
            <a:pPr marL="285750" lvl="0" indent="-285750" algn="just" rtl="0">
              <a:spcBef>
                <a:spcPts val="960"/>
              </a:spcBef>
              <a:spcAft>
                <a:spcPts val="0"/>
              </a:spcAft>
              <a:buSzPts val="2070"/>
              <a:buChar char="•"/>
            </a:pPr>
            <a:r>
              <a:rPr lang="en-GB" sz="1800"/>
              <a:t>Glutamate also accumulates in this condition.</a:t>
            </a:r>
            <a:endParaRPr/>
          </a:p>
          <a:p>
            <a:pPr marL="514350" lvl="0" indent="-514350" algn="just" rtl="0">
              <a:spcBef>
                <a:spcPts val="960"/>
              </a:spcBef>
              <a:spcAft>
                <a:spcPts val="0"/>
              </a:spcAft>
              <a:buSzPts val="2070"/>
              <a:buFont typeface="Garamond"/>
              <a:buAutoNum type="arabicPeriod" startAt="3"/>
            </a:pPr>
            <a:r>
              <a:rPr lang="en-GB" sz="1800" b="1"/>
              <a:t>Citrullinemia</a:t>
            </a:r>
            <a:endParaRPr sz="1800" b="1"/>
          </a:p>
          <a:p>
            <a:pPr marL="285750" lvl="0" indent="-285750" algn="just" rtl="0">
              <a:spcBef>
                <a:spcPts val="960"/>
              </a:spcBef>
              <a:spcAft>
                <a:spcPts val="0"/>
              </a:spcAft>
              <a:buSzPts val="2070"/>
              <a:buChar char="•"/>
            </a:pPr>
            <a:r>
              <a:rPr lang="en-GB" sz="1800"/>
              <a:t>This condition is due to the absence of enzyme </a:t>
            </a:r>
            <a:r>
              <a:rPr lang="en-GB" sz="1800" b="1"/>
              <a:t>argininosuccinate synthetase</a:t>
            </a:r>
            <a:r>
              <a:rPr lang="en-GB" sz="1800"/>
              <a:t>. Hence citrulline accumulates in blood and excreted in urine.</a:t>
            </a:r>
            <a:endParaRPr/>
          </a:p>
          <a:p>
            <a:pPr marL="514350" lvl="0" indent="-514350" algn="just" rtl="0">
              <a:spcBef>
                <a:spcPts val="960"/>
              </a:spcBef>
              <a:spcAft>
                <a:spcPts val="0"/>
              </a:spcAft>
              <a:buSzPts val="2070"/>
              <a:buFont typeface="Garamond"/>
              <a:buAutoNum type="arabicPeriod" startAt="4"/>
            </a:pPr>
            <a:r>
              <a:rPr lang="en-GB" sz="1800" b="1"/>
              <a:t> Argininosuccinicaciduria</a:t>
            </a:r>
            <a:endParaRPr sz="1800" b="1"/>
          </a:p>
          <a:p>
            <a:pPr marL="285750" lvl="0" indent="-285750" algn="just" rtl="0">
              <a:spcBef>
                <a:spcPts val="960"/>
              </a:spcBef>
              <a:spcAft>
                <a:spcPts val="0"/>
              </a:spcAft>
              <a:buSzPts val="2070"/>
              <a:buChar char="•"/>
            </a:pPr>
            <a:r>
              <a:rPr lang="en-GB" sz="1800" b="1"/>
              <a:t>Argininosuccinase</a:t>
            </a:r>
            <a:r>
              <a:rPr lang="en-GB" sz="1800"/>
              <a:t> is absent in this condition. So, </a:t>
            </a:r>
            <a:r>
              <a:rPr lang="en-GB" sz="1800" b="1"/>
              <a:t>argininosuccinate</a:t>
            </a:r>
            <a:r>
              <a:rPr lang="en-GB" sz="1800"/>
              <a:t> accumulates in blood and excreted in urine.</a:t>
            </a:r>
            <a:endParaRPr/>
          </a:p>
          <a:p>
            <a:pPr marL="514350" lvl="0" indent="-514350" algn="just" rtl="0">
              <a:spcBef>
                <a:spcPts val="960"/>
              </a:spcBef>
              <a:spcAft>
                <a:spcPts val="0"/>
              </a:spcAft>
              <a:buSzPts val="2070"/>
              <a:buFont typeface="Garamond"/>
              <a:buAutoNum type="arabicPeriod" startAt="5"/>
            </a:pPr>
            <a:r>
              <a:rPr lang="en-GB" sz="1800" b="1"/>
              <a:t> Hyper argininemia</a:t>
            </a:r>
            <a:endParaRPr sz="1800" b="1"/>
          </a:p>
          <a:p>
            <a:pPr marL="285750" lvl="0" indent="-285750" algn="just" rtl="0">
              <a:spcBef>
                <a:spcPts val="960"/>
              </a:spcBef>
              <a:spcAft>
                <a:spcPts val="0"/>
              </a:spcAft>
              <a:buSzPts val="2070"/>
              <a:buChar char="•"/>
            </a:pPr>
            <a:r>
              <a:rPr lang="en-GB" sz="1800"/>
              <a:t>This condition is due to low</a:t>
            </a:r>
            <a:r>
              <a:rPr lang="en-GB" sz="1800" b="1"/>
              <a:t> arginase </a:t>
            </a:r>
            <a:r>
              <a:rPr lang="en-GB" sz="1800"/>
              <a:t>activity. Hence, arginine accumulates and excreted in urine. However some urea may be excreted in urine due to kidney arginase.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78"/>
        <p:cNvGrpSpPr/>
        <p:nvPr/>
      </p:nvGrpSpPr>
      <p:grpSpPr>
        <a:xfrm>
          <a:off x="0" y="0"/>
          <a:ext cx="0" cy="0"/>
          <a:chOff x="0" y="0"/>
          <a:chExt cx="0" cy="0"/>
        </a:xfrm>
      </p:grpSpPr>
      <p:sp>
        <p:nvSpPr>
          <p:cNvPr id="379" name="Google Shape;379;p36"/>
          <p:cNvSpPr txBox="1">
            <a:spLocks noGrp="1"/>
          </p:cNvSpPr>
          <p:nvPr>
            <p:ph type="title"/>
          </p:nvPr>
        </p:nvSpPr>
        <p:spPr>
          <a:xfrm>
            <a:off x="457200" y="274638"/>
            <a:ext cx="8229600" cy="65403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Treatment</a:t>
            </a:r>
            <a:endParaRPr/>
          </a:p>
        </p:txBody>
      </p:sp>
      <p:sp>
        <p:nvSpPr>
          <p:cNvPr id="380" name="Google Shape;380;p36"/>
          <p:cNvSpPr txBox="1">
            <a:spLocks noGrp="1"/>
          </p:cNvSpPr>
          <p:nvPr>
            <p:ph type="body" idx="1"/>
          </p:nvPr>
        </p:nvSpPr>
        <p:spPr>
          <a:xfrm>
            <a:off x="285720" y="928670"/>
            <a:ext cx="8401080" cy="5643602"/>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Treatment of urea cycle disorders involves removal of excess ammonia from blood and reduction of dietary nitrogen load. </a:t>
            </a:r>
            <a:endParaRPr/>
          </a:p>
          <a:p>
            <a:pPr marL="285750" lvl="0" indent="-285750" algn="just" rtl="0">
              <a:spcBef>
                <a:spcPts val="1080"/>
              </a:spcBef>
              <a:spcAft>
                <a:spcPts val="0"/>
              </a:spcAft>
              <a:buSzPts val="2760"/>
              <a:buChar char="•"/>
            </a:pPr>
            <a:r>
              <a:rPr lang="en-GB"/>
              <a:t>Peritonial dialysis is employed to clear ammonia from blood.</a:t>
            </a:r>
            <a:endParaRPr/>
          </a:p>
          <a:p>
            <a:pPr marL="285750" lvl="0" indent="-285750" algn="just" rtl="0">
              <a:spcBef>
                <a:spcPts val="1080"/>
              </a:spcBef>
              <a:spcAft>
                <a:spcPts val="0"/>
              </a:spcAft>
              <a:buSzPts val="2760"/>
              <a:buChar char="•"/>
            </a:pPr>
            <a:r>
              <a:rPr lang="en-GB"/>
              <a:t>Administration of compounds which can increase nitrogen excretion is another line of treatment. </a:t>
            </a:r>
            <a:endParaRPr/>
          </a:p>
          <a:p>
            <a:pPr marL="285750" lvl="0" indent="-285750" algn="just" rtl="0">
              <a:spcBef>
                <a:spcPts val="1080"/>
              </a:spcBef>
              <a:spcAft>
                <a:spcPts val="0"/>
              </a:spcAft>
              <a:buSzPts val="2760"/>
              <a:buChar char="•"/>
            </a:pPr>
            <a:r>
              <a:rPr lang="en-GB"/>
              <a:t>Benzoic acid and phenyl acetate are two such compounds used in the treatment.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84"/>
        <p:cNvGrpSpPr/>
        <p:nvPr/>
      </p:nvGrpSpPr>
      <p:grpSpPr>
        <a:xfrm>
          <a:off x="0" y="0"/>
          <a:ext cx="0" cy="0"/>
          <a:chOff x="0" y="0"/>
          <a:chExt cx="0" cy="0"/>
        </a:xfrm>
      </p:grpSpPr>
      <p:sp>
        <p:nvSpPr>
          <p:cNvPr id="385" name="Google Shape;385;p37"/>
          <p:cNvSpPr txBox="1">
            <a:spLocks noGrp="1"/>
          </p:cNvSpPr>
          <p:nvPr>
            <p:ph type="title"/>
          </p:nvPr>
        </p:nvSpPr>
        <p:spPr>
          <a:xfrm>
            <a:off x="800128" y="71414"/>
            <a:ext cx="7772400" cy="64294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FB0DC"/>
              </a:buClr>
              <a:buSzPct val="100000"/>
              <a:buFont typeface="Garamond"/>
              <a:buNone/>
            </a:pPr>
            <a:r>
              <a:rPr lang="en-GB">
                <a:solidFill>
                  <a:srgbClr val="2FB0DC"/>
                </a:solidFill>
              </a:rPr>
              <a:t>Fates of Nitrogen in Organisms</a:t>
            </a:r>
            <a:endParaRPr/>
          </a:p>
        </p:txBody>
      </p:sp>
      <p:sp>
        <p:nvSpPr>
          <p:cNvPr id="386" name="Google Shape;386;p37"/>
          <p:cNvSpPr txBox="1"/>
          <p:nvPr/>
        </p:nvSpPr>
        <p:spPr>
          <a:xfrm>
            <a:off x="304800" y="857232"/>
            <a:ext cx="8624918" cy="5214974"/>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90000"/>
              </a:lnSpc>
              <a:spcBef>
                <a:spcPts val="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Plants conserve almost all the nitrogen</a:t>
            </a:r>
            <a:endParaRPr/>
          </a:p>
          <a:p>
            <a:pPr marL="342900" marR="0" lvl="0" indent="-34290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Many aquatic vertebrates release </a:t>
            </a:r>
            <a:r>
              <a:rPr lang="en-GB" sz="2400" b="0" i="0" u="none" strike="noStrike" cap="none">
                <a:solidFill>
                  <a:srgbClr val="0000FF"/>
                </a:solidFill>
                <a:latin typeface="Arial"/>
                <a:ea typeface="Arial"/>
                <a:cs typeface="Arial"/>
                <a:sym typeface="Arial"/>
              </a:rPr>
              <a:t>ammonia</a:t>
            </a:r>
            <a:r>
              <a:rPr lang="en-GB" sz="2400" b="0" i="0" u="none" strike="noStrike" cap="none">
                <a:solidFill>
                  <a:schemeClr val="dk1"/>
                </a:solidFill>
                <a:latin typeface="Arial"/>
                <a:ea typeface="Arial"/>
                <a:cs typeface="Arial"/>
                <a:sym typeface="Arial"/>
              </a:rPr>
              <a:t> to their environment thro; </a:t>
            </a:r>
            <a:endParaRPr/>
          </a:p>
          <a:p>
            <a:pPr marL="742950" marR="0" lvl="1" indent="-28575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passive diffusion from epithelial cells</a:t>
            </a:r>
            <a:endParaRPr/>
          </a:p>
          <a:p>
            <a:pPr marL="742950" marR="0" lvl="1" indent="-28575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active transport via gills</a:t>
            </a:r>
            <a:endParaRPr/>
          </a:p>
          <a:p>
            <a:pPr marL="342900" marR="0" lvl="0" indent="-34290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Many terrestrial vertebrates and sharks excrete nitrogen in the form of </a:t>
            </a:r>
            <a:r>
              <a:rPr lang="en-GB" sz="2400" b="0" i="0" u="none" strike="noStrike" cap="none">
                <a:solidFill>
                  <a:srgbClr val="0000FF"/>
                </a:solidFill>
                <a:latin typeface="Arial"/>
                <a:ea typeface="Arial"/>
                <a:cs typeface="Arial"/>
                <a:sym typeface="Arial"/>
              </a:rPr>
              <a:t>urea</a:t>
            </a:r>
            <a:endParaRPr/>
          </a:p>
          <a:p>
            <a:pPr marL="742950" marR="0" lvl="1" indent="-28575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Urea is far less toxic than ammonia</a:t>
            </a:r>
            <a:endParaRPr/>
          </a:p>
          <a:p>
            <a:pPr marL="742950" marR="0" lvl="1" indent="-28575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Urea has very high solubility</a:t>
            </a:r>
            <a:endParaRPr/>
          </a:p>
          <a:p>
            <a:pPr marL="342900" marR="0" lvl="0" indent="-34290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Some animals, such as birds and reptiles excrete nitrogen as </a:t>
            </a:r>
            <a:r>
              <a:rPr lang="en-GB" sz="2400" b="0" i="0" u="none" strike="noStrike" cap="none">
                <a:solidFill>
                  <a:srgbClr val="0000FF"/>
                </a:solidFill>
                <a:latin typeface="Arial"/>
                <a:ea typeface="Arial"/>
                <a:cs typeface="Arial"/>
                <a:sym typeface="Arial"/>
              </a:rPr>
              <a:t>uric acid</a:t>
            </a:r>
            <a:endParaRPr/>
          </a:p>
          <a:p>
            <a:pPr marL="742950" marR="0" lvl="1" indent="-28575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Uric acid is rather insoluble</a:t>
            </a:r>
            <a:endParaRPr/>
          </a:p>
          <a:p>
            <a:pPr marL="742950" marR="0" lvl="1" indent="-285750" algn="just"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Arial"/>
                <a:ea typeface="Arial"/>
                <a:cs typeface="Arial"/>
                <a:sym typeface="Arial"/>
              </a:rPr>
              <a:t>Excretion as paste allows to conserve water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90"/>
        <p:cNvGrpSpPr/>
        <p:nvPr/>
      </p:nvGrpSpPr>
      <p:grpSpPr>
        <a:xfrm>
          <a:off x="0" y="0"/>
          <a:ext cx="0" cy="0"/>
          <a:chOff x="0" y="0"/>
          <a:chExt cx="0" cy="0"/>
        </a:xfrm>
      </p:grpSpPr>
      <p:pic>
        <p:nvPicPr>
          <p:cNvPr id="391" name="Google Shape;391;p38" descr="figure 18-02b"/>
          <p:cNvPicPr preferRelativeResize="0"/>
          <p:nvPr/>
        </p:nvPicPr>
        <p:blipFill rotWithShape="1">
          <a:blip r:embed="rId3">
            <a:alphaModFix/>
          </a:blip>
          <a:srcRect/>
          <a:stretch/>
        </p:blipFill>
        <p:spPr>
          <a:xfrm>
            <a:off x="3167032" y="188640"/>
            <a:ext cx="5976968" cy="6532562"/>
          </a:xfrm>
          <a:prstGeom prst="rect">
            <a:avLst/>
          </a:prstGeom>
          <a:noFill/>
          <a:ln>
            <a:noFill/>
          </a:ln>
        </p:spPr>
      </p:pic>
      <p:sp>
        <p:nvSpPr>
          <p:cNvPr id="392" name="Google Shape;392;p38"/>
          <p:cNvSpPr txBox="1">
            <a:spLocks noGrp="1"/>
          </p:cNvSpPr>
          <p:nvPr>
            <p:ph type="title"/>
          </p:nvPr>
        </p:nvSpPr>
        <p:spPr>
          <a:xfrm>
            <a:off x="228600" y="381000"/>
            <a:ext cx="2590800" cy="20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FB0DC"/>
              </a:buClr>
              <a:buSzPts val="4000"/>
              <a:buFont typeface="Garamond"/>
              <a:buNone/>
            </a:pPr>
            <a:r>
              <a:rPr lang="en-GB">
                <a:solidFill>
                  <a:srgbClr val="2FB0DC"/>
                </a:solidFill>
              </a:rPr>
              <a:t>Excretory Forms of Nitrogen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96"/>
        <p:cNvGrpSpPr/>
        <p:nvPr/>
      </p:nvGrpSpPr>
      <p:grpSpPr>
        <a:xfrm>
          <a:off x="0" y="0"/>
          <a:ext cx="0" cy="0"/>
          <a:chOff x="0" y="0"/>
          <a:chExt cx="0" cy="0"/>
        </a:xfrm>
      </p:grpSpPr>
      <p:pic>
        <p:nvPicPr>
          <p:cNvPr id="397" name="Google Shape;397;p39" descr="figure 18-01"/>
          <p:cNvPicPr preferRelativeResize="0"/>
          <p:nvPr/>
        </p:nvPicPr>
        <p:blipFill rotWithShape="1">
          <a:blip r:embed="rId3">
            <a:alphaModFix/>
          </a:blip>
          <a:srcRect/>
          <a:stretch/>
        </p:blipFill>
        <p:spPr>
          <a:xfrm>
            <a:off x="3071802" y="101624"/>
            <a:ext cx="6038850" cy="6684962"/>
          </a:xfrm>
          <a:prstGeom prst="rect">
            <a:avLst/>
          </a:prstGeom>
          <a:noFill/>
          <a:ln>
            <a:noFill/>
          </a:ln>
        </p:spPr>
      </p:pic>
      <p:sp>
        <p:nvSpPr>
          <p:cNvPr id="398" name="Google Shape;398;p39"/>
          <p:cNvSpPr txBox="1">
            <a:spLocks noGrp="1"/>
          </p:cNvSpPr>
          <p:nvPr>
            <p:ph type="title"/>
          </p:nvPr>
        </p:nvSpPr>
        <p:spPr>
          <a:xfrm>
            <a:off x="109526" y="114296"/>
            <a:ext cx="2819400" cy="2743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FB0DC"/>
              </a:buClr>
              <a:buSzPts val="4000"/>
              <a:buFont typeface="Garamond"/>
              <a:buNone/>
            </a:pPr>
            <a:r>
              <a:rPr lang="en-GB">
                <a:solidFill>
                  <a:srgbClr val="2FB0DC"/>
                </a:solidFill>
              </a:rPr>
              <a:t>Overview of Amino Acid Catabolism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402"/>
        <p:cNvGrpSpPr/>
        <p:nvPr/>
      </p:nvGrpSpPr>
      <p:grpSpPr>
        <a:xfrm>
          <a:off x="0" y="0"/>
          <a:ext cx="0" cy="0"/>
          <a:chOff x="0" y="0"/>
          <a:chExt cx="0" cy="0"/>
        </a:xfrm>
      </p:grpSpPr>
      <p:sp>
        <p:nvSpPr>
          <p:cNvPr id="403" name="Google Shape;403;p40"/>
          <p:cNvSpPr txBox="1">
            <a:spLocks noGrp="1"/>
          </p:cNvSpPr>
          <p:nvPr>
            <p:ph type="title"/>
          </p:nvPr>
        </p:nvSpPr>
        <p:spPr>
          <a:xfrm>
            <a:off x="428596" y="60324"/>
            <a:ext cx="8229600" cy="72547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2800"/>
              <a:buFont typeface="Garamond"/>
              <a:buNone/>
            </a:pPr>
            <a:r>
              <a:rPr lang="en-GB" sz="2800" b="1"/>
              <a:t>Metabolic fates of carbon skeletons of Amino acids</a:t>
            </a:r>
            <a:endParaRPr sz="2800"/>
          </a:p>
        </p:txBody>
      </p:sp>
      <p:sp>
        <p:nvSpPr>
          <p:cNvPr id="404" name="Google Shape;404;p40"/>
          <p:cNvSpPr txBox="1"/>
          <p:nvPr/>
        </p:nvSpPr>
        <p:spPr>
          <a:xfrm>
            <a:off x="214282" y="571480"/>
            <a:ext cx="8572560" cy="1631216"/>
          </a:xfrm>
          <a:prstGeom prst="rect">
            <a:avLst/>
          </a:prstGeom>
          <a:noFill/>
          <a:ln>
            <a:noFill/>
          </a:ln>
        </p:spPr>
        <p:txBody>
          <a:bodyPr spcFirstLastPara="1" wrap="square" lIns="91425" tIns="45700" rIns="91425" bIns="45700" anchor="t" anchorCtr="0">
            <a:spAutoFit/>
          </a:bodyPr>
          <a:lstStyle/>
          <a:p>
            <a:pPr marL="0" marR="0" lvl="0" indent="-127000" algn="just" rtl="0">
              <a:spcBef>
                <a:spcPts val="0"/>
              </a:spcBef>
              <a:spcAft>
                <a:spcPts val="0"/>
              </a:spcAft>
              <a:buClr>
                <a:schemeClr val="dk1"/>
              </a:buClr>
              <a:buSzPts val="2000"/>
              <a:buFont typeface="Noto Sans Symbols"/>
              <a:buChar char="✔"/>
            </a:pPr>
            <a:r>
              <a:rPr lang="en-GB" sz="2000">
                <a:solidFill>
                  <a:schemeClr val="dk1"/>
                </a:solidFill>
                <a:latin typeface="Garamond"/>
                <a:ea typeface="Garamond"/>
                <a:cs typeface="Garamond"/>
                <a:sym typeface="Garamond"/>
              </a:rPr>
              <a:t>Initial deamination of aminoacids produces carbon skeletons of amino acids. </a:t>
            </a:r>
            <a:endParaRPr/>
          </a:p>
          <a:p>
            <a:pPr marL="0" marR="0" lvl="0" indent="-127000" algn="just" rtl="0">
              <a:spcBef>
                <a:spcPts val="0"/>
              </a:spcBef>
              <a:spcAft>
                <a:spcPts val="0"/>
              </a:spcAft>
              <a:buClr>
                <a:schemeClr val="dk1"/>
              </a:buClr>
              <a:buSzPts val="2000"/>
              <a:buFont typeface="Noto Sans Symbols"/>
              <a:buChar char="✔"/>
            </a:pPr>
            <a:r>
              <a:rPr lang="en-GB" sz="2000">
                <a:solidFill>
                  <a:schemeClr val="dk1"/>
                </a:solidFill>
                <a:latin typeface="Garamond"/>
                <a:ea typeface="Garamond"/>
                <a:cs typeface="Garamond"/>
                <a:sym typeface="Garamond"/>
              </a:rPr>
              <a:t>The carbon skeletons of twenty aminoacids are converted to seven compounds. </a:t>
            </a:r>
            <a:endParaRPr/>
          </a:p>
          <a:p>
            <a:pPr marL="0" marR="0" lvl="0" indent="-127000" algn="just" rtl="0">
              <a:spcBef>
                <a:spcPts val="0"/>
              </a:spcBef>
              <a:spcAft>
                <a:spcPts val="0"/>
              </a:spcAft>
              <a:buClr>
                <a:schemeClr val="dk1"/>
              </a:buClr>
              <a:buSzPts val="2000"/>
              <a:buFont typeface="Noto Sans Symbols"/>
              <a:buChar char="✔"/>
            </a:pPr>
            <a:r>
              <a:rPr lang="en-GB" sz="2000">
                <a:solidFill>
                  <a:schemeClr val="dk1"/>
                </a:solidFill>
                <a:latin typeface="Garamond"/>
                <a:ea typeface="Garamond"/>
                <a:cs typeface="Garamond"/>
                <a:sym typeface="Garamond"/>
              </a:rPr>
              <a:t>These seven compounds are ultimately used for the formation of carbohydrates or fat like substances.</a:t>
            </a:r>
            <a:endParaRPr/>
          </a:p>
        </p:txBody>
      </p:sp>
      <p:pic>
        <p:nvPicPr>
          <p:cNvPr id="405" name="Google Shape;405;p40"/>
          <p:cNvPicPr preferRelativeResize="0"/>
          <p:nvPr/>
        </p:nvPicPr>
        <p:blipFill rotWithShape="1">
          <a:blip r:embed="rId3">
            <a:alphaModFix/>
          </a:blip>
          <a:srcRect/>
          <a:stretch/>
        </p:blipFill>
        <p:spPr>
          <a:xfrm>
            <a:off x="214282" y="1844824"/>
            <a:ext cx="8822214" cy="489411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409"/>
        <p:cNvGrpSpPr/>
        <p:nvPr/>
      </p:nvGrpSpPr>
      <p:grpSpPr>
        <a:xfrm>
          <a:off x="0" y="0"/>
          <a:ext cx="0" cy="0"/>
          <a:chOff x="0" y="0"/>
          <a:chExt cx="0" cy="0"/>
        </a:xfrm>
      </p:grpSpPr>
      <p:sp>
        <p:nvSpPr>
          <p:cNvPr id="410" name="Google Shape;410;p41"/>
          <p:cNvSpPr txBox="1">
            <a:spLocks noGrp="1"/>
          </p:cNvSpPr>
          <p:nvPr>
            <p:ph type="body" idx="1"/>
          </p:nvPr>
        </p:nvSpPr>
        <p:spPr>
          <a:xfrm>
            <a:off x="314324" y="446085"/>
            <a:ext cx="8472518" cy="5840435"/>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GB"/>
              <a:t>Amino acids also are classified based on the metabolic fate of their carbon skeletons.</a:t>
            </a:r>
            <a:endParaRPr/>
          </a:p>
          <a:p>
            <a:pPr marL="514350" lvl="0" indent="-514350" algn="just" rtl="0">
              <a:spcBef>
                <a:spcPts val="1080"/>
              </a:spcBef>
              <a:spcAft>
                <a:spcPts val="0"/>
              </a:spcAft>
              <a:buSzPts val="2760"/>
              <a:buFont typeface="Garamond"/>
              <a:buAutoNum type="arabicPeriod"/>
            </a:pPr>
            <a:r>
              <a:rPr lang="en-GB"/>
              <a:t> </a:t>
            </a:r>
            <a:r>
              <a:rPr lang="en-GB" b="1"/>
              <a:t>Glucogenic amino acids</a:t>
            </a:r>
            <a:endParaRPr/>
          </a:p>
          <a:p>
            <a:pPr marL="285750" lvl="0" indent="-285750" algn="just" rtl="0">
              <a:spcBef>
                <a:spcPts val="1080"/>
              </a:spcBef>
              <a:spcAft>
                <a:spcPts val="0"/>
              </a:spcAft>
              <a:buSzPts val="2760"/>
              <a:buChar char="•"/>
            </a:pPr>
            <a:r>
              <a:rPr lang="en-GB"/>
              <a:t>The carbon skeletons of these aminoacids are converted to either glucose or intermediates of TCA cycle. </a:t>
            </a:r>
            <a:endParaRPr/>
          </a:p>
          <a:p>
            <a:pPr marL="285750" lvl="0" indent="-285750" algn="just" rtl="0">
              <a:spcBef>
                <a:spcPts val="1080"/>
              </a:spcBef>
              <a:spcAft>
                <a:spcPts val="0"/>
              </a:spcAft>
              <a:buSzPts val="2760"/>
              <a:buChar char="•"/>
            </a:pPr>
            <a:r>
              <a:rPr lang="en-GB"/>
              <a:t>The products may be pyruvate, oxaloacetate, α-ketoglutarate, succinate and fumarate. </a:t>
            </a:r>
            <a:endParaRPr/>
          </a:p>
          <a:p>
            <a:pPr marL="285750" lvl="0" indent="-285750" algn="just" rtl="0">
              <a:spcBef>
                <a:spcPts val="1080"/>
              </a:spcBef>
              <a:spcAft>
                <a:spcPts val="0"/>
              </a:spcAft>
              <a:buSzPts val="2760"/>
              <a:buChar char="•"/>
            </a:pPr>
            <a:r>
              <a:rPr lang="en-GB"/>
              <a:t>Glycine, alanine, valine, serine, threonine, cysteine, methionine, aspartate (aspargine), glutamate (glutamine), histidine, arginine and proline are glucogenic amino acids. </a:t>
            </a:r>
            <a:endParaRPr/>
          </a:p>
          <a:p>
            <a:pPr marL="285750" lvl="0" indent="-285750" algn="just" rtl="0">
              <a:spcBef>
                <a:spcPts val="1080"/>
              </a:spcBef>
              <a:spcAft>
                <a:spcPts val="0"/>
              </a:spcAft>
              <a:buSzPts val="2760"/>
              <a:buChar char="•"/>
            </a:pPr>
            <a:r>
              <a:rPr lang="en-GB"/>
              <a:t>Note: all non-essential amino acids are glucogenic.</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414"/>
        <p:cNvGrpSpPr/>
        <p:nvPr/>
      </p:nvGrpSpPr>
      <p:grpSpPr>
        <a:xfrm>
          <a:off x="0" y="0"/>
          <a:ext cx="0" cy="0"/>
          <a:chOff x="0" y="0"/>
          <a:chExt cx="0" cy="0"/>
        </a:xfrm>
      </p:grpSpPr>
      <p:sp>
        <p:nvSpPr>
          <p:cNvPr id="415" name="Google Shape;415;p42"/>
          <p:cNvSpPr txBox="1">
            <a:spLocks noGrp="1"/>
          </p:cNvSpPr>
          <p:nvPr>
            <p:ph type="body" idx="1"/>
          </p:nvPr>
        </p:nvSpPr>
        <p:spPr>
          <a:xfrm>
            <a:off x="457200" y="357166"/>
            <a:ext cx="8229600" cy="6000792"/>
          </a:xfrm>
          <a:prstGeom prst="rect">
            <a:avLst/>
          </a:prstGeom>
          <a:noFill/>
          <a:ln>
            <a:noFill/>
          </a:ln>
        </p:spPr>
        <p:txBody>
          <a:bodyPr spcFirstLastPara="1" wrap="square" lIns="91425" tIns="45700" rIns="91425" bIns="45700" anchor="t" anchorCtr="0">
            <a:normAutofit lnSpcReduction="10000"/>
          </a:bodyPr>
          <a:lstStyle/>
          <a:p>
            <a:pPr marL="514350" lvl="0" indent="-514350" algn="just" rtl="0">
              <a:spcBef>
                <a:spcPts val="0"/>
              </a:spcBef>
              <a:spcAft>
                <a:spcPts val="0"/>
              </a:spcAft>
              <a:buSzPts val="2760"/>
              <a:buFont typeface="Garamond"/>
              <a:buAutoNum type="arabicPeriod" startAt="2"/>
            </a:pPr>
            <a:r>
              <a:rPr lang="en-GB" b="1"/>
              <a:t>Ketogenic amino acids</a:t>
            </a:r>
            <a:endParaRPr/>
          </a:p>
          <a:p>
            <a:pPr marL="285750" lvl="0" indent="-285750" algn="just" rtl="0">
              <a:spcBef>
                <a:spcPts val="1080"/>
              </a:spcBef>
              <a:spcAft>
                <a:spcPts val="0"/>
              </a:spcAft>
              <a:buSzPts val="2760"/>
              <a:buChar char="•"/>
            </a:pPr>
            <a:r>
              <a:rPr lang="en-GB"/>
              <a:t>The carbon skeletons of these aminoacids gives rise to fat like substances or intermediates of fatty acid catabolism. </a:t>
            </a:r>
            <a:endParaRPr/>
          </a:p>
          <a:p>
            <a:pPr marL="285750" lvl="0" indent="-285750" algn="just" rtl="0">
              <a:spcBef>
                <a:spcPts val="1080"/>
              </a:spcBef>
              <a:spcAft>
                <a:spcPts val="0"/>
              </a:spcAft>
              <a:buSzPts val="2760"/>
              <a:buChar char="•"/>
            </a:pPr>
            <a:r>
              <a:rPr lang="en-GB"/>
              <a:t>The products may be aceto acetyl-CoA and acetyl-CoA. Leucine is the only ketogenic aminoacid. </a:t>
            </a:r>
            <a:endParaRPr/>
          </a:p>
          <a:p>
            <a:pPr marL="285750" lvl="0" indent="-285750" algn="just" rtl="0">
              <a:spcBef>
                <a:spcPts val="1080"/>
              </a:spcBef>
              <a:spcAft>
                <a:spcPts val="0"/>
              </a:spcAft>
              <a:buSzPts val="2760"/>
              <a:buChar char="•"/>
            </a:pPr>
            <a:r>
              <a:rPr lang="en-GB"/>
              <a:t>Isoleucine, phenylalanine, tyrosine, tryptophan and lysine are also ketogenic amino acids.</a:t>
            </a:r>
            <a:endParaRPr/>
          </a:p>
          <a:p>
            <a:pPr marL="514350" lvl="0" indent="-514350" algn="just" rtl="0">
              <a:spcBef>
                <a:spcPts val="1080"/>
              </a:spcBef>
              <a:spcAft>
                <a:spcPts val="0"/>
              </a:spcAft>
              <a:buSzPts val="2760"/>
              <a:buFont typeface="Garamond"/>
              <a:buAutoNum type="arabicPeriod" startAt="3"/>
            </a:pPr>
            <a:r>
              <a:rPr lang="en-GB" b="1"/>
              <a:t>Glucogenic and ketogenic amino acids</a:t>
            </a:r>
            <a:endParaRPr/>
          </a:p>
          <a:p>
            <a:pPr marL="285750" lvl="0" indent="-285750" algn="just" rtl="0">
              <a:spcBef>
                <a:spcPts val="1080"/>
              </a:spcBef>
              <a:spcAft>
                <a:spcPts val="0"/>
              </a:spcAft>
              <a:buSzPts val="2760"/>
              <a:buChar char="•"/>
            </a:pPr>
            <a:r>
              <a:rPr lang="en-GB"/>
              <a:t>The carbon skeletons of these amino acids are converted to glucose or intermediates of TCA cycle and fat like substance. </a:t>
            </a:r>
            <a:endParaRPr/>
          </a:p>
          <a:p>
            <a:pPr marL="285750" lvl="0" indent="-285750" algn="just" rtl="0">
              <a:spcBef>
                <a:spcPts val="1080"/>
              </a:spcBef>
              <a:spcAft>
                <a:spcPts val="0"/>
              </a:spcAft>
              <a:buSzPts val="2760"/>
              <a:buChar char="•"/>
            </a:pPr>
            <a:r>
              <a:rPr lang="en-GB"/>
              <a:t>The products may be pyruvate, succinate, fumarate and acetyl-CoA. </a:t>
            </a:r>
            <a:endParaRPr/>
          </a:p>
          <a:p>
            <a:pPr marL="285750" lvl="0" indent="-285750" algn="just" rtl="0">
              <a:spcBef>
                <a:spcPts val="1080"/>
              </a:spcBef>
              <a:spcAft>
                <a:spcPts val="0"/>
              </a:spcAft>
              <a:buSzPts val="2760"/>
              <a:buChar char="•"/>
            </a:pPr>
            <a:r>
              <a:rPr lang="en-GB"/>
              <a:t>Isoleucine, phenylalanine, tyrosine, tryptophan and lysine are glucogenic and ketogenic</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419"/>
        <p:cNvGrpSpPr/>
        <p:nvPr/>
      </p:nvGrpSpPr>
      <p:grpSpPr>
        <a:xfrm>
          <a:off x="0" y="0"/>
          <a:ext cx="0" cy="0"/>
          <a:chOff x="0" y="0"/>
          <a:chExt cx="0" cy="0"/>
        </a:xfrm>
      </p:grpSpPr>
      <p:sp>
        <p:nvSpPr>
          <p:cNvPr id="420" name="Google Shape;420;p43"/>
          <p:cNvSpPr txBox="1"/>
          <p:nvPr/>
        </p:nvSpPr>
        <p:spPr>
          <a:xfrm>
            <a:off x="685800" y="228600"/>
            <a:ext cx="7772400" cy="838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2FB0DC"/>
              </a:buClr>
              <a:buSzPts val="4400"/>
              <a:buFont typeface="Garamond"/>
              <a:buNone/>
            </a:pPr>
            <a:r>
              <a:rPr lang="en-GB" sz="4400" b="0" i="0" u="none" strike="noStrike" cap="none">
                <a:solidFill>
                  <a:srgbClr val="2FB0DC"/>
                </a:solidFill>
                <a:latin typeface="Garamond"/>
                <a:ea typeface="Garamond"/>
                <a:cs typeface="Garamond"/>
                <a:sym typeface="Garamond"/>
              </a:rPr>
              <a:t>Fate of Individual Amino Acids</a:t>
            </a:r>
            <a:endParaRPr sz="4400" b="0" i="0" u="none" strike="noStrike" cap="none">
              <a:solidFill>
                <a:srgbClr val="2FB0DC"/>
              </a:solidFill>
              <a:latin typeface="Garamond"/>
              <a:ea typeface="Garamond"/>
              <a:cs typeface="Garamond"/>
              <a:sym typeface="Garamond"/>
            </a:endParaRPr>
          </a:p>
        </p:txBody>
      </p:sp>
      <p:sp>
        <p:nvSpPr>
          <p:cNvPr id="421" name="Google Shape;421;p43"/>
          <p:cNvSpPr txBox="1"/>
          <p:nvPr/>
        </p:nvSpPr>
        <p:spPr>
          <a:xfrm>
            <a:off x="533400" y="1142984"/>
            <a:ext cx="7772400" cy="5214974"/>
          </a:xfrm>
          <a:prstGeom prst="rect">
            <a:avLst/>
          </a:prstGeom>
          <a:noFill/>
          <a:ln>
            <a:noFill/>
          </a:ln>
        </p:spPr>
        <p:txBody>
          <a:bodyPr spcFirstLastPara="1" wrap="square" lIns="91425" tIns="45700" rIns="91425" bIns="45700" anchor="t" anchorCtr="0">
            <a:normAutofit lnSpcReduction="10000"/>
          </a:bodyPr>
          <a:lstStyle/>
          <a:p>
            <a:pPr marL="342900" marR="0" lvl="0" indent="-342900" algn="l" rtl="0">
              <a:lnSpc>
                <a:spcPct val="90000"/>
              </a:lnSpc>
              <a:spcBef>
                <a:spcPts val="0"/>
              </a:spcBef>
              <a:spcAft>
                <a:spcPts val="0"/>
              </a:spcAft>
              <a:buClr>
                <a:schemeClr val="dk1"/>
              </a:buClr>
              <a:buSzPts val="2800"/>
              <a:buFont typeface="Arial"/>
              <a:buChar char="•"/>
            </a:pPr>
            <a:r>
              <a:rPr lang="en-GB" sz="2800" b="0" i="0" u="none" strike="noStrike" cap="none">
                <a:solidFill>
                  <a:schemeClr val="dk1"/>
                </a:solidFill>
                <a:latin typeface="Garamond"/>
                <a:ea typeface="Garamond"/>
                <a:cs typeface="Garamond"/>
                <a:sym typeface="Garamond"/>
              </a:rPr>
              <a:t>Seven to </a:t>
            </a:r>
            <a:r>
              <a:rPr lang="en-GB" sz="2800" b="0" i="0" u="none" strike="noStrike" cap="none">
                <a:solidFill>
                  <a:srgbClr val="0000FF"/>
                </a:solidFill>
                <a:latin typeface="Garamond"/>
                <a:ea typeface="Garamond"/>
                <a:cs typeface="Garamond"/>
                <a:sym typeface="Garamond"/>
              </a:rPr>
              <a:t>acetyl-CoA</a:t>
            </a:r>
            <a:endParaRPr/>
          </a:p>
          <a:p>
            <a:pPr marL="742950" marR="0" lvl="1" indent="-285750" algn="l"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Garamond"/>
                <a:ea typeface="Garamond"/>
                <a:cs typeface="Garamond"/>
                <a:sym typeface="Garamond"/>
              </a:rPr>
              <a:t>Leu, Ile, Thr, Lys, Phe, Tyr, Trp</a:t>
            </a:r>
            <a:endParaRPr/>
          </a:p>
          <a:p>
            <a:pPr marL="342900" marR="0" lvl="0" indent="-342900" algn="l" rtl="0">
              <a:lnSpc>
                <a:spcPct val="90000"/>
              </a:lnSpc>
              <a:spcBef>
                <a:spcPts val="560"/>
              </a:spcBef>
              <a:spcAft>
                <a:spcPts val="0"/>
              </a:spcAft>
              <a:buClr>
                <a:schemeClr val="dk1"/>
              </a:buClr>
              <a:buSzPts val="2800"/>
              <a:buFont typeface="Arial"/>
              <a:buChar char="•"/>
            </a:pPr>
            <a:r>
              <a:rPr lang="en-GB" sz="2800" b="0" i="0" u="none" strike="noStrike" cap="none">
                <a:solidFill>
                  <a:schemeClr val="dk1"/>
                </a:solidFill>
                <a:latin typeface="Garamond"/>
                <a:ea typeface="Garamond"/>
                <a:cs typeface="Garamond"/>
                <a:sym typeface="Garamond"/>
              </a:rPr>
              <a:t>Six to </a:t>
            </a:r>
            <a:r>
              <a:rPr lang="en-GB" sz="2800" b="0" i="0" u="none" strike="noStrike" cap="none">
                <a:solidFill>
                  <a:srgbClr val="0000FF"/>
                </a:solidFill>
                <a:latin typeface="Garamond"/>
                <a:ea typeface="Garamond"/>
                <a:cs typeface="Garamond"/>
                <a:sym typeface="Garamond"/>
              </a:rPr>
              <a:t>pyruvate</a:t>
            </a:r>
            <a:endParaRPr/>
          </a:p>
          <a:p>
            <a:pPr marL="742950" marR="0" lvl="1" indent="-285750" algn="l"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Garamond"/>
                <a:ea typeface="Garamond"/>
                <a:cs typeface="Garamond"/>
                <a:sym typeface="Garamond"/>
              </a:rPr>
              <a:t>Ala, Cys, Gly, Ser, Thr, Trp</a:t>
            </a:r>
            <a:endParaRPr/>
          </a:p>
          <a:p>
            <a:pPr marL="342900" marR="0" lvl="0" indent="-342900" algn="l" rtl="0">
              <a:lnSpc>
                <a:spcPct val="90000"/>
              </a:lnSpc>
              <a:spcBef>
                <a:spcPts val="560"/>
              </a:spcBef>
              <a:spcAft>
                <a:spcPts val="0"/>
              </a:spcAft>
              <a:buClr>
                <a:schemeClr val="dk1"/>
              </a:buClr>
              <a:buSzPts val="2800"/>
              <a:buFont typeface="Arial"/>
              <a:buChar char="•"/>
            </a:pPr>
            <a:r>
              <a:rPr lang="en-GB" sz="2800" b="0" i="0" u="none" strike="noStrike" cap="none">
                <a:solidFill>
                  <a:schemeClr val="dk1"/>
                </a:solidFill>
                <a:latin typeface="Garamond"/>
                <a:ea typeface="Garamond"/>
                <a:cs typeface="Garamond"/>
                <a:sym typeface="Garamond"/>
              </a:rPr>
              <a:t>Five to </a:t>
            </a:r>
            <a:r>
              <a:rPr lang="en-GB" sz="2800" b="0" i="0" u="none" strike="noStrike" cap="none">
                <a:solidFill>
                  <a:srgbClr val="0000FF"/>
                </a:solidFill>
                <a:latin typeface="Garamond"/>
                <a:ea typeface="Garamond"/>
                <a:cs typeface="Garamond"/>
                <a:sym typeface="Garamond"/>
              </a:rPr>
              <a:t>α-ketoglutarate</a:t>
            </a:r>
            <a:endParaRPr/>
          </a:p>
          <a:p>
            <a:pPr marL="742950" marR="0" lvl="1" indent="-285750" algn="l"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Garamond"/>
                <a:ea typeface="Garamond"/>
                <a:cs typeface="Garamond"/>
                <a:sym typeface="Garamond"/>
              </a:rPr>
              <a:t>Arg, Glu, Gln, His, Pro</a:t>
            </a:r>
            <a:endParaRPr/>
          </a:p>
          <a:p>
            <a:pPr marL="342900" marR="0" lvl="0" indent="-342900" algn="l" rtl="0">
              <a:lnSpc>
                <a:spcPct val="90000"/>
              </a:lnSpc>
              <a:spcBef>
                <a:spcPts val="560"/>
              </a:spcBef>
              <a:spcAft>
                <a:spcPts val="0"/>
              </a:spcAft>
              <a:buClr>
                <a:schemeClr val="dk1"/>
              </a:buClr>
              <a:buSzPts val="2800"/>
              <a:buFont typeface="Arial"/>
              <a:buChar char="•"/>
            </a:pPr>
            <a:r>
              <a:rPr lang="en-GB" sz="2800" b="0" i="0" u="none" strike="noStrike" cap="none">
                <a:solidFill>
                  <a:schemeClr val="dk1"/>
                </a:solidFill>
                <a:latin typeface="Garamond"/>
                <a:ea typeface="Garamond"/>
                <a:cs typeface="Garamond"/>
                <a:sym typeface="Garamond"/>
              </a:rPr>
              <a:t>Four to </a:t>
            </a:r>
            <a:r>
              <a:rPr lang="en-GB" sz="2800" b="0" i="0" u="none" strike="noStrike" cap="none">
                <a:solidFill>
                  <a:srgbClr val="0000FF"/>
                </a:solidFill>
                <a:latin typeface="Garamond"/>
                <a:ea typeface="Garamond"/>
                <a:cs typeface="Garamond"/>
                <a:sym typeface="Garamond"/>
              </a:rPr>
              <a:t>succinyl-CoA</a:t>
            </a:r>
            <a:endParaRPr/>
          </a:p>
          <a:p>
            <a:pPr marL="742950" marR="0" lvl="1" indent="-285750" algn="l"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Garamond"/>
                <a:ea typeface="Garamond"/>
                <a:cs typeface="Garamond"/>
                <a:sym typeface="Garamond"/>
              </a:rPr>
              <a:t>Ile, Met, Thr, Val</a:t>
            </a:r>
            <a:endParaRPr/>
          </a:p>
          <a:p>
            <a:pPr marL="342900" marR="0" lvl="0" indent="-342900" algn="l" rtl="0">
              <a:lnSpc>
                <a:spcPct val="90000"/>
              </a:lnSpc>
              <a:spcBef>
                <a:spcPts val="560"/>
              </a:spcBef>
              <a:spcAft>
                <a:spcPts val="0"/>
              </a:spcAft>
              <a:buClr>
                <a:schemeClr val="dk1"/>
              </a:buClr>
              <a:buSzPts val="2800"/>
              <a:buFont typeface="Arial"/>
              <a:buChar char="•"/>
            </a:pPr>
            <a:r>
              <a:rPr lang="en-GB" sz="2800" b="0" i="0" u="none" strike="noStrike" cap="none">
                <a:solidFill>
                  <a:schemeClr val="dk1"/>
                </a:solidFill>
                <a:latin typeface="Garamond"/>
                <a:ea typeface="Garamond"/>
                <a:cs typeface="Garamond"/>
                <a:sym typeface="Garamond"/>
              </a:rPr>
              <a:t>Two to </a:t>
            </a:r>
            <a:r>
              <a:rPr lang="en-GB" sz="2800" b="0" i="0" u="none" strike="noStrike" cap="none">
                <a:solidFill>
                  <a:srgbClr val="0000FF"/>
                </a:solidFill>
                <a:latin typeface="Garamond"/>
                <a:ea typeface="Garamond"/>
                <a:cs typeface="Garamond"/>
                <a:sym typeface="Garamond"/>
              </a:rPr>
              <a:t>fumarate</a:t>
            </a:r>
            <a:endParaRPr/>
          </a:p>
          <a:p>
            <a:pPr marL="742950" marR="0" lvl="1" indent="-285750" algn="l"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Garamond"/>
                <a:ea typeface="Garamond"/>
                <a:cs typeface="Garamond"/>
                <a:sym typeface="Garamond"/>
              </a:rPr>
              <a:t>Phe, Tyr</a:t>
            </a:r>
            <a:endParaRPr/>
          </a:p>
          <a:p>
            <a:pPr marL="342900" marR="0" lvl="0" indent="-342900" algn="l" rtl="0">
              <a:lnSpc>
                <a:spcPct val="90000"/>
              </a:lnSpc>
              <a:spcBef>
                <a:spcPts val="560"/>
              </a:spcBef>
              <a:spcAft>
                <a:spcPts val="0"/>
              </a:spcAft>
              <a:buClr>
                <a:schemeClr val="dk1"/>
              </a:buClr>
              <a:buSzPts val="2800"/>
              <a:buFont typeface="Arial"/>
              <a:buChar char="•"/>
            </a:pPr>
            <a:r>
              <a:rPr lang="en-GB" sz="2800" b="0" i="0" u="none" strike="noStrike" cap="none">
                <a:solidFill>
                  <a:schemeClr val="dk1"/>
                </a:solidFill>
                <a:latin typeface="Garamond"/>
                <a:ea typeface="Garamond"/>
                <a:cs typeface="Garamond"/>
                <a:sym typeface="Garamond"/>
              </a:rPr>
              <a:t>Two to </a:t>
            </a:r>
            <a:r>
              <a:rPr lang="en-GB" sz="2800" b="0" i="0" u="none" strike="noStrike" cap="none">
                <a:solidFill>
                  <a:srgbClr val="0000FF"/>
                </a:solidFill>
                <a:latin typeface="Garamond"/>
                <a:ea typeface="Garamond"/>
                <a:cs typeface="Garamond"/>
                <a:sym typeface="Garamond"/>
              </a:rPr>
              <a:t>oxaloacetate </a:t>
            </a:r>
            <a:endParaRPr sz="2800" b="0" i="0" u="none" strike="noStrike" cap="none">
              <a:solidFill>
                <a:srgbClr val="0000FF"/>
              </a:solidFill>
              <a:latin typeface="Garamond"/>
              <a:ea typeface="Garamond"/>
              <a:cs typeface="Garamond"/>
              <a:sym typeface="Garamond"/>
            </a:endParaRPr>
          </a:p>
          <a:p>
            <a:pPr marL="742950" marR="0" lvl="1" indent="-285750" algn="l" rtl="0">
              <a:lnSpc>
                <a:spcPct val="90000"/>
              </a:lnSpc>
              <a:spcBef>
                <a:spcPts val="480"/>
              </a:spcBef>
              <a:spcAft>
                <a:spcPts val="0"/>
              </a:spcAft>
              <a:buClr>
                <a:schemeClr val="dk1"/>
              </a:buClr>
              <a:buSzPts val="2400"/>
              <a:buFont typeface="Arial"/>
              <a:buChar char="–"/>
            </a:pPr>
            <a:r>
              <a:rPr lang="en-GB" sz="2400" b="0" i="0" u="none" strike="noStrike" cap="none">
                <a:solidFill>
                  <a:schemeClr val="dk1"/>
                </a:solidFill>
                <a:latin typeface="Garamond"/>
                <a:ea typeface="Garamond"/>
                <a:cs typeface="Garamond"/>
                <a:sym typeface="Garamond"/>
              </a:rPr>
              <a:t>Asp, Asn</a:t>
            </a:r>
            <a:endParaRPr sz="2400" b="0" i="0" u="none" strike="noStrike" cap="none">
              <a:solidFill>
                <a:schemeClr val="dk1"/>
              </a:solidFill>
              <a:latin typeface="Garamond"/>
              <a:ea typeface="Garamond"/>
              <a:cs typeface="Garamond"/>
              <a:sym typeface="Garamon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425"/>
        <p:cNvGrpSpPr/>
        <p:nvPr/>
      </p:nvGrpSpPr>
      <p:grpSpPr>
        <a:xfrm>
          <a:off x="0" y="0"/>
          <a:ext cx="0" cy="0"/>
          <a:chOff x="0" y="0"/>
          <a:chExt cx="0" cy="0"/>
        </a:xfrm>
      </p:grpSpPr>
      <p:sp>
        <p:nvSpPr>
          <p:cNvPr id="426" name="Google Shape;426;p44"/>
          <p:cNvSpPr txBox="1">
            <a:spLocks noGrp="1"/>
          </p:cNvSpPr>
          <p:nvPr>
            <p:ph type="title"/>
          </p:nvPr>
        </p:nvSpPr>
        <p:spPr>
          <a:xfrm>
            <a:off x="457200" y="142852"/>
            <a:ext cx="8229600" cy="6429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262626"/>
              </a:buClr>
              <a:buSzPts val="3600"/>
              <a:buFont typeface="Garamond"/>
              <a:buNone/>
            </a:pPr>
            <a:r>
              <a:rPr lang="en-GB" sz="3600" b="1"/>
              <a:t>Six Amino Acids Are Degraded to Pyruvate</a:t>
            </a:r>
            <a:endParaRPr sz="3600"/>
          </a:p>
        </p:txBody>
      </p:sp>
      <p:sp>
        <p:nvSpPr>
          <p:cNvPr id="427" name="Google Shape;427;p44"/>
          <p:cNvSpPr txBox="1">
            <a:spLocks noGrp="1"/>
          </p:cNvSpPr>
          <p:nvPr>
            <p:ph type="body" idx="1"/>
          </p:nvPr>
        </p:nvSpPr>
        <p:spPr>
          <a:xfrm>
            <a:off x="142876" y="890614"/>
            <a:ext cx="8858280" cy="5324468"/>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3220"/>
              <a:buChar char="•"/>
            </a:pPr>
            <a:r>
              <a:rPr lang="en-GB" sz="2800"/>
              <a:t>The carbon skeletons of six amino acids are converted in whole or in part to pyruvate.</a:t>
            </a:r>
            <a:endParaRPr/>
          </a:p>
          <a:p>
            <a:pPr marL="285750" lvl="0" indent="-81279" algn="just" rtl="0">
              <a:spcBef>
                <a:spcPts val="1160"/>
              </a:spcBef>
              <a:spcAft>
                <a:spcPts val="0"/>
              </a:spcAft>
              <a:buSzPts val="3220"/>
              <a:buNone/>
            </a:pPr>
            <a:endParaRPr sz="2800"/>
          </a:p>
          <a:p>
            <a:pPr marL="285750" lvl="0" indent="-285750" algn="just" rtl="0">
              <a:spcBef>
                <a:spcPts val="1160"/>
              </a:spcBef>
              <a:spcAft>
                <a:spcPts val="0"/>
              </a:spcAft>
              <a:buSzPts val="3220"/>
              <a:buChar char="•"/>
            </a:pPr>
            <a:r>
              <a:rPr lang="en-GB" sz="2800"/>
              <a:t>The pyruvate can then be converted to either acetyl-CoA (a ketone body precursor) or oxaloacetate (a precursor for gluconeogenesis). Thus amino acids catabolized to pyruvate are both ketogenic and glucogenic. </a:t>
            </a:r>
            <a:endParaRPr/>
          </a:p>
          <a:p>
            <a:pPr marL="285750" lvl="0" indent="-81279" algn="just" rtl="0">
              <a:spcBef>
                <a:spcPts val="1160"/>
              </a:spcBef>
              <a:spcAft>
                <a:spcPts val="0"/>
              </a:spcAft>
              <a:buSzPts val="3220"/>
              <a:buNone/>
            </a:pPr>
            <a:endParaRPr sz="2800"/>
          </a:p>
          <a:p>
            <a:pPr marL="285750" lvl="0" indent="-285750" algn="just" rtl="0">
              <a:spcBef>
                <a:spcPts val="1160"/>
              </a:spcBef>
              <a:spcAft>
                <a:spcPts val="0"/>
              </a:spcAft>
              <a:buSzPts val="3220"/>
              <a:buChar char="•"/>
            </a:pPr>
            <a:r>
              <a:rPr lang="en-GB" sz="2800"/>
              <a:t>The six are </a:t>
            </a:r>
            <a:r>
              <a:rPr lang="en-GB" sz="2800" b="1"/>
              <a:t>alanine</a:t>
            </a:r>
            <a:r>
              <a:rPr lang="en-GB" sz="2800"/>
              <a:t>, </a:t>
            </a:r>
            <a:r>
              <a:rPr lang="en-GB" sz="2800" b="1"/>
              <a:t>tryptophan</a:t>
            </a:r>
            <a:r>
              <a:rPr lang="en-GB" sz="2800"/>
              <a:t>, </a:t>
            </a:r>
            <a:r>
              <a:rPr lang="en-GB" sz="2800" b="1"/>
              <a:t>cysteine</a:t>
            </a:r>
            <a:r>
              <a:rPr lang="en-GB" sz="2800"/>
              <a:t>, </a:t>
            </a:r>
            <a:r>
              <a:rPr lang="en-GB" sz="2800" b="1"/>
              <a:t>serine</a:t>
            </a:r>
            <a:r>
              <a:rPr lang="en-GB" sz="2800"/>
              <a:t>, </a:t>
            </a:r>
            <a:r>
              <a:rPr lang="en-GB" sz="2800" b="1"/>
              <a:t>glycine</a:t>
            </a:r>
            <a:r>
              <a:rPr lang="en-GB" sz="2800"/>
              <a:t>, and </a:t>
            </a:r>
            <a:r>
              <a:rPr lang="en-GB" sz="2800" b="1"/>
              <a:t>threonine</a:t>
            </a:r>
            <a:r>
              <a:rPr lang="en-GB" sz="2800"/>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431"/>
        <p:cNvGrpSpPr/>
        <p:nvPr/>
      </p:nvGrpSpPr>
      <p:grpSpPr>
        <a:xfrm>
          <a:off x="0" y="0"/>
          <a:ext cx="0" cy="0"/>
          <a:chOff x="0" y="0"/>
          <a:chExt cx="0" cy="0"/>
        </a:xfrm>
      </p:grpSpPr>
      <p:pic>
        <p:nvPicPr>
          <p:cNvPr id="432" name="Google Shape;432;p45" descr="figure 18-19"/>
          <p:cNvPicPr preferRelativeResize="0"/>
          <p:nvPr/>
        </p:nvPicPr>
        <p:blipFill rotWithShape="1">
          <a:blip r:embed="rId3">
            <a:alphaModFix/>
          </a:blip>
          <a:srcRect/>
          <a:stretch/>
        </p:blipFill>
        <p:spPr>
          <a:xfrm>
            <a:off x="0" y="836712"/>
            <a:ext cx="9147521" cy="5906964"/>
          </a:xfrm>
          <a:prstGeom prst="rect">
            <a:avLst/>
          </a:prstGeom>
          <a:noFill/>
          <a:ln>
            <a:noFill/>
          </a:ln>
        </p:spPr>
      </p:pic>
      <p:sp>
        <p:nvSpPr>
          <p:cNvPr id="433" name="Google Shape;433;p45"/>
          <p:cNvSpPr txBox="1">
            <a:spLocks noGrp="1"/>
          </p:cNvSpPr>
          <p:nvPr>
            <p:ph type="title"/>
          </p:nvPr>
        </p:nvSpPr>
        <p:spPr>
          <a:xfrm>
            <a:off x="179512" y="0"/>
            <a:ext cx="8964488" cy="62068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Garamond"/>
              <a:buNone/>
            </a:pPr>
            <a:r>
              <a:rPr lang="en-GB" sz="3200" b="1">
                <a:solidFill>
                  <a:schemeClr val="dk1"/>
                </a:solidFill>
              </a:rPr>
              <a:t>6 Amino Acids -&gt; PyruvatAla, Gly, Ser, Cys,Trp,Thr.</a:t>
            </a:r>
            <a:r>
              <a:rPr lang="en-GB" sz="8000"/>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437"/>
        <p:cNvGrpSpPr/>
        <p:nvPr/>
      </p:nvGrpSpPr>
      <p:grpSpPr>
        <a:xfrm>
          <a:off x="0" y="0"/>
          <a:ext cx="0" cy="0"/>
          <a:chOff x="0" y="0"/>
          <a:chExt cx="0" cy="0"/>
        </a:xfrm>
      </p:grpSpPr>
      <p:sp>
        <p:nvSpPr>
          <p:cNvPr id="438" name="Google Shape;438;p46"/>
          <p:cNvSpPr txBox="1">
            <a:spLocks noGrp="1"/>
          </p:cNvSpPr>
          <p:nvPr>
            <p:ph type="title"/>
          </p:nvPr>
        </p:nvSpPr>
        <p:spPr>
          <a:xfrm>
            <a:off x="457200" y="47604"/>
            <a:ext cx="8229600" cy="45243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262626"/>
              </a:buClr>
              <a:buSzPts val="2800"/>
              <a:buFont typeface="Garamond"/>
              <a:buNone/>
            </a:pPr>
            <a:r>
              <a:rPr lang="en-GB" sz="2800" b="1"/>
              <a:t>Seven Amino Acids Are Degraded to Acetyl-CoA</a:t>
            </a:r>
            <a:endParaRPr sz="2800"/>
          </a:p>
        </p:txBody>
      </p:sp>
      <p:sp>
        <p:nvSpPr>
          <p:cNvPr id="439" name="Google Shape;439;p46"/>
          <p:cNvSpPr txBox="1">
            <a:spLocks noGrp="1"/>
          </p:cNvSpPr>
          <p:nvPr>
            <p:ph type="body" idx="1"/>
          </p:nvPr>
        </p:nvSpPr>
        <p:spPr>
          <a:xfrm>
            <a:off x="0" y="571504"/>
            <a:ext cx="9144000" cy="6286520"/>
          </a:xfrm>
          <a:prstGeom prst="rect">
            <a:avLst/>
          </a:prstGeom>
          <a:noFill/>
          <a:ln>
            <a:noFill/>
          </a:ln>
        </p:spPr>
        <p:txBody>
          <a:bodyPr spcFirstLastPara="1" wrap="square" lIns="91425" tIns="45700" rIns="91425" bIns="45700" anchor="t" anchorCtr="0">
            <a:normAutofit lnSpcReduction="10000"/>
          </a:bodyPr>
          <a:lstStyle/>
          <a:p>
            <a:pPr marL="285750" lvl="0" indent="-285750" algn="l" rtl="0">
              <a:spcBef>
                <a:spcPts val="0"/>
              </a:spcBef>
              <a:spcAft>
                <a:spcPts val="0"/>
              </a:spcAft>
              <a:buSzPts val="2760"/>
              <a:buChar char="•"/>
            </a:pPr>
            <a:r>
              <a:rPr lang="en-GB" sz="2400"/>
              <a:t>Portions of the carbon skeletons of seven amino acids—</a:t>
            </a:r>
            <a:r>
              <a:rPr lang="en-GB" sz="2400" b="1"/>
              <a:t>tryptophan, lysine, phenylalanine, tyrosine, leucine,isoleucine, </a:t>
            </a:r>
            <a:r>
              <a:rPr lang="en-GB" sz="2400"/>
              <a:t>and </a:t>
            </a:r>
            <a:r>
              <a:rPr lang="en-GB" sz="2400" b="1"/>
              <a:t>threonine</a:t>
            </a:r>
            <a:r>
              <a:rPr lang="en-GB" sz="2400"/>
              <a:t>—yield acetyl-CoA and/or acetoacetyl-CoA, the latter being converted to acetyl-CoA.</a:t>
            </a:r>
            <a:endParaRPr/>
          </a:p>
          <a:p>
            <a:pPr marL="285750" lvl="0" indent="-285750" algn="l" rtl="0">
              <a:spcBef>
                <a:spcPts val="1080"/>
              </a:spcBef>
              <a:spcAft>
                <a:spcPts val="0"/>
              </a:spcAft>
              <a:buSzPts val="2760"/>
              <a:buChar char="•"/>
            </a:pPr>
            <a:r>
              <a:rPr lang="en-GB" sz="2400"/>
              <a:t>Some of the intermediates in tryptophan catabolism are precursors for the synthesis of other biomolecules, including </a:t>
            </a:r>
            <a:r>
              <a:rPr lang="en-GB" sz="2400" b="1"/>
              <a:t>nicotinate</a:t>
            </a:r>
            <a:r>
              <a:rPr lang="en-GB" sz="2400"/>
              <a:t>, a precursor of </a:t>
            </a:r>
            <a:r>
              <a:rPr lang="en-GB" sz="2400" b="1"/>
              <a:t>NAD</a:t>
            </a:r>
            <a:r>
              <a:rPr lang="en-GB" sz="2400"/>
              <a:t> and </a:t>
            </a:r>
            <a:r>
              <a:rPr lang="en-GB" sz="2400" b="1"/>
              <a:t>NADP</a:t>
            </a:r>
            <a:r>
              <a:rPr lang="en-GB" sz="2400"/>
              <a:t> in animals; </a:t>
            </a:r>
            <a:r>
              <a:rPr lang="en-GB" sz="2400" b="1"/>
              <a:t>serotonin</a:t>
            </a:r>
            <a:r>
              <a:rPr lang="en-GB" sz="2400"/>
              <a:t>, (a neurotransmitter in vertebrates) and </a:t>
            </a:r>
            <a:r>
              <a:rPr lang="en-GB" sz="2400" b="1"/>
              <a:t>indoleacetate </a:t>
            </a:r>
            <a:r>
              <a:rPr lang="en-GB" sz="2400"/>
              <a:t>(a growth factor in plants).</a:t>
            </a:r>
            <a:endParaRPr/>
          </a:p>
          <a:p>
            <a:pPr marL="285750" lvl="0" indent="-285750" algn="l" rtl="0">
              <a:spcBef>
                <a:spcPts val="1080"/>
              </a:spcBef>
              <a:spcAft>
                <a:spcPts val="0"/>
              </a:spcAft>
              <a:buSzPts val="2760"/>
              <a:buFont typeface="Noto Sans Symbols"/>
              <a:buChar char="⮚"/>
            </a:pPr>
            <a:r>
              <a:rPr lang="en-GB" sz="2400"/>
              <a:t>The breakdown of phenylalanine is </a:t>
            </a:r>
            <a:r>
              <a:rPr lang="en-GB" sz="2400" b="1"/>
              <a:t>noteworthy</a:t>
            </a:r>
            <a:r>
              <a:rPr lang="en-GB" sz="2400"/>
              <a:t> because genetic defects in the enzymes of this pathway lead to several inheritable human diseases. </a:t>
            </a:r>
            <a:endParaRPr/>
          </a:p>
          <a:p>
            <a:pPr marL="285750" lvl="0" indent="-285750" algn="l" rtl="0">
              <a:spcBef>
                <a:spcPts val="1080"/>
              </a:spcBef>
              <a:spcAft>
                <a:spcPts val="0"/>
              </a:spcAft>
              <a:buSzPts val="2760"/>
              <a:buChar char="•"/>
            </a:pPr>
            <a:r>
              <a:rPr lang="en-GB" sz="2400"/>
              <a:t>After its hydroxylation to tyrosine, phenylalanine is also the precursor of </a:t>
            </a:r>
            <a:r>
              <a:rPr lang="en-GB" sz="2400" b="1"/>
              <a:t>dopamine (a neurotransmitter)</a:t>
            </a:r>
            <a:r>
              <a:rPr lang="en-GB" sz="2400"/>
              <a:t> and of </a:t>
            </a:r>
            <a:r>
              <a:rPr lang="en-GB" sz="2400" b="1"/>
              <a:t>norepinephrine</a:t>
            </a:r>
            <a:r>
              <a:rPr lang="en-GB" sz="2400"/>
              <a:t> and </a:t>
            </a:r>
            <a:r>
              <a:rPr lang="en-GB" sz="2400" b="1"/>
              <a:t>epinephrine</a:t>
            </a:r>
            <a:r>
              <a:rPr lang="en-GB" sz="2400"/>
              <a:t>(hormones secreted by the adrenal medulla). </a:t>
            </a:r>
            <a:endParaRPr/>
          </a:p>
          <a:p>
            <a:pPr marL="285750" lvl="0" indent="-285750" algn="l" rtl="0">
              <a:spcBef>
                <a:spcPts val="1080"/>
              </a:spcBef>
              <a:spcAft>
                <a:spcPts val="0"/>
              </a:spcAft>
              <a:buSzPts val="2760"/>
              <a:buChar char="•"/>
            </a:pPr>
            <a:r>
              <a:rPr lang="en-GB" sz="2400"/>
              <a:t>Melanin, the black pigment of skin and hair, is also derived from tyrosine.</a:t>
            </a:r>
            <a:endParaRPr/>
          </a:p>
          <a:p>
            <a:pPr marL="285750" lvl="0" indent="-110490" algn="l" rtl="0">
              <a:spcBef>
                <a:spcPts val="1080"/>
              </a:spcBef>
              <a:spcAft>
                <a:spcPts val="0"/>
              </a:spcAft>
              <a:buSzPts val="2760"/>
              <a:buNone/>
            </a:pP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443"/>
        <p:cNvGrpSpPr/>
        <p:nvPr/>
      </p:nvGrpSpPr>
      <p:grpSpPr>
        <a:xfrm>
          <a:off x="0" y="0"/>
          <a:ext cx="0" cy="0"/>
          <a:chOff x="0" y="0"/>
          <a:chExt cx="0" cy="0"/>
        </a:xfrm>
      </p:grpSpPr>
      <p:pic>
        <p:nvPicPr>
          <p:cNvPr id="444" name="Google Shape;444;p47" descr="figure 18-21 part 1"/>
          <p:cNvPicPr preferRelativeResize="0"/>
          <p:nvPr/>
        </p:nvPicPr>
        <p:blipFill rotWithShape="1">
          <a:blip r:embed="rId3">
            <a:alphaModFix/>
          </a:blip>
          <a:srcRect/>
          <a:stretch/>
        </p:blipFill>
        <p:spPr>
          <a:xfrm>
            <a:off x="0" y="619084"/>
            <a:ext cx="9144000" cy="6888998"/>
          </a:xfrm>
          <a:prstGeom prst="rect">
            <a:avLst/>
          </a:prstGeom>
          <a:noFill/>
          <a:ln>
            <a:noFill/>
          </a:ln>
        </p:spPr>
      </p:pic>
      <p:sp>
        <p:nvSpPr>
          <p:cNvPr id="445" name="Google Shape;445;p47"/>
          <p:cNvSpPr txBox="1">
            <a:spLocks noGrp="1"/>
          </p:cNvSpPr>
          <p:nvPr>
            <p:ph type="title"/>
          </p:nvPr>
        </p:nvSpPr>
        <p:spPr>
          <a:xfrm>
            <a:off x="3071802" y="142852"/>
            <a:ext cx="6072230" cy="47623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7 AAs -&gt; Acetyl CoA</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449"/>
        <p:cNvGrpSpPr/>
        <p:nvPr/>
      </p:nvGrpSpPr>
      <p:grpSpPr>
        <a:xfrm>
          <a:off x="0" y="0"/>
          <a:ext cx="0" cy="0"/>
          <a:chOff x="0" y="0"/>
          <a:chExt cx="0" cy="0"/>
        </a:xfrm>
      </p:grpSpPr>
      <p:pic>
        <p:nvPicPr>
          <p:cNvPr id="450" name="Google Shape;450;p48" descr="figure 18-21 part 2"/>
          <p:cNvPicPr preferRelativeResize="0"/>
          <p:nvPr/>
        </p:nvPicPr>
        <p:blipFill rotWithShape="1">
          <a:blip r:embed="rId3">
            <a:alphaModFix/>
          </a:blip>
          <a:srcRect/>
          <a:stretch/>
        </p:blipFill>
        <p:spPr>
          <a:xfrm>
            <a:off x="1" y="116632"/>
            <a:ext cx="9036496" cy="692415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454"/>
        <p:cNvGrpSpPr/>
        <p:nvPr/>
      </p:nvGrpSpPr>
      <p:grpSpPr>
        <a:xfrm>
          <a:off x="0" y="0"/>
          <a:ext cx="0" cy="0"/>
          <a:chOff x="0" y="0"/>
          <a:chExt cx="0" cy="0"/>
        </a:xfrm>
      </p:grpSpPr>
      <p:pic>
        <p:nvPicPr>
          <p:cNvPr id="455" name="Google Shape;455;p49" descr="figure 18-22"/>
          <p:cNvPicPr preferRelativeResize="0"/>
          <p:nvPr/>
        </p:nvPicPr>
        <p:blipFill rotWithShape="1">
          <a:blip r:embed="rId3">
            <a:alphaModFix/>
          </a:blip>
          <a:srcRect/>
          <a:stretch/>
        </p:blipFill>
        <p:spPr>
          <a:xfrm>
            <a:off x="1" y="836712"/>
            <a:ext cx="9072594" cy="6021288"/>
          </a:xfrm>
          <a:prstGeom prst="rect">
            <a:avLst/>
          </a:prstGeom>
          <a:noFill/>
          <a:ln>
            <a:noFill/>
          </a:ln>
        </p:spPr>
      </p:pic>
      <p:sp>
        <p:nvSpPr>
          <p:cNvPr id="456" name="Google Shape;456;p49"/>
          <p:cNvSpPr txBox="1">
            <a:spLocks noGrp="1"/>
          </p:cNvSpPr>
          <p:nvPr>
            <p:ph type="title"/>
          </p:nvPr>
        </p:nvSpPr>
        <p:spPr>
          <a:xfrm>
            <a:off x="0" y="0"/>
            <a:ext cx="8604448" cy="83671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GB"/>
              <a:t>Indole Ring Recycling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460"/>
        <p:cNvGrpSpPr/>
        <p:nvPr/>
      </p:nvGrpSpPr>
      <p:grpSpPr>
        <a:xfrm>
          <a:off x="0" y="0"/>
          <a:ext cx="0" cy="0"/>
          <a:chOff x="0" y="0"/>
          <a:chExt cx="0" cy="0"/>
        </a:xfrm>
      </p:grpSpPr>
      <p:sp>
        <p:nvSpPr>
          <p:cNvPr id="461" name="Google Shape;461;p50"/>
          <p:cNvSpPr txBox="1">
            <a:spLocks noGrp="1"/>
          </p:cNvSpPr>
          <p:nvPr>
            <p:ph type="title"/>
          </p:nvPr>
        </p:nvSpPr>
        <p:spPr>
          <a:xfrm>
            <a:off x="685800" y="152400"/>
            <a:ext cx="7772400" cy="990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Metabolic Diseases – Defects of Aromatic AA degradation</a:t>
            </a:r>
            <a:endParaRPr/>
          </a:p>
        </p:txBody>
      </p:sp>
      <p:pic>
        <p:nvPicPr>
          <p:cNvPr id="462" name="Google Shape;462;p50" descr="figure 18-23"/>
          <p:cNvPicPr preferRelativeResize="0"/>
          <p:nvPr/>
        </p:nvPicPr>
        <p:blipFill rotWithShape="1">
          <a:blip r:embed="rId3">
            <a:alphaModFix/>
          </a:blip>
          <a:srcRect/>
          <a:stretch/>
        </p:blipFill>
        <p:spPr>
          <a:xfrm>
            <a:off x="107504" y="1122040"/>
            <a:ext cx="8928992" cy="542928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466"/>
        <p:cNvGrpSpPr/>
        <p:nvPr/>
      </p:nvGrpSpPr>
      <p:grpSpPr>
        <a:xfrm>
          <a:off x="0" y="0"/>
          <a:ext cx="0" cy="0"/>
          <a:chOff x="0" y="0"/>
          <a:chExt cx="0" cy="0"/>
        </a:xfrm>
      </p:grpSpPr>
      <p:pic>
        <p:nvPicPr>
          <p:cNvPr id="467" name="Google Shape;467;p51" descr="figure 18-26"/>
          <p:cNvPicPr preferRelativeResize="0"/>
          <p:nvPr/>
        </p:nvPicPr>
        <p:blipFill rotWithShape="1">
          <a:blip r:embed="rId3">
            <a:alphaModFix/>
          </a:blip>
          <a:srcRect/>
          <a:stretch/>
        </p:blipFill>
        <p:spPr>
          <a:xfrm>
            <a:off x="179512" y="908720"/>
            <a:ext cx="8893034" cy="5734990"/>
          </a:xfrm>
          <a:prstGeom prst="rect">
            <a:avLst/>
          </a:prstGeom>
          <a:noFill/>
          <a:ln>
            <a:noFill/>
          </a:ln>
        </p:spPr>
      </p:pic>
      <p:sp>
        <p:nvSpPr>
          <p:cNvPr id="468" name="Google Shape;468;p51"/>
          <p:cNvSpPr txBox="1">
            <a:spLocks noGrp="1"/>
          </p:cNvSpPr>
          <p:nvPr>
            <p:ph type="title"/>
          </p:nvPr>
        </p:nvSpPr>
        <p:spPr>
          <a:xfrm>
            <a:off x="179512" y="116632"/>
            <a:ext cx="7848872" cy="9361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000"/>
              <a:buFont typeface="Garamond"/>
              <a:buNone/>
            </a:pPr>
            <a:r>
              <a:rPr lang="en-GB"/>
              <a:t>Amino acids -&gt; α- ketoglutarate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472"/>
        <p:cNvGrpSpPr/>
        <p:nvPr/>
      </p:nvGrpSpPr>
      <p:grpSpPr>
        <a:xfrm>
          <a:off x="0" y="0"/>
          <a:ext cx="0" cy="0"/>
          <a:chOff x="0" y="0"/>
          <a:chExt cx="0" cy="0"/>
        </a:xfrm>
      </p:grpSpPr>
      <p:pic>
        <p:nvPicPr>
          <p:cNvPr id="473" name="Google Shape;473;p52" descr="figure 18-27"/>
          <p:cNvPicPr preferRelativeResize="0"/>
          <p:nvPr/>
        </p:nvPicPr>
        <p:blipFill rotWithShape="1">
          <a:blip r:embed="rId3">
            <a:alphaModFix/>
          </a:blip>
          <a:srcRect/>
          <a:stretch/>
        </p:blipFill>
        <p:spPr>
          <a:xfrm>
            <a:off x="9799" y="584775"/>
            <a:ext cx="9144000" cy="6237312"/>
          </a:xfrm>
          <a:prstGeom prst="rect">
            <a:avLst/>
          </a:prstGeom>
          <a:noFill/>
          <a:ln>
            <a:noFill/>
          </a:ln>
        </p:spPr>
      </p:pic>
      <p:sp>
        <p:nvSpPr>
          <p:cNvPr id="474" name="Google Shape;474;p52"/>
          <p:cNvSpPr txBox="1">
            <a:spLocks noGrp="1"/>
          </p:cNvSpPr>
          <p:nvPr>
            <p:ph type="title"/>
          </p:nvPr>
        </p:nvSpPr>
        <p:spPr>
          <a:xfrm>
            <a:off x="0" y="0"/>
            <a:ext cx="9036496" cy="62068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GB"/>
              <a:t>Amino acids-&gt; Succinyl-CoA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478"/>
        <p:cNvGrpSpPr/>
        <p:nvPr/>
      </p:nvGrpSpPr>
      <p:grpSpPr>
        <a:xfrm>
          <a:off x="0" y="0"/>
          <a:ext cx="0" cy="0"/>
          <a:chOff x="0" y="0"/>
          <a:chExt cx="0" cy="0"/>
        </a:xfrm>
      </p:grpSpPr>
      <p:pic>
        <p:nvPicPr>
          <p:cNvPr id="479" name="Google Shape;479;p53" descr="figure 18-29"/>
          <p:cNvPicPr preferRelativeResize="0"/>
          <p:nvPr/>
        </p:nvPicPr>
        <p:blipFill rotWithShape="1">
          <a:blip r:embed="rId3">
            <a:alphaModFix/>
          </a:blip>
          <a:srcRect/>
          <a:stretch/>
        </p:blipFill>
        <p:spPr>
          <a:xfrm>
            <a:off x="611560" y="476672"/>
            <a:ext cx="7560840" cy="6488469"/>
          </a:xfrm>
          <a:prstGeom prst="rect">
            <a:avLst/>
          </a:prstGeom>
          <a:noFill/>
          <a:ln>
            <a:noFill/>
          </a:ln>
        </p:spPr>
      </p:pic>
      <p:sp>
        <p:nvSpPr>
          <p:cNvPr id="480" name="Google Shape;480;p53"/>
          <p:cNvSpPr txBox="1">
            <a:spLocks noGrp="1"/>
          </p:cNvSpPr>
          <p:nvPr>
            <p:ph type="title"/>
          </p:nvPr>
        </p:nvSpPr>
        <p:spPr>
          <a:xfrm>
            <a:off x="899592" y="-1251520"/>
            <a:ext cx="6552728" cy="302433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Garamond"/>
              <a:buNone/>
            </a:pPr>
            <a:r>
              <a:rPr lang="en-GB" b="1">
                <a:solidFill>
                  <a:schemeClr val="dk1"/>
                </a:solidFill>
              </a:rPr>
              <a:t>Asp and Asn to </a:t>
            </a:r>
            <a:r>
              <a:rPr lang="en-GB">
                <a:solidFill>
                  <a:schemeClr val="dk1"/>
                </a:solidFill>
              </a:rPr>
              <a:t>oxaloacetate.</a:t>
            </a:r>
            <a:r>
              <a:rPr lang="en-GB"/>
              <a:t>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484"/>
        <p:cNvGrpSpPr/>
        <p:nvPr/>
      </p:nvGrpSpPr>
      <p:grpSpPr>
        <a:xfrm>
          <a:off x="0" y="0"/>
          <a:ext cx="0" cy="0"/>
          <a:chOff x="0" y="0"/>
          <a:chExt cx="0" cy="0"/>
        </a:xfrm>
      </p:grpSpPr>
      <p:pic>
        <p:nvPicPr>
          <p:cNvPr id="485" name="Google Shape;485;p54" descr="figure 18-15"/>
          <p:cNvPicPr preferRelativeResize="0"/>
          <p:nvPr/>
        </p:nvPicPr>
        <p:blipFill rotWithShape="1">
          <a:blip r:embed="rId3">
            <a:alphaModFix/>
          </a:blip>
          <a:srcRect/>
          <a:stretch/>
        </p:blipFill>
        <p:spPr>
          <a:xfrm>
            <a:off x="2214546" y="214290"/>
            <a:ext cx="6886575" cy="6532562"/>
          </a:xfrm>
          <a:prstGeom prst="rect">
            <a:avLst/>
          </a:prstGeom>
          <a:noFill/>
          <a:ln>
            <a:noFill/>
          </a:ln>
        </p:spPr>
      </p:pic>
      <p:sp>
        <p:nvSpPr>
          <p:cNvPr id="486" name="Google Shape;486;p54"/>
          <p:cNvSpPr txBox="1">
            <a:spLocks noGrp="1"/>
          </p:cNvSpPr>
          <p:nvPr>
            <p:ph type="title"/>
          </p:nvPr>
        </p:nvSpPr>
        <p:spPr>
          <a:xfrm>
            <a:off x="-108520" y="3068960"/>
            <a:ext cx="2323066" cy="2362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3200"/>
              <a:buFont typeface="Garamond"/>
              <a:buNone/>
            </a:pPr>
            <a:r>
              <a:rPr lang="en-GB" sz="3200">
                <a:solidFill>
                  <a:srgbClr val="FF0000"/>
                </a:solidFill>
              </a:rPr>
              <a:t>Summary of Amino Acid Catabolism</a:t>
            </a:r>
            <a:endParaRPr/>
          </a:p>
        </p:txBody>
      </p:sp>
    </p:spTree>
  </p:cSld>
  <p:clrMapOvr>
    <a:masterClrMapping/>
  </p:clrMapOvr>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3116</Words>
  <Application>Microsoft Macintosh PowerPoint</Application>
  <PresentationFormat>On-screen Show (4:3)</PresentationFormat>
  <Paragraphs>266</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Noto Sans Symbols</vt:lpstr>
      <vt:lpstr>Arial</vt:lpstr>
      <vt:lpstr>Garamond</vt:lpstr>
      <vt:lpstr>Times New Roman</vt:lpstr>
      <vt:lpstr>Organic</vt:lpstr>
      <vt:lpstr>Protein and Amino acid Metabolism</vt:lpstr>
      <vt:lpstr>Biological importance</vt:lpstr>
      <vt:lpstr>PowerPoint Presentation</vt:lpstr>
      <vt:lpstr>Protein half life</vt:lpstr>
      <vt:lpstr>Signals for protein breakdown</vt:lpstr>
      <vt:lpstr>Enzymes of protein degradation</vt:lpstr>
      <vt:lpstr>PowerPoint Presentation</vt:lpstr>
      <vt:lpstr>PowerPoint Presentation</vt:lpstr>
      <vt:lpstr>Sources and metabolic fates of amino acids</vt:lpstr>
      <vt:lpstr>Amino acid catabolism </vt:lpstr>
      <vt:lpstr>Metabolic Circumstances of Amino Acid Catabolism</vt:lpstr>
      <vt:lpstr>Metabolic Fates of Amino Groups</vt:lpstr>
      <vt:lpstr>Deamination of amino acids</vt:lpstr>
      <vt:lpstr>Transamination followed by oxidative deamination (transdeamination)</vt:lpstr>
      <vt:lpstr>Structure of Pyridoxal Phosphate and Pyridoxamine Phosphate</vt:lpstr>
      <vt:lpstr>PowerPoint Presentation</vt:lpstr>
      <vt:lpstr>Oxidative deamination</vt:lpstr>
      <vt:lpstr>PowerPoint Presentation</vt:lpstr>
      <vt:lpstr>Non-oxidative deamination</vt:lpstr>
      <vt:lpstr>Removal of amide nitrogen of glutamine and aspargine</vt:lpstr>
      <vt:lpstr>Transport of Ammonia</vt:lpstr>
      <vt:lpstr>Transport of ammonia as alanine</vt:lpstr>
      <vt:lpstr>Amino group catabolism.</vt:lpstr>
      <vt:lpstr>Urea cycle</vt:lpstr>
      <vt:lpstr>Reaction Sequence Of Urea Cycle</vt:lpstr>
      <vt:lpstr>PowerPoint Presentation</vt:lpstr>
      <vt:lpstr> Nitrogen Excretion and the Urea Cycle</vt:lpstr>
      <vt:lpstr>Urea cycle</vt:lpstr>
      <vt:lpstr>The Reactions in the Urea Cycle</vt:lpstr>
      <vt:lpstr>Fate of fumarate from the urea cycle</vt:lpstr>
      <vt:lpstr>Aspartate –Arginosuccinate Shunt Links Urea Cycle and Citric Acid Cycle</vt:lpstr>
      <vt:lpstr>Regulation of urea formation</vt:lpstr>
      <vt:lpstr>Diseases of the urea cycle</vt:lpstr>
      <vt:lpstr>PowerPoint Presentation</vt:lpstr>
      <vt:lpstr>Treatment</vt:lpstr>
      <vt:lpstr>Fates of Nitrogen in Organisms</vt:lpstr>
      <vt:lpstr>Excretory Forms of Nitrogen</vt:lpstr>
      <vt:lpstr>Overview of Amino Acid Catabolism</vt:lpstr>
      <vt:lpstr>Metabolic fates of carbon skeletons of Amino acids</vt:lpstr>
      <vt:lpstr>PowerPoint Presentation</vt:lpstr>
      <vt:lpstr>PowerPoint Presentation</vt:lpstr>
      <vt:lpstr>PowerPoint Presentation</vt:lpstr>
      <vt:lpstr>Six Amino Acids Are Degraded to Pyruvate</vt:lpstr>
      <vt:lpstr>6 Amino Acids -&gt; PyruvatAla, Gly, Ser, Cys,Trp,Thr. </vt:lpstr>
      <vt:lpstr>Seven Amino Acids Are Degraded to Acetyl-CoA</vt:lpstr>
      <vt:lpstr>7 AAs -&gt; Acetyl CoA</vt:lpstr>
      <vt:lpstr>PowerPoint Presentation</vt:lpstr>
      <vt:lpstr>Indole Ring Recycling</vt:lpstr>
      <vt:lpstr>Metabolic Diseases – Defects of Aromatic AA degradation</vt:lpstr>
      <vt:lpstr>Amino acids -&gt; α- ketoglutarate</vt:lpstr>
      <vt:lpstr>Amino acids-&gt; Succinyl-CoA</vt:lpstr>
      <vt:lpstr>Asp and Asn to oxaloacetate. </vt:lpstr>
      <vt:lpstr>Summary of Amino Acid Catabolism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Protein and Amino acid Metabolism</dc:title>
  <dc:creator>Nelson</dc:creator>
  <cp:lastModifiedBy>Microsoft Office User</cp:lastModifiedBy>
  <cp:revision>1</cp:revision>
  <dcterms:created xsi:type="dcterms:W3CDTF">2013-08-15T12:16:00Z</dcterms:created>
  <dcterms:modified xsi:type="dcterms:W3CDTF">2024-11-09T13:57:19Z</dcterms:modified>
</cp:coreProperties>
</file>