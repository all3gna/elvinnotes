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handoutMasterIdLst>
    <p:handoutMasterId r:id="rId47"/>
  </p:handoutMasterIdLst>
  <p:sldIdLst>
    <p:sldId id="277" r:id="rId2"/>
    <p:sldId id="280" r:id="rId3"/>
    <p:sldId id="282" r:id="rId4"/>
    <p:sldId id="278" r:id="rId5"/>
    <p:sldId id="329" r:id="rId6"/>
    <p:sldId id="334" r:id="rId7"/>
    <p:sldId id="331" r:id="rId8"/>
    <p:sldId id="332" r:id="rId9"/>
    <p:sldId id="335" r:id="rId10"/>
    <p:sldId id="288" r:id="rId11"/>
    <p:sldId id="325" r:id="rId12"/>
    <p:sldId id="283" r:id="rId13"/>
    <p:sldId id="337" r:id="rId14"/>
    <p:sldId id="305" r:id="rId15"/>
    <p:sldId id="312" r:id="rId16"/>
    <p:sldId id="299" r:id="rId17"/>
    <p:sldId id="287" r:id="rId18"/>
    <p:sldId id="292" r:id="rId19"/>
    <p:sldId id="293" r:id="rId20"/>
    <p:sldId id="291" r:id="rId21"/>
    <p:sldId id="319" r:id="rId22"/>
    <p:sldId id="328" r:id="rId23"/>
    <p:sldId id="290" r:id="rId24"/>
    <p:sldId id="302" r:id="rId25"/>
    <p:sldId id="314" r:id="rId26"/>
    <p:sldId id="327" r:id="rId27"/>
    <p:sldId id="311" r:id="rId28"/>
    <p:sldId id="336" r:id="rId29"/>
    <p:sldId id="318" r:id="rId30"/>
    <p:sldId id="338" r:id="rId31"/>
    <p:sldId id="320" r:id="rId32"/>
    <p:sldId id="340" r:id="rId33"/>
    <p:sldId id="309" r:id="rId34"/>
    <p:sldId id="321" r:id="rId35"/>
    <p:sldId id="341" r:id="rId36"/>
    <p:sldId id="310" r:id="rId37"/>
    <p:sldId id="342" r:id="rId38"/>
    <p:sldId id="322" r:id="rId39"/>
    <p:sldId id="323" r:id="rId40"/>
    <p:sldId id="344" r:id="rId41"/>
    <p:sldId id="339" r:id="rId42"/>
    <p:sldId id="343" r:id="rId43"/>
    <p:sldId id="333" r:id="rId44"/>
    <p:sldId id="326" r:id="rId45"/>
    <p:sldId id="345" r:id="rId46"/>
  </p:sldIdLst>
  <p:sldSz cx="9144000" cy="6858000" type="screen4x3"/>
  <p:notesSz cx="6985000" cy="92821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9999"/>
    <a:srgbClr val="FFFF66"/>
    <a:srgbClr val="000099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255" autoAdjust="0"/>
    <p:restoredTop sz="95673" autoAdjust="0"/>
  </p:normalViewPr>
  <p:slideViewPr>
    <p:cSldViewPr snapToGrid="0">
      <p:cViewPr varScale="1">
        <p:scale>
          <a:sx n="103" d="100"/>
          <a:sy n="103" d="100"/>
        </p:scale>
        <p:origin x="848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86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slide" Target="slides/slide45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Relationship Id="rId2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xmlns="" id="{66E3A802-B23A-5CC0-FCA0-C1F36159B9B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xmlns="" id="{CCBDEA5E-26B5-3314-F50A-1C8DC22AD65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88" name="Rectangle 4">
            <a:extLst>
              <a:ext uri="{FF2B5EF4-FFF2-40B4-BE49-F238E27FC236}">
                <a16:creationId xmlns:a16="http://schemas.microsoft.com/office/drawing/2014/main" xmlns="" id="{15A17252-C5D5-76AF-A1C8-67DD5661C5B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89" name="Rectangle 5">
            <a:extLst>
              <a:ext uri="{FF2B5EF4-FFF2-40B4-BE49-F238E27FC236}">
                <a16:creationId xmlns:a16="http://schemas.microsoft.com/office/drawing/2014/main" xmlns="" id="{E3A566B4-9612-662C-5C87-AB9A3BF6E38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095B967-6F5B-404A-A8CA-9E12AE8840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22634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D3575B0E-8AE6-3507-D133-BB7D897F4B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FDC0C8D0-753F-A670-B66D-49AC404FE5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2D60EC04-2AD1-4137-DB68-2640AD28F5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A03B95-ACB5-422F-ADFD-226C1C7A9E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3058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E5E73248-06E1-30CB-4388-C607517F76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CBD34582-F14A-B4A9-F1AF-04E5BC970F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88BD8891-3FED-ECA2-E6EC-9C22F03B3A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B5DCB4-C1C5-48CA-B32B-3996483D40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06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0968BE1E-7120-F218-BE57-AFD5B8F58F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466031AD-9853-97EE-6AD7-6964B2FDFB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75089F37-B4CB-A780-CA2F-DDB302C0AC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759618-05A6-4033-A0A0-8D128C726B8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2021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5A8ECC32-E529-C697-8AFA-C3E3E2CE8C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6E93441D-7819-6595-EB64-8391145AAB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6867565-D459-0B4A-8063-4A8482E418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08EFB4-9568-405C-91F3-C63F42583F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6820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7ABA6782-DEFF-0963-6213-F843438B6F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5E0BD2F7-9BBB-293A-7D93-5E17B122D5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xmlns="" id="{F519A0DB-7319-EEDF-4094-2DAF0CBBE1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A40381-693A-45A4-B791-4B32652A11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532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xmlns="" id="{8101A575-8977-5A20-6DE5-491C15C382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03853E83-952E-70E3-4C4D-87152A21C4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144185A0-312C-EC58-C86B-2E504DA882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B92102-A4FB-4752-BCE5-C488C8143DD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1698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xmlns="" id="{C5024EF1-DA8D-B0F6-DFC5-32AFAD1178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F0DCA214-A642-089A-9E4D-302A3A988B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2E1D822B-5DF0-5C98-24F9-23B72F6BA3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B3BCEA-C398-486F-B400-B1524E6CE1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1509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3C7B344-198C-153F-7DB3-568961D146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1441031-8FA7-8439-41B6-49092EAC4E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E7B45252-2F05-646E-423C-38F3A44B94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32DE50-3594-4024-A1E1-06CE12B1AA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5569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2CFEB07-686C-787E-3DAB-770D590504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0233AF2C-E6EB-B4F7-1ABB-A7B8E482E2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6D6F6FD-DD6B-B810-13CD-96E8BFC8D5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1D7225-75BB-4D3A-8923-7DD1202474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5840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5E6F6C5C-B111-9F49-409E-14614925DD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F549ADA5-5980-60AC-B1A7-A47215F2B3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C0764F45-F37D-2AF8-B6EC-7874A88707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BE4B06-A021-48EC-AB2F-555230B4F6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52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0E52C3C2-84E7-3311-2B06-59911972ED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E7313172-6854-DA32-C938-F4051E4495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27658F36-7C04-641F-567C-9D7D5FFE11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13CC9D-AB8B-41EB-9164-4A52FAD6C1A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2773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E8F5E72-3233-4E65-E413-B034B4929E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A2BA0EA2-088D-024C-5223-BAAE32C153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4DCC461-F831-2D7E-5D13-9A1D3BF676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344FCB-CD28-4088-A30F-4958A61F5E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474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xmlns="" id="{846FE871-4A4C-780D-CFE3-B33A369951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xmlns="" id="{C2C68F56-B323-6C28-FA57-B79556580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xmlns="" id="{4E608D99-E11B-8316-31AA-232DC6DAFB4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xmlns="" id="{EB80BAE9-FFB8-2AE8-31F1-1362BFD7B29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xmlns="" id="{C5215BC3-6A75-6422-A431-AF0C5D5D251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76732FF-B332-4226-B274-D2D1B51DB5E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2.wmf"/><Relationship Id="rId5" Type="http://schemas.openxmlformats.org/officeDocument/2006/relationships/image" Target="../media/image3.png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9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10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4" Type="http://schemas.openxmlformats.org/officeDocument/2006/relationships/image" Target="../media/image17.w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4" Type="http://schemas.openxmlformats.org/officeDocument/2006/relationships/image" Target="../media/image18.w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4" Type="http://schemas.openxmlformats.org/officeDocument/2006/relationships/image" Target="../media/image25.e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xmlns="" id="{CD18275E-5158-8166-5003-000E47C7AB0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3046413"/>
            <a:ext cx="7696200" cy="914400"/>
          </a:xfrm>
        </p:spPr>
        <p:txBody>
          <a:bodyPr/>
          <a:lstStyle/>
          <a:p>
            <a:pPr marL="0" indent="0" algn="ctr">
              <a:spcBef>
                <a:spcPct val="0"/>
              </a:spcBef>
              <a:spcAft>
                <a:spcPct val="30000"/>
              </a:spcAft>
              <a:buFontTx/>
              <a:buNone/>
            </a:pPr>
            <a:r>
              <a:rPr lang="en-US" altLang="en-US" sz="5400">
                <a:solidFill>
                  <a:schemeClr val="tx2"/>
                </a:solidFill>
              </a:rPr>
              <a:t>Electron Transfer Chain</a:t>
            </a:r>
            <a:endParaRPr lang="en-US" altLang="en-US" sz="28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6">
            <a:extLst>
              <a:ext uri="{FF2B5EF4-FFF2-40B4-BE49-F238E27FC236}">
                <a16:creationId xmlns:a16="http://schemas.microsoft.com/office/drawing/2014/main" xmlns="" id="{1DD210ED-ED4F-FAF2-5B12-C769E98AB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1238" y="26988"/>
            <a:ext cx="4283075" cy="667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9">
            <a:extLst>
              <a:ext uri="{FF2B5EF4-FFF2-40B4-BE49-F238E27FC236}">
                <a16:creationId xmlns:a16="http://schemas.microsoft.com/office/drawing/2014/main" xmlns="" id="{3C36EEAE-D814-0E83-3205-B60B3EC46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146050"/>
            <a:ext cx="3698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 b="1"/>
              <a:t>Oxidative phosphorylation</a:t>
            </a:r>
          </a:p>
        </p:txBody>
      </p:sp>
      <p:sp>
        <p:nvSpPr>
          <p:cNvPr id="4100" name="TextBox 10">
            <a:extLst>
              <a:ext uri="{FF2B5EF4-FFF2-40B4-BE49-F238E27FC236}">
                <a16:creationId xmlns:a16="http://schemas.microsoft.com/office/drawing/2014/main" xmlns="" id="{0C843909-5A71-B365-1128-6B688BC96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993775"/>
            <a:ext cx="4332288" cy="480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GB" altLang="en-US" sz="1800" b="1"/>
              <a:t>Mitochondria, has two menbranes:</a:t>
            </a:r>
          </a:p>
          <a:p>
            <a:pPr algn="just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GB" altLang="en-US" sz="1800"/>
              <a:t>The outer mitochondrial membrane is readily permeable to small molecules (</a:t>
            </a:r>
            <a:r>
              <a:rPr lang="en-GB" altLang="en-US" sz="1800" i="1"/>
              <a:t>Mr 5,000) and </a:t>
            </a:r>
            <a:r>
              <a:rPr lang="en-GB" altLang="en-US" sz="1800"/>
              <a:t>ions, which move freely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GB" altLang="en-US" sz="1800"/>
              <a:t>through transmembrane channels formed by a family of integral membrane proteins called </a:t>
            </a:r>
            <a:r>
              <a:rPr lang="en-GB" altLang="en-US" sz="1800" b="1"/>
              <a:t>porins</a:t>
            </a:r>
            <a:r>
              <a:rPr lang="en-GB" altLang="en-US" sz="1800"/>
              <a:t>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GB" altLang="en-US" sz="1800"/>
              <a:t>The inner membrane is impermeable to most small molecules and ions, including protons (H).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GB" altLang="en-US" sz="1800"/>
              <a:t>the only species that cross this membrane do so through specific transporters.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GB" altLang="en-US" sz="1800"/>
              <a:t>The selectively permeable inner membrane segregates the intermediates and enzymes of cytosolic metabolic pathways from those of metabolic processes occurring in the matrix.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>
            <a:extLst>
              <a:ext uri="{FF2B5EF4-FFF2-40B4-BE49-F238E27FC236}">
                <a16:creationId xmlns:a16="http://schemas.microsoft.com/office/drawing/2014/main" xmlns="" id="{43EB0ED0-D79C-FA62-6182-72824A1F5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119063"/>
            <a:ext cx="7772400" cy="944563"/>
          </a:xfrm>
        </p:spPr>
        <p:txBody>
          <a:bodyPr/>
          <a:lstStyle/>
          <a:p>
            <a:r>
              <a:rPr lang="en-US" altLang="en-US"/>
              <a:t>Electron</a:t>
            </a:r>
            <a:r>
              <a:rPr lang="en-US" altLang="en-US" sz="2800"/>
              <a:t> </a:t>
            </a:r>
            <a:r>
              <a:rPr lang="en-US" altLang="en-US"/>
              <a:t>Carriers</a:t>
            </a:r>
          </a:p>
        </p:txBody>
      </p:sp>
      <p:sp>
        <p:nvSpPr>
          <p:cNvPr id="5123" name="Line 4">
            <a:extLst>
              <a:ext uri="{FF2B5EF4-FFF2-40B4-BE49-F238E27FC236}">
                <a16:creationId xmlns:a16="http://schemas.microsoft.com/office/drawing/2014/main" xmlns="" id="{B9E45A8B-F2E1-0C31-1791-F1041A95EC4D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712788"/>
            <a:ext cx="9144000" cy="0"/>
          </a:xfrm>
          <a:prstGeom prst="line">
            <a:avLst/>
          </a:prstGeom>
          <a:noFill/>
          <a:ln w="76200">
            <a:solidFill>
              <a:srgbClr val="99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4" name="Rectangle 6">
            <a:extLst>
              <a:ext uri="{FF2B5EF4-FFF2-40B4-BE49-F238E27FC236}">
                <a16:creationId xmlns:a16="http://schemas.microsoft.com/office/drawing/2014/main" xmlns="" id="{8CC8C78C-21B8-0C68-952A-AA65A3073F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1763" y="3605213"/>
            <a:ext cx="8813800" cy="2822575"/>
          </a:xfrm>
        </p:spPr>
        <p:txBody>
          <a:bodyPr/>
          <a:lstStyle/>
          <a:p>
            <a:pPr marL="0" indent="0" algn="just">
              <a:lnSpc>
                <a:spcPct val="95000"/>
              </a:lnSpc>
              <a:spcBef>
                <a:spcPct val="0"/>
              </a:spcBef>
              <a:spcAft>
                <a:spcPct val="50000"/>
              </a:spcAft>
              <a:buFont typeface="Wingdings" panose="05000000000000000000" pitchFamily="2" charset="2"/>
              <a:buChar char="v"/>
            </a:pP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FMN</a:t>
            </a:r>
            <a:r>
              <a:rPr lang="en-US" altLang="en-US" sz="2800">
                <a:cs typeface="Times New Roman" panose="02020603050405020304" pitchFamily="18" charset="0"/>
              </a:rPr>
              <a:t> (</a:t>
            </a: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F</a:t>
            </a:r>
            <a:r>
              <a:rPr lang="en-US" altLang="en-US" sz="2800">
                <a:cs typeface="Times New Roman" panose="02020603050405020304" pitchFamily="18" charset="0"/>
              </a:rPr>
              <a:t>lavin </a:t>
            </a: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M</a:t>
            </a:r>
            <a:r>
              <a:rPr lang="en-US" altLang="en-US" sz="2800">
                <a:cs typeface="Times New Roman" panose="02020603050405020304" pitchFamily="18" charset="0"/>
              </a:rPr>
              <a:t>ono</a:t>
            </a: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800">
                <a:cs typeface="Times New Roman" panose="02020603050405020304" pitchFamily="18" charset="0"/>
              </a:rPr>
              <a:t>ucleotide) is a prosthetic group of some </a:t>
            </a:r>
            <a:r>
              <a:rPr lang="en-US" altLang="en-US" sz="2800" b="1">
                <a:cs typeface="Times New Roman" panose="02020603050405020304" pitchFamily="18" charset="0"/>
              </a:rPr>
              <a:t>flavoproteins</a:t>
            </a:r>
            <a:r>
              <a:rPr lang="en-US" altLang="en-US" sz="2800"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lnSpc>
                <a:spcPct val="95000"/>
              </a:lnSpc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v"/>
            </a:pPr>
            <a:r>
              <a:rPr lang="en-US" altLang="en-US" sz="2800">
                <a:cs typeface="Times New Roman" panose="02020603050405020304" pitchFamily="18" charset="0"/>
              </a:rPr>
              <a:t>It is similar in structure to FAD (Flavin Adenine Dinucleotide), but lacking the adenine nucleotide. </a:t>
            </a:r>
          </a:p>
          <a:p>
            <a:pPr marL="0" indent="0" algn="just">
              <a:lnSpc>
                <a:spcPct val="95000"/>
              </a:lnSpc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v"/>
            </a:pPr>
            <a:r>
              <a:rPr lang="en-US" altLang="en-US" sz="2800">
                <a:cs typeface="Times New Roman" panose="02020603050405020304" pitchFamily="18" charset="0"/>
              </a:rPr>
              <a:t>FMN (like FAD) can accept </a:t>
            </a:r>
            <a:r>
              <a:rPr lang="en-US" altLang="en-US" sz="2800" b="1">
                <a:cs typeface="Times New Roman" panose="02020603050405020304" pitchFamily="18" charset="0"/>
              </a:rPr>
              <a:t>2 e</a:t>
            </a:r>
            <a:r>
              <a:rPr lang="en-US" altLang="en-US" sz="2800" b="1" baseline="30000">
                <a:cs typeface="Times New Roman" panose="02020603050405020304" pitchFamily="18" charset="0"/>
              </a:rPr>
              <a:t>-</a:t>
            </a:r>
            <a:r>
              <a:rPr lang="en-US" altLang="en-US" sz="2800" b="1">
                <a:cs typeface="Times New Roman" panose="02020603050405020304" pitchFamily="18" charset="0"/>
              </a:rPr>
              <a:t> + 2 H</a:t>
            </a:r>
            <a:r>
              <a:rPr lang="en-US" altLang="en-US" sz="2800" b="1" baseline="30000">
                <a:cs typeface="Times New Roman" panose="02020603050405020304" pitchFamily="18" charset="0"/>
              </a:rPr>
              <a:t>+</a:t>
            </a:r>
            <a:r>
              <a:rPr lang="en-US" altLang="en-US" sz="2800">
                <a:cs typeface="Times New Roman" panose="02020603050405020304" pitchFamily="18" charset="0"/>
              </a:rPr>
              <a:t> to form </a:t>
            </a: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FMNH</a:t>
            </a:r>
            <a:r>
              <a:rPr lang="en-US" altLang="en-US" sz="2800" b="1" baseline="-30000">
                <a:solidFill>
                  <a:srgbClr val="000099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2800">
                <a:cs typeface="Times New Roman" panose="02020603050405020304" pitchFamily="18" charset="0"/>
              </a:rPr>
              <a:t>.  </a:t>
            </a:r>
          </a:p>
        </p:txBody>
      </p:sp>
      <p:sp>
        <p:nvSpPr>
          <p:cNvPr id="5125" name="TextBox 4">
            <a:extLst>
              <a:ext uri="{FF2B5EF4-FFF2-40B4-BE49-F238E27FC236}">
                <a16:creationId xmlns:a16="http://schemas.microsoft.com/office/drawing/2014/main" xmlns="" id="{7BC736B8-88BA-2AE1-359A-6C4DB1936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63" y="862013"/>
            <a:ext cx="885190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GB" altLang="en-US" sz="2800"/>
              <a:t>Oxidative phosphorylation begins with the entry of electrons into the respiratory chain. </a:t>
            </a:r>
          </a:p>
          <a:p>
            <a:pPr algn="just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GB" altLang="en-US" sz="2800"/>
              <a:t>Dehydrogenases collect electrons from catabolic pathways and funnel them into universal electron acceptors—nicotinamide nucleotides (NAD or NADP) or flavin nucleotides (FMN or FAD).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:a16="http://schemas.microsoft.com/office/drawing/2014/main" xmlns="" id="{CF09CAD7-184C-108C-E8EF-466BCCEFB9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5750" y="3905250"/>
            <a:ext cx="8724900" cy="2819400"/>
          </a:xfrm>
        </p:spPr>
        <p:txBody>
          <a:bodyPr/>
          <a:lstStyle/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30000"/>
              </a:spcAft>
              <a:buFontTx/>
              <a:buNone/>
            </a:pP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FMN</a:t>
            </a:r>
            <a:r>
              <a:rPr lang="en-US" altLang="en-US" sz="2800">
                <a:cs typeface="Times New Roman" panose="02020603050405020304" pitchFamily="18" charset="0"/>
              </a:rPr>
              <a:t>, when bound at the active site of some enzymes, can accept </a:t>
            </a:r>
            <a:r>
              <a:rPr lang="en-US" altLang="en-US" sz="2800" b="1">
                <a:cs typeface="Times New Roman" panose="02020603050405020304" pitchFamily="18" charset="0"/>
              </a:rPr>
              <a:t>1 e</a:t>
            </a:r>
            <a:r>
              <a:rPr lang="en-US" altLang="en-US" sz="2800" b="1" baseline="30000"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en-US" sz="2800">
                <a:cs typeface="Times New Roman" panose="02020603050405020304" pitchFamily="18" charset="0"/>
              </a:rPr>
              <a:t> to form the half-reduced </a:t>
            </a: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semiquinone radical</a:t>
            </a:r>
            <a:r>
              <a:rPr lang="en-US" altLang="en-US" sz="2800">
                <a:cs typeface="Times New Roman" panose="02020603050405020304" pitchFamily="18" charset="0"/>
              </a:rPr>
              <a:t>. The semiquinone can accept a 2</a:t>
            </a:r>
            <a:r>
              <a:rPr lang="en-US" altLang="en-US" sz="2800" baseline="30000">
                <a:cs typeface="Times New Roman" panose="02020603050405020304" pitchFamily="18" charset="0"/>
              </a:rPr>
              <a:t>nd</a:t>
            </a:r>
            <a:r>
              <a:rPr lang="en-US" altLang="en-US" sz="2800">
                <a:cs typeface="Times New Roman" panose="02020603050405020304" pitchFamily="18" charset="0"/>
              </a:rPr>
              <a:t> e</a:t>
            </a:r>
            <a:r>
              <a:rPr lang="en-US" altLang="en-US" sz="2800" baseline="30000"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en-US" sz="2800">
                <a:cs typeface="Times New Roman" panose="02020603050405020304" pitchFamily="18" charset="0"/>
              </a:rPr>
              <a:t> to yield FMNH</a:t>
            </a:r>
            <a:r>
              <a:rPr lang="en-US" altLang="en-US" sz="2800" baseline="-30000">
                <a:cs typeface="Times New Roman" panose="02020603050405020304" pitchFamily="18" charset="0"/>
              </a:rPr>
              <a:t>2</a:t>
            </a:r>
            <a:r>
              <a:rPr lang="en-US" altLang="en-US" sz="2800">
                <a:cs typeface="Times New Roman" panose="02020603050405020304" pitchFamily="18" charset="0"/>
              </a:rPr>
              <a:t>. 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30000"/>
              </a:spcAft>
              <a:buFontTx/>
              <a:buNone/>
            </a:pPr>
            <a:r>
              <a:rPr lang="en-US" altLang="en-US" sz="2800">
                <a:cs typeface="Times New Roman" panose="02020603050405020304" pitchFamily="18" charset="0"/>
              </a:rPr>
              <a:t>Since it can accept/donate </a:t>
            </a: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1 or 2 e</a:t>
            </a:r>
            <a:r>
              <a:rPr lang="en-US" altLang="en-US" sz="2800" b="1" baseline="30000">
                <a:solidFill>
                  <a:srgbClr val="000099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en-US" sz="2800">
                <a:cs typeface="Times New Roman" panose="02020603050405020304" pitchFamily="18" charset="0"/>
              </a:rPr>
              <a:t>, FMN has an important </a:t>
            </a: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role</a:t>
            </a:r>
            <a:r>
              <a:rPr lang="en-US" altLang="en-US" sz="2800">
                <a:cs typeface="Times New Roman" panose="02020603050405020304" pitchFamily="18" charset="0"/>
              </a:rPr>
              <a:t> mediating e</a:t>
            </a:r>
            <a:r>
              <a:rPr lang="en-US" altLang="en-US" sz="2800" baseline="30000"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en-US" sz="2800">
                <a:cs typeface="Times New Roman" panose="02020603050405020304" pitchFamily="18" charset="0"/>
              </a:rPr>
              <a:t> transfer between carriers that transfer 2e</a:t>
            </a:r>
            <a:r>
              <a:rPr lang="en-US" altLang="en-US" sz="2800" baseline="30000"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en-US" sz="2800">
                <a:cs typeface="Times New Roman" panose="02020603050405020304" pitchFamily="18" charset="0"/>
              </a:rPr>
              <a:t> (e.g., NADH) &amp; those that can accept only 1e</a:t>
            </a:r>
            <a:r>
              <a:rPr lang="en-US" altLang="en-US" sz="2800" baseline="30000"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en-US" sz="2800">
                <a:cs typeface="Times New Roman" panose="02020603050405020304" pitchFamily="18" charset="0"/>
              </a:rPr>
              <a:t> (e.g., Fe</a:t>
            </a:r>
            <a:r>
              <a:rPr lang="en-US" altLang="en-US" sz="2800" baseline="30000">
                <a:cs typeface="Times New Roman" panose="02020603050405020304" pitchFamily="18" charset="0"/>
              </a:rPr>
              <a:t>+++</a:t>
            </a:r>
            <a:r>
              <a:rPr lang="en-US" altLang="en-US" sz="2800"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6147" name="Rectangle 7">
            <a:extLst>
              <a:ext uri="{FF2B5EF4-FFF2-40B4-BE49-F238E27FC236}">
                <a16:creationId xmlns:a16="http://schemas.microsoft.com/office/drawing/2014/main" xmlns="" id="{D58542D8-9807-F6E7-902D-C5F882F70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950" y="23431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6148" name="Rectangle 9">
            <a:extLst>
              <a:ext uri="{FF2B5EF4-FFF2-40B4-BE49-F238E27FC236}">
                <a16:creationId xmlns:a16="http://schemas.microsoft.com/office/drawing/2014/main" xmlns="" id="{73E616B4-B289-FA20-0706-13C377B59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950" y="23431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6149" name="Rectangle 11">
            <a:extLst>
              <a:ext uri="{FF2B5EF4-FFF2-40B4-BE49-F238E27FC236}">
                <a16:creationId xmlns:a16="http://schemas.microsoft.com/office/drawing/2014/main" xmlns="" id="{52139776-8273-B215-20DD-D2A7F3D12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431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graphicFrame>
        <p:nvGraphicFramePr>
          <p:cNvPr id="6150" name="Object 10">
            <a:extLst>
              <a:ext uri="{FF2B5EF4-FFF2-40B4-BE49-F238E27FC236}">
                <a16:creationId xmlns:a16="http://schemas.microsoft.com/office/drawing/2014/main" xmlns="" id="{0939403C-252B-254B-EEE0-FBBF7D62C6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39688" y="23813"/>
          <a:ext cx="9177338" cy="370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Picture" r:id="rId3" imgW="5372100" imgH="2171700" progId="Word.Picture.8">
                  <p:embed/>
                </p:oleObj>
              </mc:Choice>
              <mc:Fallback>
                <p:oleObj name="Picture" r:id="rId3" imgW="5372100" imgH="2171700" progId="Word.Picture.8">
                  <p:embed/>
                  <p:pic>
                    <p:nvPicPr>
                      <p:cNvPr id="6150" name="Object 10">
                        <a:extLst>
                          <a:ext uri="{FF2B5EF4-FFF2-40B4-BE49-F238E27FC236}">
                            <a16:creationId xmlns:a16="http://schemas.microsoft.com/office/drawing/2014/main" xmlns="" id="{0939403C-252B-254B-EEE0-FBBF7D62C6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9688" y="23813"/>
                        <a:ext cx="9177338" cy="3709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51" name="Picture 7">
            <a:extLst>
              <a:ext uri="{FF2B5EF4-FFF2-40B4-BE49-F238E27FC236}">
                <a16:creationId xmlns:a16="http://schemas.microsoft.com/office/drawing/2014/main" xmlns="" id="{72BB6195-C654-0337-BBB4-581507C90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725" y="161925"/>
            <a:ext cx="8572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&#10;F14-16.jpg                                                     00007297projects                       B63F1671:">
            <a:extLst>
              <a:ext uri="{FF2B5EF4-FFF2-40B4-BE49-F238E27FC236}">
                <a16:creationId xmlns:a16="http://schemas.microsoft.com/office/drawing/2014/main" xmlns="" id="{1F7048B4-F265-DDD0-D2F3-751741709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3" y="901700"/>
            <a:ext cx="8512175" cy="534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TextBox 4">
            <a:extLst>
              <a:ext uri="{FF2B5EF4-FFF2-40B4-BE49-F238E27FC236}">
                <a16:creationId xmlns:a16="http://schemas.microsoft.com/office/drawing/2014/main" xmlns="" id="{05B4FD12-A07E-0F4A-DCB0-ED7D25AC3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92100"/>
            <a:ext cx="7794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/>
              <a:t>FAD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3">
            <a:extLst>
              <a:ext uri="{FF2B5EF4-FFF2-40B4-BE49-F238E27FC236}">
                <a16:creationId xmlns:a16="http://schemas.microsoft.com/office/drawing/2014/main" xmlns="" id="{BA3543CB-A98F-EB92-B936-BB4BC2726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12725"/>
            <a:ext cx="14843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 b="1"/>
              <a:t>NAD(P)H</a:t>
            </a:r>
          </a:p>
        </p:txBody>
      </p:sp>
      <p:sp>
        <p:nvSpPr>
          <p:cNvPr id="8195" name="TextBox 4">
            <a:extLst>
              <a:ext uri="{FF2B5EF4-FFF2-40B4-BE49-F238E27FC236}">
                <a16:creationId xmlns:a16="http://schemas.microsoft.com/office/drawing/2014/main" xmlns="" id="{E0BA0D8D-428F-932A-A4DA-188154B76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438" y="557213"/>
            <a:ext cx="832326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GB" altLang="en-US" sz="2400" b="1"/>
              <a:t>Nicotinamide nucleotide–linked dehydrogenases </a:t>
            </a:r>
            <a:r>
              <a:rPr lang="en-GB" altLang="en-US" sz="2400"/>
              <a:t>catalyze reversible reactions of the following general types:</a:t>
            </a:r>
          </a:p>
        </p:txBody>
      </p:sp>
      <p:pic>
        <p:nvPicPr>
          <p:cNvPr id="8196" name="Picture 2">
            <a:extLst>
              <a:ext uri="{FF2B5EF4-FFF2-40B4-BE49-F238E27FC236}">
                <a16:creationId xmlns:a16="http://schemas.microsoft.com/office/drawing/2014/main" xmlns="" id="{5D4273E1-235C-A1BD-EAB8-598994EB3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1455738"/>
            <a:ext cx="6240463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TextBox 6">
            <a:extLst>
              <a:ext uri="{FF2B5EF4-FFF2-40B4-BE49-F238E27FC236}">
                <a16:creationId xmlns:a16="http://schemas.microsoft.com/office/drawing/2014/main" xmlns="" id="{5490ABC5-46B4-1B81-93E2-E45BF06D3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5" y="4730750"/>
            <a:ext cx="8296275" cy="120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GB" altLang="en-US" sz="2400"/>
              <a:t>Neither NADH nor NADPH can cross the inner mitochondrial membrane, but the electrons they carry can be shuttled across indirectly.</a:t>
            </a:r>
          </a:p>
        </p:txBody>
      </p:sp>
      <p:sp>
        <p:nvSpPr>
          <p:cNvPr id="8198" name="TextBox 7">
            <a:extLst>
              <a:ext uri="{FF2B5EF4-FFF2-40B4-BE49-F238E27FC236}">
                <a16:creationId xmlns:a16="http://schemas.microsoft.com/office/drawing/2014/main" xmlns="" id="{F3CA1160-F145-8C9A-3FE8-2FDEE688D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5883275"/>
            <a:ext cx="920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/>
              <a:t>How?</a:t>
            </a:r>
          </a:p>
        </p:txBody>
      </p:sp>
      <p:pic>
        <p:nvPicPr>
          <p:cNvPr id="8199" name="Picture 2">
            <a:extLst>
              <a:ext uri="{FF2B5EF4-FFF2-40B4-BE49-F238E27FC236}">
                <a16:creationId xmlns:a16="http://schemas.microsoft.com/office/drawing/2014/main" xmlns="" id="{9CD79750-3893-12D8-D810-3E618D8D0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979738"/>
            <a:ext cx="6002337" cy="171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6">
            <a:extLst>
              <a:ext uri="{FF2B5EF4-FFF2-40B4-BE49-F238E27FC236}">
                <a16:creationId xmlns:a16="http://schemas.microsoft.com/office/drawing/2014/main" xmlns="" id="{70FF5FED-EE41-F79E-55F2-D1E1EBAC4456}"/>
              </a:ext>
            </a:extLst>
          </p:cNvPr>
          <p:cNvGrpSpPr>
            <a:grpSpLocks/>
          </p:cNvGrpSpPr>
          <p:nvPr/>
        </p:nvGrpSpPr>
        <p:grpSpPr bwMode="auto">
          <a:xfrm>
            <a:off x="688975" y="835025"/>
            <a:ext cx="7766050" cy="5738813"/>
            <a:chOff x="689114" y="901151"/>
            <a:chExt cx="7765774" cy="5738186"/>
          </a:xfrm>
        </p:grpSpPr>
        <p:pic>
          <p:nvPicPr>
            <p:cNvPr id="9220" name="Picture 2">
              <a:extLst>
                <a:ext uri="{FF2B5EF4-FFF2-40B4-BE49-F238E27FC236}">
                  <a16:creationId xmlns:a16="http://schemas.microsoft.com/office/drawing/2014/main" xmlns="" id="{3DE06C1F-C4D8-7446-F351-72CEF3BCDF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-20000" contrast="4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9114" y="1086676"/>
              <a:ext cx="7765774" cy="5552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21" name="TextBox 5">
              <a:extLst>
                <a:ext uri="{FF2B5EF4-FFF2-40B4-BE49-F238E27FC236}">
                  <a16:creationId xmlns:a16="http://schemas.microsoft.com/office/drawing/2014/main" xmlns="" id="{4A2F7929-17B9-DDD8-CA16-D0EB3A7445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0313" y="901151"/>
              <a:ext cx="1908313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GB" altLang="en-US" sz="2400"/>
            </a:p>
          </p:txBody>
        </p:sp>
      </p:grpSp>
      <p:sp>
        <p:nvSpPr>
          <p:cNvPr id="9219" name="TextBox 7">
            <a:extLst>
              <a:ext uri="{FF2B5EF4-FFF2-40B4-BE49-F238E27FC236}">
                <a16:creationId xmlns:a16="http://schemas.microsoft.com/office/drawing/2014/main" xmlns="" id="{04D249E4-AFBC-F63E-9547-27A3E369C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38" y="212725"/>
            <a:ext cx="82137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 b="1"/>
              <a:t>Malate-aspartate shuttle. </a:t>
            </a:r>
            <a:r>
              <a:rPr lang="en-GB" altLang="en-US" sz="2400"/>
              <a:t>(liver, kidney, and heart mitochondria)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xmlns="" id="{B97ABDFB-3F54-3CF7-99BF-A37A3769B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0" y="966788"/>
            <a:ext cx="7116763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TextBox 4">
            <a:extLst>
              <a:ext uri="{FF2B5EF4-FFF2-40B4-BE49-F238E27FC236}">
                <a16:creationId xmlns:a16="http://schemas.microsoft.com/office/drawing/2014/main" xmlns="" id="{262FCF93-C261-C0E6-D8AA-A1E747397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863" y="384175"/>
            <a:ext cx="73199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 b="1"/>
              <a:t>glycerol 3-phosphate shuttle (</a:t>
            </a:r>
            <a:r>
              <a:rPr lang="en-GB" altLang="en-US" sz="2400"/>
              <a:t>Skeletal muscle and brain)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Box 3">
            <a:extLst>
              <a:ext uri="{FF2B5EF4-FFF2-40B4-BE49-F238E27FC236}">
                <a16:creationId xmlns:a16="http://schemas.microsoft.com/office/drawing/2014/main" xmlns="" id="{BBDAD111-E3C0-E126-B570-5BF252933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3" y="2066925"/>
            <a:ext cx="8716962" cy="274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GB" altLang="en-US" sz="2400"/>
              <a:t>In addition to NAD and flavoproteins, three other types of electron-carrying molecules function in the respiratory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GB" altLang="en-US" sz="2400"/>
              <a:t>chain: </a:t>
            </a:r>
          </a:p>
          <a:p>
            <a:pPr algn="just">
              <a:spcBef>
                <a:spcPct val="0"/>
              </a:spcBef>
              <a:buFontTx/>
              <a:buNone/>
            </a:pPr>
            <a:endParaRPr lang="en-GB" altLang="en-US" sz="2400"/>
          </a:p>
          <a:p>
            <a:pPr algn="just"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GB" altLang="en-US" sz="2400"/>
              <a:t>Ubiquinone</a:t>
            </a:r>
            <a:r>
              <a:rPr lang="en-US" altLang="en-US" sz="2400" b="1">
                <a:solidFill>
                  <a:srgbClr val="000099"/>
                </a:solidFill>
                <a:cs typeface="Times New Roman" panose="02020603050405020304" pitchFamily="18" charset="0"/>
              </a:rPr>
              <a:t>  (Coenzyme Q).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endParaRPr lang="en-GB" altLang="en-US" sz="2400"/>
          </a:p>
          <a:p>
            <a:pPr algn="just"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GB" altLang="en-US" sz="2400"/>
              <a:t>Cytochromes</a:t>
            </a:r>
          </a:p>
          <a:p>
            <a:pPr algn="just"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GB" altLang="en-US" sz="2400"/>
              <a:t>Iron sulfur proteins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>
            <a:extLst>
              <a:ext uri="{FF2B5EF4-FFF2-40B4-BE49-F238E27FC236}">
                <a16:creationId xmlns:a16="http://schemas.microsoft.com/office/drawing/2014/main" xmlns="" id="{3DCE5F13-EA2D-7779-53E6-E244FA5991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0050" y="3822700"/>
            <a:ext cx="8743950" cy="2776538"/>
          </a:xfrm>
        </p:spPr>
        <p:txBody>
          <a:bodyPr/>
          <a:lstStyle/>
          <a:p>
            <a:pPr>
              <a:buFont typeface="Wingdings" pitchFamily="2" charset="2"/>
              <a:buChar char="v"/>
              <a:defRPr/>
            </a:pPr>
            <a:r>
              <a:rPr lang="en-GB" sz="2400" dirty="0"/>
              <a:t>Is the only non-protein component of electron transport chain.</a:t>
            </a:r>
            <a:endParaRPr lang="en-US" sz="2400" b="1" dirty="0">
              <a:solidFill>
                <a:srgbClr val="000099"/>
              </a:solidFill>
              <a:cs typeface="Times New Roman" pitchFamily="18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30000"/>
              </a:spcAft>
              <a:buFont typeface="Wingdings" pitchFamily="2" charset="2"/>
              <a:buChar char="v"/>
              <a:defRPr/>
            </a:pPr>
            <a:r>
              <a:rPr lang="en-US" sz="2400" b="1" dirty="0">
                <a:solidFill>
                  <a:srgbClr val="000099"/>
                </a:solidFill>
                <a:cs typeface="Times New Roman" pitchFamily="18" charset="0"/>
              </a:rPr>
              <a:t>Coenzyme Q</a:t>
            </a:r>
            <a:r>
              <a:rPr lang="en-US" sz="2400" dirty="0">
                <a:cs typeface="Times New Roman" pitchFamily="18" charset="0"/>
              </a:rPr>
              <a:t> (</a:t>
            </a:r>
            <a:r>
              <a:rPr lang="en-US" sz="2400" dirty="0" err="1">
                <a:cs typeface="Times New Roman" pitchFamily="18" charset="0"/>
              </a:rPr>
              <a:t>CoQ</a:t>
            </a:r>
            <a:r>
              <a:rPr lang="en-US" sz="2400" dirty="0">
                <a:cs typeface="Times New Roman" pitchFamily="18" charset="0"/>
              </a:rPr>
              <a:t>, Q, </a:t>
            </a:r>
            <a:r>
              <a:rPr lang="en-US" sz="2400" dirty="0" err="1">
                <a:cs typeface="Times New Roman" pitchFamily="18" charset="0"/>
              </a:rPr>
              <a:t>ubiquinone</a:t>
            </a:r>
            <a:r>
              <a:rPr lang="en-US" sz="2400" dirty="0">
                <a:cs typeface="Times New Roman" pitchFamily="18" charset="0"/>
              </a:rPr>
              <a:t>) is very </a:t>
            </a:r>
            <a:r>
              <a:rPr lang="en-US" sz="2400" b="1" dirty="0">
                <a:solidFill>
                  <a:srgbClr val="000099"/>
                </a:solidFill>
                <a:cs typeface="Times New Roman" pitchFamily="18" charset="0"/>
              </a:rPr>
              <a:t>hydrophobic</a:t>
            </a:r>
            <a:r>
              <a:rPr lang="en-US" sz="2400" dirty="0">
                <a:cs typeface="Times New Roman" pitchFamily="18" charset="0"/>
              </a:rPr>
              <a:t>.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30000"/>
              </a:spcAft>
              <a:buFont typeface="Wingdings" pitchFamily="2" charset="2"/>
              <a:buChar char="ü"/>
              <a:defRPr/>
            </a:pPr>
            <a:r>
              <a:rPr lang="en-US" sz="2400" dirty="0">
                <a:cs typeface="Times New Roman" pitchFamily="18" charset="0"/>
              </a:rPr>
              <a:t>It dissolves in the hydrocarbon core of the inner mitochondrial membrane. 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30000"/>
              </a:spcAft>
              <a:buFont typeface="Wingdings" pitchFamily="2" charset="2"/>
              <a:buChar char="v"/>
              <a:defRPr/>
            </a:pPr>
            <a:r>
              <a:rPr lang="en-US" sz="2400" dirty="0">
                <a:cs typeface="Times New Roman" pitchFamily="18" charset="0"/>
              </a:rPr>
              <a:t>It includes a long </a:t>
            </a:r>
            <a:r>
              <a:rPr lang="en-US" sz="2400" b="1" dirty="0" err="1">
                <a:solidFill>
                  <a:srgbClr val="000099"/>
                </a:solidFill>
                <a:cs typeface="Times New Roman" pitchFamily="18" charset="0"/>
              </a:rPr>
              <a:t>isoprenoid</a:t>
            </a:r>
            <a:r>
              <a:rPr lang="en-US" sz="2400" b="1" dirty="0">
                <a:solidFill>
                  <a:srgbClr val="000099"/>
                </a:solidFill>
                <a:cs typeface="Times New Roman" pitchFamily="18" charset="0"/>
              </a:rPr>
              <a:t> </a:t>
            </a:r>
            <a:r>
              <a:rPr lang="en-US" sz="2400" b="1" dirty="0">
                <a:solidFill>
                  <a:srgbClr val="000099"/>
                </a:solidFill>
              </a:rPr>
              <a:t>tail</a:t>
            </a:r>
            <a:r>
              <a:rPr lang="en-US" sz="2400" dirty="0"/>
              <a:t>, with multiple units having a carbon skeleton comparable to that of isoprene. </a:t>
            </a:r>
            <a:br>
              <a:rPr lang="en-US" sz="2400" dirty="0"/>
            </a:br>
            <a:r>
              <a:rPr lang="en-US" sz="2400" dirty="0"/>
              <a:t>In human cells, </a:t>
            </a:r>
            <a:r>
              <a:rPr lang="en-US" sz="2400" dirty="0">
                <a:cs typeface="Times New Roman" pitchFamily="18" charset="0"/>
              </a:rPr>
              <a:t>most often n = 10. </a:t>
            </a:r>
          </a:p>
        </p:txBody>
      </p:sp>
      <p:sp>
        <p:nvSpPr>
          <p:cNvPr id="12291" name="Rectangle 11">
            <a:extLst>
              <a:ext uri="{FF2B5EF4-FFF2-40B4-BE49-F238E27FC236}">
                <a16:creationId xmlns:a16="http://schemas.microsoft.com/office/drawing/2014/main" xmlns="" id="{7AA18171-E2FE-64EE-3790-648508B1D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146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2292" name="Rectangle 12">
            <a:extLst>
              <a:ext uri="{FF2B5EF4-FFF2-40B4-BE49-F238E27FC236}">
                <a16:creationId xmlns:a16="http://schemas.microsoft.com/office/drawing/2014/main" xmlns="" id="{C52F0756-DCA0-CBB8-80E4-170067E91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" y="5695950"/>
            <a:ext cx="859155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20000"/>
              </a:spcAft>
              <a:buFontTx/>
              <a:buNone/>
            </a:pPr>
            <a:endParaRPr lang="en-US" altLang="en-US" sz="2800">
              <a:cs typeface="Times New Roman" panose="02020603050405020304" pitchFamily="18" charset="0"/>
            </a:endParaRPr>
          </a:p>
        </p:txBody>
      </p:sp>
      <p:sp>
        <p:nvSpPr>
          <p:cNvPr id="12293" name="Rectangle 14">
            <a:extLst>
              <a:ext uri="{FF2B5EF4-FFF2-40B4-BE49-F238E27FC236}">
                <a16:creationId xmlns:a16="http://schemas.microsoft.com/office/drawing/2014/main" xmlns="" id="{C03327FC-BA10-B754-19D3-BB000D96D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717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graphicFrame>
        <p:nvGraphicFramePr>
          <p:cNvPr id="12294" name="Object 13">
            <a:extLst>
              <a:ext uri="{FF2B5EF4-FFF2-40B4-BE49-F238E27FC236}">
                <a16:creationId xmlns:a16="http://schemas.microsoft.com/office/drawing/2014/main" xmlns="" id="{9E64F9FD-F659-25C1-FE27-AE98760A00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7038" y="993775"/>
          <a:ext cx="5073650" cy="277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Picture" r:id="rId3" imgW="2400300" imgH="1315212" progId="Word.Picture.8">
                  <p:embed/>
                </p:oleObj>
              </mc:Choice>
              <mc:Fallback>
                <p:oleObj name="Picture" r:id="rId3" imgW="2400300" imgH="1315212" progId="Word.Picture.8">
                  <p:embed/>
                  <p:pic>
                    <p:nvPicPr>
                      <p:cNvPr id="12294" name="Object 13">
                        <a:extLst>
                          <a:ext uri="{FF2B5EF4-FFF2-40B4-BE49-F238E27FC236}">
                            <a16:creationId xmlns:a16="http://schemas.microsoft.com/office/drawing/2014/main" xmlns="" id="{9E64F9FD-F659-25C1-FE27-AE98760A00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38" y="993775"/>
                        <a:ext cx="5073650" cy="277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5" name="Rectangle 16">
            <a:extLst>
              <a:ext uri="{FF2B5EF4-FFF2-40B4-BE49-F238E27FC236}">
                <a16:creationId xmlns:a16="http://schemas.microsoft.com/office/drawing/2014/main" xmlns="" id="{DBBE2BA7-25B7-428E-1CDD-2D861E7A8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71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graphicFrame>
        <p:nvGraphicFramePr>
          <p:cNvPr id="12296" name="Object 15">
            <a:extLst>
              <a:ext uri="{FF2B5EF4-FFF2-40B4-BE49-F238E27FC236}">
                <a16:creationId xmlns:a16="http://schemas.microsoft.com/office/drawing/2014/main" xmlns="" id="{1F5C0714-19A1-959A-792D-9188BFAD8B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29313" y="1250950"/>
          <a:ext cx="2787650" cy="193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Picture" r:id="rId5" imgW="1313688" imgH="914400" progId="Word.Picture.8">
                  <p:embed/>
                </p:oleObj>
              </mc:Choice>
              <mc:Fallback>
                <p:oleObj name="Picture" r:id="rId5" imgW="1313688" imgH="914400" progId="Word.Picture.8">
                  <p:embed/>
                  <p:pic>
                    <p:nvPicPr>
                      <p:cNvPr id="12296" name="Object 15">
                        <a:extLst>
                          <a:ext uri="{FF2B5EF4-FFF2-40B4-BE49-F238E27FC236}">
                            <a16:creationId xmlns:a16="http://schemas.microsoft.com/office/drawing/2014/main" xmlns="" id="{1F5C0714-19A1-959A-792D-9188BFAD8B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313" y="1250950"/>
                        <a:ext cx="2787650" cy="193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" name="TextBox 8">
            <a:extLst>
              <a:ext uri="{FF2B5EF4-FFF2-40B4-BE49-F238E27FC236}">
                <a16:creationId xmlns:a16="http://schemas.microsoft.com/office/drawing/2014/main" xmlns="" id="{1C5652CB-48F1-38F3-F523-E730618DF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00" y="331788"/>
            <a:ext cx="49291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000099"/>
                </a:solidFill>
                <a:cs typeface="Times New Roman" panose="02020603050405020304" pitchFamily="18" charset="0"/>
              </a:rPr>
              <a:t>Coenzyme Q</a:t>
            </a:r>
            <a:r>
              <a:rPr lang="en-US" altLang="en-US" sz="2400">
                <a:cs typeface="Times New Roman" panose="02020603050405020304" pitchFamily="18" charset="0"/>
              </a:rPr>
              <a:t> (</a:t>
            </a:r>
            <a:r>
              <a:rPr lang="en-US" altLang="en-US" sz="2400" b="1">
                <a:cs typeface="Times New Roman" panose="02020603050405020304" pitchFamily="18" charset="0"/>
              </a:rPr>
              <a:t>Ubiquinone ,CoQ, Q</a:t>
            </a:r>
            <a:r>
              <a:rPr lang="en-US" altLang="en-US" sz="2400">
                <a:cs typeface="Times New Roman" panose="02020603050405020304" pitchFamily="18" charset="0"/>
              </a:rPr>
              <a:t>) </a:t>
            </a:r>
            <a:endParaRPr lang="en-GB" altLang="en-US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xmlns="" id="{AECDD6F9-22A9-1842-5B64-8162E43DD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463550"/>
            <a:ext cx="3906837" cy="577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32DAD9A5-7139-7505-011E-22A8C51C0B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54063"/>
            <a:ext cx="4081462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defRPr/>
            </a:pPr>
            <a:r>
              <a:rPr lang="en-GB" dirty="0" err="1"/>
              <a:t>Ubiquinone</a:t>
            </a:r>
            <a:r>
              <a:rPr lang="en-GB" dirty="0"/>
              <a:t> can accept one electron to become the </a:t>
            </a:r>
            <a:r>
              <a:rPr lang="en-GB" dirty="0" err="1"/>
              <a:t>semiquinone</a:t>
            </a:r>
            <a:r>
              <a:rPr lang="en-GB" dirty="0"/>
              <a:t> radical (</a:t>
            </a:r>
            <a:r>
              <a:rPr lang="en-GB" dirty="0">
                <a:latin typeface="Times New Roman"/>
                <a:cs typeface="Times New Roman"/>
              </a:rPr>
              <a:t>∙</a:t>
            </a:r>
            <a:r>
              <a:rPr lang="en-GB" dirty="0"/>
              <a:t>QH) or two electrons to form </a:t>
            </a:r>
            <a:r>
              <a:rPr lang="en-GB" dirty="0" err="1"/>
              <a:t>ubiquinol</a:t>
            </a:r>
            <a:r>
              <a:rPr lang="en-GB" dirty="0"/>
              <a:t> (QH2) </a:t>
            </a:r>
            <a:r>
              <a:rPr lang="en-US" kern="0" dirty="0">
                <a:latin typeface="+mn-lt"/>
              </a:rPr>
              <a:t>: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xmlns="" id="{F41A1A08-6124-2B90-1920-9013268E6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3" y="3695700"/>
            <a:ext cx="4121150" cy="1366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Aft>
                <a:spcPct val="40000"/>
              </a:spcAft>
              <a:defRPr/>
            </a:pPr>
            <a:r>
              <a:rPr lang="en-US" b="1" kern="0" dirty="0">
                <a:solidFill>
                  <a:srgbClr val="000099"/>
                </a:solidFill>
                <a:latin typeface="+mn-lt"/>
                <a:cs typeface="Times New Roman" pitchFamily="18" charset="0"/>
              </a:rPr>
              <a:t>Coenzyme Q</a:t>
            </a:r>
            <a:r>
              <a:rPr lang="en-US" kern="0" dirty="0">
                <a:latin typeface="+mn-lt"/>
                <a:cs typeface="Times New Roman" pitchFamily="18" charset="0"/>
              </a:rPr>
              <a:t> functions as a mobile e</a:t>
            </a:r>
            <a:r>
              <a:rPr lang="en-US" kern="0" baseline="30000" dirty="0">
                <a:latin typeface="Symbol" pitchFamily="18" charset="2"/>
                <a:cs typeface="Times New Roman" pitchFamily="18" charset="0"/>
              </a:rPr>
              <a:t>-</a:t>
            </a:r>
            <a:r>
              <a:rPr lang="en-US" kern="0" dirty="0">
                <a:latin typeface="+mn-lt"/>
                <a:cs typeface="Times New Roman" pitchFamily="18" charset="0"/>
              </a:rPr>
              <a:t> carrier within the mitochondrial inner membrane.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6">
            <a:extLst>
              <a:ext uri="{FF2B5EF4-FFF2-40B4-BE49-F238E27FC236}">
                <a16:creationId xmlns:a16="http://schemas.microsoft.com/office/drawing/2014/main" xmlns="" id="{ADACA4EF-CF4D-2915-7E5D-23B78D999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39" name="Rectangle 8">
            <a:extLst>
              <a:ext uri="{FF2B5EF4-FFF2-40B4-BE49-F238E27FC236}">
                <a16:creationId xmlns:a16="http://schemas.microsoft.com/office/drawing/2014/main" xmlns="" id="{F1EB85EB-27CA-E50E-2D4D-3C0D770B8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125" y="2624138"/>
            <a:ext cx="4572000" cy="396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95000"/>
              </a:lnSpc>
              <a:spcBef>
                <a:spcPct val="0"/>
              </a:spcBef>
              <a:spcAft>
                <a:spcPct val="5000"/>
              </a:spcAft>
              <a:buFont typeface="Wingdings" panose="05000000000000000000" pitchFamily="2" charset="2"/>
              <a:buChar char="v"/>
            </a:pPr>
            <a:r>
              <a:rPr lang="en-US" altLang="en-US" sz="2000" b="1">
                <a:cs typeface="Times New Roman" panose="02020603050405020304" pitchFamily="18" charset="0"/>
              </a:rPr>
              <a:t>The Heme</a:t>
            </a:r>
            <a:r>
              <a:rPr lang="en-US" altLang="en-US" sz="2000">
                <a:cs typeface="Times New Roman" panose="02020603050405020304" pitchFamily="18" charset="0"/>
              </a:rPr>
              <a:t> prosthetic group of </a:t>
            </a:r>
            <a:r>
              <a:rPr lang="en-US" altLang="en-US" sz="2000" b="1">
                <a:solidFill>
                  <a:srgbClr val="000099"/>
                </a:solidFill>
                <a:cs typeface="Times New Roman" panose="02020603050405020304" pitchFamily="18" charset="0"/>
              </a:rPr>
              <a:t>cytochromes</a:t>
            </a:r>
            <a:r>
              <a:rPr lang="en-US" altLang="en-US" sz="2000">
                <a:cs typeface="Times New Roman" panose="02020603050405020304" pitchFamily="18" charset="0"/>
              </a:rPr>
              <a:t>contains an iron atom in a porphyrin ring system. </a:t>
            </a:r>
          </a:p>
          <a:p>
            <a:pPr algn="just">
              <a:lnSpc>
                <a:spcPct val="95000"/>
              </a:lnSpc>
              <a:spcBef>
                <a:spcPct val="0"/>
              </a:spcBef>
              <a:spcAft>
                <a:spcPct val="5000"/>
              </a:spcAft>
              <a:buFontTx/>
              <a:buNone/>
            </a:pPr>
            <a:endParaRPr lang="en-US" altLang="en-US" sz="2000">
              <a:cs typeface="Times New Roman" panose="02020603050405020304" pitchFamily="18" charset="0"/>
            </a:endParaRPr>
          </a:p>
          <a:p>
            <a:pPr algn="just">
              <a:lnSpc>
                <a:spcPct val="95000"/>
              </a:lnSpc>
              <a:spcBef>
                <a:spcPct val="0"/>
              </a:spcBef>
              <a:spcAft>
                <a:spcPct val="5000"/>
              </a:spcAft>
              <a:buFont typeface="Wingdings" panose="05000000000000000000" pitchFamily="2" charset="2"/>
              <a:buChar char="v"/>
            </a:pPr>
            <a:r>
              <a:rPr lang="en-US" altLang="en-US" sz="2000">
                <a:cs typeface="Times New Roman" panose="02020603050405020304" pitchFamily="18" charset="0"/>
              </a:rPr>
              <a:t>The </a:t>
            </a:r>
            <a:r>
              <a:rPr lang="en-US" altLang="en-US" sz="2000" b="1">
                <a:cs typeface="Times New Roman" panose="02020603050405020304" pitchFamily="18" charset="0"/>
              </a:rPr>
              <a:t>Fe</a:t>
            </a:r>
            <a:r>
              <a:rPr lang="en-US" altLang="en-US" sz="2000">
                <a:cs typeface="Times New Roman" panose="02020603050405020304" pitchFamily="18" charset="0"/>
              </a:rPr>
              <a:t> is bonded to 4 </a:t>
            </a:r>
            <a:r>
              <a:rPr lang="en-US" altLang="en-US" sz="2000" b="1">
                <a:solidFill>
                  <a:srgbClr val="0000FF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000">
                <a:cs typeface="Times New Roman" panose="02020603050405020304" pitchFamily="18" charset="0"/>
              </a:rPr>
              <a:t> atoms of the porphyrin ring.</a:t>
            </a:r>
          </a:p>
          <a:p>
            <a:pPr algn="just">
              <a:lnSpc>
                <a:spcPct val="95000"/>
              </a:lnSpc>
              <a:spcBef>
                <a:spcPct val="0"/>
              </a:spcBef>
              <a:spcAft>
                <a:spcPct val="5000"/>
              </a:spcAft>
              <a:buFontTx/>
              <a:buNone/>
            </a:pPr>
            <a:endParaRPr lang="en-US" altLang="en-US" sz="2000">
              <a:cs typeface="Times New Roman" panose="02020603050405020304" pitchFamily="18" charset="0"/>
            </a:endParaRPr>
          </a:p>
          <a:p>
            <a:pPr algn="just">
              <a:lnSpc>
                <a:spcPct val="95000"/>
              </a:lnSpc>
              <a:spcBef>
                <a:spcPct val="0"/>
              </a:spcBef>
              <a:spcAft>
                <a:spcPct val="5000"/>
              </a:spcAft>
              <a:buFont typeface="Wingdings" panose="05000000000000000000" pitchFamily="2" charset="2"/>
              <a:buChar char="v"/>
            </a:pPr>
            <a:r>
              <a:rPr lang="en-US" altLang="en-US" sz="2000">
                <a:cs typeface="Times New Roman" panose="02020603050405020304" pitchFamily="18" charset="0"/>
              </a:rPr>
              <a:t>The iron participates in redox reactions and oscillates between Fe</a:t>
            </a:r>
            <a:r>
              <a:rPr lang="en-US" altLang="en-US" sz="2000" baseline="30000">
                <a:cs typeface="Times New Roman" panose="02020603050405020304" pitchFamily="18" charset="0"/>
              </a:rPr>
              <a:t>2+ </a:t>
            </a:r>
            <a:r>
              <a:rPr lang="en-US" altLang="en-US" sz="2000">
                <a:cs typeface="Times New Roman" panose="02020603050405020304" pitchFamily="18" charset="0"/>
              </a:rPr>
              <a:t>and Fe</a:t>
            </a:r>
            <a:r>
              <a:rPr lang="en-US" altLang="en-US" sz="2000" baseline="30000">
                <a:cs typeface="Times New Roman" panose="02020603050405020304" pitchFamily="18" charset="0"/>
              </a:rPr>
              <a:t>3+ </a:t>
            </a:r>
            <a:r>
              <a:rPr lang="en-US" altLang="en-US" sz="2000">
                <a:cs typeface="Times New Roman" panose="02020603050405020304" pitchFamily="18" charset="0"/>
              </a:rPr>
              <a:t>states.</a:t>
            </a:r>
          </a:p>
          <a:p>
            <a:pPr algn="just">
              <a:lnSpc>
                <a:spcPct val="95000"/>
              </a:lnSpc>
              <a:spcBef>
                <a:spcPct val="0"/>
              </a:spcBef>
              <a:spcAft>
                <a:spcPct val="5000"/>
              </a:spcAft>
              <a:buFontTx/>
              <a:buNone/>
            </a:pPr>
            <a:endParaRPr lang="en-US" altLang="en-US" sz="2000">
              <a:cs typeface="Times New Roman" panose="02020603050405020304" pitchFamily="18" charset="0"/>
            </a:endParaRPr>
          </a:p>
          <a:p>
            <a:pPr algn="just">
              <a:lnSpc>
                <a:spcPct val="95000"/>
              </a:lnSpc>
              <a:spcBef>
                <a:spcPct val="0"/>
              </a:spcBef>
              <a:spcAft>
                <a:spcPct val="5000"/>
              </a:spcAft>
              <a:buFont typeface="Wingdings" panose="05000000000000000000" pitchFamily="2" charset="2"/>
              <a:buChar char="v"/>
            </a:pPr>
            <a:r>
              <a:rPr lang="en-US" altLang="en-US" sz="2000"/>
              <a:t>Hemes in the 3 classes of cytochrome (</a:t>
            </a:r>
            <a:r>
              <a:rPr lang="en-US" altLang="en-US" sz="2000" b="1">
                <a:solidFill>
                  <a:srgbClr val="000099"/>
                </a:solidFill>
              </a:rPr>
              <a:t>a</a:t>
            </a:r>
            <a:r>
              <a:rPr lang="en-US" altLang="en-US" sz="2000"/>
              <a:t>, </a:t>
            </a:r>
            <a:r>
              <a:rPr lang="en-US" altLang="en-US" sz="2000" b="1">
                <a:solidFill>
                  <a:srgbClr val="000099"/>
                </a:solidFill>
              </a:rPr>
              <a:t>b</a:t>
            </a:r>
            <a:r>
              <a:rPr lang="en-US" altLang="en-US" sz="2000"/>
              <a:t>, </a:t>
            </a:r>
            <a:r>
              <a:rPr lang="en-US" altLang="en-US" sz="2000" b="1">
                <a:solidFill>
                  <a:srgbClr val="000099"/>
                </a:solidFill>
              </a:rPr>
              <a:t>c</a:t>
            </a:r>
            <a:r>
              <a:rPr lang="en-US" altLang="en-US" sz="2000"/>
              <a:t>) differ slightly in substituents on the porphyrin ring system</a:t>
            </a:r>
            <a:endParaRPr lang="en-US" altLang="en-US" sz="2000">
              <a:cs typeface="Times New Roman" panose="02020603050405020304" pitchFamily="18" charset="0"/>
            </a:endParaRPr>
          </a:p>
          <a:p>
            <a:pPr algn="just">
              <a:lnSpc>
                <a:spcPct val="95000"/>
              </a:lnSpc>
              <a:spcBef>
                <a:spcPct val="0"/>
              </a:spcBef>
              <a:spcAft>
                <a:spcPct val="5000"/>
              </a:spcAft>
              <a:buFont typeface="Wingdings" panose="05000000000000000000" pitchFamily="2" charset="2"/>
              <a:buChar char="v"/>
            </a:pPr>
            <a:endParaRPr lang="en-US" altLang="en-US" sz="2400">
              <a:cs typeface="Times New Roman" panose="02020603050405020304" pitchFamily="18" charset="0"/>
            </a:endParaRPr>
          </a:p>
        </p:txBody>
      </p:sp>
      <p:sp>
        <p:nvSpPr>
          <p:cNvPr id="14340" name="Rectangle 10">
            <a:extLst>
              <a:ext uri="{FF2B5EF4-FFF2-40B4-BE49-F238E27FC236}">
                <a16:creationId xmlns:a16="http://schemas.microsoft.com/office/drawing/2014/main" xmlns="" id="{BCFF40D5-BE43-EF66-39EF-8613C33D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41" name="Rectangle 13">
            <a:extLst>
              <a:ext uri="{FF2B5EF4-FFF2-40B4-BE49-F238E27FC236}">
                <a16:creationId xmlns:a16="http://schemas.microsoft.com/office/drawing/2014/main" xmlns="" id="{7BC875FE-7F70-F27F-D8D6-816E114CD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114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42" name="Text Box 14">
            <a:extLst>
              <a:ext uri="{FF2B5EF4-FFF2-40B4-BE49-F238E27FC236}">
                <a16:creationId xmlns:a16="http://schemas.microsoft.com/office/drawing/2014/main" xmlns="" id="{84078C10-0F4B-70F2-4E8E-CBDE7D5EE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428625"/>
            <a:ext cx="1531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en-US" altLang="en-US" sz="2400"/>
              <a:t> </a:t>
            </a:r>
            <a:endParaRPr lang="en-US" altLang="en-US" sz="2800"/>
          </a:p>
        </p:txBody>
      </p:sp>
      <p:sp>
        <p:nvSpPr>
          <p:cNvPr id="14343" name="TextBox 7">
            <a:extLst>
              <a:ext uri="{FF2B5EF4-FFF2-40B4-BE49-F238E27FC236}">
                <a16:creationId xmlns:a16="http://schemas.microsoft.com/office/drawing/2014/main" xmlns="" id="{0625BF1D-9FE1-700A-239F-5534B8872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119063"/>
            <a:ext cx="1924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000099"/>
                </a:solidFill>
                <a:cs typeface="Times New Roman" panose="02020603050405020304" pitchFamily="18" charset="0"/>
              </a:rPr>
              <a:t>Cytochromes</a:t>
            </a:r>
            <a:endParaRPr lang="en-GB" altLang="en-US" sz="2400"/>
          </a:p>
        </p:txBody>
      </p:sp>
      <p:sp>
        <p:nvSpPr>
          <p:cNvPr id="14344" name="TextBox 8">
            <a:extLst>
              <a:ext uri="{FF2B5EF4-FFF2-40B4-BE49-F238E27FC236}">
                <a16:creationId xmlns:a16="http://schemas.microsoft.com/office/drawing/2014/main" xmlns="" id="{9AF899B3-E39F-6B4E-9F7E-BC1D267EE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676275"/>
            <a:ext cx="869315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GB" altLang="en-US" sz="2400"/>
              <a:t>The </a:t>
            </a:r>
            <a:r>
              <a:rPr lang="en-GB" altLang="en-US" sz="2400" b="1"/>
              <a:t>cytochromes are proteins with characteristic </a:t>
            </a:r>
            <a:r>
              <a:rPr lang="en-GB" altLang="en-US" sz="2400"/>
              <a:t>strong absorption of visible light, due to their iron containing </a:t>
            </a:r>
            <a:r>
              <a:rPr lang="en-GB" altLang="en-US" sz="2400" b="1">
                <a:solidFill>
                  <a:srgbClr val="0000FF"/>
                </a:solidFill>
              </a:rPr>
              <a:t>heme prosthetic groups</a:t>
            </a:r>
            <a:r>
              <a:rPr lang="en-GB" altLang="en-US" sz="2400"/>
              <a:t>. </a:t>
            </a:r>
          </a:p>
          <a:p>
            <a:pPr algn="just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GB" altLang="en-US" sz="2400"/>
              <a:t>Three types exists: Cytochrome a,b and c. </a:t>
            </a:r>
          </a:p>
          <a:p>
            <a:pPr algn="just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GB" altLang="en-US" sz="2400"/>
              <a:t>Are distinguished by differences in their light-absorption spectra.</a:t>
            </a:r>
          </a:p>
        </p:txBody>
      </p:sp>
      <p:pic>
        <p:nvPicPr>
          <p:cNvPr id="14345" name="Picture 8">
            <a:extLst>
              <a:ext uri="{FF2B5EF4-FFF2-40B4-BE49-F238E27FC236}">
                <a16:creationId xmlns:a16="http://schemas.microsoft.com/office/drawing/2014/main" xmlns="" id="{CF41ACE9-7496-49B2-C6A8-CC5FAB076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25" y="2611438"/>
            <a:ext cx="3975100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5">
            <a:extLst>
              <a:ext uri="{FF2B5EF4-FFF2-40B4-BE49-F238E27FC236}">
                <a16:creationId xmlns:a16="http://schemas.microsoft.com/office/drawing/2014/main" xmlns="" id="{B9F09171-AAA9-309E-8EBD-52956E0FF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5875"/>
            <a:ext cx="6038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chemeClr val="accent2"/>
                </a:solidFill>
                <a:latin typeface="Comic Sans MS" panose="030F0702030302020204" pitchFamily="66" charset="0"/>
              </a:rPr>
              <a:t>Prosthetic groups of cytochromes</a:t>
            </a:r>
          </a:p>
        </p:txBody>
      </p:sp>
      <p:sp>
        <p:nvSpPr>
          <p:cNvPr id="15363" name="Rectangle 7">
            <a:extLst>
              <a:ext uri="{FF2B5EF4-FFF2-40B4-BE49-F238E27FC236}">
                <a16:creationId xmlns:a16="http://schemas.microsoft.com/office/drawing/2014/main" xmlns="" id="{51CF865B-7597-1099-8FBC-C30E0FBCD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23863"/>
            <a:ext cx="723900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rgbClr val="F9939F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F9939F"/>
                </a:solidFill>
                <a:latin typeface="Arial" panose="020B0604020202020204" pitchFamily="34" charset="0"/>
              </a:rPr>
              <a:t>Heme  is a prosthetic group of </a:t>
            </a:r>
            <a:r>
              <a:rPr lang="en-US" altLang="en-US" sz="2000" b="1">
                <a:solidFill>
                  <a:srgbClr val="F9939F"/>
                </a:solidFill>
                <a:latin typeface="Arial" panose="020B0604020202020204" pitchFamily="34" charset="0"/>
              </a:rPr>
              <a:t>cytochromes</a:t>
            </a:r>
            <a:r>
              <a:rPr lang="en-US" altLang="en-US" sz="2000">
                <a:solidFill>
                  <a:srgbClr val="F9939F"/>
                </a:solidFill>
                <a:latin typeface="Arial" panose="020B0604020202020204" pitchFamily="34" charset="0"/>
              </a:rPr>
              <a:t> </a:t>
            </a:r>
          </a:p>
          <a:p>
            <a:pPr>
              <a:spcBef>
                <a:spcPct val="0"/>
              </a:spcBef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altLang="en-US" sz="2000">
                <a:solidFill>
                  <a:srgbClr val="F9939F"/>
                </a:solidFill>
                <a:latin typeface="Arial" panose="020B0604020202020204" pitchFamily="34" charset="0"/>
              </a:rPr>
              <a:t> Mitochondria has 3 classes of cytochromes,designated </a:t>
            </a:r>
            <a:r>
              <a:rPr lang="en-US" altLang="en-US" sz="2000" i="1">
                <a:solidFill>
                  <a:srgbClr val="F9939F"/>
                </a:solidFill>
                <a:latin typeface="Arial" panose="020B0604020202020204" pitchFamily="34" charset="0"/>
              </a:rPr>
              <a:t>a</a:t>
            </a:r>
            <a:r>
              <a:rPr lang="en-US" altLang="en-US" sz="2000">
                <a:solidFill>
                  <a:srgbClr val="F9939F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000" i="1">
                <a:solidFill>
                  <a:srgbClr val="F9939F"/>
                </a:solidFill>
                <a:latin typeface="Arial" panose="020B0604020202020204" pitchFamily="34" charset="0"/>
              </a:rPr>
              <a:t>b</a:t>
            </a:r>
            <a:r>
              <a:rPr lang="en-US" altLang="en-US" sz="2000">
                <a:solidFill>
                  <a:srgbClr val="F9939F"/>
                </a:solidFill>
                <a:latin typeface="Arial" panose="020B0604020202020204" pitchFamily="34" charset="0"/>
              </a:rPr>
              <a:t>, and </a:t>
            </a:r>
            <a:r>
              <a:rPr lang="en-US" altLang="en-US" sz="2000" i="1">
                <a:solidFill>
                  <a:srgbClr val="F9939F"/>
                </a:solidFill>
                <a:latin typeface="Arial" panose="020B0604020202020204" pitchFamily="34" charset="0"/>
              </a:rPr>
              <a:t>c</a:t>
            </a:r>
          </a:p>
        </p:txBody>
      </p:sp>
      <p:pic>
        <p:nvPicPr>
          <p:cNvPr id="15364" name="Picture 4">
            <a:extLst>
              <a:ext uri="{FF2B5EF4-FFF2-40B4-BE49-F238E27FC236}">
                <a16:creationId xmlns:a16="http://schemas.microsoft.com/office/drawing/2014/main" xmlns="" id="{C214D036-0401-E102-A0E0-332492837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1431925"/>
            <a:ext cx="9069388" cy="533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Text Box 9">
            <a:extLst>
              <a:ext uri="{FF2B5EF4-FFF2-40B4-BE49-F238E27FC236}">
                <a16:creationId xmlns:a16="http://schemas.microsoft.com/office/drawing/2014/main" xmlns="" id="{00A5A7B3-3668-8EE4-8138-4CFB84780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609975"/>
            <a:ext cx="1577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9999FF"/>
                </a:solidFill>
                <a:latin typeface="Monotype Corsiva" panose="03010101010201010101" pitchFamily="66" charset="0"/>
              </a:rPr>
              <a:t>Found in </a:t>
            </a:r>
            <a:r>
              <a:rPr lang="en-US" altLang="en-US" sz="2400">
                <a:solidFill>
                  <a:srgbClr val="FF0000"/>
                </a:solidFill>
                <a:latin typeface="Monotype Corsiva" panose="03010101010201010101" pitchFamily="66" charset="0"/>
              </a:rPr>
              <a:t>Hb</a:t>
            </a:r>
          </a:p>
        </p:txBody>
      </p:sp>
      <p:sp>
        <p:nvSpPr>
          <p:cNvPr id="15366" name="Line 8">
            <a:extLst>
              <a:ext uri="{FF2B5EF4-FFF2-40B4-BE49-F238E27FC236}">
                <a16:creationId xmlns:a16="http://schemas.microsoft.com/office/drawing/2014/main" xmlns="" id="{F4A79CF2-C7EF-522C-F512-30C3B80BE7A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5525" y="3859213"/>
            <a:ext cx="381000" cy="0"/>
          </a:xfrm>
          <a:prstGeom prst="line">
            <a:avLst/>
          </a:prstGeom>
          <a:noFill/>
          <a:ln w="28575">
            <a:solidFill>
              <a:srgbClr val="99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7" name="Rectangle 6">
            <a:extLst>
              <a:ext uri="{FF2B5EF4-FFF2-40B4-BE49-F238E27FC236}">
                <a16:creationId xmlns:a16="http://schemas.microsoft.com/office/drawing/2014/main" xmlns="" id="{BDB73C8D-31DB-C467-C200-A976CFD92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9413" y="4775200"/>
            <a:ext cx="3581400" cy="1714500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6699"/>
                </a:solidFill>
                <a:latin typeface="Arial" panose="020B0604020202020204" pitchFamily="34" charset="0"/>
              </a:rPr>
              <a:t>The heme iron atom can undergo a 1 electron transition between ferric and ferrous states:  </a:t>
            </a:r>
            <a:r>
              <a:rPr lang="en-US" altLang="en-US" sz="2000" b="1">
                <a:solidFill>
                  <a:srgbClr val="006699"/>
                </a:solidFill>
                <a:latin typeface="Arial" panose="020B0604020202020204" pitchFamily="34" charset="0"/>
              </a:rPr>
              <a:t/>
            </a:r>
            <a:br>
              <a:rPr lang="en-US" altLang="en-US" sz="2000" b="1">
                <a:solidFill>
                  <a:srgbClr val="006699"/>
                </a:solidFill>
                <a:latin typeface="Arial" panose="020B0604020202020204" pitchFamily="34" charset="0"/>
              </a:rPr>
            </a:br>
            <a:r>
              <a:rPr lang="en-US" altLang="en-US" sz="2400" b="1">
                <a:solidFill>
                  <a:srgbClr val="006699"/>
                </a:solidFill>
                <a:latin typeface="Arial" panose="020B0604020202020204" pitchFamily="34" charset="0"/>
              </a:rPr>
              <a:t>     Fe</a:t>
            </a:r>
            <a:r>
              <a:rPr lang="en-US" altLang="en-US" sz="2400" b="1" baseline="30000">
                <a:solidFill>
                  <a:srgbClr val="006699"/>
                </a:solidFill>
                <a:latin typeface="Arial" panose="020B0604020202020204" pitchFamily="34" charset="0"/>
              </a:rPr>
              <a:t>3+</a:t>
            </a:r>
            <a:r>
              <a:rPr lang="en-US" altLang="en-US" sz="2400" b="1">
                <a:solidFill>
                  <a:srgbClr val="006699"/>
                </a:solidFill>
                <a:latin typeface="Arial" panose="020B0604020202020204" pitchFamily="34" charset="0"/>
              </a:rPr>
              <a:t> + e</a:t>
            </a:r>
            <a:r>
              <a:rPr lang="en-US" altLang="en-US" sz="2400" b="1" baseline="30000">
                <a:solidFill>
                  <a:srgbClr val="006699"/>
                </a:solidFill>
                <a:latin typeface="Arial" panose="020B0604020202020204" pitchFamily="34" charset="0"/>
              </a:rPr>
              <a:t>-</a:t>
            </a:r>
            <a:r>
              <a:rPr lang="en-US" altLang="en-US" sz="2400" b="1">
                <a:solidFill>
                  <a:srgbClr val="006699"/>
                </a:solidFill>
                <a:latin typeface="Arial" panose="020B0604020202020204" pitchFamily="34" charset="0"/>
              </a:rPr>
              <a:t> &lt;--&gt; Fe</a:t>
            </a:r>
            <a:r>
              <a:rPr lang="en-US" altLang="en-US" sz="2400" b="1" baseline="30000">
                <a:solidFill>
                  <a:srgbClr val="006699"/>
                </a:solidFill>
                <a:latin typeface="Arial" panose="020B0604020202020204" pitchFamily="34" charset="0"/>
              </a:rPr>
              <a:t>2+</a:t>
            </a:r>
            <a:r>
              <a:rPr lang="en-US" altLang="en-US" sz="2400" b="1">
                <a:solidFill>
                  <a:srgbClr val="006699"/>
                </a:solidFill>
                <a:latin typeface="Arial" panose="020B0604020202020204" pitchFamily="34" charset="0"/>
              </a:rPr>
              <a:t> 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xmlns="" id="{DDA46461-2C37-8B3D-E7AE-85D9E7225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xmlns="" id="{2BD48084-DE87-6212-B991-55EF9AB27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" y="4951413"/>
            <a:ext cx="8812213" cy="144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ct val="10000"/>
              </a:spcAft>
              <a:buFontTx/>
              <a:buNone/>
            </a:pPr>
            <a:r>
              <a:rPr lang="en-US" altLang="en-US" sz="2600"/>
              <a:t>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10000"/>
              </a:spcAft>
              <a:buFont typeface="Wingdings" panose="05000000000000000000" pitchFamily="2" charset="2"/>
              <a:buChar char="v"/>
            </a:pPr>
            <a:r>
              <a:rPr lang="en-US" altLang="en-US" sz="2600"/>
              <a:t>Only </a:t>
            </a:r>
            <a:r>
              <a:rPr lang="en-US" altLang="en-US" sz="2600" b="1">
                <a:solidFill>
                  <a:srgbClr val="000099"/>
                </a:solidFill>
              </a:rPr>
              <a:t>heme c</a:t>
            </a:r>
            <a:r>
              <a:rPr lang="en-US" altLang="en-US" sz="2600"/>
              <a:t> is covalently linked to the protein via thioether bonds to </a:t>
            </a:r>
            <a:r>
              <a:rPr lang="en-US" altLang="en-US" sz="2600" b="1">
                <a:solidFill>
                  <a:schemeClr val="hlink"/>
                </a:solidFill>
              </a:rPr>
              <a:t>cysteine</a:t>
            </a:r>
            <a:r>
              <a:rPr lang="en-US" altLang="en-US" sz="2600"/>
              <a:t> residues. 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xmlns="" id="{D11BDDF7-F9A4-F842-747F-7EB5E35D8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xmlns="" id="{23A20034-D1A2-22C8-9BCC-064CCEC9B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114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pic>
        <p:nvPicPr>
          <p:cNvPr id="16390" name="Picture 7">
            <a:extLst>
              <a:ext uri="{FF2B5EF4-FFF2-40B4-BE49-F238E27FC236}">
                <a16:creationId xmlns:a16="http://schemas.microsoft.com/office/drawing/2014/main" xmlns="" id="{A9DFAE06-ED6C-11E3-431E-5495BE723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563" y="371475"/>
            <a:ext cx="6426200" cy="429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xmlns="" id="{A3E4C303-C570-8663-54B4-4AD8F0CE5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xmlns="" id="{6D62660F-A5B4-CD49-10DE-064D136DB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4929188"/>
            <a:ext cx="8248650" cy="139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5000"/>
              </a:lnSpc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en-US" altLang="en-US" sz="2800" b="1">
                <a:solidFill>
                  <a:srgbClr val="000099"/>
                </a:solidFill>
              </a:rPr>
              <a:t>Heme a</a:t>
            </a:r>
            <a:r>
              <a:rPr lang="en-US" altLang="en-US" sz="2800"/>
              <a:t> is unique in having a long farnesyl side-chain that includes 3 isoprenoid units. </a:t>
            </a:r>
          </a:p>
          <a:p>
            <a:pPr>
              <a:lnSpc>
                <a:spcPct val="95000"/>
              </a:lnSpc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en-US" altLang="en-US" sz="2800" b="1"/>
              <a:t>Note: </a:t>
            </a:r>
            <a:r>
              <a:rPr lang="en-US" altLang="en-US" sz="2800"/>
              <a:t>A common feature is 2 propionate side-chains.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xmlns="" id="{2E76CFB6-EF21-2485-AE7D-AE9290AEC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xmlns="" id="{179031D9-F38C-C46E-F124-4795F3289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114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14" name="Rectangle 8">
            <a:extLst>
              <a:ext uri="{FF2B5EF4-FFF2-40B4-BE49-F238E27FC236}">
                <a16:creationId xmlns:a16="http://schemas.microsoft.com/office/drawing/2014/main" xmlns="" id="{3E114246-D70F-4931-2BAA-927282BBD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00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pic>
        <p:nvPicPr>
          <p:cNvPr id="17415" name="Picture 8">
            <a:extLst>
              <a:ext uri="{FF2B5EF4-FFF2-40B4-BE49-F238E27FC236}">
                <a16:creationId xmlns:a16="http://schemas.microsoft.com/office/drawing/2014/main" xmlns="" id="{D1729EE6-4608-F1B4-751C-40AD041AE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8" y="676275"/>
            <a:ext cx="7302500" cy="398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>
            <a:extLst>
              <a:ext uri="{FF2B5EF4-FFF2-40B4-BE49-F238E27FC236}">
                <a16:creationId xmlns:a16="http://schemas.microsoft.com/office/drawing/2014/main" xmlns="" id="{4EC621B7-1C9D-7D23-BD8C-265C6CB1F3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7488" y="428625"/>
            <a:ext cx="8648700" cy="5640388"/>
          </a:xfrm>
        </p:spPr>
        <p:txBody>
          <a:bodyPr/>
          <a:lstStyle/>
          <a:p>
            <a:pPr marL="0" indent="0" algn="just">
              <a:lnSpc>
                <a:spcPct val="95000"/>
              </a:lnSpc>
              <a:spcBef>
                <a:spcPct val="0"/>
              </a:spcBef>
              <a:spcAft>
                <a:spcPct val="50000"/>
              </a:spcAft>
              <a:buFontTx/>
              <a:buNone/>
            </a:pPr>
            <a:r>
              <a:rPr lang="en-US" altLang="en-US" sz="2800" b="1">
                <a:solidFill>
                  <a:schemeClr val="hlink"/>
                </a:solidFill>
                <a:cs typeface="Times New Roman" panose="02020603050405020304" pitchFamily="18" charset="0"/>
              </a:rPr>
              <a:t>Cytochromes</a:t>
            </a:r>
            <a:r>
              <a:rPr lang="en-US" altLang="en-US" sz="2800" b="1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>
                <a:cs typeface="Times New Roman" panose="02020603050405020304" pitchFamily="18" charset="0"/>
              </a:rPr>
              <a:t>are proteins with heme prosthetic groups. They absorb light at characteristic wavelengths. </a:t>
            </a:r>
          </a:p>
          <a:p>
            <a:pPr marL="0" indent="0" algn="just">
              <a:lnSpc>
                <a:spcPct val="95000"/>
              </a:lnSpc>
              <a:spcBef>
                <a:spcPct val="0"/>
              </a:spcBef>
              <a:spcAft>
                <a:spcPct val="50000"/>
              </a:spcAft>
              <a:buFontTx/>
              <a:buNone/>
            </a:pP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Absorbance changes</a:t>
            </a:r>
            <a:r>
              <a:rPr lang="en-US" altLang="en-US" sz="2800">
                <a:cs typeface="Times New Roman" panose="02020603050405020304" pitchFamily="18" charset="0"/>
              </a:rPr>
              <a:t> upon oxidation/reduction of the heme iron provide a basis for monitoring heme redox state.</a:t>
            </a:r>
          </a:p>
          <a:p>
            <a:pPr marL="457200" lvl="1" indent="-342900" algn="just">
              <a:lnSpc>
                <a:spcPct val="95000"/>
              </a:lnSpc>
              <a:spcBef>
                <a:spcPct val="0"/>
              </a:spcBef>
              <a:spcAft>
                <a:spcPct val="30000"/>
              </a:spcAft>
              <a:buClr>
                <a:schemeClr val="hlink"/>
              </a:buClr>
              <a:buFont typeface="Wingdings" panose="05000000000000000000" pitchFamily="2" charset="2"/>
              <a:buChar char="w"/>
            </a:pPr>
            <a:r>
              <a:rPr lang="en-US" altLang="en-US">
                <a:cs typeface="Times New Roman" panose="02020603050405020304" pitchFamily="18" charset="0"/>
              </a:rPr>
              <a:t>Some cytochromes are part of large integral </a:t>
            </a:r>
            <a:r>
              <a:rPr lang="en-US" altLang="en-US" b="1">
                <a:solidFill>
                  <a:srgbClr val="000099"/>
                </a:solidFill>
                <a:cs typeface="Times New Roman" panose="02020603050405020304" pitchFamily="18" charset="0"/>
              </a:rPr>
              <a:t>membrane</a:t>
            </a:r>
            <a:r>
              <a:rPr lang="en-US" altLang="en-US">
                <a:cs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rgbClr val="000099"/>
                </a:solidFill>
                <a:cs typeface="Times New Roman" panose="02020603050405020304" pitchFamily="18" charset="0"/>
              </a:rPr>
              <a:t>complexes</a:t>
            </a:r>
            <a:r>
              <a:rPr lang="en-US" altLang="en-US">
                <a:cs typeface="Times New Roman" panose="02020603050405020304" pitchFamily="18" charset="0"/>
              </a:rPr>
              <a:t>, each consisting of several polypeptides &amp; including multiple electron carriers.  </a:t>
            </a:r>
          </a:p>
          <a:p>
            <a:pPr marL="457200" lvl="1" indent="-342900" algn="just">
              <a:lnSpc>
                <a:spcPct val="95000"/>
              </a:lnSpc>
              <a:spcBef>
                <a:spcPct val="0"/>
              </a:spcBef>
              <a:spcAft>
                <a:spcPct val="50000"/>
              </a:spcAft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en-US">
                <a:cs typeface="Times New Roman" panose="02020603050405020304" pitchFamily="18" charset="0"/>
              </a:rPr>
              <a:t>	E.g., hemes a &amp; a</a:t>
            </a:r>
            <a:r>
              <a:rPr lang="en-US" altLang="en-US" baseline="-25000">
                <a:cs typeface="Times New Roman" panose="02020603050405020304" pitchFamily="18" charset="0"/>
              </a:rPr>
              <a:t>3</a:t>
            </a:r>
            <a:r>
              <a:rPr lang="en-US" altLang="en-US">
                <a:cs typeface="Times New Roman" panose="02020603050405020304" pitchFamily="18" charset="0"/>
              </a:rPr>
              <a:t> that are part of the respiratory chain complex IV are often referred to as cytochromes a &amp; a</a:t>
            </a:r>
            <a:r>
              <a:rPr lang="en-US" altLang="en-US" baseline="-25000">
                <a:cs typeface="Times New Roman" panose="02020603050405020304" pitchFamily="18" charset="0"/>
              </a:rPr>
              <a:t>3</a:t>
            </a:r>
            <a:r>
              <a:rPr lang="en-US" altLang="en-US">
                <a:cs typeface="Times New Roman" panose="02020603050405020304" pitchFamily="18" charset="0"/>
              </a:rPr>
              <a:t>.</a:t>
            </a:r>
          </a:p>
          <a:p>
            <a:pPr marL="457200" lvl="1" indent="-342900" algn="just">
              <a:lnSpc>
                <a:spcPct val="95000"/>
              </a:lnSpc>
              <a:spcBef>
                <a:spcPct val="0"/>
              </a:spcBef>
              <a:spcAft>
                <a:spcPct val="45000"/>
              </a:spcAft>
              <a:buClr>
                <a:schemeClr val="hlink"/>
              </a:buClr>
              <a:buFont typeface="Wingdings" panose="05000000000000000000" pitchFamily="2" charset="2"/>
              <a:buChar char="w"/>
            </a:pPr>
            <a:r>
              <a:rPr lang="en-US" altLang="en-US" b="1">
                <a:solidFill>
                  <a:srgbClr val="000099"/>
                </a:solidFill>
                <a:cs typeface="Times New Roman" panose="02020603050405020304" pitchFamily="18" charset="0"/>
              </a:rPr>
              <a:t>Cytochrome c</a:t>
            </a:r>
            <a:r>
              <a:rPr lang="en-US" altLang="en-US">
                <a:cs typeface="Times New Roman" panose="02020603050405020304" pitchFamily="18" charset="0"/>
              </a:rPr>
              <a:t> is instead a small, water-soluble protein with a single heme group.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xmlns="" id="{DD5912A4-9BF8-B8D3-B6D0-A60D6D008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0475" y="2571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9459" name="Rectangle 8">
            <a:extLst>
              <a:ext uri="{FF2B5EF4-FFF2-40B4-BE49-F238E27FC236}">
                <a16:creationId xmlns:a16="http://schemas.microsoft.com/office/drawing/2014/main" xmlns="" id="{327EED54-6AF1-AA7D-31CA-877C0A7F9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225" y="3949700"/>
            <a:ext cx="8915400" cy="257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5000"/>
              </a:lnSpc>
              <a:spcBef>
                <a:spcPct val="0"/>
              </a:spcBef>
              <a:spcAft>
                <a:spcPct val="35000"/>
              </a:spcAft>
              <a:buFontTx/>
              <a:buNone/>
            </a:pPr>
            <a:r>
              <a:rPr lang="en-US" altLang="en-US" sz="2800" b="1">
                <a:solidFill>
                  <a:schemeClr val="hlink"/>
                </a:solidFill>
                <a:cs typeface="Times New Roman" panose="02020603050405020304" pitchFamily="18" charset="0"/>
              </a:rPr>
              <a:t>Iron-sulfur centers</a:t>
            </a:r>
            <a:r>
              <a:rPr lang="en-US" altLang="en-US" sz="2800">
                <a:cs typeface="Times New Roman" panose="02020603050405020304" pitchFamily="18" charset="0"/>
              </a:rPr>
              <a:t> (</a:t>
            </a:r>
            <a:r>
              <a:rPr lang="en-US" altLang="en-US" sz="2800" b="1">
                <a:solidFill>
                  <a:schemeClr val="hlink"/>
                </a:solidFill>
                <a:cs typeface="Times New Roman" panose="02020603050405020304" pitchFamily="18" charset="0"/>
              </a:rPr>
              <a:t>Fe-S</a:t>
            </a:r>
            <a:r>
              <a:rPr lang="en-US" altLang="en-US" sz="2800">
                <a:cs typeface="Times New Roman" panose="02020603050405020304" pitchFamily="18" charset="0"/>
              </a:rPr>
              <a:t>) are prosthetic groups containing </a:t>
            </a: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2,</a:t>
            </a:r>
            <a:r>
              <a:rPr lang="en-US" altLang="en-US" sz="1400" b="1">
                <a:solidFill>
                  <a:srgbClr val="00009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3</a:t>
            </a:r>
            <a:r>
              <a:rPr lang="en-US" altLang="en-US" sz="1400" b="1">
                <a:solidFill>
                  <a:srgbClr val="00009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,</a:t>
            </a:r>
            <a:r>
              <a:rPr lang="en-US" altLang="en-US" sz="1400" b="1">
                <a:solidFill>
                  <a:srgbClr val="00009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4 or 8 iron atoms</a:t>
            </a:r>
            <a:r>
              <a:rPr lang="en-US" altLang="en-US" sz="2800">
                <a:cs typeface="Times New Roman" panose="02020603050405020304" pitchFamily="18" charset="0"/>
              </a:rPr>
              <a:t> complexed to elemental &amp; cysteine </a:t>
            </a: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S</a:t>
            </a:r>
            <a:endParaRPr lang="en-US" altLang="en-US" sz="2800">
              <a:cs typeface="Times New Roman" panose="02020603050405020304" pitchFamily="18" charset="0"/>
            </a:endParaRPr>
          </a:p>
          <a:p>
            <a:pPr>
              <a:lnSpc>
                <a:spcPct val="95000"/>
              </a:lnSpc>
              <a:spcBef>
                <a:spcPct val="0"/>
              </a:spcBef>
              <a:spcAft>
                <a:spcPct val="35000"/>
              </a:spcAft>
              <a:buFontTx/>
              <a:buNone/>
            </a:pP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Cysteine</a:t>
            </a:r>
            <a:r>
              <a:rPr lang="en-US" altLang="en-US" sz="2800">
                <a:cs typeface="Times New Roman" panose="02020603050405020304" pitchFamily="18" charset="0"/>
              </a:rPr>
              <a:t> residues provide </a:t>
            </a: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S</a:t>
            </a:r>
            <a:r>
              <a:rPr lang="en-US" altLang="en-US" sz="2800">
                <a:cs typeface="Times New Roman" panose="02020603050405020304" pitchFamily="18" charset="0"/>
              </a:rPr>
              <a:t> ligands to the iron, while also holding these prosthetic groups in place within the protein.  </a:t>
            </a:r>
          </a:p>
        </p:txBody>
      </p:sp>
      <p:sp>
        <p:nvSpPr>
          <p:cNvPr id="19460" name="Rectangle 12">
            <a:extLst>
              <a:ext uri="{FF2B5EF4-FFF2-40B4-BE49-F238E27FC236}">
                <a16:creationId xmlns:a16="http://schemas.microsoft.com/office/drawing/2014/main" xmlns="" id="{A31BE298-C110-6BB5-CCE8-CFBB56C1D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0475" y="2571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9461" name="Rectangle 14">
            <a:extLst>
              <a:ext uri="{FF2B5EF4-FFF2-40B4-BE49-F238E27FC236}">
                <a16:creationId xmlns:a16="http://schemas.microsoft.com/office/drawing/2014/main" xmlns="" id="{5D17E6FE-279C-6BE3-D0C3-81F5B9E0D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0475" y="2571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9462" name="Rectangle 16">
            <a:extLst>
              <a:ext uri="{FF2B5EF4-FFF2-40B4-BE49-F238E27FC236}">
                <a16:creationId xmlns:a16="http://schemas.microsoft.com/office/drawing/2014/main" xmlns="" id="{E7B49D46-CA6D-521B-7117-59A7257E7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9025" y="2457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9463" name="Rectangle 20">
            <a:extLst>
              <a:ext uri="{FF2B5EF4-FFF2-40B4-BE49-F238E27FC236}">
                <a16:creationId xmlns:a16="http://schemas.microsoft.com/office/drawing/2014/main" xmlns="" id="{4D0CCD61-B852-3320-CE7D-15A2E6D0E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0" y="2457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9464" name="TextBox 10">
            <a:extLst>
              <a:ext uri="{FF2B5EF4-FFF2-40B4-BE49-F238E27FC236}">
                <a16:creationId xmlns:a16="http://schemas.microsoft.com/office/drawing/2014/main" xmlns="" id="{13071775-E5AB-EBD0-7638-0CE762B20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106363"/>
            <a:ext cx="2660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hlink"/>
                </a:solidFill>
                <a:cs typeface="Times New Roman" panose="02020603050405020304" pitchFamily="18" charset="0"/>
              </a:rPr>
              <a:t>Iron-sulfur centers</a:t>
            </a:r>
            <a:endParaRPr lang="en-GB" altLang="en-US" sz="2400"/>
          </a:p>
        </p:txBody>
      </p:sp>
      <p:grpSp>
        <p:nvGrpSpPr>
          <p:cNvPr id="19465" name="Group 13">
            <a:extLst>
              <a:ext uri="{FF2B5EF4-FFF2-40B4-BE49-F238E27FC236}">
                <a16:creationId xmlns:a16="http://schemas.microsoft.com/office/drawing/2014/main" xmlns="" id="{6A278999-6CB0-2131-3D9B-0F769224934B}"/>
              </a:ext>
            </a:extLst>
          </p:cNvPr>
          <p:cNvGrpSpPr>
            <a:grpSpLocks/>
          </p:cNvGrpSpPr>
          <p:nvPr/>
        </p:nvGrpSpPr>
        <p:grpSpPr bwMode="auto">
          <a:xfrm>
            <a:off x="238125" y="652463"/>
            <a:ext cx="8494713" cy="2949575"/>
            <a:chOff x="238539" y="652688"/>
            <a:chExt cx="8494643" cy="2949742"/>
          </a:xfrm>
        </p:grpSpPr>
        <p:pic>
          <p:nvPicPr>
            <p:cNvPr id="19466" name="Picture 11">
              <a:extLst>
                <a:ext uri="{FF2B5EF4-FFF2-40B4-BE49-F238E27FC236}">
                  <a16:creationId xmlns:a16="http://schemas.microsoft.com/office/drawing/2014/main" xmlns="" id="{EC19FD77-2643-0C4D-425B-314D8708BB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539" y="652688"/>
              <a:ext cx="8494643" cy="2743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67" name="TextBox 12">
              <a:extLst>
                <a:ext uri="{FF2B5EF4-FFF2-40B4-BE49-F238E27FC236}">
                  <a16:creationId xmlns:a16="http://schemas.microsoft.com/office/drawing/2014/main" xmlns="" id="{34EF1A3A-ABFF-DADB-E37D-F4E54CD05A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043" y="3140765"/>
              <a:ext cx="1351722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GB" altLang="en-US" sz="240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xmlns="" id="{B6CADBC4-33BC-4CE5-A6FD-BD4A8365F6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5029200"/>
            <a:ext cx="8686800" cy="1676400"/>
          </a:xfrm>
        </p:spPr>
        <p:txBody>
          <a:bodyPr/>
          <a:lstStyle/>
          <a:p>
            <a:pPr marL="0" indent="0"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en-US" altLang="en-US" sz="2800">
                <a:cs typeface="Times New Roman" panose="02020603050405020304" pitchFamily="18" charset="0"/>
              </a:rPr>
              <a:t>E.g., a 4-Fe center might cycle between redox states:</a:t>
            </a:r>
          </a:p>
          <a:p>
            <a:pPr marL="0" indent="0">
              <a:spcBef>
                <a:spcPct val="0"/>
              </a:spcBef>
              <a:spcAft>
                <a:spcPct val="50000"/>
              </a:spcAft>
              <a:buFontTx/>
              <a:buNone/>
            </a:pPr>
            <a:r>
              <a:rPr lang="en-US" altLang="en-US" sz="2800" b="1">
                <a:solidFill>
                  <a:srgbClr val="000080"/>
                </a:solidFill>
                <a:cs typeface="Times New Roman" panose="02020603050405020304" pitchFamily="18" charset="0"/>
              </a:rPr>
              <a:t>Fe</a:t>
            </a:r>
            <a:r>
              <a:rPr lang="en-US" altLang="en-US" sz="2800" b="1" baseline="30000">
                <a:solidFill>
                  <a:srgbClr val="000080"/>
                </a:solidFill>
                <a:cs typeface="Times New Roman" panose="02020603050405020304" pitchFamily="18" charset="0"/>
              </a:rPr>
              <a:t>+++</a:t>
            </a:r>
            <a:r>
              <a:rPr lang="en-US" altLang="en-US" sz="2800" b="1" baseline="-30000">
                <a:solidFill>
                  <a:srgbClr val="000080"/>
                </a:solidFill>
                <a:cs typeface="Times New Roman" panose="02020603050405020304" pitchFamily="18" charset="0"/>
              </a:rPr>
              <a:t>3</a:t>
            </a:r>
            <a:r>
              <a:rPr lang="en-US" altLang="en-US" sz="2800" b="1">
                <a:solidFill>
                  <a:srgbClr val="000080"/>
                </a:solidFill>
                <a:cs typeface="Times New Roman" panose="02020603050405020304" pitchFamily="18" charset="0"/>
              </a:rPr>
              <a:t>,</a:t>
            </a:r>
            <a:r>
              <a:rPr lang="en-US" altLang="en-US" sz="2400" b="1">
                <a:solidFill>
                  <a:srgbClr val="00008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solidFill>
                  <a:srgbClr val="000080"/>
                </a:solidFill>
                <a:cs typeface="Times New Roman" panose="02020603050405020304" pitchFamily="18" charset="0"/>
              </a:rPr>
              <a:t>Fe</a:t>
            </a:r>
            <a:r>
              <a:rPr lang="en-US" altLang="en-US" sz="2800" b="1" baseline="30000">
                <a:solidFill>
                  <a:srgbClr val="000080"/>
                </a:solidFill>
                <a:cs typeface="Times New Roman" panose="02020603050405020304" pitchFamily="18" charset="0"/>
              </a:rPr>
              <a:t>++</a:t>
            </a:r>
            <a:r>
              <a:rPr lang="en-US" altLang="en-US" sz="2800" b="1" baseline="-30000">
                <a:solidFill>
                  <a:srgbClr val="000080"/>
                </a:solidFill>
                <a:cs typeface="Times New Roman" panose="02020603050405020304" pitchFamily="18" charset="0"/>
              </a:rPr>
              <a:t>1</a:t>
            </a:r>
            <a:r>
              <a:rPr lang="en-US" altLang="en-US" sz="2400" b="1">
                <a:solidFill>
                  <a:srgbClr val="00008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600">
                <a:cs typeface="Times New Roman" panose="02020603050405020304" pitchFamily="18" charset="0"/>
              </a:rPr>
              <a:t>(oxidized)</a:t>
            </a:r>
            <a:r>
              <a:rPr lang="en-US" altLang="en-US" sz="2400" b="1">
                <a:solidFill>
                  <a:srgbClr val="00008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solidFill>
                  <a:srgbClr val="000080"/>
                </a:solidFill>
                <a:cs typeface="Times New Roman" panose="02020603050405020304" pitchFamily="18" charset="0"/>
              </a:rPr>
              <a:t>+</a:t>
            </a:r>
            <a:r>
              <a:rPr lang="en-US" altLang="en-US" sz="2400" b="1">
                <a:solidFill>
                  <a:srgbClr val="00008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solidFill>
                  <a:srgbClr val="000080"/>
                </a:solidFill>
                <a:cs typeface="Times New Roman" panose="02020603050405020304" pitchFamily="18" charset="0"/>
              </a:rPr>
              <a:t>1 e</a:t>
            </a:r>
            <a:r>
              <a:rPr lang="en-US" altLang="en-US" sz="2800" b="1" baseline="30000">
                <a:solidFill>
                  <a:srgbClr val="00008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en-US" sz="2400" b="1">
                <a:solidFill>
                  <a:srgbClr val="00008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>
                <a:solidFill>
                  <a:srgbClr val="FF0000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</a:t>
            </a:r>
            <a:r>
              <a:rPr lang="en-US" altLang="en-US" sz="2400" b="1">
                <a:solidFill>
                  <a:srgbClr val="00008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solidFill>
                  <a:srgbClr val="000080"/>
                </a:solidFill>
                <a:cs typeface="Times New Roman" panose="02020603050405020304" pitchFamily="18" charset="0"/>
              </a:rPr>
              <a:t>Fe</a:t>
            </a:r>
            <a:r>
              <a:rPr lang="en-US" altLang="en-US" sz="2800" b="1" baseline="30000">
                <a:solidFill>
                  <a:srgbClr val="000080"/>
                </a:solidFill>
                <a:cs typeface="Times New Roman" panose="02020603050405020304" pitchFamily="18" charset="0"/>
              </a:rPr>
              <a:t>+++</a:t>
            </a:r>
            <a:r>
              <a:rPr lang="en-US" altLang="en-US" sz="2800" b="1" baseline="-30000">
                <a:solidFill>
                  <a:srgbClr val="00008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2800" b="1">
                <a:solidFill>
                  <a:srgbClr val="000080"/>
                </a:solidFill>
                <a:cs typeface="Times New Roman" panose="02020603050405020304" pitchFamily="18" charset="0"/>
              </a:rPr>
              <a:t>, Fe</a:t>
            </a:r>
            <a:r>
              <a:rPr lang="en-US" altLang="en-US" sz="2800" b="1" baseline="30000">
                <a:solidFill>
                  <a:srgbClr val="000080"/>
                </a:solidFill>
                <a:cs typeface="Times New Roman" panose="02020603050405020304" pitchFamily="18" charset="0"/>
              </a:rPr>
              <a:t>++</a:t>
            </a:r>
            <a:r>
              <a:rPr lang="en-US" altLang="en-US" sz="2800" b="1" baseline="-30000">
                <a:solidFill>
                  <a:srgbClr val="00008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2400" b="1">
                <a:solidFill>
                  <a:srgbClr val="00008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600">
                <a:cs typeface="Times New Roman" panose="02020603050405020304" pitchFamily="18" charset="0"/>
              </a:rPr>
              <a:t>(reduced)</a:t>
            </a:r>
          </a:p>
        </p:txBody>
      </p:sp>
      <p:graphicFrame>
        <p:nvGraphicFramePr>
          <p:cNvPr id="20483" name="Object 6">
            <a:extLst>
              <a:ext uri="{FF2B5EF4-FFF2-40B4-BE49-F238E27FC236}">
                <a16:creationId xmlns:a16="http://schemas.microsoft.com/office/drawing/2014/main" xmlns="" id="{79C2B9B4-0BDC-7208-B212-2663E8E984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5238" y="571500"/>
          <a:ext cx="3976687" cy="395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r:id="rId3" imgW="1943100" imgH="1943100" progId="Word.Picture.8">
                  <p:embed/>
                </p:oleObj>
              </mc:Choice>
              <mc:Fallback>
                <p:oleObj r:id="rId3" imgW="1943100" imgH="1943100" progId="Word.Picture.8">
                  <p:embed/>
                  <p:pic>
                    <p:nvPicPr>
                      <p:cNvPr id="20483" name="Object 6">
                        <a:extLst>
                          <a:ext uri="{FF2B5EF4-FFF2-40B4-BE49-F238E27FC236}">
                            <a16:creationId xmlns:a16="http://schemas.microsoft.com/office/drawing/2014/main" xmlns="" id="{79C2B9B4-0BDC-7208-B212-2663E8E984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238" y="571500"/>
                        <a:ext cx="3976687" cy="3957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Rectangle 7">
            <a:extLst>
              <a:ext uri="{FF2B5EF4-FFF2-40B4-BE49-F238E27FC236}">
                <a16:creationId xmlns:a16="http://schemas.microsoft.com/office/drawing/2014/main" xmlns="" id="{604FF46A-B5CC-EF4A-DDF8-91C0058AC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" y="908050"/>
            <a:ext cx="4648200" cy="352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5000"/>
              </a:lnSpc>
              <a:spcBef>
                <a:spcPct val="0"/>
              </a:spcBef>
              <a:spcAft>
                <a:spcPct val="60000"/>
              </a:spcAft>
              <a:buFontTx/>
              <a:buNone/>
            </a:pPr>
            <a:r>
              <a:rPr lang="en-US" altLang="en-US" sz="2800"/>
              <a:t>Electron transfer proteins may contain multiple Fe-S centers.</a:t>
            </a:r>
          </a:p>
          <a:p>
            <a:pPr>
              <a:spcBef>
                <a:spcPct val="0"/>
              </a:spcBef>
              <a:spcAft>
                <a:spcPct val="60000"/>
              </a:spcAft>
              <a:buFontTx/>
              <a:buNone/>
            </a:pPr>
            <a:r>
              <a:rPr lang="en-US" altLang="en-US" sz="2800">
                <a:cs typeface="Times New Roman" panose="02020603050405020304" pitchFamily="18" charset="0"/>
              </a:rPr>
              <a:t>Iron-sulfur centers transfer only </a:t>
            </a: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one</a:t>
            </a:r>
            <a:r>
              <a:rPr lang="en-US" altLang="en-US" sz="2800"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electron</a:t>
            </a:r>
            <a:r>
              <a:rPr lang="en-US" altLang="en-US" sz="2800">
                <a:cs typeface="Times New Roman" panose="02020603050405020304" pitchFamily="18" charset="0"/>
              </a:rPr>
              <a:t>, even if they contain two or more iron atoms, because of the close proximity of the iron atoms.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>
            <a:extLst>
              <a:ext uri="{FF2B5EF4-FFF2-40B4-BE49-F238E27FC236}">
                <a16:creationId xmlns:a16="http://schemas.microsoft.com/office/drawing/2014/main" xmlns="" id="{F67F0002-57FC-A345-171F-465ED3AA6D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438" y="4038600"/>
            <a:ext cx="8488362" cy="2571750"/>
          </a:xfrm>
        </p:spPr>
        <p:txBody>
          <a:bodyPr/>
          <a:lstStyle/>
          <a:p>
            <a:pPr marL="0" indent="0" algn="just">
              <a:spcBef>
                <a:spcPct val="0"/>
              </a:spcBef>
              <a:spcAft>
                <a:spcPct val="30000"/>
              </a:spcAft>
              <a:buFont typeface="Wingdings" panose="05000000000000000000" pitchFamily="2" charset="2"/>
              <a:buChar char="v"/>
            </a:pPr>
            <a:r>
              <a:rPr lang="en-US" altLang="en-US" sz="2800">
                <a:cs typeface="Times New Roman" panose="02020603050405020304" pitchFamily="18" charset="0"/>
              </a:rPr>
              <a:t>Most constitutents of the respiratory chain are embedded in the </a:t>
            </a: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inner mitochondrial membrane</a:t>
            </a:r>
            <a:r>
              <a:rPr lang="en-US" altLang="en-US" sz="2800">
                <a:cs typeface="Times New Roman" panose="02020603050405020304" pitchFamily="18" charset="0"/>
              </a:rPr>
              <a:t>   (or in the cytoplasmic membrane of aerobic bacteria). </a:t>
            </a:r>
          </a:p>
          <a:p>
            <a:pPr marL="0" indent="0" algn="just">
              <a:spcBef>
                <a:spcPct val="0"/>
              </a:spcBef>
              <a:spcAft>
                <a:spcPct val="30000"/>
              </a:spcAft>
              <a:buFont typeface="Wingdings" panose="05000000000000000000" pitchFamily="2" charset="2"/>
              <a:buChar char="v"/>
            </a:pPr>
            <a:r>
              <a:rPr lang="en-US" altLang="en-US" sz="2800">
                <a:cs typeface="Times New Roman" panose="02020603050405020304" pitchFamily="18" charset="0"/>
              </a:rPr>
              <a:t>The inner mitochondrial membrane has infoldings called </a:t>
            </a: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cristae</a:t>
            </a:r>
            <a:r>
              <a:rPr lang="en-US" altLang="en-US" sz="2800">
                <a:cs typeface="Times New Roman" panose="02020603050405020304" pitchFamily="18" charset="0"/>
              </a:rPr>
              <a:t> that increase the membrane area.</a:t>
            </a:r>
          </a:p>
        </p:txBody>
      </p:sp>
      <p:sp>
        <p:nvSpPr>
          <p:cNvPr id="21507" name="Rectangle 4">
            <a:extLst>
              <a:ext uri="{FF2B5EF4-FFF2-40B4-BE49-F238E27FC236}">
                <a16:creationId xmlns:a16="http://schemas.microsoft.com/office/drawing/2014/main" xmlns="" id="{E4671AFC-0EC4-8699-82FA-4B54E9B57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26860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1508" name="Rectangle 5">
            <a:extLst>
              <a:ext uri="{FF2B5EF4-FFF2-40B4-BE49-F238E27FC236}">
                <a16:creationId xmlns:a16="http://schemas.microsoft.com/office/drawing/2014/main" xmlns="" id="{A325F8E5-ADF6-F290-C237-1E8D08C54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1509" name="Rectangle 6">
            <a:extLst>
              <a:ext uri="{FF2B5EF4-FFF2-40B4-BE49-F238E27FC236}">
                <a16:creationId xmlns:a16="http://schemas.microsoft.com/office/drawing/2014/main" xmlns="" id="{780995FB-E99E-0D70-1FC9-9330870BD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1510" name="Rectangle 9">
            <a:extLst>
              <a:ext uri="{FF2B5EF4-FFF2-40B4-BE49-F238E27FC236}">
                <a16:creationId xmlns:a16="http://schemas.microsoft.com/office/drawing/2014/main" xmlns="" id="{64C5D3FB-AED8-BAA4-A080-A7E8047FC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433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graphicFrame>
        <p:nvGraphicFramePr>
          <p:cNvPr id="21511" name="Object 8">
            <a:extLst>
              <a:ext uri="{FF2B5EF4-FFF2-40B4-BE49-F238E27FC236}">
                <a16:creationId xmlns:a16="http://schemas.microsoft.com/office/drawing/2014/main" xmlns="" id="{5D780CDD-F94B-D2F4-85C6-1216E3855D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63850" y="0"/>
          <a:ext cx="5475288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r:id="rId3" imgW="2801112" imgH="2001012" progId="Word.Picture.8">
                  <p:embed/>
                </p:oleObj>
              </mc:Choice>
              <mc:Fallback>
                <p:oleObj r:id="rId3" imgW="2801112" imgH="2001012" progId="Word.Picture.8">
                  <p:embed/>
                  <p:pic>
                    <p:nvPicPr>
                      <p:cNvPr id="21511" name="Object 8">
                        <a:extLst>
                          <a:ext uri="{FF2B5EF4-FFF2-40B4-BE49-F238E27FC236}">
                            <a16:creationId xmlns:a16="http://schemas.microsoft.com/office/drawing/2014/main" xmlns="" id="{5D780CDD-F94B-D2F4-85C6-1216E3855D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3850" y="0"/>
                        <a:ext cx="5475288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Text Box 11">
            <a:extLst>
              <a:ext uri="{FF2B5EF4-FFF2-40B4-BE49-F238E27FC236}">
                <a16:creationId xmlns:a16="http://schemas.microsoft.com/office/drawing/2014/main" xmlns="" id="{11ABABB3-B252-97F5-A2B7-DE0DF4219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50" y="296863"/>
            <a:ext cx="24003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 b="1">
                <a:solidFill>
                  <a:schemeClr val="hlink"/>
                </a:solidFill>
              </a:rPr>
              <a:t>Respiratory Chain: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5">
            <a:extLst>
              <a:ext uri="{FF2B5EF4-FFF2-40B4-BE49-F238E27FC236}">
                <a16:creationId xmlns:a16="http://schemas.microsoft.com/office/drawing/2014/main" xmlns="" id="{B211FBCD-922E-82CB-CB02-07D7C68062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1463" y="3502025"/>
            <a:ext cx="8763000" cy="3124200"/>
          </a:xfrm>
        </p:spPr>
        <p:txBody>
          <a:bodyPr/>
          <a:lstStyle/>
          <a:p>
            <a:pPr marL="0" indent="0" algn="just">
              <a:lnSpc>
                <a:spcPct val="95000"/>
              </a:lnSpc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en-US" altLang="en-US" sz="2800">
                <a:cs typeface="Times New Roman" panose="02020603050405020304" pitchFamily="18" charset="0"/>
              </a:rPr>
              <a:t>Within each complex, electrons pass sequentially through   a series of electron carriers.</a:t>
            </a:r>
          </a:p>
          <a:p>
            <a:pPr marL="0" indent="0" algn="just">
              <a:lnSpc>
                <a:spcPct val="95000"/>
              </a:lnSpc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CoQ</a:t>
            </a:r>
            <a:r>
              <a:rPr lang="en-US" altLang="en-US" sz="2800">
                <a:cs typeface="Times New Roman" panose="02020603050405020304" pitchFamily="18" charset="0"/>
              </a:rPr>
              <a:t> is located in the lipid core of the membrane. There  are also binding sites for CoQ within protein complexes with which it interacts.</a:t>
            </a:r>
          </a:p>
          <a:p>
            <a:pPr marL="0" indent="0" algn="just">
              <a:lnSpc>
                <a:spcPct val="95000"/>
              </a:lnSpc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Cytochrome c</a:t>
            </a:r>
            <a:r>
              <a:rPr lang="en-US" altLang="en-US" sz="2800">
                <a:cs typeface="Times New Roman" panose="02020603050405020304" pitchFamily="18" charset="0"/>
              </a:rPr>
              <a:t> resides in the intermembrane space. </a:t>
            </a:r>
            <a:br>
              <a:rPr lang="en-US" altLang="en-US" sz="2800">
                <a:cs typeface="Times New Roman" panose="02020603050405020304" pitchFamily="18" charset="0"/>
              </a:rPr>
            </a:br>
            <a:r>
              <a:rPr lang="en-US" altLang="en-US" sz="2800">
                <a:cs typeface="Times New Roman" panose="02020603050405020304" pitchFamily="18" charset="0"/>
              </a:rPr>
              <a:t>It alternately binds to complex III or IV during e</a:t>
            </a:r>
            <a:r>
              <a:rPr lang="en-US" altLang="en-US" sz="2800" baseline="30000"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en-US" sz="2800">
                <a:cs typeface="Times New Roman" panose="02020603050405020304" pitchFamily="18" charset="0"/>
              </a:rPr>
              <a:t> transfer.</a:t>
            </a:r>
          </a:p>
        </p:txBody>
      </p:sp>
      <p:sp>
        <p:nvSpPr>
          <p:cNvPr id="22531" name="Rectangle 9">
            <a:extLst>
              <a:ext uri="{FF2B5EF4-FFF2-40B4-BE49-F238E27FC236}">
                <a16:creationId xmlns:a16="http://schemas.microsoft.com/office/drawing/2014/main" xmlns="" id="{5D82CB5E-13CE-5B19-E36A-1560C2E08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26860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2532" name="Rectangle 11">
            <a:extLst>
              <a:ext uri="{FF2B5EF4-FFF2-40B4-BE49-F238E27FC236}">
                <a16:creationId xmlns:a16="http://schemas.microsoft.com/office/drawing/2014/main" xmlns="" id="{8D518711-338F-45D6-C7E2-693949A5E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2533" name="Rectangle 13">
            <a:extLst>
              <a:ext uri="{FF2B5EF4-FFF2-40B4-BE49-F238E27FC236}">
                <a16:creationId xmlns:a16="http://schemas.microsoft.com/office/drawing/2014/main" xmlns="" id="{F5FB7FE2-7EA4-D9A0-B7BA-F90EBD071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2534" name="Rectangle 15">
            <a:extLst>
              <a:ext uri="{FF2B5EF4-FFF2-40B4-BE49-F238E27FC236}">
                <a16:creationId xmlns:a16="http://schemas.microsoft.com/office/drawing/2014/main" xmlns="" id="{C3FC8699-6ED4-FBD5-70BC-2443E66A6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2535" name="Rectangle 17">
            <a:extLst>
              <a:ext uri="{FF2B5EF4-FFF2-40B4-BE49-F238E27FC236}">
                <a16:creationId xmlns:a16="http://schemas.microsoft.com/office/drawing/2014/main" xmlns="" id="{DF6A173D-11B0-B309-6D04-6A981ACCD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2536" name="Rectangle 19">
            <a:extLst>
              <a:ext uri="{FF2B5EF4-FFF2-40B4-BE49-F238E27FC236}">
                <a16:creationId xmlns:a16="http://schemas.microsoft.com/office/drawing/2014/main" xmlns="" id="{0681BA7A-56D0-E867-DCEC-D9D2951FA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171450"/>
            <a:ext cx="2781300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5000"/>
              </a:lnSpc>
              <a:spcBef>
                <a:spcPct val="0"/>
              </a:spcBef>
              <a:spcAft>
                <a:spcPct val="10000"/>
              </a:spcAft>
              <a:buFontTx/>
              <a:buNone/>
            </a:pPr>
            <a:r>
              <a:rPr lang="en-US" altLang="en-US" sz="2800">
                <a:cs typeface="Times New Roman" panose="02020603050405020304" pitchFamily="18" charset="0"/>
              </a:rPr>
              <a:t>Electrons are transferred from </a:t>
            </a: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NADH </a:t>
            </a:r>
            <a:r>
              <a:rPr lang="en-US" altLang="en-US" sz="2800" b="1">
                <a:solidFill>
                  <a:schemeClr val="hlink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 O</a:t>
            </a:r>
            <a:r>
              <a:rPr lang="en-US" altLang="en-US" sz="2800" b="1" baseline="-30000">
                <a:solidFill>
                  <a:srgbClr val="000099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2800">
                <a:cs typeface="Times New Roman" panose="02020603050405020304" pitchFamily="18" charset="0"/>
              </a:rPr>
              <a:t> via multisubunit inner membrane</a:t>
            </a:r>
            <a:r>
              <a:rPr lang="en-US" altLang="en-US" sz="2800" b="1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complexes I,II III &amp; IV</a:t>
            </a:r>
            <a:r>
              <a:rPr lang="en-US" altLang="en-US" sz="2800">
                <a:cs typeface="Times New Roman" panose="02020603050405020304" pitchFamily="18" charset="0"/>
              </a:rPr>
              <a:t>, plus</a:t>
            </a:r>
            <a:r>
              <a:rPr lang="en-US" altLang="en-US" sz="2800" b="1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CoQ</a:t>
            </a:r>
            <a:r>
              <a:rPr lang="en-US" altLang="en-US" sz="2800" b="1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>
                <a:cs typeface="Times New Roman" panose="02020603050405020304" pitchFamily="18" charset="0"/>
              </a:rPr>
              <a:t>&amp;</a:t>
            </a:r>
            <a:r>
              <a:rPr lang="en-US" altLang="en-US" sz="2800" b="1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cyt c</a:t>
            </a:r>
            <a:r>
              <a:rPr lang="en-US" altLang="en-US" sz="2800"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2537" name="Picture 5">
            <a:extLst>
              <a:ext uri="{FF2B5EF4-FFF2-40B4-BE49-F238E27FC236}">
                <a16:creationId xmlns:a16="http://schemas.microsoft.com/office/drawing/2014/main" xmlns="" id="{F99A25F3-0AB9-633B-B9A9-8B36A68FE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363" y="277813"/>
            <a:ext cx="5432425" cy="284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xmlns="" id="{0AA8D062-57E8-FD79-1F34-F3EDAE2C45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24413" y="3957638"/>
            <a:ext cx="4014787" cy="2138362"/>
          </a:xfrm>
        </p:spPr>
        <p:txBody>
          <a:bodyPr/>
          <a:lstStyle/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40000"/>
              </a:spcAft>
              <a:buFontTx/>
              <a:buNone/>
            </a:pPr>
            <a:r>
              <a:rPr lang="en-US" altLang="en-US" sz="2800">
                <a:cs typeface="Times New Roman" panose="02020603050405020304" pitchFamily="18" charset="0"/>
              </a:rPr>
              <a:t>There is also evidence for the existence of stable </a:t>
            </a: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supramolecular aggregates</a:t>
            </a:r>
            <a:r>
              <a:rPr lang="en-US" altLang="en-US" sz="2800">
                <a:cs typeface="Times New Roman" panose="02020603050405020304" pitchFamily="18" charset="0"/>
              </a:rPr>
              <a:t> containing multiple complexes. 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xmlns="" id="{D09D5DDD-EF66-1C05-B8EB-F71A56CC9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26860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xmlns="" id="{76BD52F2-173B-E476-620C-0B8604B6B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xmlns="" id="{2B7A110B-9949-AA72-E337-ECD5A5D74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xmlns="" id="{C3EF4920-2F14-ED8D-592E-5B10628D0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xmlns="" id="{85CFF067-52B8-8160-6F67-CEDB93A98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3560" name="Rectangle 10">
            <a:extLst>
              <a:ext uri="{FF2B5EF4-FFF2-40B4-BE49-F238E27FC236}">
                <a16:creationId xmlns:a16="http://schemas.microsoft.com/office/drawing/2014/main" xmlns="" id="{88D240DF-F8A8-EF31-1DE3-BD42081B2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6663" y="381000"/>
            <a:ext cx="5138737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5000"/>
              </a:lnSpc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en-US" altLang="en-US" sz="2800">
                <a:cs typeface="Times New Roman" panose="02020603050405020304" pitchFamily="18" charset="0"/>
              </a:rPr>
              <a:t>Individual </a:t>
            </a:r>
            <a:r>
              <a:rPr lang="en-US" altLang="en-US" sz="2800" b="1">
                <a:solidFill>
                  <a:srgbClr val="000099"/>
                </a:solidFill>
                <a:cs typeface="Times New Roman" panose="02020603050405020304" pitchFamily="18" charset="0"/>
              </a:rPr>
              <a:t>respiratory chain complexes</a:t>
            </a:r>
            <a:r>
              <a:rPr lang="en-US" altLang="en-US" sz="2800">
                <a:cs typeface="Times New Roman" panose="02020603050405020304" pitchFamily="18" charset="0"/>
              </a:rPr>
              <a:t> have been isolated and their composition determined. </a:t>
            </a:r>
          </a:p>
        </p:txBody>
      </p:sp>
      <p:pic>
        <p:nvPicPr>
          <p:cNvPr id="23561" name="Picture 2">
            <a:extLst>
              <a:ext uri="{FF2B5EF4-FFF2-40B4-BE49-F238E27FC236}">
                <a16:creationId xmlns:a16="http://schemas.microsoft.com/office/drawing/2014/main" xmlns="" id="{378A64D6-7A78-9777-09BE-B7EFDC36D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" y="79375"/>
            <a:ext cx="3640138" cy="666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2" name="AutoShape 6">
            <a:extLst>
              <a:ext uri="{FF2B5EF4-FFF2-40B4-BE49-F238E27FC236}">
                <a16:creationId xmlns:a16="http://schemas.microsoft.com/office/drawing/2014/main" xmlns="" id="{34894BD7-0B08-DACA-49AE-AC4B75FB9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657600"/>
            <a:ext cx="2786063" cy="9906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3563" name="Text Box 4">
            <a:extLst>
              <a:ext uri="{FF2B5EF4-FFF2-40B4-BE49-F238E27FC236}">
                <a16:creationId xmlns:a16="http://schemas.microsoft.com/office/drawing/2014/main" xmlns="" id="{AF59420A-E27D-6E73-82DE-51A12370B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213" y="1901825"/>
            <a:ext cx="47244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Comic Sans MS" panose="030F0702030302020204" pitchFamily="66" charset="0"/>
              </a:rPr>
              <a:t>Components of the electron transport chain can be purified from the mitochondrial inner membrane</a:t>
            </a:r>
          </a:p>
        </p:txBody>
      </p:sp>
      <p:sp>
        <p:nvSpPr>
          <p:cNvPr id="23564" name="Line 7">
            <a:extLst>
              <a:ext uri="{FF2B5EF4-FFF2-40B4-BE49-F238E27FC236}">
                <a16:creationId xmlns:a16="http://schemas.microsoft.com/office/drawing/2014/main" xmlns="" id="{710D9A51-B370-99F2-53F8-5566D78D9F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86138" y="3419475"/>
            <a:ext cx="914400" cy="53340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Box 3">
            <a:extLst>
              <a:ext uri="{FF2B5EF4-FFF2-40B4-BE49-F238E27FC236}">
                <a16:creationId xmlns:a16="http://schemas.microsoft.com/office/drawing/2014/main" xmlns="" id="{1E1BB653-F1F2-DAE7-E1B2-CCDFD3D861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700" y="265113"/>
            <a:ext cx="76073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 b="1"/>
              <a:t>Method for determining the sequence if electron carreirs</a:t>
            </a:r>
          </a:p>
        </p:txBody>
      </p:sp>
      <p:pic>
        <p:nvPicPr>
          <p:cNvPr id="24579" name="Picture 2">
            <a:extLst>
              <a:ext uri="{FF2B5EF4-FFF2-40B4-BE49-F238E27FC236}">
                <a16:creationId xmlns:a16="http://schemas.microsoft.com/office/drawing/2014/main" xmlns="" id="{92D89F4E-1B3E-499B-F2AF-A8C0E1902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8" y="1749425"/>
            <a:ext cx="7475537" cy="445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TextBox 5">
            <a:extLst>
              <a:ext uri="{FF2B5EF4-FFF2-40B4-BE49-F238E27FC236}">
                <a16:creationId xmlns:a16="http://schemas.microsoft.com/office/drawing/2014/main" xmlns="" id="{975653EF-0543-3A04-D085-7408F4117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1020763"/>
            <a:ext cx="77438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/>
              <a:t>Inhibitors at various points of the respiratory chain were used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>
            <a:extLst>
              <a:ext uri="{FF2B5EF4-FFF2-40B4-BE49-F238E27FC236}">
                <a16:creationId xmlns:a16="http://schemas.microsoft.com/office/drawing/2014/main" xmlns="" id="{CCCF5C1D-7E1B-517B-DBD8-08CB4B40E6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1450" y="-76200"/>
            <a:ext cx="8801100" cy="1143000"/>
          </a:xfrm>
        </p:spPr>
        <p:txBody>
          <a:bodyPr/>
          <a:lstStyle/>
          <a:p>
            <a:r>
              <a:rPr lang="en-US" altLang="en-US" sz="3600"/>
              <a:t>Composition of Respiratory Chain Complexes</a:t>
            </a:r>
          </a:p>
        </p:txBody>
      </p:sp>
      <p:grpSp>
        <p:nvGrpSpPr>
          <p:cNvPr id="25603" name="Group 135">
            <a:extLst>
              <a:ext uri="{FF2B5EF4-FFF2-40B4-BE49-F238E27FC236}">
                <a16:creationId xmlns:a16="http://schemas.microsoft.com/office/drawing/2014/main" xmlns="" id="{F5BE6540-59A4-3C69-B1FC-9052F56CE3E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9238" y="990600"/>
            <a:ext cx="8683625" cy="5583238"/>
            <a:chOff x="-3" y="-3"/>
            <a:chExt cx="4209" cy="3176"/>
          </a:xfrm>
        </p:grpSpPr>
        <p:grpSp>
          <p:nvGrpSpPr>
            <p:cNvPr id="25604" name="Group 133">
              <a:extLst>
                <a:ext uri="{FF2B5EF4-FFF2-40B4-BE49-F238E27FC236}">
                  <a16:creationId xmlns:a16="http://schemas.microsoft.com/office/drawing/2014/main" xmlns="" id="{258AA414-8972-2C74-EB37-07E12FF7D4A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0" y="0"/>
              <a:ext cx="4203" cy="3170"/>
              <a:chOff x="0" y="0"/>
              <a:chExt cx="4203" cy="3170"/>
            </a:xfrm>
          </p:grpSpPr>
          <p:grpSp>
            <p:nvGrpSpPr>
              <p:cNvPr id="25606" name="Group 94">
                <a:extLst>
                  <a:ext uri="{FF2B5EF4-FFF2-40B4-BE49-F238E27FC236}">
                    <a16:creationId xmlns:a16="http://schemas.microsoft.com/office/drawing/2014/main" xmlns="" id="{D9AAC806-ECAC-06DE-2985-D51DC0D5078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0" y="0"/>
                <a:ext cx="1008" cy="634"/>
                <a:chOff x="0" y="0"/>
                <a:chExt cx="1008" cy="634"/>
              </a:xfrm>
            </p:grpSpPr>
            <p:sp>
              <p:nvSpPr>
                <p:cNvPr id="25664" name="Rectangle 73">
                  <a:extLst>
                    <a:ext uri="{FF2B5EF4-FFF2-40B4-BE49-F238E27FC236}">
                      <a16:creationId xmlns:a16="http://schemas.microsoft.com/office/drawing/2014/main" xmlns="" id="{19C07B28-ACEA-3981-66EE-E2AB99849B1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" y="0"/>
                  <a:ext cx="922" cy="6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50784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just">
                    <a:buFontTx/>
                    <a:buNone/>
                  </a:pPr>
                  <a:endParaRPr lang="en-US" altLang="en-US" sz="2400" b="1">
                    <a:cs typeface="Times New Roman" panose="02020603050405020304" pitchFamily="18" charset="0"/>
                  </a:endParaRPr>
                </a:p>
                <a:p>
                  <a:pPr algn="just">
                    <a:buFontTx/>
                    <a:buNone/>
                  </a:pPr>
                  <a:r>
                    <a:rPr lang="en-US" altLang="en-US" sz="2400" b="1">
                      <a:cs typeface="Times New Roman" panose="02020603050405020304" pitchFamily="18" charset="0"/>
                    </a:rPr>
                    <a:t>  Complex</a:t>
                  </a:r>
                </a:p>
                <a:p>
                  <a:pPr algn="just">
                    <a:spcBef>
                      <a:spcPct val="0"/>
                    </a:spcBef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5665" name="Rectangle 93">
                  <a:extLst>
                    <a:ext uri="{FF2B5EF4-FFF2-40B4-BE49-F238E27FC236}">
                      <a16:creationId xmlns:a16="http://schemas.microsoft.com/office/drawing/2014/main" xmlns="" id="{BDB84F2D-A331-A0F0-1CC3-210C12EB6B6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0"/>
                  <a:ext cx="1008" cy="63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GB" altLang="en-US" sz="2400"/>
                </a:p>
              </p:txBody>
            </p:sp>
          </p:grpSp>
          <p:grpSp>
            <p:nvGrpSpPr>
              <p:cNvPr id="25607" name="Group 96">
                <a:extLst>
                  <a:ext uri="{FF2B5EF4-FFF2-40B4-BE49-F238E27FC236}">
                    <a16:creationId xmlns:a16="http://schemas.microsoft.com/office/drawing/2014/main" xmlns="" id="{E272EA41-11B1-A189-E3A2-AE472E70C03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008" y="0"/>
                <a:ext cx="1238" cy="634"/>
                <a:chOff x="1008" y="0"/>
                <a:chExt cx="1238" cy="634"/>
              </a:xfrm>
            </p:grpSpPr>
            <p:sp>
              <p:nvSpPr>
                <p:cNvPr id="25662" name="Rectangle 74">
                  <a:extLst>
                    <a:ext uri="{FF2B5EF4-FFF2-40B4-BE49-F238E27FC236}">
                      <a16:creationId xmlns:a16="http://schemas.microsoft.com/office/drawing/2014/main" xmlns="" id="{C0ADBBA1-625C-2F25-78D8-4485DA3A232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51" y="0"/>
                  <a:ext cx="1152" cy="6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50784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2400" b="1">
                    <a:cs typeface="Times New Roman" panose="02020603050405020304" pitchFamily="18" charset="0"/>
                  </a:endParaRPr>
                </a:p>
                <a:p>
                  <a:pPr>
                    <a:buFontTx/>
                    <a:buNone/>
                  </a:pPr>
                  <a:r>
                    <a:rPr lang="en-US" altLang="en-US" sz="2400" b="1">
                      <a:cs typeface="Times New Roman" panose="02020603050405020304" pitchFamily="18" charset="0"/>
                    </a:rPr>
                    <a:t>  Name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5663" name="Rectangle 95">
                  <a:extLst>
                    <a:ext uri="{FF2B5EF4-FFF2-40B4-BE49-F238E27FC236}">
                      <a16:creationId xmlns:a16="http://schemas.microsoft.com/office/drawing/2014/main" xmlns="" id="{FD87CF51-B877-C3AB-3879-DE1B7A64F9E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8" y="0"/>
                  <a:ext cx="1238" cy="63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GB" altLang="en-US" sz="2400"/>
                </a:p>
              </p:txBody>
            </p:sp>
          </p:grpSp>
          <p:grpSp>
            <p:nvGrpSpPr>
              <p:cNvPr id="25608" name="Group 98">
                <a:extLst>
                  <a:ext uri="{FF2B5EF4-FFF2-40B4-BE49-F238E27FC236}">
                    <a16:creationId xmlns:a16="http://schemas.microsoft.com/office/drawing/2014/main" xmlns="" id="{E37C8075-9A91-4416-89AD-EBA64E5E474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246" y="0"/>
                <a:ext cx="777" cy="634"/>
                <a:chOff x="2246" y="0"/>
                <a:chExt cx="777" cy="634"/>
              </a:xfrm>
            </p:grpSpPr>
            <p:sp>
              <p:nvSpPr>
                <p:cNvPr id="25660" name="Rectangle 75">
                  <a:extLst>
                    <a:ext uri="{FF2B5EF4-FFF2-40B4-BE49-F238E27FC236}">
                      <a16:creationId xmlns:a16="http://schemas.microsoft.com/office/drawing/2014/main" xmlns="" id="{A596CD8E-2C34-37E3-9F18-4E262ABD455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289" y="0"/>
                  <a:ext cx="691" cy="6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 b="1">
                      <a:cs typeface="Times New Roman" panose="02020603050405020304" pitchFamily="18" charset="0"/>
                    </a:rPr>
                    <a:t>No. of Proteins</a:t>
                  </a:r>
                  <a:endParaRPr lang="en-US" altLang="en-US" sz="2400">
                    <a:cs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5661" name="Rectangle 97">
                  <a:extLst>
                    <a:ext uri="{FF2B5EF4-FFF2-40B4-BE49-F238E27FC236}">
                      <a16:creationId xmlns:a16="http://schemas.microsoft.com/office/drawing/2014/main" xmlns="" id="{9CD02689-36BD-C0EE-FA60-8A050ED8614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246" y="0"/>
                  <a:ext cx="777" cy="63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GB" altLang="en-US" sz="2400"/>
                </a:p>
              </p:txBody>
            </p:sp>
          </p:grpSp>
          <p:grpSp>
            <p:nvGrpSpPr>
              <p:cNvPr id="25609" name="Group 100">
                <a:extLst>
                  <a:ext uri="{FF2B5EF4-FFF2-40B4-BE49-F238E27FC236}">
                    <a16:creationId xmlns:a16="http://schemas.microsoft.com/office/drawing/2014/main" xmlns="" id="{607690DC-A134-B46E-E824-B8C38B0543E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023" y="0"/>
                <a:ext cx="1180" cy="634"/>
                <a:chOff x="3023" y="0"/>
                <a:chExt cx="1180" cy="634"/>
              </a:xfrm>
            </p:grpSpPr>
            <p:sp>
              <p:nvSpPr>
                <p:cNvPr id="25658" name="Rectangle 76">
                  <a:extLst>
                    <a:ext uri="{FF2B5EF4-FFF2-40B4-BE49-F238E27FC236}">
                      <a16:creationId xmlns:a16="http://schemas.microsoft.com/office/drawing/2014/main" xmlns="" id="{424D0797-BC17-5C17-8616-03CE5ABB3FA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066" y="0"/>
                  <a:ext cx="1094" cy="6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 b="1">
                      <a:cs typeface="Times New Roman" panose="02020603050405020304" pitchFamily="18" charset="0"/>
                    </a:rPr>
                    <a:t>Prosthetic Groups</a:t>
                  </a:r>
                  <a:endParaRPr lang="en-US" altLang="en-US" sz="2400">
                    <a:cs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5659" name="Rectangle 99">
                  <a:extLst>
                    <a:ext uri="{FF2B5EF4-FFF2-40B4-BE49-F238E27FC236}">
                      <a16:creationId xmlns:a16="http://schemas.microsoft.com/office/drawing/2014/main" xmlns="" id="{093B6BAC-A480-1386-EF85-0E904E397D7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023" y="0"/>
                  <a:ext cx="1180" cy="63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GB" altLang="en-US" sz="2400"/>
                </a:p>
              </p:txBody>
            </p:sp>
          </p:grpSp>
          <p:grpSp>
            <p:nvGrpSpPr>
              <p:cNvPr id="25610" name="Group 102">
                <a:extLst>
                  <a:ext uri="{FF2B5EF4-FFF2-40B4-BE49-F238E27FC236}">
                    <a16:creationId xmlns:a16="http://schemas.microsoft.com/office/drawing/2014/main" xmlns="" id="{5E098E34-AF82-1A95-3C2D-9AD7A2E3B81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0" y="634"/>
                <a:ext cx="1008" cy="634"/>
                <a:chOff x="0" y="634"/>
                <a:chExt cx="1008" cy="634"/>
              </a:xfrm>
            </p:grpSpPr>
            <p:sp>
              <p:nvSpPr>
                <p:cNvPr id="25656" name="Rectangle 77">
                  <a:extLst>
                    <a:ext uri="{FF2B5EF4-FFF2-40B4-BE49-F238E27FC236}">
                      <a16:creationId xmlns:a16="http://schemas.microsoft.com/office/drawing/2014/main" xmlns="" id="{C92F621D-7FD9-2178-E0B3-73BAB41032B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" y="634"/>
                  <a:ext cx="922" cy="6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 b="1">
                      <a:solidFill>
                        <a:srgbClr val="000080"/>
                      </a:solidFill>
                      <a:cs typeface="Times New Roman" panose="02020603050405020304" pitchFamily="18" charset="0"/>
                    </a:rPr>
                    <a:t>Complex I</a:t>
                  </a:r>
                  <a:endParaRPr lang="en-US" altLang="en-US" sz="2400">
                    <a:cs typeface="Times New Roman" panose="02020603050405020304" pitchFamily="18" charset="0"/>
                  </a:endParaRPr>
                </a:p>
                <a:p>
                  <a:pPr algn="just">
                    <a:spcBef>
                      <a:spcPct val="0"/>
                    </a:spcBef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5657" name="Rectangle 101">
                  <a:extLst>
                    <a:ext uri="{FF2B5EF4-FFF2-40B4-BE49-F238E27FC236}">
                      <a16:creationId xmlns:a16="http://schemas.microsoft.com/office/drawing/2014/main" xmlns="" id="{F90AD9F8-FEEC-311B-1C78-0C51337232B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634"/>
                  <a:ext cx="1008" cy="63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GB" altLang="en-US" sz="2400"/>
                </a:p>
              </p:txBody>
            </p:sp>
          </p:grpSp>
          <p:grpSp>
            <p:nvGrpSpPr>
              <p:cNvPr id="25611" name="Group 104">
                <a:extLst>
                  <a:ext uri="{FF2B5EF4-FFF2-40B4-BE49-F238E27FC236}">
                    <a16:creationId xmlns:a16="http://schemas.microsoft.com/office/drawing/2014/main" xmlns="" id="{663BF742-599C-B375-9508-3A4C093E6E9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008" y="634"/>
                <a:ext cx="1238" cy="634"/>
                <a:chOff x="1008" y="634"/>
                <a:chExt cx="1238" cy="634"/>
              </a:xfrm>
            </p:grpSpPr>
            <p:sp>
              <p:nvSpPr>
                <p:cNvPr id="25654" name="Rectangle 78">
                  <a:extLst>
                    <a:ext uri="{FF2B5EF4-FFF2-40B4-BE49-F238E27FC236}">
                      <a16:creationId xmlns:a16="http://schemas.microsoft.com/office/drawing/2014/main" xmlns="" id="{FA7973AD-C187-CC71-752F-8B5B4A8DE1E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51" y="634"/>
                  <a:ext cx="1152" cy="6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 b="1">
                      <a:solidFill>
                        <a:srgbClr val="000080"/>
                      </a:solidFill>
                      <a:cs typeface="Times New Roman" panose="02020603050405020304" pitchFamily="18" charset="0"/>
                    </a:rPr>
                    <a:t>NADH Dehydrogenase</a:t>
                  </a:r>
                  <a:endParaRPr lang="en-US" altLang="en-US" sz="2400">
                    <a:cs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5655" name="Rectangle 103">
                  <a:extLst>
                    <a:ext uri="{FF2B5EF4-FFF2-40B4-BE49-F238E27FC236}">
                      <a16:creationId xmlns:a16="http://schemas.microsoft.com/office/drawing/2014/main" xmlns="" id="{CE8B27B6-FA5F-71C1-B5F1-2B0E14BF2F1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8" y="634"/>
                  <a:ext cx="1238" cy="63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GB" altLang="en-US" sz="2400"/>
                </a:p>
              </p:txBody>
            </p:sp>
          </p:grpSp>
          <p:grpSp>
            <p:nvGrpSpPr>
              <p:cNvPr id="25612" name="Group 106">
                <a:extLst>
                  <a:ext uri="{FF2B5EF4-FFF2-40B4-BE49-F238E27FC236}">
                    <a16:creationId xmlns:a16="http://schemas.microsoft.com/office/drawing/2014/main" xmlns="" id="{7AC2012A-AFDC-52FD-9223-92C046CD20C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246" y="634"/>
                <a:ext cx="777" cy="634"/>
                <a:chOff x="2246" y="634"/>
                <a:chExt cx="777" cy="634"/>
              </a:xfrm>
            </p:grpSpPr>
            <p:sp>
              <p:nvSpPr>
                <p:cNvPr id="25652" name="Rectangle 79">
                  <a:extLst>
                    <a:ext uri="{FF2B5EF4-FFF2-40B4-BE49-F238E27FC236}">
                      <a16:creationId xmlns:a16="http://schemas.microsoft.com/office/drawing/2014/main" xmlns="" id="{45EB5D03-F8FC-1039-8C25-A9EB5D8C4AC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289" y="634"/>
                  <a:ext cx="691" cy="6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 b="1">
                      <a:solidFill>
                        <a:srgbClr val="000080"/>
                      </a:solidFill>
                      <a:cs typeface="Times New Roman" panose="02020603050405020304" pitchFamily="18" charset="0"/>
                    </a:rPr>
                    <a:t>  46</a:t>
                  </a:r>
                  <a:endParaRPr lang="en-US" altLang="en-US" sz="2400">
                    <a:cs typeface="Times New Roman" panose="02020603050405020304" pitchFamily="18" charset="0"/>
                  </a:endParaRPr>
                </a:p>
                <a:p>
                  <a:pPr algn="just">
                    <a:spcBef>
                      <a:spcPct val="0"/>
                    </a:spcBef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5653" name="Rectangle 105">
                  <a:extLst>
                    <a:ext uri="{FF2B5EF4-FFF2-40B4-BE49-F238E27FC236}">
                      <a16:creationId xmlns:a16="http://schemas.microsoft.com/office/drawing/2014/main" xmlns="" id="{C9E60987-7C57-F062-A5C4-AFC0DE6BB9E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246" y="634"/>
                  <a:ext cx="777" cy="63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GB" altLang="en-US" sz="2400"/>
                </a:p>
              </p:txBody>
            </p:sp>
          </p:grpSp>
          <p:grpSp>
            <p:nvGrpSpPr>
              <p:cNvPr id="25613" name="Group 108">
                <a:extLst>
                  <a:ext uri="{FF2B5EF4-FFF2-40B4-BE49-F238E27FC236}">
                    <a16:creationId xmlns:a16="http://schemas.microsoft.com/office/drawing/2014/main" xmlns="" id="{F33733D2-7B4A-ACAC-A4DB-19D9ED7A01E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023" y="634"/>
                <a:ext cx="1180" cy="634"/>
                <a:chOff x="3023" y="634"/>
                <a:chExt cx="1180" cy="634"/>
              </a:xfrm>
            </p:grpSpPr>
            <p:sp>
              <p:nvSpPr>
                <p:cNvPr id="25650" name="Rectangle 80">
                  <a:extLst>
                    <a:ext uri="{FF2B5EF4-FFF2-40B4-BE49-F238E27FC236}">
                      <a16:creationId xmlns:a16="http://schemas.microsoft.com/office/drawing/2014/main" xmlns="" id="{87B69A9C-D867-F2C5-90E5-1529EBE2C1E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066" y="634"/>
                  <a:ext cx="1094" cy="6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 b="1">
                      <a:solidFill>
                        <a:srgbClr val="000080"/>
                      </a:solidFill>
                      <a:cs typeface="Times New Roman" panose="02020603050405020304" pitchFamily="18" charset="0"/>
                    </a:rPr>
                    <a:t>FMN, </a:t>
                  </a:r>
                  <a:endParaRPr lang="en-US" altLang="en-US" sz="2400">
                    <a:cs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 b="1">
                      <a:solidFill>
                        <a:srgbClr val="000080"/>
                      </a:solidFill>
                      <a:cs typeface="Times New Roman" panose="02020603050405020304" pitchFamily="18" charset="0"/>
                    </a:rPr>
                    <a:t>9 Fe-S cntrs.</a:t>
                  </a:r>
                  <a:endParaRPr lang="en-US" altLang="en-US" sz="2400">
                    <a:cs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5651" name="Rectangle 107">
                  <a:extLst>
                    <a:ext uri="{FF2B5EF4-FFF2-40B4-BE49-F238E27FC236}">
                      <a16:creationId xmlns:a16="http://schemas.microsoft.com/office/drawing/2014/main" xmlns="" id="{B7755CE5-1824-3AB5-E712-FBA47B7E602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023" y="634"/>
                  <a:ext cx="1180" cy="63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GB" altLang="en-US" sz="2400"/>
                </a:p>
              </p:txBody>
            </p:sp>
          </p:grpSp>
          <p:grpSp>
            <p:nvGrpSpPr>
              <p:cNvPr id="25614" name="Group 110">
                <a:extLst>
                  <a:ext uri="{FF2B5EF4-FFF2-40B4-BE49-F238E27FC236}">
                    <a16:creationId xmlns:a16="http://schemas.microsoft.com/office/drawing/2014/main" xmlns="" id="{FB557A15-5D0B-8AC8-7EF5-156F9EC6D99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0" y="1268"/>
                <a:ext cx="1008" cy="634"/>
                <a:chOff x="0" y="1268"/>
                <a:chExt cx="1008" cy="634"/>
              </a:xfrm>
            </p:grpSpPr>
            <p:sp>
              <p:nvSpPr>
                <p:cNvPr id="25648" name="Rectangle 81">
                  <a:extLst>
                    <a:ext uri="{FF2B5EF4-FFF2-40B4-BE49-F238E27FC236}">
                      <a16:creationId xmlns:a16="http://schemas.microsoft.com/office/drawing/2014/main" xmlns="" id="{AAC8A1C2-7A5A-274A-FEDA-4BC5A580008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" y="1268"/>
                  <a:ext cx="922" cy="6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 b="1">
                      <a:solidFill>
                        <a:srgbClr val="008000"/>
                      </a:solidFill>
                      <a:cs typeface="Times New Roman" panose="02020603050405020304" pitchFamily="18" charset="0"/>
                    </a:rPr>
                    <a:t>Complex II</a:t>
                  </a:r>
                  <a:endParaRPr lang="en-US" altLang="en-US" sz="2400">
                    <a:cs typeface="Times New Roman" panose="02020603050405020304" pitchFamily="18" charset="0"/>
                  </a:endParaRPr>
                </a:p>
                <a:p>
                  <a:pPr algn="just">
                    <a:spcBef>
                      <a:spcPct val="0"/>
                    </a:spcBef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5649" name="Rectangle 109">
                  <a:extLst>
                    <a:ext uri="{FF2B5EF4-FFF2-40B4-BE49-F238E27FC236}">
                      <a16:creationId xmlns:a16="http://schemas.microsoft.com/office/drawing/2014/main" xmlns="" id="{4DCF19DD-CD46-EDB1-B88C-6354FE6E3F0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1268"/>
                  <a:ext cx="1008" cy="63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GB" altLang="en-US" sz="2400"/>
                </a:p>
              </p:txBody>
            </p:sp>
          </p:grpSp>
          <p:grpSp>
            <p:nvGrpSpPr>
              <p:cNvPr id="25615" name="Group 112">
                <a:extLst>
                  <a:ext uri="{FF2B5EF4-FFF2-40B4-BE49-F238E27FC236}">
                    <a16:creationId xmlns:a16="http://schemas.microsoft.com/office/drawing/2014/main" xmlns="" id="{8BF6C5B5-522D-756C-B725-C607DC0FCCB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008" y="1268"/>
                <a:ext cx="1238" cy="634"/>
                <a:chOff x="1008" y="1268"/>
                <a:chExt cx="1238" cy="634"/>
              </a:xfrm>
            </p:grpSpPr>
            <p:sp>
              <p:nvSpPr>
                <p:cNvPr id="25646" name="Rectangle 82">
                  <a:extLst>
                    <a:ext uri="{FF2B5EF4-FFF2-40B4-BE49-F238E27FC236}">
                      <a16:creationId xmlns:a16="http://schemas.microsoft.com/office/drawing/2014/main" xmlns="" id="{36656B2B-D0EF-C754-CD36-2703CD958ED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51" y="1268"/>
                  <a:ext cx="1152" cy="6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 b="1">
                      <a:solidFill>
                        <a:srgbClr val="008000"/>
                      </a:solidFill>
                      <a:cs typeface="Times New Roman" panose="02020603050405020304" pitchFamily="18" charset="0"/>
                    </a:rPr>
                    <a:t>Succinate-CoQ Reductase</a:t>
                  </a:r>
                  <a:endParaRPr lang="en-US" altLang="en-US" sz="2400">
                    <a:cs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5647" name="Rectangle 111">
                  <a:extLst>
                    <a:ext uri="{FF2B5EF4-FFF2-40B4-BE49-F238E27FC236}">
                      <a16:creationId xmlns:a16="http://schemas.microsoft.com/office/drawing/2014/main" xmlns="" id="{FB69B73E-42D7-61DC-5671-BB04E47AEB5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8" y="1268"/>
                  <a:ext cx="1238" cy="63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GB" altLang="en-US" sz="2400"/>
                </a:p>
              </p:txBody>
            </p:sp>
          </p:grpSp>
          <p:grpSp>
            <p:nvGrpSpPr>
              <p:cNvPr id="25616" name="Group 114">
                <a:extLst>
                  <a:ext uri="{FF2B5EF4-FFF2-40B4-BE49-F238E27FC236}">
                    <a16:creationId xmlns:a16="http://schemas.microsoft.com/office/drawing/2014/main" xmlns="" id="{18CE527A-4D84-FF94-2EDF-5A4AF750DA7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246" y="1268"/>
                <a:ext cx="777" cy="634"/>
                <a:chOff x="2246" y="1268"/>
                <a:chExt cx="777" cy="634"/>
              </a:xfrm>
            </p:grpSpPr>
            <p:sp>
              <p:nvSpPr>
                <p:cNvPr id="25644" name="Rectangle 83">
                  <a:extLst>
                    <a:ext uri="{FF2B5EF4-FFF2-40B4-BE49-F238E27FC236}">
                      <a16:creationId xmlns:a16="http://schemas.microsoft.com/office/drawing/2014/main" xmlns="" id="{E5849750-BB7A-A9FD-0654-D8D3A55D3D5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289" y="1268"/>
                  <a:ext cx="691" cy="6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 b="1">
                      <a:solidFill>
                        <a:srgbClr val="008000"/>
                      </a:solidFill>
                      <a:cs typeface="Times New Roman" panose="02020603050405020304" pitchFamily="18" charset="0"/>
                    </a:rPr>
                    <a:t>   5</a:t>
                  </a:r>
                  <a:endParaRPr lang="en-US" altLang="en-US" sz="2400">
                    <a:cs typeface="Times New Roman" panose="02020603050405020304" pitchFamily="18" charset="0"/>
                  </a:endParaRPr>
                </a:p>
                <a:p>
                  <a:pPr algn="just">
                    <a:spcBef>
                      <a:spcPct val="0"/>
                    </a:spcBef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5645" name="Rectangle 113">
                  <a:extLst>
                    <a:ext uri="{FF2B5EF4-FFF2-40B4-BE49-F238E27FC236}">
                      <a16:creationId xmlns:a16="http://schemas.microsoft.com/office/drawing/2014/main" xmlns="" id="{DB2C76DC-347D-42B0-3994-666A58E3E1B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246" y="1268"/>
                  <a:ext cx="777" cy="63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GB" altLang="en-US" sz="2400"/>
                </a:p>
              </p:txBody>
            </p:sp>
          </p:grpSp>
          <p:grpSp>
            <p:nvGrpSpPr>
              <p:cNvPr id="25617" name="Group 116">
                <a:extLst>
                  <a:ext uri="{FF2B5EF4-FFF2-40B4-BE49-F238E27FC236}">
                    <a16:creationId xmlns:a16="http://schemas.microsoft.com/office/drawing/2014/main" xmlns="" id="{C979BBA7-3363-F556-CEDA-6DA16077AA9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023" y="1268"/>
                <a:ext cx="1180" cy="634"/>
                <a:chOff x="3023" y="1268"/>
                <a:chExt cx="1180" cy="634"/>
              </a:xfrm>
            </p:grpSpPr>
            <p:sp>
              <p:nvSpPr>
                <p:cNvPr id="25642" name="Rectangle 84">
                  <a:extLst>
                    <a:ext uri="{FF2B5EF4-FFF2-40B4-BE49-F238E27FC236}">
                      <a16:creationId xmlns:a16="http://schemas.microsoft.com/office/drawing/2014/main" xmlns="" id="{065CFDD2-C3E3-9E96-9784-8E21BAFC8F6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066" y="1268"/>
                  <a:ext cx="1094" cy="6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 b="1">
                      <a:solidFill>
                        <a:srgbClr val="008000"/>
                      </a:solidFill>
                      <a:cs typeface="Times New Roman" panose="02020603050405020304" pitchFamily="18" charset="0"/>
                    </a:rPr>
                    <a:t>FAD, cyt b</a:t>
                  </a:r>
                  <a:r>
                    <a:rPr lang="en-US" altLang="en-US" sz="2400" b="1" baseline="-30000">
                      <a:solidFill>
                        <a:srgbClr val="008000"/>
                      </a:solidFill>
                      <a:cs typeface="Times New Roman" panose="02020603050405020304" pitchFamily="18" charset="0"/>
                    </a:rPr>
                    <a:t>560</a:t>
                  </a:r>
                  <a:r>
                    <a:rPr lang="en-US" altLang="en-US" sz="2400" b="1">
                      <a:solidFill>
                        <a:srgbClr val="008000"/>
                      </a:solidFill>
                      <a:cs typeface="Times New Roman" panose="02020603050405020304" pitchFamily="18" charset="0"/>
                    </a:rPr>
                    <a:t>, </a:t>
                  </a:r>
                  <a:endParaRPr lang="en-US" altLang="en-US" sz="2400">
                    <a:cs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 b="1">
                      <a:solidFill>
                        <a:srgbClr val="008000"/>
                      </a:solidFill>
                      <a:cs typeface="Times New Roman" panose="02020603050405020304" pitchFamily="18" charset="0"/>
                    </a:rPr>
                    <a:t>3 Fe-S cntrs.</a:t>
                  </a:r>
                  <a:endParaRPr lang="en-US" altLang="en-US" sz="2400">
                    <a:cs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5643" name="Rectangle 115">
                  <a:extLst>
                    <a:ext uri="{FF2B5EF4-FFF2-40B4-BE49-F238E27FC236}">
                      <a16:creationId xmlns:a16="http://schemas.microsoft.com/office/drawing/2014/main" xmlns="" id="{2F7FFB5D-A8EE-5FFC-A841-D7CB76BA042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023" y="1268"/>
                  <a:ext cx="1180" cy="63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GB" altLang="en-US" sz="2400"/>
                </a:p>
              </p:txBody>
            </p:sp>
          </p:grpSp>
          <p:grpSp>
            <p:nvGrpSpPr>
              <p:cNvPr id="25618" name="Group 118">
                <a:extLst>
                  <a:ext uri="{FF2B5EF4-FFF2-40B4-BE49-F238E27FC236}">
                    <a16:creationId xmlns:a16="http://schemas.microsoft.com/office/drawing/2014/main" xmlns="" id="{24BA316F-EB38-A5B4-B33F-5257DAE92FE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0" y="1902"/>
                <a:ext cx="1008" cy="634"/>
                <a:chOff x="0" y="1902"/>
                <a:chExt cx="1008" cy="634"/>
              </a:xfrm>
            </p:grpSpPr>
            <p:sp>
              <p:nvSpPr>
                <p:cNvPr id="25640" name="Rectangle 85">
                  <a:extLst>
                    <a:ext uri="{FF2B5EF4-FFF2-40B4-BE49-F238E27FC236}">
                      <a16:creationId xmlns:a16="http://schemas.microsoft.com/office/drawing/2014/main" xmlns="" id="{4C34C079-76DF-04B3-036B-CA67330AF61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" y="1902"/>
                  <a:ext cx="922" cy="6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 b="1">
                      <a:solidFill>
                        <a:srgbClr val="800000"/>
                      </a:solidFill>
                      <a:cs typeface="Times New Roman" panose="02020603050405020304" pitchFamily="18" charset="0"/>
                    </a:rPr>
                    <a:t>Complex III</a:t>
                  </a:r>
                  <a:endParaRPr lang="en-US" altLang="en-US" sz="2400">
                    <a:cs typeface="Times New Roman" panose="02020603050405020304" pitchFamily="18" charset="0"/>
                  </a:endParaRPr>
                </a:p>
                <a:p>
                  <a:pPr algn="just">
                    <a:spcBef>
                      <a:spcPct val="0"/>
                    </a:spcBef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5641" name="Rectangle 117">
                  <a:extLst>
                    <a:ext uri="{FF2B5EF4-FFF2-40B4-BE49-F238E27FC236}">
                      <a16:creationId xmlns:a16="http://schemas.microsoft.com/office/drawing/2014/main" xmlns="" id="{E21E2530-04D4-0E98-1DA5-0990D468BF5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1902"/>
                  <a:ext cx="1008" cy="63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GB" altLang="en-US" sz="2400"/>
                </a:p>
              </p:txBody>
            </p:sp>
          </p:grpSp>
          <p:grpSp>
            <p:nvGrpSpPr>
              <p:cNvPr id="25619" name="Group 120">
                <a:extLst>
                  <a:ext uri="{FF2B5EF4-FFF2-40B4-BE49-F238E27FC236}">
                    <a16:creationId xmlns:a16="http://schemas.microsoft.com/office/drawing/2014/main" xmlns="" id="{3A03EAF6-4B07-0014-A8B2-E733B185372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008" y="1902"/>
                <a:ext cx="1238" cy="634"/>
                <a:chOff x="1008" y="1902"/>
                <a:chExt cx="1238" cy="634"/>
              </a:xfrm>
            </p:grpSpPr>
            <p:sp>
              <p:nvSpPr>
                <p:cNvPr id="25638" name="Rectangle 86">
                  <a:extLst>
                    <a:ext uri="{FF2B5EF4-FFF2-40B4-BE49-F238E27FC236}">
                      <a16:creationId xmlns:a16="http://schemas.microsoft.com/office/drawing/2014/main" xmlns="" id="{D3ABDBEE-EDD5-C009-7811-3E46B02D503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51" y="1902"/>
                  <a:ext cx="1152" cy="6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 b="1">
                      <a:solidFill>
                        <a:srgbClr val="800000"/>
                      </a:solidFill>
                      <a:cs typeface="Times New Roman" panose="02020603050405020304" pitchFamily="18" charset="0"/>
                    </a:rPr>
                    <a:t>CoQ-cyt c Reductase</a:t>
                  </a:r>
                  <a:endParaRPr lang="en-US" altLang="en-US" sz="2400">
                    <a:cs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5639" name="Rectangle 119">
                  <a:extLst>
                    <a:ext uri="{FF2B5EF4-FFF2-40B4-BE49-F238E27FC236}">
                      <a16:creationId xmlns:a16="http://schemas.microsoft.com/office/drawing/2014/main" xmlns="" id="{55779665-DD75-B4FA-3FC7-176FDB95597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8" y="1902"/>
                  <a:ext cx="1238" cy="63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GB" altLang="en-US" sz="2400"/>
                </a:p>
              </p:txBody>
            </p:sp>
          </p:grpSp>
          <p:grpSp>
            <p:nvGrpSpPr>
              <p:cNvPr id="25620" name="Group 122">
                <a:extLst>
                  <a:ext uri="{FF2B5EF4-FFF2-40B4-BE49-F238E27FC236}">
                    <a16:creationId xmlns:a16="http://schemas.microsoft.com/office/drawing/2014/main" xmlns="" id="{0A1AAAC2-26E1-A62D-A70E-446BCF3E05C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246" y="1902"/>
                <a:ext cx="777" cy="634"/>
                <a:chOff x="2246" y="1902"/>
                <a:chExt cx="777" cy="634"/>
              </a:xfrm>
            </p:grpSpPr>
            <p:sp>
              <p:nvSpPr>
                <p:cNvPr id="25636" name="Rectangle 87">
                  <a:extLst>
                    <a:ext uri="{FF2B5EF4-FFF2-40B4-BE49-F238E27FC236}">
                      <a16:creationId xmlns:a16="http://schemas.microsoft.com/office/drawing/2014/main" xmlns="" id="{34385DBE-4D2D-D340-01F0-F30129562EE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289" y="1902"/>
                  <a:ext cx="691" cy="6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 b="1">
                      <a:solidFill>
                        <a:srgbClr val="800000"/>
                      </a:solidFill>
                      <a:cs typeface="Times New Roman" panose="02020603050405020304" pitchFamily="18" charset="0"/>
                    </a:rPr>
                    <a:t>  11</a:t>
                  </a:r>
                  <a:endParaRPr lang="en-US" altLang="en-US" sz="2400">
                    <a:cs typeface="Times New Roman" panose="02020603050405020304" pitchFamily="18" charset="0"/>
                  </a:endParaRPr>
                </a:p>
                <a:p>
                  <a:pPr algn="just">
                    <a:spcBef>
                      <a:spcPct val="0"/>
                    </a:spcBef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5637" name="Rectangle 121">
                  <a:extLst>
                    <a:ext uri="{FF2B5EF4-FFF2-40B4-BE49-F238E27FC236}">
                      <a16:creationId xmlns:a16="http://schemas.microsoft.com/office/drawing/2014/main" xmlns="" id="{2FE155F1-A258-19AF-4B32-2A2694CD1F6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246" y="1902"/>
                  <a:ext cx="777" cy="63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GB" altLang="en-US" sz="2400"/>
                </a:p>
              </p:txBody>
            </p:sp>
          </p:grpSp>
          <p:grpSp>
            <p:nvGrpSpPr>
              <p:cNvPr id="25621" name="Group 124">
                <a:extLst>
                  <a:ext uri="{FF2B5EF4-FFF2-40B4-BE49-F238E27FC236}">
                    <a16:creationId xmlns:a16="http://schemas.microsoft.com/office/drawing/2014/main" xmlns="" id="{C1E83AC4-ABE5-0A90-FB64-A9C59F8FBC9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023" y="1902"/>
                <a:ext cx="1180" cy="634"/>
                <a:chOff x="3023" y="1902"/>
                <a:chExt cx="1180" cy="634"/>
              </a:xfrm>
            </p:grpSpPr>
            <p:sp>
              <p:nvSpPr>
                <p:cNvPr id="25634" name="Rectangle 88">
                  <a:extLst>
                    <a:ext uri="{FF2B5EF4-FFF2-40B4-BE49-F238E27FC236}">
                      <a16:creationId xmlns:a16="http://schemas.microsoft.com/office/drawing/2014/main" xmlns="" id="{87919A3D-2082-02A3-9228-D1E025B7C21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066" y="1902"/>
                  <a:ext cx="1094" cy="6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 b="1">
                      <a:solidFill>
                        <a:srgbClr val="800000"/>
                      </a:solidFill>
                      <a:cs typeface="Times New Roman" panose="02020603050405020304" pitchFamily="18" charset="0"/>
                    </a:rPr>
                    <a:t>cyt b</a:t>
                  </a:r>
                  <a:r>
                    <a:rPr lang="en-US" altLang="en-US" sz="2400" b="1" baseline="-30000">
                      <a:solidFill>
                        <a:srgbClr val="800000"/>
                      </a:solidFill>
                      <a:cs typeface="Times New Roman" panose="02020603050405020304" pitchFamily="18" charset="0"/>
                    </a:rPr>
                    <a:t>H</a:t>
                  </a:r>
                  <a:r>
                    <a:rPr lang="en-US" altLang="en-US" sz="2400" b="1">
                      <a:solidFill>
                        <a:srgbClr val="800000"/>
                      </a:solidFill>
                      <a:cs typeface="Times New Roman" panose="02020603050405020304" pitchFamily="18" charset="0"/>
                    </a:rPr>
                    <a:t>, cyt b</a:t>
                  </a:r>
                  <a:r>
                    <a:rPr lang="en-US" altLang="en-US" sz="2400" b="1" baseline="-30000">
                      <a:solidFill>
                        <a:srgbClr val="800000"/>
                      </a:solidFill>
                      <a:cs typeface="Times New Roman" panose="02020603050405020304" pitchFamily="18" charset="0"/>
                    </a:rPr>
                    <a:t>L</a:t>
                  </a:r>
                  <a:r>
                    <a:rPr lang="en-US" altLang="en-US" sz="2400" b="1">
                      <a:solidFill>
                        <a:srgbClr val="800000"/>
                      </a:solidFill>
                      <a:cs typeface="Times New Roman" panose="02020603050405020304" pitchFamily="18" charset="0"/>
                    </a:rPr>
                    <a:t>, cyt c</a:t>
                  </a:r>
                  <a:r>
                    <a:rPr lang="en-US" altLang="en-US" sz="2400" b="1" baseline="-30000">
                      <a:solidFill>
                        <a:srgbClr val="800000"/>
                      </a:solidFill>
                      <a:cs typeface="Times New Roman" panose="02020603050405020304" pitchFamily="18" charset="0"/>
                    </a:rPr>
                    <a:t>1</a:t>
                  </a:r>
                  <a:r>
                    <a:rPr lang="en-US" altLang="en-US" sz="2400" b="1">
                      <a:solidFill>
                        <a:srgbClr val="800000"/>
                      </a:solidFill>
                      <a:cs typeface="Times New Roman" panose="02020603050405020304" pitchFamily="18" charset="0"/>
                    </a:rPr>
                    <a:t>, Fe-S</a:t>
                  </a:r>
                  <a:r>
                    <a:rPr lang="en-US" altLang="en-US" sz="2400" b="1" baseline="-30000">
                      <a:solidFill>
                        <a:srgbClr val="800000"/>
                      </a:solidFill>
                      <a:cs typeface="Times New Roman" panose="02020603050405020304" pitchFamily="18" charset="0"/>
                    </a:rPr>
                    <a:t>Rieske</a:t>
                  </a:r>
                  <a:endParaRPr lang="en-US" altLang="en-US" sz="2400">
                    <a:cs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5635" name="Rectangle 123">
                  <a:extLst>
                    <a:ext uri="{FF2B5EF4-FFF2-40B4-BE49-F238E27FC236}">
                      <a16:creationId xmlns:a16="http://schemas.microsoft.com/office/drawing/2014/main" xmlns="" id="{1FAF9B83-FA66-3AED-519A-D6892EB85CD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023" y="1902"/>
                  <a:ext cx="1180" cy="63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GB" altLang="en-US" sz="2400"/>
                </a:p>
              </p:txBody>
            </p:sp>
          </p:grpSp>
          <p:grpSp>
            <p:nvGrpSpPr>
              <p:cNvPr id="25622" name="Group 126">
                <a:extLst>
                  <a:ext uri="{FF2B5EF4-FFF2-40B4-BE49-F238E27FC236}">
                    <a16:creationId xmlns:a16="http://schemas.microsoft.com/office/drawing/2014/main" xmlns="" id="{46B1D6BD-8CDB-ED6E-CE8C-4B25CE6606E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0" y="2536"/>
                <a:ext cx="1008" cy="634"/>
                <a:chOff x="0" y="2536"/>
                <a:chExt cx="1008" cy="634"/>
              </a:xfrm>
            </p:grpSpPr>
            <p:sp>
              <p:nvSpPr>
                <p:cNvPr id="25632" name="Rectangle 89">
                  <a:extLst>
                    <a:ext uri="{FF2B5EF4-FFF2-40B4-BE49-F238E27FC236}">
                      <a16:creationId xmlns:a16="http://schemas.microsoft.com/office/drawing/2014/main" xmlns="" id="{40D13081-4AC6-D8AD-6AE7-68FB244A7DA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" y="2536"/>
                  <a:ext cx="922" cy="6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Complex IV</a:t>
                  </a:r>
                  <a:endParaRPr lang="en-US" altLang="en-US" sz="2400">
                    <a:cs typeface="Times New Roman" panose="02020603050405020304" pitchFamily="18" charset="0"/>
                  </a:endParaRPr>
                </a:p>
                <a:p>
                  <a:pPr algn="just">
                    <a:spcBef>
                      <a:spcPct val="0"/>
                    </a:spcBef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5633" name="Rectangle 125">
                  <a:extLst>
                    <a:ext uri="{FF2B5EF4-FFF2-40B4-BE49-F238E27FC236}">
                      <a16:creationId xmlns:a16="http://schemas.microsoft.com/office/drawing/2014/main" xmlns="" id="{4F71D17E-52EF-94CE-5A7C-B6BE82DD40B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2536"/>
                  <a:ext cx="1008" cy="63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GB" altLang="en-US" sz="2400"/>
                </a:p>
              </p:txBody>
            </p:sp>
          </p:grpSp>
          <p:grpSp>
            <p:nvGrpSpPr>
              <p:cNvPr id="25623" name="Group 128">
                <a:extLst>
                  <a:ext uri="{FF2B5EF4-FFF2-40B4-BE49-F238E27FC236}">
                    <a16:creationId xmlns:a16="http://schemas.microsoft.com/office/drawing/2014/main" xmlns="" id="{299554CB-D965-2EC4-2054-0AF657565CE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008" y="2536"/>
                <a:ext cx="1238" cy="634"/>
                <a:chOff x="1008" y="2536"/>
                <a:chExt cx="1238" cy="634"/>
              </a:xfrm>
            </p:grpSpPr>
            <p:sp>
              <p:nvSpPr>
                <p:cNvPr id="25630" name="Rectangle 90">
                  <a:extLst>
                    <a:ext uri="{FF2B5EF4-FFF2-40B4-BE49-F238E27FC236}">
                      <a16:creationId xmlns:a16="http://schemas.microsoft.com/office/drawing/2014/main" xmlns="" id="{53B80657-7BB5-905A-1CD7-95098AB673A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51" y="2536"/>
                  <a:ext cx="1152" cy="6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Cytochrome Oxidase</a:t>
                  </a:r>
                  <a:endParaRPr lang="en-US" altLang="en-US" sz="2400">
                    <a:cs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5631" name="Rectangle 127">
                  <a:extLst>
                    <a:ext uri="{FF2B5EF4-FFF2-40B4-BE49-F238E27FC236}">
                      <a16:creationId xmlns:a16="http://schemas.microsoft.com/office/drawing/2014/main" xmlns="" id="{5842CB91-0BD5-2317-0C8B-81FABC50622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8" y="2536"/>
                  <a:ext cx="1238" cy="63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GB" altLang="en-US" sz="2400"/>
                </a:p>
              </p:txBody>
            </p:sp>
          </p:grpSp>
          <p:grpSp>
            <p:nvGrpSpPr>
              <p:cNvPr id="25624" name="Group 130">
                <a:extLst>
                  <a:ext uri="{FF2B5EF4-FFF2-40B4-BE49-F238E27FC236}">
                    <a16:creationId xmlns:a16="http://schemas.microsoft.com/office/drawing/2014/main" xmlns="" id="{E2CE7F50-2D7F-5A82-F75E-73EA2543DBE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246" y="2536"/>
                <a:ext cx="777" cy="634"/>
                <a:chOff x="2246" y="2536"/>
                <a:chExt cx="777" cy="634"/>
              </a:xfrm>
            </p:grpSpPr>
            <p:sp>
              <p:nvSpPr>
                <p:cNvPr id="25628" name="Rectangle 91">
                  <a:extLst>
                    <a:ext uri="{FF2B5EF4-FFF2-40B4-BE49-F238E27FC236}">
                      <a16:creationId xmlns:a16="http://schemas.microsoft.com/office/drawing/2014/main" xmlns="" id="{9F754817-6337-0BC3-70BE-F9B84B1DC29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289" y="2536"/>
                  <a:ext cx="691" cy="6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  13</a:t>
                  </a:r>
                  <a:endParaRPr lang="en-US" altLang="en-US" sz="2400">
                    <a:cs typeface="Times New Roman" panose="02020603050405020304" pitchFamily="18" charset="0"/>
                  </a:endParaRPr>
                </a:p>
                <a:p>
                  <a:pPr algn="just">
                    <a:spcBef>
                      <a:spcPct val="0"/>
                    </a:spcBef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5629" name="Rectangle 129">
                  <a:extLst>
                    <a:ext uri="{FF2B5EF4-FFF2-40B4-BE49-F238E27FC236}">
                      <a16:creationId xmlns:a16="http://schemas.microsoft.com/office/drawing/2014/main" xmlns="" id="{AE8E1467-A175-6355-D05D-27DF872E295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246" y="2536"/>
                  <a:ext cx="777" cy="63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GB" altLang="en-US" sz="2400"/>
                </a:p>
              </p:txBody>
            </p:sp>
          </p:grpSp>
          <p:grpSp>
            <p:nvGrpSpPr>
              <p:cNvPr id="25625" name="Group 132">
                <a:extLst>
                  <a:ext uri="{FF2B5EF4-FFF2-40B4-BE49-F238E27FC236}">
                    <a16:creationId xmlns:a16="http://schemas.microsoft.com/office/drawing/2014/main" xmlns="" id="{B3E1553E-C2DB-7083-3955-64CBAA7D3AA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023" y="2536"/>
                <a:ext cx="1180" cy="634"/>
                <a:chOff x="3023" y="2536"/>
                <a:chExt cx="1180" cy="634"/>
              </a:xfrm>
            </p:grpSpPr>
            <p:sp>
              <p:nvSpPr>
                <p:cNvPr id="25626" name="Rectangle 92">
                  <a:extLst>
                    <a:ext uri="{FF2B5EF4-FFF2-40B4-BE49-F238E27FC236}">
                      <a16:creationId xmlns:a16="http://schemas.microsoft.com/office/drawing/2014/main" xmlns="" id="{124B07DF-0D33-26BC-1589-510F8C8915E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066" y="2536"/>
                  <a:ext cx="1094" cy="6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cyt a, cyt a</a:t>
                  </a:r>
                  <a:r>
                    <a:rPr lang="en-US" altLang="en-US" sz="2400" b="1" baseline="-30000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3</a:t>
                  </a:r>
                  <a:r>
                    <a:rPr lang="en-US" altLang="en-US" sz="24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, Cu</a:t>
                  </a:r>
                  <a:r>
                    <a:rPr lang="en-US" altLang="en-US" sz="2400" b="1" baseline="-30000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A</a:t>
                  </a:r>
                  <a:r>
                    <a:rPr lang="en-US" altLang="en-US" sz="2400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, Cu</a:t>
                  </a:r>
                  <a:r>
                    <a:rPr lang="en-US" altLang="en-US" sz="2400" b="1" baseline="-30000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B</a:t>
                  </a:r>
                  <a:endParaRPr lang="en-US" altLang="en-US" sz="2400">
                    <a:cs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5627" name="Rectangle 131">
                  <a:extLst>
                    <a:ext uri="{FF2B5EF4-FFF2-40B4-BE49-F238E27FC236}">
                      <a16:creationId xmlns:a16="http://schemas.microsoft.com/office/drawing/2014/main" xmlns="" id="{1FD773E9-6F35-3FF0-9EA7-553B5552282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023" y="2536"/>
                  <a:ext cx="1180" cy="63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GB" altLang="en-US" sz="2400"/>
                </a:p>
              </p:txBody>
            </p:sp>
          </p:grpSp>
        </p:grpSp>
        <p:sp>
          <p:nvSpPr>
            <p:cNvPr id="25605" name="Rectangle 134">
              <a:extLst>
                <a:ext uri="{FF2B5EF4-FFF2-40B4-BE49-F238E27FC236}">
                  <a16:creationId xmlns:a16="http://schemas.microsoft.com/office/drawing/2014/main" xmlns="" id="{F5B8B194-C266-481E-E54A-C9CAF1D0929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-3" y="-3"/>
              <a:ext cx="4209" cy="3176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GB" altLang="en-US" sz="240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xmlns="" id="{F7264839-D05C-11EE-C221-D29F132DBE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1475" y="3600450"/>
            <a:ext cx="8734425" cy="2163763"/>
          </a:xfrm>
        </p:spPr>
        <p:txBody>
          <a:bodyPr/>
          <a:lstStyle/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40000"/>
              </a:spcAft>
              <a:buFontTx/>
              <a:buNone/>
            </a:pPr>
            <a:r>
              <a:rPr lang="en-US" altLang="en-US" sz="2800" b="1">
                <a:solidFill>
                  <a:srgbClr val="000099"/>
                </a:solidFill>
              </a:rPr>
              <a:t>NADH + H</a:t>
            </a:r>
            <a:r>
              <a:rPr lang="en-US" altLang="en-US" sz="2800" b="1" baseline="30000">
                <a:solidFill>
                  <a:srgbClr val="000099"/>
                </a:solidFill>
              </a:rPr>
              <a:t>+</a:t>
            </a:r>
            <a:r>
              <a:rPr lang="en-US" altLang="en-US" sz="2800" b="1">
                <a:solidFill>
                  <a:srgbClr val="000099"/>
                </a:solidFill>
              </a:rPr>
              <a:t> + Q </a:t>
            </a:r>
            <a:r>
              <a:rPr lang="en-US" altLang="en-US" sz="2800" b="1">
                <a:solidFill>
                  <a:schemeClr val="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2800" b="1">
                <a:solidFill>
                  <a:srgbClr val="000099"/>
                </a:solidFill>
              </a:rPr>
              <a:t> NAD</a:t>
            </a:r>
            <a:r>
              <a:rPr lang="en-US" altLang="en-US" sz="2800" b="1" baseline="30000">
                <a:solidFill>
                  <a:srgbClr val="000099"/>
                </a:solidFill>
              </a:rPr>
              <a:t>+</a:t>
            </a:r>
            <a:r>
              <a:rPr lang="en-US" altLang="en-US" sz="2800" b="1">
                <a:solidFill>
                  <a:srgbClr val="000099"/>
                </a:solidFill>
              </a:rPr>
              <a:t> + QH</a:t>
            </a:r>
            <a:r>
              <a:rPr lang="en-US" altLang="en-US" sz="2800" b="1" baseline="-25000">
                <a:solidFill>
                  <a:srgbClr val="000099"/>
                </a:solidFill>
              </a:rPr>
              <a:t>2</a:t>
            </a:r>
            <a:endParaRPr lang="en-US" altLang="en-US" sz="2800"/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40000"/>
              </a:spcAft>
              <a:buFontTx/>
              <a:buNone/>
            </a:pPr>
            <a:r>
              <a:rPr lang="en-US" altLang="en-US" sz="2800"/>
              <a:t>An atomic-level structure is not yet available for the entire complex I, which in mammals includes at least </a:t>
            </a:r>
            <a:r>
              <a:rPr lang="en-US" altLang="en-US" sz="2800" b="1">
                <a:solidFill>
                  <a:srgbClr val="000099"/>
                </a:solidFill>
              </a:rPr>
              <a:t>46 proteins</a:t>
            </a:r>
            <a:r>
              <a:rPr lang="en-US" altLang="en-US" sz="2800"/>
              <a:t>, along with prosthetic groups </a:t>
            </a:r>
            <a:r>
              <a:rPr lang="en-US" altLang="en-US" sz="2800" b="1">
                <a:solidFill>
                  <a:srgbClr val="000099"/>
                </a:solidFill>
              </a:rPr>
              <a:t>FMN</a:t>
            </a:r>
            <a:r>
              <a:rPr lang="en-US" altLang="en-US" sz="2800"/>
              <a:t> &amp; several </a:t>
            </a:r>
            <a:r>
              <a:rPr lang="en-US" altLang="en-US" sz="2800" b="1">
                <a:solidFill>
                  <a:srgbClr val="000099"/>
                </a:solidFill>
              </a:rPr>
              <a:t>Fe-S centers</a:t>
            </a:r>
            <a:r>
              <a:rPr lang="en-US" altLang="en-US" sz="2800"/>
              <a:t>. </a:t>
            </a:r>
          </a:p>
        </p:txBody>
      </p:sp>
      <p:sp>
        <p:nvSpPr>
          <p:cNvPr id="26627" name="Rectangle 11">
            <a:extLst>
              <a:ext uri="{FF2B5EF4-FFF2-40B4-BE49-F238E27FC236}">
                <a16:creationId xmlns:a16="http://schemas.microsoft.com/office/drawing/2014/main" xmlns="" id="{C94532CB-0870-72C8-E355-86046203B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3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6628" name="Rectangle 12">
            <a:extLst>
              <a:ext uri="{FF2B5EF4-FFF2-40B4-BE49-F238E27FC236}">
                <a16:creationId xmlns:a16="http://schemas.microsoft.com/office/drawing/2014/main" xmlns="" id="{F06C6A77-8DB9-F1F6-7017-21CFDFE82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" y="952500"/>
            <a:ext cx="2609850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5000"/>
              </a:lnSpc>
              <a:spcBef>
                <a:spcPct val="0"/>
              </a:spcBef>
              <a:spcAft>
                <a:spcPct val="30000"/>
              </a:spcAft>
              <a:buFontTx/>
              <a:buNone/>
            </a:pPr>
            <a:r>
              <a:rPr lang="en-US" altLang="en-US" sz="2800" b="1">
                <a:solidFill>
                  <a:schemeClr val="hlink"/>
                </a:solidFill>
              </a:rPr>
              <a:t>Complex I</a:t>
            </a:r>
            <a:r>
              <a:rPr lang="en-US" altLang="en-US" sz="2800"/>
              <a:t> catalyzes  oxidation of NADH, with reduction of coenzyme Q:</a:t>
            </a:r>
          </a:p>
        </p:txBody>
      </p:sp>
      <p:sp>
        <p:nvSpPr>
          <p:cNvPr id="26629" name="Rectangle 14">
            <a:extLst>
              <a:ext uri="{FF2B5EF4-FFF2-40B4-BE49-F238E27FC236}">
                <a16:creationId xmlns:a16="http://schemas.microsoft.com/office/drawing/2014/main" xmlns="" id="{DAF37C15-5175-05E5-241E-76A6A494F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3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pic>
        <p:nvPicPr>
          <p:cNvPr id="26630" name="Picture 7">
            <a:extLst>
              <a:ext uri="{FF2B5EF4-FFF2-40B4-BE49-F238E27FC236}">
                <a16:creationId xmlns:a16="http://schemas.microsoft.com/office/drawing/2014/main" xmlns="" id="{74BAD1B0-9D9F-E0A7-BB43-3D7CD480B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563" y="212725"/>
            <a:ext cx="5127625" cy="317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xmlns="" id="{4365492B-686E-0F43-4334-18730CC0B9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6713" y="3333750"/>
            <a:ext cx="8758237" cy="3581400"/>
          </a:xfrm>
        </p:spPr>
        <p:txBody>
          <a:bodyPr/>
          <a:lstStyle/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45000"/>
              </a:spcAft>
              <a:buFontTx/>
              <a:buNone/>
            </a:pPr>
            <a:r>
              <a:rPr lang="en-US" altLang="en-US" sz="2800"/>
              <a:t>The </a:t>
            </a:r>
            <a:r>
              <a:rPr lang="en-US" altLang="en-US" sz="2800" b="1">
                <a:solidFill>
                  <a:srgbClr val="000099"/>
                </a:solidFill>
              </a:rPr>
              <a:t>peripheral domain</a:t>
            </a:r>
            <a:r>
              <a:rPr lang="en-US" altLang="en-US" sz="2800"/>
              <a:t>, containing the </a:t>
            </a:r>
            <a:r>
              <a:rPr lang="en-US" altLang="en-US" sz="2800" b="1">
                <a:solidFill>
                  <a:srgbClr val="000099"/>
                </a:solidFill>
              </a:rPr>
              <a:t>FMN</a:t>
            </a:r>
            <a:r>
              <a:rPr lang="en-US" altLang="en-US" sz="2800"/>
              <a:t> that accepts 2e</a:t>
            </a:r>
            <a:r>
              <a:rPr lang="en-US" altLang="en-US" sz="2800" baseline="30000">
                <a:latin typeface="Symbol" panose="05050102010706020507" pitchFamily="18" charset="2"/>
              </a:rPr>
              <a:t>-</a:t>
            </a:r>
            <a:r>
              <a:rPr lang="en-US" altLang="en-US" sz="2800"/>
              <a:t> from </a:t>
            </a:r>
            <a:r>
              <a:rPr lang="en-US" altLang="en-US" sz="2800" b="1">
                <a:solidFill>
                  <a:srgbClr val="000099"/>
                </a:solidFill>
              </a:rPr>
              <a:t>NADH</a:t>
            </a:r>
            <a:r>
              <a:rPr lang="en-US" altLang="en-US" sz="2800"/>
              <a:t>, protrudes into the mitochondrial matrix. 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45000"/>
              </a:spcAft>
              <a:buFontTx/>
              <a:buNone/>
            </a:pPr>
            <a:r>
              <a:rPr lang="en-US" altLang="en-US" sz="2800" b="1">
                <a:solidFill>
                  <a:srgbClr val="000099"/>
                </a:solidFill>
              </a:rPr>
              <a:t>Iron-sulfur</a:t>
            </a:r>
            <a:r>
              <a:rPr lang="en-US" altLang="en-US" sz="2800"/>
              <a:t> </a:t>
            </a:r>
            <a:r>
              <a:rPr lang="en-US" altLang="en-US" sz="2800" b="1">
                <a:solidFill>
                  <a:srgbClr val="000099"/>
                </a:solidFill>
              </a:rPr>
              <a:t>centers</a:t>
            </a:r>
            <a:r>
              <a:rPr lang="en-US" altLang="en-US" sz="2800"/>
              <a:t> are also located in the hydrophilic peripheral domain, where they form a </a:t>
            </a:r>
            <a:r>
              <a:rPr lang="en-US" altLang="en-US" sz="2800" b="1">
                <a:solidFill>
                  <a:srgbClr val="000099"/>
                </a:solidFill>
              </a:rPr>
              <a:t>pathway for e</a:t>
            </a:r>
            <a:r>
              <a:rPr lang="en-US" altLang="en-US" sz="2800" b="1" baseline="30000">
                <a:solidFill>
                  <a:srgbClr val="000099"/>
                </a:solidFill>
                <a:latin typeface="Symbol" panose="05050102010706020507" pitchFamily="18" charset="2"/>
              </a:rPr>
              <a:t>-</a:t>
            </a:r>
            <a:r>
              <a:rPr lang="en-US" altLang="en-US" sz="2800" b="1">
                <a:solidFill>
                  <a:srgbClr val="000099"/>
                </a:solidFill>
              </a:rPr>
              <a:t> transfer</a:t>
            </a:r>
            <a:r>
              <a:rPr lang="en-US" altLang="en-US" sz="2800"/>
              <a:t> from </a:t>
            </a:r>
            <a:r>
              <a:rPr lang="en-US" altLang="en-US" sz="2800" b="1">
                <a:solidFill>
                  <a:srgbClr val="000099"/>
                </a:solidFill>
              </a:rPr>
              <a:t>FMN</a:t>
            </a:r>
            <a:r>
              <a:rPr lang="en-US" altLang="en-US" sz="2800"/>
              <a:t> to </a:t>
            </a:r>
            <a:r>
              <a:rPr lang="en-US" altLang="en-US" sz="2800" b="1">
                <a:solidFill>
                  <a:srgbClr val="000099"/>
                </a:solidFill>
              </a:rPr>
              <a:t>coenzyme Q</a:t>
            </a:r>
            <a:r>
              <a:rPr lang="en-US" altLang="en-US" sz="2800"/>
              <a:t>. 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45000"/>
              </a:spcAft>
              <a:buFontTx/>
              <a:buNone/>
            </a:pPr>
            <a:r>
              <a:rPr lang="en-US" altLang="en-US" sz="2800"/>
              <a:t>A binding site for </a:t>
            </a:r>
            <a:r>
              <a:rPr lang="en-US" altLang="en-US" sz="2800" b="1">
                <a:solidFill>
                  <a:srgbClr val="000099"/>
                </a:solidFill>
              </a:rPr>
              <a:t>coenzyme Q</a:t>
            </a:r>
            <a:r>
              <a:rPr lang="en-US" altLang="en-US" sz="2800"/>
              <a:t> is thought be close to the interface between peripheral and intra-membrane domains. 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xmlns="" id="{C7BCCA14-CA8B-BCA4-CCAB-2B41DFA23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3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7652" name="Rectangle 6">
            <a:extLst>
              <a:ext uri="{FF2B5EF4-FFF2-40B4-BE49-F238E27FC236}">
                <a16:creationId xmlns:a16="http://schemas.microsoft.com/office/drawing/2014/main" xmlns="" id="{BD3469B1-9E98-03B3-8D86-DD8908497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" y="1609725"/>
            <a:ext cx="3286125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5000"/>
              </a:lnSpc>
              <a:spcBef>
                <a:spcPct val="0"/>
              </a:spcBef>
              <a:spcAft>
                <a:spcPct val="60000"/>
              </a:spcAft>
              <a:buFontTx/>
              <a:buNone/>
            </a:pPr>
            <a:r>
              <a:rPr lang="en-US" altLang="en-US" sz="2800"/>
              <a:t>Complex I is                  </a:t>
            </a:r>
            <a:r>
              <a:rPr lang="en-US" altLang="en-US" sz="2800" b="1">
                <a:solidFill>
                  <a:srgbClr val="000099"/>
                </a:solidFill>
              </a:rPr>
              <a:t>L-shaped</a:t>
            </a:r>
            <a:r>
              <a:rPr lang="en-US" altLang="en-US" sz="2800"/>
              <a:t>.</a:t>
            </a:r>
          </a:p>
        </p:txBody>
      </p:sp>
      <p:sp>
        <p:nvSpPr>
          <p:cNvPr id="27653" name="Rectangle 10">
            <a:extLst>
              <a:ext uri="{FF2B5EF4-FFF2-40B4-BE49-F238E27FC236}">
                <a16:creationId xmlns:a16="http://schemas.microsoft.com/office/drawing/2014/main" xmlns="" id="{802862BE-983C-B5EA-1E05-88DE0A75F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3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pic>
        <p:nvPicPr>
          <p:cNvPr id="27654" name="Picture 7">
            <a:extLst>
              <a:ext uri="{FF2B5EF4-FFF2-40B4-BE49-F238E27FC236}">
                <a16:creationId xmlns:a16="http://schemas.microsoft.com/office/drawing/2014/main" xmlns="" id="{9DA81CF7-3ED8-0115-DCEE-1346A66FC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675" y="301625"/>
            <a:ext cx="4421188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4" descr="GA21_06">
            <a:extLst>
              <a:ext uri="{FF2B5EF4-FFF2-40B4-BE49-F238E27FC236}">
                <a16:creationId xmlns:a16="http://schemas.microsoft.com/office/drawing/2014/main" xmlns="" id="{459F832B-3E83-7902-D916-7990BEE67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638" y="66675"/>
            <a:ext cx="7866062" cy="474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Text Box 10">
            <a:extLst>
              <a:ext uri="{FF2B5EF4-FFF2-40B4-BE49-F238E27FC236}">
                <a16:creationId xmlns:a16="http://schemas.microsoft.com/office/drawing/2014/main" xmlns="" id="{79DF7D26-5D11-9A2D-6706-074FBF16D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6988" y="3624263"/>
            <a:ext cx="3587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33CC33"/>
                </a:solidFill>
                <a:latin typeface="Comic Sans MS" panose="030F0702030302020204" pitchFamily="66" charset="0"/>
              </a:rPr>
              <a:t>o</a:t>
            </a:r>
          </a:p>
        </p:txBody>
      </p:sp>
      <p:sp>
        <p:nvSpPr>
          <p:cNvPr id="28676" name="Text Box 10">
            <a:extLst>
              <a:ext uri="{FF2B5EF4-FFF2-40B4-BE49-F238E27FC236}">
                <a16:creationId xmlns:a16="http://schemas.microsoft.com/office/drawing/2014/main" xmlns="" id="{DBAC50F6-2602-B54F-13FA-310A1B292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6038" y="3087688"/>
            <a:ext cx="3587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33CC33"/>
                </a:solidFill>
                <a:latin typeface="Comic Sans MS" panose="030F0702030302020204" pitchFamily="66" charset="0"/>
              </a:rPr>
              <a:t>o</a:t>
            </a:r>
          </a:p>
        </p:txBody>
      </p:sp>
      <p:sp>
        <p:nvSpPr>
          <p:cNvPr id="28677" name="Text Box 10">
            <a:extLst>
              <a:ext uri="{FF2B5EF4-FFF2-40B4-BE49-F238E27FC236}">
                <a16:creationId xmlns:a16="http://schemas.microsoft.com/office/drawing/2014/main" xmlns="" id="{3230DB37-3E8E-6417-3BCD-E6F5A7EFA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2388" y="3438525"/>
            <a:ext cx="3587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33CC33"/>
                </a:solidFill>
                <a:latin typeface="Comic Sans MS" panose="030F0702030302020204" pitchFamily="66" charset="0"/>
              </a:rPr>
              <a:t>r</a:t>
            </a:r>
          </a:p>
        </p:txBody>
      </p:sp>
      <p:sp>
        <p:nvSpPr>
          <p:cNvPr id="28678" name="Text Box 10">
            <a:extLst>
              <a:ext uri="{FF2B5EF4-FFF2-40B4-BE49-F238E27FC236}">
                <a16:creationId xmlns:a16="http://schemas.microsoft.com/office/drawing/2014/main" xmlns="" id="{0943F73C-FB6C-C2FC-597F-8CEF12000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6988" y="1981200"/>
            <a:ext cx="3587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33CC33"/>
                </a:solidFill>
                <a:latin typeface="Comic Sans MS" panose="030F0702030302020204" pitchFamily="66" charset="0"/>
              </a:rPr>
              <a:t>r</a:t>
            </a:r>
          </a:p>
        </p:txBody>
      </p:sp>
      <p:sp>
        <p:nvSpPr>
          <p:cNvPr id="28679" name="Text Box 10">
            <a:extLst>
              <a:ext uri="{FF2B5EF4-FFF2-40B4-BE49-F238E27FC236}">
                <a16:creationId xmlns:a16="http://schemas.microsoft.com/office/drawing/2014/main" xmlns="" id="{F1A1293B-2CBB-85A0-F90D-3A7FB4B14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3650" y="2173288"/>
            <a:ext cx="3587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33CC33"/>
                </a:solidFill>
                <a:latin typeface="Comic Sans MS" panose="030F0702030302020204" pitchFamily="66" charset="0"/>
              </a:rPr>
              <a:t>o</a:t>
            </a:r>
          </a:p>
        </p:txBody>
      </p:sp>
      <p:sp>
        <p:nvSpPr>
          <p:cNvPr id="28680" name="Text Box 10">
            <a:extLst>
              <a:ext uri="{FF2B5EF4-FFF2-40B4-BE49-F238E27FC236}">
                <a16:creationId xmlns:a16="http://schemas.microsoft.com/office/drawing/2014/main" xmlns="" id="{2E93D7B2-5C79-469C-F7CC-36B522FC9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1649413"/>
            <a:ext cx="3587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33CC33"/>
                </a:solidFill>
                <a:latin typeface="Comic Sans MS" panose="030F0702030302020204" pitchFamily="66" charset="0"/>
              </a:rPr>
              <a:t>o</a:t>
            </a:r>
          </a:p>
        </p:txBody>
      </p:sp>
      <p:sp>
        <p:nvSpPr>
          <p:cNvPr id="28681" name="Text Box 10">
            <a:extLst>
              <a:ext uri="{FF2B5EF4-FFF2-40B4-BE49-F238E27FC236}">
                <a16:creationId xmlns:a16="http://schemas.microsoft.com/office/drawing/2014/main" xmlns="" id="{968EE32D-0A24-0EEB-F5E9-D34923F57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0325" y="2889250"/>
            <a:ext cx="3587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33CC33"/>
                </a:solidFill>
                <a:latin typeface="Comic Sans MS" panose="030F0702030302020204" pitchFamily="66" charset="0"/>
              </a:rPr>
              <a:t>r</a:t>
            </a:r>
          </a:p>
        </p:txBody>
      </p:sp>
      <p:sp>
        <p:nvSpPr>
          <p:cNvPr id="28682" name="TextBox 12">
            <a:extLst>
              <a:ext uri="{FF2B5EF4-FFF2-40B4-BE49-F238E27FC236}">
                <a16:creationId xmlns:a16="http://schemas.microsoft.com/office/drawing/2014/main" xmlns="" id="{09663F33-F220-0F6F-5453-AA9BBE4C60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6613" y="212725"/>
            <a:ext cx="49847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/>
              <a:t>Mechanism of e- transfer in Complex I</a:t>
            </a:r>
          </a:p>
        </p:txBody>
      </p:sp>
      <p:sp>
        <p:nvSpPr>
          <p:cNvPr id="28683" name="Text Box 4">
            <a:extLst>
              <a:ext uri="{FF2B5EF4-FFF2-40B4-BE49-F238E27FC236}">
                <a16:creationId xmlns:a16="http://schemas.microsoft.com/office/drawing/2014/main" xmlns="" id="{A3F56BDD-965D-AA10-5C01-4A641687D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788" y="4837113"/>
            <a:ext cx="6653212" cy="1878012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>
                <a:schemeClr val="hlink"/>
              </a:buClr>
              <a:buFont typeface="Wingdings" panose="05000000000000000000" pitchFamily="2" charset="2"/>
              <a:buChar char="Ø"/>
            </a:pPr>
            <a:r>
              <a:rPr lang="en-US" altLang="en-US" sz="2400">
                <a:solidFill>
                  <a:srgbClr val="666699"/>
                </a:solidFill>
                <a:latin typeface="Arial" panose="020B0604020202020204" pitchFamily="34" charset="0"/>
              </a:rPr>
              <a:t> Estimated mass of this complex 850 kD</a:t>
            </a:r>
          </a:p>
          <a:p>
            <a:pPr>
              <a:spcBef>
                <a:spcPct val="0"/>
              </a:spcBef>
              <a:buClr>
                <a:schemeClr val="hlink"/>
              </a:buClr>
              <a:buFont typeface="Wingdings" panose="05000000000000000000" pitchFamily="2" charset="2"/>
              <a:buChar char="Ø"/>
            </a:pPr>
            <a:r>
              <a:rPr lang="en-US" altLang="en-US" sz="2400">
                <a:solidFill>
                  <a:srgbClr val="666699"/>
                </a:solidFill>
                <a:latin typeface="Arial" panose="020B0604020202020204" pitchFamily="34" charset="0"/>
              </a:rPr>
              <a:t> Involves more than 30 polypeptide chains</a:t>
            </a:r>
          </a:p>
          <a:p>
            <a:pPr>
              <a:spcBef>
                <a:spcPct val="0"/>
              </a:spcBef>
              <a:buClr>
                <a:schemeClr val="hlink"/>
              </a:buClr>
              <a:buFont typeface="Wingdings" panose="05000000000000000000" pitchFamily="2" charset="2"/>
              <a:buChar char="Ø"/>
            </a:pPr>
            <a:r>
              <a:rPr lang="en-US" altLang="en-US" sz="2400">
                <a:solidFill>
                  <a:srgbClr val="666699"/>
                </a:solidFill>
                <a:latin typeface="Arial" panose="020B0604020202020204" pitchFamily="34" charset="0"/>
              </a:rPr>
              <a:t> One molecule of FMN</a:t>
            </a:r>
          </a:p>
          <a:p>
            <a:pPr>
              <a:spcBef>
                <a:spcPct val="0"/>
              </a:spcBef>
              <a:buClr>
                <a:schemeClr val="hlink"/>
              </a:buClr>
              <a:buFont typeface="Wingdings" panose="05000000000000000000" pitchFamily="2" charset="2"/>
              <a:buChar char="Ø"/>
            </a:pPr>
            <a:r>
              <a:rPr lang="en-US" altLang="en-US" sz="2400">
                <a:solidFill>
                  <a:srgbClr val="666699"/>
                </a:solidFill>
                <a:latin typeface="Arial" panose="020B0604020202020204" pitchFamily="34" charset="0"/>
              </a:rPr>
              <a:t> As many as 7 Fe-S clusters </a:t>
            </a:r>
            <a:r>
              <a:rPr lang="en-US" altLang="en-US" sz="2000">
                <a:solidFill>
                  <a:srgbClr val="666699"/>
                </a:solidFill>
                <a:latin typeface="Arial" panose="020B0604020202020204" pitchFamily="34" charset="0"/>
              </a:rPr>
              <a:t>(2Fe-2S &amp; 4Fe-4S)</a:t>
            </a:r>
          </a:p>
          <a:p>
            <a:pPr>
              <a:spcBef>
                <a:spcPct val="0"/>
              </a:spcBef>
              <a:buClr>
                <a:schemeClr val="hlink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666699"/>
                </a:solidFill>
                <a:latin typeface="Arial" panose="020B0604020202020204" pitchFamily="34" charset="0"/>
              </a:rPr>
              <a:t>  Precise mechanism of this complex is unknown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xmlns="" id="{167EADDD-D9BA-E0FC-212B-5474060549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933450"/>
            <a:ext cx="8039100" cy="5486400"/>
          </a:xfrm>
        </p:spPr>
        <p:txBody>
          <a:bodyPr/>
          <a:lstStyle/>
          <a:p>
            <a:pPr marL="0" indent="0">
              <a:spcBef>
                <a:spcPct val="0"/>
              </a:spcBef>
              <a:spcAft>
                <a:spcPct val="10000"/>
              </a:spcAft>
              <a:buFontTx/>
              <a:buNone/>
            </a:pPr>
            <a:r>
              <a:rPr lang="en-US" altLang="en-US" sz="2800"/>
              <a:t>The initial electron transfers are:</a:t>
            </a:r>
          </a:p>
          <a:p>
            <a:pPr marL="0" indent="0">
              <a:spcBef>
                <a:spcPct val="0"/>
              </a:spcBef>
              <a:spcAft>
                <a:spcPct val="10000"/>
              </a:spcAft>
              <a:buFontTx/>
              <a:buNone/>
            </a:pPr>
            <a:r>
              <a:rPr lang="en-US" altLang="en-US" sz="2800"/>
              <a:t>   </a:t>
            </a:r>
            <a:r>
              <a:rPr lang="en-US" altLang="en-US" sz="2800" b="1">
                <a:solidFill>
                  <a:srgbClr val="000099"/>
                </a:solidFill>
              </a:rPr>
              <a:t>NADH + H</a:t>
            </a:r>
            <a:r>
              <a:rPr lang="en-US" altLang="en-US" sz="2800" b="1" baseline="30000">
                <a:solidFill>
                  <a:srgbClr val="000099"/>
                </a:solidFill>
              </a:rPr>
              <a:t>+</a:t>
            </a:r>
            <a:r>
              <a:rPr lang="en-US" altLang="en-US" sz="2800" b="1">
                <a:solidFill>
                  <a:srgbClr val="000099"/>
                </a:solidFill>
              </a:rPr>
              <a:t> + FMN</a:t>
            </a:r>
            <a:r>
              <a:rPr lang="en-US" altLang="en-US" sz="2800" b="1"/>
              <a:t> </a:t>
            </a:r>
            <a:r>
              <a:rPr lang="en-US" altLang="en-US" sz="2400">
                <a:solidFill>
                  <a:schemeClr val="hlink"/>
                </a:solidFill>
                <a:sym typeface="Wingdings" panose="05000000000000000000" pitchFamily="2" charset="2"/>
              </a:rPr>
              <a:t></a:t>
            </a:r>
            <a:r>
              <a:rPr lang="en-US" altLang="en-US" sz="2800" b="1"/>
              <a:t> </a:t>
            </a:r>
            <a:r>
              <a:rPr lang="en-US" altLang="en-US" sz="2800" b="1">
                <a:solidFill>
                  <a:srgbClr val="000099"/>
                </a:solidFill>
              </a:rPr>
              <a:t>NAD</a:t>
            </a:r>
            <a:r>
              <a:rPr lang="en-US" altLang="en-US" sz="2800" b="1" baseline="30000">
                <a:solidFill>
                  <a:srgbClr val="000099"/>
                </a:solidFill>
              </a:rPr>
              <a:t>+</a:t>
            </a:r>
            <a:r>
              <a:rPr lang="en-US" altLang="en-US" sz="2800" b="1">
                <a:solidFill>
                  <a:srgbClr val="000099"/>
                </a:solidFill>
              </a:rPr>
              <a:t> + FMNH</a:t>
            </a:r>
            <a:r>
              <a:rPr lang="en-US" altLang="en-US" sz="2800" b="1" baseline="-25000">
                <a:solidFill>
                  <a:srgbClr val="000099"/>
                </a:solidFill>
              </a:rPr>
              <a:t>2</a:t>
            </a:r>
          </a:p>
          <a:p>
            <a:pPr marL="0" indent="0">
              <a:spcBef>
                <a:spcPct val="0"/>
              </a:spcBef>
              <a:spcAft>
                <a:spcPct val="60000"/>
              </a:spcAft>
              <a:buFontTx/>
              <a:buNone/>
            </a:pPr>
            <a:r>
              <a:rPr lang="en-US" altLang="en-US" sz="2800" b="1"/>
              <a:t>   </a:t>
            </a:r>
            <a:r>
              <a:rPr lang="en-US" altLang="en-US" sz="2800" b="1">
                <a:solidFill>
                  <a:srgbClr val="000099"/>
                </a:solidFill>
              </a:rPr>
              <a:t>FMNH</a:t>
            </a:r>
            <a:r>
              <a:rPr lang="en-US" altLang="en-US" sz="2800" b="1" baseline="-25000">
                <a:solidFill>
                  <a:srgbClr val="000099"/>
                </a:solidFill>
              </a:rPr>
              <a:t>2</a:t>
            </a:r>
            <a:r>
              <a:rPr lang="en-US" altLang="en-US" sz="2800" b="1">
                <a:solidFill>
                  <a:srgbClr val="000099"/>
                </a:solidFill>
              </a:rPr>
              <a:t> + (Fe-S)</a:t>
            </a:r>
            <a:r>
              <a:rPr lang="en-US" altLang="en-US" sz="2800" b="1" baseline="-25000">
                <a:solidFill>
                  <a:srgbClr val="000099"/>
                </a:solidFill>
              </a:rPr>
              <a:t>ox</a:t>
            </a:r>
            <a:r>
              <a:rPr lang="en-US" altLang="en-US" sz="2800" b="1"/>
              <a:t> </a:t>
            </a:r>
            <a:r>
              <a:rPr lang="en-US" altLang="en-US" sz="2400">
                <a:solidFill>
                  <a:schemeClr val="hlink"/>
                </a:solidFill>
                <a:sym typeface="Wingdings" panose="05000000000000000000" pitchFamily="2" charset="2"/>
              </a:rPr>
              <a:t></a:t>
            </a:r>
            <a:r>
              <a:rPr lang="en-US" altLang="en-US" sz="2800" b="1"/>
              <a:t> </a:t>
            </a:r>
            <a:r>
              <a:rPr lang="en-US" altLang="en-US" sz="2800" b="1">
                <a:solidFill>
                  <a:srgbClr val="000099"/>
                </a:solidFill>
              </a:rPr>
              <a:t>FMNH· + (Fe-S)</a:t>
            </a:r>
            <a:r>
              <a:rPr lang="en-US" altLang="en-US" sz="2800" b="1" baseline="-25000">
                <a:solidFill>
                  <a:srgbClr val="000099"/>
                </a:solidFill>
              </a:rPr>
              <a:t>red</a:t>
            </a:r>
            <a:r>
              <a:rPr lang="en-US" altLang="en-US" sz="2800" b="1">
                <a:solidFill>
                  <a:srgbClr val="000099"/>
                </a:solidFill>
              </a:rPr>
              <a:t> + H</a:t>
            </a:r>
            <a:r>
              <a:rPr lang="en-US" altLang="en-US" sz="2800" b="1" baseline="30000">
                <a:solidFill>
                  <a:srgbClr val="000099"/>
                </a:solidFill>
              </a:rPr>
              <a:t>+</a:t>
            </a:r>
          </a:p>
          <a:p>
            <a:pPr marL="0" indent="0">
              <a:spcBef>
                <a:spcPct val="0"/>
              </a:spcBef>
              <a:spcAft>
                <a:spcPct val="10000"/>
              </a:spcAft>
              <a:buFontTx/>
              <a:buNone/>
            </a:pPr>
            <a:r>
              <a:rPr lang="en-US" altLang="en-US" sz="2800"/>
              <a:t>After Fe-S is reoxidized by transfer of the electron to the next iron-sulfur center in the pathway:</a:t>
            </a:r>
          </a:p>
          <a:p>
            <a:pPr marL="0" indent="0">
              <a:spcBef>
                <a:spcPct val="0"/>
              </a:spcBef>
              <a:spcAft>
                <a:spcPct val="60000"/>
              </a:spcAft>
              <a:buFontTx/>
              <a:buNone/>
            </a:pPr>
            <a:r>
              <a:rPr lang="en-US" altLang="en-US" sz="2800"/>
              <a:t>   </a:t>
            </a:r>
            <a:r>
              <a:rPr lang="en-US" altLang="en-US" sz="2800" b="1">
                <a:solidFill>
                  <a:srgbClr val="000099"/>
                </a:solidFill>
              </a:rPr>
              <a:t>FMNH· + (Fe-S)</a:t>
            </a:r>
            <a:r>
              <a:rPr lang="en-US" altLang="en-US" sz="2800" b="1" baseline="-25000">
                <a:solidFill>
                  <a:srgbClr val="000099"/>
                </a:solidFill>
              </a:rPr>
              <a:t>ox</a:t>
            </a:r>
            <a:r>
              <a:rPr lang="en-US" altLang="en-US" sz="2800" b="1"/>
              <a:t> </a:t>
            </a:r>
            <a:r>
              <a:rPr lang="en-US" altLang="en-US" sz="2400">
                <a:solidFill>
                  <a:schemeClr val="hlink"/>
                </a:solidFill>
                <a:sym typeface="Wingdings" panose="05000000000000000000" pitchFamily="2" charset="2"/>
              </a:rPr>
              <a:t></a:t>
            </a:r>
            <a:r>
              <a:rPr lang="en-US" altLang="en-US" sz="2800" b="1"/>
              <a:t> </a:t>
            </a:r>
            <a:r>
              <a:rPr lang="en-US" altLang="en-US" sz="2800" b="1">
                <a:solidFill>
                  <a:srgbClr val="000099"/>
                </a:solidFill>
              </a:rPr>
              <a:t>FMN + (Fe-S)</a:t>
            </a:r>
            <a:r>
              <a:rPr lang="en-US" altLang="en-US" sz="2800" b="1" baseline="-25000">
                <a:solidFill>
                  <a:srgbClr val="000099"/>
                </a:solidFill>
              </a:rPr>
              <a:t>red</a:t>
            </a:r>
            <a:r>
              <a:rPr lang="en-US" altLang="en-US" sz="2800" b="1">
                <a:solidFill>
                  <a:srgbClr val="000099"/>
                </a:solidFill>
              </a:rPr>
              <a:t> + H</a:t>
            </a:r>
            <a:r>
              <a:rPr lang="en-US" altLang="en-US" sz="2800" b="1" baseline="30000">
                <a:solidFill>
                  <a:srgbClr val="000099"/>
                </a:solidFill>
              </a:rPr>
              <a:t>+</a:t>
            </a:r>
            <a:r>
              <a:rPr lang="en-US" altLang="en-US" sz="2800" b="1"/>
              <a:t>  </a:t>
            </a:r>
          </a:p>
          <a:p>
            <a:pPr marL="0" indent="0">
              <a:spcBef>
                <a:spcPct val="0"/>
              </a:spcBef>
              <a:spcAft>
                <a:spcPct val="50000"/>
              </a:spcAft>
              <a:buFontTx/>
              <a:buNone/>
            </a:pPr>
            <a:r>
              <a:rPr lang="en-US" altLang="en-US" sz="2800"/>
              <a:t>Electrons pass through a series of iron-sulfur centers, and are eventually transferred to coenzyme Q. </a:t>
            </a:r>
          </a:p>
          <a:p>
            <a:pPr marL="0" indent="0">
              <a:spcBef>
                <a:spcPct val="0"/>
              </a:spcBef>
              <a:spcAft>
                <a:spcPct val="50000"/>
              </a:spcAft>
              <a:buFontTx/>
              <a:buNone/>
            </a:pPr>
            <a:r>
              <a:rPr lang="en-US" altLang="en-US" sz="2800"/>
              <a:t>Coenzyme Q accepts 2</a:t>
            </a:r>
            <a:r>
              <a:rPr lang="en-US" altLang="en-US" sz="1600"/>
              <a:t> </a:t>
            </a:r>
            <a:r>
              <a:rPr lang="en-US" altLang="en-US" sz="2800"/>
              <a:t>e</a:t>
            </a:r>
            <a:r>
              <a:rPr lang="en-US" altLang="en-US" sz="2800" baseline="30000">
                <a:latin typeface="Symbol" panose="05050102010706020507" pitchFamily="18" charset="2"/>
              </a:rPr>
              <a:t>-</a:t>
            </a:r>
            <a:r>
              <a:rPr lang="en-US" altLang="en-US" sz="2800"/>
              <a:t> and picks up 2</a:t>
            </a:r>
            <a:r>
              <a:rPr lang="en-US" altLang="en-US" sz="1600"/>
              <a:t> </a:t>
            </a:r>
            <a:r>
              <a:rPr lang="en-US" altLang="en-US" sz="2800"/>
              <a:t>H</a:t>
            </a:r>
            <a:r>
              <a:rPr lang="en-US" altLang="en-US" sz="2800" baseline="30000"/>
              <a:t>+</a:t>
            </a:r>
            <a:r>
              <a:rPr lang="en-US" altLang="en-US" sz="2800"/>
              <a:t> to yield the fully reduced </a:t>
            </a:r>
            <a:r>
              <a:rPr lang="en-US" altLang="en-US" sz="2800" b="1">
                <a:solidFill>
                  <a:srgbClr val="000099"/>
                </a:solidFill>
              </a:rPr>
              <a:t>QH</a:t>
            </a:r>
            <a:r>
              <a:rPr lang="en-US" altLang="en-US" sz="2800" b="1" baseline="-25000">
                <a:solidFill>
                  <a:srgbClr val="000099"/>
                </a:solidFill>
              </a:rPr>
              <a:t>2</a:t>
            </a:r>
            <a:r>
              <a:rPr lang="en-US" altLang="en-US" sz="2800"/>
              <a:t>.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Box 3">
            <a:extLst>
              <a:ext uri="{FF2B5EF4-FFF2-40B4-BE49-F238E27FC236}">
                <a16:creationId xmlns:a16="http://schemas.microsoft.com/office/drawing/2014/main" xmlns="" id="{86CF7338-C542-4C40-3E32-777520951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5" y="239713"/>
            <a:ext cx="32369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GB" altLang="en-US" sz="2400" b="1"/>
              <a:t>Inhibitors of complex 1</a:t>
            </a:r>
          </a:p>
        </p:txBody>
      </p:sp>
      <p:sp>
        <p:nvSpPr>
          <p:cNvPr id="30723" name="TextBox 4">
            <a:extLst>
              <a:ext uri="{FF2B5EF4-FFF2-40B4-BE49-F238E27FC236}">
                <a16:creationId xmlns:a16="http://schemas.microsoft.com/office/drawing/2014/main" xmlns="" id="{4A9577B7-6B79-5808-7780-E5B686516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993775"/>
            <a:ext cx="8613775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GB" altLang="en-US" sz="2400" b="1"/>
              <a:t>Amytal </a:t>
            </a:r>
            <a:r>
              <a:rPr lang="en-GB" altLang="en-US" sz="2400"/>
              <a:t>(a barbiturate drug), </a:t>
            </a:r>
            <a:r>
              <a:rPr lang="en-GB" altLang="en-US" sz="2400" b="1"/>
              <a:t>rotenone</a:t>
            </a:r>
            <a:r>
              <a:rPr lang="en-GB" altLang="en-US" sz="2400"/>
              <a:t> (a plant product commonly used as an insecticide), and </a:t>
            </a:r>
            <a:r>
              <a:rPr lang="en-GB" altLang="en-US" sz="2400" b="1"/>
              <a:t>piericidin A </a:t>
            </a:r>
            <a:r>
              <a:rPr lang="en-GB" altLang="en-US" sz="2400"/>
              <a:t>(anantibiotic) inhibit electron flow from the Fe-S centers of Complex I to ubiquinone and therefore block the overall process of oxidative phosphorylation.</a:t>
            </a:r>
          </a:p>
        </p:txBody>
      </p:sp>
      <p:pic>
        <p:nvPicPr>
          <p:cNvPr id="30724" name="Picture 3">
            <a:extLst>
              <a:ext uri="{FF2B5EF4-FFF2-40B4-BE49-F238E27FC236}">
                <a16:creationId xmlns:a16="http://schemas.microsoft.com/office/drawing/2014/main" xmlns="" id="{AA14C2A5-3440-A493-FC89-B54031975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75" y="2982913"/>
            <a:ext cx="7421563" cy="274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xmlns="" id="{AEE4A558-BF74-C33D-E593-38C6190E7A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1475" y="3390900"/>
            <a:ext cx="8543925" cy="3162300"/>
          </a:xfrm>
        </p:spPr>
        <p:txBody>
          <a:bodyPr/>
          <a:lstStyle/>
          <a:p>
            <a:pPr marL="0" indent="0" algn="just">
              <a:lnSpc>
                <a:spcPct val="95000"/>
              </a:lnSpc>
              <a:spcBef>
                <a:spcPct val="0"/>
              </a:spcBef>
              <a:spcAft>
                <a:spcPct val="40000"/>
              </a:spcAft>
              <a:buFontTx/>
              <a:buNone/>
            </a:pPr>
            <a:r>
              <a:rPr lang="en-US" altLang="en-US" sz="2800"/>
              <a:t>FAD is reduced to </a:t>
            </a:r>
            <a:r>
              <a:rPr lang="en-US" altLang="en-US" sz="2800" b="1">
                <a:solidFill>
                  <a:srgbClr val="000099"/>
                </a:solidFill>
              </a:rPr>
              <a:t>FADH</a:t>
            </a:r>
            <a:r>
              <a:rPr lang="en-US" altLang="en-US" sz="2800" b="1" baseline="-25000">
                <a:solidFill>
                  <a:srgbClr val="000099"/>
                </a:solidFill>
              </a:rPr>
              <a:t>2</a:t>
            </a:r>
            <a:r>
              <a:rPr lang="en-US" altLang="en-US" sz="2800"/>
              <a:t> during oxidation of succinate to fumarate. </a:t>
            </a:r>
          </a:p>
          <a:p>
            <a:pPr marL="0" indent="0" algn="just">
              <a:lnSpc>
                <a:spcPct val="95000"/>
              </a:lnSpc>
              <a:spcBef>
                <a:spcPct val="0"/>
              </a:spcBef>
              <a:spcAft>
                <a:spcPct val="40000"/>
              </a:spcAft>
              <a:buFontTx/>
              <a:buNone/>
            </a:pPr>
            <a:r>
              <a:rPr lang="en-US" altLang="en-US" sz="2800"/>
              <a:t>FADH</a:t>
            </a:r>
            <a:r>
              <a:rPr lang="en-US" altLang="en-US" sz="2800" baseline="-25000"/>
              <a:t>2</a:t>
            </a:r>
            <a:r>
              <a:rPr lang="en-US" altLang="en-US" sz="2800"/>
              <a:t> is then reoxidized by transfer of electrons through a series of 3 iron-sulfur centers to CoQ, yielding </a:t>
            </a:r>
            <a:r>
              <a:rPr lang="en-US" altLang="en-US" sz="2800" b="1">
                <a:solidFill>
                  <a:srgbClr val="000099"/>
                </a:solidFill>
              </a:rPr>
              <a:t>QH</a:t>
            </a:r>
            <a:r>
              <a:rPr lang="en-US" altLang="en-US" sz="2800" b="1" baseline="-25000">
                <a:solidFill>
                  <a:srgbClr val="000099"/>
                </a:solidFill>
              </a:rPr>
              <a:t>2</a:t>
            </a:r>
            <a:r>
              <a:rPr lang="en-US" altLang="en-US" sz="2800"/>
              <a:t>. </a:t>
            </a:r>
          </a:p>
          <a:p>
            <a:pPr marL="0" indent="0" algn="just">
              <a:lnSpc>
                <a:spcPct val="95000"/>
              </a:lnSpc>
              <a:spcBef>
                <a:spcPct val="0"/>
              </a:spcBef>
              <a:spcAft>
                <a:spcPct val="40000"/>
              </a:spcAft>
              <a:buFontTx/>
              <a:buNone/>
            </a:pPr>
            <a:r>
              <a:rPr lang="en-US" altLang="en-US" sz="2800"/>
              <a:t>The </a:t>
            </a:r>
            <a:r>
              <a:rPr lang="en-US" altLang="en-US" sz="2800" b="1">
                <a:solidFill>
                  <a:srgbClr val="000099"/>
                </a:solidFill>
              </a:rPr>
              <a:t>QH</a:t>
            </a:r>
            <a:r>
              <a:rPr lang="en-US" altLang="en-US" sz="2800" b="1" baseline="-25000">
                <a:solidFill>
                  <a:srgbClr val="000099"/>
                </a:solidFill>
              </a:rPr>
              <a:t>2</a:t>
            </a:r>
            <a:r>
              <a:rPr lang="en-US" altLang="en-US" sz="2800"/>
              <a:t> product is then reoxidized via </a:t>
            </a:r>
            <a:r>
              <a:rPr lang="en-US" altLang="en-US" sz="2800" b="1">
                <a:solidFill>
                  <a:srgbClr val="000099"/>
                </a:solidFill>
              </a:rPr>
              <a:t>complex III</a:t>
            </a:r>
            <a:r>
              <a:rPr lang="en-US" altLang="en-US" sz="2800"/>
              <a:t>, providing a pathway for transfer of electrons from succinate into the respiratory chain.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xmlns="" id="{F1351140-32CA-AEA2-9BC8-5E4B97ED6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graphicFrame>
        <p:nvGraphicFramePr>
          <p:cNvPr id="31748" name="Object 4">
            <a:extLst>
              <a:ext uri="{FF2B5EF4-FFF2-40B4-BE49-F238E27FC236}">
                <a16:creationId xmlns:a16="http://schemas.microsoft.com/office/drawing/2014/main" xmlns="" id="{2EDF89BB-2355-26D1-EF17-67BF913FAA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6613" y="185738"/>
          <a:ext cx="4152900" cy="314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Picture" r:id="rId3" imgW="2054195" imgH="1540293" progId="Word.Picture.8">
                  <p:embed/>
                </p:oleObj>
              </mc:Choice>
              <mc:Fallback>
                <p:oleObj name="Picture" r:id="rId3" imgW="2054195" imgH="1540293" progId="Word.Picture.8">
                  <p:embed/>
                  <p:pic>
                    <p:nvPicPr>
                      <p:cNvPr id="31748" name="Object 4">
                        <a:extLst>
                          <a:ext uri="{FF2B5EF4-FFF2-40B4-BE49-F238E27FC236}">
                            <a16:creationId xmlns:a16="http://schemas.microsoft.com/office/drawing/2014/main" xmlns="" id="{2EDF89BB-2355-26D1-EF17-67BF913FAA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6613" y="185738"/>
                        <a:ext cx="4152900" cy="314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Rectangle 5">
            <a:extLst>
              <a:ext uri="{FF2B5EF4-FFF2-40B4-BE49-F238E27FC236}">
                <a16:creationId xmlns:a16="http://schemas.microsoft.com/office/drawing/2014/main" xmlns="" id="{A66FF8B8-1506-ED5D-5157-0CC4E2FF6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542925"/>
            <a:ext cx="4076700" cy="307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5000"/>
              </a:lnSpc>
              <a:spcBef>
                <a:spcPct val="0"/>
              </a:spcBef>
              <a:spcAft>
                <a:spcPct val="20000"/>
              </a:spcAft>
              <a:buFontTx/>
              <a:buNone/>
            </a:pPr>
            <a:endParaRPr lang="en-US" altLang="en-US" sz="2800"/>
          </a:p>
        </p:txBody>
      </p:sp>
      <p:sp>
        <p:nvSpPr>
          <p:cNvPr id="31750" name="Rectangle 6">
            <a:extLst>
              <a:ext uri="{FF2B5EF4-FFF2-40B4-BE49-F238E27FC236}">
                <a16:creationId xmlns:a16="http://schemas.microsoft.com/office/drawing/2014/main" xmlns="" id="{900A8F0A-3C51-0450-60E9-F3D06B7DB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75" y="552450"/>
            <a:ext cx="4314825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5000"/>
              </a:lnSpc>
              <a:spcBef>
                <a:spcPct val="0"/>
              </a:spcBef>
              <a:spcAft>
                <a:spcPct val="40000"/>
              </a:spcAft>
              <a:buFontTx/>
              <a:buNone/>
            </a:pPr>
            <a:r>
              <a:rPr lang="en-US" altLang="en-US" sz="2800" b="1">
                <a:solidFill>
                  <a:schemeClr val="hlink"/>
                </a:solidFill>
              </a:rPr>
              <a:t>Succinate Dehydrogenase</a:t>
            </a:r>
            <a:r>
              <a:rPr lang="en-US" altLang="en-US" sz="2800"/>
              <a:t> of  the Krebs Cycle is also called </a:t>
            </a:r>
            <a:r>
              <a:rPr lang="en-US" altLang="en-US" sz="2800" b="1">
                <a:solidFill>
                  <a:srgbClr val="000099"/>
                </a:solidFill>
              </a:rPr>
              <a:t>complex II</a:t>
            </a:r>
            <a:r>
              <a:rPr lang="en-US" altLang="en-US" sz="2800"/>
              <a:t> or Succinate-CoQ Reductase. </a:t>
            </a:r>
          </a:p>
          <a:p>
            <a:pPr>
              <a:lnSpc>
                <a:spcPct val="95000"/>
              </a:lnSpc>
              <a:spcBef>
                <a:spcPct val="0"/>
              </a:spcBef>
              <a:spcAft>
                <a:spcPct val="40000"/>
              </a:spcAft>
              <a:buFontTx/>
              <a:buNone/>
            </a:pPr>
            <a:r>
              <a:rPr lang="en-US" altLang="en-US" sz="2800" b="1">
                <a:solidFill>
                  <a:srgbClr val="000099"/>
                </a:solidFill>
              </a:rPr>
              <a:t>FAD</a:t>
            </a:r>
            <a:r>
              <a:rPr lang="en-US" altLang="en-US" sz="2800"/>
              <a:t> is the initial e</a:t>
            </a:r>
            <a:r>
              <a:rPr lang="en-US" altLang="en-US" sz="2800" baseline="30000">
                <a:latin typeface="Symbol" panose="05050102010706020507" pitchFamily="18" charset="2"/>
              </a:rPr>
              <a:t>-</a:t>
            </a:r>
            <a:r>
              <a:rPr lang="en-US" altLang="en-US" sz="2800"/>
              <a:t> acceptor.</a:t>
            </a:r>
          </a:p>
        </p:txBody>
      </p:sp>
      <p:sp>
        <p:nvSpPr>
          <p:cNvPr id="31751" name="TextBox 6">
            <a:extLst>
              <a:ext uri="{FF2B5EF4-FFF2-40B4-BE49-F238E27FC236}">
                <a16:creationId xmlns:a16="http://schemas.microsoft.com/office/drawing/2014/main" xmlns="" id="{BEF8AEE7-4F55-C67C-4AA6-E57112C5F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158750"/>
            <a:ext cx="1682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 b="1"/>
              <a:t>Complex II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16" descr="GA21_08">
            <a:extLst>
              <a:ext uri="{FF2B5EF4-FFF2-40B4-BE49-F238E27FC236}">
                <a16:creationId xmlns:a16="http://schemas.microsoft.com/office/drawing/2014/main" xmlns="" id="{E4CBB6D3-C705-B20B-3E83-1464F0D14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3425" y="39688"/>
            <a:ext cx="5803900" cy="533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Text Box 17">
            <a:extLst>
              <a:ext uri="{FF2B5EF4-FFF2-40B4-BE49-F238E27FC236}">
                <a16:creationId xmlns:a16="http://schemas.microsoft.com/office/drawing/2014/main" xmlns="" id="{075EEACD-712D-0C16-17EF-3D33147ED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3513" y="52388"/>
            <a:ext cx="25908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Comic Sans MS" panose="030F0702030302020204" pitchFamily="66" charset="0"/>
              </a:rPr>
              <a:t>H</a:t>
            </a:r>
            <a:r>
              <a:rPr lang="en-US" altLang="en-US" sz="2400" b="1" baseline="30000">
                <a:latin typeface="Comic Sans MS" panose="030F0702030302020204" pitchFamily="66" charset="0"/>
              </a:rPr>
              <a:t>+</a:t>
            </a:r>
            <a:r>
              <a:rPr lang="en-US" altLang="en-US" sz="2400" b="1">
                <a:latin typeface="Comic Sans MS" panose="030F0702030302020204" pitchFamily="66" charset="0"/>
              </a:rPr>
              <a:t> transport does not occur in this complex</a:t>
            </a:r>
          </a:p>
        </p:txBody>
      </p:sp>
      <p:sp>
        <p:nvSpPr>
          <p:cNvPr id="32772" name="Text Box 4">
            <a:extLst>
              <a:ext uri="{FF2B5EF4-FFF2-40B4-BE49-F238E27FC236}">
                <a16:creationId xmlns:a16="http://schemas.microsoft.com/office/drawing/2014/main" xmlns="" id="{9CE03E66-6712-12E6-5C99-BC95BBC6E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763" y="228600"/>
            <a:ext cx="2406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 b="1"/>
              <a:t>Complex II</a:t>
            </a:r>
          </a:p>
        </p:txBody>
      </p:sp>
      <p:sp>
        <p:nvSpPr>
          <p:cNvPr id="32773" name="Text Box 5">
            <a:extLst>
              <a:ext uri="{FF2B5EF4-FFF2-40B4-BE49-F238E27FC236}">
                <a16:creationId xmlns:a16="http://schemas.microsoft.com/office/drawing/2014/main" xmlns="" id="{86B01817-2813-5739-CD01-32D403A8E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814388"/>
            <a:ext cx="35052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chemeClr val="accent2"/>
                </a:solidFill>
              </a:rPr>
              <a:t>Succinate-CoQ Reductase</a:t>
            </a:r>
            <a:r>
              <a:rPr lang="en-US" altLang="en-US" sz="2400" b="1">
                <a:solidFill>
                  <a:schemeClr val="accent2"/>
                </a:solidFill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accent2"/>
                </a:solidFill>
              </a:rPr>
              <a:t>or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chemeClr val="accent2"/>
                </a:solidFill>
              </a:rPr>
              <a:t>Succinate dehydrogenase</a:t>
            </a:r>
            <a:r>
              <a:rPr lang="en-US" altLang="en-US" sz="2400" b="1">
                <a:solidFill>
                  <a:schemeClr val="accent2"/>
                </a:solidFill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accent2"/>
                </a:solidFill>
              </a:rPr>
              <a:t>(from TCA cycle!)</a:t>
            </a:r>
          </a:p>
        </p:txBody>
      </p:sp>
      <p:grpSp>
        <p:nvGrpSpPr>
          <p:cNvPr id="32774" name="Group 18">
            <a:extLst>
              <a:ext uri="{FF2B5EF4-FFF2-40B4-BE49-F238E27FC236}">
                <a16:creationId xmlns:a16="http://schemas.microsoft.com/office/drawing/2014/main" xmlns="" id="{358827F8-C24B-6F62-B768-D4E1A6DF6704}"/>
              </a:ext>
            </a:extLst>
          </p:cNvPr>
          <p:cNvGrpSpPr>
            <a:grpSpLocks/>
          </p:cNvGrpSpPr>
          <p:nvPr/>
        </p:nvGrpSpPr>
        <p:grpSpPr bwMode="auto">
          <a:xfrm>
            <a:off x="357188" y="4927600"/>
            <a:ext cx="8458200" cy="1616075"/>
            <a:chOff x="357808" y="4927189"/>
            <a:chExt cx="8458200" cy="1616075"/>
          </a:xfrm>
        </p:grpSpPr>
        <p:sp>
          <p:nvSpPr>
            <p:cNvPr id="32775" name="Rectangle 3">
              <a:extLst>
                <a:ext uri="{FF2B5EF4-FFF2-40B4-BE49-F238E27FC236}">
                  <a16:creationId xmlns:a16="http://schemas.microsoft.com/office/drawing/2014/main" xmlns="" id="{53F747BA-2B4E-1853-905B-705237611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808" y="4927189"/>
              <a:ext cx="8458200" cy="161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>
                  <a:schemeClr val="hlink"/>
                </a:buClr>
                <a:buFont typeface="Wingdings" panose="05000000000000000000" pitchFamily="2" charset="2"/>
                <a:buChar char="Ø"/>
              </a:pPr>
              <a:r>
                <a:rPr lang="en-US" altLang="en-US" sz="2000" b="1">
                  <a:solidFill>
                    <a:srgbClr val="666699"/>
                  </a:solidFill>
                  <a:latin typeface="Comic Sans MS" panose="030F0702030302020204" pitchFamily="66" charset="0"/>
                </a:rPr>
                <a:t>  Mass of 100 – 140 kD</a:t>
              </a:r>
            </a:p>
            <a:p>
              <a:pPr>
                <a:spcBef>
                  <a:spcPct val="0"/>
                </a:spcBef>
                <a:buClr>
                  <a:schemeClr val="hlink"/>
                </a:buClr>
                <a:buFont typeface="Wingdings" panose="05000000000000000000" pitchFamily="2" charset="2"/>
                <a:buChar char="Ø"/>
              </a:pPr>
              <a:r>
                <a:rPr lang="en-US" altLang="en-US" sz="2000" b="1">
                  <a:solidFill>
                    <a:srgbClr val="666699"/>
                  </a:solidFill>
                  <a:latin typeface="Comic Sans MS" panose="030F0702030302020204" pitchFamily="66" charset="0"/>
                </a:rPr>
                <a:t>  Composed of 4 subunits, including 2 Fe-S proteins </a:t>
              </a:r>
            </a:p>
            <a:p>
              <a:pPr>
                <a:spcBef>
                  <a:spcPct val="0"/>
                </a:spcBef>
                <a:buClr>
                  <a:schemeClr val="hlink"/>
                </a:buClr>
                <a:buFont typeface="Wingdings" panose="05000000000000000000" pitchFamily="2" charset="2"/>
                <a:buChar char="Ø"/>
              </a:pPr>
              <a:r>
                <a:rPr lang="en-US" altLang="en-US" sz="2000" b="1">
                  <a:solidFill>
                    <a:srgbClr val="666699"/>
                  </a:solidFill>
                  <a:latin typeface="Comic Sans MS" panose="030F0702030302020204" pitchFamily="66" charset="0"/>
                </a:rPr>
                <a:t>  Three types of Fe-S cluster:  4Fe-4S, 3Fe-4S, 2Fe-2S 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2000" b="1">
                <a:solidFill>
                  <a:srgbClr val="666699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solidFill>
                    <a:srgbClr val="0066FF"/>
                  </a:solidFill>
                </a:rPr>
                <a:t>Path:   Succinate           FADH</a:t>
              </a:r>
              <a:r>
                <a:rPr lang="en-US" altLang="en-US" sz="2000" b="1" baseline="-25000">
                  <a:solidFill>
                    <a:srgbClr val="0066FF"/>
                  </a:solidFill>
                </a:rPr>
                <a:t>2</a:t>
              </a:r>
              <a:r>
                <a:rPr lang="en-US" altLang="en-US" sz="2000" b="1">
                  <a:solidFill>
                    <a:srgbClr val="0066FF"/>
                  </a:solidFill>
                </a:rPr>
                <a:t>           2Fe</a:t>
              </a:r>
              <a:r>
                <a:rPr lang="en-US" altLang="en-US" sz="2000" b="1" baseline="30000">
                  <a:solidFill>
                    <a:srgbClr val="0066FF"/>
                  </a:solidFill>
                </a:rPr>
                <a:t>2+</a:t>
              </a:r>
              <a:r>
                <a:rPr lang="en-US" altLang="en-US" sz="2000" b="1">
                  <a:solidFill>
                    <a:srgbClr val="0066FF"/>
                  </a:solidFill>
                </a:rPr>
                <a:t>         UQH</a:t>
              </a:r>
              <a:r>
                <a:rPr lang="en-US" altLang="en-US" sz="2000" b="1" baseline="-25000">
                  <a:solidFill>
                    <a:srgbClr val="0066FF"/>
                  </a:solidFill>
                </a:rPr>
                <a:t>2</a:t>
              </a:r>
              <a:r>
                <a:rPr lang="en-US" altLang="en-US" sz="2000" b="1">
                  <a:solidFill>
                    <a:srgbClr val="0066FF"/>
                  </a:solidFill>
                </a:rPr>
                <a:t> </a:t>
              </a:r>
            </a:p>
          </p:txBody>
        </p:sp>
        <p:cxnSp>
          <p:nvCxnSpPr>
            <p:cNvPr id="32776" name="Straight Arrow Connector 11">
              <a:extLst>
                <a:ext uri="{FF2B5EF4-FFF2-40B4-BE49-F238E27FC236}">
                  <a16:creationId xmlns:a16="http://schemas.microsoft.com/office/drawing/2014/main" xmlns="" id="{18DD4BB7-2F91-B82B-F561-A3207A87E4A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332383" y="6361043"/>
              <a:ext cx="583096" cy="13253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77" name="Straight Arrow Connector 13">
              <a:extLst>
                <a:ext uri="{FF2B5EF4-FFF2-40B4-BE49-F238E27FC236}">
                  <a16:creationId xmlns:a16="http://schemas.microsoft.com/office/drawing/2014/main" xmlns="" id="{08FF9BBE-65A1-856B-CFEE-BFB48EFA9E1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803375" y="6334539"/>
              <a:ext cx="543340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78" name="Straight Arrow Connector 17">
              <a:extLst>
                <a:ext uri="{FF2B5EF4-FFF2-40B4-BE49-F238E27FC236}">
                  <a16:creationId xmlns:a16="http://schemas.microsoft.com/office/drawing/2014/main" xmlns="" id="{56B33AE1-444A-3B10-A264-04BBF4482F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62331" y="6334539"/>
              <a:ext cx="490331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>
            <a:extLst>
              <a:ext uri="{FF2B5EF4-FFF2-40B4-BE49-F238E27FC236}">
                <a16:creationId xmlns:a16="http://schemas.microsoft.com/office/drawing/2014/main" xmlns="" id="{0A5DD290-0B0D-C4AF-35DA-3AC69AD62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950" y="1365250"/>
            <a:ext cx="6454775" cy="4903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TextBox 4">
            <a:extLst>
              <a:ext uri="{FF2B5EF4-FFF2-40B4-BE49-F238E27FC236}">
                <a16:creationId xmlns:a16="http://schemas.microsoft.com/office/drawing/2014/main" xmlns="" id="{9B36672B-1A10-DDFD-5C00-FB818D9CD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0450" y="304800"/>
            <a:ext cx="68929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2400" b="1"/>
              <a:t>Path of electrons from NADH, succinate, fatty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2400" b="1"/>
              <a:t>acyl–CoA, and glycerol 3-phosphate to ubiquinone.</a:t>
            </a:r>
            <a:endParaRPr lang="en-GB" altLang="en-US"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>
            <a:extLst>
              <a:ext uri="{FF2B5EF4-FFF2-40B4-BE49-F238E27FC236}">
                <a16:creationId xmlns:a16="http://schemas.microsoft.com/office/drawing/2014/main" xmlns="" id="{4A473ED4-437B-0B7E-AA22-81A61A663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225" y="728663"/>
            <a:ext cx="3048000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Text Box 4">
            <a:extLst>
              <a:ext uri="{FF2B5EF4-FFF2-40B4-BE49-F238E27FC236}">
                <a16:creationId xmlns:a16="http://schemas.microsoft.com/office/drawing/2014/main" xmlns="" id="{0DE042A6-D5EB-ACC8-1058-93E786B37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8" y="149225"/>
            <a:ext cx="47402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FF"/>
                </a:solidFill>
                <a:latin typeface="Arial Narrow" panose="020B0606020202030204" pitchFamily="34" charset="0"/>
              </a:rPr>
              <a:t>Inhibitors of complex II</a:t>
            </a:r>
          </a:p>
        </p:txBody>
      </p:sp>
      <p:sp>
        <p:nvSpPr>
          <p:cNvPr id="34820" name="Text Box 7">
            <a:extLst>
              <a:ext uri="{FF2B5EF4-FFF2-40B4-BE49-F238E27FC236}">
                <a16:creationId xmlns:a16="http://schemas.microsoft.com/office/drawing/2014/main" xmlns="" id="{F56D1B08-6BDF-CCE3-240F-DF282D5DB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3" y="1223963"/>
            <a:ext cx="48323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666699"/>
                </a:solidFill>
              </a:rPr>
              <a:t>2-Thenoyltrifluoroacetone &amp; carboxin block complex II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xmlns="" id="{A8C731BD-DE4A-B855-DA5D-19EB962853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9900" y="212725"/>
            <a:ext cx="8343900" cy="4267200"/>
          </a:xfrm>
        </p:spPr>
        <p:txBody>
          <a:bodyPr/>
          <a:lstStyle/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35000"/>
              </a:spcAft>
              <a:buFontTx/>
              <a:buNone/>
              <a:defRPr/>
            </a:pPr>
            <a:r>
              <a:rPr lang="en-US" sz="2800" b="1" dirty="0">
                <a:solidFill>
                  <a:schemeClr val="hlink"/>
                </a:solidFill>
              </a:rPr>
              <a:t>Complex III</a:t>
            </a:r>
            <a:r>
              <a:rPr lang="en-US" sz="2800" b="1" dirty="0"/>
              <a:t> (</a:t>
            </a:r>
            <a:r>
              <a:rPr lang="en-US" sz="2800" b="1" dirty="0" err="1"/>
              <a:t>Cytochrome</a:t>
            </a:r>
            <a:r>
              <a:rPr lang="en-US" sz="2800" b="1" dirty="0"/>
              <a:t> </a:t>
            </a:r>
            <a:r>
              <a:rPr lang="en-US" sz="2800" b="1" dirty="0" err="1">
                <a:cs typeface="Times New Roman" pitchFamily="18" charset="0"/>
              </a:rPr>
              <a:t>Reductase</a:t>
            </a:r>
            <a:r>
              <a:rPr lang="en-US" sz="2800" b="1" dirty="0">
                <a:cs typeface="Times New Roman" pitchFamily="18" charset="0"/>
              </a:rPr>
              <a:t>)</a:t>
            </a:r>
            <a:endParaRPr lang="en-US" sz="2800" b="1" dirty="0"/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v"/>
              <a:defRPr/>
            </a:pPr>
            <a:r>
              <a:rPr lang="en-US" sz="2800" dirty="0"/>
              <a:t>Accepts electrons from coenzyme</a:t>
            </a:r>
            <a:r>
              <a:rPr lang="en-US" sz="2800" dirty="0">
                <a:solidFill>
                  <a:srgbClr val="000099"/>
                </a:solidFill>
              </a:rPr>
              <a:t> </a:t>
            </a:r>
            <a:r>
              <a:rPr lang="en-US" sz="2800" b="1" dirty="0">
                <a:solidFill>
                  <a:srgbClr val="000099"/>
                </a:solidFill>
              </a:rPr>
              <a:t>QH</a:t>
            </a:r>
            <a:r>
              <a:rPr lang="en-US" sz="2800" b="1" baseline="-25000" dirty="0">
                <a:solidFill>
                  <a:srgbClr val="000099"/>
                </a:solidFill>
              </a:rPr>
              <a:t>2</a:t>
            </a:r>
            <a:r>
              <a:rPr lang="en-US" sz="2800" dirty="0"/>
              <a:t> that is generated by electron transfer in complexes I &amp; II. </a:t>
            </a:r>
          </a:p>
          <a:p>
            <a:pPr>
              <a:buFont typeface="Wingdings" pitchFamily="2" charset="2"/>
              <a:buChar char="v"/>
              <a:defRPr/>
            </a:pPr>
            <a:r>
              <a:rPr lang="en-GB" sz="2800" dirty="0"/>
              <a:t>Couples the transfer of electrons from </a:t>
            </a:r>
            <a:r>
              <a:rPr lang="en-GB" sz="2800" dirty="0" err="1"/>
              <a:t>ubiquinol</a:t>
            </a:r>
            <a:r>
              <a:rPr lang="en-GB" sz="2800" dirty="0"/>
              <a:t> (QH</a:t>
            </a:r>
            <a:r>
              <a:rPr lang="en-GB" sz="2800" baseline="-25000" dirty="0"/>
              <a:t>2</a:t>
            </a:r>
            <a:r>
              <a:rPr lang="en-GB" sz="2800" dirty="0"/>
              <a:t>) to </a:t>
            </a:r>
            <a:r>
              <a:rPr lang="en-GB" sz="2800" dirty="0" err="1"/>
              <a:t>cytochrome</a:t>
            </a:r>
            <a:r>
              <a:rPr lang="en-GB" sz="2800" dirty="0"/>
              <a:t> </a:t>
            </a:r>
            <a:r>
              <a:rPr lang="en-GB" sz="2800" i="1" dirty="0"/>
              <a:t>c with the </a:t>
            </a:r>
            <a:r>
              <a:rPr lang="en-GB" sz="2800" i="1" dirty="0" err="1"/>
              <a:t>vectorial</a:t>
            </a:r>
            <a:r>
              <a:rPr lang="en-GB" sz="2800" i="1" dirty="0"/>
              <a:t> </a:t>
            </a:r>
            <a:r>
              <a:rPr lang="en-GB" sz="2800" dirty="0"/>
              <a:t>transport of protons from the matrix to the </a:t>
            </a:r>
            <a:r>
              <a:rPr lang="en-GB" sz="2800" dirty="0" err="1"/>
              <a:t>intermembrane</a:t>
            </a:r>
            <a:r>
              <a:rPr lang="en-GB" sz="2800" dirty="0"/>
              <a:t> space.</a:t>
            </a:r>
          </a:p>
          <a:p>
            <a:pPr>
              <a:buFont typeface="Wingdings" pitchFamily="2" charset="2"/>
              <a:buChar char="v"/>
              <a:defRPr/>
            </a:pPr>
            <a:endParaRPr lang="en-GB" sz="2800" dirty="0"/>
          </a:p>
          <a:p>
            <a:pPr>
              <a:buFontTx/>
              <a:buNone/>
              <a:defRPr/>
            </a:pPr>
            <a:endParaRPr lang="en-US" sz="2800" dirty="0"/>
          </a:p>
          <a:p>
            <a:pPr>
              <a:buFont typeface="Wingdings" pitchFamily="2" charset="2"/>
              <a:buChar char="v"/>
              <a:defRPr/>
            </a:pPr>
            <a:endParaRPr lang="en-US" sz="2800" dirty="0"/>
          </a:p>
          <a:p>
            <a:pPr marL="0" indent="0" algn="just">
              <a:lnSpc>
                <a:spcPct val="95000"/>
              </a:lnSpc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v"/>
              <a:defRPr/>
            </a:pPr>
            <a:r>
              <a:rPr lang="en-US" sz="2800" dirty="0" err="1"/>
              <a:t>Cytochrome</a:t>
            </a:r>
            <a:r>
              <a:rPr lang="en-US" sz="2800" dirty="0"/>
              <a:t> c</a:t>
            </a:r>
            <a:r>
              <a:rPr lang="en-US" sz="2800" baseline="-25000" dirty="0"/>
              <a:t>1</a:t>
            </a:r>
            <a:r>
              <a:rPr lang="en-US" sz="2800" dirty="0"/>
              <a:t>, a prosthetic group within complex III,            reduces </a:t>
            </a:r>
            <a:r>
              <a:rPr lang="en-US" sz="2800" b="1" dirty="0" err="1">
                <a:solidFill>
                  <a:srgbClr val="000099"/>
                </a:solidFill>
              </a:rPr>
              <a:t>cytochrome</a:t>
            </a:r>
            <a:r>
              <a:rPr lang="en-US" sz="2800" b="1" dirty="0">
                <a:solidFill>
                  <a:srgbClr val="000099"/>
                </a:solidFill>
              </a:rPr>
              <a:t> c</a:t>
            </a:r>
            <a:r>
              <a:rPr lang="en-US" sz="2800" dirty="0"/>
              <a:t>, which is the electron donor to complex IV. </a:t>
            </a:r>
          </a:p>
        </p:txBody>
      </p:sp>
      <p:pic>
        <p:nvPicPr>
          <p:cNvPr id="35843" name="Picture 4">
            <a:extLst>
              <a:ext uri="{FF2B5EF4-FFF2-40B4-BE49-F238E27FC236}">
                <a16:creationId xmlns:a16="http://schemas.microsoft.com/office/drawing/2014/main" xmlns="" id="{9A69ED52-3125-F9F4-D08A-FF2B73CDE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075" y="3313113"/>
            <a:ext cx="4837113" cy="117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>
            <a:extLst>
              <a:ext uri="{FF2B5EF4-FFF2-40B4-BE49-F238E27FC236}">
                <a16:creationId xmlns:a16="http://schemas.microsoft.com/office/drawing/2014/main" xmlns="" id="{C583BA67-7F6F-0992-1DAE-E729FF811DF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1163" y="874713"/>
            <a:ext cx="8440737" cy="5486400"/>
          </a:xfrm>
          <a:noFill/>
        </p:spPr>
      </p:pic>
      <p:sp>
        <p:nvSpPr>
          <p:cNvPr id="36867" name="TextBox 4">
            <a:extLst>
              <a:ext uri="{FF2B5EF4-FFF2-40B4-BE49-F238E27FC236}">
                <a16:creationId xmlns:a16="http://schemas.microsoft.com/office/drawing/2014/main" xmlns="" id="{BF204819-FE6E-BA15-4523-081870303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3" y="384175"/>
            <a:ext cx="1763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/>
              <a:t>The Q cycle.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Content Placeholder 2">
            <a:extLst>
              <a:ext uri="{FF2B5EF4-FFF2-40B4-BE49-F238E27FC236}">
                <a16:creationId xmlns:a16="http://schemas.microsoft.com/office/drawing/2014/main" xmlns="" id="{1C8CB696-07E3-3133-5141-1AC5CF2F9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225" y="1231900"/>
            <a:ext cx="7927975" cy="4864100"/>
          </a:xfrm>
        </p:spPr>
        <p:txBody>
          <a:bodyPr/>
          <a:lstStyle/>
          <a:p>
            <a:pPr algn="just"/>
            <a:r>
              <a:rPr lang="en-GB" altLang="en-US"/>
              <a:t> </a:t>
            </a:r>
            <a:r>
              <a:rPr lang="en-GB" altLang="en-US" b="1" i="1"/>
              <a:t>Antimycin A: </a:t>
            </a:r>
          </a:p>
          <a:p>
            <a:pPr algn="just">
              <a:buFontTx/>
              <a:buNone/>
            </a:pPr>
            <a:r>
              <a:rPr lang="en-GB" altLang="en-US" i="1"/>
              <a:t>	An antibiotic blocks electron transport by inhibiting </a:t>
            </a:r>
            <a:r>
              <a:rPr lang="en-GB" altLang="en-US" b="1"/>
              <a:t>cytochrome reductase.</a:t>
            </a:r>
          </a:p>
          <a:p>
            <a:pPr algn="just"/>
            <a:r>
              <a:rPr lang="en-GB" altLang="en-US" b="1" i="1"/>
              <a:t>BAL (British anti lewisite): </a:t>
            </a:r>
          </a:p>
          <a:p>
            <a:pPr algn="just">
              <a:buFontTx/>
              <a:buNone/>
            </a:pPr>
            <a:r>
              <a:rPr lang="en-GB" altLang="en-US" i="1"/>
              <a:t>	Used as therapeutic agent in the cases of arsenic </a:t>
            </a:r>
            <a:r>
              <a:rPr lang="en-GB" altLang="en-US"/>
              <a:t>poisoning. It inhibits activity of </a:t>
            </a:r>
            <a:r>
              <a:rPr lang="en-GB" altLang="en-US" b="1"/>
              <a:t>cytochrome reductase</a:t>
            </a:r>
            <a:r>
              <a:rPr lang="en-GB" altLang="en-US"/>
              <a:t>.</a:t>
            </a:r>
          </a:p>
        </p:txBody>
      </p:sp>
      <p:sp>
        <p:nvSpPr>
          <p:cNvPr id="37891" name="Text Box 4">
            <a:extLst>
              <a:ext uri="{FF2B5EF4-FFF2-40B4-BE49-F238E27FC236}">
                <a16:creationId xmlns:a16="http://schemas.microsoft.com/office/drawing/2014/main" xmlns="" id="{F8A25144-9E1D-B3F5-0A43-5C925BD04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55588"/>
            <a:ext cx="47402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FF"/>
                </a:solidFill>
                <a:latin typeface="Arial Narrow" panose="020B0606020202030204" pitchFamily="34" charset="0"/>
              </a:rPr>
              <a:t>Inhibitors of complex III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xmlns="" id="{ED7D17E2-A562-C1FF-6F76-9DEE590144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4488" y="4319588"/>
            <a:ext cx="8237537" cy="2165350"/>
          </a:xfrm>
        </p:spPr>
        <p:txBody>
          <a:bodyPr/>
          <a:lstStyle/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40000"/>
              </a:spcAft>
              <a:buFontTx/>
              <a:buNone/>
            </a:pPr>
            <a:r>
              <a:rPr lang="en-US" altLang="en-US" sz="2800" b="1">
                <a:solidFill>
                  <a:schemeClr val="hlink"/>
                </a:solidFill>
                <a:cs typeface="Times New Roman" panose="02020603050405020304" pitchFamily="18" charset="0"/>
              </a:rPr>
              <a:t>Cytochrome oxidase</a:t>
            </a:r>
            <a:r>
              <a:rPr lang="en-US" altLang="en-US" sz="2800">
                <a:solidFill>
                  <a:srgbClr val="00009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>
                <a:solidFill>
                  <a:schemeClr val="hlink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800" b="1">
                <a:solidFill>
                  <a:schemeClr val="hlink"/>
                </a:solidFill>
                <a:cs typeface="Times New Roman" panose="02020603050405020304" pitchFamily="18" charset="0"/>
              </a:rPr>
              <a:t>complex IV</a:t>
            </a:r>
            <a:r>
              <a:rPr lang="en-US" altLang="en-US" sz="2800">
                <a:solidFill>
                  <a:schemeClr val="hlink"/>
                </a:solidFill>
                <a:cs typeface="Times New Roman" panose="02020603050405020304" pitchFamily="18" charset="0"/>
              </a:rPr>
              <a:t>)</a:t>
            </a:r>
            <a:r>
              <a:rPr lang="en-US" altLang="en-US" sz="2800">
                <a:cs typeface="Times New Roman" panose="02020603050405020304" pitchFamily="18" charset="0"/>
              </a:rPr>
              <a:t> carries out the following irreversible reaction:</a:t>
            </a:r>
          </a:p>
          <a:p>
            <a:pPr marL="0" indent="0" algn="just">
              <a:lnSpc>
                <a:spcPct val="95000"/>
              </a:lnSpc>
              <a:spcBef>
                <a:spcPct val="0"/>
              </a:spcBef>
              <a:spcAft>
                <a:spcPct val="40000"/>
              </a:spcAft>
              <a:buFontTx/>
              <a:buNone/>
            </a:pPr>
            <a:r>
              <a:rPr lang="en-US" altLang="en-US" sz="2800" b="1">
                <a:solidFill>
                  <a:srgbClr val="000080"/>
                </a:solidFill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lnSpc>
                <a:spcPct val="95000"/>
              </a:lnSpc>
              <a:spcBef>
                <a:spcPct val="0"/>
              </a:spcBef>
              <a:spcAft>
                <a:spcPct val="40000"/>
              </a:spcAft>
              <a:buFontTx/>
              <a:buNone/>
            </a:pPr>
            <a:r>
              <a:rPr lang="en-US" altLang="en-US" sz="2800"/>
              <a:t>The four electrons are transferred into the complex one at a time from cytochrome c. </a:t>
            </a:r>
          </a:p>
        </p:txBody>
      </p:sp>
      <p:pic>
        <p:nvPicPr>
          <p:cNvPr id="38915" name="Picture 4">
            <a:extLst>
              <a:ext uri="{FF2B5EF4-FFF2-40B4-BE49-F238E27FC236}">
                <a16:creationId xmlns:a16="http://schemas.microsoft.com/office/drawing/2014/main" xmlns="" id="{DBDB4684-331A-703E-D764-1A989AC61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038" y="228600"/>
            <a:ext cx="5486400" cy="411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6" name="Picture 5">
            <a:extLst>
              <a:ext uri="{FF2B5EF4-FFF2-40B4-BE49-F238E27FC236}">
                <a16:creationId xmlns:a16="http://schemas.microsoft.com/office/drawing/2014/main" xmlns="" id="{7E288287-3CEC-3A62-D553-750C71077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700" y="5168900"/>
            <a:ext cx="4175125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xmlns="" id="{C6DC2601-F13F-7EF7-3CA5-AC3385BEB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966788"/>
            <a:ext cx="7772400" cy="5116512"/>
          </a:xfrm>
        </p:spPr>
        <p:txBody>
          <a:bodyPr/>
          <a:lstStyle/>
          <a:p>
            <a:pPr algn="just"/>
            <a:r>
              <a:rPr lang="en-GB" altLang="en-US" sz="2400" b="1"/>
              <a:t>Cyanide (CN) </a:t>
            </a:r>
          </a:p>
          <a:p>
            <a:pPr algn="just">
              <a:buFontTx/>
              <a:buNone/>
            </a:pPr>
            <a:r>
              <a:rPr lang="en-GB" altLang="en-US" sz="2400" b="1"/>
              <a:t>	</a:t>
            </a:r>
            <a:r>
              <a:rPr lang="en-GB" altLang="en-US" sz="2400"/>
              <a:t>A powerful poison that inhibit </a:t>
            </a:r>
            <a:r>
              <a:rPr lang="en-GB" altLang="en-US" sz="2400" b="1"/>
              <a:t>cytochrome oxidase </a:t>
            </a:r>
            <a:r>
              <a:rPr lang="en-GB" altLang="en-US" sz="2400"/>
              <a:t>by combining with cytochrome a3. </a:t>
            </a:r>
          </a:p>
          <a:p>
            <a:pPr algn="just">
              <a:buFontTx/>
              <a:buNone/>
            </a:pPr>
            <a:r>
              <a:rPr lang="en-GB" altLang="en-US" sz="2400"/>
              <a:t>	Cyanide may arise from cyanogenic substance.</a:t>
            </a:r>
          </a:p>
          <a:p>
            <a:pPr algn="just"/>
            <a:r>
              <a:rPr lang="en-GB" altLang="en-US" sz="2400" b="1"/>
              <a:t>Carbon monoxide (CO) </a:t>
            </a:r>
          </a:p>
          <a:p>
            <a:pPr algn="just">
              <a:buFontTx/>
              <a:buNone/>
            </a:pPr>
            <a:r>
              <a:rPr lang="en-GB" altLang="en-US" sz="2400" b="1"/>
              <a:t>	</a:t>
            </a:r>
            <a:r>
              <a:rPr lang="en-GB" altLang="en-US" sz="2400"/>
              <a:t>It inhibits activity of cytochrome oxidase. (a pollutant).</a:t>
            </a:r>
          </a:p>
          <a:p>
            <a:pPr algn="just"/>
            <a:r>
              <a:rPr lang="en-GB" altLang="en-US" sz="2400"/>
              <a:t>3. </a:t>
            </a:r>
            <a:r>
              <a:rPr lang="en-GB" altLang="en-US" sz="2400" b="1"/>
              <a:t>Hydrogen sulfide (H</a:t>
            </a:r>
            <a:r>
              <a:rPr lang="en-GB" altLang="en-US" sz="2400" b="1" baseline="-25000"/>
              <a:t>2</a:t>
            </a:r>
            <a:r>
              <a:rPr lang="en-GB" altLang="en-US" sz="2400" b="1"/>
              <a:t>S)</a:t>
            </a:r>
          </a:p>
          <a:p>
            <a:pPr algn="just">
              <a:buFontTx/>
              <a:buNone/>
            </a:pPr>
            <a:r>
              <a:rPr lang="en-GB" altLang="en-US" sz="2400" b="1"/>
              <a:t>	 </a:t>
            </a:r>
            <a:r>
              <a:rPr lang="en-GB" altLang="en-US" sz="2400"/>
              <a:t>It inhibits cytochrome oxidase. H</a:t>
            </a:r>
            <a:r>
              <a:rPr lang="en-GB" altLang="en-US" sz="2400" baseline="-25000"/>
              <a:t>2</a:t>
            </a:r>
            <a:r>
              <a:rPr lang="en-GB" altLang="en-US" sz="2400"/>
              <a:t>S toxicity occurs during oil drilling operations. </a:t>
            </a:r>
          </a:p>
          <a:p>
            <a:pPr algn="just">
              <a:buFontTx/>
              <a:buNone/>
            </a:pPr>
            <a:r>
              <a:rPr lang="en-GB" altLang="en-US" sz="2400"/>
              <a:t>	It is toxic as cyanide. It is a part of natural gas.</a:t>
            </a:r>
          </a:p>
          <a:p>
            <a:pPr algn="just"/>
            <a:r>
              <a:rPr lang="en-GB" altLang="en-US" sz="2400" b="1"/>
              <a:t>Azide:</a:t>
            </a:r>
          </a:p>
          <a:p>
            <a:pPr algn="just">
              <a:buFontTx/>
              <a:buNone/>
            </a:pPr>
            <a:r>
              <a:rPr lang="en-GB" altLang="en-US" sz="2400" b="1"/>
              <a:t>	 </a:t>
            </a:r>
            <a:r>
              <a:rPr lang="en-GB" altLang="en-US" sz="2400"/>
              <a:t>Sodium azide also inhibits cytochrome oxidase activity</a:t>
            </a:r>
            <a:r>
              <a:rPr lang="en-GB" altLang="en-US" sz="2400" b="1"/>
              <a:t>.</a:t>
            </a:r>
            <a:endParaRPr lang="en-GB" altLang="en-US" sz="2400"/>
          </a:p>
        </p:txBody>
      </p:sp>
      <p:sp>
        <p:nvSpPr>
          <p:cNvPr id="39939" name="Text Box 4">
            <a:extLst>
              <a:ext uri="{FF2B5EF4-FFF2-40B4-BE49-F238E27FC236}">
                <a16:creationId xmlns:a16="http://schemas.microsoft.com/office/drawing/2014/main" xmlns="" id="{6AD2EE7B-4A04-DBC9-47E0-834ABE4AF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588" y="241300"/>
            <a:ext cx="47402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FF"/>
                </a:solidFill>
                <a:latin typeface="Arial Narrow" panose="020B0606020202030204" pitchFamily="34" charset="0"/>
              </a:rPr>
              <a:t>Inhibitors of complex IV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>
            <a:extLst>
              <a:ext uri="{FF2B5EF4-FFF2-40B4-BE49-F238E27FC236}">
                <a16:creationId xmlns:a16="http://schemas.microsoft.com/office/drawing/2014/main" xmlns="" id="{D329BE60-85EF-77D3-F9F2-2BE63BCAC33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1788" y="1046163"/>
            <a:ext cx="7486650" cy="2770187"/>
          </a:xfrm>
          <a:noFill/>
        </p:spPr>
      </p:pic>
      <p:pic>
        <p:nvPicPr>
          <p:cNvPr id="40963" name="Picture 3">
            <a:extLst>
              <a:ext uri="{FF2B5EF4-FFF2-40B4-BE49-F238E27FC236}">
                <a16:creationId xmlns:a16="http://schemas.microsoft.com/office/drawing/2014/main" xmlns="" id="{34D1BEC1-FEB5-B66A-86A9-54C876AA2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" y="4002088"/>
            <a:ext cx="4333875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TextBox 5">
            <a:extLst>
              <a:ext uri="{FF2B5EF4-FFF2-40B4-BE49-F238E27FC236}">
                <a16:creationId xmlns:a16="http://schemas.microsoft.com/office/drawing/2014/main" xmlns="" id="{C9406A65-07B4-313E-E640-8C526CD14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9300" y="3975100"/>
            <a:ext cx="2089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/>
              <a:t>Proton gradient</a:t>
            </a:r>
          </a:p>
        </p:txBody>
      </p:sp>
      <p:sp>
        <p:nvSpPr>
          <p:cNvPr id="40965" name="TextBox 6">
            <a:extLst>
              <a:ext uri="{FF2B5EF4-FFF2-40B4-BE49-F238E27FC236}">
                <a16:creationId xmlns:a16="http://schemas.microsoft.com/office/drawing/2014/main" xmlns="" id="{15C9C73C-8B92-9C3E-70EB-92E8026CF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265113"/>
            <a:ext cx="834866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2400" b="1"/>
              <a:t>The Energy of Electron Transfer Is Efficiently Conserved in a Proton Gradient</a:t>
            </a:r>
            <a:endParaRPr lang="en-GB" altLang="en-US" sz="240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2A0CAC2F-6614-3FD8-BC2D-C3E17CD5A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2300" y="4435475"/>
            <a:ext cx="4684713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Proton gradient created as electrons transferred to oxygen forming water</a:t>
            </a:r>
          </a:p>
          <a:p>
            <a:pPr marL="742950" lvl="1" indent="-285750" eaLnBrk="1" hangingPunct="1">
              <a:spcBef>
                <a:spcPct val="20000"/>
              </a:spcBef>
              <a:defRPr/>
            </a:pPr>
            <a:r>
              <a:rPr lang="en-US" sz="2000" kern="0" dirty="0">
                <a:latin typeface="+mn-lt"/>
              </a:rPr>
              <a:t>10 H</a:t>
            </a:r>
            <a:r>
              <a:rPr lang="en-US" sz="2000" kern="0" baseline="30000" dirty="0">
                <a:latin typeface="+mn-lt"/>
              </a:rPr>
              <a:t>+</a:t>
            </a:r>
            <a:r>
              <a:rPr lang="en-US" sz="2000" kern="0" dirty="0">
                <a:latin typeface="+mn-lt"/>
              </a:rPr>
              <a:t> / NADH</a:t>
            </a:r>
          </a:p>
          <a:p>
            <a:pPr marL="742950" lvl="1" indent="-285750" eaLnBrk="1" hangingPunct="1">
              <a:spcBef>
                <a:spcPct val="20000"/>
              </a:spcBef>
              <a:defRPr/>
            </a:pPr>
            <a:r>
              <a:rPr lang="en-US" sz="2000" kern="0" dirty="0">
                <a:latin typeface="+mn-lt"/>
              </a:rPr>
              <a:t>6 H</a:t>
            </a:r>
            <a:r>
              <a:rPr lang="en-US" sz="2000" kern="0" baseline="30000" dirty="0">
                <a:latin typeface="+mn-lt"/>
              </a:rPr>
              <a:t>+</a:t>
            </a:r>
            <a:r>
              <a:rPr lang="en-US" sz="2000" kern="0" dirty="0">
                <a:latin typeface="+mn-lt"/>
              </a:rPr>
              <a:t> / FADH</a:t>
            </a:r>
            <a:r>
              <a:rPr lang="en-US" sz="2000" kern="0" baseline="-25000" dirty="0">
                <a:latin typeface="+mn-lt"/>
              </a:rPr>
              <a:t>2</a:t>
            </a:r>
            <a:endParaRPr lang="en-US" sz="2000" kern="0" dirty="0">
              <a:latin typeface="+mn-l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Box 3">
            <a:extLst>
              <a:ext uri="{FF2B5EF4-FFF2-40B4-BE49-F238E27FC236}">
                <a16:creationId xmlns:a16="http://schemas.microsoft.com/office/drawing/2014/main" xmlns="" id="{BD510125-93F2-F240-B4F7-E0F49664C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863" y="265113"/>
            <a:ext cx="20193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 b="1"/>
              <a:t>ATP synthesis</a:t>
            </a:r>
          </a:p>
        </p:txBody>
      </p:sp>
      <p:pic>
        <p:nvPicPr>
          <p:cNvPr id="41987" name="Picture 2">
            <a:extLst>
              <a:ext uri="{FF2B5EF4-FFF2-40B4-BE49-F238E27FC236}">
                <a16:creationId xmlns:a16="http://schemas.microsoft.com/office/drawing/2014/main" xmlns="" id="{8CDF5C99-F0C8-8CA0-0858-066D79420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741363"/>
            <a:ext cx="7937500" cy="486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8" name="TextBox 3">
            <a:extLst>
              <a:ext uri="{FF2B5EF4-FFF2-40B4-BE49-F238E27FC236}">
                <a16:creationId xmlns:a16="http://schemas.microsoft.com/office/drawing/2014/main" xmlns="" id="{40030680-DA75-1641-4A97-32C98B404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525" y="5605463"/>
            <a:ext cx="68326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 b="1"/>
              <a:t>The Proton Gradient Drives ATP Synthesis.   </a:t>
            </a:r>
            <a:r>
              <a:rPr lang="en-GB" altLang="en-US" sz="4400" b="1"/>
              <a:t>How??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>
            <a:extLst>
              <a:ext uri="{FF2B5EF4-FFF2-40B4-BE49-F238E27FC236}">
                <a16:creationId xmlns:a16="http://schemas.microsoft.com/office/drawing/2014/main" xmlns="" id="{EFDA1EB3-1D0D-0C40-E9F8-B0FC07C99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" y="673100"/>
            <a:ext cx="3179763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1" name="TextBox 4">
            <a:extLst>
              <a:ext uri="{FF2B5EF4-FFF2-40B4-BE49-F238E27FC236}">
                <a16:creationId xmlns:a16="http://schemas.microsoft.com/office/drawing/2014/main" xmlns="" id="{20886213-0F84-7904-4D59-4FD9C3E13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3" y="119063"/>
            <a:ext cx="38925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/>
              <a:t>F</a:t>
            </a:r>
            <a:r>
              <a:rPr lang="en-GB" altLang="en-US" sz="2400" baseline="-25000"/>
              <a:t>1</a:t>
            </a:r>
            <a:r>
              <a:rPr lang="en-GB" altLang="en-US" sz="2400"/>
              <a:t>F</a:t>
            </a:r>
            <a:r>
              <a:rPr lang="en-GB" altLang="en-US" sz="2400" baseline="-25000"/>
              <a:t>0</a:t>
            </a:r>
            <a:r>
              <a:rPr lang="en-GB" altLang="en-US" sz="2400"/>
              <a:t>-ATP synthase of </a:t>
            </a:r>
            <a:r>
              <a:rPr lang="en-GB" altLang="en-US" sz="2400" i="1"/>
              <a:t>E.Coli.</a:t>
            </a:r>
            <a:endParaRPr lang="en-GB" altLang="en-US" sz="2400"/>
          </a:p>
        </p:txBody>
      </p:sp>
      <p:pic>
        <p:nvPicPr>
          <p:cNvPr id="43012" name="Picture 3">
            <a:extLst>
              <a:ext uri="{FF2B5EF4-FFF2-40B4-BE49-F238E27FC236}">
                <a16:creationId xmlns:a16="http://schemas.microsoft.com/office/drawing/2014/main" xmlns="" id="{9CE3C7A0-05A4-CC5E-DB79-18037E7CD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7563" y="2889250"/>
            <a:ext cx="3167062" cy="3630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3" name="TextBox 6">
            <a:extLst>
              <a:ext uri="{FF2B5EF4-FFF2-40B4-BE49-F238E27FC236}">
                <a16:creationId xmlns:a16="http://schemas.microsoft.com/office/drawing/2014/main" xmlns="" id="{C63D4C8C-D032-E7B9-A0F9-578A104BF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188" y="688975"/>
            <a:ext cx="5421312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GB" altLang="en-US" sz="2000" b="1"/>
              <a:t>F</a:t>
            </a:r>
            <a:r>
              <a:rPr lang="en-GB" altLang="en-US" sz="2000" b="1" baseline="-25000"/>
              <a:t>1</a:t>
            </a:r>
            <a:r>
              <a:rPr lang="en-GB" altLang="en-US" sz="2000" b="1"/>
              <a:t> portion 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GB" altLang="en-US" sz="2000"/>
              <a:t>is composed of several subunits. 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GB" altLang="en-US" sz="2000"/>
              <a:t>It contains three α, three β and one γ, δ and ε sub units,designated as α</a:t>
            </a:r>
            <a:r>
              <a:rPr lang="en-GB" altLang="en-US" sz="2000" baseline="-25000"/>
              <a:t>3</a:t>
            </a:r>
            <a:r>
              <a:rPr lang="en-GB" altLang="en-US" sz="2000"/>
              <a:t> β</a:t>
            </a:r>
            <a:r>
              <a:rPr lang="en-GB" altLang="en-US" sz="2000" baseline="-25000"/>
              <a:t>3</a:t>
            </a:r>
            <a:r>
              <a:rPr lang="en-GB" altLang="en-US" sz="2000"/>
              <a:t> γ</a:t>
            </a:r>
            <a:r>
              <a:rPr lang="en-GB" altLang="en-US" sz="2000" baseline="-25000"/>
              <a:t>1</a:t>
            </a:r>
            <a:r>
              <a:rPr lang="en-GB" altLang="en-US" sz="2000"/>
              <a:t> δ</a:t>
            </a:r>
            <a:r>
              <a:rPr lang="en-GB" altLang="en-US" sz="2000" baseline="-25000"/>
              <a:t>1</a:t>
            </a:r>
            <a:r>
              <a:rPr lang="en-GB" altLang="en-US" sz="2000"/>
              <a:t> ε</a:t>
            </a:r>
            <a:r>
              <a:rPr lang="en-GB" altLang="en-US" sz="2000" baseline="-25000"/>
              <a:t>1</a:t>
            </a:r>
            <a:r>
              <a:rPr lang="en-GB" altLang="en-US" sz="2000"/>
              <a:t>. 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GB" altLang="en-US" sz="2000" b="1"/>
              <a:t>F</a:t>
            </a:r>
            <a:r>
              <a:rPr lang="en-GB" altLang="en-US" sz="2000" b="1" baseline="-25000"/>
              <a:t>0</a:t>
            </a:r>
            <a:r>
              <a:rPr lang="en-GB" altLang="en-US" sz="2000" b="1"/>
              <a:t> portion 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GB" altLang="en-US" sz="2000"/>
              <a:t>is composed of one a, two b, and twelve c subunits.</a:t>
            </a:r>
          </a:p>
        </p:txBody>
      </p:sp>
      <p:sp>
        <p:nvSpPr>
          <p:cNvPr id="43014" name="TextBox 7">
            <a:extLst>
              <a:ext uri="{FF2B5EF4-FFF2-40B4-BE49-F238E27FC236}">
                <a16:creationId xmlns:a16="http://schemas.microsoft.com/office/drawing/2014/main" xmlns="" id="{96EFF05B-268C-96F6-605D-DB62539E0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75" y="2968625"/>
            <a:ext cx="46259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 b="1"/>
              <a:t>Binding-change model for ATP synthase</a:t>
            </a:r>
            <a:r>
              <a:rPr lang="en-GB" altLang="en-US" sz="2000"/>
              <a:t>.</a:t>
            </a:r>
          </a:p>
        </p:txBody>
      </p:sp>
      <p:sp>
        <p:nvSpPr>
          <p:cNvPr id="43015" name="TextBox 8">
            <a:extLst>
              <a:ext uri="{FF2B5EF4-FFF2-40B4-BE49-F238E27FC236}">
                <a16:creationId xmlns:a16="http://schemas.microsoft.com/office/drawing/2014/main" xmlns="" id="{11A270DF-AD57-23FF-F5BE-6651BCBFB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050" y="3405188"/>
            <a:ext cx="5857875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1800"/>
              <a:t>Proposed by Paul Boyer.</a:t>
            </a:r>
          </a:p>
          <a:p>
            <a:pPr algn="just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1800"/>
              <a:t>The F1 complex has three nonequivalent adenine nucleotide–binding sites, one for each pair of </a:t>
            </a:r>
            <a:r>
              <a:rPr lang="en-GB" altLang="en-US" sz="1800" i="1"/>
              <a:t> </a:t>
            </a:r>
            <a:r>
              <a:rPr lang="el-GR" altLang="en-US" sz="1800" i="1">
                <a:cs typeface="Times New Roman" panose="02020603050405020304" pitchFamily="18" charset="0"/>
              </a:rPr>
              <a:t>α</a:t>
            </a:r>
            <a:r>
              <a:rPr lang="en-GB" altLang="en-US" sz="1800" i="1">
                <a:cs typeface="Times New Roman" panose="02020603050405020304" pitchFamily="18" charset="0"/>
              </a:rPr>
              <a:t> </a:t>
            </a:r>
            <a:r>
              <a:rPr lang="en-GB" altLang="en-US" sz="1800" i="1"/>
              <a:t>and </a:t>
            </a:r>
            <a:r>
              <a:rPr lang="el-GR" altLang="en-US" sz="1800" i="1">
                <a:cs typeface="Times New Roman" panose="02020603050405020304" pitchFamily="18" charset="0"/>
              </a:rPr>
              <a:t>β</a:t>
            </a:r>
            <a:r>
              <a:rPr lang="en-GB" altLang="en-US" sz="1800" i="1"/>
              <a:t>  subunits.</a:t>
            </a:r>
          </a:p>
          <a:p>
            <a:pPr algn="just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1800"/>
              <a:t>At any given moment, one of these sites is in the </a:t>
            </a:r>
            <a:r>
              <a:rPr lang="el-GR" altLang="en-US" sz="1800" b="1">
                <a:cs typeface="Times New Roman" panose="02020603050405020304" pitchFamily="18" charset="0"/>
              </a:rPr>
              <a:t>β</a:t>
            </a:r>
            <a:r>
              <a:rPr lang="en-GB" altLang="en-US" sz="1800" b="1"/>
              <a:t>-ATP conformation</a:t>
            </a:r>
            <a:r>
              <a:rPr lang="en-GB" altLang="en-US" sz="1800"/>
              <a:t> (which binds ATP tightly), a second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GB" altLang="en-US" sz="1800"/>
              <a:t>is in the </a:t>
            </a:r>
            <a:r>
              <a:rPr lang="el-GR" altLang="en-US" sz="1800" b="1">
                <a:cs typeface="Times New Roman" panose="02020603050405020304" pitchFamily="18" charset="0"/>
              </a:rPr>
              <a:t>β</a:t>
            </a:r>
            <a:r>
              <a:rPr lang="en-GB" altLang="en-US" sz="1800" b="1"/>
              <a:t>-ADP </a:t>
            </a:r>
            <a:r>
              <a:rPr lang="en-GB" altLang="en-US" sz="1800"/>
              <a:t>(loose-binding) conformation, and a third is in the </a:t>
            </a:r>
            <a:r>
              <a:rPr lang="el-GR" altLang="en-US" sz="1800" b="1">
                <a:cs typeface="Times New Roman" panose="02020603050405020304" pitchFamily="18" charset="0"/>
              </a:rPr>
              <a:t>β</a:t>
            </a:r>
            <a:r>
              <a:rPr lang="en-GB" altLang="en-US" sz="1800" b="1"/>
              <a:t>-empty </a:t>
            </a:r>
            <a:r>
              <a:rPr lang="en-GB" altLang="en-US" sz="1800"/>
              <a:t>(very-loose-binding) conformation.</a:t>
            </a:r>
          </a:p>
          <a:p>
            <a:pPr algn="just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1800"/>
              <a:t>proton-motive force causes rotation of the central shaft—the </a:t>
            </a:r>
            <a:r>
              <a:rPr lang="el-GR" altLang="en-US" sz="1800">
                <a:cs typeface="Times New Roman" panose="02020603050405020304" pitchFamily="18" charset="0"/>
              </a:rPr>
              <a:t>γ</a:t>
            </a:r>
            <a:r>
              <a:rPr lang="en-GB" altLang="en-US" sz="1800" i="1"/>
              <a:t> subunit </a:t>
            </a:r>
            <a:r>
              <a:rPr lang="en-GB" altLang="en-US" sz="1800"/>
              <a:t>comes into contact with each </a:t>
            </a:r>
            <a:r>
              <a:rPr lang="el-GR" altLang="en-US" sz="1800">
                <a:cs typeface="Times New Roman" panose="02020603050405020304" pitchFamily="18" charset="0"/>
              </a:rPr>
              <a:t>αβ</a:t>
            </a:r>
            <a:r>
              <a:rPr lang="en-GB" altLang="en-US" sz="1800" i="1"/>
              <a:t> subunit pair in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GB" altLang="en-US" sz="1800"/>
              <a:t>Succession, producing cooperative conformational changes.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2DA34D65-3783-4B69-DB3A-CCA52F8B3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52475"/>
            <a:ext cx="8229600" cy="298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  <a:defRPr/>
            </a:pPr>
            <a:r>
              <a:rPr lang="en-US" kern="0" dirty="0">
                <a:latin typeface="+mn-lt"/>
              </a:rPr>
              <a:t>P</a:t>
            </a:r>
            <a:r>
              <a:rPr lang="en-US" b="1" kern="0" dirty="0">
                <a:latin typeface="+mn-lt"/>
              </a:rPr>
              <a:t>r</a:t>
            </a:r>
            <a:r>
              <a:rPr lang="en-US" kern="0" dirty="0">
                <a:latin typeface="+mn-lt"/>
              </a:rPr>
              <a:t>oton dependant ATP </a:t>
            </a:r>
            <a:r>
              <a:rPr lang="en-US" kern="0" dirty="0" err="1">
                <a:latin typeface="+mn-lt"/>
              </a:rPr>
              <a:t>synthetase</a:t>
            </a:r>
            <a:endParaRPr lang="en-US" kern="0" dirty="0">
              <a:latin typeface="+mn-lt"/>
            </a:endParaRPr>
          </a:p>
          <a:p>
            <a:pPr marL="742950" lvl="1" indent="-285750" eaLnBrk="1" hangingPunct="1">
              <a:spcBef>
                <a:spcPct val="20000"/>
              </a:spcBef>
              <a:buFontTx/>
              <a:buChar char="–"/>
              <a:defRPr/>
            </a:pPr>
            <a:r>
              <a:rPr lang="en-US" kern="0" dirty="0">
                <a:latin typeface="+mn-lt"/>
              </a:rPr>
              <a:t>Uses proton gradient to make ATP</a:t>
            </a:r>
          </a:p>
          <a:p>
            <a:pPr marL="742950" lvl="1" indent="-285750" eaLnBrk="1" hangingPunct="1">
              <a:spcBef>
                <a:spcPct val="20000"/>
              </a:spcBef>
              <a:buFontTx/>
              <a:buChar char="–"/>
              <a:defRPr/>
            </a:pPr>
            <a:r>
              <a:rPr lang="en-US" kern="0" dirty="0">
                <a:latin typeface="+mn-lt"/>
              </a:rPr>
              <a:t>Protons pumped through channel on enzyme</a:t>
            </a:r>
          </a:p>
          <a:p>
            <a:pPr marL="1143000" lvl="2" indent="-228600" eaLnBrk="1" hangingPunct="1">
              <a:spcBef>
                <a:spcPct val="20000"/>
              </a:spcBef>
              <a:buFontTx/>
              <a:buChar char="•"/>
              <a:defRPr/>
            </a:pPr>
            <a:r>
              <a:rPr lang="en-US" kern="0" dirty="0">
                <a:latin typeface="+mn-lt"/>
              </a:rPr>
              <a:t>From </a:t>
            </a:r>
            <a:r>
              <a:rPr lang="en-US" kern="0" dirty="0" err="1">
                <a:latin typeface="+mn-lt"/>
              </a:rPr>
              <a:t>intermembrane</a:t>
            </a:r>
            <a:r>
              <a:rPr lang="en-US" kern="0" dirty="0">
                <a:latin typeface="+mn-lt"/>
              </a:rPr>
              <a:t> space into matrix</a:t>
            </a:r>
          </a:p>
          <a:p>
            <a:pPr marL="1143000" lvl="2" indent="-228600" eaLnBrk="1" hangingPunct="1">
              <a:spcBef>
                <a:spcPct val="20000"/>
              </a:spcBef>
              <a:buFontTx/>
              <a:buChar char="•"/>
              <a:defRPr/>
            </a:pPr>
            <a:r>
              <a:rPr lang="en-US" kern="0" dirty="0">
                <a:latin typeface="+mn-lt"/>
              </a:rPr>
              <a:t>~4 H</a:t>
            </a:r>
            <a:r>
              <a:rPr lang="en-US" kern="0" baseline="30000" dirty="0">
                <a:latin typeface="+mn-lt"/>
              </a:rPr>
              <a:t>+</a:t>
            </a:r>
            <a:r>
              <a:rPr lang="en-US" kern="0" dirty="0">
                <a:latin typeface="+mn-lt"/>
              </a:rPr>
              <a:t> / ATP</a:t>
            </a:r>
          </a:p>
          <a:p>
            <a:pPr marL="742950" lvl="1" indent="-285750" eaLnBrk="1" hangingPunct="1">
              <a:spcBef>
                <a:spcPct val="20000"/>
              </a:spcBef>
              <a:buFontTx/>
              <a:buChar char="–"/>
              <a:defRPr/>
            </a:pPr>
            <a:r>
              <a:rPr lang="en-US" kern="0" dirty="0">
                <a:latin typeface="+mn-lt"/>
              </a:rPr>
              <a:t>Called </a:t>
            </a:r>
            <a:r>
              <a:rPr lang="en-US" b="1" kern="0" dirty="0" err="1">
                <a:latin typeface="+mn-lt"/>
              </a:rPr>
              <a:t>chemiosmotic</a:t>
            </a:r>
            <a:r>
              <a:rPr lang="en-US" b="1" kern="0" dirty="0">
                <a:latin typeface="+mn-lt"/>
              </a:rPr>
              <a:t> coupling theory</a:t>
            </a:r>
            <a:r>
              <a:rPr lang="en-US" kern="0" dirty="0">
                <a:latin typeface="+mn-lt"/>
              </a:rPr>
              <a:t>.</a:t>
            </a:r>
          </a:p>
          <a:p>
            <a:pPr marL="742950" lvl="1" indent="-285750" eaLnBrk="1" hangingPunct="1">
              <a:spcBef>
                <a:spcPct val="20000"/>
              </a:spcBef>
              <a:defRPr/>
            </a:pPr>
            <a:r>
              <a:rPr lang="en-US" kern="0" dirty="0">
                <a:latin typeface="+mn-lt"/>
              </a:rPr>
              <a:t>Other theories include: </a:t>
            </a:r>
            <a:r>
              <a:rPr lang="en-US" b="1" kern="0" dirty="0">
                <a:latin typeface="+mn-lt"/>
              </a:rPr>
              <a:t>Chemical coupling</a:t>
            </a:r>
            <a:r>
              <a:rPr lang="en-US" kern="0" dirty="0">
                <a:latin typeface="+mn-lt"/>
              </a:rPr>
              <a:t>   theory &amp; </a:t>
            </a:r>
            <a:r>
              <a:rPr lang="en-US" b="1" kern="0" dirty="0">
                <a:latin typeface="+mn-lt"/>
              </a:rPr>
              <a:t>Conformational coupling</a:t>
            </a:r>
            <a:r>
              <a:rPr lang="en-US" kern="0" dirty="0">
                <a:latin typeface="+mn-lt"/>
              </a:rPr>
              <a:t> theory.</a:t>
            </a: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xmlns="" id="{E65E0BAF-7E52-183A-CBCC-5462A7FEE8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6675"/>
            <a:ext cx="8229600" cy="860425"/>
          </a:xfrm>
        </p:spPr>
        <p:txBody>
          <a:bodyPr/>
          <a:lstStyle/>
          <a:p>
            <a:pPr eaLnBrk="1" hangingPunct="1"/>
            <a:r>
              <a:rPr lang="en-US" altLang="en-US"/>
              <a:t>Generation of ATP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58833C61-221C-8392-2BD4-371A2C179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588" y="4319588"/>
            <a:ext cx="8229600" cy="2601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sz="3200" kern="0" dirty="0">
                <a:latin typeface="+mn-lt"/>
              </a:rPr>
              <a:t>	</a:t>
            </a:r>
            <a:r>
              <a:rPr lang="en-US" sz="2000" b="1" kern="0" dirty="0">
                <a:latin typeface="+mn-lt"/>
              </a:rPr>
              <a:t>NADH</a:t>
            </a:r>
          </a:p>
          <a:p>
            <a:pPr marL="742950" lvl="1" indent="-285750" eaLnBrk="1" hangingPunct="1">
              <a:spcBef>
                <a:spcPct val="20000"/>
              </a:spcBef>
              <a:defRPr/>
            </a:pPr>
            <a:r>
              <a:rPr lang="en-US" sz="2000" kern="0" dirty="0">
                <a:latin typeface="+mn-lt"/>
              </a:rPr>
              <a:t>	10 H</a:t>
            </a:r>
            <a:r>
              <a:rPr lang="en-US" sz="2000" kern="0" baseline="30000" dirty="0">
                <a:latin typeface="+mn-lt"/>
              </a:rPr>
              <a:t>+</a:t>
            </a:r>
            <a:r>
              <a:rPr lang="en-US" sz="2000" kern="0" dirty="0">
                <a:latin typeface="+mn-lt"/>
              </a:rPr>
              <a:t> X </a:t>
            </a:r>
            <a:r>
              <a:rPr lang="en-US" sz="2000" u="sng" kern="0" dirty="0">
                <a:latin typeface="+mn-lt"/>
              </a:rPr>
              <a:t>1 ATP</a:t>
            </a:r>
            <a:r>
              <a:rPr lang="en-US" sz="2000" kern="0" dirty="0">
                <a:latin typeface="+mn-lt"/>
              </a:rPr>
              <a:t>   =  2.5 ATP</a:t>
            </a:r>
          </a:p>
          <a:p>
            <a:pPr marL="742950" lvl="1" indent="-285750" eaLnBrk="1" hangingPunct="1">
              <a:spcBef>
                <a:spcPct val="20000"/>
              </a:spcBef>
              <a:defRPr/>
            </a:pPr>
            <a:r>
              <a:rPr lang="en-US" sz="2000" kern="0" dirty="0">
                <a:latin typeface="+mn-lt"/>
              </a:rPr>
              <a:t>			   4 H</a:t>
            </a:r>
            <a:r>
              <a:rPr lang="en-US" sz="2000" kern="0" baseline="30000" dirty="0">
                <a:latin typeface="+mn-lt"/>
              </a:rPr>
              <a:t>+</a:t>
            </a:r>
            <a:endParaRPr lang="en-US" sz="2000" kern="0" dirty="0">
              <a:latin typeface="+mn-lt"/>
            </a:endParaRPr>
          </a:p>
          <a:p>
            <a:pPr marL="742950" lvl="1" indent="-285750" eaLnBrk="1" hangingPunct="1">
              <a:spcBef>
                <a:spcPct val="20000"/>
              </a:spcBef>
              <a:defRPr/>
            </a:pPr>
            <a:r>
              <a:rPr lang="en-US" sz="2000" b="1" kern="0" dirty="0">
                <a:latin typeface="+mn-lt"/>
              </a:rPr>
              <a:t>FADH</a:t>
            </a:r>
            <a:r>
              <a:rPr lang="en-US" sz="2000" b="1" kern="0" baseline="-25000" dirty="0">
                <a:latin typeface="+mn-lt"/>
              </a:rPr>
              <a:t>2</a:t>
            </a:r>
            <a:endParaRPr lang="en-US" sz="2000" b="1" kern="0" dirty="0">
              <a:latin typeface="+mn-lt"/>
            </a:endParaRPr>
          </a:p>
          <a:p>
            <a:pPr marL="742950" lvl="1" indent="-285750" eaLnBrk="1" hangingPunct="1">
              <a:spcBef>
                <a:spcPct val="20000"/>
              </a:spcBef>
              <a:defRPr/>
            </a:pPr>
            <a:r>
              <a:rPr lang="en-US" sz="2000" kern="0" dirty="0">
                <a:latin typeface="+mn-lt"/>
              </a:rPr>
              <a:t>	6 H</a:t>
            </a:r>
            <a:r>
              <a:rPr lang="en-US" sz="2000" kern="0" baseline="30000" dirty="0">
                <a:latin typeface="+mn-lt"/>
              </a:rPr>
              <a:t>+ </a:t>
            </a:r>
            <a:r>
              <a:rPr lang="en-US" sz="2000" kern="0" dirty="0">
                <a:latin typeface="+mn-lt"/>
              </a:rPr>
              <a:t>X </a:t>
            </a:r>
            <a:r>
              <a:rPr lang="en-US" sz="2000" u="sng" kern="0" dirty="0">
                <a:latin typeface="+mn-lt"/>
              </a:rPr>
              <a:t>1 ATP</a:t>
            </a:r>
            <a:r>
              <a:rPr lang="en-US" sz="2000" kern="0" dirty="0">
                <a:latin typeface="+mn-lt"/>
              </a:rPr>
              <a:t>  =  1.5 ATP</a:t>
            </a:r>
          </a:p>
          <a:p>
            <a:pPr marL="742950" lvl="1" indent="-285750" eaLnBrk="1" hangingPunct="1">
              <a:spcBef>
                <a:spcPct val="20000"/>
              </a:spcBef>
              <a:defRPr/>
            </a:pPr>
            <a:r>
              <a:rPr lang="en-US" sz="2000" kern="0" dirty="0">
                <a:latin typeface="+mn-lt"/>
              </a:rPr>
              <a:t>			  4 H</a:t>
            </a:r>
            <a:r>
              <a:rPr lang="en-US" sz="2000" kern="0" baseline="30000" dirty="0">
                <a:latin typeface="+mn-lt"/>
              </a:rPr>
              <a:t>+</a:t>
            </a:r>
            <a:endParaRPr lang="en-US" sz="2000" kern="0" dirty="0">
              <a:latin typeface="+mn-lt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xmlns="" id="{250582E7-CD1F-2457-D5EB-B27B741CB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675" y="4068763"/>
            <a:ext cx="3087688" cy="4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sz="28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Totals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xmlns="" id="{339F06E1-FB1C-82E1-4BC2-5CBD9012B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98438"/>
            <a:ext cx="7772400" cy="835025"/>
          </a:xfrm>
        </p:spPr>
        <p:txBody>
          <a:bodyPr/>
          <a:lstStyle/>
          <a:p>
            <a:r>
              <a:rPr lang="en-GB" altLang="en-US" sz="2800" b="1"/>
              <a:t>Uncouplers of Oxidative phosphorylation</a:t>
            </a:r>
            <a:endParaRPr lang="en-GB" altLang="en-US" sz="2800"/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xmlns="" id="{16EC6F83-AF0A-D8BB-F1EB-9C6D4EC96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033463"/>
            <a:ext cx="8601075" cy="5540375"/>
          </a:xfrm>
        </p:spPr>
        <p:txBody>
          <a:bodyPr/>
          <a:lstStyle/>
          <a:p>
            <a:pPr>
              <a:buFontTx/>
              <a:buNone/>
            </a:pPr>
            <a:r>
              <a:rPr lang="en-GB" altLang="en-US" sz="2800"/>
              <a:t>These compounds dissociates or uncouples oxidation in respiratory chain from phosphorylation.</a:t>
            </a:r>
          </a:p>
          <a:p>
            <a:pPr>
              <a:buFontTx/>
              <a:buNone/>
            </a:pPr>
            <a:r>
              <a:rPr lang="en-GB" altLang="en-US" sz="2800"/>
              <a:t>So, the oxidation takes place without ATP synthesis.</a:t>
            </a:r>
          </a:p>
          <a:p>
            <a:pPr>
              <a:buFontTx/>
              <a:buNone/>
            </a:pPr>
            <a:r>
              <a:rPr lang="en-GB" altLang="en-US" sz="2800" b="1"/>
              <a:t>Examples: </a:t>
            </a:r>
          </a:p>
          <a:p>
            <a:r>
              <a:rPr lang="en-GB" altLang="en-US" sz="2400"/>
              <a:t>2, 4-dinitrophenol</a:t>
            </a:r>
          </a:p>
          <a:p>
            <a:r>
              <a:rPr lang="en-GB" altLang="en-US" sz="2400"/>
              <a:t>Dinitrocresol</a:t>
            </a:r>
          </a:p>
          <a:p>
            <a:r>
              <a:rPr lang="en-GB" altLang="en-US" sz="2400"/>
              <a:t>Salicylanilides </a:t>
            </a:r>
          </a:p>
          <a:p>
            <a:r>
              <a:rPr lang="en-GB" altLang="en-US" sz="2400"/>
              <a:t>Pentachlorophenol</a:t>
            </a:r>
          </a:p>
          <a:p>
            <a:r>
              <a:rPr lang="en-GB" altLang="en-US" sz="2400"/>
              <a:t>CCCP (Carbonylcyanide chloromethoxy phenyl hydrazone). </a:t>
            </a:r>
          </a:p>
          <a:p>
            <a:r>
              <a:rPr lang="en-GB" altLang="en-US" sz="2400"/>
              <a:t>FCCP (Carbanoyl cyanide p. trifluoromethoxy phenyl hydrazone).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altLang="en-US" sz="2400" b="1"/>
              <a:t>Thermogenin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>
            <a:extLst>
              <a:ext uri="{FF2B5EF4-FFF2-40B4-BE49-F238E27FC236}">
                <a16:creationId xmlns:a16="http://schemas.microsoft.com/office/drawing/2014/main" xmlns="" id="{A609C51A-837E-D94A-E6A5-93D170B3B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3250" y="158750"/>
            <a:ext cx="4152900" cy="649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3" name="TextBox 4">
            <a:extLst>
              <a:ext uri="{FF2B5EF4-FFF2-40B4-BE49-F238E27FC236}">
                <a16:creationId xmlns:a16="http://schemas.microsoft.com/office/drawing/2014/main" xmlns="" id="{3BDAF852-E145-CBFD-AC5C-E07426AC6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292100"/>
            <a:ext cx="483711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2400"/>
              <a:t>Regulation of Oxidative phosphorylation.</a:t>
            </a:r>
          </a:p>
        </p:txBody>
      </p:sp>
      <p:sp>
        <p:nvSpPr>
          <p:cNvPr id="46084" name="TextBox 5">
            <a:extLst>
              <a:ext uri="{FF2B5EF4-FFF2-40B4-BE49-F238E27FC236}">
                <a16:creationId xmlns:a16="http://schemas.microsoft.com/office/drawing/2014/main" xmlns="" id="{2F3A8BA0-2BDD-2E5C-8F5D-C9316033B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3" y="1166813"/>
            <a:ext cx="4279900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GB" altLang="en-US" sz="2000"/>
              <a:t>Oxidative phosphorylation in the respiratory chain is subjected to regulation like any metabolic pathway. </a:t>
            </a:r>
          </a:p>
          <a:p>
            <a:pPr algn="just">
              <a:spcBef>
                <a:spcPct val="0"/>
              </a:spcBef>
              <a:buFontTx/>
              <a:buNone/>
            </a:pPr>
            <a:endParaRPr lang="en-GB" altLang="en-US" sz="2000"/>
          </a:p>
          <a:p>
            <a:pPr algn="just">
              <a:spcBef>
                <a:spcPct val="0"/>
              </a:spcBef>
              <a:buFontTx/>
              <a:buNone/>
            </a:pPr>
            <a:r>
              <a:rPr lang="en-GB" altLang="en-US" sz="2000"/>
              <a:t>The rate of respiration is generally limited by the availability of substrates such as: ADP, Pi, NADH, FADH</a:t>
            </a:r>
            <a:r>
              <a:rPr lang="en-GB" altLang="en-US" sz="2000" baseline="-25000"/>
              <a:t>2</a:t>
            </a:r>
            <a:r>
              <a:rPr lang="en-GB" altLang="en-US" sz="2000"/>
              <a:t> and O</a:t>
            </a:r>
            <a:r>
              <a:rPr lang="en-GB" altLang="en-US" sz="2000" baseline="-25000"/>
              <a:t>2</a:t>
            </a:r>
            <a:r>
              <a:rPr lang="en-GB" altLang="en-US" sz="2000"/>
              <a:t>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>
            <a:extLst>
              <a:ext uri="{FF2B5EF4-FFF2-40B4-BE49-F238E27FC236}">
                <a16:creationId xmlns:a16="http://schemas.microsoft.com/office/drawing/2014/main" xmlns="" id="{018F2105-69E4-ED57-8CFB-0EC363A96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371475"/>
            <a:ext cx="871855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xmlns="" id="{F3CAC6C0-0EC8-6D70-287F-3B2C3E844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047750"/>
          </a:xfrm>
        </p:spPr>
        <p:txBody>
          <a:bodyPr/>
          <a:lstStyle/>
          <a:p>
            <a:r>
              <a:rPr lang="en-US" altLang="en-US" b="1"/>
              <a:t>Oxidative phosphorylation</a:t>
            </a:r>
            <a:endParaRPr lang="en-GB" altLang="en-US"/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xmlns="" id="{D1719C49-2B60-E39F-C9CE-5E66B3AFF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" y="1047750"/>
            <a:ext cx="9226550" cy="5810250"/>
          </a:xfrm>
        </p:spPr>
        <p:txBody>
          <a:bodyPr/>
          <a:lstStyle/>
          <a:p>
            <a:pPr algn="just"/>
            <a:r>
              <a:rPr lang="en-US" altLang="en-US"/>
              <a:t>This is the process by which ADP is phosphorylated with inorganic phosphate to generate ATP. </a:t>
            </a:r>
          </a:p>
          <a:p>
            <a:pPr algn="just"/>
            <a:r>
              <a:rPr lang="en-US" altLang="en-US"/>
              <a:t>NADH</a:t>
            </a:r>
            <a:r>
              <a:rPr lang="en-US" altLang="en-US" baseline="-25000"/>
              <a:t>2</a:t>
            </a:r>
            <a:r>
              <a:rPr lang="en-US" altLang="en-US"/>
              <a:t> has a central role in this process. </a:t>
            </a:r>
          </a:p>
          <a:p>
            <a:pPr algn="just"/>
            <a:r>
              <a:rPr lang="en-US" altLang="en-US"/>
              <a:t>Electrons are transferred down the respiratory chain from NADH</a:t>
            </a:r>
            <a:r>
              <a:rPr lang="en-US" altLang="en-US" baseline="-25000"/>
              <a:t>2</a:t>
            </a:r>
            <a:r>
              <a:rPr lang="en-US" altLang="en-US"/>
              <a:t> to oxygen. This is because NADH</a:t>
            </a:r>
            <a:r>
              <a:rPr lang="en-US" altLang="en-US" baseline="-25000"/>
              <a:t>2</a:t>
            </a:r>
            <a:r>
              <a:rPr lang="en-US" altLang="en-US"/>
              <a:t> is a strong electron donor while oxygen is a strong electron acceptor.</a:t>
            </a:r>
            <a:endParaRPr lang="en-GB" altLang="en-US"/>
          </a:p>
          <a:p>
            <a:endParaRPr lang="en-GB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CE7"/>
      </a:accent6>
      <a:hlink>
        <a:srgbClr val="FF0000"/>
      </a:hlink>
      <a:folHlink>
        <a:srgbClr val="009900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3369</TotalTime>
  <Words>2025</Words>
  <Application>Microsoft Macintosh PowerPoint</Application>
  <PresentationFormat>On-screen Show (4:3)</PresentationFormat>
  <Paragraphs>237</Paragraphs>
  <Slides>45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55" baseType="lpstr">
      <vt:lpstr>Arial Narrow</vt:lpstr>
      <vt:lpstr>Comic Sans MS</vt:lpstr>
      <vt:lpstr>Monotype Corsiva</vt:lpstr>
      <vt:lpstr>Symbol</vt:lpstr>
      <vt:lpstr>Times New Roman</vt:lpstr>
      <vt:lpstr>Wingdings</vt:lpstr>
      <vt:lpstr>Arial</vt:lpstr>
      <vt:lpstr>Blank Presentation</vt:lpstr>
      <vt:lpstr>Picture</vt:lpstr>
      <vt:lpstr>Word.Picture.8</vt:lpstr>
      <vt:lpstr>PowerPoint Presentation</vt:lpstr>
      <vt:lpstr>PowerPoint Presentation</vt:lpstr>
      <vt:lpstr>Electron Carriers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Composition of Respiratory Chain Complexes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Generation of ATP</vt:lpstr>
      <vt:lpstr>Uncouplers of Oxidative phosphorylation</vt:lpstr>
      <vt:lpstr>PowerPoint Presentation</vt:lpstr>
      <vt:lpstr>PowerPoint Presentation</vt:lpstr>
      <vt:lpstr>Oxidative phosphorylation</vt:lpstr>
    </vt:vector>
  </TitlesOfParts>
  <Company>Northstar Drive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 Transfer Chain</dc:title>
  <dc:creator>Joyce Diwan</dc:creator>
  <cp:lastModifiedBy>Microsoft Office User</cp:lastModifiedBy>
  <cp:revision>385</cp:revision>
  <cp:lastPrinted>1999-06-15T18:58:41Z</cp:lastPrinted>
  <dcterms:created xsi:type="dcterms:W3CDTF">1999-06-07T01:47:47Z</dcterms:created>
  <dcterms:modified xsi:type="dcterms:W3CDTF">2024-11-09T14:03:21Z</dcterms:modified>
</cp:coreProperties>
</file>