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55"/>
    <p:restoredTop sz="50000"/>
  </p:normalViewPr>
  <p:slideViewPr>
    <p:cSldViewPr>
      <p:cViewPr varScale="1">
        <p:scale>
          <a:sx n="50" d="100"/>
          <a:sy n="50" d="100"/>
        </p:scale>
        <p:origin x="2368"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1CA22DE9-3443-F3A5-0D6D-1205096DF8B3}"/>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xmlns="" id="{2808FE4B-6304-F729-0496-71D8BF5FFDC1}"/>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52771492-7792-4F12-BF19-26403420E182}" type="datetimeFigureOut">
              <a:rPr lang="en-US"/>
              <a:pPr>
                <a:defRPr/>
              </a:pPr>
              <a:t>11/9/24</a:t>
            </a:fld>
            <a:endParaRPr lang="en-US"/>
          </a:p>
        </p:txBody>
      </p:sp>
      <p:sp>
        <p:nvSpPr>
          <p:cNvPr id="4" name="Slide Image Placeholder 3">
            <a:extLst>
              <a:ext uri="{FF2B5EF4-FFF2-40B4-BE49-F238E27FC236}">
                <a16:creationId xmlns:a16="http://schemas.microsoft.com/office/drawing/2014/main" xmlns="" id="{6409335E-C16D-9861-DF26-A96A3E7B2DD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xmlns="" id="{68D6E65D-B4D8-98A4-E870-F9C82702329D}"/>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xmlns="" id="{419D2660-C2B3-9CF8-0497-4A0DF6182AC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xmlns="" id="{198B3FD7-77AE-B98D-C4F6-DDA492167AF8}"/>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D906C3EC-6B46-4A05-A299-03C10A13C407}" type="slidenum">
              <a:rPr lang="en-US" altLang="en-US"/>
              <a:pPr/>
              <a:t>‹#›</a:t>
            </a:fld>
            <a:endParaRPr lang="en-US" altLang="en-US"/>
          </a:p>
        </p:txBody>
      </p:sp>
    </p:spTree>
    <p:extLst>
      <p:ext uri="{BB962C8B-B14F-4D97-AF65-F5344CB8AC3E}">
        <p14:creationId xmlns:p14="http://schemas.microsoft.com/office/powerpoint/2010/main" val="5571911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xmlns="" id="{54501BDF-9D78-FA01-4F4C-B30AD5329B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xmlns="" id="{6C72C476-37A6-50E2-C5C1-FE42BB55DC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7892" name="Slide Number Placeholder 3">
            <a:extLst>
              <a:ext uri="{FF2B5EF4-FFF2-40B4-BE49-F238E27FC236}">
                <a16:creationId xmlns:a16="http://schemas.microsoft.com/office/drawing/2014/main" xmlns="" id="{1C609DED-479C-813A-59AC-874ED94629C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98A7990-1DAC-47D2-A8D4-E76BE041C543}" type="slidenum">
              <a:rPr lang="en-US" altLang="en-US">
                <a:latin typeface="Calibri" panose="020F0502020204030204" pitchFamily="34" charset="0"/>
              </a:rPr>
              <a:pPr/>
              <a:t>21</a:t>
            </a:fld>
            <a:endParaRPr lang="en-US" altLang="en-US">
              <a:latin typeface="Calibri" panose="020F0502020204030204" pitchFamily="34" charset="0"/>
            </a:endParaRPr>
          </a:p>
        </p:txBody>
      </p:sp>
    </p:spTree>
    <p:extLst>
      <p:ext uri="{BB962C8B-B14F-4D97-AF65-F5344CB8AC3E}">
        <p14:creationId xmlns:p14="http://schemas.microsoft.com/office/powerpoint/2010/main" val="16821840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1">
            <a:extLst>
              <a:ext uri="{FF2B5EF4-FFF2-40B4-BE49-F238E27FC236}">
                <a16:creationId xmlns:a16="http://schemas.microsoft.com/office/drawing/2014/main" xmlns="" id="{D8B8D051-76CF-FF63-FA69-FC5ABD2AA172}"/>
              </a:ext>
            </a:extLst>
          </p:cNvPr>
          <p:cNvGrpSpPr>
            <a:grpSpLocks/>
          </p:cNvGrpSpPr>
          <p:nvPr/>
        </p:nvGrpSpPr>
        <p:grpSpPr bwMode="auto">
          <a:xfrm>
            <a:off x="0" y="0"/>
            <a:ext cx="9144000" cy="6858000"/>
            <a:chOff x="0" y="0"/>
            <a:chExt cx="9144677" cy="6858000"/>
          </a:xfrm>
        </p:grpSpPr>
        <p:pic>
          <p:nvPicPr>
            <p:cNvPr id="5" name="Picture 12" descr="SD-PanelTitle-R1.png">
              <a:extLst>
                <a:ext uri="{FF2B5EF4-FFF2-40B4-BE49-F238E27FC236}">
                  <a16:creationId xmlns:a16="http://schemas.microsoft.com/office/drawing/2014/main" xmlns="" id="{AE111600-AD44-0761-2970-487873360E8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xmlns="" id="{7E29DDB3-F47C-9B91-C071-0B4EE053FEC0}"/>
                </a:ext>
              </a:extLst>
            </p:cNvPr>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7" name="Picture 14" descr="HDRibbonTitle-UniformTrim.png">
              <a:extLst>
                <a:ext uri="{FF2B5EF4-FFF2-40B4-BE49-F238E27FC236}">
                  <a16:creationId xmlns:a16="http://schemas.microsoft.com/office/drawing/2014/main" xmlns="" id="{2F766449-05EB-77E7-4E24-4F3C6ACFF12C}"/>
                </a:ext>
              </a:extLst>
            </p:cNvPr>
            <p:cNvPicPr>
              <a:picLocks noChangeAspect="1"/>
            </p:cNvPicPr>
            <p:nvPr/>
          </p:nvPicPr>
          <p:blipFill>
            <a:blip r:embed="rId3">
              <a:extLst>
                <a:ext uri="{28A0092B-C50C-407E-A947-70E740481C1C}">
                  <a14:useLocalDpi xmlns:a14="http://schemas.microsoft.com/office/drawing/2010/main" val="0"/>
                </a:ext>
              </a:extLst>
            </a:blip>
            <a:srcRect l="-2" r="47958"/>
            <a:stretch>
              <a:fillRect/>
            </a:stretch>
          </p:blipFill>
          <p:spPr bwMode="auto">
            <a:xfrm>
              <a:off x="0" y="3128434"/>
              <a:ext cx="1664208" cy="612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5" descr="HDRibbonTitle-UniformTrim.png">
              <a:extLst>
                <a:ext uri="{FF2B5EF4-FFF2-40B4-BE49-F238E27FC236}">
                  <a16:creationId xmlns:a16="http://schemas.microsoft.com/office/drawing/2014/main" xmlns="" id="{524EFC91-1939-7B51-32A5-D7A8DD71D367}"/>
                </a:ext>
              </a:extLst>
            </p:cNvPr>
            <p:cNvPicPr>
              <a:picLocks noChangeAspect="1"/>
            </p:cNvPicPr>
            <p:nvPr/>
          </p:nvPicPr>
          <p:blipFill>
            <a:blip r:embed="rId3">
              <a:extLst>
                <a:ext uri="{28A0092B-C50C-407E-A947-70E740481C1C}">
                  <a14:useLocalDpi xmlns:a14="http://schemas.microsoft.com/office/drawing/2010/main" val="0"/>
                </a:ext>
              </a:extLst>
            </a:blip>
            <a:srcRect l="-2" r="47958"/>
            <a:stretch>
              <a:fillRect/>
            </a:stretch>
          </p:blipFill>
          <p:spPr bwMode="auto">
            <a:xfrm>
              <a:off x="7480469" y="3128434"/>
              <a:ext cx="1664208" cy="612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9" name="Straight Connector 8">
            <a:extLst>
              <a:ext uri="{FF2B5EF4-FFF2-40B4-BE49-F238E27FC236}">
                <a16:creationId xmlns:a16="http://schemas.microsoft.com/office/drawing/2014/main" xmlns="" id="{7A8AD29D-3740-6A62-8058-272B34FB3EF1}"/>
              </a:ext>
            </a:extLst>
          </p:cNvPr>
          <p:cNvCxnSpPr/>
          <p:nvPr/>
        </p:nvCxnSpPr>
        <p:spPr>
          <a:xfrm>
            <a:off x="2019300" y="3471863"/>
            <a:ext cx="511333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Date Placeholder 3">
            <a:extLst>
              <a:ext uri="{FF2B5EF4-FFF2-40B4-BE49-F238E27FC236}">
                <a16:creationId xmlns:a16="http://schemas.microsoft.com/office/drawing/2014/main" xmlns="" id="{51DDC4FF-DAE4-EF6B-B5CD-2F268F8BC87C}"/>
              </a:ext>
            </a:extLst>
          </p:cNvPr>
          <p:cNvSpPr>
            <a:spLocks noGrp="1"/>
          </p:cNvSpPr>
          <p:nvPr>
            <p:ph type="dt" sz="half" idx="10"/>
          </p:nvPr>
        </p:nvSpPr>
        <p:spPr>
          <a:xfrm>
            <a:off x="6065838" y="5054600"/>
            <a:ext cx="673100" cy="279400"/>
          </a:xfrm>
        </p:spPr>
        <p:txBody>
          <a:bodyPr/>
          <a:lstStyle>
            <a:lvl1pPr>
              <a:defRPr/>
            </a:lvl1pPr>
          </a:lstStyle>
          <a:p>
            <a:pPr>
              <a:defRPr/>
            </a:pPr>
            <a:fld id="{72491685-9052-4049-A104-2F210B34F897}" type="datetimeFigureOut">
              <a:rPr lang="en-US"/>
              <a:pPr>
                <a:defRPr/>
              </a:pPr>
              <a:t>11/9/24</a:t>
            </a:fld>
            <a:endParaRPr lang="en-US"/>
          </a:p>
        </p:txBody>
      </p:sp>
      <p:sp>
        <p:nvSpPr>
          <p:cNvPr id="11" name="Footer Placeholder 4">
            <a:extLst>
              <a:ext uri="{FF2B5EF4-FFF2-40B4-BE49-F238E27FC236}">
                <a16:creationId xmlns:a16="http://schemas.microsoft.com/office/drawing/2014/main" xmlns="" id="{4DAFB7E1-7803-E5DF-EBA6-D647B17CFBD8}"/>
              </a:ext>
            </a:extLst>
          </p:cNvPr>
          <p:cNvSpPr>
            <a:spLocks noGrp="1"/>
          </p:cNvSpPr>
          <p:nvPr>
            <p:ph type="ftr" sz="quarter" idx="11"/>
          </p:nvPr>
        </p:nvSpPr>
        <p:spPr>
          <a:xfrm>
            <a:off x="1922463" y="5054600"/>
            <a:ext cx="4064000" cy="279400"/>
          </a:xfrm>
        </p:spPr>
        <p:txBody>
          <a:bodyPr/>
          <a:lstStyle>
            <a:lvl1pPr>
              <a:defRPr/>
            </a:lvl1pPr>
          </a:lstStyle>
          <a:p>
            <a:pPr>
              <a:defRPr/>
            </a:pPr>
            <a:endParaRPr lang="en-US"/>
          </a:p>
        </p:txBody>
      </p:sp>
      <p:sp>
        <p:nvSpPr>
          <p:cNvPr id="12" name="Slide Number Placeholder 5">
            <a:extLst>
              <a:ext uri="{FF2B5EF4-FFF2-40B4-BE49-F238E27FC236}">
                <a16:creationId xmlns:a16="http://schemas.microsoft.com/office/drawing/2014/main" xmlns="" id="{31F6B7E1-5962-2033-5B01-ED7A4D38C0F0}"/>
              </a:ext>
            </a:extLst>
          </p:cNvPr>
          <p:cNvSpPr>
            <a:spLocks noGrp="1"/>
          </p:cNvSpPr>
          <p:nvPr>
            <p:ph type="sldNum" sz="quarter" idx="12"/>
          </p:nvPr>
        </p:nvSpPr>
        <p:spPr>
          <a:xfrm>
            <a:off x="6816725" y="5054600"/>
            <a:ext cx="414338" cy="279400"/>
          </a:xfrm>
        </p:spPr>
        <p:txBody>
          <a:bodyPr/>
          <a:lstStyle>
            <a:lvl1pPr>
              <a:defRPr/>
            </a:lvl1pPr>
          </a:lstStyle>
          <a:p>
            <a:fld id="{5E37A343-0B1E-48B8-8599-BA9356DA45CE}" type="slidenum">
              <a:rPr lang="en-US" altLang="en-US"/>
              <a:pPr/>
              <a:t>‹#›</a:t>
            </a:fld>
            <a:endParaRPr lang="en-US" altLang="en-US"/>
          </a:p>
        </p:txBody>
      </p:sp>
    </p:spTree>
    <p:extLst>
      <p:ext uri="{BB962C8B-B14F-4D97-AF65-F5344CB8AC3E}">
        <p14:creationId xmlns:p14="http://schemas.microsoft.com/office/powerpoint/2010/main" val="1309700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xmlns="" id="{2148D0DE-B67B-97B1-DFF4-3661F46E94D0}"/>
              </a:ext>
            </a:extLst>
          </p:cNvPr>
          <p:cNvCxnSpPr/>
          <p:nvPr/>
        </p:nvCxnSpPr>
        <p:spPr>
          <a:xfrm>
            <a:off x="1277938" y="2355850"/>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xmlns="" id="{E3279979-89DD-1937-FA77-2F3225D03DE0}"/>
              </a:ext>
            </a:extLst>
          </p:cNvPr>
          <p:cNvSpPr>
            <a:spLocks noGrp="1"/>
          </p:cNvSpPr>
          <p:nvPr>
            <p:ph type="dt" sz="half" idx="10"/>
          </p:nvPr>
        </p:nvSpPr>
        <p:spPr/>
        <p:txBody>
          <a:bodyPr/>
          <a:lstStyle>
            <a:lvl1pPr>
              <a:defRPr/>
            </a:lvl1pPr>
          </a:lstStyle>
          <a:p>
            <a:pPr>
              <a:defRPr/>
            </a:pPr>
            <a:fld id="{F5FDABCA-4C4B-40AB-AD5A-E5194896176D}" type="datetimeFigureOut">
              <a:rPr lang="en-US"/>
              <a:pPr>
                <a:defRPr/>
              </a:pPr>
              <a:t>11/9/24</a:t>
            </a:fld>
            <a:endParaRPr lang="en-US"/>
          </a:p>
        </p:txBody>
      </p:sp>
      <p:sp>
        <p:nvSpPr>
          <p:cNvPr id="6" name="Footer Placeholder 4">
            <a:extLst>
              <a:ext uri="{FF2B5EF4-FFF2-40B4-BE49-F238E27FC236}">
                <a16:creationId xmlns:a16="http://schemas.microsoft.com/office/drawing/2014/main" xmlns="" id="{3BE33DFD-77E1-F314-DA38-BCA9E302AFE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C3778CEB-A7E4-FC66-B075-FBF612EC6339}"/>
              </a:ext>
            </a:extLst>
          </p:cNvPr>
          <p:cNvSpPr>
            <a:spLocks noGrp="1"/>
          </p:cNvSpPr>
          <p:nvPr>
            <p:ph type="sldNum" sz="quarter" idx="12"/>
          </p:nvPr>
        </p:nvSpPr>
        <p:spPr/>
        <p:txBody>
          <a:bodyPr/>
          <a:lstStyle>
            <a:lvl1pPr>
              <a:defRPr/>
            </a:lvl1pPr>
          </a:lstStyle>
          <a:p>
            <a:fld id="{B790B131-5AA7-4865-9CFA-B787B5154A23}" type="slidenum">
              <a:rPr lang="en-US" altLang="en-US"/>
              <a:pPr/>
              <a:t>‹#›</a:t>
            </a:fld>
            <a:endParaRPr lang="en-US" altLang="en-US"/>
          </a:p>
        </p:txBody>
      </p:sp>
    </p:spTree>
    <p:extLst>
      <p:ext uri="{BB962C8B-B14F-4D97-AF65-F5344CB8AC3E}">
        <p14:creationId xmlns:p14="http://schemas.microsoft.com/office/powerpoint/2010/main" val="3315025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xmlns="" id="{8002FC1D-5B32-7045-F70B-038FD3ED53F7}"/>
              </a:ext>
            </a:extLst>
          </p:cNvPr>
          <p:cNvCxnSpPr/>
          <p:nvPr/>
        </p:nvCxnSpPr>
        <p:spPr>
          <a:xfrm>
            <a:off x="1277938" y="3598863"/>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xmlns="" id="{9BA6368C-7CE0-B3CB-18A6-A9F4C46DC0BE}"/>
              </a:ext>
            </a:extLst>
          </p:cNvPr>
          <p:cNvSpPr>
            <a:spLocks noGrp="1"/>
          </p:cNvSpPr>
          <p:nvPr>
            <p:ph type="dt" sz="half" idx="10"/>
          </p:nvPr>
        </p:nvSpPr>
        <p:spPr/>
        <p:txBody>
          <a:bodyPr/>
          <a:lstStyle>
            <a:lvl1pPr>
              <a:defRPr/>
            </a:lvl1pPr>
          </a:lstStyle>
          <a:p>
            <a:pPr>
              <a:defRPr/>
            </a:pPr>
            <a:fld id="{AB7358B1-6C3F-4370-8EB4-8C482E5B8A3E}" type="datetimeFigureOut">
              <a:rPr lang="en-US"/>
              <a:pPr>
                <a:defRPr/>
              </a:pPr>
              <a:t>11/9/24</a:t>
            </a:fld>
            <a:endParaRPr lang="en-US"/>
          </a:p>
        </p:txBody>
      </p:sp>
      <p:sp>
        <p:nvSpPr>
          <p:cNvPr id="6" name="Footer Placeholder 4">
            <a:extLst>
              <a:ext uri="{FF2B5EF4-FFF2-40B4-BE49-F238E27FC236}">
                <a16:creationId xmlns:a16="http://schemas.microsoft.com/office/drawing/2014/main" xmlns="" id="{AD2F5AB1-D6A2-83FF-7A89-AB9FBCA8E8F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3EBBEAB1-6183-1F1E-BC4D-F8E4F88AEA08}"/>
              </a:ext>
            </a:extLst>
          </p:cNvPr>
          <p:cNvSpPr>
            <a:spLocks noGrp="1"/>
          </p:cNvSpPr>
          <p:nvPr>
            <p:ph type="sldNum" sz="quarter" idx="12"/>
          </p:nvPr>
        </p:nvSpPr>
        <p:spPr/>
        <p:txBody>
          <a:bodyPr/>
          <a:lstStyle>
            <a:lvl1pPr>
              <a:defRPr/>
            </a:lvl1pPr>
          </a:lstStyle>
          <a:p>
            <a:fld id="{C9E138DE-8831-4F2F-92AE-EBF3BF98C452}" type="slidenum">
              <a:rPr lang="en-US" altLang="en-US"/>
              <a:pPr/>
              <a:t>‹#›</a:t>
            </a:fld>
            <a:endParaRPr lang="en-US" altLang="en-US"/>
          </a:p>
        </p:txBody>
      </p:sp>
    </p:spTree>
    <p:extLst>
      <p:ext uri="{BB962C8B-B14F-4D97-AF65-F5344CB8AC3E}">
        <p14:creationId xmlns:p14="http://schemas.microsoft.com/office/powerpoint/2010/main" val="458862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xmlns="" id="{0734732F-C330-3044-517E-4887EA089CB2}"/>
              </a:ext>
            </a:extLst>
          </p:cNvPr>
          <p:cNvCxnSpPr/>
          <p:nvPr/>
        </p:nvCxnSpPr>
        <p:spPr>
          <a:xfrm>
            <a:off x="1277938" y="2355850"/>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a:extLst>
              <a:ext uri="{FF2B5EF4-FFF2-40B4-BE49-F238E27FC236}">
                <a16:creationId xmlns:a16="http://schemas.microsoft.com/office/drawing/2014/main" xmlns="" id="{84CAD7D5-8D7F-0C7C-96C9-1500807D7FE0}"/>
              </a:ext>
            </a:extLst>
          </p:cNvPr>
          <p:cNvSpPr>
            <a:spLocks noGrp="1"/>
          </p:cNvSpPr>
          <p:nvPr>
            <p:ph type="dt" sz="half" idx="10"/>
          </p:nvPr>
        </p:nvSpPr>
        <p:spPr/>
        <p:txBody>
          <a:bodyPr/>
          <a:lstStyle>
            <a:lvl1pPr>
              <a:defRPr/>
            </a:lvl1pPr>
          </a:lstStyle>
          <a:p>
            <a:pPr>
              <a:defRPr/>
            </a:pPr>
            <a:fld id="{B6121505-5AE5-4EB3-87FB-A41684FDAF0C}" type="datetimeFigureOut">
              <a:rPr lang="en-US"/>
              <a:pPr>
                <a:defRPr/>
              </a:pPr>
              <a:t>11/9/24</a:t>
            </a:fld>
            <a:endParaRPr lang="en-US"/>
          </a:p>
        </p:txBody>
      </p:sp>
      <p:sp>
        <p:nvSpPr>
          <p:cNvPr id="7" name="Footer Placeholder 5">
            <a:extLst>
              <a:ext uri="{FF2B5EF4-FFF2-40B4-BE49-F238E27FC236}">
                <a16:creationId xmlns:a16="http://schemas.microsoft.com/office/drawing/2014/main" xmlns="" id="{5383ED62-8926-3C05-61F6-C9F1B4DADFDC}"/>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xmlns="" id="{EE9FF301-CD3A-68DD-0AD3-D286116F956B}"/>
              </a:ext>
            </a:extLst>
          </p:cNvPr>
          <p:cNvSpPr>
            <a:spLocks noGrp="1"/>
          </p:cNvSpPr>
          <p:nvPr>
            <p:ph type="sldNum" sz="quarter" idx="12"/>
          </p:nvPr>
        </p:nvSpPr>
        <p:spPr/>
        <p:txBody>
          <a:bodyPr/>
          <a:lstStyle>
            <a:lvl1pPr>
              <a:defRPr/>
            </a:lvl1pPr>
          </a:lstStyle>
          <a:p>
            <a:fld id="{99ECC189-0EB4-48E2-BC8A-B0F987DB9446}" type="slidenum">
              <a:rPr lang="en-US" altLang="en-US"/>
              <a:pPr/>
              <a:t>‹#›</a:t>
            </a:fld>
            <a:endParaRPr lang="en-US" altLang="en-US"/>
          </a:p>
        </p:txBody>
      </p:sp>
    </p:spTree>
    <p:extLst>
      <p:ext uri="{BB962C8B-B14F-4D97-AF65-F5344CB8AC3E}">
        <p14:creationId xmlns:p14="http://schemas.microsoft.com/office/powerpoint/2010/main" val="3636842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xmlns="" id="{12A9BE93-DBB4-A506-3F50-A8383BA58301}"/>
              </a:ext>
            </a:extLst>
          </p:cNvPr>
          <p:cNvCxnSpPr/>
          <p:nvPr/>
        </p:nvCxnSpPr>
        <p:spPr>
          <a:xfrm>
            <a:off x="1277938" y="2354263"/>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6">
            <a:extLst>
              <a:ext uri="{FF2B5EF4-FFF2-40B4-BE49-F238E27FC236}">
                <a16:creationId xmlns:a16="http://schemas.microsoft.com/office/drawing/2014/main" xmlns="" id="{554CCC10-8A2E-7427-0A55-6C69BE459926}"/>
              </a:ext>
            </a:extLst>
          </p:cNvPr>
          <p:cNvSpPr>
            <a:spLocks noGrp="1"/>
          </p:cNvSpPr>
          <p:nvPr>
            <p:ph type="dt" sz="half" idx="10"/>
          </p:nvPr>
        </p:nvSpPr>
        <p:spPr/>
        <p:txBody>
          <a:bodyPr/>
          <a:lstStyle>
            <a:lvl1pPr>
              <a:defRPr/>
            </a:lvl1pPr>
          </a:lstStyle>
          <a:p>
            <a:pPr>
              <a:defRPr/>
            </a:pPr>
            <a:fld id="{9DD1DB7F-5D08-4BCE-9023-E495BD97F26C}" type="datetimeFigureOut">
              <a:rPr lang="en-US"/>
              <a:pPr>
                <a:defRPr/>
              </a:pPr>
              <a:t>11/9/24</a:t>
            </a:fld>
            <a:endParaRPr lang="en-US"/>
          </a:p>
        </p:txBody>
      </p:sp>
      <p:sp>
        <p:nvSpPr>
          <p:cNvPr id="9" name="Footer Placeholder 7">
            <a:extLst>
              <a:ext uri="{FF2B5EF4-FFF2-40B4-BE49-F238E27FC236}">
                <a16:creationId xmlns:a16="http://schemas.microsoft.com/office/drawing/2014/main" xmlns="" id="{3786A3E1-6653-6412-6724-18E06B0EAE52}"/>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8">
            <a:extLst>
              <a:ext uri="{FF2B5EF4-FFF2-40B4-BE49-F238E27FC236}">
                <a16:creationId xmlns:a16="http://schemas.microsoft.com/office/drawing/2014/main" xmlns="" id="{CC1A852C-2E73-C38A-A834-72434081D90F}"/>
              </a:ext>
            </a:extLst>
          </p:cNvPr>
          <p:cNvSpPr>
            <a:spLocks noGrp="1"/>
          </p:cNvSpPr>
          <p:nvPr>
            <p:ph type="sldNum" sz="quarter" idx="12"/>
          </p:nvPr>
        </p:nvSpPr>
        <p:spPr/>
        <p:txBody>
          <a:bodyPr/>
          <a:lstStyle>
            <a:lvl1pPr>
              <a:defRPr/>
            </a:lvl1pPr>
          </a:lstStyle>
          <a:p>
            <a:fld id="{06EF0D4A-C8EC-4CED-8625-266D110BB1A1}" type="slidenum">
              <a:rPr lang="en-US" altLang="en-US"/>
              <a:pPr/>
              <a:t>‹#›</a:t>
            </a:fld>
            <a:endParaRPr lang="en-US" altLang="en-US"/>
          </a:p>
        </p:txBody>
      </p:sp>
    </p:spTree>
    <p:extLst>
      <p:ext uri="{BB962C8B-B14F-4D97-AF65-F5344CB8AC3E}">
        <p14:creationId xmlns:p14="http://schemas.microsoft.com/office/powerpoint/2010/main" val="1437468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xmlns="" id="{C92C9334-191E-5DCE-A85F-5620C84BCB6B}"/>
              </a:ext>
            </a:extLst>
          </p:cNvPr>
          <p:cNvCxnSpPr/>
          <p:nvPr/>
        </p:nvCxnSpPr>
        <p:spPr>
          <a:xfrm>
            <a:off x="1277938" y="2354263"/>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4" name="Date Placeholder 2">
            <a:extLst>
              <a:ext uri="{FF2B5EF4-FFF2-40B4-BE49-F238E27FC236}">
                <a16:creationId xmlns:a16="http://schemas.microsoft.com/office/drawing/2014/main" xmlns="" id="{2B79498D-884A-6C51-A138-1115CD2C71AA}"/>
              </a:ext>
            </a:extLst>
          </p:cNvPr>
          <p:cNvSpPr>
            <a:spLocks noGrp="1"/>
          </p:cNvSpPr>
          <p:nvPr>
            <p:ph type="dt" sz="half" idx="10"/>
          </p:nvPr>
        </p:nvSpPr>
        <p:spPr/>
        <p:txBody>
          <a:bodyPr/>
          <a:lstStyle>
            <a:lvl1pPr>
              <a:defRPr/>
            </a:lvl1pPr>
          </a:lstStyle>
          <a:p>
            <a:pPr>
              <a:defRPr/>
            </a:pPr>
            <a:fld id="{22BAACB8-DC54-4BA1-9B2E-C85A4136330F}" type="datetimeFigureOut">
              <a:rPr lang="en-US"/>
              <a:pPr>
                <a:defRPr/>
              </a:pPr>
              <a:t>11/9/24</a:t>
            </a:fld>
            <a:endParaRPr lang="en-US"/>
          </a:p>
        </p:txBody>
      </p:sp>
      <p:sp>
        <p:nvSpPr>
          <p:cNvPr id="5" name="Footer Placeholder 3">
            <a:extLst>
              <a:ext uri="{FF2B5EF4-FFF2-40B4-BE49-F238E27FC236}">
                <a16:creationId xmlns:a16="http://schemas.microsoft.com/office/drawing/2014/main" xmlns="" id="{3E7681D4-9C07-7334-1440-90EF5C61610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xmlns="" id="{3BD82D73-CE06-3965-B37D-5436C5AC1B84}"/>
              </a:ext>
            </a:extLst>
          </p:cNvPr>
          <p:cNvSpPr>
            <a:spLocks noGrp="1"/>
          </p:cNvSpPr>
          <p:nvPr>
            <p:ph type="sldNum" sz="quarter" idx="12"/>
          </p:nvPr>
        </p:nvSpPr>
        <p:spPr/>
        <p:txBody>
          <a:bodyPr/>
          <a:lstStyle>
            <a:lvl1pPr>
              <a:defRPr/>
            </a:lvl1pPr>
          </a:lstStyle>
          <a:p>
            <a:fld id="{1AE06171-0B87-40EB-BABE-FBBA1C1FDD5D}" type="slidenum">
              <a:rPr lang="en-US" altLang="en-US"/>
              <a:pPr/>
              <a:t>‹#›</a:t>
            </a:fld>
            <a:endParaRPr lang="en-US" altLang="en-US"/>
          </a:p>
        </p:txBody>
      </p:sp>
    </p:spTree>
    <p:extLst>
      <p:ext uri="{BB962C8B-B14F-4D97-AF65-F5344CB8AC3E}">
        <p14:creationId xmlns:p14="http://schemas.microsoft.com/office/powerpoint/2010/main" val="3033619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xmlns="" id="{A7F98E81-A8A1-FAAA-4B1A-BF021055E85C}"/>
              </a:ext>
            </a:extLst>
          </p:cNvPr>
          <p:cNvSpPr>
            <a:spLocks noGrp="1"/>
          </p:cNvSpPr>
          <p:nvPr>
            <p:ph type="dt" sz="half" idx="10"/>
          </p:nvPr>
        </p:nvSpPr>
        <p:spPr/>
        <p:txBody>
          <a:bodyPr/>
          <a:lstStyle>
            <a:lvl1pPr>
              <a:defRPr/>
            </a:lvl1pPr>
          </a:lstStyle>
          <a:p>
            <a:pPr>
              <a:defRPr/>
            </a:pPr>
            <a:fld id="{6A3BAD9F-D93B-4AE8-BCBF-8596B5442D55}" type="datetimeFigureOut">
              <a:rPr lang="en-US"/>
              <a:pPr>
                <a:defRPr/>
              </a:pPr>
              <a:t>11/9/24</a:t>
            </a:fld>
            <a:endParaRPr lang="en-US"/>
          </a:p>
        </p:txBody>
      </p:sp>
      <p:sp>
        <p:nvSpPr>
          <p:cNvPr id="3" name="Footer Placeholder 4">
            <a:extLst>
              <a:ext uri="{FF2B5EF4-FFF2-40B4-BE49-F238E27FC236}">
                <a16:creationId xmlns:a16="http://schemas.microsoft.com/office/drawing/2014/main" xmlns="" id="{30D0F415-77AA-850D-B6CD-FDAAB57103D7}"/>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xmlns="" id="{62B7D4EF-42E3-C155-3BEB-1022E0C7002F}"/>
              </a:ext>
            </a:extLst>
          </p:cNvPr>
          <p:cNvSpPr>
            <a:spLocks noGrp="1"/>
          </p:cNvSpPr>
          <p:nvPr>
            <p:ph type="sldNum" sz="quarter" idx="12"/>
          </p:nvPr>
        </p:nvSpPr>
        <p:spPr/>
        <p:txBody>
          <a:bodyPr/>
          <a:lstStyle>
            <a:lvl1pPr>
              <a:defRPr/>
            </a:lvl1pPr>
          </a:lstStyle>
          <a:p>
            <a:fld id="{CCE6BA04-3116-444B-90E4-7BBE664DB6DD}" type="slidenum">
              <a:rPr lang="en-US" altLang="en-US"/>
              <a:pPr/>
              <a:t>‹#›</a:t>
            </a:fld>
            <a:endParaRPr lang="en-US" altLang="en-US"/>
          </a:p>
        </p:txBody>
      </p:sp>
    </p:spTree>
    <p:extLst>
      <p:ext uri="{BB962C8B-B14F-4D97-AF65-F5344CB8AC3E}">
        <p14:creationId xmlns:p14="http://schemas.microsoft.com/office/powerpoint/2010/main" val="2866776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xmlns="" id="{0167A4C7-BC6C-3A60-8821-6466CF978AD5}"/>
              </a:ext>
            </a:extLst>
          </p:cNvPr>
          <p:cNvCxnSpPr/>
          <p:nvPr/>
        </p:nvCxnSpPr>
        <p:spPr>
          <a:xfrm>
            <a:off x="1277938" y="2913063"/>
            <a:ext cx="233362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a:extLst>
              <a:ext uri="{FF2B5EF4-FFF2-40B4-BE49-F238E27FC236}">
                <a16:creationId xmlns:a16="http://schemas.microsoft.com/office/drawing/2014/main" xmlns="" id="{3B6F8779-FE14-E719-0F5B-8E4E66B3C787}"/>
              </a:ext>
            </a:extLst>
          </p:cNvPr>
          <p:cNvSpPr>
            <a:spLocks noGrp="1"/>
          </p:cNvSpPr>
          <p:nvPr>
            <p:ph type="dt" sz="half" idx="10"/>
          </p:nvPr>
        </p:nvSpPr>
        <p:spPr/>
        <p:txBody>
          <a:bodyPr/>
          <a:lstStyle>
            <a:lvl1pPr>
              <a:defRPr/>
            </a:lvl1pPr>
          </a:lstStyle>
          <a:p>
            <a:pPr>
              <a:defRPr/>
            </a:pPr>
            <a:fld id="{BE567CC9-9310-4FE7-83E9-9E35492FD7EF}" type="datetimeFigureOut">
              <a:rPr lang="en-US"/>
              <a:pPr>
                <a:defRPr/>
              </a:pPr>
              <a:t>11/9/24</a:t>
            </a:fld>
            <a:endParaRPr lang="en-US"/>
          </a:p>
        </p:txBody>
      </p:sp>
      <p:sp>
        <p:nvSpPr>
          <p:cNvPr id="7" name="Footer Placeholder 5">
            <a:extLst>
              <a:ext uri="{FF2B5EF4-FFF2-40B4-BE49-F238E27FC236}">
                <a16:creationId xmlns:a16="http://schemas.microsoft.com/office/drawing/2014/main" xmlns="" id="{D61EC503-E090-E83D-AA77-B2BE19FABD36}"/>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xmlns="" id="{E233F331-46D8-662B-8CF0-B2AA435E5249}"/>
              </a:ext>
            </a:extLst>
          </p:cNvPr>
          <p:cNvSpPr>
            <a:spLocks noGrp="1"/>
          </p:cNvSpPr>
          <p:nvPr>
            <p:ph type="sldNum" sz="quarter" idx="12"/>
          </p:nvPr>
        </p:nvSpPr>
        <p:spPr/>
        <p:txBody>
          <a:bodyPr/>
          <a:lstStyle>
            <a:lvl1pPr>
              <a:defRPr/>
            </a:lvl1pPr>
          </a:lstStyle>
          <a:p>
            <a:fld id="{A32D90A1-7C85-4A5B-8AA7-A963FFD5708E}" type="slidenum">
              <a:rPr lang="en-US" altLang="en-US"/>
              <a:pPr/>
              <a:t>‹#›</a:t>
            </a:fld>
            <a:endParaRPr lang="en-US" altLang="en-US"/>
          </a:p>
        </p:txBody>
      </p:sp>
    </p:spTree>
    <p:extLst>
      <p:ext uri="{BB962C8B-B14F-4D97-AF65-F5344CB8AC3E}">
        <p14:creationId xmlns:p14="http://schemas.microsoft.com/office/powerpoint/2010/main" val="3728164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176865" y="3255432"/>
            <a:ext cx="363220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3">
            <a:extLst>
              <a:ext uri="{FF2B5EF4-FFF2-40B4-BE49-F238E27FC236}">
                <a16:creationId xmlns:a16="http://schemas.microsoft.com/office/drawing/2014/main" xmlns="" id="{A1BCD9B4-D672-B449-2E3B-4CAD40EB75D0}"/>
              </a:ext>
            </a:extLst>
          </p:cNvPr>
          <p:cNvSpPr>
            <a:spLocks noGrp="1"/>
          </p:cNvSpPr>
          <p:nvPr>
            <p:ph type="dt" sz="half" idx="10"/>
          </p:nvPr>
        </p:nvSpPr>
        <p:spPr/>
        <p:txBody>
          <a:bodyPr/>
          <a:lstStyle>
            <a:lvl1pPr>
              <a:defRPr/>
            </a:lvl1pPr>
          </a:lstStyle>
          <a:p>
            <a:pPr>
              <a:defRPr/>
            </a:pPr>
            <a:fld id="{2730E3B7-3AAA-4006-B215-20C8DCD770F1}" type="datetimeFigureOut">
              <a:rPr lang="en-US"/>
              <a:pPr>
                <a:defRPr/>
              </a:pPr>
              <a:t>11/9/24</a:t>
            </a:fld>
            <a:endParaRPr lang="en-US"/>
          </a:p>
        </p:txBody>
      </p:sp>
      <p:sp>
        <p:nvSpPr>
          <p:cNvPr id="5" name="Footer Placeholder 4">
            <a:extLst>
              <a:ext uri="{FF2B5EF4-FFF2-40B4-BE49-F238E27FC236}">
                <a16:creationId xmlns:a16="http://schemas.microsoft.com/office/drawing/2014/main" xmlns="" id="{BD4C59F0-D7B0-17BE-EB6B-D853CC5D7FD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BB1F710E-1C4A-6C44-F00E-A9845494DC6F}"/>
              </a:ext>
            </a:extLst>
          </p:cNvPr>
          <p:cNvSpPr>
            <a:spLocks noGrp="1"/>
          </p:cNvSpPr>
          <p:nvPr>
            <p:ph type="sldNum" sz="quarter" idx="12"/>
          </p:nvPr>
        </p:nvSpPr>
        <p:spPr/>
        <p:txBody>
          <a:bodyPr/>
          <a:lstStyle>
            <a:lvl1pPr>
              <a:defRPr/>
            </a:lvl1pPr>
          </a:lstStyle>
          <a:p>
            <a:fld id="{AAA6B399-CB56-4A14-A051-836469997F8B}" type="slidenum">
              <a:rPr lang="en-US" altLang="en-US"/>
              <a:pPr/>
              <a:t>‹#›</a:t>
            </a:fld>
            <a:endParaRPr lang="en-US" altLang="en-US"/>
          </a:p>
        </p:txBody>
      </p:sp>
    </p:spTree>
    <p:extLst>
      <p:ext uri="{BB962C8B-B14F-4D97-AF65-F5344CB8AC3E}">
        <p14:creationId xmlns:p14="http://schemas.microsoft.com/office/powerpoint/2010/main" val="2828938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176866" y="5382153"/>
            <a:ext cx="6798734" cy="49371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xmlns="" id="{C76714B3-4FCE-0CC4-41AA-397E1124B159}"/>
              </a:ext>
            </a:extLst>
          </p:cNvPr>
          <p:cNvSpPr>
            <a:spLocks noGrp="1"/>
          </p:cNvSpPr>
          <p:nvPr>
            <p:ph type="dt" sz="half" idx="10"/>
          </p:nvPr>
        </p:nvSpPr>
        <p:spPr/>
        <p:txBody>
          <a:bodyPr/>
          <a:lstStyle>
            <a:lvl1pPr>
              <a:defRPr/>
            </a:lvl1pPr>
          </a:lstStyle>
          <a:p>
            <a:pPr>
              <a:defRPr/>
            </a:pPr>
            <a:fld id="{2CBF7B6F-5424-4363-BD43-CFB7B9A76DF8}" type="datetimeFigureOut">
              <a:rPr lang="en-US"/>
              <a:pPr>
                <a:defRPr/>
              </a:pPr>
              <a:t>11/9/24</a:t>
            </a:fld>
            <a:endParaRPr lang="en-US"/>
          </a:p>
        </p:txBody>
      </p:sp>
      <p:sp>
        <p:nvSpPr>
          <p:cNvPr id="6" name="Footer Placeholder 4">
            <a:extLst>
              <a:ext uri="{FF2B5EF4-FFF2-40B4-BE49-F238E27FC236}">
                <a16:creationId xmlns:a16="http://schemas.microsoft.com/office/drawing/2014/main" xmlns="" id="{D685D047-035C-0A3B-5112-E3B5ED9BD53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4F3FC122-7473-7D4E-D9B6-E366F65F8A6C}"/>
              </a:ext>
            </a:extLst>
          </p:cNvPr>
          <p:cNvSpPr>
            <a:spLocks noGrp="1"/>
          </p:cNvSpPr>
          <p:nvPr>
            <p:ph type="sldNum" sz="quarter" idx="12"/>
          </p:nvPr>
        </p:nvSpPr>
        <p:spPr/>
        <p:txBody>
          <a:bodyPr/>
          <a:lstStyle>
            <a:lvl1pPr>
              <a:defRPr/>
            </a:lvl1pPr>
          </a:lstStyle>
          <a:p>
            <a:fld id="{17B26489-C3D6-404E-8CD7-4BC1BE54CA89}" type="slidenum">
              <a:rPr lang="en-US" altLang="en-US"/>
              <a:pPr/>
              <a:t>‹#›</a:t>
            </a:fld>
            <a:endParaRPr lang="en-US" altLang="en-US"/>
          </a:p>
        </p:txBody>
      </p:sp>
    </p:spTree>
    <p:extLst>
      <p:ext uri="{BB962C8B-B14F-4D97-AF65-F5344CB8AC3E}">
        <p14:creationId xmlns:p14="http://schemas.microsoft.com/office/powerpoint/2010/main" val="4002431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xmlns="" id="{A7CFC719-0390-F928-281A-F059C8A1E544}"/>
              </a:ext>
            </a:extLst>
          </p:cNvPr>
          <p:cNvCxnSpPr/>
          <p:nvPr/>
        </p:nvCxnSpPr>
        <p:spPr>
          <a:xfrm>
            <a:off x="1277938" y="4140200"/>
            <a:ext cx="660717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06873"/>
            <a:ext cx="6798734" cy="3097860"/>
          </a:xfrm>
        </p:spPr>
        <p:txBody>
          <a:bodyP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xmlns="" id="{EC2BCDCC-C779-1816-293E-687FEBC161CF}"/>
              </a:ext>
            </a:extLst>
          </p:cNvPr>
          <p:cNvSpPr>
            <a:spLocks noGrp="1"/>
          </p:cNvSpPr>
          <p:nvPr>
            <p:ph type="dt" sz="half" idx="10"/>
          </p:nvPr>
        </p:nvSpPr>
        <p:spPr/>
        <p:txBody>
          <a:bodyPr/>
          <a:lstStyle>
            <a:lvl1pPr>
              <a:defRPr/>
            </a:lvl1pPr>
          </a:lstStyle>
          <a:p>
            <a:pPr>
              <a:defRPr/>
            </a:pPr>
            <a:fld id="{DBACF036-C73A-4788-9975-25C45F19C44B}" type="datetimeFigureOut">
              <a:rPr lang="en-US"/>
              <a:pPr>
                <a:defRPr/>
              </a:pPr>
              <a:t>11/9/24</a:t>
            </a:fld>
            <a:endParaRPr lang="en-US"/>
          </a:p>
        </p:txBody>
      </p:sp>
      <p:sp>
        <p:nvSpPr>
          <p:cNvPr id="6" name="Footer Placeholder 4">
            <a:extLst>
              <a:ext uri="{FF2B5EF4-FFF2-40B4-BE49-F238E27FC236}">
                <a16:creationId xmlns:a16="http://schemas.microsoft.com/office/drawing/2014/main" xmlns="" id="{1A8584AE-0F3D-750B-9704-8D8BD7781E0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91FCFB72-ADB2-12A1-568A-ACFE8FA9B704}"/>
              </a:ext>
            </a:extLst>
          </p:cNvPr>
          <p:cNvSpPr>
            <a:spLocks noGrp="1"/>
          </p:cNvSpPr>
          <p:nvPr>
            <p:ph type="sldNum" sz="quarter" idx="12"/>
          </p:nvPr>
        </p:nvSpPr>
        <p:spPr/>
        <p:txBody>
          <a:bodyPr/>
          <a:lstStyle>
            <a:lvl1pPr>
              <a:defRPr/>
            </a:lvl1pPr>
          </a:lstStyle>
          <a:p>
            <a:fld id="{4FAEDA1D-07E5-4F6D-864B-E8347B7F5364}" type="slidenum">
              <a:rPr lang="en-US" altLang="en-US"/>
              <a:pPr/>
              <a:t>‹#›</a:t>
            </a:fld>
            <a:endParaRPr lang="en-US" altLang="en-US"/>
          </a:p>
        </p:txBody>
      </p:sp>
    </p:spTree>
    <p:extLst>
      <p:ext uri="{BB962C8B-B14F-4D97-AF65-F5344CB8AC3E}">
        <p14:creationId xmlns:p14="http://schemas.microsoft.com/office/powerpoint/2010/main" val="9056215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11">
            <a:extLst>
              <a:ext uri="{FF2B5EF4-FFF2-40B4-BE49-F238E27FC236}">
                <a16:creationId xmlns:a16="http://schemas.microsoft.com/office/drawing/2014/main" xmlns="" id="{68F7A33D-03C3-CA23-A104-6D5919DB850C}"/>
              </a:ext>
            </a:extLst>
          </p:cNvPr>
          <p:cNvSpPr txBox="1">
            <a:spLocks noChangeArrowheads="1"/>
          </p:cNvSpPr>
          <p:nvPr/>
        </p:nvSpPr>
        <p:spPr bwMode="auto">
          <a:xfrm>
            <a:off x="849313" y="904875"/>
            <a:ext cx="457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7200"/>
              <a:t>“</a:t>
            </a:r>
          </a:p>
        </p:txBody>
      </p:sp>
      <p:sp>
        <p:nvSpPr>
          <p:cNvPr id="5" name="TextBox 12">
            <a:extLst>
              <a:ext uri="{FF2B5EF4-FFF2-40B4-BE49-F238E27FC236}">
                <a16:creationId xmlns:a16="http://schemas.microsoft.com/office/drawing/2014/main" xmlns="" id="{06C3DEDF-9C74-A5A8-7714-802595DED992}"/>
              </a:ext>
            </a:extLst>
          </p:cNvPr>
          <p:cNvSpPr txBox="1">
            <a:spLocks noChangeArrowheads="1"/>
          </p:cNvSpPr>
          <p:nvPr/>
        </p:nvSpPr>
        <p:spPr bwMode="auto">
          <a:xfrm>
            <a:off x="7634288" y="2827338"/>
            <a:ext cx="4572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7200"/>
              <a:t>”</a:t>
            </a:r>
          </a:p>
        </p:txBody>
      </p:sp>
      <p:cxnSp>
        <p:nvCxnSpPr>
          <p:cNvPr id="6" name="Straight Connector 5">
            <a:extLst>
              <a:ext uri="{FF2B5EF4-FFF2-40B4-BE49-F238E27FC236}">
                <a16:creationId xmlns:a16="http://schemas.microsoft.com/office/drawing/2014/main" xmlns="" id="{3CE65D6D-4C2C-006C-4A90-8EAF51BF4172}"/>
              </a:ext>
            </a:extLst>
          </p:cNvPr>
          <p:cNvCxnSpPr/>
          <p:nvPr/>
        </p:nvCxnSpPr>
        <p:spPr>
          <a:xfrm>
            <a:off x="1277938" y="4140200"/>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334333" y="982132"/>
            <a:ext cx="6400250" cy="2370668"/>
          </a:xfrm>
        </p:spPr>
        <p:txBody>
          <a:bodyP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a:extLst>
              <a:ext uri="{FF2B5EF4-FFF2-40B4-BE49-F238E27FC236}">
                <a16:creationId xmlns:a16="http://schemas.microsoft.com/office/drawing/2014/main" xmlns="" id="{C4218118-8F55-56A5-2F3E-29FF8302B049}"/>
              </a:ext>
            </a:extLst>
          </p:cNvPr>
          <p:cNvSpPr>
            <a:spLocks noGrp="1"/>
          </p:cNvSpPr>
          <p:nvPr>
            <p:ph type="dt" sz="half" idx="14"/>
          </p:nvPr>
        </p:nvSpPr>
        <p:spPr/>
        <p:txBody>
          <a:bodyPr/>
          <a:lstStyle>
            <a:lvl1pPr>
              <a:defRPr/>
            </a:lvl1pPr>
          </a:lstStyle>
          <a:p>
            <a:pPr>
              <a:defRPr/>
            </a:pPr>
            <a:fld id="{5DEFBA05-4182-4CBD-9A4A-4C6D46DBED84}" type="datetimeFigureOut">
              <a:rPr lang="en-US"/>
              <a:pPr>
                <a:defRPr/>
              </a:pPr>
              <a:t>11/9/24</a:t>
            </a:fld>
            <a:endParaRPr lang="en-US"/>
          </a:p>
        </p:txBody>
      </p:sp>
      <p:sp>
        <p:nvSpPr>
          <p:cNvPr id="8" name="Footer Placeholder 4">
            <a:extLst>
              <a:ext uri="{FF2B5EF4-FFF2-40B4-BE49-F238E27FC236}">
                <a16:creationId xmlns:a16="http://schemas.microsoft.com/office/drawing/2014/main" xmlns="" id="{1F3E1BAE-8006-5DE1-922E-2D4124BE4000}"/>
              </a:ext>
            </a:extLst>
          </p:cNvPr>
          <p:cNvSpPr>
            <a:spLocks noGrp="1"/>
          </p:cNvSpPr>
          <p:nvPr>
            <p:ph type="ftr" sz="quarter" idx="15"/>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xmlns="" id="{6DFC5DE8-4C60-06F0-7E87-0603D309A405}"/>
              </a:ext>
            </a:extLst>
          </p:cNvPr>
          <p:cNvSpPr>
            <a:spLocks noGrp="1"/>
          </p:cNvSpPr>
          <p:nvPr>
            <p:ph type="sldNum" sz="quarter" idx="16"/>
          </p:nvPr>
        </p:nvSpPr>
        <p:spPr/>
        <p:txBody>
          <a:bodyPr/>
          <a:lstStyle>
            <a:lvl1pPr>
              <a:defRPr/>
            </a:lvl1pPr>
          </a:lstStyle>
          <a:p>
            <a:fld id="{F0527C91-29A2-459E-9923-1F66257B78A7}" type="slidenum">
              <a:rPr lang="en-US" altLang="en-US"/>
              <a:pPr/>
              <a:t>‹#›</a:t>
            </a:fld>
            <a:endParaRPr lang="en-US" altLang="en-US"/>
          </a:p>
        </p:txBody>
      </p:sp>
    </p:spTree>
    <p:extLst>
      <p:ext uri="{BB962C8B-B14F-4D97-AF65-F5344CB8AC3E}">
        <p14:creationId xmlns:p14="http://schemas.microsoft.com/office/powerpoint/2010/main" val="39545873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CCFA3A41-1FF8-902A-7C3C-D65D965FCBD6}"/>
              </a:ext>
            </a:extLst>
          </p:cNvPr>
          <p:cNvSpPr>
            <a:spLocks noGrp="1"/>
          </p:cNvSpPr>
          <p:nvPr>
            <p:ph type="dt" sz="half" idx="10"/>
          </p:nvPr>
        </p:nvSpPr>
        <p:spPr/>
        <p:txBody>
          <a:bodyPr/>
          <a:lstStyle>
            <a:lvl1pPr>
              <a:defRPr/>
            </a:lvl1pPr>
          </a:lstStyle>
          <a:p>
            <a:pPr>
              <a:defRPr/>
            </a:pPr>
            <a:fld id="{1A340FA0-8435-4E20-B985-D13D6A7C34A8}" type="datetimeFigureOut">
              <a:rPr lang="en-US"/>
              <a:pPr>
                <a:defRPr/>
              </a:pPr>
              <a:t>11/9/24</a:t>
            </a:fld>
            <a:endParaRPr lang="en-US"/>
          </a:p>
        </p:txBody>
      </p:sp>
      <p:sp>
        <p:nvSpPr>
          <p:cNvPr id="5" name="Footer Placeholder 4">
            <a:extLst>
              <a:ext uri="{FF2B5EF4-FFF2-40B4-BE49-F238E27FC236}">
                <a16:creationId xmlns:a16="http://schemas.microsoft.com/office/drawing/2014/main" xmlns="" id="{B1C0F67A-C5C8-E697-8703-3E178CCBEC6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6BF95083-31A5-0205-A73E-8C54D3638D0C}"/>
              </a:ext>
            </a:extLst>
          </p:cNvPr>
          <p:cNvSpPr>
            <a:spLocks noGrp="1"/>
          </p:cNvSpPr>
          <p:nvPr>
            <p:ph type="sldNum" sz="quarter" idx="12"/>
          </p:nvPr>
        </p:nvSpPr>
        <p:spPr/>
        <p:txBody>
          <a:bodyPr/>
          <a:lstStyle>
            <a:lvl1pPr>
              <a:defRPr/>
            </a:lvl1pPr>
          </a:lstStyle>
          <a:p>
            <a:fld id="{F612F294-D6AB-44C8-BF30-296A818E3E01}" type="slidenum">
              <a:rPr lang="en-US" altLang="en-US"/>
              <a:pPr/>
              <a:t>‹#›</a:t>
            </a:fld>
            <a:endParaRPr lang="en-US" altLang="en-US"/>
          </a:p>
        </p:txBody>
      </p:sp>
    </p:spTree>
    <p:extLst>
      <p:ext uri="{BB962C8B-B14F-4D97-AF65-F5344CB8AC3E}">
        <p14:creationId xmlns:p14="http://schemas.microsoft.com/office/powerpoint/2010/main" val="29532868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11">
            <a:extLst>
              <a:ext uri="{FF2B5EF4-FFF2-40B4-BE49-F238E27FC236}">
                <a16:creationId xmlns:a16="http://schemas.microsoft.com/office/drawing/2014/main" xmlns="" id="{D9ACC8B2-54D6-E1E1-2013-E3EFCF5B178F}"/>
              </a:ext>
            </a:extLst>
          </p:cNvPr>
          <p:cNvSpPr txBox="1">
            <a:spLocks noChangeArrowheads="1"/>
          </p:cNvSpPr>
          <p:nvPr/>
        </p:nvSpPr>
        <p:spPr bwMode="auto">
          <a:xfrm>
            <a:off x="877888" y="896938"/>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8000"/>
              <a:t>“</a:t>
            </a:r>
          </a:p>
        </p:txBody>
      </p:sp>
      <p:sp>
        <p:nvSpPr>
          <p:cNvPr id="5" name="TextBox 12">
            <a:extLst>
              <a:ext uri="{FF2B5EF4-FFF2-40B4-BE49-F238E27FC236}">
                <a16:creationId xmlns:a16="http://schemas.microsoft.com/office/drawing/2014/main" xmlns="" id="{DF7F3FF3-17BD-F387-E0DE-79C59A7B4A4F}"/>
              </a:ext>
            </a:extLst>
          </p:cNvPr>
          <p:cNvSpPr txBox="1">
            <a:spLocks noChangeArrowheads="1"/>
          </p:cNvSpPr>
          <p:nvPr/>
        </p:nvSpPr>
        <p:spPr bwMode="auto">
          <a:xfrm>
            <a:off x="7650163" y="2608263"/>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8000"/>
              <a:t>”</a:t>
            </a:r>
          </a:p>
        </p:txBody>
      </p:sp>
      <p:cxnSp>
        <p:nvCxnSpPr>
          <p:cNvPr id="6" name="Straight Connector 5">
            <a:extLst>
              <a:ext uri="{FF2B5EF4-FFF2-40B4-BE49-F238E27FC236}">
                <a16:creationId xmlns:a16="http://schemas.microsoft.com/office/drawing/2014/main" xmlns="" id="{DDB24C7D-C07F-B40D-63CC-8B91B16779DF}"/>
              </a:ext>
            </a:extLst>
          </p:cNvPr>
          <p:cNvCxnSpPr/>
          <p:nvPr/>
        </p:nvCxnSpPr>
        <p:spPr>
          <a:xfrm>
            <a:off x="1277938" y="3429000"/>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409416" y="982132"/>
            <a:ext cx="6325168" cy="2243668"/>
          </a:xfrm>
        </p:spPr>
        <p:txBody>
          <a:bodyP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a:extLst>
              <a:ext uri="{FF2B5EF4-FFF2-40B4-BE49-F238E27FC236}">
                <a16:creationId xmlns:a16="http://schemas.microsoft.com/office/drawing/2014/main" xmlns="" id="{9AB41A85-05C2-2A80-AB2A-FACC5797AF66}"/>
              </a:ext>
            </a:extLst>
          </p:cNvPr>
          <p:cNvSpPr>
            <a:spLocks noGrp="1"/>
          </p:cNvSpPr>
          <p:nvPr>
            <p:ph type="dt" sz="half" idx="14"/>
          </p:nvPr>
        </p:nvSpPr>
        <p:spPr/>
        <p:txBody>
          <a:bodyPr/>
          <a:lstStyle>
            <a:lvl1pPr>
              <a:defRPr/>
            </a:lvl1pPr>
          </a:lstStyle>
          <a:p>
            <a:pPr>
              <a:defRPr/>
            </a:pPr>
            <a:fld id="{11E8EDCF-6183-49A4-B805-5BAAC3BB811C}" type="datetimeFigureOut">
              <a:rPr lang="en-US"/>
              <a:pPr>
                <a:defRPr/>
              </a:pPr>
              <a:t>11/9/24</a:t>
            </a:fld>
            <a:endParaRPr lang="en-US"/>
          </a:p>
        </p:txBody>
      </p:sp>
      <p:sp>
        <p:nvSpPr>
          <p:cNvPr id="8" name="Footer Placeholder 4">
            <a:extLst>
              <a:ext uri="{FF2B5EF4-FFF2-40B4-BE49-F238E27FC236}">
                <a16:creationId xmlns:a16="http://schemas.microsoft.com/office/drawing/2014/main" xmlns="" id="{16974D95-930E-E946-58C9-CF7537329BAB}"/>
              </a:ext>
            </a:extLst>
          </p:cNvPr>
          <p:cNvSpPr>
            <a:spLocks noGrp="1"/>
          </p:cNvSpPr>
          <p:nvPr>
            <p:ph type="ftr" sz="quarter" idx="15"/>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xmlns="" id="{D9DCBE63-CAF0-D24B-EDFE-9731DE424708}"/>
              </a:ext>
            </a:extLst>
          </p:cNvPr>
          <p:cNvSpPr>
            <a:spLocks noGrp="1"/>
          </p:cNvSpPr>
          <p:nvPr>
            <p:ph type="sldNum" sz="quarter" idx="16"/>
          </p:nvPr>
        </p:nvSpPr>
        <p:spPr/>
        <p:txBody>
          <a:bodyPr/>
          <a:lstStyle>
            <a:lvl1pPr>
              <a:defRPr/>
            </a:lvl1pPr>
          </a:lstStyle>
          <a:p>
            <a:fld id="{EF14E01F-EE41-492D-B0F3-0251C76DC5C5}" type="slidenum">
              <a:rPr lang="en-US" altLang="en-US"/>
              <a:pPr/>
              <a:t>‹#›</a:t>
            </a:fld>
            <a:endParaRPr lang="en-US" altLang="en-US"/>
          </a:p>
        </p:txBody>
      </p:sp>
    </p:spTree>
    <p:extLst>
      <p:ext uri="{BB962C8B-B14F-4D97-AF65-F5344CB8AC3E}">
        <p14:creationId xmlns:p14="http://schemas.microsoft.com/office/powerpoint/2010/main" val="11126624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xmlns="" id="{DDE9ADC4-3BCF-6CDC-B57E-C7D3F49BBE35}"/>
              </a:ext>
            </a:extLst>
          </p:cNvPr>
          <p:cNvCxnSpPr/>
          <p:nvPr/>
        </p:nvCxnSpPr>
        <p:spPr>
          <a:xfrm>
            <a:off x="1277938" y="3429000"/>
            <a:ext cx="660717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5" y="982131"/>
            <a:ext cx="6798734" cy="2294467"/>
          </a:xfrm>
        </p:spPr>
        <p:txBody>
          <a:bodyPr rtlCol="0">
            <a:normAutofit/>
          </a:bodyPr>
          <a:lstStyle>
            <a:lvl1pPr>
              <a:defRPr lang="en-US" sz="3200" b="0" dirty="0"/>
            </a:lvl1pPr>
          </a:lstStyle>
          <a:p>
            <a:pPr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xmlns="" id="{337451ED-9CDF-4593-E044-F33B5FFDF0A6}"/>
              </a:ext>
            </a:extLst>
          </p:cNvPr>
          <p:cNvSpPr>
            <a:spLocks noGrp="1"/>
          </p:cNvSpPr>
          <p:nvPr>
            <p:ph type="dt" sz="half" idx="14"/>
          </p:nvPr>
        </p:nvSpPr>
        <p:spPr/>
        <p:txBody>
          <a:bodyPr/>
          <a:lstStyle>
            <a:lvl1pPr>
              <a:defRPr/>
            </a:lvl1pPr>
          </a:lstStyle>
          <a:p>
            <a:pPr>
              <a:defRPr/>
            </a:pPr>
            <a:fld id="{E0B674E1-7DD7-4BBD-A8CD-132950199880}" type="datetimeFigureOut">
              <a:rPr lang="en-US"/>
              <a:pPr>
                <a:defRPr/>
              </a:pPr>
              <a:t>11/9/24</a:t>
            </a:fld>
            <a:endParaRPr lang="en-US"/>
          </a:p>
        </p:txBody>
      </p:sp>
      <p:sp>
        <p:nvSpPr>
          <p:cNvPr id="6" name="Footer Placeholder 4">
            <a:extLst>
              <a:ext uri="{FF2B5EF4-FFF2-40B4-BE49-F238E27FC236}">
                <a16:creationId xmlns:a16="http://schemas.microsoft.com/office/drawing/2014/main" xmlns="" id="{8E9B4E47-5A19-2D17-CE6B-BCBE3BEA70E1}"/>
              </a:ext>
            </a:extLst>
          </p:cNvPr>
          <p:cNvSpPr>
            <a:spLocks noGrp="1"/>
          </p:cNvSpPr>
          <p:nvPr>
            <p:ph type="ftr" sz="quarter" idx="15"/>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B0E4C58C-4516-A82C-9E4C-B290C37A286D}"/>
              </a:ext>
            </a:extLst>
          </p:cNvPr>
          <p:cNvSpPr>
            <a:spLocks noGrp="1"/>
          </p:cNvSpPr>
          <p:nvPr>
            <p:ph type="sldNum" sz="quarter" idx="16"/>
          </p:nvPr>
        </p:nvSpPr>
        <p:spPr/>
        <p:txBody>
          <a:bodyPr/>
          <a:lstStyle>
            <a:lvl1pPr>
              <a:defRPr/>
            </a:lvl1pPr>
          </a:lstStyle>
          <a:p>
            <a:fld id="{F9B82D5E-2835-4CB2-A292-19F51523939D}" type="slidenum">
              <a:rPr lang="en-US" altLang="en-US"/>
              <a:pPr/>
              <a:t>‹#›</a:t>
            </a:fld>
            <a:endParaRPr lang="en-US" altLang="en-US"/>
          </a:p>
        </p:txBody>
      </p:sp>
    </p:spTree>
    <p:extLst>
      <p:ext uri="{BB962C8B-B14F-4D97-AF65-F5344CB8AC3E}">
        <p14:creationId xmlns:p14="http://schemas.microsoft.com/office/powerpoint/2010/main" val="14343592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xmlns="" id="{BA5E3AB9-9149-B92A-4BE7-78D8DBF3C019}"/>
              </a:ext>
            </a:extLst>
          </p:cNvPr>
          <p:cNvCxnSpPr/>
          <p:nvPr/>
        </p:nvCxnSpPr>
        <p:spPr>
          <a:xfrm>
            <a:off x="1277938" y="2354263"/>
            <a:ext cx="660717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xmlns="" id="{74918169-89F2-9773-0254-F9151D809DC7}"/>
              </a:ext>
            </a:extLst>
          </p:cNvPr>
          <p:cNvSpPr>
            <a:spLocks noGrp="1"/>
          </p:cNvSpPr>
          <p:nvPr>
            <p:ph type="dt" sz="half" idx="10"/>
          </p:nvPr>
        </p:nvSpPr>
        <p:spPr/>
        <p:txBody>
          <a:bodyPr/>
          <a:lstStyle>
            <a:lvl1pPr>
              <a:defRPr/>
            </a:lvl1pPr>
          </a:lstStyle>
          <a:p>
            <a:pPr>
              <a:defRPr/>
            </a:pPr>
            <a:fld id="{F23031A8-C7A1-44CB-8A7D-DE6CACA454B5}" type="datetimeFigureOut">
              <a:rPr lang="en-US"/>
              <a:pPr>
                <a:defRPr/>
              </a:pPr>
              <a:t>11/9/24</a:t>
            </a:fld>
            <a:endParaRPr lang="en-US"/>
          </a:p>
        </p:txBody>
      </p:sp>
      <p:sp>
        <p:nvSpPr>
          <p:cNvPr id="6" name="Footer Placeholder 4">
            <a:extLst>
              <a:ext uri="{FF2B5EF4-FFF2-40B4-BE49-F238E27FC236}">
                <a16:creationId xmlns:a16="http://schemas.microsoft.com/office/drawing/2014/main" xmlns="" id="{8E14ACE5-734C-5403-2D7C-69AD584C572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6A3A1268-B55C-ED50-B0A5-15FD9D238CF0}"/>
              </a:ext>
            </a:extLst>
          </p:cNvPr>
          <p:cNvSpPr>
            <a:spLocks noGrp="1"/>
          </p:cNvSpPr>
          <p:nvPr>
            <p:ph type="sldNum" sz="quarter" idx="12"/>
          </p:nvPr>
        </p:nvSpPr>
        <p:spPr/>
        <p:txBody>
          <a:bodyPr/>
          <a:lstStyle>
            <a:lvl1pPr>
              <a:defRPr/>
            </a:lvl1pPr>
          </a:lstStyle>
          <a:p>
            <a:fld id="{18FE9714-AFF9-4998-A01B-E882943F22B6}" type="slidenum">
              <a:rPr lang="en-US" altLang="en-US"/>
              <a:pPr/>
              <a:t>‹#›</a:t>
            </a:fld>
            <a:endParaRPr lang="en-US" altLang="en-US"/>
          </a:p>
        </p:txBody>
      </p:sp>
    </p:spTree>
    <p:extLst>
      <p:ext uri="{BB962C8B-B14F-4D97-AF65-F5344CB8AC3E}">
        <p14:creationId xmlns:p14="http://schemas.microsoft.com/office/powerpoint/2010/main" val="36249437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xmlns="" id="{4A71D313-4592-BE66-4AC3-C271680AF46B}"/>
              </a:ext>
            </a:extLst>
          </p:cNvPr>
          <p:cNvCxnSpPr/>
          <p:nvPr/>
        </p:nvCxnSpPr>
        <p:spPr>
          <a:xfrm>
            <a:off x="6245225" y="906463"/>
            <a:ext cx="0" cy="4968875"/>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xmlns="" id="{2DA40EDB-168F-F1A0-A934-5A973541FED9}"/>
              </a:ext>
            </a:extLst>
          </p:cNvPr>
          <p:cNvSpPr>
            <a:spLocks noGrp="1"/>
          </p:cNvSpPr>
          <p:nvPr>
            <p:ph type="dt" sz="half" idx="10"/>
          </p:nvPr>
        </p:nvSpPr>
        <p:spPr/>
        <p:txBody>
          <a:bodyPr/>
          <a:lstStyle>
            <a:lvl1pPr>
              <a:defRPr/>
            </a:lvl1pPr>
          </a:lstStyle>
          <a:p>
            <a:pPr>
              <a:defRPr/>
            </a:pPr>
            <a:fld id="{549F7F1A-2EF6-42FC-9DA3-354111F8DD2E}" type="datetimeFigureOut">
              <a:rPr lang="en-US"/>
              <a:pPr>
                <a:defRPr/>
              </a:pPr>
              <a:t>11/9/24</a:t>
            </a:fld>
            <a:endParaRPr lang="en-US"/>
          </a:p>
        </p:txBody>
      </p:sp>
      <p:sp>
        <p:nvSpPr>
          <p:cNvPr id="6" name="Footer Placeholder 4">
            <a:extLst>
              <a:ext uri="{FF2B5EF4-FFF2-40B4-BE49-F238E27FC236}">
                <a16:creationId xmlns:a16="http://schemas.microsoft.com/office/drawing/2014/main" xmlns="" id="{EE0DC995-8D51-C1B8-82D6-B3195895859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26D99C91-0A2A-2EF9-0E1D-B05FF576BDA9}"/>
              </a:ext>
            </a:extLst>
          </p:cNvPr>
          <p:cNvSpPr>
            <a:spLocks noGrp="1"/>
          </p:cNvSpPr>
          <p:nvPr>
            <p:ph type="sldNum" sz="quarter" idx="12"/>
          </p:nvPr>
        </p:nvSpPr>
        <p:spPr/>
        <p:txBody>
          <a:bodyPr/>
          <a:lstStyle>
            <a:lvl1pPr>
              <a:defRPr/>
            </a:lvl1pPr>
          </a:lstStyle>
          <a:p>
            <a:fld id="{CD998837-FAA4-41CA-A959-01C87489876F}" type="slidenum">
              <a:rPr lang="en-US" altLang="en-US"/>
              <a:pPr/>
              <a:t>‹#›</a:t>
            </a:fld>
            <a:endParaRPr lang="en-US" altLang="en-US"/>
          </a:p>
        </p:txBody>
      </p:sp>
    </p:spTree>
    <p:extLst>
      <p:ext uri="{BB962C8B-B14F-4D97-AF65-F5344CB8AC3E}">
        <p14:creationId xmlns:p14="http://schemas.microsoft.com/office/powerpoint/2010/main" val="1337163185"/>
      </p:ext>
    </p:extLst>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image" Target="../media/image3.png"/><Relationship Id="rId21" Type="http://schemas.openxmlformats.org/officeDocument/2006/relationships/image" Target="../media/image4.png"/><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9"/>
          <a:srcRect/>
          <a:stretch>
            <a:fillRect/>
          </a:stretch>
        </a:blipFill>
        <a:effectLst/>
      </p:bgPr>
    </p:bg>
    <p:spTree>
      <p:nvGrpSpPr>
        <p:cNvPr id="1" name=""/>
        <p:cNvGrpSpPr/>
        <p:nvPr/>
      </p:nvGrpSpPr>
      <p:grpSpPr>
        <a:xfrm>
          <a:off x="0" y="0"/>
          <a:ext cx="0" cy="0"/>
          <a:chOff x="0" y="0"/>
          <a:chExt cx="0" cy="0"/>
        </a:xfrm>
      </p:grpSpPr>
      <p:grpSp>
        <p:nvGrpSpPr>
          <p:cNvPr id="1026" name="Group 6">
            <a:extLst>
              <a:ext uri="{FF2B5EF4-FFF2-40B4-BE49-F238E27FC236}">
                <a16:creationId xmlns:a16="http://schemas.microsoft.com/office/drawing/2014/main" xmlns="" id="{CACE83A8-E7C2-8288-0D97-23C590AD20C8}"/>
              </a:ext>
            </a:extLst>
          </p:cNvPr>
          <p:cNvGrpSpPr>
            <a:grpSpLocks/>
          </p:cNvGrpSpPr>
          <p:nvPr/>
        </p:nvGrpSpPr>
        <p:grpSpPr bwMode="auto">
          <a:xfrm>
            <a:off x="0" y="0"/>
            <a:ext cx="9151938" cy="6858000"/>
            <a:chOff x="0" y="0"/>
            <a:chExt cx="9152467" cy="6858000"/>
          </a:xfrm>
        </p:grpSpPr>
        <p:pic>
          <p:nvPicPr>
            <p:cNvPr id="1032" name="Picture 7" descr="SD-PanelContent.png">
              <a:extLst>
                <a:ext uri="{FF2B5EF4-FFF2-40B4-BE49-F238E27FC236}">
                  <a16:creationId xmlns:a16="http://schemas.microsoft.com/office/drawing/2014/main" xmlns="" id="{8AFADC92-E832-0DED-B6E1-10B43079B40C}"/>
                </a:ext>
              </a:extLst>
            </p:cNvPr>
            <p:cNvPicPr>
              <a:picLocks noChangeAspect="1"/>
            </p:cNvPicPr>
            <p:nvPr/>
          </p:nvPicPr>
          <p:blipFill>
            <a:blip r:embed="rId20">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xmlns="" id="{83459FD6-F88E-9728-9155-DADFF8B5280F}"/>
                </a:ext>
              </a:extLst>
            </p:cNvPr>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36" name="Picture 9" descr="HDRibbonContent-UniformTrim.png">
              <a:extLst>
                <a:ext uri="{FF2B5EF4-FFF2-40B4-BE49-F238E27FC236}">
                  <a16:creationId xmlns:a16="http://schemas.microsoft.com/office/drawing/2014/main" xmlns="" id="{A1AA85C9-D7BD-ECFE-1F20-819EAB7F8A89}"/>
                </a:ext>
              </a:extLst>
            </p:cNvPr>
            <p:cNvPicPr>
              <a:picLocks noChangeAspect="1"/>
            </p:cNvPicPr>
            <p:nvPr/>
          </p:nvPicPr>
          <p:blipFill>
            <a:blip r:embed="rId21">
              <a:extLst>
                <a:ext uri="{28A0092B-C50C-407E-A947-70E740481C1C}">
                  <a14:useLocalDpi xmlns:a14="http://schemas.microsoft.com/office/drawing/2010/main" val="0"/>
                </a:ext>
              </a:extLst>
            </a:blip>
            <a:srcRect l="2" r="14240"/>
            <a:stretch>
              <a:fillRect/>
            </a:stretch>
          </p:blipFill>
          <p:spPr bwMode="auto">
            <a:xfrm>
              <a:off x="0" y="3128434"/>
              <a:ext cx="68580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7" name="Picture 10" descr="HDRibbonContent-UniformTrim.png">
              <a:extLst>
                <a:ext uri="{FF2B5EF4-FFF2-40B4-BE49-F238E27FC236}">
                  <a16:creationId xmlns:a16="http://schemas.microsoft.com/office/drawing/2014/main" xmlns="" id="{0B100487-AB37-47A3-3973-1E668F6E417D}"/>
                </a:ext>
              </a:extLst>
            </p:cNvPr>
            <p:cNvPicPr>
              <a:picLocks noChangeAspect="1"/>
            </p:cNvPicPr>
            <p:nvPr/>
          </p:nvPicPr>
          <p:blipFill>
            <a:blip r:embed="rId21">
              <a:extLst>
                <a:ext uri="{28A0092B-C50C-407E-A947-70E740481C1C}">
                  <a14:useLocalDpi xmlns:a14="http://schemas.microsoft.com/office/drawing/2010/main" val="0"/>
                </a:ext>
              </a:extLst>
            </a:blip>
            <a:srcRect l="2" r="14240"/>
            <a:stretch>
              <a:fillRect/>
            </a:stretch>
          </p:blipFill>
          <p:spPr bwMode="auto">
            <a:xfrm>
              <a:off x="8466667" y="3128434"/>
              <a:ext cx="68580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7" name="Title Placeholder 1">
            <a:extLst>
              <a:ext uri="{FF2B5EF4-FFF2-40B4-BE49-F238E27FC236}">
                <a16:creationId xmlns:a16="http://schemas.microsoft.com/office/drawing/2014/main" xmlns="" id="{DB0EAD7D-80B2-8FB9-9B16-93BD7815D861}"/>
              </a:ext>
            </a:extLst>
          </p:cNvPr>
          <p:cNvSpPr>
            <a:spLocks noGrp="1"/>
          </p:cNvSpPr>
          <p:nvPr>
            <p:ph type="title"/>
          </p:nvPr>
        </p:nvSpPr>
        <p:spPr bwMode="auto">
          <a:xfrm>
            <a:off x="1176338" y="915988"/>
            <a:ext cx="6799262" cy="130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xmlns="" id="{D42D7AD9-A0FC-39F9-DAC7-C10540C58813}"/>
              </a:ext>
            </a:extLst>
          </p:cNvPr>
          <p:cNvSpPr>
            <a:spLocks noGrp="1"/>
          </p:cNvSpPr>
          <p:nvPr>
            <p:ph type="body" idx="1"/>
          </p:nvPr>
        </p:nvSpPr>
        <p:spPr bwMode="auto">
          <a:xfrm>
            <a:off x="1176338" y="2490788"/>
            <a:ext cx="6799262"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xmlns="" id="{E87652E0-8F8C-A619-0B96-38A51A1A9FEA}"/>
              </a:ext>
            </a:extLst>
          </p:cNvPr>
          <p:cNvSpPr>
            <a:spLocks noGrp="1"/>
          </p:cNvSpPr>
          <p:nvPr>
            <p:ph type="dt" sz="half" idx="2"/>
          </p:nvPr>
        </p:nvSpPr>
        <p:spPr>
          <a:xfrm>
            <a:off x="6356350" y="5961063"/>
            <a:ext cx="1149350" cy="279400"/>
          </a:xfrm>
          <a:prstGeom prst="rect">
            <a:avLst/>
          </a:prstGeom>
        </p:spPr>
        <p:txBody>
          <a:bodyPr vert="horz" lIns="91440" tIns="45720" rIns="91440" bIns="45720" rtlCol="0" anchor="ctr"/>
          <a:lstStyle>
            <a:lvl1pPr algn="r" eaLnBrk="1" hangingPunct="1">
              <a:defRPr sz="1000" b="0" i="0">
                <a:solidFill>
                  <a:schemeClr val="tx1"/>
                </a:solidFill>
                <a:effectLst/>
                <a:latin typeface="+mn-lt"/>
                <a:cs typeface="Arial" panose="020B0604020202020204" pitchFamily="34" charset="0"/>
              </a:defRPr>
            </a:lvl1pPr>
          </a:lstStyle>
          <a:p>
            <a:pPr>
              <a:defRPr/>
            </a:pPr>
            <a:fld id="{50ABAD17-E500-46E1-997B-115216807C19}" type="datetimeFigureOut">
              <a:rPr lang="en-US"/>
              <a:pPr>
                <a:defRPr/>
              </a:pPr>
              <a:t>11/9/24</a:t>
            </a:fld>
            <a:endParaRPr lang="en-US"/>
          </a:p>
        </p:txBody>
      </p:sp>
      <p:sp>
        <p:nvSpPr>
          <p:cNvPr id="5" name="Footer Placeholder 4">
            <a:extLst>
              <a:ext uri="{FF2B5EF4-FFF2-40B4-BE49-F238E27FC236}">
                <a16:creationId xmlns:a16="http://schemas.microsoft.com/office/drawing/2014/main" xmlns="" id="{3BB2C7C2-21FA-48EF-58B5-C8DF8386643D}"/>
              </a:ext>
            </a:extLst>
          </p:cNvPr>
          <p:cNvSpPr>
            <a:spLocks noGrp="1"/>
          </p:cNvSpPr>
          <p:nvPr>
            <p:ph type="ftr" sz="quarter" idx="3"/>
          </p:nvPr>
        </p:nvSpPr>
        <p:spPr>
          <a:xfrm>
            <a:off x="1176338" y="5961063"/>
            <a:ext cx="5105400" cy="279400"/>
          </a:xfrm>
          <a:prstGeom prst="rect">
            <a:avLst/>
          </a:prstGeom>
        </p:spPr>
        <p:txBody>
          <a:bodyPr vert="horz" lIns="91440" tIns="45720" rIns="91440" bIns="45720" rtlCol="0" anchor="ctr"/>
          <a:lstStyle>
            <a:lvl1pPr algn="l" eaLnBrk="1" hangingPunct="1">
              <a:defRPr sz="1000" b="0" i="0">
                <a:solidFill>
                  <a:schemeClr val="tx1"/>
                </a:solidFill>
                <a:effectLst/>
                <a:latin typeface="+mn-lt"/>
                <a:cs typeface="Arial" panose="020B0604020202020204" pitchFamily="34" charset="0"/>
              </a:defRPr>
            </a:lvl1pPr>
          </a:lstStyle>
          <a:p>
            <a:pPr>
              <a:defRPr/>
            </a:pPr>
            <a:endParaRPr lang="en-US"/>
          </a:p>
        </p:txBody>
      </p:sp>
      <p:sp>
        <p:nvSpPr>
          <p:cNvPr id="6" name="Slide Number Placeholder 5">
            <a:extLst>
              <a:ext uri="{FF2B5EF4-FFF2-40B4-BE49-F238E27FC236}">
                <a16:creationId xmlns:a16="http://schemas.microsoft.com/office/drawing/2014/main" xmlns="" id="{A3985B03-C31C-E68F-D688-B63E08FE47EF}"/>
              </a:ext>
            </a:extLst>
          </p:cNvPr>
          <p:cNvSpPr>
            <a:spLocks noGrp="1"/>
          </p:cNvSpPr>
          <p:nvPr>
            <p:ph type="sldNum" sz="quarter" idx="4"/>
          </p:nvPr>
        </p:nvSpPr>
        <p:spPr>
          <a:xfrm>
            <a:off x="7580313" y="5961063"/>
            <a:ext cx="395287" cy="27940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latin typeface="Garamond" panose="02020404030301010803" pitchFamily="18" charset="0"/>
              </a:defRPr>
            </a:lvl1pPr>
          </a:lstStyle>
          <a:p>
            <a:fld id="{29AA4A55-A613-449E-81B8-929286393F1E}"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51" r:id="rId7"/>
    <p:sldLayoutId id="2147483761" r:id="rId8"/>
    <p:sldLayoutId id="2147483752" r:id="rId9"/>
    <p:sldLayoutId id="2147483753" r:id="rId10"/>
    <p:sldLayoutId id="2147483762" r:id="rId11"/>
    <p:sldLayoutId id="2147483763" r:id="rId12"/>
    <p:sldLayoutId id="2147483754" r:id="rId13"/>
    <p:sldLayoutId id="2147483764" r:id="rId14"/>
    <p:sldLayoutId id="2147483765" r:id="rId15"/>
    <p:sldLayoutId id="2147483766" r:id="rId16"/>
    <p:sldLayoutId id="2147483767" r:id="rId17"/>
  </p:sldLayoutIdLst>
  <p:txStyles>
    <p:titleStyle>
      <a:lvl1pPr algn="ctr" defTabSz="457200" rtl="0" eaLnBrk="0" fontAlgn="base" hangingPunct="0">
        <a:spcBef>
          <a:spcPct val="0"/>
        </a:spcBef>
        <a:spcAft>
          <a:spcPct val="0"/>
        </a:spcAft>
        <a:defRPr sz="4000" kern="1200">
          <a:ln w="3175" cmpd="sng">
            <a:noFill/>
          </a:ln>
          <a:solidFill>
            <a:srgbClr val="262626"/>
          </a:solidFill>
          <a:latin typeface="+mj-lt"/>
          <a:ea typeface="+mj-ea"/>
          <a:cs typeface="+mj-cs"/>
        </a:defRPr>
      </a:lvl1pPr>
      <a:lvl2pPr algn="ctr" defTabSz="457200" rtl="0" eaLnBrk="0" fontAlgn="base" hangingPunct="0">
        <a:spcBef>
          <a:spcPct val="0"/>
        </a:spcBef>
        <a:spcAft>
          <a:spcPct val="0"/>
        </a:spcAft>
        <a:defRPr sz="4000">
          <a:solidFill>
            <a:srgbClr val="262626"/>
          </a:solidFill>
          <a:latin typeface="Garamond" pitchFamily="18" charset="0"/>
        </a:defRPr>
      </a:lvl2pPr>
      <a:lvl3pPr algn="ctr" defTabSz="457200" rtl="0" eaLnBrk="0" fontAlgn="base" hangingPunct="0">
        <a:spcBef>
          <a:spcPct val="0"/>
        </a:spcBef>
        <a:spcAft>
          <a:spcPct val="0"/>
        </a:spcAft>
        <a:defRPr sz="4000">
          <a:solidFill>
            <a:srgbClr val="262626"/>
          </a:solidFill>
          <a:latin typeface="Garamond" pitchFamily="18" charset="0"/>
        </a:defRPr>
      </a:lvl3pPr>
      <a:lvl4pPr algn="ctr" defTabSz="457200" rtl="0" eaLnBrk="0" fontAlgn="base" hangingPunct="0">
        <a:spcBef>
          <a:spcPct val="0"/>
        </a:spcBef>
        <a:spcAft>
          <a:spcPct val="0"/>
        </a:spcAft>
        <a:defRPr sz="4000">
          <a:solidFill>
            <a:srgbClr val="262626"/>
          </a:solidFill>
          <a:latin typeface="Garamond" pitchFamily="18" charset="0"/>
        </a:defRPr>
      </a:lvl4pPr>
      <a:lvl5pPr algn="ctr" defTabSz="457200" rtl="0" eaLnBrk="0" fontAlgn="base" hangingPunct="0">
        <a:spcBef>
          <a:spcPct val="0"/>
        </a:spcBef>
        <a:spcAft>
          <a:spcPct val="0"/>
        </a:spcAft>
        <a:defRPr sz="4000">
          <a:solidFill>
            <a:srgbClr val="262626"/>
          </a:solidFill>
          <a:latin typeface="Garamond" pitchFamily="18"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0" fontAlgn="base" hangingPunct="0">
        <a:spcBef>
          <a:spcPct val="20000"/>
        </a:spcBef>
        <a:spcAft>
          <a:spcPts val="600"/>
        </a:spcAft>
        <a:buClr>
          <a:schemeClr val="accent1"/>
        </a:buClr>
        <a:buSzPct val="115000"/>
        <a:buFont typeface="Arial" panose="020B0604020202020204" pitchFamily="34" charset="0"/>
        <a:buChar char="•"/>
        <a:defRPr sz="2400" kern="1200">
          <a:solidFill>
            <a:srgbClr val="262626"/>
          </a:solidFill>
          <a:latin typeface="+mn-lt"/>
          <a:ea typeface="+mn-ea"/>
          <a:cs typeface="+mn-cs"/>
        </a:defRPr>
      </a:lvl1pPr>
      <a:lvl2pPr marL="742950" indent="-285750" algn="l" defTabSz="457200" rtl="0" eaLnBrk="0" fontAlgn="base" hangingPunct="0">
        <a:spcBef>
          <a:spcPct val="20000"/>
        </a:spcBef>
        <a:spcAft>
          <a:spcPts val="600"/>
        </a:spcAft>
        <a:buClr>
          <a:schemeClr val="accent1"/>
        </a:buClr>
        <a:buSzPct val="115000"/>
        <a:buFont typeface="Arial" panose="020B0604020202020204" pitchFamily="34" charset="0"/>
        <a:buChar char="•"/>
        <a:defRPr sz="2000" kern="1200">
          <a:solidFill>
            <a:srgbClr val="262626"/>
          </a:solidFill>
          <a:latin typeface="+mn-lt"/>
          <a:ea typeface="+mn-ea"/>
          <a:cs typeface="+mn-cs"/>
        </a:defRPr>
      </a:lvl2pPr>
      <a:lvl3pPr marL="1200150" indent="-285750" algn="l" defTabSz="457200" rtl="0" eaLnBrk="0" fontAlgn="base" hangingPunct="0">
        <a:spcBef>
          <a:spcPct val="20000"/>
        </a:spcBef>
        <a:spcAft>
          <a:spcPts val="600"/>
        </a:spcAft>
        <a:buClr>
          <a:schemeClr val="accent1"/>
        </a:buClr>
        <a:buSzPct val="115000"/>
        <a:buFont typeface="Arial" panose="020B0604020202020204" pitchFamily="34" charset="0"/>
        <a:buChar char="•"/>
        <a:defRPr sz="2400" kern="1200">
          <a:solidFill>
            <a:srgbClr val="262626"/>
          </a:solidFill>
          <a:latin typeface="+mn-lt"/>
          <a:ea typeface="+mn-ea"/>
          <a:cs typeface="+mn-cs"/>
        </a:defRPr>
      </a:lvl3pPr>
      <a:lvl4pPr marL="1543050" indent="-171450" algn="l" defTabSz="457200" rtl="0" eaLnBrk="0" fontAlgn="base" hangingPunct="0">
        <a:spcBef>
          <a:spcPct val="20000"/>
        </a:spcBef>
        <a:spcAft>
          <a:spcPts val="600"/>
        </a:spcAft>
        <a:buClr>
          <a:schemeClr val="accent1"/>
        </a:buClr>
        <a:buSzPct val="115000"/>
        <a:buFont typeface="Arial" panose="020B0604020202020204" pitchFamily="34" charset="0"/>
        <a:buChar char="•"/>
        <a:defRPr sz="1600" kern="1200">
          <a:solidFill>
            <a:srgbClr val="262626"/>
          </a:solidFill>
          <a:latin typeface="+mn-lt"/>
          <a:ea typeface="+mn-ea"/>
          <a:cs typeface="+mn-cs"/>
        </a:defRPr>
      </a:lvl4pPr>
      <a:lvl5pPr marL="2000250" indent="-171450" algn="l" defTabSz="457200" rtl="0" eaLnBrk="0" fontAlgn="base" hangingPunct="0">
        <a:spcBef>
          <a:spcPct val="20000"/>
        </a:spcBef>
        <a:spcAft>
          <a:spcPts val="600"/>
        </a:spcAft>
        <a:buClr>
          <a:schemeClr val="accent1"/>
        </a:buClr>
        <a:buSzPct val="115000"/>
        <a:buFont typeface="Arial" panose="020B0604020202020204" pitchFamily="34" charset="0"/>
        <a:buChar char="•"/>
        <a:defRPr sz="1400" kern="1200">
          <a:solidFill>
            <a:srgbClr val="262626"/>
          </a:solidFill>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577241-6BDA-4D7F-805D-FC03A50B0264}"/>
              </a:ext>
            </a:extLst>
          </p:cNvPr>
          <p:cNvSpPr>
            <a:spLocks noGrp="1"/>
          </p:cNvSpPr>
          <p:nvPr>
            <p:ph type="title"/>
          </p:nvPr>
        </p:nvSpPr>
        <p:spPr>
          <a:xfrm>
            <a:off x="457200" y="0"/>
            <a:ext cx="8229600" cy="1219200"/>
          </a:xfrm>
        </p:spPr>
        <p:txBody>
          <a:bodyPr rtlCol="0">
            <a:normAutofit fontScale="90000"/>
          </a:bodyPr>
          <a:lstStyle/>
          <a:p>
            <a:pPr eaLnBrk="1" fontAlgn="auto" hangingPunct="1">
              <a:spcAft>
                <a:spcPts val="0"/>
              </a:spcAft>
              <a:defRPr/>
            </a:pPr>
            <a:r>
              <a:rPr lang="en-US" b="1" dirty="0">
                <a:solidFill>
                  <a:schemeClr val="tx1">
                    <a:lumMod val="85000"/>
                    <a:lumOff val="15000"/>
                  </a:schemeClr>
                </a:solidFill>
                <a:latin typeface="Times New Roman" pitchFamily="18" charset="0"/>
                <a:cs typeface="Times New Roman" pitchFamily="18" charset="0"/>
              </a:rPr>
              <a:t/>
            </a:r>
            <a:br>
              <a:rPr lang="en-US" b="1" dirty="0">
                <a:solidFill>
                  <a:schemeClr val="tx1">
                    <a:lumMod val="85000"/>
                    <a:lumOff val="15000"/>
                  </a:schemeClr>
                </a:solidFill>
                <a:latin typeface="Times New Roman" pitchFamily="18" charset="0"/>
                <a:cs typeface="Times New Roman" pitchFamily="18" charset="0"/>
              </a:rPr>
            </a:br>
            <a:r>
              <a:rPr lang="en-US" b="1" dirty="0">
                <a:solidFill>
                  <a:schemeClr val="tx1">
                    <a:lumMod val="85000"/>
                    <a:lumOff val="15000"/>
                  </a:schemeClr>
                </a:solidFill>
                <a:latin typeface="Times New Roman" pitchFamily="18" charset="0"/>
                <a:cs typeface="Times New Roman" pitchFamily="18" charset="0"/>
              </a:rPr>
              <a:t/>
            </a:r>
            <a:br>
              <a:rPr lang="en-US" b="1" dirty="0">
                <a:solidFill>
                  <a:schemeClr val="tx1">
                    <a:lumMod val="85000"/>
                    <a:lumOff val="15000"/>
                  </a:schemeClr>
                </a:solidFill>
                <a:latin typeface="Times New Roman" pitchFamily="18" charset="0"/>
                <a:cs typeface="Times New Roman" pitchFamily="18" charset="0"/>
              </a:rPr>
            </a:br>
            <a:r>
              <a:rPr lang="en-US" b="1" dirty="0">
                <a:solidFill>
                  <a:srgbClr val="FF0000"/>
                </a:solidFill>
                <a:latin typeface="Times New Roman" pitchFamily="18" charset="0"/>
                <a:cs typeface="Times New Roman" pitchFamily="18" charset="0"/>
              </a:rPr>
              <a:t>THE BIOSYNTHESIS OF FATTY ACIDS AND RELATED COMPOUNDS</a:t>
            </a:r>
            <a:br>
              <a:rPr lang="en-US" b="1" dirty="0">
                <a:solidFill>
                  <a:srgbClr val="FF0000"/>
                </a:solidFill>
                <a:latin typeface="Times New Roman" pitchFamily="18" charset="0"/>
                <a:cs typeface="Times New Roman" pitchFamily="18" charset="0"/>
              </a:rPr>
            </a:br>
            <a:r>
              <a:rPr lang="en-US" b="1" dirty="0">
                <a:solidFill>
                  <a:srgbClr val="FF0000"/>
                </a:solidFill>
                <a:latin typeface="Times New Roman" pitchFamily="18" charset="0"/>
                <a:cs typeface="Times New Roman" pitchFamily="18" charset="0"/>
              </a:rPr>
              <a:t> </a:t>
            </a:r>
            <a:r>
              <a:rPr lang="en-US" dirty="0">
                <a:solidFill>
                  <a:schemeClr val="tx1">
                    <a:lumMod val="85000"/>
                    <a:lumOff val="15000"/>
                  </a:schemeClr>
                </a:solidFill>
              </a:rPr>
              <a:t/>
            </a:r>
            <a:br>
              <a:rPr lang="en-US" dirty="0">
                <a:solidFill>
                  <a:schemeClr val="tx1">
                    <a:lumMod val="85000"/>
                    <a:lumOff val="15000"/>
                  </a:schemeClr>
                </a:solidFill>
              </a:rPr>
            </a:br>
            <a:endParaRPr lang="en-US" dirty="0">
              <a:solidFill>
                <a:schemeClr val="tx1">
                  <a:lumMod val="85000"/>
                  <a:lumOff val="15000"/>
                </a:schemeClr>
              </a:solidFill>
            </a:endParaRPr>
          </a:p>
        </p:txBody>
      </p:sp>
      <p:sp>
        <p:nvSpPr>
          <p:cNvPr id="16387" name="Content Placeholder 2">
            <a:extLst>
              <a:ext uri="{FF2B5EF4-FFF2-40B4-BE49-F238E27FC236}">
                <a16:creationId xmlns:a16="http://schemas.microsoft.com/office/drawing/2014/main" xmlns="" id="{60428A99-3EC1-BD98-C4B2-BFF406EAD29A}"/>
              </a:ext>
            </a:extLst>
          </p:cNvPr>
          <p:cNvSpPr>
            <a:spLocks noGrp="1"/>
          </p:cNvSpPr>
          <p:nvPr>
            <p:ph idx="1"/>
          </p:nvPr>
        </p:nvSpPr>
        <p:spPr>
          <a:xfrm>
            <a:off x="152400" y="1219200"/>
            <a:ext cx="8763000" cy="5334000"/>
          </a:xfrm>
        </p:spPr>
        <p:txBody>
          <a:bodyPr/>
          <a:lstStyle/>
          <a:p>
            <a:pPr eaLnBrk="1" hangingPunct="1"/>
            <a:r>
              <a:rPr lang="en-US" altLang="en-US" sz="2800">
                <a:latin typeface="Times New Roman" panose="02020603050405020304" pitchFamily="18" charset="0"/>
                <a:cs typeface="Times New Roman" panose="02020603050405020304" pitchFamily="18" charset="0"/>
              </a:rPr>
              <a:t>Fatty acids synthesis is the major way of utilizing excess dietary carbohydrates. </a:t>
            </a:r>
          </a:p>
          <a:p>
            <a:pPr eaLnBrk="1" hangingPunct="1"/>
            <a:r>
              <a:rPr lang="en-US" altLang="en-US" sz="2800">
                <a:latin typeface="Times New Roman" panose="02020603050405020304" pitchFamily="18" charset="0"/>
                <a:cs typeface="Times New Roman" panose="02020603050405020304" pitchFamily="18" charset="0"/>
              </a:rPr>
              <a:t>Fatty acid synthesis occurs mainly in the adipose tissue and the liver.</a:t>
            </a:r>
          </a:p>
          <a:p>
            <a:pPr eaLnBrk="1" hangingPunct="1"/>
            <a:r>
              <a:rPr lang="en-US" altLang="en-US" sz="2800">
                <a:latin typeface="Times New Roman" panose="02020603050405020304" pitchFamily="18" charset="0"/>
                <a:cs typeface="Times New Roman" panose="02020603050405020304" pitchFamily="18" charset="0"/>
              </a:rPr>
              <a:t> Other sites where de novo (from scratch) synthesis of fatty acids take place are lactating mammary glands, lungs and the renal cortex.  </a:t>
            </a:r>
          </a:p>
          <a:p>
            <a:pPr eaLnBrk="1" hangingPunct="1"/>
            <a:r>
              <a:rPr lang="en-US" altLang="en-US" sz="2800">
                <a:latin typeface="Times New Roman" panose="02020603050405020304" pitchFamily="18" charset="0"/>
                <a:cs typeface="Times New Roman" panose="02020603050405020304" pitchFamily="18" charset="0"/>
              </a:rPr>
              <a:t>Synthesis and degradation of fatty acids are similar in that they involve a cycle of reactions that change the length of the substrate by two carbon atoms at a time. </a:t>
            </a:r>
            <a:endParaRPr lang="en-US" altLang="en-US"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0FB471-DB97-B92A-A754-979224B175E9}"/>
              </a:ext>
            </a:extLst>
          </p:cNvPr>
          <p:cNvSpPr>
            <a:spLocks noGrp="1"/>
          </p:cNvSpPr>
          <p:nvPr>
            <p:ph type="title"/>
          </p:nvPr>
        </p:nvSpPr>
        <p:spPr>
          <a:xfrm>
            <a:off x="457200" y="274638"/>
            <a:ext cx="8229600" cy="639762"/>
          </a:xfrm>
        </p:spPr>
        <p:txBody>
          <a:bodyPr rtlCol="0">
            <a:normAutofit fontScale="90000"/>
          </a:bodyPr>
          <a:lstStyle/>
          <a:p>
            <a:pPr eaLnBrk="1" fontAlgn="auto" hangingPunct="1">
              <a:spcAft>
                <a:spcPts val="0"/>
              </a:spcAft>
              <a:defRPr/>
            </a:pPr>
            <a:r>
              <a:rPr lang="en-US" dirty="0">
                <a:solidFill>
                  <a:schemeClr val="tx1">
                    <a:lumMod val="85000"/>
                    <a:lumOff val="15000"/>
                  </a:schemeClr>
                </a:solidFill>
              </a:rPr>
              <a:t>CONT’</a:t>
            </a:r>
          </a:p>
        </p:txBody>
      </p:sp>
      <p:sp>
        <p:nvSpPr>
          <p:cNvPr id="3" name="Content Placeholder 2">
            <a:extLst>
              <a:ext uri="{FF2B5EF4-FFF2-40B4-BE49-F238E27FC236}">
                <a16:creationId xmlns:a16="http://schemas.microsoft.com/office/drawing/2014/main" xmlns="" id="{37F219D6-0F9E-3304-F6C7-D9CC6F68704A}"/>
              </a:ext>
            </a:extLst>
          </p:cNvPr>
          <p:cNvSpPr>
            <a:spLocks noGrp="1"/>
          </p:cNvSpPr>
          <p:nvPr>
            <p:ph idx="1"/>
          </p:nvPr>
        </p:nvSpPr>
        <p:spPr>
          <a:xfrm>
            <a:off x="228600" y="838200"/>
            <a:ext cx="8686800" cy="6019800"/>
          </a:xfrm>
        </p:spPr>
        <p:txBody>
          <a:bodyPr rtlCol="0">
            <a:noAutofit/>
          </a:bodyPr>
          <a:lstStyle/>
          <a:p>
            <a:pPr eaLnBrk="1" fontAlgn="auto" hangingPunct="1">
              <a:spcAft>
                <a:spcPts val="0"/>
              </a:spcAft>
              <a:buFont typeface="Arial"/>
              <a:buChar char="•"/>
              <a:defRPr/>
            </a:pPr>
            <a:r>
              <a:rPr lang="en-US" sz="2800" dirty="0">
                <a:solidFill>
                  <a:schemeClr val="tx1">
                    <a:lumMod val="85000"/>
                    <a:lumOff val="15000"/>
                  </a:schemeClr>
                </a:solidFill>
                <a:latin typeface="Times New Roman" pitchFamily="18" charset="0"/>
                <a:cs typeface="Times New Roman" pitchFamily="18" charset="0"/>
              </a:rPr>
              <a:t>However, they differ from each other in several aspects:</a:t>
            </a:r>
          </a:p>
          <a:p>
            <a:pPr marL="571500" indent="-571500" eaLnBrk="1" fontAlgn="auto" hangingPunct="1">
              <a:spcAft>
                <a:spcPts val="0"/>
              </a:spcAft>
              <a:buFont typeface="Arial" panose="020B0604020202020204" pitchFamily="34" charset="0"/>
              <a:buAutoNum type="romanLcParenR"/>
              <a:defRPr/>
            </a:pPr>
            <a:r>
              <a:rPr lang="en-US" sz="2800" dirty="0">
                <a:solidFill>
                  <a:schemeClr val="tx1">
                    <a:lumMod val="85000"/>
                    <a:lumOff val="15000"/>
                  </a:schemeClr>
                </a:solidFill>
                <a:latin typeface="Times New Roman" pitchFamily="18" charset="0"/>
                <a:cs typeface="Times New Roman" pitchFamily="18" charset="0"/>
              </a:rPr>
              <a:t>Fatty acid synthesis occurs in the </a:t>
            </a:r>
            <a:r>
              <a:rPr lang="en-US" sz="2800" dirty="0" err="1">
                <a:solidFill>
                  <a:schemeClr val="tx1">
                    <a:lumMod val="85000"/>
                    <a:lumOff val="15000"/>
                  </a:schemeClr>
                </a:solidFill>
                <a:latin typeface="Times New Roman" pitchFamily="18" charset="0"/>
                <a:cs typeface="Times New Roman" pitchFamily="18" charset="0"/>
              </a:rPr>
              <a:t>cytosol</a:t>
            </a:r>
            <a:r>
              <a:rPr lang="en-US" sz="2800" dirty="0">
                <a:solidFill>
                  <a:schemeClr val="tx1">
                    <a:lumMod val="85000"/>
                    <a:lumOff val="15000"/>
                  </a:schemeClr>
                </a:solidFill>
                <a:latin typeface="Times New Roman" pitchFamily="18" charset="0"/>
                <a:cs typeface="Times New Roman" pitchFamily="18" charset="0"/>
              </a:rPr>
              <a:t>, whereas β-oxidation occurs in the mitochondria. This makes it easier to regulate the two pathways separately.</a:t>
            </a:r>
          </a:p>
          <a:p>
            <a:pPr marL="571500" indent="-571500" eaLnBrk="1" fontAlgn="auto" hangingPunct="1">
              <a:spcAft>
                <a:spcPts val="0"/>
              </a:spcAft>
              <a:buFont typeface="Arial" panose="020B0604020202020204" pitchFamily="34" charset="0"/>
              <a:buAutoNum type="romanLcParenR"/>
              <a:defRPr/>
            </a:pPr>
            <a:r>
              <a:rPr lang="en-US" sz="2800" dirty="0">
                <a:solidFill>
                  <a:schemeClr val="tx1">
                    <a:lumMod val="85000"/>
                    <a:lumOff val="15000"/>
                  </a:schemeClr>
                </a:solidFill>
                <a:latin typeface="Times New Roman" pitchFamily="18" charset="0"/>
                <a:cs typeface="Times New Roman" pitchFamily="18" charset="0"/>
              </a:rPr>
              <a:t>Synthesis uses NADPH rather than NADH and FADH as reducing agents. </a:t>
            </a:r>
          </a:p>
          <a:p>
            <a:pPr marL="571500" indent="-571500" eaLnBrk="1" fontAlgn="auto" hangingPunct="1">
              <a:spcAft>
                <a:spcPts val="0"/>
              </a:spcAft>
              <a:buFont typeface="Arial" panose="020B0604020202020204" pitchFamily="34" charset="0"/>
              <a:buAutoNum type="romanLcParenR"/>
              <a:defRPr/>
            </a:pPr>
            <a:r>
              <a:rPr lang="en-US" sz="2800" dirty="0">
                <a:solidFill>
                  <a:schemeClr val="tx1">
                    <a:lumMod val="85000"/>
                    <a:lumOff val="15000"/>
                  </a:schemeClr>
                </a:solidFill>
                <a:latin typeface="Times New Roman" pitchFamily="18" charset="0"/>
                <a:cs typeface="Times New Roman" pitchFamily="18" charset="0"/>
              </a:rPr>
              <a:t>During synthesis, the 2 carbon subunits that are sequentially added are derived from </a:t>
            </a:r>
            <a:r>
              <a:rPr lang="en-US" sz="2800" dirty="0" err="1">
                <a:solidFill>
                  <a:schemeClr val="tx1">
                    <a:lumMod val="85000"/>
                    <a:lumOff val="15000"/>
                  </a:schemeClr>
                </a:solidFill>
                <a:latin typeface="Times New Roman" pitchFamily="18" charset="0"/>
                <a:cs typeface="Times New Roman" pitchFamily="18" charset="0"/>
              </a:rPr>
              <a:t>malonyl-CoA</a:t>
            </a:r>
            <a:r>
              <a:rPr lang="en-US" sz="2800" dirty="0">
                <a:solidFill>
                  <a:schemeClr val="tx1">
                    <a:lumMod val="85000"/>
                    <a:lumOff val="15000"/>
                  </a:schemeClr>
                </a:solidFill>
                <a:latin typeface="Times New Roman" pitchFamily="18" charset="0"/>
                <a:cs typeface="Times New Roman" pitchFamily="18" charset="0"/>
              </a:rPr>
              <a:t> rather than from acetyl-</a:t>
            </a:r>
            <a:r>
              <a:rPr lang="en-US" sz="2800" dirty="0" err="1">
                <a:solidFill>
                  <a:schemeClr val="tx1">
                    <a:lumMod val="85000"/>
                    <a:lumOff val="15000"/>
                  </a:schemeClr>
                </a:solidFill>
                <a:latin typeface="Times New Roman" pitchFamily="18" charset="0"/>
                <a:cs typeface="Times New Roman" pitchFamily="18" charset="0"/>
              </a:rPr>
              <a:t>CoA</a:t>
            </a:r>
            <a:r>
              <a:rPr lang="en-US" sz="2800" dirty="0">
                <a:solidFill>
                  <a:schemeClr val="tx1">
                    <a:lumMod val="85000"/>
                    <a:lumOff val="15000"/>
                  </a:schemeClr>
                </a:solidFill>
                <a:latin typeface="Times New Roman" pitchFamily="18" charset="0"/>
                <a:cs typeface="Times New Roman" pitchFamily="18" charset="0"/>
              </a:rPr>
              <a:t> directly. This thermodynamically </a:t>
            </a:r>
            <a:r>
              <a:rPr lang="en-US" sz="2800" dirty="0" err="1">
                <a:solidFill>
                  <a:schemeClr val="tx1">
                    <a:lumMod val="85000"/>
                    <a:lumOff val="15000"/>
                  </a:schemeClr>
                </a:solidFill>
                <a:latin typeface="Times New Roman" pitchFamily="18" charset="0"/>
                <a:cs typeface="Times New Roman" pitchFamily="18" charset="0"/>
              </a:rPr>
              <a:t>favours</a:t>
            </a:r>
            <a:r>
              <a:rPr lang="en-US" sz="2800" dirty="0">
                <a:solidFill>
                  <a:schemeClr val="tx1">
                    <a:lumMod val="85000"/>
                    <a:lumOff val="15000"/>
                  </a:schemeClr>
                </a:solidFill>
                <a:latin typeface="Times New Roman" pitchFamily="18" charset="0"/>
                <a:cs typeface="Times New Roman" pitchFamily="18" charset="0"/>
              </a:rPr>
              <a:t> synthesis over oxidation. </a:t>
            </a:r>
          </a:p>
          <a:p>
            <a:pPr marL="571500" indent="-571500" eaLnBrk="1" fontAlgn="auto" hangingPunct="1">
              <a:spcAft>
                <a:spcPts val="0"/>
              </a:spcAft>
              <a:buFont typeface="Arial" panose="020B0604020202020204" pitchFamily="34" charset="0"/>
              <a:buAutoNum type="romanLcParenR"/>
              <a:defRPr/>
            </a:pPr>
            <a:r>
              <a:rPr lang="en-US" sz="2800" dirty="0">
                <a:solidFill>
                  <a:schemeClr val="tx1">
                    <a:lumMod val="85000"/>
                    <a:lumOff val="15000"/>
                  </a:schemeClr>
                </a:solidFill>
                <a:latin typeface="Times New Roman" pitchFamily="18" charset="0"/>
                <a:cs typeface="Times New Roman" pitchFamily="18" charset="0"/>
              </a:rPr>
              <a:t>The intermediates in fatty acid synthesis are linked covalently to the </a:t>
            </a:r>
            <a:r>
              <a:rPr lang="en-US" sz="2800" dirty="0" err="1">
                <a:solidFill>
                  <a:schemeClr val="tx1">
                    <a:lumMod val="85000"/>
                    <a:lumOff val="15000"/>
                  </a:schemeClr>
                </a:solidFill>
                <a:latin typeface="Times New Roman" pitchFamily="18" charset="0"/>
                <a:cs typeface="Times New Roman" pitchFamily="18" charset="0"/>
              </a:rPr>
              <a:t>sulfhydryl</a:t>
            </a:r>
            <a:r>
              <a:rPr lang="en-US" sz="2800" dirty="0">
                <a:solidFill>
                  <a:schemeClr val="tx1">
                    <a:lumMod val="85000"/>
                    <a:lumOff val="15000"/>
                  </a:schemeClr>
                </a:solidFill>
                <a:latin typeface="Times New Roman" pitchFamily="18" charset="0"/>
                <a:cs typeface="Times New Roman" pitchFamily="18" charset="0"/>
              </a:rPr>
              <a:t> (–SH) groups of special proteins called the </a:t>
            </a:r>
            <a:r>
              <a:rPr lang="en-US" sz="2800" dirty="0" err="1">
                <a:solidFill>
                  <a:schemeClr val="tx1">
                    <a:lumMod val="85000"/>
                    <a:lumOff val="15000"/>
                  </a:schemeClr>
                </a:solidFill>
                <a:latin typeface="Times New Roman" pitchFamily="18" charset="0"/>
                <a:cs typeface="Times New Roman" pitchFamily="18" charset="0"/>
              </a:rPr>
              <a:t>acyl</a:t>
            </a:r>
            <a:r>
              <a:rPr lang="en-US" sz="2800" dirty="0">
                <a:solidFill>
                  <a:schemeClr val="tx1">
                    <a:lumMod val="85000"/>
                    <a:lumOff val="15000"/>
                  </a:schemeClr>
                </a:solidFill>
                <a:latin typeface="Times New Roman" pitchFamily="18" charset="0"/>
                <a:cs typeface="Times New Roman" pitchFamily="18" charset="0"/>
              </a:rPr>
              <a:t> carrier proteins (ACP). </a:t>
            </a:r>
            <a:endParaRPr lang="en-US" sz="2800" dirty="0">
              <a:solidFill>
                <a:schemeClr val="tx1">
                  <a:lumMod val="85000"/>
                  <a:lumOff val="1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86F073-3F2B-704D-5666-7EEAE0A91C7F}"/>
              </a:ext>
            </a:extLst>
          </p:cNvPr>
          <p:cNvSpPr>
            <a:spLocks noGrp="1"/>
          </p:cNvSpPr>
          <p:nvPr>
            <p:ph type="title"/>
          </p:nvPr>
        </p:nvSpPr>
        <p:spPr>
          <a:xfrm>
            <a:off x="457200" y="274638"/>
            <a:ext cx="8229600" cy="563562"/>
          </a:xfrm>
        </p:spPr>
        <p:txBody>
          <a:bodyPr rtlCol="0">
            <a:normAutofit fontScale="90000"/>
          </a:bodyPr>
          <a:lstStyle/>
          <a:p>
            <a:pPr eaLnBrk="1" fontAlgn="auto" hangingPunct="1">
              <a:spcAft>
                <a:spcPts val="0"/>
              </a:spcAft>
              <a:defRPr/>
            </a:pPr>
            <a:r>
              <a:rPr lang="en-US" dirty="0">
                <a:solidFill>
                  <a:schemeClr val="tx1">
                    <a:lumMod val="85000"/>
                    <a:lumOff val="15000"/>
                  </a:schemeClr>
                </a:solidFill>
              </a:rPr>
              <a:t>CONT’</a:t>
            </a:r>
          </a:p>
        </p:txBody>
      </p:sp>
      <p:sp>
        <p:nvSpPr>
          <p:cNvPr id="3" name="Content Placeholder 2">
            <a:extLst>
              <a:ext uri="{FF2B5EF4-FFF2-40B4-BE49-F238E27FC236}">
                <a16:creationId xmlns:a16="http://schemas.microsoft.com/office/drawing/2014/main" xmlns="" id="{5283D0BF-6EC2-7CB7-2912-697C65EC263F}"/>
              </a:ext>
            </a:extLst>
          </p:cNvPr>
          <p:cNvSpPr>
            <a:spLocks noGrp="1"/>
          </p:cNvSpPr>
          <p:nvPr>
            <p:ph idx="1"/>
          </p:nvPr>
        </p:nvSpPr>
        <p:spPr>
          <a:xfrm>
            <a:off x="228600" y="838200"/>
            <a:ext cx="8763000" cy="6019800"/>
          </a:xfrm>
        </p:spPr>
        <p:txBody>
          <a:bodyPr rtlCol="0">
            <a:noAutofit/>
          </a:bodyPr>
          <a:lstStyle/>
          <a:p>
            <a:pPr marL="571500" indent="-571500" eaLnBrk="1" fontAlgn="auto" hangingPunct="1">
              <a:spcAft>
                <a:spcPts val="0"/>
              </a:spcAft>
              <a:buFont typeface="Arial"/>
              <a:buChar char="•"/>
              <a:defRPr/>
            </a:pPr>
            <a:r>
              <a:rPr lang="en-US" sz="2800" dirty="0">
                <a:solidFill>
                  <a:schemeClr val="tx1">
                    <a:lumMod val="85000"/>
                    <a:lumOff val="15000"/>
                  </a:schemeClr>
                </a:solidFill>
                <a:latin typeface="Times New Roman" pitchFamily="18" charset="0"/>
                <a:cs typeface="Times New Roman" pitchFamily="18" charset="0"/>
              </a:rPr>
              <a:t> In contrast, fatty acid oxidation intermediates are bound to the -SH group of coenzyme A. </a:t>
            </a:r>
          </a:p>
          <a:p>
            <a:pPr marL="571500" indent="-571500" eaLnBrk="1" fontAlgn="auto" hangingPunct="1">
              <a:spcAft>
                <a:spcPts val="0"/>
              </a:spcAft>
              <a:buFont typeface="Arial" panose="020B0604020202020204" pitchFamily="34" charset="0"/>
              <a:buNone/>
              <a:defRPr/>
            </a:pPr>
            <a:r>
              <a:rPr lang="en-US" sz="2800" dirty="0">
                <a:solidFill>
                  <a:schemeClr val="tx1">
                    <a:lumMod val="85000"/>
                    <a:lumOff val="15000"/>
                  </a:schemeClr>
                </a:solidFill>
                <a:latin typeface="Times New Roman" pitchFamily="18" charset="0"/>
                <a:cs typeface="Times New Roman" pitchFamily="18" charset="0"/>
              </a:rPr>
              <a:t>v)In animals, the enzymes of fatty acid synthesis are components of one long polypeptide chain, the fatty acid </a:t>
            </a:r>
            <a:r>
              <a:rPr lang="en-US" sz="2800" dirty="0" err="1">
                <a:solidFill>
                  <a:schemeClr val="tx1">
                    <a:lumMod val="85000"/>
                    <a:lumOff val="15000"/>
                  </a:schemeClr>
                </a:solidFill>
                <a:latin typeface="Times New Roman" pitchFamily="18" charset="0"/>
                <a:cs typeface="Times New Roman" pitchFamily="18" charset="0"/>
              </a:rPr>
              <a:t>synthase</a:t>
            </a:r>
            <a:r>
              <a:rPr lang="en-US" sz="2800" dirty="0">
                <a:solidFill>
                  <a:schemeClr val="tx1">
                    <a:lumMod val="85000"/>
                    <a:lumOff val="15000"/>
                  </a:schemeClr>
                </a:solidFill>
                <a:latin typeface="Times New Roman" pitchFamily="18" charset="0"/>
                <a:cs typeface="Times New Roman" pitchFamily="18" charset="0"/>
              </a:rPr>
              <a:t>, whereas no similar association exists for the oxidation enzymes. </a:t>
            </a:r>
          </a:p>
          <a:p>
            <a:pPr eaLnBrk="1" fontAlgn="auto" hangingPunct="1">
              <a:spcAft>
                <a:spcPts val="0"/>
              </a:spcAft>
              <a:buFont typeface="Arial"/>
              <a:buChar char="•"/>
              <a:defRPr/>
            </a:pPr>
            <a:r>
              <a:rPr lang="en-US" sz="2800" dirty="0">
                <a:solidFill>
                  <a:schemeClr val="tx1">
                    <a:lumMod val="85000"/>
                    <a:lumOff val="15000"/>
                  </a:schemeClr>
                </a:solidFill>
                <a:latin typeface="Times New Roman" pitchFamily="18" charset="0"/>
                <a:cs typeface="Times New Roman" pitchFamily="18" charset="0"/>
              </a:rPr>
              <a:t> Facts 2 and 3 both render fatty acid synthesis irreversible</a:t>
            </a:r>
          </a:p>
          <a:p>
            <a:pPr eaLnBrk="1" fontAlgn="auto" hangingPunct="1">
              <a:spcAft>
                <a:spcPts val="0"/>
              </a:spcAft>
              <a:buFont typeface="Arial" panose="020B0604020202020204" pitchFamily="34" charset="0"/>
              <a:buNone/>
              <a:defRPr/>
            </a:pPr>
            <a:r>
              <a:rPr lang="en-US" sz="2800" dirty="0">
                <a:solidFill>
                  <a:schemeClr val="tx1">
                    <a:lumMod val="85000"/>
                    <a:lumOff val="15000"/>
                  </a:schemeClr>
                </a:solidFill>
              </a:rPr>
              <a:t> </a:t>
            </a:r>
            <a:r>
              <a:rPr lang="en-US" sz="2800" dirty="0">
                <a:solidFill>
                  <a:srgbClr val="FF0000"/>
                </a:solidFill>
              </a:rPr>
              <a:t>The enzymatic reactions of fatty acid synthesis are:</a:t>
            </a:r>
          </a:p>
          <a:p>
            <a:pPr eaLnBrk="1" fontAlgn="auto" hangingPunct="1">
              <a:spcAft>
                <a:spcPts val="0"/>
              </a:spcAft>
              <a:buFont typeface="Arial"/>
              <a:buChar char="•"/>
              <a:defRPr/>
            </a:pPr>
            <a:r>
              <a:rPr lang="en-US" sz="2800" dirty="0">
                <a:solidFill>
                  <a:srgbClr val="FF0000"/>
                </a:solidFill>
              </a:rPr>
              <a:t> </a:t>
            </a:r>
            <a:r>
              <a:rPr lang="en-US" sz="2800" dirty="0">
                <a:solidFill>
                  <a:schemeClr val="tx1">
                    <a:lumMod val="85000"/>
                    <a:lumOff val="15000"/>
                  </a:schemeClr>
                </a:solidFill>
              </a:rPr>
              <a:t>The fast step in fatty acid synthesis is the formation </a:t>
            </a:r>
            <a:r>
              <a:rPr lang="en-US" sz="2800" dirty="0" err="1">
                <a:solidFill>
                  <a:schemeClr val="tx1">
                    <a:lumMod val="85000"/>
                    <a:lumOff val="15000"/>
                  </a:schemeClr>
                </a:solidFill>
              </a:rPr>
              <a:t>malonyl-CoA</a:t>
            </a:r>
            <a:r>
              <a:rPr lang="en-US" sz="2800" dirty="0">
                <a:solidFill>
                  <a:schemeClr val="tx1">
                    <a:lumMod val="85000"/>
                    <a:lumOff val="15000"/>
                  </a:schemeClr>
                </a:solidFill>
              </a:rPr>
              <a:t> from acetyl-</a:t>
            </a:r>
            <a:r>
              <a:rPr lang="en-US" sz="2800" dirty="0" err="1">
                <a:solidFill>
                  <a:schemeClr val="tx1">
                    <a:lumMod val="85000"/>
                    <a:lumOff val="15000"/>
                  </a:schemeClr>
                </a:solidFill>
              </a:rPr>
              <a:t>CoA</a:t>
            </a:r>
            <a:r>
              <a:rPr lang="en-US" sz="2800" dirty="0">
                <a:solidFill>
                  <a:schemeClr val="tx1">
                    <a:lumMod val="85000"/>
                    <a:lumOff val="15000"/>
                  </a:schemeClr>
                </a:solidFill>
              </a:rPr>
              <a:t>. </a:t>
            </a:r>
          </a:p>
          <a:p>
            <a:pPr eaLnBrk="1" fontAlgn="auto" hangingPunct="1">
              <a:spcAft>
                <a:spcPts val="0"/>
              </a:spcAft>
              <a:buFont typeface="Arial"/>
              <a:buChar char="•"/>
              <a:defRPr/>
            </a:pPr>
            <a:r>
              <a:rPr lang="en-US" sz="2800" dirty="0">
                <a:solidFill>
                  <a:schemeClr val="tx1">
                    <a:lumMod val="85000"/>
                    <a:lumOff val="15000"/>
                  </a:schemeClr>
                </a:solidFill>
              </a:rPr>
              <a:t>Bicarbonate (HCO</a:t>
            </a:r>
            <a:r>
              <a:rPr lang="en-US" sz="2800" baseline="-25000" dirty="0">
                <a:solidFill>
                  <a:schemeClr val="tx1">
                    <a:lumMod val="85000"/>
                    <a:lumOff val="15000"/>
                  </a:schemeClr>
                </a:solidFill>
              </a:rPr>
              <a:t>3</a:t>
            </a:r>
            <a:r>
              <a:rPr lang="en-US" sz="2800" dirty="0">
                <a:solidFill>
                  <a:schemeClr val="tx1">
                    <a:lumMod val="85000"/>
                    <a:lumOff val="15000"/>
                  </a:schemeClr>
                </a:solidFill>
              </a:rPr>
              <a:t>) is required as a source of CO</a:t>
            </a:r>
            <a:r>
              <a:rPr lang="en-US" sz="2800" baseline="-25000" dirty="0">
                <a:solidFill>
                  <a:schemeClr val="tx1">
                    <a:lumMod val="85000"/>
                    <a:lumOff val="15000"/>
                  </a:schemeClr>
                </a:solidFill>
              </a:rPr>
              <a:t>2</a:t>
            </a:r>
            <a:r>
              <a:rPr lang="en-US" sz="2800" dirty="0">
                <a:solidFill>
                  <a:schemeClr val="tx1">
                    <a:lumMod val="85000"/>
                    <a:lumOff val="15000"/>
                  </a:schemeClr>
                </a:solidFill>
              </a:rPr>
              <a:t> in the initial reaction for the </a:t>
            </a:r>
            <a:r>
              <a:rPr lang="en-US" sz="2800" dirty="0" err="1">
                <a:solidFill>
                  <a:schemeClr val="tx1">
                    <a:lumMod val="85000"/>
                    <a:lumOff val="15000"/>
                  </a:schemeClr>
                </a:solidFill>
              </a:rPr>
              <a:t>carboxylation</a:t>
            </a:r>
            <a:r>
              <a:rPr lang="en-US" sz="2800" dirty="0">
                <a:solidFill>
                  <a:schemeClr val="tx1">
                    <a:lumMod val="85000"/>
                    <a:lumOff val="15000"/>
                  </a:schemeClr>
                </a:solidFill>
              </a:rPr>
              <a:t> of acetyl-</a:t>
            </a:r>
            <a:r>
              <a:rPr lang="en-US" sz="2800" dirty="0" err="1">
                <a:solidFill>
                  <a:schemeClr val="tx1">
                    <a:lumMod val="85000"/>
                    <a:lumOff val="15000"/>
                  </a:schemeClr>
                </a:solidFill>
              </a:rPr>
              <a:t>CoA</a:t>
            </a:r>
            <a:r>
              <a:rPr lang="en-US" sz="2800" dirty="0">
                <a:solidFill>
                  <a:schemeClr val="tx1">
                    <a:lumMod val="85000"/>
                    <a:lumOff val="15000"/>
                  </a:schemeClr>
                </a:solidFill>
              </a:rPr>
              <a:t> to </a:t>
            </a:r>
            <a:r>
              <a:rPr lang="en-US" sz="2800" dirty="0" err="1">
                <a:solidFill>
                  <a:schemeClr val="tx1">
                    <a:lumMod val="85000"/>
                    <a:lumOff val="15000"/>
                  </a:schemeClr>
                </a:solidFill>
              </a:rPr>
              <a:t>malonyl-CoA</a:t>
            </a:r>
            <a:r>
              <a:rPr lang="en-US" sz="2800" dirty="0">
                <a:solidFill>
                  <a:schemeClr val="tx1">
                    <a:lumMod val="85000"/>
                    <a:lumOff val="15000"/>
                  </a:schemeClr>
                </a:solidFill>
              </a:rPr>
              <a:t> in the presence of ATP and acetyl-</a:t>
            </a:r>
            <a:r>
              <a:rPr lang="en-US" sz="2800" dirty="0" err="1">
                <a:solidFill>
                  <a:schemeClr val="tx1">
                    <a:lumMod val="85000"/>
                    <a:lumOff val="15000"/>
                  </a:schemeClr>
                </a:solidFill>
              </a:rPr>
              <a:t>CoA</a:t>
            </a:r>
            <a:endParaRPr lang="en-US" sz="2800" dirty="0">
              <a:solidFill>
                <a:schemeClr val="tx1">
                  <a:lumMod val="85000"/>
                  <a:lumOff val="15000"/>
                </a:schemeClr>
              </a:solidFill>
            </a:endParaRPr>
          </a:p>
          <a:p>
            <a:pPr eaLnBrk="1" fontAlgn="auto" hangingPunct="1">
              <a:spcAft>
                <a:spcPts val="0"/>
              </a:spcAft>
              <a:buFont typeface="Arial" panose="020B0604020202020204" pitchFamily="34" charset="0"/>
              <a:buNone/>
              <a:defRPr/>
            </a:pPr>
            <a:endParaRPr lang="en-US" sz="2800"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xmlns="" id="{0EF25F0C-EBDC-D272-FB12-DA5F0795F205}"/>
              </a:ext>
            </a:extLst>
          </p:cNvPr>
          <p:cNvSpPr>
            <a:spLocks noGrp="1"/>
          </p:cNvSpPr>
          <p:nvPr>
            <p:ph type="title"/>
          </p:nvPr>
        </p:nvSpPr>
        <p:spPr>
          <a:xfrm>
            <a:off x="228600" y="152400"/>
            <a:ext cx="8763000" cy="762000"/>
          </a:xfrm>
        </p:spPr>
        <p:txBody>
          <a:bodyPr/>
          <a:lstStyle/>
          <a:p>
            <a:pPr eaLnBrk="1" hangingPunct="1"/>
            <a:r>
              <a:rPr lang="en-US" altLang="en-US">
                <a:ln>
                  <a:noFill/>
                </a:ln>
              </a:rPr>
              <a:t>CONT’</a:t>
            </a:r>
          </a:p>
        </p:txBody>
      </p:sp>
      <p:sp>
        <p:nvSpPr>
          <p:cNvPr id="3" name="Content Placeholder 2">
            <a:extLst>
              <a:ext uri="{FF2B5EF4-FFF2-40B4-BE49-F238E27FC236}">
                <a16:creationId xmlns:a16="http://schemas.microsoft.com/office/drawing/2014/main" xmlns="" id="{B869A864-276C-E049-2F37-D6A8DB469C43}"/>
              </a:ext>
            </a:extLst>
          </p:cNvPr>
          <p:cNvSpPr>
            <a:spLocks noGrp="1"/>
          </p:cNvSpPr>
          <p:nvPr>
            <p:ph idx="1"/>
          </p:nvPr>
        </p:nvSpPr>
        <p:spPr>
          <a:xfrm>
            <a:off x="152400" y="838200"/>
            <a:ext cx="8763000" cy="6019800"/>
          </a:xfrm>
        </p:spPr>
        <p:txBody>
          <a:bodyPr rtlCol="0">
            <a:normAutofit lnSpcReduction="10000"/>
          </a:bodyPr>
          <a:lstStyle/>
          <a:p>
            <a:pPr eaLnBrk="1" fontAlgn="auto" hangingPunct="1">
              <a:spcAft>
                <a:spcPts val="0"/>
              </a:spcAft>
              <a:buFont typeface="Arial" panose="020B0604020202020204" pitchFamily="34" charset="0"/>
              <a:buNone/>
              <a:defRPr/>
            </a:pPr>
            <a:r>
              <a:rPr lang="en-US" sz="2800" dirty="0" err="1">
                <a:solidFill>
                  <a:schemeClr val="tx1">
                    <a:lumMod val="85000"/>
                    <a:lumOff val="15000"/>
                  </a:schemeClr>
                </a:solidFill>
              </a:rPr>
              <a:t>carboxylase</a:t>
            </a:r>
            <a:r>
              <a:rPr lang="en-US" sz="2800" dirty="0">
                <a:solidFill>
                  <a:schemeClr val="tx1">
                    <a:lumMod val="85000"/>
                    <a:lumOff val="15000"/>
                  </a:schemeClr>
                </a:solidFill>
              </a:rPr>
              <a:t> (ACC). </a:t>
            </a:r>
          </a:p>
          <a:p>
            <a:pPr eaLnBrk="1" fontAlgn="auto" hangingPunct="1">
              <a:spcAft>
                <a:spcPts val="0"/>
              </a:spcAft>
              <a:buFont typeface="Arial"/>
              <a:buChar char="•"/>
              <a:defRPr/>
            </a:pPr>
            <a:r>
              <a:rPr lang="en-US" sz="2800" dirty="0">
                <a:solidFill>
                  <a:schemeClr val="tx1">
                    <a:lumMod val="85000"/>
                    <a:lumOff val="15000"/>
                  </a:schemeClr>
                </a:solidFill>
              </a:rPr>
              <a:t>Acetyl-</a:t>
            </a:r>
            <a:r>
              <a:rPr lang="en-US" sz="2800" dirty="0" err="1">
                <a:solidFill>
                  <a:schemeClr val="tx1">
                    <a:lumMod val="85000"/>
                    <a:lumOff val="15000"/>
                  </a:schemeClr>
                </a:solidFill>
              </a:rPr>
              <a:t>CoA</a:t>
            </a:r>
            <a:r>
              <a:rPr lang="en-US" sz="2800" dirty="0">
                <a:solidFill>
                  <a:schemeClr val="tx1">
                    <a:lumMod val="85000"/>
                    <a:lumOff val="15000"/>
                  </a:schemeClr>
                </a:solidFill>
              </a:rPr>
              <a:t> </a:t>
            </a:r>
            <a:r>
              <a:rPr lang="en-US" sz="2800" dirty="0" err="1">
                <a:solidFill>
                  <a:schemeClr val="tx1">
                    <a:lumMod val="85000"/>
                    <a:lumOff val="15000"/>
                  </a:schemeClr>
                </a:solidFill>
              </a:rPr>
              <a:t>carboxylase</a:t>
            </a:r>
            <a:r>
              <a:rPr lang="en-US" sz="2800" dirty="0">
                <a:solidFill>
                  <a:schemeClr val="tx1">
                    <a:lumMod val="85000"/>
                    <a:lumOff val="15000"/>
                  </a:schemeClr>
                </a:solidFill>
              </a:rPr>
              <a:t> requires the B-vitamin biotin for its action. </a:t>
            </a:r>
          </a:p>
          <a:p>
            <a:pPr eaLnBrk="1" fontAlgn="auto" hangingPunct="1">
              <a:spcAft>
                <a:spcPts val="0"/>
              </a:spcAft>
              <a:buFont typeface="Arial" panose="020B0604020202020204" pitchFamily="34" charset="0"/>
              <a:buNone/>
              <a:defRPr/>
            </a:pPr>
            <a:r>
              <a:rPr lang="en-US" sz="2800" dirty="0">
                <a:solidFill>
                  <a:schemeClr val="tx1">
                    <a:lumMod val="85000"/>
                    <a:lumOff val="15000"/>
                  </a:schemeClr>
                </a:solidFill>
              </a:rPr>
              <a:t>  ATP + HCO</a:t>
            </a:r>
            <a:r>
              <a:rPr lang="en-US" sz="2800" baseline="-25000" dirty="0">
                <a:solidFill>
                  <a:schemeClr val="tx1">
                    <a:lumMod val="85000"/>
                    <a:lumOff val="15000"/>
                  </a:schemeClr>
                </a:solidFill>
              </a:rPr>
              <a:t>3</a:t>
            </a:r>
            <a:r>
              <a:rPr lang="en-US" sz="2800" dirty="0">
                <a:solidFill>
                  <a:schemeClr val="tx1">
                    <a:lumMod val="85000"/>
                    <a:lumOff val="15000"/>
                  </a:schemeClr>
                </a:solidFill>
              </a:rPr>
              <a:t>	                    ADP + </a:t>
            </a:r>
            <a:r>
              <a:rPr lang="en-US" sz="2800" i="1" dirty="0">
                <a:solidFill>
                  <a:schemeClr val="tx1">
                    <a:lumMod val="85000"/>
                    <a:lumOff val="15000"/>
                  </a:schemeClr>
                </a:solidFill>
              </a:rPr>
              <a:t>P</a:t>
            </a:r>
            <a:r>
              <a:rPr lang="en-US" sz="2800" i="1" baseline="-25000" dirty="0">
                <a:solidFill>
                  <a:schemeClr val="tx1">
                    <a:lumMod val="85000"/>
                    <a:lumOff val="15000"/>
                  </a:schemeClr>
                </a:solidFill>
              </a:rPr>
              <a:t>i</a:t>
            </a:r>
            <a:endParaRPr lang="en-US" sz="2800" dirty="0">
              <a:solidFill>
                <a:schemeClr val="tx1">
                  <a:lumMod val="85000"/>
                  <a:lumOff val="15000"/>
                </a:schemeClr>
              </a:solidFill>
            </a:endParaRPr>
          </a:p>
          <a:p>
            <a:pPr eaLnBrk="1" fontAlgn="auto" hangingPunct="1">
              <a:spcAft>
                <a:spcPts val="0"/>
              </a:spcAft>
              <a:buFont typeface="Arial" panose="020B0604020202020204" pitchFamily="34" charset="0"/>
              <a:buNone/>
              <a:defRPr/>
            </a:pPr>
            <a:r>
              <a:rPr lang="en-US" sz="2800" dirty="0">
                <a:solidFill>
                  <a:srgbClr val="FF0000"/>
                </a:solidFill>
              </a:rPr>
              <a:t>Acetyl-</a:t>
            </a:r>
            <a:r>
              <a:rPr lang="en-US" sz="2800" dirty="0" err="1">
                <a:solidFill>
                  <a:srgbClr val="FF0000"/>
                </a:solidFill>
              </a:rPr>
              <a:t>CoA</a:t>
            </a:r>
            <a:r>
              <a:rPr lang="en-US" sz="2800" dirty="0">
                <a:solidFill>
                  <a:srgbClr val="FF0000"/>
                </a:solidFill>
              </a:rPr>
              <a:t>                                  </a:t>
            </a:r>
            <a:r>
              <a:rPr lang="en-US" sz="2800" dirty="0" err="1">
                <a:solidFill>
                  <a:srgbClr val="FF0000"/>
                </a:solidFill>
              </a:rPr>
              <a:t>Malonyl-CoA</a:t>
            </a:r>
            <a:r>
              <a:rPr lang="en-US" sz="2800" dirty="0">
                <a:solidFill>
                  <a:srgbClr val="FF0000"/>
                </a:solidFill>
              </a:rPr>
              <a:t> </a:t>
            </a:r>
          </a:p>
          <a:p>
            <a:pPr eaLnBrk="1" fontAlgn="auto" hangingPunct="1">
              <a:spcAft>
                <a:spcPts val="0"/>
              </a:spcAft>
              <a:buFont typeface="Arial"/>
              <a:buChar char="•"/>
              <a:defRPr/>
            </a:pPr>
            <a:endParaRPr lang="en-US" sz="2800" dirty="0">
              <a:solidFill>
                <a:srgbClr val="FF0000"/>
              </a:solidFill>
            </a:endParaRPr>
          </a:p>
          <a:p>
            <a:pPr eaLnBrk="1" fontAlgn="auto" hangingPunct="1">
              <a:spcAft>
                <a:spcPts val="0"/>
              </a:spcAft>
              <a:buFont typeface="Arial"/>
              <a:buChar char="•"/>
              <a:defRPr/>
            </a:pPr>
            <a:endParaRPr lang="en-US" sz="2800" dirty="0">
              <a:solidFill>
                <a:schemeClr val="tx1">
                  <a:lumMod val="85000"/>
                  <a:lumOff val="15000"/>
                </a:schemeClr>
              </a:solidFill>
            </a:endParaRPr>
          </a:p>
          <a:p>
            <a:pPr eaLnBrk="1" fontAlgn="auto" hangingPunct="1">
              <a:spcAft>
                <a:spcPts val="0"/>
              </a:spcAft>
              <a:buFont typeface="Arial"/>
              <a:buChar char="•"/>
              <a:defRPr/>
            </a:pPr>
            <a:endParaRPr lang="en-US" sz="2800" dirty="0">
              <a:solidFill>
                <a:schemeClr val="tx1">
                  <a:lumMod val="85000"/>
                  <a:lumOff val="15000"/>
                </a:schemeClr>
              </a:solidFill>
            </a:endParaRPr>
          </a:p>
          <a:p>
            <a:pPr eaLnBrk="1" fontAlgn="auto" hangingPunct="1">
              <a:spcAft>
                <a:spcPts val="0"/>
              </a:spcAft>
              <a:buFont typeface="Arial"/>
              <a:buChar char="•"/>
              <a:defRPr/>
            </a:pPr>
            <a:r>
              <a:rPr lang="en-US" sz="2800" dirty="0">
                <a:solidFill>
                  <a:schemeClr val="tx1">
                    <a:lumMod val="85000"/>
                    <a:lumOff val="15000"/>
                  </a:schemeClr>
                </a:solidFill>
              </a:rPr>
              <a:t>After the formation of </a:t>
            </a:r>
            <a:r>
              <a:rPr lang="en-US" sz="2800" dirty="0" err="1">
                <a:solidFill>
                  <a:schemeClr val="tx1">
                    <a:lumMod val="85000"/>
                    <a:lumOff val="15000"/>
                  </a:schemeClr>
                </a:solidFill>
              </a:rPr>
              <a:t>malonyl-CoA</a:t>
            </a:r>
            <a:r>
              <a:rPr lang="en-US" sz="2800" dirty="0">
                <a:solidFill>
                  <a:schemeClr val="tx1">
                    <a:lumMod val="85000"/>
                    <a:lumOff val="15000"/>
                  </a:schemeClr>
                </a:solidFill>
              </a:rPr>
              <a:t>, an enzyme called fatty acid </a:t>
            </a:r>
            <a:r>
              <a:rPr lang="en-US" sz="2800" dirty="0" err="1">
                <a:solidFill>
                  <a:schemeClr val="tx1">
                    <a:lumMod val="85000"/>
                    <a:lumOff val="15000"/>
                  </a:schemeClr>
                </a:solidFill>
              </a:rPr>
              <a:t>synthase</a:t>
            </a:r>
            <a:r>
              <a:rPr lang="en-US" sz="2800" dirty="0">
                <a:solidFill>
                  <a:schemeClr val="tx1">
                    <a:lumMod val="85000"/>
                    <a:lumOff val="15000"/>
                  </a:schemeClr>
                </a:solidFill>
              </a:rPr>
              <a:t> complex takes over. </a:t>
            </a:r>
          </a:p>
          <a:p>
            <a:pPr eaLnBrk="1" fontAlgn="auto" hangingPunct="1">
              <a:spcAft>
                <a:spcPts val="0"/>
              </a:spcAft>
              <a:buFont typeface="Arial"/>
              <a:buChar char="•"/>
              <a:defRPr/>
            </a:pPr>
            <a:r>
              <a:rPr lang="en-US" sz="2800" dirty="0">
                <a:solidFill>
                  <a:schemeClr val="tx1">
                    <a:lumMod val="85000"/>
                    <a:lumOff val="15000"/>
                  </a:schemeClr>
                </a:solidFill>
              </a:rPr>
              <a:t>It is called a complex because it is a multi-enzyme system consisting of seven enzyme activities on one polypeptide chain.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EA76DB-4170-3B6D-A619-67976C6D588B}"/>
              </a:ext>
            </a:extLst>
          </p:cNvPr>
          <p:cNvSpPr>
            <a:spLocks noGrp="1"/>
          </p:cNvSpPr>
          <p:nvPr>
            <p:ph type="title"/>
          </p:nvPr>
        </p:nvSpPr>
        <p:spPr>
          <a:xfrm>
            <a:off x="457200" y="0"/>
            <a:ext cx="8229600" cy="685800"/>
          </a:xfrm>
        </p:spPr>
        <p:txBody>
          <a:bodyPr rtlCol="0">
            <a:normAutofit fontScale="90000"/>
          </a:bodyPr>
          <a:lstStyle/>
          <a:p>
            <a:pPr eaLnBrk="1" fontAlgn="auto" hangingPunct="1">
              <a:spcAft>
                <a:spcPts val="0"/>
              </a:spcAft>
              <a:defRPr/>
            </a:pPr>
            <a:r>
              <a:rPr lang="en-US" dirty="0">
                <a:solidFill>
                  <a:schemeClr val="tx1">
                    <a:lumMod val="85000"/>
                    <a:lumOff val="15000"/>
                  </a:schemeClr>
                </a:solidFill>
              </a:rPr>
              <a:t>CONT’</a:t>
            </a:r>
          </a:p>
        </p:txBody>
      </p:sp>
      <p:sp>
        <p:nvSpPr>
          <p:cNvPr id="20483" name="Content Placeholder 2">
            <a:extLst>
              <a:ext uri="{FF2B5EF4-FFF2-40B4-BE49-F238E27FC236}">
                <a16:creationId xmlns:a16="http://schemas.microsoft.com/office/drawing/2014/main" xmlns="" id="{9E7318D1-AEF1-9833-9009-C14EE958B096}"/>
              </a:ext>
            </a:extLst>
          </p:cNvPr>
          <p:cNvSpPr>
            <a:spLocks noGrp="1"/>
          </p:cNvSpPr>
          <p:nvPr>
            <p:ph idx="1"/>
          </p:nvPr>
        </p:nvSpPr>
        <p:spPr>
          <a:xfrm>
            <a:off x="152400" y="609600"/>
            <a:ext cx="8763000" cy="6096000"/>
          </a:xfrm>
        </p:spPr>
        <p:txBody>
          <a:bodyPr/>
          <a:lstStyle/>
          <a:p>
            <a:pPr algn="just" eaLnBrk="1" hangingPunct="1"/>
            <a:r>
              <a:rPr lang="en-US" altLang="en-US" sz="2800">
                <a:latin typeface="Times New Roman" panose="02020603050405020304" pitchFamily="18" charset="0"/>
                <a:cs typeface="Times New Roman" panose="02020603050405020304" pitchFamily="18" charset="0"/>
              </a:rPr>
              <a:t>The basic building blocks of fatty acid synthesis (acetyl and malonyl groups) are not transferred directly from CoA to the growing fatty acid chain.</a:t>
            </a:r>
          </a:p>
          <a:p>
            <a:pPr algn="just" eaLnBrk="1" hangingPunct="1"/>
            <a:r>
              <a:rPr lang="en-US" altLang="en-US" sz="2800">
                <a:latin typeface="Times New Roman" panose="02020603050405020304" pitchFamily="18" charset="0"/>
                <a:cs typeface="Times New Roman" panose="02020603050405020304" pitchFamily="18" charset="0"/>
              </a:rPr>
              <a:t>Rather, they are first passed to acyl carrier protein (ACP) which takes over the role of CoA.</a:t>
            </a:r>
          </a:p>
          <a:p>
            <a:pPr algn="just" eaLnBrk="1" hangingPunct="1"/>
            <a:r>
              <a:rPr lang="en-US" altLang="en-US" sz="2800">
                <a:latin typeface="Times New Roman" panose="02020603050405020304" pitchFamily="18" charset="0"/>
                <a:cs typeface="Times New Roman" panose="02020603050405020304" pitchFamily="18" charset="0"/>
              </a:rPr>
              <a:t>The ACP contains the B-vitamin pantothenic acid in the form of 4-phosphopantetheine. </a:t>
            </a:r>
          </a:p>
          <a:p>
            <a:pPr algn="just" eaLnBrk="1" hangingPunct="1"/>
            <a:r>
              <a:rPr lang="en-US" altLang="en-US" sz="2800">
                <a:latin typeface="Times New Roman" panose="02020603050405020304" pitchFamily="18" charset="0"/>
                <a:cs typeface="Times New Roman" panose="02020603050405020304" pitchFamily="18" charset="0"/>
              </a:rPr>
              <a:t>Thus, ACP can be considered as a version of coenzyme A, specialized for use in fatty acid biosynthesis.</a:t>
            </a:r>
          </a:p>
          <a:p>
            <a:pPr algn="just" eaLnBrk="1" hangingPunct="1"/>
            <a:r>
              <a:rPr lang="en-US" altLang="en-US" sz="2800">
                <a:latin typeface="Times New Roman" panose="02020603050405020304" pitchFamily="18" charset="0"/>
                <a:cs typeface="Times New Roman" panose="02020603050405020304" pitchFamily="18" charset="0"/>
              </a:rPr>
              <a:t> Through a chain of reactions catalyzed by the activities of fatty acid synthase complex, a 16-carbon fatty acid called palmitate is produced.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F81CE5-2B16-6706-FB57-FB10FC1B178E}"/>
              </a:ext>
            </a:extLst>
          </p:cNvPr>
          <p:cNvSpPr>
            <a:spLocks noGrp="1"/>
          </p:cNvSpPr>
          <p:nvPr>
            <p:ph type="title"/>
          </p:nvPr>
        </p:nvSpPr>
        <p:spPr>
          <a:xfrm>
            <a:off x="457200" y="274638"/>
            <a:ext cx="8229600" cy="487362"/>
          </a:xfrm>
        </p:spPr>
        <p:txBody>
          <a:bodyPr rtlCol="0">
            <a:normAutofit fontScale="90000"/>
          </a:bodyPr>
          <a:lstStyle/>
          <a:p>
            <a:pPr eaLnBrk="1" fontAlgn="auto" hangingPunct="1">
              <a:spcAft>
                <a:spcPts val="0"/>
              </a:spcAft>
              <a:defRPr/>
            </a:pPr>
            <a:r>
              <a:rPr lang="en-US" dirty="0">
                <a:solidFill>
                  <a:schemeClr val="tx1">
                    <a:lumMod val="85000"/>
                    <a:lumOff val="15000"/>
                  </a:schemeClr>
                </a:solidFill>
              </a:rPr>
              <a:t/>
            </a:r>
            <a:br>
              <a:rPr lang="en-US" dirty="0">
                <a:solidFill>
                  <a:schemeClr val="tx1">
                    <a:lumMod val="85000"/>
                    <a:lumOff val="15000"/>
                  </a:schemeClr>
                </a:solidFill>
              </a:rPr>
            </a:br>
            <a:r>
              <a:rPr lang="en-US" dirty="0">
                <a:solidFill>
                  <a:schemeClr val="tx1">
                    <a:lumMod val="85000"/>
                    <a:lumOff val="15000"/>
                  </a:schemeClr>
                </a:solidFill>
              </a:rPr>
              <a:t/>
            </a:r>
            <a:br>
              <a:rPr lang="en-US" dirty="0">
                <a:solidFill>
                  <a:schemeClr val="tx1">
                    <a:lumMod val="85000"/>
                    <a:lumOff val="15000"/>
                  </a:schemeClr>
                </a:solidFill>
              </a:rPr>
            </a:br>
            <a:r>
              <a:rPr lang="en-US" dirty="0">
                <a:solidFill>
                  <a:srgbClr val="FF0000"/>
                </a:solidFill>
                <a:latin typeface="Times New Roman" pitchFamily="18" charset="0"/>
                <a:cs typeface="Times New Roman" pitchFamily="18" charset="0"/>
              </a:rPr>
              <a:t>Summary of the reactions: </a:t>
            </a:r>
            <a:br>
              <a:rPr lang="en-US" dirty="0">
                <a:solidFill>
                  <a:srgbClr val="FF0000"/>
                </a:solidFill>
                <a:latin typeface="Times New Roman" pitchFamily="18" charset="0"/>
                <a:cs typeface="Times New Roman" pitchFamily="18" charset="0"/>
              </a:rPr>
            </a:br>
            <a:r>
              <a:rPr lang="en-US" dirty="0">
                <a:solidFill>
                  <a:srgbClr val="FF0000"/>
                </a:solidFill>
                <a:latin typeface="Times New Roman" pitchFamily="18" charset="0"/>
                <a:cs typeface="Times New Roman" pitchFamily="18" charset="0"/>
              </a:rPr>
              <a:t> </a:t>
            </a:r>
            <a:br>
              <a:rPr lang="en-US" dirty="0">
                <a:solidFill>
                  <a:srgbClr val="FF0000"/>
                </a:solidFill>
                <a:latin typeface="Times New Roman" pitchFamily="18" charset="0"/>
                <a:cs typeface="Times New Roman" pitchFamily="18" charset="0"/>
              </a:rPr>
            </a:br>
            <a:endParaRPr lang="en-US" dirty="0">
              <a:solidFill>
                <a:srgbClr val="FF0000"/>
              </a:solidFill>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A6EBAE74-D3FC-6DB5-F178-A382DB599E2F}"/>
              </a:ext>
            </a:extLst>
          </p:cNvPr>
          <p:cNvSpPr>
            <a:spLocks noGrp="1"/>
          </p:cNvSpPr>
          <p:nvPr>
            <p:ph idx="1"/>
          </p:nvPr>
        </p:nvSpPr>
        <p:spPr>
          <a:xfrm>
            <a:off x="228600" y="838200"/>
            <a:ext cx="8763000" cy="5791200"/>
          </a:xfrm>
        </p:spPr>
        <p:txBody>
          <a:bodyPr rtlCol="0">
            <a:normAutofit fontScale="85000" lnSpcReduction="10000"/>
          </a:bodyPr>
          <a:lstStyle/>
          <a:p>
            <a:pPr algn="just" eaLnBrk="1" fontAlgn="auto" hangingPunct="1">
              <a:spcAft>
                <a:spcPts val="0"/>
              </a:spcAft>
              <a:buFont typeface="Arial"/>
              <a:buChar char="•"/>
              <a:defRPr/>
            </a:pPr>
            <a:r>
              <a:rPr lang="en-US" sz="3300" dirty="0" err="1">
                <a:solidFill>
                  <a:schemeClr val="tx1">
                    <a:lumMod val="85000"/>
                    <a:lumOff val="15000"/>
                  </a:schemeClr>
                </a:solidFill>
                <a:latin typeface="Times New Roman" pitchFamily="18" charset="0"/>
                <a:cs typeface="Times New Roman" pitchFamily="18" charset="0"/>
              </a:rPr>
              <a:t>Malonyl-CoA</a:t>
            </a:r>
            <a:r>
              <a:rPr lang="en-US" sz="3300" dirty="0">
                <a:solidFill>
                  <a:schemeClr val="tx1">
                    <a:lumMod val="85000"/>
                    <a:lumOff val="15000"/>
                  </a:schemeClr>
                </a:solidFill>
                <a:latin typeface="Times New Roman" pitchFamily="18" charset="0"/>
                <a:cs typeface="Times New Roman" pitchFamily="18" charset="0"/>
              </a:rPr>
              <a:t> and acetyl-</a:t>
            </a:r>
            <a:r>
              <a:rPr lang="en-US" sz="3300" dirty="0" err="1">
                <a:solidFill>
                  <a:schemeClr val="tx1">
                    <a:lumMod val="85000"/>
                    <a:lumOff val="15000"/>
                  </a:schemeClr>
                </a:solidFill>
                <a:latin typeface="Times New Roman" pitchFamily="18" charset="0"/>
                <a:cs typeface="Times New Roman" pitchFamily="18" charset="0"/>
              </a:rPr>
              <a:t>CoA</a:t>
            </a:r>
            <a:r>
              <a:rPr lang="en-US" sz="3300" dirty="0">
                <a:solidFill>
                  <a:schemeClr val="tx1">
                    <a:lumMod val="85000"/>
                    <a:lumOff val="15000"/>
                  </a:schemeClr>
                </a:solidFill>
                <a:latin typeface="Times New Roman" pitchFamily="18" charset="0"/>
                <a:cs typeface="Times New Roman" pitchFamily="18" charset="0"/>
              </a:rPr>
              <a:t> are attached to </a:t>
            </a:r>
            <a:r>
              <a:rPr lang="en-US" sz="3300" dirty="0" err="1">
                <a:solidFill>
                  <a:schemeClr val="tx1">
                    <a:lumMod val="85000"/>
                    <a:lumOff val="15000"/>
                  </a:schemeClr>
                </a:solidFill>
                <a:latin typeface="Times New Roman" pitchFamily="18" charset="0"/>
                <a:cs typeface="Times New Roman" pitchFamily="18" charset="0"/>
              </a:rPr>
              <a:t>Acyl</a:t>
            </a:r>
            <a:r>
              <a:rPr lang="en-US" sz="3300" dirty="0">
                <a:solidFill>
                  <a:schemeClr val="tx1">
                    <a:lumMod val="85000"/>
                    <a:lumOff val="15000"/>
                  </a:schemeClr>
                </a:solidFill>
                <a:latin typeface="Times New Roman" pitchFamily="18" charset="0"/>
                <a:cs typeface="Times New Roman" pitchFamily="18" charset="0"/>
              </a:rPr>
              <a:t> Carrier Protein (ACP) to form </a:t>
            </a:r>
            <a:r>
              <a:rPr lang="en-US" sz="3300" dirty="0" err="1">
                <a:solidFill>
                  <a:schemeClr val="tx1">
                    <a:lumMod val="85000"/>
                    <a:lumOff val="15000"/>
                  </a:schemeClr>
                </a:solidFill>
                <a:latin typeface="Times New Roman" pitchFamily="18" charset="0"/>
                <a:cs typeface="Times New Roman" pitchFamily="18" charset="0"/>
              </a:rPr>
              <a:t>malonyl</a:t>
            </a:r>
            <a:r>
              <a:rPr lang="en-US" sz="3300" dirty="0">
                <a:solidFill>
                  <a:schemeClr val="tx1">
                    <a:lumMod val="85000"/>
                    <a:lumOff val="15000"/>
                  </a:schemeClr>
                </a:solidFill>
                <a:latin typeface="Times New Roman" pitchFamily="18" charset="0"/>
                <a:cs typeface="Times New Roman" pitchFamily="18" charset="0"/>
              </a:rPr>
              <a:t>-ACP and acetyl-ACP respectively.</a:t>
            </a:r>
          </a:p>
          <a:p>
            <a:pPr algn="just" eaLnBrk="1" fontAlgn="auto" hangingPunct="1">
              <a:spcAft>
                <a:spcPts val="0"/>
              </a:spcAft>
              <a:buFont typeface="Arial"/>
              <a:buChar char="•"/>
              <a:defRPr/>
            </a:pPr>
            <a:r>
              <a:rPr lang="en-US" sz="3300" dirty="0" err="1">
                <a:solidFill>
                  <a:schemeClr val="tx1">
                    <a:lumMod val="85000"/>
                    <a:lumOff val="15000"/>
                  </a:schemeClr>
                </a:solidFill>
                <a:latin typeface="Times New Roman" pitchFamily="18" charset="0"/>
                <a:cs typeface="Times New Roman" pitchFamily="18" charset="0"/>
              </a:rPr>
              <a:t>Malonyl</a:t>
            </a:r>
            <a:r>
              <a:rPr lang="en-US" sz="3300" dirty="0">
                <a:solidFill>
                  <a:schemeClr val="tx1">
                    <a:lumMod val="85000"/>
                    <a:lumOff val="15000"/>
                  </a:schemeClr>
                </a:solidFill>
                <a:latin typeface="Times New Roman" pitchFamily="18" charset="0"/>
                <a:cs typeface="Times New Roman" pitchFamily="18" charset="0"/>
              </a:rPr>
              <a:t>-ACP and acetyl-ACP get condensed to </a:t>
            </a:r>
            <a:r>
              <a:rPr lang="en-US" sz="3300" dirty="0" err="1">
                <a:solidFill>
                  <a:schemeClr val="tx1">
                    <a:lumMod val="85000"/>
                    <a:lumOff val="15000"/>
                  </a:schemeClr>
                </a:solidFill>
                <a:latin typeface="Times New Roman" pitchFamily="18" charset="0"/>
                <a:cs typeface="Times New Roman" pitchFamily="18" charset="0"/>
              </a:rPr>
              <a:t>ketoacyl</a:t>
            </a:r>
            <a:r>
              <a:rPr lang="en-US" sz="3300" dirty="0">
                <a:solidFill>
                  <a:schemeClr val="tx1">
                    <a:lumMod val="85000"/>
                    <a:lumOff val="15000"/>
                  </a:schemeClr>
                </a:solidFill>
                <a:latin typeface="Times New Roman" pitchFamily="18" charset="0"/>
                <a:cs typeface="Times New Roman" pitchFamily="18" charset="0"/>
              </a:rPr>
              <a:t>-ACP by a condensing enzyme </a:t>
            </a:r>
            <a:r>
              <a:rPr lang="en-US" sz="3300" dirty="0" err="1">
                <a:solidFill>
                  <a:schemeClr val="tx1">
                    <a:lumMod val="85000"/>
                    <a:lumOff val="15000"/>
                  </a:schemeClr>
                </a:solidFill>
                <a:latin typeface="Times New Roman" pitchFamily="18" charset="0"/>
                <a:cs typeface="Times New Roman" pitchFamily="18" charset="0"/>
              </a:rPr>
              <a:t>ketoacyl</a:t>
            </a:r>
            <a:r>
              <a:rPr lang="en-US" sz="3300" dirty="0">
                <a:solidFill>
                  <a:schemeClr val="tx1">
                    <a:lumMod val="85000"/>
                    <a:lumOff val="15000"/>
                  </a:schemeClr>
                </a:solidFill>
                <a:latin typeface="Times New Roman" pitchFamily="18" charset="0"/>
                <a:cs typeface="Times New Roman" pitchFamily="18" charset="0"/>
              </a:rPr>
              <a:t> </a:t>
            </a:r>
            <a:r>
              <a:rPr lang="en-US" sz="3300" dirty="0" err="1">
                <a:solidFill>
                  <a:schemeClr val="tx1">
                    <a:lumMod val="85000"/>
                    <a:lumOff val="15000"/>
                  </a:schemeClr>
                </a:solidFill>
                <a:latin typeface="Times New Roman" pitchFamily="18" charset="0"/>
                <a:cs typeface="Times New Roman" pitchFamily="18" charset="0"/>
              </a:rPr>
              <a:t>synthase</a:t>
            </a:r>
            <a:r>
              <a:rPr lang="en-US" sz="3300" dirty="0">
                <a:solidFill>
                  <a:schemeClr val="tx1">
                    <a:lumMod val="85000"/>
                    <a:lumOff val="15000"/>
                  </a:schemeClr>
                </a:solidFill>
                <a:latin typeface="Times New Roman" pitchFamily="18" charset="0"/>
                <a:cs typeface="Times New Roman" pitchFamily="18" charset="0"/>
              </a:rPr>
              <a:t>.</a:t>
            </a:r>
          </a:p>
          <a:p>
            <a:pPr algn="just" eaLnBrk="1" fontAlgn="auto" hangingPunct="1">
              <a:spcAft>
                <a:spcPts val="0"/>
              </a:spcAft>
              <a:buFont typeface="Arial"/>
              <a:buChar char="•"/>
              <a:defRPr/>
            </a:pPr>
            <a:r>
              <a:rPr lang="en-US" sz="3300" dirty="0" err="1">
                <a:solidFill>
                  <a:schemeClr val="tx1">
                    <a:lumMod val="85000"/>
                    <a:lumOff val="15000"/>
                  </a:schemeClr>
                </a:solidFill>
                <a:latin typeface="Times New Roman" pitchFamily="18" charset="0"/>
                <a:cs typeface="Times New Roman" pitchFamily="18" charset="0"/>
              </a:rPr>
              <a:t>Ketoacyl</a:t>
            </a:r>
            <a:r>
              <a:rPr lang="en-US" sz="3300" dirty="0">
                <a:solidFill>
                  <a:schemeClr val="tx1">
                    <a:lumMod val="85000"/>
                    <a:lumOff val="15000"/>
                  </a:schemeClr>
                </a:solidFill>
                <a:latin typeface="Times New Roman" pitchFamily="18" charset="0"/>
                <a:cs typeface="Times New Roman" pitchFamily="18" charset="0"/>
              </a:rPr>
              <a:t>-ACP gets reduced to Hydroxyl </a:t>
            </a:r>
            <a:r>
              <a:rPr lang="en-US" sz="3300" dirty="0" err="1">
                <a:solidFill>
                  <a:schemeClr val="tx1">
                    <a:lumMod val="85000"/>
                    <a:lumOff val="15000"/>
                  </a:schemeClr>
                </a:solidFill>
                <a:latin typeface="Times New Roman" pitchFamily="18" charset="0"/>
                <a:cs typeface="Times New Roman" pitchFamily="18" charset="0"/>
              </a:rPr>
              <a:t>acyl</a:t>
            </a:r>
            <a:r>
              <a:rPr lang="en-US" sz="3300" dirty="0">
                <a:solidFill>
                  <a:schemeClr val="tx1">
                    <a:lumMod val="85000"/>
                    <a:lumOff val="15000"/>
                  </a:schemeClr>
                </a:solidFill>
                <a:latin typeface="Times New Roman" pitchFamily="18" charset="0"/>
                <a:cs typeface="Times New Roman" pitchFamily="18" charset="0"/>
              </a:rPr>
              <a:t>-ACP by an enzyme called </a:t>
            </a:r>
            <a:r>
              <a:rPr lang="en-US" sz="3300" dirty="0" err="1">
                <a:solidFill>
                  <a:schemeClr val="tx1">
                    <a:lumMod val="85000"/>
                    <a:lumOff val="15000"/>
                  </a:schemeClr>
                </a:solidFill>
                <a:latin typeface="Times New Roman" pitchFamily="18" charset="0"/>
                <a:cs typeface="Times New Roman" pitchFamily="18" charset="0"/>
              </a:rPr>
              <a:t>Ketoacyl</a:t>
            </a:r>
            <a:r>
              <a:rPr lang="en-US" sz="3300" dirty="0">
                <a:solidFill>
                  <a:schemeClr val="tx1">
                    <a:lumMod val="85000"/>
                    <a:lumOff val="15000"/>
                  </a:schemeClr>
                </a:solidFill>
                <a:latin typeface="Times New Roman" pitchFamily="18" charset="0"/>
                <a:cs typeface="Times New Roman" pitchFamily="18" charset="0"/>
              </a:rPr>
              <a:t> </a:t>
            </a:r>
            <a:r>
              <a:rPr lang="en-US" sz="3300" dirty="0" err="1">
                <a:solidFill>
                  <a:schemeClr val="tx1">
                    <a:lumMod val="85000"/>
                    <a:lumOff val="15000"/>
                  </a:schemeClr>
                </a:solidFill>
                <a:latin typeface="Times New Roman" pitchFamily="18" charset="0"/>
                <a:cs typeface="Times New Roman" pitchFamily="18" charset="0"/>
              </a:rPr>
              <a:t>reductase</a:t>
            </a:r>
            <a:r>
              <a:rPr lang="en-US" sz="3300" dirty="0">
                <a:solidFill>
                  <a:schemeClr val="tx1">
                    <a:lumMod val="85000"/>
                    <a:lumOff val="15000"/>
                  </a:schemeClr>
                </a:solidFill>
                <a:latin typeface="Times New Roman" pitchFamily="18" charset="0"/>
                <a:cs typeface="Times New Roman" pitchFamily="18" charset="0"/>
              </a:rPr>
              <a:t>. It requires NADPH</a:t>
            </a:r>
            <a:r>
              <a:rPr lang="en-US" sz="3300" baseline="-25000" dirty="0">
                <a:solidFill>
                  <a:schemeClr val="tx1">
                    <a:lumMod val="85000"/>
                    <a:lumOff val="15000"/>
                  </a:schemeClr>
                </a:solidFill>
                <a:latin typeface="Times New Roman" pitchFamily="18" charset="0"/>
                <a:cs typeface="Times New Roman" pitchFamily="18" charset="0"/>
              </a:rPr>
              <a:t>2</a:t>
            </a:r>
            <a:r>
              <a:rPr lang="en-US" sz="3300" dirty="0">
                <a:solidFill>
                  <a:schemeClr val="tx1">
                    <a:lumMod val="85000"/>
                    <a:lumOff val="15000"/>
                  </a:schemeClr>
                </a:solidFill>
                <a:latin typeface="Times New Roman" pitchFamily="18" charset="0"/>
                <a:cs typeface="Times New Roman" pitchFamily="18" charset="0"/>
              </a:rPr>
              <a:t>.</a:t>
            </a:r>
          </a:p>
          <a:p>
            <a:pPr algn="just" eaLnBrk="1" fontAlgn="auto" hangingPunct="1">
              <a:spcAft>
                <a:spcPts val="0"/>
              </a:spcAft>
              <a:buFont typeface="Arial"/>
              <a:buChar char="•"/>
              <a:defRPr/>
            </a:pPr>
            <a:r>
              <a:rPr lang="en-US" sz="3300" dirty="0">
                <a:solidFill>
                  <a:schemeClr val="tx1">
                    <a:lumMod val="85000"/>
                    <a:lumOff val="15000"/>
                  </a:schemeClr>
                </a:solidFill>
                <a:latin typeface="Times New Roman" pitchFamily="18" charset="0"/>
                <a:cs typeface="Times New Roman" pitchFamily="18" charset="0"/>
              </a:rPr>
              <a:t>Hydroxyl </a:t>
            </a:r>
            <a:r>
              <a:rPr lang="en-US" sz="3300" dirty="0" err="1">
                <a:solidFill>
                  <a:schemeClr val="tx1">
                    <a:lumMod val="85000"/>
                    <a:lumOff val="15000"/>
                  </a:schemeClr>
                </a:solidFill>
                <a:latin typeface="Times New Roman" pitchFamily="18" charset="0"/>
                <a:cs typeface="Times New Roman" pitchFamily="18" charset="0"/>
              </a:rPr>
              <a:t>acyl</a:t>
            </a:r>
            <a:r>
              <a:rPr lang="en-US" sz="3300" dirty="0">
                <a:solidFill>
                  <a:schemeClr val="tx1">
                    <a:lumMod val="85000"/>
                    <a:lumOff val="15000"/>
                  </a:schemeClr>
                </a:solidFill>
                <a:latin typeface="Times New Roman" pitchFamily="18" charset="0"/>
                <a:cs typeface="Times New Roman" pitchFamily="18" charset="0"/>
              </a:rPr>
              <a:t>-ACP loses one molecule of water, and forms 2-enoyl </a:t>
            </a:r>
            <a:r>
              <a:rPr lang="en-US" sz="3300" dirty="0" err="1">
                <a:solidFill>
                  <a:schemeClr val="tx1">
                    <a:lumMod val="85000"/>
                    <a:lumOff val="15000"/>
                  </a:schemeClr>
                </a:solidFill>
                <a:latin typeface="Times New Roman" pitchFamily="18" charset="0"/>
                <a:cs typeface="Times New Roman" pitchFamily="18" charset="0"/>
              </a:rPr>
              <a:t>acyl</a:t>
            </a:r>
            <a:r>
              <a:rPr lang="en-US" sz="3300" dirty="0">
                <a:solidFill>
                  <a:schemeClr val="tx1">
                    <a:lumMod val="85000"/>
                    <a:lumOff val="15000"/>
                  </a:schemeClr>
                </a:solidFill>
                <a:latin typeface="Times New Roman" pitchFamily="18" charset="0"/>
                <a:cs typeface="Times New Roman" pitchFamily="18" charset="0"/>
              </a:rPr>
              <a:t> ACP. The enzyme </a:t>
            </a:r>
            <a:r>
              <a:rPr lang="en-US" sz="3300" dirty="0" err="1">
                <a:solidFill>
                  <a:schemeClr val="tx1">
                    <a:lumMod val="85000"/>
                    <a:lumOff val="15000"/>
                  </a:schemeClr>
                </a:solidFill>
                <a:latin typeface="Times New Roman" pitchFamily="18" charset="0"/>
                <a:cs typeface="Times New Roman" pitchFamily="18" charset="0"/>
              </a:rPr>
              <a:t>dehydratase</a:t>
            </a:r>
            <a:r>
              <a:rPr lang="en-US" sz="3300" dirty="0">
                <a:solidFill>
                  <a:schemeClr val="tx1">
                    <a:lumMod val="85000"/>
                    <a:lumOff val="15000"/>
                  </a:schemeClr>
                </a:solidFill>
                <a:latin typeface="Times New Roman" pitchFamily="18" charset="0"/>
                <a:cs typeface="Times New Roman" pitchFamily="18" charset="0"/>
              </a:rPr>
              <a:t> catalyzes the reaction.</a:t>
            </a:r>
          </a:p>
          <a:p>
            <a:pPr algn="just" eaLnBrk="1" fontAlgn="auto" hangingPunct="1">
              <a:spcAft>
                <a:spcPts val="0"/>
              </a:spcAft>
              <a:buFont typeface="Arial"/>
              <a:buChar char="•"/>
              <a:defRPr/>
            </a:pPr>
            <a:r>
              <a:rPr lang="en-US" sz="3300" dirty="0">
                <a:solidFill>
                  <a:schemeClr val="tx1">
                    <a:lumMod val="85000"/>
                    <a:lumOff val="15000"/>
                  </a:schemeClr>
                </a:solidFill>
                <a:latin typeface="Times New Roman" pitchFamily="18" charset="0"/>
                <a:cs typeface="Times New Roman" pitchFamily="18" charset="0"/>
              </a:rPr>
              <a:t>It undergoes reduction and forms </a:t>
            </a:r>
            <a:r>
              <a:rPr lang="en-US" sz="3300" dirty="0" err="1">
                <a:solidFill>
                  <a:schemeClr val="tx1">
                    <a:lumMod val="85000"/>
                    <a:lumOff val="15000"/>
                  </a:schemeClr>
                </a:solidFill>
                <a:latin typeface="Times New Roman" pitchFamily="18" charset="0"/>
                <a:cs typeface="Times New Roman" pitchFamily="18" charset="0"/>
              </a:rPr>
              <a:t>Butyryl</a:t>
            </a:r>
            <a:r>
              <a:rPr lang="en-US" sz="3300" dirty="0">
                <a:solidFill>
                  <a:schemeClr val="tx1">
                    <a:lumMod val="85000"/>
                    <a:lumOff val="15000"/>
                  </a:schemeClr>
                </a:solidFill>
                <a:latin typeface="Times New Roman" pitchFamily="18" charset="0"/>
                <a:cs typeface="Times New Roman" pitchFamily="18" charset="0"/>
              </a:rPr>
              <a:t>-ACP. NADPH</a:t>
            </a:r>
            <a:r>
              <a:rPr lang="en-US" sz="3300" baseline="-25000" dirty="0">
                <a:solidFill>
                  <a:schemeClr val="tx1">
                    <a:lumMod val="85000"/>
                    <a:lumOff val="15000"/>
                  </a:schemeClr>
                </a:solidFill>
                <a:latin typeface="Times New Roman" pitchFamily="18" charset="0"/>
                <a:cs typeface="Times New Roman" pitchFamily="18" charset="0"/>
              </a:rPr>
              <a:t>2</a:t>
            </a:r>
            <a:r>
              <a:rPr lang="en-US" sz="3300" dirty="0">
                <a:solidFill>
                  <a:schemeClr val="tx1">
                    <a:lumMod val="85000"/>
                    <a:lumOff val="15000"/>
                  </a:schemeClr>
                </a:solidFill>
                <a:latin typeface="Times New Roman" pitchFamily="18" charset="0"/>
                <a:cs typeface="Times New Roman" pitchFamily="18" charset="0"/>
              </a:rPr>
              <a:t> and enzyme </a:t>
            </a:r>
            <a:r>
              <a:rPr lang="en-US" sz="3300" dirty="0" err="1">
                <a:solidFill>
                  <a:schemeClr val="tx1">
                    <a:lumMod val="85000"/>
                    <a:lumOff val="15000"/>
                  </a:schemeClr>
                </a:solidFill>
                <a:latin typeface="Times New Roman" pitchFamily="18" charset="0"/>
                <a:cs typeface="Times New Roman" pitchFamily="18" charset="0"/>
              </a:rPr>
              <a:t>Enoyl</a:t>
            </a:r>
            <a:r>
              <a:rPr lang="en-US" sz="3300" dirty="0">
                <a:solidFill>
                  <a:schemeClr val="tx1">
                    <a:lumMod val="85000"/>
                    <a:lumOff val="15000"/>
                  </a:schemeClr>
                </a:solidFill>
                <a:latin typeface="Times New Roman" pitchFamily="18" charset="0"/>
                <a:cs typeface="Times New Roman" pitchFamily="18" charset="0"/>
              </a:rPr>
              <a:t> </a:t>
            </a:r>
            <a:r>
              <a:rPr lang="en-US" sz="3300" dirty="0" err="1">
                <a:solidFill>
                  <a:schemeClr val="tx1">
                    <a:lumMod val="85000"/>
                    <a:lumOff val="15000"/>
                  </a:schemeClr>
                </a:solidFill>
                <a:latin typeface="Times New Roman" pitchFamily="18" charset="0"/>
                <a:cs typeface="Times New Roman" pitchFamily="18" charset="0"/>
              </a:rPr>
              <a:t>acyl</a:t>
            </a:r>
            <a:r>
              <a:rPr lang="en-US" sz="3300" dirty="0">
                <a:solidFill>
                  <a:schemeClr val="tx1">
                    <a:lumMod val="85000"/>
                    <a:lumOff val="15000"/>
                  </a:schemeClr>
                </a:solidFill>
                <a:latin typeface="Times New Roman" pitchFamily="18" charset="0"/>
                <a:cs typeface="Times New Roman" pitchFamily="18" charset="0"/>
              </a:rPr>
              <a:t>-ACP </a:t>
            </a:r>
            <a:r>
              <a:rPr lang="en-US" sz="3300" dirty="0" err="1">
                <a:solidFill>
                  <a:schemeClr val="tx1">
                    <a:lumMod val="85000"/>
                    <a:lumOff val="15000"/>
                  </a:schemeClr>
                </a:solidFill>
                <a:latin typeface="Times New Roman" pitchFamily="18" charset="0"/>
                <a:cs typeface="Times New Roman" pitchFamily="18" charset="0"/>
              </a:rPr>
              <a:t>reductase</a:t>
            </a:r>
            <a:r>
              <a:rPr lang="en-US" sz="3300" dirty="0">
                <a:solidFill>
                  <a:schemeClr val="tx1">
                    <a:lumMod val="85000"/>
                    <a:lumOff val="15000"/>
                  </a:schemeClr>
                </a:solidFill>
                <a:latin typeface="Times New Roman" pitchFamily="18" charset="0"/>
                <a:cs typeface="Times New Roman" pitchFamily="18" charset="0"/>
              </a:rPr>
              <a:t> are needed for the reaction.</a:t>
            </a:r>
          </a:p>
          <a:p>
            <a:pPr eaLnBrk="1" fontAlgn="auto" hangingPunct="1">
              <a:spcAft>
                <a:spcPts val="0"/>
              </a:spcAft>
              <a:buFont typeface="Arial"/>
              <a:buChar char="•"/>
              <a:defRPr/>
            </a:pPr>
            <a:endParaRPr lang="en-US" dirty="0">
              <a:solidFill>
                <a:schemeClr val="tx1">
                  <a:lumMod val="85000"/>
                  <a:lumOff val="1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xmlns="" id="{4E799A0D-E09A-A705-D031-BF53D36F1E77}"/>
              </a:ext>
            </a:extLst>
          </p:cNvPr>
          <p:cNvSpPr>
            <a:spLocks noGrp="1"/>
          </p:cNvSpPr>
          <p:nvPr>
            <p:ph type="title"/>
          </p:nvPr>
        </p:nvSpPr>
        <p:spPr>
          <a:xfrm>
            <a:off x="457200" y="0"/>
            <a:ext cx="8229600" cy="838200"/>
          </a:xfrm>
        </p:spPr>
        <p:txBody>
          <a:bodyPr/>
          <a:lstStyle/>
          <a:p>
            <a:pPr eaLnBrk="1" hangingPunct="1"/>
            <a:r>
              <a:rPr lang="en-US" altLang="en-US">
                <a:ln>
                  <a:noFill/>
                </a:ln>
              </a:rPr>
              <a:t>CONT’</a:t>
            </a:r>
          </a:p>
        </p:txBody>
      </p:sp>
      <p:sp>
        <p:nvSpPr>
          <p:cNvPr id="22531" name="Content Placeholder 2">
            <a:extLst>
              <a:ext uri="{FF2B5EF4-FFF2-40B4-BE49-F238E27FC236}">
                <a16:creationId xmlns:a16="http://schemas.microsoft.com/office/drawing/2014/main" xmlns="" id="{BDE770E4-FCC7-3A25-D386-A61A9E7D0D8F}"/>
              </a:ext>
            </a:extLst>
          </p:cNvPr>
          <p:cNvSpPr>
            <a:spLocks noGrp="1"/>
          </p:cNvSpPr>
          <p:nvPr>
            <p:ph idx="1"/>
          </p:nvPr>
        </p:nvSpPr>
        <p:spPr>
          <a:xfrm>
            <a:off x="228600" y="762000"/>
            <a:ext cx="8458200" cy="5638800"/>
          </a:xfrm>
        </p:spPr>
        <p:txBody>
          <a:bodyPr/>
          <a:lstStyle/>
          <a:p>
            <a:pPr algn="just" eaLnBrk="1" hangingPunct="1"/>
            <a:r>
              <a:rPr lang="en-US" altLang="en-US" sz="2800">
                <a:latin typeface="Times New Roman" panose="02020603050405020304" pitchFamily="18" charset="0"/>
                <a:cs typeface="Times New Roman" panose="02020603050405020304" pitchFamily="18" charset="0"/>
              </a:rPr>
              <a:t>The above reactions are repeated several times until a 16-carbon fatty acid, palmitate, in combination with enzyme complex are produced.</a:t>
            </a:r>
          </a:p>
          <a:p>
            <a:pPr algn="just" eaLnBrk="1" hangingPunct="1"/>
            <a:r>
              <a:rPr lang="en-US" altLang="en-US" sz="2800">
                <a:latin typeface="Times New Roman" panose="02020603050405020304" pitchFamily="18" charset="0"/>
                <a:cs typeface="Times New Roman" panose="02020603050405020304" pitchFamily="18" charset="0"/>
              </a:rPr>
              <a:t> The palmitate is liberated from the enzyme complex through a process of hydrolysis.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F7A988-5883-4BD2-26E2-61836A330CFD}"/>
              </a:ext>
            </a:extLst>
          </p:cNvPr>
          <p:cNvSpPr>
            <a:spLocks noGrp="1"/>
          </p:cNvSpPr>
          <p:nvPr>
            <p:ph type="title"/>
          </p:nvPr>
        </p:nvSpPr>
        <p:spPr>
          <a:xfrm>
            <a:off x="1176338" y="228600"/>
            <a:ext cx="6799262" cy="1066800"/>
          </a:xfrm>
        </p:spPr>
        <p:txBody>
          <a:bodyPr rtlCol="0">
            <a:normAutofit fontScale="90000"/>
          </a:bodyPr>
          <a:lstStyle/>
          <a:p>
            <a:pPr eaLnBrk="1" fontAlgn="auto" hangingPunct="1">
              <a:spcAft>
                <a:spcPts val="0"/>
              </a:spcAft>
              <a:defRPr/>
            </a:pPr>
            <a:r>
              <a:rPr lang="en-US" b="1" dirty="0">
                <a:solidFill>
                  <a:schemeClr val="tx1">
                    <a:lumMod val="85000"/>
                    <a:lumOff val="15000"/>
                  </a:schemeClr>
                </a:solidFill>
              </a:rPr>
              <a:t/>
            </a:r>
            <a:br>
              <a:rPr lang="en-US" b="1" dirty="0">
                <a:solidFill>
                  <a:schemeClr val="tx1">
                    <a:lumMod val="85000"/>
                    <a:lumOff val="15000"/>
                  </a:schemeClr>
                </a:solidFill>
              </a:rPr>
            </a:br>
            <a:r>
              <a:rPr lang="en-US" b="1" dirty="0">
                <a:solidFill>
                  <a:srgbClr val="FF0000"/>
                </a:solidFill>
                <a:latin typeface="Times New Roman" pitchFamily="18" charset="0"/>
                <a:cs typeface="Times New Roman" pitchFamily="18" charset="0"/>
              </a:rPr>
              <a:t>Biosynthesis of </a:t>
            </a:r>
            <a:r>
              <a:rPr lang="en-US" b="1" dirty="0" err="1">
                <a:solidFill>
                  <a:srgbClr val="FF0000"/>
                </a:solidFill>
                <a:latin typeface="Times New Roman" pitchFamily="18" charset="0"/>
                <a:cs typeface="Times New Roman" pitchFamily="18" charset="0"/>
              </a:rPr>
              <a:t>triacylglycerols</a:t>
            </a:r>
            <a:r>
              <a:rPr lang="en-US" b="1" dirty="0">
                <a:solidFill>
                  <a:srgbClr val="FF0000"/>
                </a:solidFill>
                <a:latin typeface="Times New Roman" pitchFamily="18" charset="0"/>
                <a:cs typeface="Times New Roman" pitchFamily="18" charset="0"/>
              </a:rPr>
              <a:t> and other fatty acids</a:t>
            </a:r>
            <a:r>
              <a:rPr lang="en-US" b="1" i="1" dirty="0">
                <a:solidFill>
                  <a:srgbClr val="FF0000"/>
                </a:solidFill>
                <a:latin typeface="Times New Roman" pitchFamily="18" charset="0"/>
                <a:cs typeface="Times New Roman" pitchFamily="18" charset="0"/>
              </a:rPr>
              <a:t/>
            </a:r>
            <a:br>
              <a:rPr lang="en-US" b="1" i="1" dirty="0">
                <a:solidFill>
                  <a:srgbClr val="FF0000"/>
                </a:solidFill>
                <a:latin typeface="Times New Roman" pitchFamily="18" charset="0"/>
                <a:cs typeface="Times New Roman" pitchFamily="18" charset="0"/>
              </a:rPr>
            </a:br>
            <a:endParaRPr lang="en-US" dirty="0">
              <a:solidFill>
                <a:srgbClr val="FF0000"/>
              </a:solidFill>
              <a:latin typeface="Times New Roman" pitchFamily="18" charset="0"/>
              <a:cs typeface="Times New Roman" pitchFamily="18" charset="0"/>
            </a:endParaRPr>
          </a:p>
        </p:txBody>
      </p:sp>
      <p:sp>
        <p:nvSpPr>
          <p:cNvPr id="10243" name="Content Placeholder 2">
            <a:extLst>
              <a:ext uri="{FF2B5EF4-FFF2-40B4-BE49-F238E27FC236}">
                <a16:creationId xmlns:a16="http://schemas.microsoft.com/office/drawing/2014/main" xmlns="" id="{7B8C008A-F051-7FDA-FD74-79D867E5527C}"/>
              </a:ext>
            </a:extLst>
          </p:cNvPr>
          <p:cNvSpPr>
            <a:spLocks noGrp="1"/>
          </p:cNvSpPr>
          <p:nvPr>
            <p:ph idx="1"/>
          </p:nvPr>
        </p:nvSpPr>
        <p:spPr>
          <a:xfrm>
            <a:off x="228600" y="1600200"/>
            <a:ext cx="8686800" cy="5105400"/>
          </a:xfrm>
        </p:spPr>
        <p:txBody>
          <a:bodyPr rtlCol="0">
            <a:noAutofit/>
          </a:bodyPr>
          <a:lstStyle/>
          <a:p>
            <a:pPr algn="just" eaLnBrk="1" fontAlgn="auto" hangingPunct="1">
              <a:buFont typeface="Arial"/>
              <a:buChar char="•"/>
              <a:defRPr/>
            </a:pPr>
            <a:r>
              <a:rPr lang="en-US" sz="2800" dirty="0" err="1">
                <a:solidFill>
                  <a:schemeClr val="tx1">
                    <a:lumMod val="85000"/>
                    <a:lumOff val="15000"/>
                  </a:schemeClr>
                </a:solidFill>
                <a:latin typeface="Times New Roman" panose="02020603050405020304" pitchFamily="18" charset="0"/>
                <a:cs typeface="Times New Roman" panose="02020603050405020304" pitchFamily="18" charset="0"/>
              </a:rPr>
              <a:t>Palmitate</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(a 16-carbon fatty acid) is the primary product of the fatty acid biosynthesis reactions. </a:t>
            </a: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After the generation of </a:t>
            </a:r>
            <a:r>
              <a:rPr lang="en-US" sz="2800" dirty="0" err="1">
                <a:solidFill>
                  <a:schemeClr val="tx1">
                    <a:lumMod val="85000"/>
                    <a:lumOff val="15000"/>
                  </a:schemeClr>
                </a:solidFill>
                <a:latin typeface="Times New Roman" panose="02020603050405020304" pitchFamily="18" charset="0"/>
                <a:cs typeface="Times New Roman" panose="02020603050405020304" pitchFamily="18" charset="0"/>
              </a:rPr>
              <a:t>palmitate</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cells do utilize it to synthesize many other fatty acids they require by utilizing it. </a:t>
            </a: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Shorter chain fatty acids are easily made if the chain is released before reaching 16 carbons in length. </a:t>
            </a: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The longer chain fatty acids are made through special elongation reactions that take place both in the mitochondria and at the surface of the endoplasmic reticulum (ER). </a:t>
            </a: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xmlns="" id="{F83177D1-5861-F670-F888-0C048071C8AA}"/>
              </a:ext>
            </a:extLst>
          </p:cNvPr>
          <p:cNvSpPr>
            <a:spLocks noGrp="1"/>
          </p:cNvSpPr>
          <p:nvPr>
            <p:ph type="title"/>
          </p:nvPr>
        </p:nvSpPr>
        <p:spPr>
          <a:xfrm>
            <a:off x="457200" y="0"/>
            <a:ext cx="8229600" cy="990600"/>
          </a:xfrm>
        </p:spPr>
        <p:txBody>
          <a:bodyPr/>
          <a:lstStyle/>
          <a:p>
            <a:pPr eaLnBrk="1" hangingPunct="1"/>
            <a:r>
              <a:rPr lang="en-US" altLang="en-US">
                <a:ln>
                  <a:noFill/>
                </a:ln>
              </a:rPr>
              <a:t>CONT’</a:t>
            </a:r>
          </a:p>
        </p:txBody>
      </p:sp>
      <p:sp>
        <p:nvSpPr>
          <p:cNvPr id="3" name="Content Placeholder 2">
            <a:extLst>
              <a:ext uri="{FF2B5EF4-FFF2-40B4-BE49-F238E27FC236}">
                <a16:creationId xmlns:a16="http://schemas.microsoft.com/office/drawing/2014/main" xmlns="" id="{F71685B7-41E5-038F-463B-0AA896210A12}"/>
              </a:ext>
            </a:extLst>
          </p:cNvPr>
          <p:cNvSpPr>
            <a:spLocks noGrp="1"/>
          </p:cNvSpPr>
          <p:nvPr>
            <p:ph idx="1"/>
          </p:nvPr>
        </p:nvSpPr>
        <p:spPr>
          <a:xfrm>
            <a:off x="152400" y="838200"/>
            <a:ext cx="8839200" cy="5867400"/>
          </a:xfrm>
        </p:spPr>
        <p:txBody>
          <a:bodyPr rtlCol="0">
            <a:normAutofit fontScale="92500" lnSpcReduction="10000"/>
          </a:bodyPr>
          <a:lstStyle/>
          <a:p>
            <a:pPr algn="just" eaLnBrk="1" fontAlgn="auto" hangingPunct="1">
              <a:spcAft>
                <a:spcPts val="0"/>
              </a:spcAft>
              <a:buFont typeface="Arial"/>
              <a:buChar char="•"/>
              <a:defRPr/>
            </a:pPr>
            <a:r>
              <a:rPr lang="en-US" sz="3000" dirty="0">
                <a:solidFill>
                  <a:schemeClr val="tx1">
                    <a:lumMod val="85000"/>
                    <a:lumOff val="15000"/>
                  </a:schemeClr>
                </a:solidFill>
                <a:latin typeface="Times New Roman" pitchFamily="18" charset="0"/>
                <a:cs typeface="Times New Roman" pitchFamily="18" charset="0"/>
              </a:rPr>
              <a:t>The ER reactions are usually sequential additions of 2-carbon units at the carboxyl end of the chain by means of oxidative </a:t>
            </a:r>
            <a:r>
              <a:rPr lang="en-US" sz="3000" dirty="0" err="1">
                <a:solidFill>
                  <a:schemeClr val="tx1">
                    <a:lumMod val="85000"/>
                    <a:lumOff val="15000"/>
                  </a:schemeClr>
                </a:solidFill>
                <a:latin typeface="Times New Roman" pitchFamily="18" charset="0"/>
                <a:cs typeface="Times New Roman" pitchFamily="18" charset="0"/>
              </a:rPr>
              <a:t>decarboxylation</a:t>
            </a:r>
            <a:r>
              <a:rPr lang="en-US" sz="3000" dirty="0">
                <a:solidFill>
                  <a:schemeClr val="tx1">
                    <a:lumMod val="85000"/>
                    <a:lumOff val="15000"/>
                  </a:schemeClr>
                </a:solidFill>
                <a:latin typeface="Times New Roman" pitchFamily="18" charset="0"/>
                <a:cs typeface="Times New Roman" pitchFamily="18" charset="0"/>
              </a:rPr>
              <a:t> involving </a:t>
            </a:r>
            <a:r>
              <a:rPr lang="en-US" sz="3000" dirty="0" err="1">
                <a:solidFill>
                  <a:schemeClr val="tx1">
                    <a:lumMod val="85000"/>
                    <a:lumOff val="15000"/>
                  </a:schemeClr>
                </a:solidFill>
                <a:latin typeface="Times New Roman" pitchFamily="18" charset="0"/>
                <a:cs typeface="Times New Roman" pitchFamily="18" charset="0"/>
              </a:rPr>
              <a:t>malonyl-CoA</a:t>
            </a:r>
            <a:r>
              <a:rPr lang="en-US" sz="3000" dirty="0">
                <a:solidFill>
                  <a:schemeClr val="tx1">
                    <a:lumMod val="85000"/>
                    <a:lumOff val="15000"/>
                  </a:schemeClr>
                </a:solidFill>
                <a:latin typeface="Times New Roman" pitchFamily="18" charset="0"/>
                <a:cs typeface="Times New Roman" pitchFamily="18" charset="0"/>
              </a:rPr>
              <a:t>.</a:t>
            </a:r>
          </a:p>
          <a:p>
            <a:pPr algn="just" eaLnBrk="1" fontAlgn="auto" hangingPunct="1">
              <a:spcAft>
                <a:spcPts val="0"/>
              </a:spcAft>
              <a:buFont typeface="Arial"/>
              <a:buChar char="•"/>
              <a:defRPr/>
            </a:pPr>
            <a:r>
              <a:rPr lang="en-US" sz="3000" dirty="0">
                <a:solidFill>
                  <a:schemeClr val="tx1">
                    <a:lumMod val="85000"/>
                    <a:lumOff val="15000"/>
                  </a:schemeClr>
                </a:solidFill>
                <a:latin typeface="Times New Roman" pitchFamily="18" charset="0"/>
                <a:cs typeface="Times New Roman" pitchFamily="18" charset="0"/>
              </a:rPr>
              <a:t>The pathway in the ER elongates both saturated and unsaturated fatty acids using </a:t>
            </a:r>
            <a:r>
              <a:rPr lang="en-US" sz="3000" dirty="0" err="1">
                <a:solidFill>
                  <a:schemeClr val="tx1">
                    <a:lumMod val="85000"/>
                    <a:lumOff val="15000"/>
                  </a:schemeClr>
                </a:solidFill>
                <a:latin typeface="Times New Roman" pitchFamily="18" charset="0"/>
                <a:cs typeface="Times New Roman" pitchFamily="18" charset="0"/>
              </a:rPr>
              <a:t>malonyl-CoA</a:t>
            </a:r>
            <a:r>
              <a:rPr lang="en-US" sz="3000" dirty="0">
                <a:solidFill>
                  <a:schemeClr val="tx1">
                    <a:lumMod val="85000"/>
                    <a:lumOff val="15000"/>
                  </a:schemeClr>
                </a:solidFill>
                <a:latin typeface="Times New Roman" pitchFamily="18" charset="0"/>
                <a:cs typeface="Times New Roman" pitchFamily="18" charset="0"/>
              </a:rPr>
              <a:t> as the acetyl donor and NADPH as the </a:t>
            </a:r>
            <a:r>
              <a:rPr lang="en-US" sz="3000" dirty="0" err="1">
                <a:solidFill>
                  <a:schemeClr val="tx1">
                    <a:lumMod val="85000"/>
                    <a:lumOff val="15000"/>
                  </a:schemeClr>
                </a:solidFill>
                <a:latin typeface="Times New Roman" pitchFamily="18" charset="0"/>
                <a:cs typeface="Times New Roman" pitchFamily="18" charset="0"/>
              </a:rPr>
              <a:t>reductant</a:t>
            </a:r>
            <a:r>
              <a:rPr lang="en-US" sz="3000" dirty="0">
                <a:solidFill>
                  <a:schemeClr val="tx1">
                    <a:lumMod val="85000"/>
                    <a:lumOff val="15000"/>
                  </a:schemeClr>
                </a:solidFill>
                <a:latin typeface="Times New Roman" pitchFamily="18" charset="0"/>
                <a:cs typeface="Times New Roman" pitchFamily="18" charset="0"/>
              </a:rPr>
              <a:t>, and is catalyzed by the fatty acid </a:t>
            </a:r>
            <a:r>
              <a:rPr lang="en-US" sz="3000" dirty="0" err="1">
                <a:solidFill>
                  <a:schemeClr val="tx1">
                    <a:lumMod val="85000"/>
                    <a:lumOff val="15000"/>
                  </a:schemeClr>
                </a:solidFill>
                <a:latin typeface="Times New Roman" pitchFamily="18" charset="0"/>
                <a:cs typeface="Times New Roman" pitchFamily="18" charset="0"/>
              </a:rPr>
              <a:t>elongase</a:t>
            </a:r>
            <a:r>
              <a:rPr lang="en-US" sz="3000" dirty="0">
                <a:solidFill>
                  <a:schemeClr val="tx1">
                    <a:lumMod val="85000"/>
                    <a:lumOff val="15000"/>
                  </a:schemeClr>
                </a:solidFill>
                <a:latin typeface="Times New Roman" pitchFamily="18" charset="0"/>
                <a:cs typeface="Times New Roman" pitchFamily="18" charset="0"/>
              </a:rPr>
              <a:t> system of enzymes. </a:t>
            </a:r>
          </a:p>
          <a:p>
            <a:pPr algn="just" eaLnBrk="1" fontAlgn="auto" hangingPunct="1">
              <a:spcAft>
                <a:spcPts val="0"/>
              </a:spcAft>
              <a:buFont typeface="Arial"/>
              <a:buChar char="•"/>
              <a:defRPr/>
            </a:pPr>
            <a:r>
              <a:rPr lang="en-US" sz="3000" dirty="0">
                <a:solidFill>
                  <a:schemeClr val="tx1">
                    <a:lumMod val="85000"/>
                    <a:lumOff val="15000"/>
                  </a:schemeClr>
                </a:solidFill>
                <a:latin typeface="Times New Roman" pitchFamily="18" charset="0"/>
                <a:cs typeface="Times New Roman" pitchFamily="18" charset="0"/>
              </a:rPr>
              <a:t>For example, the elongation of </a:t>
            </a:r>
            <a:r>
              <a:rPr lang="en-US" sz="3000" dirty="0" err="1">
                <a:solidFill>
                  <a:schemeClr val="tx1">
                    <a:lumMod val="85000"/>
                    <a:lumOff val="15000"/>
                  </a:schemeClr>
                </a:solidFill>
                <a:latin typeface="Times New Roman" pitchFamily="18" charset="0"/>
                <a:cs typeface="Times New Roman" pitchFamily="18" charset="0"/>
              </a:rPr>
              <a:t>stearyl-CoA</a:t>
            </a:r>
            <a:r>
              <a:rPr lang="en-US" sz="3000" dirty="0">
                <a:solidFill>
                  <a:schemeClr val="tx1">
                    <a:lumMod val="85000"/>
                    <a:lumOff val="15000"/>
                  </a:schemeClr>
                </a:solidFill>
                <a:latin typeface="Times New Roman" pitchFamily="18" charset="0"/>
                <a:cs typeface="Times New Roman" pitchFamily="18" charset="0"/>
              </a:rPr>
              <a:t> in brain increases rapidly during </a:t>
            </a:r>
            <a:r>
              <a:rPr lang="en-US" sz="3000" dirty="0" err="1">
                <a:solidFill>
                  <a:schemeClr val="tx1">
                    <a:lumMod val="85000"/>
                    <a:lumOff val="15000"/>
                  </a:schemeClr>
                </a:solidFill>
                <a:latin typeface="Times New Roman" pitchFamily="18" charset="0"/>
                <a:cs typeface="Times New Roman" pitchFamily="18" charset="0"/>
              </a:rPr>
              <a:t>myelination</a:t>
            </a:r>
            <a:r>
              <a:rPr lang="en-US" sz="3000" dirty="0">
                <a:solidFill>
                  <a:schemeClr val="tx1">
                    <a:lumMod val="85000"/>
                    <a:lumOff val="15000"/>
                  </a:schemeClr>
                </a:solidFill>
                <a:latin typeface="Times New Roman" pitchFamily="18" charset="0"/>
                <a:cs typeface="Times New Roman" pitchFamily="18" charset="0"/>
              </a:rPr>
              <a:t> in order to provide 22-carbon and 24-carbon fatty acids for </a:t>
            </a:r>
            <a:r>
              <a:rPr lang="en-US" sz="3000" dirty="0" err="1">
                <a:solidFill>
                  <a:schemeClr val="tx1">
                    <a:lumMod val="85000"/>
                    <a:lumOff val="15000"/>
                  </a:schemeClr>
                </a:solidFill>
                <a:latin typeface="Times New Roman" pitchFamily="18" charset="0"/>
                <a:cs typeface="Times New Roman" pitchFamily="18" charset="0"/>
              </a:rPr>
              <a:t>sphingolipids</a:t>
            </a:r>
            <a:r>
              <a:rPr lang="en-US" sz="3000" dirty="0">
                <a:solidFill>
                  <a:schemeClr val="tx1">
                    <a:lumMod val="85000"/>
                    <a:lumOff val="15000"/>
                  </a:schemeClr>
                </a:solidFill>
                <a:latin typeface="Times New Roman" pitchFamily="18" charset="0"/>
                <a:cs typeface="Times New Roman" pitchFamily="18" charset="0"/>
              </a:rPr>
              <a:t> synthesis. </a:t>
            </a:r>
          </a:p>
          <a:p>
            <a:pPr algn="just" eaLnBrk="1" fontAlgn="auto" hangingPunct="1">
              <a:spcAft>
                <a:spcPts val="0"/>
              </a:spcAft>
              <a:buFont typeface="Arial"/>
              <a:buChar char="•"/>
              <a:defRPr/>
            </a:pPr>
            <a:r>
              <a:rPr lang="en-US" sz="3000" dirty="0">
                <a:solidFill>
                  <a:schemeClr val="tx1">
                    <a:lumMod val="85000"/>
                    <a:lumOff val="15000"/>
                  </a:schemeClr>
                </a:solidFill>
                <a:latin typeface="Times New Roman" pitchFamily="18" charset="0"/>
                <a:cs typeface="Times New Roman" pitchFamily="18" charset="0"/>
              </a:rPr>
              <a:t>The mitochondrial reactions involve addition and reduction of acetyl units. </a:t>
            </a:r>
          </a:p>
          <a:p>
            <a:pPr algn="just" eaLnBrk="1" fontAlgn="auto" hangingPunct="1">
              <a:spcAft>
                <a:spcPts val="0"/>
              </a:spcAft>
              <a:buFont typeface="Arial" panose="020B0604020202020204" pitchFamily="34" charset="0"/>
              <a:buNone/>
              <a:defRPr/>
            </a:pPr>
            <a:r>
              <a:rPr lang="en-US" sz="3000" dirty="0">
                <a:solidFill>
                  <a:schemeClr val="tx1">
                    <a:lumMod val="85000"/>
                    <a:lumOff val="15000"/>
                  </a:schemeClr>
                </a:solidFill>
                <a:latin typeface="Times New Roman" pitchFamily="18" charset="0"/>
                <a:cs typeface="Times New Roman" pitchFamily="18" charset="0"/>
              </a:rPr>
              <a:t> </a:t>
            </a:r>
          </a:p>
          <a:p>
            <a:pPr eaLnBrk="1" fontAlgn="auto" hangingPunct="1">
              <a:spcAft>
                <a:spcPts val="0"/>
              </a:spcAft>
              <a:buFont typeface="Arial"/>
              <a:buChar char="•"/>
              <a:defRPr/>
            </a:pPr>
            <a:endParaRPr lang="en-US" dirty="0">
              <a:solidFill>
                <a:schemeClr val="tx1">
                  <a:lumMod val="85000"/>
                  <a:lumOff val="15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xmlns="" id="{C63E6759-CCBA-E34D-D98A-6B808117C1A0}"/>
              </a:ext>
            </a:extLst>
          </p:cNvPr>
          <p:cNvSpPr>
            <a:spLocks noGrp="1"/>
          </p:cNvSpPr>
          <p:nvPr>
            <p:ph type="title"/>
          </p:nvPr>
        </p:nvSpPr>
        <p:spPr>
          <a:xfrm>
            <a:off x="381000" y="0"/>
            <a:ext cx="8991600" cy="914400"/>
          </a:xfrm>
        </p:spPr>
        <p:txBody>
          <a:bodyPr/>
          <a:lstStyle/>
          <a:p>
            <a:pPr eaLnBrk="1" hangingPunct="1"/>
            <a:r>
              <a:rPr lang="en-US" altLang="en-US">
                <a:ln>
                  <a:noFill/>
                </a:ln>
              </a:rPr>
              <a:t>CONT’</a:t>
            </a:r>
          </a:p>
        </p:txBody>
      </p:sp>
      <p:sp>
        <p:nvSpPr>
          <p:cNvPr id="3" name="Content Placeholder 2">
            <a:extLst>
              <a:ext uri="{FF2B5EF4-FFF2-40B4-BE49-F238E27FC236}">
                <a16:creationId xmlns:a16="http://schemas.microsoft.com/office/drawing/2014/main" xmlns="" id="{170251AE-544E-41AF-CC77-59EB73DDFA33}"/>
              </a:ext>
            </a:extLst>
          </p:cNvPr>
          <p:cNvSpPr>
            <a:spLocks noGrp="1"/>
          </p:cNvSpPr>
          <p:nvPr>
            <p:ph idx="1"/>
          </p:nvPr>
        </p:nvSpPr>
        <p:spPr>
          <a:xfrm>
            <a:off x="152400" y="685800"/>
            <a:ext cx="8839200" cy="6172200"/>
          </a:xfrm>
        </p:spPr>
        <p:txBody>
          <a:bodyPr rtlCol="0">
            <a:noAutofit/>
          </a:bodyPr>
          <a:lstStyle/>
          <a:p>
            <a:pPr algn="just" eaLnBrk="1" fontAlgn="auto" hangingPunct="1">
              <a:spcAft>
                <a:spcPts val="0"/>
              </a:spcAft>
              <a:buFont typeface="Arial"/>
              <a:buChar char="•"/>
              <a:defRPr/>
            </a:pPr>
            <a:r>
              <a:rPr lang="en-US" dirty="0">
                <a:solidFill>
                  <a:schemeClr val="tx1">
                    <a:lumMod val="85000"/>
                    <a:lumOff val="15000"/>
                  </a:schemeClr>
                </a:solidFill>
                <a:latin typeface="Times New Roman" pitchFamily="18" charset="0"/>
                <a:cs typeface="Times New Roman" pitchFamily="18" charset="0"/>
              </a:rPr>
              <a:t>These mitochondrial </a:t>
            </a:r>
            <a:r>
              <a:rPr lang="en-US" dirty="0" err="1">
                <a:solidFill>
                  <a:schemeClr val="tx1">
                    <a:lumMod val="85000"/>
                    <a:lumOff val="15000"/>
                  </a:schemeClr>
                </a:solidFill>
                <a:latin typeface="Times New Roman" pitchFamily="18" charset="0"/>
                <a:cs typeface="Times New Roman" pitchFamily="18" charset="0"/>
              </a:rPr>
              <a:t>rxts</a:t>
            </a:r>
            <a:r>
              <a:rPr lang="en-US" dirty="0">
                <a:solidFill>
                  <a:schemeClr val="tx1">
                    <a:lumMod val="85000"/>
                    <a:lumOff val="15000"/>
                  </a:schemeClr>
                </a:solidFill>
                <a:latin typeface="Times New Roman" pitchFamily="18" charset="0"/>
                <a:cs typeface="Times New Roman" pitchFamily="18" charset="0"/>
              </a:rPr>
              <a:t> are essentially a reversal of FA oxidation, with the exception that NADPH is utilized in the saturation of the double bond, instead of FADH. </a:t>
            </a:r>
          </a:p>
          <a:p>
            <a:pPr algn="just" eaLnBrk="1" fontAlgn="auto" hangingPunct="1">
              <a:spcAft>
                <a:spcPts val="0"/>
              </a:spcAft>
              <a:buFont typeface="Arial"/>
              <a:buChar char="•"/>
              <a:defRPr/>
            </a:pPr>
            <a:r>
              <a:rPr lang="en-US" dirty="0">
                <a:solidFill>
                  <a:schemeClr val="tx1">
                    <a:lumMod val="85000"/>
                    <a:lumOff val="15000"/>
                  </a:schemeClr>
                </a:solidFill>
                <a:latin typeface="Times New Roman" pitchFamily="18" charset="0"/>
                <a:cs typeface="Times New Roman" pitchFamily="18" charset="0"/>
              </a:rPr>
              <a:t>For </a:t>
            </a:r>
            <a:r>
              <a:rPr lang="en-US" dirty="0" err="1">
                <a:solidFill>
                  <a:schemeClr val="tx1">
                    <a:lumMod val="85000"/>
                    <a:lumOff val="15000"/>
                  </a:schemeClr>
                </a:solidFill>
                <a:latin typeface="Times New Roman" pitchFamily="18" charset="0"/>
                <a:cs typeface="Times New Roman" pitchFamily="18" charset="0"/>
              </a:rPr>
              <a:t>triacylglycerol</a:t>
            </a:r>
            <a:r>
              <a:rPr lang="en-US" dirty="0">
                <a:solidFill>
                  <a:schemeClr val="tx1">
                    <a:lumMod val="85000"/>
                    <a:lumOff val="15000"/>
                  </a:schemeClr>
                </a:solidFill>
                <a:latin typeface="Times New Roman" pitchFamily="18" charset="0"/>
                <a:cs typeface="Times New Roman" pitchFamily="18" charset="0"/>
              </a:rPr>
              <a:t> biosynthesis, the major pathway is through the attachment of activated fatty acids to </a:t>
            </a:r>
            <a:r>
              <a:rPr lang="en-US" dirty="0" err="1">
                <a:solidFill>
                  <a:schemeClr val="tx1">
                    <a:lumMod val="85000"/>
                    <a:lumOff val="15000"/>
                  </a:schemeClr>
                </a:solidFill>
                <a:latin typeface="Times New Roman" pitchFamily="18" charset="0"/>
                <a:cs typeface="Times New Roman" pitchFamily="18" charset="0"/>
              </a:rPr>
              <a:t>glycerophosphate</a:t>
            </a:r>
            <a:r>
              <a:rPr lang="en-US" dirty="0">
                <a:solidFill>
                  <a:schemeClr val="tx1">
                    <a:lumMod val="85000"/>
                    <a:lumOff val="15000"/>
                  </a:schemeClr>
                </a:solidFill>
                <a:latin typeface="Times New Roman" pitchFamily="18" charset="0"/>
                <a:cs typeface="Times New Roman" pitchFamily="18" charset="0"/>
              </a:rPr>
              <a:t> to form </a:t>
            </a:r>
            <a:r>
              <a:rPr lang="en-US" dirty="0" err="1">
                <a:solidFill>
                  <a:schemeClr val="tx1">
                    <a:lumMod val="85000"/>
                    <a:lumOff val="15000"/>
                  </a:schemeClr>
                </a:solidFill>
                <a:latin typeface="Times New Roman" pitchFamily="18" charset="0"/>
                <a:cs typeface="Times New Roman" pitchFamily="18" charset="0"/>
              </a:rPr>
              <a:t>phosphatidic</a:t>
            </a:r>
            <a:r>
              <a:rPr lang="en-US" dirty="0">
                <a:solidFill>
                  <a:schemeClr val="tx1">
                    <a:lumMod val="85000"/>
                    <a:lumOff val="15000"/>
                  </a:schemeClr>
                </a:solidFill>
                <a:latin typeface="Times New Roman" pitchFamily="18" charset="0"/>
                <a:cs typeface="Times New Roman" pitchFamily="18" charset="0"/>
              </a:rPr>
              <a:t> acid, by enzyme </a:t>
            </a:r>
            <a:r>
              <a:rPr lang="en-US" dirty="0" err="1">
                <a:solidFill>
                  <a:schemeClr val="tx1">
                    <a:lumMod val="85000"/>
                    <a:lumOff val="15000"/>
                  </a:schemeClr>
                </a:solidFill>
                <a:latin typeface="Times New Roman" pitchFamily="18" charset="0"/>
                <a:cs typeface="Times New Roman" pitchFamily="18" charset="0"/>
              </a:rPr>
              <a:t>acyltransferase</a:t>
            </a:r>
            <a:r>
              <a:rPr lang="en-US" dirty="0">
                <a:solidFill>
                  <a:schemeClr val="tx1">
                    <a:lumMod val="85000"/>
                    <a:lumOff val="15000"/>
                  </a:schemeClr>
                </a:solidFill>
                <a:latin typeface="Times New Roman" pitchFamily="18" charset="0"/>
                <a:cs typeface="Times New Roman" pitchFamily="18" charset="0"/>
              </a:rPr>
              <a:t>. </a:t>
            </a:r>
            <a:r>
              <a:rPr lang="en-US" dirty="0" err="1">
                <a:solidFill>
                  <a:schemeClr val="tx1">
                    <a:lumMod val="85000"/>
                    <a:lumOff val="15000"/>
                  </a:schemeClr>
                </a:solidFill>
                <a:latin typeface="Times New Roman" pitchFamily="18" charset="0"/>
                <a:cs typeface="Times New Roman" pitchFamily="18" charset="0"/>
              </a:rPr>
              <a:t>Phosphatidic</a:t>
            </a:r>
            <a:r>
              <a:rPr lang="en-US" dirty="0">
                <a:solidFill>
                  <a:schemeClr val="tx1">
                    <a:lumMod val="85000"/>
                    <a:lumOff val="15000"/>
                  </a:schemeClr>
                </a:solidFill>
                <a:latin typeface="Times New Roman" pitchFamily="18" charset="0"/>
                <a:cs typeface="Times New Roman" pitchFamily="18" charset="0"/>
              </a:rPr>
              <a:t> acid is converted to </a:t>
            </a:r>
            <a:r>
              <a:rPr lang="en-US" dirty="0" err="1">
                <a:solidFill>
                  <a:schemeClr val="tx1">
                    <a:lumMod val="85000"/>
                    <a:lumOff val="15000"/>
                  </a:schemeClr>
                </a:solidFill>
                <a:latin typeface="Times New Roman" pitchFamily="18" charset="0"/>
                <a:cs typeface="Times New Roman" pitchFamily="18" charset="0"/>
              </a:rPr>
              <a:t>diacylglycerol</a:t>
            </a:r>
            <a:r>
              <a:rPr lang="en-US" dirty="0">
                <a:solidFill>
                  <a:schemeClr val="tx1">
                    <a:lumMod val="85000"/>
                    <a:lumOff val="15000"/>
                  </a:schemeClr>
                </a:solidFill>
                <a:latin typeface="Times New Roman" pitchFamily="18" charset="0"/>
                <a:cs typeface="Times New Roman" pitchFamily="18" charset="0"/>
              </a:rPr>
              <a:t> by the removal of phosphate group by </a:t>
            </a:r>
            <a:r>
              <a:rPr lang="en-US" dirty="0" err="1">
                <a:solidFill>
                  <a:schemeClr val="tx1">
                    <a:lumMod val="85000"/>
                    <a:lumOff val="15000"/>
                  </a:schemeClr>
                </a:solidFill>
                <a:latin typeface="Times New Roman" pitchFamily="18" charset="0"/>
                <a:cs typeface="Times New Roman" pitchFamily="18" charset="0"/>
              </a:rPr>
              <a:t>phosphatase</a:t>
            </a:r>
            <a:r>
              <a:rPr lang="en-US" dirty="0">
                <a:solidFill>
                  <a:schemeClr val="tx1">
                    <a:lumMod val="85000"/>
                    <a:lumOff val="15000"/>
                  </a:schemeClr>
                </a:solidFill>
                <a:latin typeface="Times New Roman" pitchFamily="18" charset="0"/>
                <a:cs typeface="Times New Roman" pitchFamily="18" charset="0"/>
              </a:rPr>
              <a:t>. Another fatty acid is attached to the </a:t>
            </a:r>
            <a:r>
              <a:rPr lang="en-US" dirty="0" err="1">
                <a:solidFill>
                  <a:schemeClr val="tx1">
                    <a:lumMod val="85000"/>
                    <a:lumOff val="15000"/>
                  </a:schemeClr>
                </a:solidFill>
                <a:latin typeface="Times New Roman" pitchFamily="18" charset="0"/>
                <a:cs typeface="Times New Roman" pitchFamily="18" charset="0"/>
              </a:rPr>
              <a:t>diacylglycerol</a:t>
            </a:r>
            <a:r>
              <a:rPr lang="en-US" dirty="0">
                <a:solidFill>
                  <a:schemeClr val="tx1">
                    <a:lumMod val="85000"/>
                    <a:lumOff val="15000"/>
                  </a:schemeClr>
                </a:solidFill>
                <a:latin typeface="Times New Roman" pitchFamily="18" charset="0"/>
                <a:cs typeface="Times New Roman" pitchFamily="18" charset="0"/>
              </a:rPr>
              <a:t> to form </a:t>
            </a:r>
            <a:r>
              <a:rPr lang="en-US" dirty="0" err="1">
                <a:solidFill>
                  <a:schemeClr val="tx1">
                    <a:lumMod val="85000"/>
                    <a:lumOff val="15000"/>
                  </a:schemeClr>
                </a:solidFill>
                <a:latin typeface="Times New Roman" pitchFamily="18" charset="0"/>
                <a:cs typeface="Times New Roman" pitchFamily="18" charset="0"/>
              </a:rPr>
              <a:t>triacylglycerol</a:t>
            </a:r>
            <a:r>
              <a:rPr lang="en-US" dirty="0">
                <a:solidFill>
                  <a:schemeClr val="tx1">
                    <a:lumMod val="85000"/>
                    <a:lumOff val="15000"/>
                  </a:schemeClr>
                </a:solidFill>
                <a:latin typeface="Times New Roman" pitchFamily="18" charset="0"/>
                <a:cs typeface="Times New Roman" pitchFamily="18" charset="0"/>
              </a:rPr>
              <a:t>.</a:t>
            </a:r>
          </a:p>
          <a:p>
            <a:pPr algn="just" eaLnBrk="1" fontAlgn="auto" hangingPunct="1">
              <a:spcAft>
                <a:spcPts val="0"/>
              </a:spcAft>
              <a:buFont typeface="Arial"/>
              <a:buChar char="•"/>
              <a:defRPr/>
            </a:pPr>
            <a:r>
              <a:rPr lang="en-US" dirty="0">
                <a:solidFill>
                  <a:schemeClr val="tx1">
                    <a:lumMod val="85000"/>
                    <a:lumOff val="15000"/>
                  </a:schemeClr>
                </a:solidFill>
                <a:latin typeface="Times New Roman" pitchFamily="18" charset="0"/>
                <a:cs typeface="Times New Roman" pitchFamily="18" charset="0"/>
              </a:rPr>
              <a:t> The synthesis takes place in adipose tissue and liver. </a:t>
            </a:r>
          </a:p>
          <a:p>
            <a:pPr algn="just" eaLnBrk="1" fontAlgn="auto" hangingPunct="1">
              <a:spcAft>
                <a:spcPts val="0"/>
              </a:spcAft>
              <a:buFont typeface="Arial"/>
              <a:buChar char="•"/>
              <a:defRPr/>
            </a:pPr>
            <a:r>
              <a:rPr lang="en-US" dirty="0">
                <a:solidFill>
                  <a:schemeClr val="tx1">
                    <a:lumMod val="85000"/>
                    <a:lumOff val="15000"/>
                  </a:schemeClr>
                </a:solidFill>
                <a:latin typeface="Times New Roman" pitchFamily="18" charset="0"/>
                <a:cs typeface="Times New Roman" pitchFamily="18" charset="0"/>
              </a:rPr>
              <a:t>The minor pathway involves the </a:t>
            </a:r>
            <a:r>
              <a:rPr lang="en-US" dirty="0" err="1">
                <a:solidFill>
                  <a:schemeClr val="tx1">
                    <a:lumMod val="85000"/>
                    <a:lumOff val="15000"/>
                  </a:schemeClr>
                </a:solidFill>
                <a:latin typeface="Times New Roman" pitchFamily="18" charset="0"/>
                <a:cs typeface="Times New Roman" pitchFamily="18" charset="0"/>
              </a:rPr>
              <a:t>acylation</a:t>
            </a:r>
            <a:r>
              <a:rPr lang="en-US" dirty="0">
                <a:solidFill>
                  <a:schemeClr val="tx1">
                    <a:lumMod val="85000"/>
                    <a:lumOff val="15000"/>
                  </a:schemeClr>
                </a:solidFill>
                <a:latin typeface="Times New Roman" pitchFamily="18" charset="0"/>
                <a:cs typeface="Times New Roman" pitchFamily="18" charset="0"/>
              </a:rPr>
              <a:t> of </a:t>
            </a:r>
            <a:r>
              <a:rPr lang="en-US" dirty="0" err="1">
                <a:solidFill>
                  <a:schemeClr val="tx1">
                    <a:lumMod val="85000"/>
                    <a:lumOff val="15000"/>
                  </a:schemeClr>
                </a:solidFill>
                <a:latin typeface="Times New Roman" pitchFamily="18" charset="0"/>
                <a:cs typeface="Times New Roman" pitchFamily="18" charset="0"/>
              </a:rPr>
              <a:t>monoacylglycerol</a:t>
            </a:r>
            <a:r>
              <a:rPr lang="en-US" dirty="0">
                <a:solidFill>
                  <a:schemeClr val="tx1">
                    <a:lumMod val="85000"/>
                    <a:lumOff val="15000"/>
                  </a:schemeClr>
                </a:solidFill>
                <a:latin typeface="Times New Roman" pitchFamily="18" charset="0"/>
                <a:cs typeface="Times New Roman" pitchFamily="18" charset="0"/>
              </a:rPr>
              <a:t> to form </a:t>
            </a:r>
            <a:r>
              <a:rPr lang="en-US" dirty="0" err="1">
                <a:solidFill>
                  <a:schemeClr val="tx1">
                    <a:lumMod val="85000"/>
                    <a:lumOff val="15000"/>
                  </a:schemeClr>
                </a:solidFill>
                <a:latin typeface="Times New Roman" pitchFamily="18" charset="0"/>
                <a:cs typeface="Times New Roman" pitchFamily="18" charset="0"/>
              </a:rPr>
              <a:t>diacylglycerol</a:t>
            </a:r>
            <a:r>
              <a:rPr lang="en-US" dirty="0">
                <a:solidFill>
                  <a:schemeClr val="tx1">
                    <a:lumMod val="85000"/>
                    <a:lumOff val="15000"/>
                  </a:schemeClr>
                </a:solidFill>
                <a:latin typeface="Times New Roman" pitchFamily="18" charset="0"/>
                <a:cs typeface="Times New Roman" pitchFamily="18" charset="0"/>
              </a:rPr>
              <a:t>, which is later converted to </a:t>
            </a:r>
            <a:r>
              <a:rPr lang="en-US" dirty="0" err="1">
                <a:solidFill>
                  <a:schemeClr val="tx1">
                    <a:lumMod val="85000"/>
                    <a:lumOff val="15000"/>
                  </a:schemeClr>
                </a:solidFill>
                <a:latin typeface="Times New Roman" pitchFamily="18" charset="0"/>
                <a:cs typeface="Times New Roman" pitchFamily="18" charset="0"/>
              </a:rPr>
              <a:t>triacylglycerol</a:t>
            </a:r>
            <a:r>
              <a:rPr lang="en-US" dirty="0">
                <a:solidFill>
                  <a:schemeClr val="tx1">
                    <a:lumMod val="85000"/>
                    <a:lumOff val="15000"/>
                  </a:schemeClr>
                </a:solidFill>
                <a:latin typeface="Times New Roman" pitchFamily="18" charset="0"/>
                <a:cs typeface="Times New Roman" pitchFamily="18" charset="0"/>
              </a:rPr>
              <a:t> by addition of one more fatty acid. </a:t>
            </a:r>
          </a:p>
          <a:p>
            <a:pPr algn="just" eaLnBrk="1" fontAlgn="auto" hangingPunct="1">
              <a:spcAft>
                <a:spcPts val="0"/>
              </a:spcAft>
              <a:buFont typeface="Arial"/>
              <a:buChar char="•"/>
              <a:defRPr/>
            </a:pPr>
            <a:r>
              <a:rPr lang="en-US" dirty="0">
                <a:solidFill>
                  <a:schemeClr val="tx1">
                    <a:lumMod val="85000"/>
                    <a:lumOff val="15000"/>
                  </a:schemeClr>
                </a:solidFill>
                <a:latin typeface="Times New Roman" pitchFamily="18" charset="0"/>
                <a:cs typeface="Times New Roman" pitchFamily="18" charset="0"/>
              </a:rPr>
              <a:t>This minor pathway occurs during absorption of lipids in the intestines.</a:t>
            </a:r>
          </a:p>
          <a:p>
            <a:pPr algn="just" eaLnBrk="1" fontAlgn="auto" hangingPunct="1">
              <a:spcAft>
                <a:spcPts val="0"/>
              </a:spcAft>
              <a:buFont typeface="Arial" panose="020B0604020202020204" pitchFamily="34" charset="0"/>
              <a:buNone/>
              <a:defRPr/>
            </a:pPr>
            <a:r>
              <a:rPr lang="en-US" dirty="0">
                <a:solidFill>
                  <a:schemeClr val="tx1">
                    <a:lumMod val="85000"/>
                    <a:lumOff val="15000"/>
                  </a:schemeClr>
                </a:solidFill>
                <a:latin typeface="Times New Roman" pitchFamily="18" charset="0"/>
                <a:cs typeface="Times New Roman" pitchFamily="18" charset="0"/>
              </a:rPr>
              <a:t> </a:t>
            </a:r>
          </a:p>
          <a:p>
            <a:pPr eaLnBrk="1" fontAlgn="auto" hangingPunct="1">
              <a:spcAft>
                <a:spcPts val="0"/>
              </a:spcAft>
              <a:buFont typeface="Arial"/>
              <a:buChar char="•"/>
              <a:defRPr/>
            </a:pPr>
            <a:endParaRPr lang="en-US" dirty="0">
              <a:solidFill>
                <a:schemeClr val="tx1">
                  <a:lumMod val="85000"/>
                  <a:lumOff val="15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xmlns="" id="{A0FDBD24-D55F-AC35-DC97-6452F9E8B11B}"/>
              </a:ext>
            </a:extLst>
          </p:cNvPr>
          <p:cNvSpPr>
            <a:spLocks noGrp="1"/>
          </p:cNvSpPr>
          <p:nvPr>
            <p:ph type="title"/>
          </p:nvPr>
        </p:nvSpPr>
        <p:spPr>
          <a:xfrm>
            <a:off x="457200" y="0"/>
            <a:ext cx="8229600" cy="838200"/>
          </a:xfrm>
        </p:spPr>
        <p:txBody>
          <a:bodyPr/>
          <a:lstStyle/>
          <a:p>
            <a:pPr eaLnBrk="1" hangingPunct="1"/>
            <a:r>
              <a:rPr lang="en-US" altLang="en-US" i="1">
                <a:ln>
                  <a:noFill/>
                </a:ln>
                <a:solidFill>
                  <a:srgbClr val="FF0000"/>
                </a:solidFill>
                <a:latin typeface="Times New Roman" panose="02020603050405020304" pitchFamily="18" charset="0"/>
                <a:cs typeface="Times New Roman" panose="02020603050405020304" pitchFamily="18" charset="0"/>
              </a:rPr>
              <a:t>Regulation of fatty acid synthesis</a:t>
            </a:r>
            <a:endParaRPr lang="en-US" altLang="en-US">
              <a:ln>
                <a:noFill/>
              </a:ln>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3EE75CD2-47CE-6A9F-9C4D-6B3E5CC5E729}"/>
              </a:ext>
            </a:extLst>
          </p:cNvPr>
          <p:cNvSpPr>
            <a:spLocks noGrp="1"/>
          </p:cNvSpPr>
          <p:nvPr>
            <p:ph idx="1"/>
          </p:nvPr>
        </p:nvSpPr>
        <p:spPr>
          <a:xfrm>
            <a:off x="152400" y="685800"/>
            <a:ext cx="8763000" cy="6172200"/>
          </a:xfrm>
        </p:spPr>
        <p:txBody>
          <a:bodyPr rtlCol="0">
            <a:normAutofit fontScale="92500" lnSpcReduction="20000"/>
          </a:bodyPr>
          <a:lstStyle/>
          <a:p>
            <a:pPr algn="just" eaLnBrk="1" fontAlgn="auto" hangingPunct="1">
              <a:spcAft>
                <a:spcPts val="0"/>
              </a:spcAft>
              <a:buFont typeface="Arial"/>
              <a:buChar char="•"/>
              <a:defRPr/>
            </a:pPr>
            <a:r>
              <a:rPr lang="en-US" sz="3500" dirty="0">
                <a:solidFill>
                  <a:schemeClr val="tx1">
                    <a:lumMod val="85000"/>
                    <a:lumOff val="15000"/>
                  </a:schemeClr>
                </a:solidFill>
                <a:latin typeface="Times New Roman" pitchFamily="18" charset="0"/>
                <a:cs typeface="Times New Roman" pitchFamily="18" charset="0"/>
              </a:rPr>
              <a:t>Acetyl-</a:t>
            </a:r>
            <a:r>
              <a:rPr lang="en-US" sz="3500" dirty="0" err="1">
                <a:solidFill>
                  <a:schemeClr val="tx1">
                    <a:lumMod val="85000"/>
                    <a:lumOff val="15000"/>
                  </a:schemeClr>
                </a:solidFill>
                <a:latin typeface="Times New Roman" pitchFamily="18" charset="0"/>
                <a:cs typeface="Times New Roman" pitchFamily="18" charset="0"/>
              </a:rPr>
              <a:t>CoA</a:t>
            </a:r>
            <a:r>
              <a:rPr lang="en-US" sz="3500" dirty="0">
                <a:solidFill>
                  <a:schemeClr val="tx1">
                    <a:lumMod val="85000"/>
                    <a:lumOff val="15000"/>
                  </a:schemeClr>
                </a:solidFill>
                <a:latin typeface="Times New Roman" pitchFamily="18" charset="0"/>
                <a:cs typeface="Times New Roman" pitchFamily="18" charset="0"/>
              </a:rPr>
              <a:t> </a:t>
            </a:r>
            <a:r>
              <a:rPr lang="en-US" sz="3500" dirty="0" err="1">
                <a:solidFill>
                  <a:schemeClr val="tx1">
                    <a:lumMod val="85000"/>
                    <a:lumOff val="15000"/>
                  </a:schemeClr>
                </a:solidFill>
                <a:latin typeface="Times New Roman" pitchFamily="18" charset="0"/>
                <a:cs typeface="Times New Roman" pitchFamily="18" charset="0"/>
              </a:rPr>
              <a:t>carboxylase</a:t>
            </a:r>
            <a:r>
              <a:rPr lang="en-US" sz="3500" dirty="0">
                <a:solidFill>
                  <a:schemeClr val="tx1">
                    <a:lumMod val="85000"/>
                    <a:lumOff val="15000"/>
                  </a:schemeClr>
                </a:solidFill>
                <a:latin typeface="Times New Roman" pitchFamily="18" charset="0"/>
                <a:cs typeface="Times New Roman" pitchFamily="18" charset="0"/>
              </a:rPr>
              <a:t> is the rate-limiting enzyme of fatty acid synthesis. </a:t>
            </a:r>
          </a:p>
          <a:p>
            <a:pPr algn="just" eaLnBrk="1" fontAlgn="auto" hangingPunct="1">
              <a:spcAft>
                <a:spcPts val="0"/>
              </a:spcAft>
              <a:buFont typeface="Arial"/>
              <a:buChar char="•"/>
              <a:defRPr/>
            </a:pPr>
            <a:r>
              <a:rPr lang="en-US" sz="3500" dirty="0">
                <a:solidFill>
                  <a:schemeClr val="tx1">
                    <a:lumMod val="85000"/>
                    <a:lumOff val="15000"/>
                  </a:schemeClr>
                </a:solidFill>
                <a:latin typeface="Times New Roman" pitchFamily="18" charset="0"/>
                <a:cs typeface="Times New Roman" pitchFamily="18" charset="0"/>
              </a:rPr>
              <a:t>Its activity is regulated by </a:t>
            </a:r>
            <a:r>
              <a:rPr lang="en-US" sz="3500" dirty="0" err="1">
                <a:solidFill>
                  <a:schemeClr val="tx1">
                    <a:lumMod val="85000"/>
                    <a:lumOff val="15000"/>
                  </a:schemeClr>
                </a:solidFill>
                <a:latin typeface="Times New Roman" pitchFamily="18" charset="0"/>
                <a:cs typeface="Times New Roman" pitchFamily="18" charset="0"/>
              </a:rPr>
              <a:t>phosphorylation</a:t>
            </a:r>
            <a:r>
              <a:rPr lang="en-US" sz="3500" dirty="0">
                <a:solidFill>
                  <a:schemeClr val="tx1">
                    <a:lumMod val="85000"/>
                    <a:lumOff val="15000"/>
                  </a:schemeClr>
                </a:solidFill>
                <a:latin typeface="Times New Roman" pitchFamily="18" charset="0"/>
                <a:cs typeface="Times New Roman" pitchFamily="18" charset="0"/>
              </a:rPr>
              <a:t>, </a:t>
            </a:r>
            <a:r>
              <a:rPr lang="en-US" sz="3500" dirty="0" err="1">
                <a:solidFill>
                  <a:schemeClr val="tx1">
                    <a:lumMod val="85000"/>
                    <a:lumOff val="15000"/>
                  </a:schemeClr>
                </a:solidFill>
                <a:latin typeface="Times New Roman" pitchFamily="18" charset="0"/>
                <a:cs typeface="Times New Roman" pitchFamily="18" charset="0"/>
              </a:rPr>
              <a:t>allosteric</a:t>
            </a:r>
            <a:r>
              <a:rPr lang="en-US" sz="3500" dirty="0">
                <a:solidFill>
                  <a:schemeClr val="tx1">
                    <a:lumMod val="85000"/>
                    <a:lumOff val="15000"/>
                  </a:schemeClr>
                </a:solidFill>
                <a:latin typeface="Times New Roman" pitchFamily="18" charset="0"/>
                <a:cs typeface="Times New Roman" pitchFamily="18" charset="0"/>
              </a:rPr>
              <a:t> modification, and induction and repression of its synthesis. Citrate </a:t>
            </a:r>
            <a:r>
              <a:rPr lang="en-US" sz="3500" dirty="0" err="1">
                <a:solidFill>
                  <a:schemeClr val="tx1">
                    <a:lumMod val="85000"/>
                    <a:lumOff val="15000"/>
                  </a:schemeClr>
                </a:solidFill>
                <a:latin typeface="Times New Roman" pitchFamily="18" charset="0"/>
                <a:cs typeface="Times New Roman" pitchFamily="18" charset="0"/>
              </a:rPr>
              <a:t>allosterically</a:t>
            </a:r>
            <a:r>
              <a:rPr lang="en-US" sz="3500" dirty="0">
                <a:solidFill>
                  <a:schemeClr val="tx1">
                    <a:lumMod val="85000"/>
                    <a:lumOff val="15000"/>
                  </a:schemeClr>
                </a:solidFill>
                <a:latin typeface="Times New Roman" pitchFamily="18" charset="0"/>
                <a:cs typeface="Times New Roman" pitchFamily="18" charset="0"/>
              </a:rPr>
              <a:t> activates acetyl-</a:t>
            </a:r>
            <a:r>
              <a:rPr lang="en-US" sz="3500" dirty="0" err="1">
                <a:solidFill>
                  <a:schemeClr val="tx1">
                    <a:lumMod val="85000"/>
                    <a:lumOff val="15000"/>
                  </a:schemeClr>
                </a:solidFill>
                <a:latin typeface="Times New Roman" pitchFamily="18" charset="0"/>
                <a:cs typeface="Times New Roman" pitchFamily="18" charset="0"/>
              </a:rPr>
              <a:t>CoA</a:t>
            </a:r>
            <a:r>
              <a:rPr lang="en-US" sz="3500" dirty="0">
                <a:solidFill>
                  <a:schemeClr val="tx1">
                    <a:lumMod val="85000"/>
                    <a:lumOff val="15000"/>
                  </a:schemeClr>
                </a:solidFill>
                <a:latin typeface="Times New Roman" pitchFamily="18" charset="0"/>
                <a:cs typeface="Times New Roman" pitchFamily="18" charset="0"/>
              </a:rPr>
              <a:t> </a:t>
            </a:r>
            <a:r>
              <a:rPr lang="en-US" sz="3500" dirty="0" err="1">
                <a:solidFill>
                  <a:schemeClr val="tx1">
                    <a:lumMod val="85000"/>
                    <a:lumOff val="15000"/>
                  </a:schemeClr>
                </a:solidFill>
                <a:latin typeface="Times New Roman" pitchFamily="18" charset="0"/>
                <a:cs typeface="Times New Roman" pitchFamily="18" charset="0"/>
              </a:rPr>
              <a:t>carboxylase</a:t>
            </a:r>
            <a:r>
              <a:rPr lang="en-US" sz="3500" dirty="0">
                <a:solidFill>
                  <a:schemeClr val="tx1">
                    <a:lumMod val="85000"/>
                    <a:lumOff val="15000"/>
                  </a:schemeClr>
                </a:solidFill>
                <a:latin typeface="Times New Roman" pitchFamily="18" charset="0"/>
                <a:cs typeface="Times New Roman" pitchFamily="18" charset="0"/>
              </a:rPr>
              <a:t> by causing enzyme molecules to polymerize.</a:t>
            </a:r>
          </a:p>
          <a:p>
            <a:pPr algn="just" eaLnBrk="1" fontAlgn="auto" hangingPunct="1">
              <a:spcAft>
                <a:spcPts val="0"/>
              </a:spcAft>
              <a:buFont typeface="Arial"/>
              <a:buChar char="•"/>
              <a:defRPr/>
            </a:pPr>
            <a:r>
              <a:rPr lang="en-US" sz="3500" dirty="0">
                <a:solidFill>
                  <a:schemeClr val="tx1">
                    <a:lumMod val="85000"/>
                    <a:lumOff val="15000"/>
                  </a:schemeClr>
                </a:solidFill>
                <a:latin typeface="Times New Roman" pitchFamily="18" charset="0"/>
                <a:cs typeface="Times New Roman" pitchFamily="18" charset="0"/>
              </a:rPr>
              <a:t> </a:t>
            </a:r>
            <a:r>
              <a:rPr lang="en-US" sz="3500" dirty="0" err="1">
                <a:solidFill>
                  <a:schemeClr val="tx1">
                    <a:lumMod val="85000"/>
                    <a:lumOff val="15000"/>
                  </a:schemeClr>
                </a:solidFill>
                <a:latin typeface="Times New Roman" pitchFamily="18" charset="0"/>
                <a:cs typeface="Times New Roman" pitchFamily="18" charset="0"/>
              </a:rPr>
              <a:t>Palmityl</a:t>
            </a:r>
            <a:r>
              <a:rPr lang="en-US" sz="3500" dirty="0">
                <a:solidFill>
                  <a:schemeClr val="tx1">
                    <a:lumMod val="85000"/>
                    <a:lumOff val="15000"/>
                  </a:schemeClr>
                </a:solidFill>
                <a:latin typeface="Times New Roman" pitchFamily="18" charset="0"/>
                <a:cs typeface="Times New Roman" pitchFamily="18" charset="0"/>
              </a:rPr>
              <a:t> </a:t>
            </a:r>
            <a:r>
              <a:rPr lang="en-US" sz="3500" dirty="0" err="1">
                <a:solidFill>
                  <a:schemeClr val="tx1">
                    <a:lumMod val="85000"/>
                    <a:lumOff val="15000"/>
                  </a:schemeClr>
                </a:solidFill>
                <a:latin typeface="Times New Roman" pitchFamily="18" charset="0"/>
                <a:cs typeface="Times New Roman" pitchFamily="18" charset="0"/>
              </a:rPr>
              <a:t>CoA</a:t>
            </a:r>
            <a:r>
              <a:rPr lang="en-US" sz="3500" dirty="0">
                <a:solidFill>
                  <a:schemeClr val="tx1">
                    <a:lumMod val="85000"/>
                    <a:lumOff val="15000"/>
                  </a:schemeClr>
                </a:solidFill>
                <a:latin typeface="Times New Roman" pitchFamily="18" charset="0"/>
                <a:cs typeface="Times New Roman" pitchFamily="18" charset="0"/>
              </a:rPr>
              <a:t>, produced from </a:t>
            </a:r>
            <a:r>
              <a:rPr lang="en-US" sz="3500" dirty="0" err="1">
                <a:solidFill>
                  <a:schemeClr val="tx1">
                    <a:lumMod val="85000"/>
                    <a:lumOff val="15000"/>
                  </a:schemeClr>
                </a:solidFill>
                <a:latin typeface="Times New Roman" pitchFamily="18" charset="0"/>
                <a:cs typeface="Times New Roman" pitchFamily="18" charset="0"/>
              </a:rPr>
              <a:t>palmitate</a:t>
            </a:r>
            <a:r>
              <a:rPr lang="en-US" sz="3500" dirty="0">
                <a:solidFill>
                  <a:schemeClr val="tx1">
                    <a:lumMod val="85000"/>
                    <a:lumOff val="15000"/>
                  </a:schemeClr>
                </a:solidFill>
                <a:latin typeface="Times New Roman" pitchFamily="18" charset="0"/>
                <a:cs typeface="Times New Roman" pitchFamily="18" charset="0"/>
              </a:rPr>
              <a:t> (the end product of fatty acid </a:t>
            </a:r>
            <a:r>
              <a:rPr lang="en-US" sz="3500" dirty="0" err="1">
                <a:solidFill>
                  <a:schemeClr val="tx1">
                    <a:lumMod val="85000"/>
                    <a:lumOff val="15000"/>
                  </a:schemeClr>
                </a:solidFill>
                <a:latin typeface="Times New Roman" pitchFamily="18" charset="0"/>
                <a:cs typeface="Times New Roman" pitchFamily="18" charset="0"/>
              </a:rPr>
              <a:t>synthase</a:t>
            </a:r>
            <a:r>
              <a:rPr lang="en-US" sz="3500" dirty="0">
                <a:solidFill>
                  <a:schemeClr val="tx1">
                    <a:lumMod val="85000"/>
                    <a:lumOff val="15000"/>
                  </a:schemeClr>
                </a:solidFill>
                <a:latin typeface="Times New Roman" pitchFamily="18" charset="0"/>
                <a:cs typeface="Times New Roman" pitchFamily="18" charset="0"/>
              </a:rPr>
              <a:t> activity), inhibits acetyl-</a:t>
            </a:r>
            <a:r>
              <a:rPr lang="en-US" sz="3500" dirty="0" err="1">
                <a:solidFill>
                  <a:schemeClr val="tx1">
                    <a:lumMod val="85000"/>
                    <a:lumOff val="15000"/>
                  </a:schemeClr>
                </a:solidFill>
                <a:latin typeface="Times New Roman" pitchFamily="18" charset="0"/>
                <a:cs typeface="Times New Roman" pitchFamily="18" charset="0"/>
              </a:rPr>
              <a:t>CoA</a:t>
            </a:r>
            <a:r>
              <a:rPr lang="en-US" sz="3500" dirty="0">
                <a:solidFill>
                  <a:schemeClr val="tx1">
                    <a:lumMod val="85000"/>
                    <a:lumOff val="15000"/>
                  </a:schemeClr>
                </a:solidFill>
                <a:latin typeface="Times New Roman" pitchFamily="18" charset="0"/>
                <a:cs typeface="Times New Roman" pitchFamily="18" charset="0"/>
              </a:rPr>
              <a:t> </a:t>
            </a:r>
            <a:r>
              <a:rPr lang="en-US" sz="3500" dirty="0" err="1">
                <a:solidFill>
                  <a:schemeClr val="tx1">
                    <a:lumMod val="85000"/>
                    <a:lumOff val="15000"/>
                  </a:schemeClr>
                </a:solidFill>
                <a:latin typeface="Times New Roman" pitchFamily="18" charset="0"/>
                <a:cs typeface="Times New Roman" pitchFamily="18" charset="0"/>
              </a:rPr>
              <a:t>carboxylase</a:t>
            </a:r>
            <a:r>
              <a:rPr lang="en-US" sz="3500" dirty="0">
                <a:solidFill>
                  <a:schemeClr val="tx1">
                    <a:lumMod val="85000"/>
                    <a:lumOff val="15000"/>
                  </a:schemeClr>
                </a:solidFill>
                <a:latin typeface="Times New Roman" pitchFamily="18" charset="0"/>
                <a:cs typeface="Times New Roman" pitchFamily="18" charset="0"/>
              </a:rPr>
              <a:t>.</a:t>
            </a:r>
          </a:p>
          <a:p>
            <a:pPr algn="just" eaLnBrk="1" fontAlgn="auto" hangingPunct="1">
              <a:spcAft>
                <a:spcPts val="0"/>
              </a:spcAft>
              <a:buFont typeface="Arial"/>
              <a:buChar char="•"/>
              <a:defRPr/>
            </a:pPr>
            <a:r>
              <a:rPr lang="en-US" sz="3500" dirty="0">
                <a:solidFill>
                  <a:schemeClr val="tx1">
                    <a:lumMod val="85000"/>
                    <a:lumOff val="15000"/>
                  </a:schemeClr>
                </a:solidFill>
                <a:latin typeface="Times New Roman" pitchFamily="18" charset="0"/>
                <a:cs typeface="Times New Roman" pitchFamily="18" charset="0"/>
              </a:rPr>
              <a:t> </a:t>
            </a:r>
            <a:r>
              <a:rPr lang="en-US" sz="3500" dirty="0" err="1">
                <a:solidFill>
                  <a:schemeClr val="tx1">
                    <a:lumMod val="85000"/>
                    <a:lumOff val="15000"/>
                  </a:schemeClr>
                </a:solidFill>
                <a:latin typeface="Times New Roman" pitchFamily="18" charset="0"/>
                <a:cs typeface="Times New Roman" pitchFamily="18" charset="0"/>
              </a:rPr>
              <a:t>Phosphorylation</a:t>
            </a:r>
            <a:r>
              <a:rPr lang="en-US" sz="3500" dirty="0">
                <a:solidFill>
                  <a:schemeClr val="tx1">
                    <a:lumMod val="85000"/>
                    <a:lumOff val="15000"/>
                  </a:schemeClr>
                </a:solidFill>
                <a:latin typeface="Times New Roman" pitchFamily="18" charset="0"/>
                <a:cs typeface="Times New Roman" pitchFamily="18" charset="0"/>
              </a:rPr>
              <a:t> by an adenosine </a:t>
            </a:r>
            <a:r>
              <a:rPr lang="en-US" sz="3500" dirty="0" err="1">
                <a:solidFill>
                  <a:schemeClr val="tx1">
                    <a:lumMod val="85000"/>
                    <a:lumOff val="15000"/>
                  </a:schemeClr>
                </a:solidFill>
                <a:latin typeface="Times New Roman" pitchFamily="18" charset="0"/>
                <a:cs typeface="Times New Roman" pitchFamily="18" charset="0"/>
              </a:rPr>
              <a:t>monophosphate</a:t>
            </a:r>
            <a:r>
              <a:rPr lang="en-US" sz="3500" dirty="0">
                <a:solidFill>
                  <a:schemeClr val="tx1">
                    <a:lumMod val="85000"/>
                    <a:lumOff val="15000"/>
                  </a:schemeClr>
                </a:solidFill>
                <a:latin typeface="Times New Roman" pitchFamily="18" charset="0"/>
                <a:cs typeface="Times New Roman" pitchFamily="18" charset="0"/>
              </a:rPr>
              <a:t> (AMP) dependent protein </a:t>
            </a:r>
            <a:r>
              <a:rPr lang="en-US" sz="3500" dirty="0" err="1">
                <a:solidFill>
                  <a:schemeClr val="tx1">
                    <a:lumMod val="85000"/>
                    <a:lumOff val="15000"/>
                  </a:schemeClr>
                </a:solidFill>
                <a:latin typeface="Times New Roman" pitchFamily="18" charset="0"/>
                <a:cs typeface="Times New Roman" pitchFamily="18" charset="0"/>
              </a:rPr>
              <a:t>kinase</a:t>
            </a:r>
            <a:r>
              <a:rPr lang="en-US" sz="3500" dirty="0">
                <a:solidFill>
                  <a:schemeClr val="tx1">
                    <a:lumMod val="85000"/>
                    <a:lumOff val="15000"/>
                  </a:schemeClr>
                </a:solidFill>
                <a:latin typeface="Times New Roman" pitchFamily="18" charset="0"/>
                <a:cs typeface="Times New Roman" pitchFamily="18" charset="0"/>
              </a:rPr>
              <a:t> inhibits the enzyme in the fasting state, when energy levels are low. </a:t>
            </a:r>
          </a:p>
          <a:p>
            <a:pPr eaLnBrk="1" fontAlgn="auto" hangingPunct="1">
              <a:spcAft>
                <a:spcPts val="0"/>
              </a:spcAft>
              <a:buFont typeface="Arial"/>
              <a:buChar char="•"/>
              <a:defRPr/>
            </a:pPr>
            <a:endParaRPr lang="en-US" dirty="0">
              <a:solidFill>
                <a:schemeClr val="tx1">
                  <a:lumMod val="85000"/>
                  <a:lumOff val="15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xmlns="" id="{D7FA648C-5917-D6E7-FB59-AF6A9D7003E9}"/>
              </a:ext>
            </a:extLst>
          </p:cNvPr>
          <p:cNvSpPr>
            <a:spLocks noGrp="1"/>
          </p:cNvSpPr>
          <p:nvPr>
            <p:ph type="title"/>
          </p:nvPr>
        </p:nvSpPr>
        <p:spPr>
          <a:xfrm>
            <a:off x="457200" y="274638"/>
            <a:ext cx="8229600" cy="715962"/>
          </a:xfrm>
        </p:spPr>
        <p:txBody>
          <a:bodyPr/>
          <a:lstStyle/>
          <a:p>
            <a:pPr eaLnBrk="1" hangingPunct="1"/>
            <a:r>
              <a:rPr lang="en-US" altLang="en-US">
                <a:ln>
                  <a:noFill/>
                </a:ln>
              </a:rPr>
              <a:t>CONT’</a:t>
            </a:r>
          </a:p>
        </p:txBody>
      </p:sp>
      <p:sp>
        <p:nvSpPr>
          <p:cNvPr id="27651" name="Content Placeholder 2">
            <a:extLst>
              <a:ext uri="{FF2B5EF4-FFF2-40B4-BE49-F238E27FC236}">
                <a16:creationId xmlns:a16="http://schemas.microsoft.com/office/drawing/2014/main" xmlns="" id="{30AE18F7-8686-81B1-9BFC-CE17C4573088}"/>
              </a:ext>
            </a:extLst>
          </p:cNvPr>
          <p:cNvSpPr>
            <a:spLocks noGrp="1"/>
          </p:cNvSpPr>
          <p:nvPr>
            <p:ph idx="1"/>
          </p:nvPr>
        </p:nvSpPr>
        <p:spPr>
          <a:xfrm>
            <a:off x="152400" y="838200"/>
            <a:ext cx="8839200" cy="5638800"/>
          </a:xfrm>
        </p:spPr>
        <p:txBody>
          <a:bodyPr/>
          <a:lstStyle/>
          <a:p>
            <a:pPr algn="just" eaLnBrk="1" hangingPunct="1"/>
            <a:r>
              <a:rPr lang="en-US" altLang="en-US" sz="2800">
                <a:latin typeface="Times New Roman" panose="02020603050405020304" pitchFamily="18" charset="0"/>
                <a:cs typeface="Times New Roman" panose="02020603050405020304" pitchFamily="18" charset="0"/>
              </a:rPr>
              <a:t>The enzyme is activated by dephosphorylation in the fed state, when energy and insulin levels are high. </a:t>
            </a:r>
          </a:p>
          <a:p>
            <a:pPr algn="just" eaLnBrk="1" hangingPunct="1"/>
            <a:r>
              <a:rPr lang="en-US" altLang="en-US" sz="2800">
                <a:latin typeface="Times New Roman" panose="02020603050405020304" pitchFamily="18" charset="0"/>
                <a:cs typeface="Times New Roman" panose="02020603050405020304" pitchFamily="18" charset="0"/>
              </a:rPr>
              <a:t>A high insulin/glucagon ratio also results in induction of the synthesis of both acetyl-CoA carboxylase and the next enzyme in the pathway, fatty acid synthase.</a:t>
            </a:r>
          </a:p>
          <a:p>
            <a:pPr algn="just" eaLnBrk="1" hangingPunct="1"/>
            <a:endParaRPr lang="en-US"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7B5C7D-C0EC-5119-BD5E-9B0D328E3D96}"/>
              </a:ext>
            </a:extLst>
          </p:cNvPr>
          <p:cNvSpPr>
            <a:spLocks noGrp="1"/>
          </p:cNvSpPr>
          <p:nvPr>
            <p:ph type="title"/>
          </p:nvPr>
        </p:nvSpPr>
        <p:spPr>
          <a:xfrm>
            <a:off x="457200" y="0"/>
            <a:ext cx="8229600" cy="533400"/>
          </a:xfrm>
        </p:spPr>
        <p:txBody>
          <a:bodyPr rtlCol="0">
            <a:normAutofit fontScale="90000"/>
          </a:bodyPr>
          <a:lstStyle/>
          <a:p>
            <a:pPr eaLnBrk="1" fontAlgn="auto" hangingPunct="1">
              <a:spcAft>
                <a:spcPts val="0"/>
              </a:spcAft>
              <a:defRPr/>
            </a:pPr>
            <a:r>
              <a:rPr lang="en-US" i="1" dirty="0">
                <a:solidFill>
                  <a:srgbClr val="FF0000"/>
                </a:solidFill>
                <a:latin typeface="Times New Roman" pitchFamily="18" charset="0"/>
                <a:cs typeface="Times New Roman" pitchFamily="18" charset="0"/>
              </a:rPr>
              <a:t>Biosynthesis of </a:t>
            </a:r>
            <a:r>
              <a:rPr lang="en-US" i="1" dirty="0" err="1">
                <a:solidFill>
                  <a:srgbClr val="FF0000"/>
                </a:solidFill>
                <a:latin typeface="Times New Roman" pitchFamily="18" charset="0"/>
                <a:cs typeface="Times New Roman" pitchFamily="18" charset="0"/>
              </a:rPr>
              <a:t>eicosanoids</a:t>
            </a:r>
            <a:r>
              <a:rPr lang="en-US" i="1" dirty="0">
                <a:solidFill>
                  <a:srgbClr val="FF0000"/>
                </a:solidFill>
                <a:latin typeface="Times New Roman" pitchFamily="18" charset="0"/>
                <a:cs typeface="Times New Roman" pitchFamily="18" charset="0"/>
              </a:rPr>
              <a:t> </a:t>
            </a:r>
            <a:endParaRPr lang="en-US" dirty="0">
              <a:solidFill>
                <a:srgbClr val="FF0000"/>
              </a:solidFill>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12876350-3AD3-2C3E-B171-A2A5059891EF}"/>
              </a:ext>
            </a:extLst>
          </p:cNvPr>
          <p:cNvSpPr>
            <a:spLocks noGrp="1"/>
          </p:cNvSpPr>
          <p:nvPr>
            <p:ph idx="1"/>
          </p:nvPr>
        </p:nvSpPr>
        <p:spPr>
          <a:xfrm>
            <a:off x="457200" y="533400"/>
            <a:ext cx="8229600" cy="6324600"/>
          </a:xfrm>
        </p:spPr>
        <p:txBody>
          <a:bodyPr rtlCol="0">
            <a:normAutofit fontScale="62500" lnSpcReduction="20000"/>
          </a:bodyPr>
          <a:lstStyle/>
          <a:p>
            <a:pPr algn="just" eaLnBrk="1" fontAlgn="auto" hangingPunct="1">
              <a:spcAft>
                <a:spcPts val="0"/>
              </a:spcAft>
              <a:buFont typeface="Arial"/>
              <a:buChar char="•"/>
              <a:defRPr/>
            </a:pPr>
            <a:r>
              <a:rPr lang="en-US" sz="4000" dirty="0">
                <a:solidFill>
                  <a:schemeClr val="tx1">
                    <a:lumMod val="85000"/>
                    <a:lumOff val="15000"/>
                  </a:schemeClr>
                </a:solidFill>
                <a:latin typeface="Times New Roman" pitchFamily="18" charset="0"/>
                <a:cs typeface="Times New Roman" pitchFamily="18" charset="0"/>
              </a:rPr>
              <a:t>The name </a:t>
            </a:r>
            <a:r>
              <a:rPr lang="en-US" sz="4000" dirty="0" err="1">
                <a:solidFill>
                  <a:schemeClr val="tx1">
                    <a:lumMod val="85000"/>
                    <a:lumOff val="15000"/>
                  </a:schemeClr>
                </a:solidFill>
                <a:latin typeface="Times New Roman" pitchFamily="18" charset="0"/>
                <a:cs typeface="Times New Roman" pitchFamily="18" charset="0"/>
              </a:rPr>
              <a:t>eicosanoids</a:t>
            </a:r>
            <a:r>
              <a:rPr lang="en-US" sz="4000" dirty="0">
                <a:solidFill>
                  <a:schemeClr val="tx1">
                    <a:lumMod val="85000"/>
                    <a:lumOff val="15000"/>
                  </a:schemeClr>
                </a:solidFill>
                <a:latin typeface="Times New Roman" pitchFamily="18" charset="0"/>
                <a:cs typeface="Times New Roman" pitchFamily="18" charset="0"/>
              </a:rPr>
              <a:t> is derived from Greek word ‘</a:t>
            </a:r>
            <a:r>
              <a:rPr lang="en-US" sz="4000" dirty="0" err="1">
                <a:solidFill>
                  <a:schemeClr val="tx1">
                    <a:lumMod val="85000"/>
                    <a:lumOff val="15000"/>
                  </a:schemeClr>
                </a:solidFill>
                <a:latin typeface="Times New Roman" pitchFamily="18" charset="0"/>
                <a:cs typeface="Times New Roman" pitchFamily="18" charset="0"/>
              </a:rPr>
              <a:t>eicosa</a:t>
            </a:r>
            <a:r>
              <a:rPr lang="en-US" sz="4000" dirty="0">
                <a:solidFill>
                  <a:schemeClr val="tx1">
                    <a:lumMod val="85000"/>
                    <a:lumOff val="15000"/>
                  </a:schemeClr>
                </a:solidFill>
                <a:latin typeface="Times New Roman" pitchFamily="18" charset="0"/>
                <a:cs typeface="Times New Roman" pitchFamily="18" charset="0"/>
              </a:rPr>
              <a:t>’ which stands for the number 20. For definition, </a:t>
            </a:r>
            <a:r>
              <a:rPr lang="en-US" sz="4000" dirty="0" err="1">
                <a:solidFill>
                  <a:schemeClr val="tx1">
                    <a:lumMod val="85000"/>
                    <a:lumOff val="15000"/>
                  </a:schemeClr>
                </a:solidFill>
                <a:latin typeface="Times New Roman" pitchFamily="18" charset="0"/>
                <a:cs typeface="Times New Roman" pitchFamily="18" charset="0"/>
              </a:rPr>
              <a:t>eicosanoids</a:t>
            </a:r>
            <a:r>
              <a:rPr lang="en-US" sz="4000" dirty="0">
                <a:solidFill>
                  <a:schemeClr val="tx1">
                    <a:lumMod val="85000"/>
                    <a:lumOff val="15000"/>
                  </a:schemeClr>
                </a:solidFill>
                <a:latin typeface="Times New Roman" pitchFamily="18" charset="0"/>
                <a:cs typeface="Times New Roman" pitchFamily="18" charset="0"/>
              </a:rPr>
              <a:t> are biologically active lipids derived from 20-carbon fatty acids.</a:t>
            </a:r>
          </a:p>
          <a:p>
            <a:pPr algn="just" eaLnBrk="1" fontAlgn="auto" hangingPunct="1">
              <a:spcAft>
                <a:spcPts val="0"/>
              </a:spcAft>
              <a:buFont typeface="Arial"/>
              <a:buChar char="•"/>
              <a:defRPr/>
            </a:pPr>
            <a:r>
              <a:rPr lang="en-US" sz="4000" dirty="0">
                <a:solidFill>
                  <a:schemeClr val="tx1">
                    <a:lumMod val="85000"/>
                    <a:lumOff val="15000"/>
                  </a:schemeClr>
                </a:solidFill>
                <a:latin typeface="Times New Roman" pitchFamily="18" charset="0"/>
                <a:cs typeface="Times New Roman" pitchFamily="18" charset="0"/>
              </a:rPr>
              <a:t> There are four families of </a:t>
            </a:r>
            <a:r>
              <a:rPr lang="en-US" sz="4000" dirty="0" err="1">
                <a:solidFill>
                  <a:schemeClr val="tx1">
                    <a:lumMod val="85000"/>
                    <a:lumOff val="15000"/>
                  </a:schemeClr>
                </a:solidFill>
                <a:latin typeface="Times New Roman" pitchFamily="18" charset="0"/>
                <a:cs typeface="Times New Roman" pitchFamily="18" charset="0"/>
              </a:rPr>
              <a:t>eicosanoids</a:t>
            </a:r>
            <a:r>
              <a:rPr lang="en-US" sz="4000" dirty="0">
                <a:solidFill>
                  <a:schemeClr val="tx1">
                    <a:lumMod val="85000"/>
                    <a:lumOff val="15000"/>
                  </a:schemeClr>
                </a:solidFill>
                <a:latin typeface="Times New Roman" pitchFamily="18" charset="0"/>
                <a:cs typeface="Times New Roman" pitchFamily="18" charset="0"/>
              </a:rPr>
              <a:t> namely the prostaglandins, </a:t>
            </a:r>
            <a:r>
              <a:rPr lang="en-US" sz="4000" dirty="0" err="1">
                <a:solidFill>
                  <a:schemeClr val="tx1">
                    <a:lumMod val="85000"/>
                    <a:lumOff val="15000"/>
                  </a:schemeClr>
                </a:solidFill>
                <a:latin typeface="Times New Roman" pitchFamily="18" charset="0"/>
                <a:cs typeface="Times New Roman" pitchFamily="18" charset="0"/>
              </a:rPr>
              <a:t>prostacyclins</a:t>
            </a:r>
            <a:r>
              <a:rPr lang="en-US" sz="4000" dirty="0">
                <a:solidFill>
                  <a:schemeClr val="tx1">
                    <a:lumMod val="85000"/>
                    <a:lumOff val="15000"/>
                  </a:schemeClr>
                </a:solidFill>
                <a:latin typeface="Times New Roman" pitchFamily="18" charset="0"/>
                <a:cs typeface="Times New Roman" pitchFamily="18" charset="0"/>
              </a:rPr>
              <a:t>, </a:t>
            </a:r>
            <a:r>
              <a:rPr lang="en-US" sz="4000" dirty="0" err="1">
                <a:solidFill>
                  <a:schemeClr val="tx1">
                    <a:lumMod val="85000"/>
                    <a:lumOff val="15000"/>
                  </a:schemeClr>
                </a:solidFill>
                <a:latin typeface="Times New Roman" pitchFamily="18" charset="0"/>
                <a:cs typeface="Times New Roman" pitchFamily="18" charset="0"/>
              </a:rPr>
              <a:t>thromboxanes</a:t>
            </a:r>
            <a:r>
              <a:rPr lang="en-US" sz="4000" dirty="0">
                <a:solidFill>
                  <a:schemeClr val="tx1">
                    <a:lumMod val="85000"/>
                    <a:lumOff val="15000"/>
                  </a:schemeClr>
                </a:solidFill>
                <a:latin typeface="Times New Roman" pitchFamily="18" charset="0"/>
                <a:cs typeface="Times New Roman" pitchFamily="18" charset="0"/>
              </a:rPr>
              <a:t> and </a:t>
            </a:r>
            <a:r>
              <a:rPr lang="en-US" sz="4000" dirty="0" err="1">
                <a:solidFill>
                  <a:schemeClr val="tx1">
                    <a:lumMod val="85000"/>
                    <a:lumOff val="15000"/>
                  </a:schemeClr>
                </a:solidFill>
                <a:latin typeface="Times New Roman" pitchFamily="18" charset="0"/>
                <a:cs typeface="Times New Roman" pitchFamily="18" charset="0"/>
              </a:rPr>
              <a:t>leukotrienes</a:t>
            </a:r>
            <a:r>
              <a:rPr lang="en-US" sz="4000" dirty="0">
                <a:solidFill>
                  <a:schemeClr val="tx1">
                    <a:lumMod val="85000"/>
                    <a:lumOff val="15000"/>
                  </a:schemeClr>
                </a:solidFill>
                <a:latin typeface="Times New Roman" pitchFamily="18" charset="0"/>
                <a:cs typeface="Times New Roman" pitchFamily="18" charset="0"/>
              </a:rPr>
              <a:t>. </a:t>
            </a:r>
          </a:p>
          <a:p>
            <a:pPr algn="just" eaLnBrk="1" fontAlgn="auto" hangingPunct="1">
              <a:spcAft>
                <a:spcPts val="0"/>
              </a:spcAft>
              <a:buFont typeface="Arial"/>
              <a:buChar char="•"/>
              <a:defRPr/>
            </a:pPr>
            <a:r>
              <a:rPr lang="en-US" sz="4000" dirty="0">
                <a:solidFill>
                  <a:schemeClr val="tx1">
                    <a:lumMod val="85000"/>
                    <a:lumOff val="15000"/>
                  </a:schemeClr>
                </a:solidFill>
                <a:latin typeface="Times New Roman" pitchFamily="18" charset="0"/>
                <a:cs typeface="Times New Roman" pitchFamily="18" charset="0"/>
              </a:rPr>
              <a:t>The prostaglandins, </a:t>
            </a:r>
            <a:r>
              <a:rPr lang="en-US" sz="4000" dirty="0" err="1">
                <a:solidFill>
                  <a:schemeClr val="tx1">
                    <a:lumMod val="85000"/>
                    <a:lumOff val="15000"/>
                  </a:schemeClr>
                </a:solidFill>
                <a:latin typeface="Times New Roman" pitchFamily="18" charset="0"/>
                <a:cs typeface="Times New Roman" pitchFamily="18" charset="0"/>
              </a:rPr>
              <a:t>prostacyclins</a:t>
            </a:r>
            <a:r>
              <a:rPr lang="en-US" sz="4000" dirty="0">
                <a:solidFill>
                  <a:schemeClr val="tx1">
                    <a:lumMod val="85000"/>
                    <a:lumOff val="15000"/>
                  </a:schemeClr>
                </a:solidFill>
                <a:latin typeface="Times New Roman" pitchFamily="18" charset="0"/>
                <a:cs typeface="Times New Roman" pitchFamily="18" charset="0"/>
              </a:rPr>
              <a:t> and </a:t>
            </a:r>
            <a:r>
              <a:rPr lang="en-US" sz="4000" dirty="0" err="1">
                <a:solidFill>
                  <a:schemeClr val="tx1">
                    <a:lumMod val="85000"/>
                    <a:lumOff val="15000"/>
                  </a:schemeClr>
                </a:solidFill>
                <a:latin typeface="Times New Roman" pitchFamily="18" charset="0"/>
                <a:cs typeface="Times New Roman" pitchFamily="18" charset="0"/>
              </a:rPr>
              <a:t>thromboxanes</a:t>
            </a:r>
            <a:r>
              <a:rPr lang="en-US" sz="4000" dirty="0">
                <a:solidFill>
                  <a:schemeClr val="tx1">
                    <a:lumMod val="85000"/>
                    <a:lumOff val="15000"/>
                  </a:schemeClr>
                </a:solidFill>
                <a:latin typeface="Times New Roman" pitchFamily="18" charset="0"/>
                <a:cs typeface="Times New Roman" pitchFamily="18" charset="0"/>
              </a:rPr>
              <a:t> are collectively called the </a:t>
            </a:r>
            <a:r>
              <a:rPr lang="en-US" sz="4000" dirty="0" err="1">
                <a:solidFill>
                  <a:schemeClr val="tx1">
                    <a:lumMod val="85000"/>
                    <a:lumOff val="15000"/>
                  </a:schemeClr>
                </a:solidFill>
                <a:latin typeface="Times New Roman" pitchFamily="18" charset="0"/>
                <a:cs typeface="Times New Roman" pitchFamily="18" charset="0"/>
              </a:rPr>
              <a:t>prostanoids</a:t>
            </a:r>
            <a:r>
              <a:rPr lang="en-US" sz="4000" dirty="0">
                <a:solidFill>
                  <a:schemeClr val="tx1">
                    <a:lumMod val="85000"/>
                    <a:lumOff val="15000"/>
                  </a:schemeClr>
                </a:solidFill>
                <a:latin typeface="Times New Roman" pitchFamily="18" charset="0"/>
                <a:cs typeface="Times New Roman" pitchFamily="18" charset="0"/>
              </a:rPr>
              <a:t>.  </a:t>
            </a:r>
          </a:p>
          <a:p>
            <a:pPr algn="just" eaLnBrk="1" fontAlgn="auto" hangingPunct="1">
              <a:spcAft>
                <a:spcPts val="0"/>
              </a:spcAft>
              <a:buFont typeface="Arial"/>
              <a:buChar char="•"/>
              <a:defRPr/>
            </a:pPr>
            <a:r>
              <a:rPr lang="en-US" sz="4000" dirty="0">
                <a:solidFill>
                  <a:schemeClr val="tx1">
                    <a:lumMod val="85000"/>
                    <a:lumOff val="15000"/>
                  </a:schemeClr>
                </a:solidFill>
                <a:latin typeface="Times New Roman" pitchFamily="18" charset="0"/>
                <a:cs typeface="Times New Roman" pitchFamily="18" charset="0"/>
              </a:rPr>
              <a:t>All the four families of </a:t>
            </a:r>
            <a:r>
              <a:rPr lang="en-US" sz="4000" dirty="0" err="1">
                <a:solidFill>
                  <a:schemeClr val="tx1">
                    <a:lumMod val="85000"/>
                    <a:lumOff val="15000"/>
                  </a:schemeClr>
                </a:solidFill>
                <a:latin typeface="Times New Roman" pitchFamily="18" charset="0"/>
                <a:cs typeface="Times New Roman" pitchFamily="18" charset="0"/>
              </a:rPr>
              <a:t>eicosanoids</a:t>
            </a:r>
            <a:r>
              <a:rPr lang="en-US" sz="4000" dirty="0">
                <a:solidFill>
                  <a:schemeClr val="tx1">
                    <a:lumMod val="85000"/>
                    <a:lumOff val="15000"/>
                  </a:schemeClr>
                </a:solidFill>
                <a:latin typeface="Times New Roman" pitchFamily="18" charset="0"/>
                <a:cs typeface="Times New Roman" pitchFamily="18" charset="0"/>
              </a:rPr>
              <a:t> are derivatives of three essential fatty acids (EFA) namely:</a:t>
            </a:r>
          </a:p>
          <a:p>
            <a:pPr marL="571500" indent="-571500" algn="just" eaLnBrk="1" fontAlgn="auto" hangingPunct="1">
              <a:spcAft>
                <a:spcPts val="0"/>
              </a:spcAft>
              <a:buFont typeface="Arial" panose="020B0604020202020204" pitchFamily="34" charset="0"/>
              <a:buAutoNum type="romanLcParenR"/>
              <a:defRPr/>
            </a:pPr>
            <a:r>
              <a:rPr lang="en-US" sz="4000" dirty="0" err="1">
                <a:solidFill>
                  <a:schemeClr val="tx1">
                    <a:lumMod val="85000"/>
                    <a:lumOff val="15000"/>
                  </a:schemeClr>
                </a:solidFill>
                <a:latin typeface="Times New Roman" pitchFamily="18" charset="0"/>
                <a:cs typeface="Times New Roman" pitchFamily="18" charset="0"/>
              </a:rPr>
              <a:t>Eicosapentaenoic</a:t>
            </a:r>
            <a:r>
              <a:rPr lang="en-US" sz="4000" dirty="0">
                <a:solidFill>
                  <a:schemeClr val="tx1">
                    <a:lumMod val="85000"/>
                    <a:lumOff val="15000"/>
                  </a:schemeClr>
                </a:solidFill>
                <a:latin typeface="Times New Roman" pitchFamily="18" charset="0"/>
                <a:cs typeface="Times New Roman" pitchFamily="18" charset="0"/>
              </a:rPr>
              <a:t> acid (EPA), an Omega-3 fatty acid with 5 double bonds,</a:t>
            </a:r>
          </a:p>
          <a:p>
            <a:pPr marL="571500" indent="-571500" algn="just" eaLnBrk="1" fontAlgn="auto" hangingPunct="1">
              <a:spcAft>
                <a:spcPts val="0"/>
              </a:spcAft>
              <a:buFont typeface="Arial" panose="020B0604020202020204" pitchFamily="34" charset="0"/>
              <a:buAutoNum type="romanLcParenR"/>
              <a:defRPr/>
            </a:pPr>
            <a:r>
              <a:rPr lang="en-US" sz="4000" dirty="0" err="1">
                <a:solidFill>
                  <a:schemeClr val="tx1">
                    <a:lumMod val="85000"/>
                    <a:lumOff val="15000"/>
                  </a:schemeClr>
                </a:solidFill>
                <a:latin typeface="Times New Roman" pitchFamily="18" charset="0"/>
                <a:cs typeface="Times New Roman" pitchFamily="18" charset="0"/>
              </a:rPr>
              <a:t>Arachidonic</a:t>
            </a:r>
            <a:r>
              <a:rPr lang="en-US" sz="4000" dirty="0">
                <a:solidFill>
                  <a:schemeClr val="tx1">
                    <a:lumMod val="85000"/>
                    <a:lumOff val="15000"/>
                  </a:schemeClr>
                </a:solidFill>
                <a:latin typeface="Times New Roman" pitchFamily="18" charset="0"/>
                <a:cs typeface="Times New Roman" pitchFamily="18" charset="0"/>
              </a:rPr>
              <a:t> acid (AA), an Omega-6 fatty acid, with 4 double bonds,</a:t>
            </a:r>
          </a:p>
          <a:p>
            <a:pPr marL="571500" indent="-571500" algn="just" eaLnBrk="1" fontAlgn="auto" hangingPunct="1">
              <a:spcAft>
                <a:spcPts val="0"/>
              </a:spcAft>
              <a:buFont typeface="Arial" panose="020B0604020202020204" pitchFamily="34" charset="0"/>
              <a:buAutoNum type="romanLcParenR"/>
              <a:defRPr/>
            </a:pPr>
            <a:r>
              <a:rPr lang="en-US" sz="4000" dirty="0">
                <a:solidFill>
                  <a:schemeClr val="tx1">
                    <a:lumMod val="85000"/>
                    <a:lumOff val="15000"/>
                  </a:schemeClr>
                </a:solidFill>
                <a:latin typeface="Times New Roman" pitchFamily="18" charset="0"/>
                <a:cs typeface="Times New Roman" pitchFamily="18" charset="0"/>
              </a:rPr>
              <a:t>Gamma-</a:t>
            </a:r>
            <a:r>
              <a:rPr lang="en-US" sz="4000" dirty="0" err="1">
                <a:solidFill>
                  <a:schemeClr val="tx1">
                    <a:lumMod val="85000"/>
                    <a:lumOff val="15000"/>
                  </a:schemeClr>
                </a:solidFill>
                <a:latin typeface="Times New Roman" pitchFamily="18" charset="0"/>
                <a:cs typeface="Times New Roman" pitchFamily="18" charset="0"/>
              </a:rPr>
              <a:t>linolenic</a:t>
            </a:r>
            <a:r>
              <a:rPr lang="en-US" sz="4000" dirty="0">
                <a:solidFill>
                  <a:schemeClr val="tx1">
                    <a:lumMod val="85000"/>
                    <a:lumOff val="15000"/>
                  </a:schemeClr>
                </a:solidFill>
                <a:latin typeface="Times New Roman" pitchFamily="18" charset="0"/>
                <a:cs typeface="Times New Roman" pitchFamily="18" charset="0"/>
              </a:rPr>
              <a:t> acid (GLA), an Omega-6 fatty acid, with 3 double bonds.</a:t>
            </a:r>
          </a:p>
          <a:p>
            <a:pPr algn="just" eaLnBrk="1" fontAlgn="auto" hangingPunct="1">
              <a:spcAft>
                <a:spcPts val="0"/>
              </a:spcAft>
              <a:buFont typeface="Arial" panose="020B0604020202020204" pitchFamily="34" charset="0"/>
              <a:buNone/>
              <a:defRPr/>
            </a:pPr>
            <a:r>
              <a:rPr lang="en-US" sz="4000" dirty="0">
                <a:solidFill>
                  <a:schemeClr val="tx1">
                    <a:lumMod val="85000"/>
                    <a:lumOff val="15000"/>
                  </a:schemeClr>
                </a:solidFill>
                <a:latin typeface="Times New Roman" pitchFamily="18" charset="0"/>
                <a:cs typeface="Times New Roman" pitchFamily="18" charset="0"/>
              </a:rPr>
              <a:t> </a:t>
            </a:r>
          </a:p>
          <a:p>
            <a:pPr eaLnBrk="1" fontAlgn="auto" hangingPunct="1">
              <a:spcAft>
                <a:spcPts val="0"/>
              </a:spcAft>
              <a:buFont typeface="Arial"/>
              <a:buChar char="•"/>
              <a:defRPr/>
            </a:pPr>
            <a:endParaRPr lang="en-US" dirty="0">
              <a:solidFill>
                <a:schemeClr val="tx1">
                  <a:lumMod val="85000"/>
                  <a:lumOff val="15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D400EE-31E1-200A-B43B-5B6437E7A49B}"/>
              </a:ext>
            </a:extLst>
          </p:cNvPr>
          <p:cNvSpPr>
            <a:spLocks noGrp="1"/>
          </p:cNvSpPr>
          <p:nvPr>
            <p:ph type="title"/>
          </p:nvPr>
        </p:nvSpPr>
        <p:spPr>
          <a:xfrm>
            <a:off x="457200" y="0"/>
            <a:ext cx="8229600" cy="762000"/>
          </a:xfrm>
        </p:spPr>
        <p:txBody>
          <a:bodyPr rtlCol="0">
            <a:normAutofit fontScale="90000"/>
          </a:bodyPr>
          <a:lstStyle/>
          <a:p>
            <a:pPr eaLnBrk="1" fontAlgn="auto" hangingPunct="1">
              <a:spcAft>
                <a:spcPts val="0"/>
              </a:spcAft>
              <a:defRPr/>
            </a:pPr>
            <a:r>
              <a:rPr lang="en-US" b="1" dirty="0">
                <a:solidFill>
                  <a:srgbClr val="FF0000"/>
                </a:solidFill>
                <a:latin typeface="Times New Roman" pitchFamily="18" charset="0"/>
                <a:cs typeface="Times New Roman" pitchFamily="18" charset="0"/>
              </a:rPr>
              <a:t/>
            </a:r>
            <a:br>
              <a:rPr lang="en-US" b="1" dirty="0">
                <a:solidFill>
                  <a:srgbClr val="FF0000"/>
                </a:solidFill>
                <a:latin typeface="Times New Roman" pitchFamily="18" charset="0"/>
                <a:cs typeface="Times New Roman" pitchFamily="18" charset="0"/>
              </a:rPr>
            </a:br>
            <a:r>
              <a:rPr lang="en-US" b="1" dirty="0">
                <a:solidFill>
                  <a:srgbClr val="FF0000"/>
                </a:solidFill>
                <a:latin typeface="Times New Roman" pitchFamily="18" charset="0"/>
                <a:cs typeface="Times New Roman" pitchFamily="18" charset="0"/>
              </a:rPr>
              <a:t>a) The role of </a:t>
            </a:r>
            <a:r>
              <a:rPr lang="en-US" b="1" dirty="0" err="1">
                <a:solidFill>
                  <a:srgbClr val="FF0000"/>
                </a:solidFill>
                <a:latin typeface="Times New Roman" pitchFamily="18" charset="0"/>
                <a:cs typeface="Times New Roman" pitchFamily="18" charset="0"/>
              </a:rPr>
              <a:t>eicosanoids</a:t>
            </a:r>
            <a:r>
              <a:rPr lang="en-US" dirty="0">
                <a:solidFill>
                  <a:srgbClr val="FF0000"/>
                </a:solidFill>
                <a:latin typeface="Times New Roman" pitchFamily="18" charset="0"/>
                <a:cs typeface="Times New Roman" pitchFamily="18" charset="0"/>
              </a:rPr>
              <a:t/>
            </a:r>
            <a:br>
              <a:rPr lang="en-US" dirty="0">
                <a:solidFill>
                  <a:srgbClr val="FF0000"/>
                </a:solidFill>
                <a:latin typeface="Times New Roman" pitchFamily="18" charset="0"/>
                <a:cs typeface="Times New Roman" pitchFamily="18" charset="0"/>
              </a:rPr>
            </a:br>
            <a:endParaRPr lang="en-US" dirty="0">
              <a:solidFill>
                <a:srgbClr val="FF0000"/>
              </a:solidFill>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D4906E87-4B45-BF8F-5860-9E01344ADBA2}"/>
              </a:ext>
            </a:extLst>
          </p:cNvPr>
          <p:cNvSpPr>
            <a:spLocks noGrp="1"/>
          </p:cNvSpPr>
          <p:nvPr>
            <p:ph idx="1"/>
          </p:nvPr>
        </p:nvSpPr>
        <p:spPr>
          <a:xfrm>
            <a:off x="228600" y="838200"/>
            <a:ext cx="8763000" cy="5715000"/>
          </a:xfrm>
        </p:spPr>
        <p:txBody>
          <a:bodyPr rtlCol="0">
            <a:normAutofit fontScale="70000" lnSpcReduction="20000"/>
          </a:bodyPr>
          <a:lstStyle/>
          <a:p>
            <a:pPr algn="just" eaLnBrk="1" fontAlgn="auto" hangingPunct="1">
              <a:spcAft>
                <a:spcPts val="0"/>
              </a:spcAft>
              <a:buFont typeface="Arial"/>
              <a:buChar char="•"/>
              <a:defRPr/>
            </a:pPr>
            <a:r>
              <a:rPr lang="en-US" sz="4000" dirty="0">
                <a:solidFill>
                  <a:schemeClr val="tx1">
                    <a:lumMod val="85000"/>
                    <a:lumOff val="15000"/>
                  </a:schemeClr>
                </a:solidFill>
                <a:latin typeface="Times New Roman" pitchFamily="18" charset="0"/>
                <a:cs typeface="Times New Roman" pitchFamily="18" charset="0"/>
              </a:rPr>
              <a:t>The </a:t>
            </a:r>
            <a:r>
              <a:rPr lang="en-US" sz="4000" dirty="0" err="1">
                <a:solidFill>
                  <a:schemeClr val="tx1">
                    <a:lumMod val="85000"/>
                    <a:lumOff val="15000"/>
                  </a:schemeClr>
                </a:solidFill>
                <a:latin typeface="Times New Roman" pitchFamily="18" charset="0"/>
                <a:cs typeface="Times New Roman" pitchFamily="18" charset="0"/>
              </a:rPr>
              <a:t>eicosanoids</a:t>
            </a:r>
            <a:r>
              <a:rPr lang="en-US" sz="4000" dirty="0">
                <a:solidFill>
                  <a:schemeClr val="tx1">
                    <a:lumMod val="85000"/>
                    <a:lumOff val="15000"/>
                  </a:schemeClr>
                </a:solidFill>
                <a:latin typeface="Times New Roman" pitchFamily="18" charset="0"/>
                <a:cs typeface="Times New Roman" pitchFamily="18" charset="0"/>
              </a:rPr>
              <a:t> are sometimes called "local hormones” since they exert specific effects on target cells close to their site of production.</a:t>
            </a:r>
          </a:p>
          <a:p>
            <a:pPr algn="just" eaLnBrk="1" fontAlgn="auto" hangingPunct="1">
              <a:spcAft>
                <a:spcPts val="0"/>
              </a:spcAft>
              <a:buFont typeface="Arial"/>
              <a:buChar char="•"/>
              <a:defRPr/>
            </a:pPr>
            <a:r>
              <a:rPr lang="en-US" sz="4000" dirty="0">
                <a:solidFill>
                  <a:schemeClr val="tx1">
                    <a:lumMod val="85000"/>
                    <a:lumOff val="15000"/>
                  </a:schemeClr>
                </a:solidFill>
                <a:latin typeface="Times New Roman" pitchFamily="18" charset="0"/>
                <a:cs typeface="Times New Roman" pitchFamily="18" charset="0"/>
              </a:rPr>
              <a:t> Upon production, they are rapidly degraded, so they are not transported to distal sites within the body. </a:t>
            </a:r>
          </a:p>
          <a:p>
            <a:pPr algn="just" eaLnBrk="1" fontAlgn="auto" hangingPunct="1">
              <a:spcAft>
                <a:spcPts val="0"/>
              </a:spcAft>
              <a:buFont typeface="Arial"/>
              <a:buChar char="•"/>
              <a:defRPr/>
            </a:pPr>
            <a:r>
              <a:rPr lang="en-US" sz="4000" dirty="0">
                <a:solidFill>
                  <a:schemeClr val="tx1">
                    <a:lumMod val="85000"/>
                    <a:lumOff val="15000"/>
                  </a:schemeClr>
                </a:solidFill>
                <a:latin typeface="Times New Roman" pitchFamily="18" charset="0"/>
                <a:cs typeface="Times New Roman" pitchFamily="18" charset="0"/>
              </a:rPr>
              <a:t>Their main role in the body is that they participate in intercellular (and sometimes intracellular) signaling that modulates various mechanisms in the body e.g.:  </a:t>
            </a:r>
          </a:p>
          <a:p>
            <a:pPr marL="571500" indent="-571500" eaLnBrk="1" fontAlgn="auto" hangingPunct="1">
              <a:spcAft>
                <a:spcPts val="0"/>
              </a:spcAft>
              <a:buFont typeface="Arial" panose="020B0604020202020204" pitchFamily="34" charset="0"/>
              <a:buAutoNum type="romanLcParenR"/>
              <a:defRPr/>
            </a:pPr>
            <a:r>
              <a:rPr lang="en-US" sz="4000" dirty="0">
                <a:solidFill>
                  <a:srgbClr val="0070C0"/>
                </a:solidFill>
              </a:rPr>
              <a:t>The inflammation process         ii)Fever</a:t>
            </a:r>
          </a:p>
          <a:p>
            <a:pPr marL="571500" indent="-571500" eaLnBrk="1" fontAlgn="auto" hangingPunct="1">
              <a:spcAft>
                <a:spcPts val="0"/>
              </a:spcAft>
              <a:buFont typeface="Arial" panose="020B0604020202020204" pitchFamily="34" charset="0"/>
              <a:buNone/>
              <a:defRPr/>
            </a:pPr>
            <a:r>
              <a:rPr lang="en-US" sz="4000" dirty="0">
                <a:solidFill>
                  <a:srgbClr val="0070C0"/>
                </a:solidFill>
              </a:rPr>
              <a:t>iii) Regulation of blood pressure      iv)Blood clotting</a:t>
            </a:r>
          </a:p>
          <a:p>
            <a:pPr marL="571500" indent="-571500" eaLnBrk="1" fontAlgn="auto" hangingPunct="1">
              <a:spcAft>
                <a:spcPts val="0"/>
              </a:spcAft>
              <a:buFont typeface="Arial" panose="020B0604020202020204" pitchFamily="34" charset="0"/>
              <a:buNone/>
              <a:defRPr/>
            </a:pPr>
            <a:r>
              <a:rPr lang="en-US" sz="4000" dirty="0">
                <a:solidFill>
                  <a:srgbClr val="0070C0"/>
                </a:solidFill>
              </a:rPr>
              <a:t>v) Immune system function</a:t>
            </a:r>
          </a:p>
          <a:p>
            <a:pPr marL="571500" indent="-571500" eaLnBrk="1" fontAlgn="auto" hangingPunct="1">
              <a:spcAft>
                <a:spcPts val="0"/>
              </a:spcAft>
              <a:buFont typeface="Arial" panose="020B0604020202020204" pitchFamily="34" charset="0"/>
              <a:buNone/>
              <a:defRPr/>
            </a:pPr>
            <a:r>
              <a:rPr lang="en-US" sz="4000" dirty="0">
                <a:solidFill>
                  <a:srgbClr val="0070C0"/>
                </a:solidFill>
              </a:rPr>
              <a:t>vi) Control of reproductive processes and tissue growth</a:t>
            </a:r>
          </a:p>
          <a:p>
            <a:pPr marL="571500" indent="-571500" eaLnBrk="1" fontAlgn="auto" hangingPunct="1">
              <a:spcAft>
                <a:spcPts val="0"/>
              </a:spcAft>
              <a:buFont typeface="Arial" panose="020B0604020202020204" pitchFamily="34" charset="0"/>
              <a:buNone/>
              <a:defRPr/>
            </a:pPr>
            <a:r>
              <a:rPr lang="en-US" sz="4000" dirty="0">
                <a:solidFill>
                  <a:srgbClr val="0070C0"/>
                </a:solidFill>
              </a:rPr>
              <a:t>vii) Regulation of the sleep-wake cycle.</a:t>
            </a:r>
          </a:p>
          <a:p>
            <a:pPr eaLnBrk="1" fontAlgn="auto" hangingPunct="1">
              <a:spcAft>
                <a:spcPts val="0"/>
              </a:spcAft>
              <a:buFont typeface="Arial" panose="020B0604020202020204" pitchFamily="34" charset="0"/>
              <a:buNone/>
              <a:defRPr/>
            </a:pPr>
            <a:r>
              <a:rPr lang="en-US" sz="4000" b="1" dirty="0">
                <a:solidFill>
                  <a:srgbClr val="0070C0"/>
                </a:solidFill>
              </a:rPr>
              <a:t> </a:t>
            </a:r>
            <a:endParaRPr lang="en-US" sz="4000" dirty="0">
              <a:solidFill>
                <a:srgbClr val="0070C0"/>
              </a:solidFill>
            </a:endParaRPr>
          </a:p>
          <a:p>
            <a:pPr algn="just" eaLnBrk="1" fontAlgn="auto" hangingPunct="1">
              <a:spcAft>
                <a:spcPts val="0"/>
              </a:spcAft>
              <a:buFont typeface="Arial"/>
              <a:buChar char="•"/>
              <a:defRPr/>
            </a:pPr>
            <a:endParaRPr lang="en-US" sz="2800" dirty="0">
              <a:solidFill>
                <a:schemeClr val="tx1">
                  <a:lumMod val="85000"/>
                  <a:lumOff val="15000"/>
                </a:schemeClr>
              </a:solidFill>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74178E-DA82-70F0-2173-272A99DD8EE5}"/>
              </a:ext>
            </a:extLst>
          </p:cNvPr>
          <p:cNvSpPr>
            <a:spLocks noGrp="1"/>
          </p:cNvSpPr>
          <p:nvPr>
            <p:ph type="title"/>
          </p:nvPr>
        </p:nvSpPr>
        <p:spPr>
          <a:xfrm>
            <a:off x="457200" y="0"/>
            <a:ext cx="8229600" cy="914400"/>
          </a:xfrm>
        </p:spPr>
        <p:txBody>
          <a:bodyPr rtlCol="0">
            <a:normAutofit fontScale="90000"/>
          </a:bodyPr>
          <a:lstStyle/>
          <a:p>
            <a:pPr eaLnBrk="1" fontAlgn="auto" hangingPunct="1">
              <a:spcAft>
                <a:spcPts val="0"/>
              </a:spcAft>
              <a:defRPr/>
            </a:pPr>
            <a:r>
              <a:rPr lang="en-US" b="1" dirty="0">
                <a:solidFill>
                  <a:schemeClr val="tx1">
                    <a:lumMod val="85000"/>
                    <a:lumOff val="15000"/>
                  </a:schemeClr>
                </a:solidFill>
              </a:rPr>
              <a:t/>
            </a:r>
            <a:br>
              <a:rPr lang="en-US" b="1" dirty="0">
                <a:solidFill>
                  <a:schemeClr val="tx1">
                    <a:lumMod val="85000"/>
                    <a:lumOff val="15000"/>
                  </a:schemeClr>
                </a:solidFill>
              </a:rPr>
            </a:br>
            <a:r>
              <a:rPr lang="en-US" b="1" dirty="0">
                <a:solidFill>
                  <a:schemeClr val="tx1">
                    <a:lumMod val="85000"/>
                    <a:lumOff val="15000"/>
                  </a:schemeClr>
                </a:solidFill>
              </a:rPr>
              <a:t/>
            </a:r>
            <a:br>
              <a:rPr lang="en-US" b="1" dirty="0">
                <a:solidFill>
                  <a:schemeClr val="tx1">
                    <a:lumMod val="85000"/>
                    <a:lumOff val="15000"/>
                  </a:schemeClr>
                </a:solidFill>
              </a:rPr>
            </a:br>
            <a:r>
              <a:rPr lang="en-US" b="1" dirty="0">
                <a:solidFill>
                  <a:srgbClr val="FF0000"/>
                </a:solidFill>
              </a:rPr>
              <a:t>b) Biosynthesis of </a:t>
            </a:r>
            <a:r>
              <a:rPr lang="en-US" b="1" dirty="0" err="1">
                <a:solidFill>
                  <a:srgbClr val="FF0000"/>
                </a:solidFill>
              </a:rPr>
              <a:t>eicosanoids</a:t>
            </a:r>
            <a:r>
              <a:rPr lang="en-US" dirty="0">
                <a:solidFill>
                  <a:srgbClr val="FF0000"/>
                </a:solidFill>
              </a:rPr>
              <a:t/>
            </a:r>
            <a:br>
              <a:rPr lang="en-US" dirty="0">
                <a:solidFill>
                  <a:srgbClr val="FF0000"/>
                </a:solidFill>
              </a:rPr>
            </a:br>
            <a:r>
              <a:rPr lang="en-US" dirty="0">
                <a:solidFill>
                  <a:srgbClr val="FF0000"/>
                </a:solidFill>
              </a:rPr>
              <a:t> </a:t>
            </a:r>
            <a:r>
              <a:rPr lang="en-US" dirty="0">
                <a:solidFill>
                  <a:schemeClr val="tx1">
                    <a:lumMod val="85000"/>
                    <a:lumOff val="15000"/>
                  </a:schemeClr>
                </a:solidFill>
              </a:rPr>
              <a:t/>
            </a:r>
            <a:br>
              <a:rPr lang="en-US" dirty="0">
                <a:solidFill>
                  <a:schemeClr val="tx1">
                    <a:lumMod val="85000"/>
                    <a:lumOff val="15000"/>
                  </a:schemeClr>
                </a:solidFill>
              </a:rPr>
            </a:br>
            <a:endParaRPr lang="en-US" dirty="0">
              <a:solidFill>
                <a:schemeClr val="tx1">
                  <a:lumMod val="85000"/>
                  <a:lumOff val="15000"/>
                </a:schemeClr>
              </a:solidFill>
            </a:endParaRPr>
          </a:p>
        </p:txBody>
      </p:sp>
      <p:sp>
        <p:nvSpPr>
          <p:cNvPr id="17411" name="Content Placeholder 2">
            <a:extLst>
              <a:ext uri="{FF2B5EF4-FFF2-40B4-BE49-F238E27FC236}">
                <a16:creationId xmlns:a16="http://schemas.microsoft.com/office/drawing/2014/main" xmlns="" id="{C0D0080B-E0E8-0A3D-8DCF-6F3065F0E3E2}"/>
              </a:ext>
            </a:extLst>
          </p:cNvPr>
          <p:cNvSpPr>
            <a:spLocks noGrp="1"/>
          </p:cNvSpPr>
          <p:nvPr>
            <p:ph idx="1"/>
          </p:nvPr>
        </p:nvSpPr>
        <p:spPr>
          <a:xfrm>
            <a:off x="228600" y="762000"/>
            <a:ext cx="8686800" cy="5943600"/>
          </a:xfrm>
        </p:spPr>
        <p:txBody>
          <a:bodyPr rtlCol="0">
            <a:normAutofit lnSpcReduction="10000"/>
          </a:bodyPr>
          <a:lstStyle/>
          <a:p>
            <a:pPr algn="just" eaLnBrk="1" fontAlgn="auto" hangingPunct="1">
              <a:buFont typeface="Arial"/>
              <a:buChar char="•"/>
              <a:defRPr/>
            </a:pPr>
            <a:r>
              <a:rPr lang="en-US" sz="2800">
                <a:solidFill>
                  <a:schemeClr val="tx1">
                    <a:lumMod val="85000"/>
                    <a:lumOff val="15000"/>
                  </a:schemeClr>
                </a:solidFill>
                <a:latin typeface="Times New Roman" panose="02020603050405020304" pitchFamily="18" charset="0"/>
                <a:cs typeface="Times New Roman" panose="02020603050405020304" pitchFamily="18" charset="0"/>
              </a:rPr>
              <a:t>The biosynthetic pathways of eicosanoids are very complex. </a:t>
            </a:r>
          </a:p>
          <a:p>
            <a:pPr algn="just" eaLnBrk="1" fontAlgn="auto" hangingPunct="1">
              <a:buFont typeface="Arial"/>
              <a:buChar char="•"/>
              <a:defRPr/>
            </a:pPr>
            <a:r>
              <a:rPr lang="en-US" sz="2800">
                <a:solidFill>
                  <a:schemeClr val="tx1">
                    <a:lumMod val="85000"/>
                    <a:lumOff val="15000"/>
                  </a:schemeClr>
                </a:solidFill>
                <a:latin typeface="Times New Roman" panose="02020603050405020304" pitchFamily="18" charset="0"/>
                <a:cs typeface="Times New Roman" panose="02020603050405020304" pitchFamily="18" charset="0"/>
              </a:rPr>
              <a:t>Therefore in this section you will only cover the basics of the biosynthetic pathways involved.</a:t>
            </a:r>
          </a:p>
          <a:p>
            <a:pPr algn="just" eaLnBrk="1" fontAlgn="auto" hangingPunct="1">
              <a:buFont typeface="Arial"/>
              <a:buChar char="•"/>
              <a:defRPr/>
            </a:pPr>
            <a:r>
              <a:rPr lang="en-US" sz="2800">
                <a:solidFill>
                  <a:schemeClr val="tx1">
                    <a:lumMod val="85000"/>
                    <a:lumOff val="15000"/>
                  </a:schemeClr>
                </a:solidFill>
                <a:latin typeface="Times New Roman" panose="02020603050405020304" pitchFamily="18" charset="0"/>
                <a:cs typeface="Times New Roman" panose="02020603050405020304" pitchFamily="18" charset="0"/>
              </a:rPr>
              <a:t> Two classes of enzymes are involved in the synthesis of eicosanoids. </a:t>
            </a:r>
          </a:p>
          <a:p>
            <a:pPr algn="just" eaLnBrk="1" fontAlgn="auto" hangingPunct="1">
              <a:buFont typeface="Arial"/>
              <a:buChar char="•"/>
              <a:defRPr/>
            </a:pPr>
            <a:r>
              <a:rPr lang="en-US" sz="2800">
                <a:solidFill>
                  <a:schemeClr val="tx1">
                    <a:lumMod val="85000"/>
                    <a:lumOff val="15000"/>
                  </a:schemeClr>
                </a:solidFill>
                <a:latin typeface="Times New Roman" panose="02020603050405020304" pitchFamily="18" charset="0"/>
                <a:cs typeface="Times New Roman" panose="02020603050405020304" pitchFamily="18" charset="0"/>
              </a:rPr>
              <a:t>The reactions, which are mainly fatty acid oxygenation reactions, are catalyzed by cyclooxygenases or COX enzymes which generate the prostanoids (prostaglandins and thromboxanes); and lipooxygenases or LOX which generate leukotrienes. </a:t>
            </a:r>
          </a:p>
          <a:p>
            <a:pPr algn="just" eaLnBrk="1" fontAlgn="auto" hangingPunct="1">
              <a:buFont typeface="Arial"/>
              <a:buChar char="•"/>
              <a:defRPr/>
            </a:pPr>
            <a:r>
              <a:rPr lang="en-US" sz="2800">
                <a:solidFill>
                  <a:schemeClr val="tx1">
                    <a:lumMod val="85000"/>
                    <a:lumOff val="15000"/>
                  </a:schemeClr>
                </a:solidFill>
                <a:latin typeface="Times New Roman" panose="02020603050405020304" pitchFamily="18" charset="0"/>
                <a:cs typeface="Times New Roman" panose="02020603050405020304" pitchFamily="18" charset="0"/>
              </a:rPr>
              <a:t>Lipoxygenases occur in several forms and one form, 5-lipoxygenase (5-LOX), generates the leukotrienes</a:t>
            </a:r>
            <a:r>
              <a:rPr lang="en-US" sz="2800">
                <a:solidFill>
                  <a:schemeClr val="tx1">
                    <a:lumMod val="85000"/>
                    <a:lumOff val="15000"/>
                  </a:schemeClr>
                </a:solidFill>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E50DCB-59FB-0DAB-CFAD-D4E2960FBC47}"/>
              </a:ext>
            </a:extLst>
          </p:cNvPr>
          <p:cNvSpPr>
            <a:spLocks noGrp="1"/>
          </p:cNvSpPr>
          <p:nvPr>
            <p:ph type="title"/>
          </p:nvPr>
        </p:nvSpPr>
        <p:spPr>
          <a:xfrm>
            <a:off x="457200" y="0"/>
            <a:ext cx="8229600" cy="533400"/>
          </a:xfrm>
        </p:spPr>
        <p:txBody>
          <a:bodyPr rtlCol="0">
            <a:normAutofit fontScale="90000"/>
          </a:bodyPr>
          <a:lstStyle/>
          <a:p>
            <a:pPr eaLnBrk="1" fontAlgn="auto" hangingPunct="1">
              <a:spcAft>
                <a:spcPts val="0"/>
              </a:spcAft>
              <a:defRPr/>
            </a:pPr>
            <a:r>
              <a:rPr lang="en-US" dirty="0">
                <a:solidFill>
                  <a:schemeClr val="tx1">
                    <a:lumMod val="85000"/>
                    <a:lumOff val="15000"/>
                  </a:schemeClr>
                </a:solidFill>
              </a:rPr>
              <a:t>CONT’</a:t>
            </a:r>
          </a:p>
        </p:txBody>
      </p:sp>
      <p:sp>
        <p:nvSpPr>
          <p:cNvPr id="31747" name="Content Placeholder 2">
            <a:extLst>
              <a:ext uri="{FF2B5EF4-FFF2-40B4-BE49-F238E27FC236}">
                <a16:creationId xmlns:a16="http://schemas.microsoft.com/office/drawing/2014/main" xmlns="" id="{656A3CF2-109B-1FFB-8D3D-0AC72F7D98DF}"/>
              </a:ext>
            </a:extLst>
          </p:cNvPr>
          <p:cNvSpPr>
            <a:spLocks noGrp="1"/>
          </p:cNvSpPr>
          <p:nvPr>
            <p:ph idx="1"/>
          </p:nvPr>
        </p:nvSpPr>
        <p:spPr>
          <a:xfrm>
            <a:off x="457200" y="609600"/>
            <a:ext cx="8229600" cy="5516563"/>
          </a:xfrm>
        </p:spPr>
        <p:txBody>
          <a:bodyPr/>
          <a:lstStyle/>
          <a:p>
            <a:pPr algn="just" eaLnBrk="1" hangingPunct="1"/>
            <a:r>
              <a:rPr lang="en-US" altLang="en-US">
                <a:latin typeface="Times New Roman" panose="02020603050405020304" pitchFamily="18" charset="0"/>
                <a:cs typeface="Times New Roman" panose="02020603050405020304" pitchFamily="18" charset="0"/>
              </a:rPr>
              <a:t>Eicosanoids are not stored within cells, but are synthesized when required. </a:t>
            </a:r>
          </a:p>
          <a:p>
            <a:pPr algn="just" eaLnBrk="1" hangingPunct="1"/>
            <a:r>
              <a:rPr lang="en-US" altLang="en-US">
                <a:latin typeface="Times New Roman" panose="02020603050405020304" pitchFamily="18" charset="0"/>
                <a:cs typeface="Times New Roman" panose="02020603050405020304" pitchFamily="18" charset="0"/>
              </a:rPr>
              <a:t>They derive from the fatty acids that make up the cell and nuclear membranes.</a:t>
            </a:r>
          </a:p>
          <a:p>
            <a:pPr algn="just" eaLnBrk="1" hangingPunct="1"/>
            <a:endParaRPr lang="en-US" altLang="en-US">
              <a:latin typeface="Times New Roman" panose="02020603050405020304" pitchFamily="18" charset="0"/>
              <a:cs typeface="Times New Roman" panose="02020603050405020304" pitchFamily="18" charset="0"/>
            </a:endParaRPr>
          </a:p>
          <a:p>
            <a:pPr algn="just" eaLnBrk="1" hangingPunct="1"/>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2770" name="Picture 54" descr="http://upload.wikimedia.org/wikipedia/commons/thumb/4/40/Eicosanoid_synthesis.svg/1000px-Eicosanoid_synthesis.svg.png">
            <a:extLst>
              <a:ext uri="{FF2B5EF4-FFF2-40B4-BE49-F238E27FC236}">
                <a16:creationId xmlns:a16="http://schemas.microsoft.com/office/drawing/2014/main" xmlns="" id="{582946A0-45B0-81BC-8F91-09EBC6DFBE4A}"/>
              </a:ext>
            </a:extLst>
          </p:cNvPr>
          <p:cNvPicPr>
            <a:picLocks noChangeAspect="1" noChangeArrowheads="1"/>
          </p:cNvPicPr>
          <p:nvPr/>
        </p:nvPicPr>
        <p:blipFill>
          <a:blip r:embed="rId2">
            <a:lum bright="-80000" contrast="20000"/>
            <a:grayscl/>
            <a:biLevel thresh="50000"/>
            <a:extLst>
              <a:ext uri="{28A0092B-C50C-407E-A947-70E740481C1C}">
                <a14:useLocalDpi xmlns:a14="http://schemas.microsoft.com/office/drawing/2010/main" val="0"/>
              </a:ext>
            </a:extLst>
          </a:blip>
          <a:srcRect/>
          <a:stretch>
            <a:fillRect/>
          </a:stretch>
        </p:blipFill>
        <p:spPr bwMode="auto">
          <a:xfrm>
            <a:off x="0" y="0"/>
            <a:ext cx="82296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Rectangle 2">
            <a:extLst>
              <a:ext uri="{FF2B5EF4-FFF2-40B4-BE49-F238E27FC236}">
                <a16:creationId xmlns:a16="http://schemas.microsoft.com/office/drawing/2014/main" xmlns="" id="{7D761CAA-A033-B56B-1A1D-C8BC94E4F589}"/>
              </a:ext>
            </a:extLst>
          </p:cNvPr>
          <p:cNvSpPr>
            <a:spLocks noChangeArrowheads="1"/>
          </p:cNvSpPr>
          <p:nvPr/>
        </p:nvSpPr>
        <p:spPr bwMode="auto">
          <a:xfrm>
            <a:off x="2743200" y="6477000"/>
            <a:ext cx="36623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FF0000"/>
                </a:solidFill>
                <a:latin typeface="Calibri" panose="020F0502020204030204" pitchFamily="34" charset="0"/>
              </a:rPr>
              <a:t>Biosynthetic pathways of eicosanoids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xmlns="" id="{B9C7B2A9-CA3B-674D-8757-C3A044087A6E}"/>
              </a:ext>
            </a:extLst>
          </p:cNvPr>
          <p:cNvSpPr>
            <a:spLocks noGrp="1"/>
          </p:cNvSpPr>
          <p:nvPr>
            <p:ph type="title"/>
          </p:nvPr>
        </p:nvSpPr>
        <p:spPr>
          <a:xfrm>
            <a:off x="457200" y="0"/>
            <a:ext cx="8229600" cy="762000"/>
          </a:xfrm>
        </p:spPr>
        <p:txBody>
          <a:bodyPr/>
          <a:lstStyle/>
          <a:p>
            <a:pPr eaLnBrk="1" hangingPunct="1"/>
            <a:r>
              <a:rPr lang="en-US" altLang="en-US">
                <a:ln>
                  <a:noFill/>
                </a:ln>
              </a:rPr>
              <a:t>CONT’</a:t>
            </a:r>
          </a:p>
        </p:txBody>
      </p:sp>
      <p:sp>
        <p:nvSpPr>
          <p:cNvPr id="33795" name="Content Placeholder 2">
            <a:extLst>
              <a:ext uri="{FF2B5EF4-FFF2-40B4-BE49-F238E27FC236}">
                <a16:creationId xmlns:a16="http://schemas.microsoft.com/office/drawing/2014/main" xmlns="" id="{DE9AF2AA-5410-28A2-D904-06ECE21C9906}"/>
              </a:ext>
            </a:extLst>
          </p:cNvPr>
          <p:cNvSpPr>
            <a:spLocks noGrp="1"/>
          </p:cNvSpPr>
          <p:nvPr>
            <p:ph idx="1"/>
          </p:nvPr>
        </p:nvSpPr>
        <p:spPr>
          <a:xfrm>
            <a:off x="152400" y="685800"/>
            <a:ext cx="8991600" cy="6172200"/>
          </a:xfrm>
        </p:spPr>
        <p:txBody>
          <a:bodyPr/>
          <a:lstStyle/>
          <a:p>
            <a:pPr algn="just" eaLnBrk="1" hangingPunct="1">
              <a:spcAft>
                <a:spcPct val="0"/>
              </a:spcAft>
            </a:pPr>
            <a:r>
              <a:rPr lang="en-US" altLang="en-US">
                <a:latin typeface="Times New Roman" panose="02020603050405020304" pitchFamily="18" charset="0"/>
                <a:cs typeface="Times New Roman" panose="02020603050405020304" pitchFamily="18" charset="0"/>
              </a:rPr>
              <a:t>Eicosanoid biosynthesis begins when cell is activated by mechanical trauma, cytokines, growth factors or other stimuli.</a:t>
            </a:r>
          </a:p>
          <a:p>
            <a:pPr algn="just" eaLnBrk="1" hangingPunct="1">
              <a:spcAft>
                <a:spcPct val="0"/>
              </a:spcAft>
            </a:pPr>
            <a:r>
              <a:rPr lang="en-US" altLang="en-US">
                <a:latin typeface="Times New Roman" panose="02020603050405020304" pitchFamily="18" charset="0"/>
                <a:cs typeface="Times New Roman" panose="02020603050405020304" pitchFamily="18" charset="0"/>
              </a:rPr>
              <a:t> The stimulus may even be an eicosanoid from a neighboring cell.</a:t>
            </a:r>
          </a:p>
          <a:p>
            <a:pPr algn="just" eaLnBrk="1" hangingPunct="1">
              <a:spcAft>
                <a:spcPct val="0"/>
              </a:spcAft>
            </a:pPr>
            <a:r>
              <a:rPr lang="en-US" altLang="en-US">
                <a:latin typeface="Times New Roman" panose="02020603050405020304" pitchFamily="18" charset="0"/>
                <a:cs typeface="Times New Roman" panose="02020603050405020304" pitchFamily="18" charset="0"/>
              </a:rPr>
              <a:t> The stimulus triggers the release of a phospholipase at the cell membrane. </a:t>
            </a:r>
          </a:p>
          <a:p>
            <a:pPr algn="just" eaLnBrk="1" hangingPunct="1">
              <a:spcAft>
                <a:spcPct val="0"/>
              </a:spcAft>
            </a:pPr>
            <a:r>
              <a:rPr lang="en-US" altLang="en-US">
                <a:latin typeface="Times New Roman" panose="02020603050405020304" pitchFamily="18" charset="0"/>
                <a:cs typeface="Times New Roman" panose="02020603050405020304" pitchFamily="18" charset="0"/>
              </a:rPr>
              <a:t>The phospholipase travels to the nuclear membrane where it catalyses hydrolysis of a phospholipid or diacylglycerol. </a:t>
            </a:r>
          </a:p>
          <a:p>
            <a:pPr algn="just" eaLnBrk="1" hangingPunct="1">
              <a:spcAft>
                <a:spcPct val="0"/>
              </a:spcAft>
            </a:pPr>
            <a:r>
              <a:rPr lang="en-US" altLang="en-US">
                <a:latin typeface="Times New Roman" panose="02020603050405020304" pitchFamily="18" charset="0"/>
                <a:cs typeface="Times New Roman" panose="02020603050405020304" pitchFamily="18" charset="0"/>
              </a:rPr>
              <a:t>The phospholipases that act on phospholipids and diacylglycerols are A2 and C respectively.</a:t>
            </a:r>
          </a:p>
          <a:p>
            <a:pPr algn="just" eaLnBrk="1" hangingPunct="1">
              <a:spcAft>
                <a:spcPct val="0"/>
              </a:spcAft>
            </a:pPr>
            <a:r>
              <a:rPr lang="en-US" altLang="en-US">
                <a:latin typeface="Times New Roman" panose="02020603050405020304" pitchFamily="18" charset="0"/>
                <a:cs typeface="Times New Roman" panose="02020603050405020304" pitchFamily="18" charset="0"/>
              </a:rPr>
              <a:t> The actions of phospholipase free 20-carbon essentail fatty</a:t>
            </a:r>
            <a:r>
              <a:rPr lang="en-US" altLang="en-US" b="1">
                <a:latin typeface="Times New Roman" panose="02020603050405020304" pitchFamily="18" charset="0"/>
                <a:cs typeface="Times New Roman" panose="02020603050405020304" pitchFamily="18" charset="0"/>
              </a:rPr>
              <a:t> acids that form the backbones for eicosanoid synthesis. </a:t>
            </a:r>
          </a:p>
          <a:p>
            <a:pPr eaLnBrk="1" hangingPunct="1">
              <a:spcAft>
                <a:spcPct val="0"/>
              </a:spcAft>
            </a:pPr>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A2CF8B-407C-E0E5-3900-6FE8665499E2}"/>
              </a:ext>
            </a:extLst>
          </p:cNvPr>
          <p:cNvSpPr>
            <a:spLocks noGrp="1"/>
          </p:cNvSpPr>
          <p:nvPr>
            <p:ph type="title"/>
          </p:nvPr>
        </p:nvSpPr>
        <p:spPr>
          <a:xfrm>
            <a:off x="457200" y="0"/>
            <a:ext cx="8229600" cy="685800"/>
          </a:xfrm>
        </p:spPr>
        <p:txBody>
          <a:bodyPr rtlCol="0">
            <a:normAutofit fontScale="90000"/>
          </a:bodyPr>
          <a:lstStyle/>
          <a:p>
            <a:pPr eaLnBrk="1" fontAlgn="auto" hangingPunct="1">
              <a:spcAft>
                <a:spcPts val="0"/>
              </a:spcAft>
              <a:defRPr/>
            </a:pPr>
            <a:r>
              <a:rPr lang="en-US" dirty="0">
                <a:solidFill>
                  <a:schemeClr val="tx1">
                    <a:lumMod val="85000"/>
                    <a:lumOff val="15000"/>
                  </a:schemeClr>
                </a:solidFill>
              </a:rPr>
              <a:t>CONT’</a:t>
            </a:r>
          </a:p>
        </p:txBody>
      </p:sp>
      <p:sp>
        <p:nvSpPr>
          <p:cNvPr id="34819" name="Content Placeholder 2">
            <a:extLst>
              <a:ext uri="{FF2B5EF4-FFF2-40B4-BE49-F238E27FC236}">
                <a16:creationId xmlns:a16="http://schemas.microsoft.com/office/drawing/2014/main" xmlns="" id="{D56E2616-3EA7-3767-47E5-7E7949CA754D}"/>
              </a:ext>
            </a:extLst>
          </p:cNvPr>
          <p:cNvSpPr>
            <a:spLocks noGrp="1"/>
          </p:cNvSpPr>
          <p:nvPr>
            <p:ph idx="1"/>
          </p:nvPr>
        </p:nvSpPr>
        <p:spPr>
          <a:xfrm>
            <a:off x="457200" y="609600"/>
            <a:ext cx="8229600" cy="6248400"/>
          </a:xfrm>
        </p:spPr>
        <p:txBody>
          <a:bodyPr/>
          <a:lstStyle/>
          <a:p>
            <a:pPr algn="just" eaLnBrk="1" hangingPunct="1">
              <a:spcAft>
                <a:spcPct val="0"/>
              </a:spcAft>
            </a:pPr>
            <a:r>
              <a:rPr lang="en-US" altLang="en-US">
                <a:latin typeface="Times New Roman" panose="02020603050405020304" pitchFamily="18" charset="0"/>
                <a:cs typeface="Times New Roman" panose="02020603050405020304" pitchFamily="18" charset="0"/>
              </a:rPr>
              <a:t>In fig. above, an intermediate arachidonic acid is created from either phospholipid via action of phospholipase A</a:t>
            </a:r>
            <a:r>
              <a:rPr lang="en-US" altLang="en-US" baseline="-25000">
                <a:latin typeface="Times New Roman" panose="02020603050405020304" pitchFamily="18" charset="0"/>
                <a:cs typeface="Times New Roman" panose="02020603050405020304" pitchFamily="18" charset="0"/>
              </a:rPr>
              <a:t>2</a:t>
            </a:r>
            <a:r>
              <a:rPr lang="en-US" altLang="en-US">
                <a:latin typeface="Times New Roman" panose="02020603050405020304" pitchFamily="18" charset="0"/>
                <a:cs typeface="Times New Roman" panose="02020603050405020304" pitchFamily="18" charset="0"/>
              </a:rPr>
              <a:t> or diacylglycerol via action of phospholipase C.</a:t>
            </a:r>
          </a:p>
          <a:p>
            <a:pPr algn="just" eaLnBrk="1" hangingPunct="1">
              <a:spcAft>
                <a:spcPct val="0"/>
              </a:spcAft>
            </a:pPr>
            <a:r>
              <a:rPr lang="en-US" altLang="en-US">
                <a:latin typeface="Times New Roman" panose="02020603050405020304" pitchFamily="18" charset="0"/>
                <a:cs typeface="Times New Roman" panose="02020603050405020304" pitchFamily="18" charset="0"/>
              </a:rPr>
              <a:t> Arachidonic acid is then brought to either the cyclooxygenase pathway or the lipooxygenase pathway to form either prostaglandin and thromboxane or leukotrienes respectively. </a:t>
            </a:r>
          </a:p>
          <a:p>
            <a:pPr algn="just" eaLnBrk="1" hangingPunct="1">
              <a:spcAft>
                <a:spcPct val="0"/>
              </a:spcAft>
            </a:pPr>
            <a:r>
              <a:rPr lang="en-US" altLang="en-US">
                <a:latin typeface="Times New Roman" panose="02020603050405020304" pitchFamily="18" charset="0"/>
                <a:cs typeface="Times New Roman" panose="02020603050405020304" pitchFamily="18" charset="0"/>
              </a:rPr>
              <a:t>The cyclooxygenase pathway produces thromboxane, prostacyclin and prostaglandins D</a:t>
            </a:r>
            <a:r>
              <a:rPr lang="en-US" altLang="en-US" baseline="-25000">
                <a:latin typeface="Times New Roman" panose="02020603050405020304" pitchFamily="18" charset="0"/>
                <a:cs typeface="Times New Roman" panose="02020603050405020304" pitchFamily="18" charset="0"/>
              </a:rPr>
              <a:t>2</a:t>
            </a:r>
            <a:r>
              <a:rPr lang="en-US" altLang="en-US">
                <a:latin typeface="Times New Roman" panose="02020603050405020304" pitchFamily="18" charset="0"/>
                <a:cs typeface="Times New Roman" panose="02020603050405020304" pitchFamily="18" charset="0"/>
              </a:rPr>
              <a:t>, E</a:t>
            </a:r>
            <a:r>
              <a:rPr lang="en-US" altLang="en-US" baseline="-25000">
                <a:latin typeface="Times New Roman" panose="02020603050405020304" pitchFamily="18" charset="0"/>
                <a:cs typeface="Times New Roman" panose="02020603050405020304" pitchFamily="18" charset="0"/>
              </a:rPr>
              <a:t>2</a:t>
            </a:r>
            <a:r>
              <a:rPr lang="en-US" altLang="en-US">
                <a:latin typeface="Times New Roman" panose="02020603050405020304" pitchFamily="18" charset="0"/>
                <a:cs typeface="Times New Roman" panose="02020603050405020304" pitchFamily="18" charset="0"/>
              </a:rPr>
              <a:t> and F</a:t>
            </a:r>
            <a:r>
              <a:rPr lang="en-US" altLang="en-US" baseline="-25000">
                <a:latin typeface="Times New Roman" panose="02020603050405020304" pitchFamily="18" charset="0"/>
                <a:cs typeface="Times New Roman" panose="02020603050405020304" pitchFamily="18" charset="0"/>
              </a:rPr>
              <a:t>2</a:t>
            </a:r>
            <a:r>
              <a:rPr lang="en-US" altLang="en-US">
                <a:latin typeface="Times New Roman" panose="02020603050405020304" pitchFamily="18" charset="0"/>
                <a:cs typeface="Times New Roman" panose="02020603050405020304" pitchFamily="18" charset="0"/>
              </a:rPr>
              <a:t>. </a:t>
            </a:r>
          </a:p>
          <a:p>
            <a:pPr algn="just" eaLnBrk="1" hangingPunct="1">
              <a:spcAft>
                <a:spcPct val="0"/>
              </a:spcAft>
            </a:pPr>
            <a:r>
              <a:rPr lang="en-US" altLang="en-US">
                <a:latin typeface="Times New Roman" panose="02020603050405020304" pitchFamily="18" charset="0"/>
                <a:cs typeface="Times New Roman" panose="02020603050405020304" pitchFamily="18" charset="0"/>
              </a:rPr>
              <a:t>Alternatively, the lipooxygenase pathway is active in leukocytes and macrophages and synthesizes the leukotrienes.</a:t>
            </a:r>
          </a:p>
          <a:p>
            <a:pPr eaLnBrk="1" hangingPunct="1">
              <a:spcAft>
                <a:spcPct val="0"/>
              </a:spcAft>
            </a:pPr>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5F98C5-A5AE-D41D-A35B-FFF8D48BFC4F}"/>
              </a:ext>
            </a:extLst>
          </p:cNvPr>
          <p:cNvSpPr>
            <a:spLocks noGrp="1"/>
          </p:cNvSpPr>
          <p:nvPr>
            <p:ph type="title"/>
          </p:nvPr>
        </p:nvSpPr>
        <p:spPr>
          <a:xfrm>
            <a:off x="457200" y="0"/>
            <a:ext cx="8229600" cy="685800"/>
          </a:xfrm>
        </p:spPr>
        <p:txBody>
          <a:bodyPr rtlCol="0">
            <a:normAutofit fontScale="90000"/>
          </a:bodyPr>
          <a:lstStyle/>
          <a:p>
            <a:pPr eaLnBrk="1" fontAlgn="auto" hangingPunct="1">
              <a:spcAft>
                <a:spcPts val="0"/>
              </a:spcAft>
              <a:defRPr/>
            </a:pPr>
            <a:r>
              <a:rPr lang="en-US" dirty="0">
                <a:solidFill>
                  <a:schemeClr val="tx1">
                    <a:lumMod val="85000"/>
                    <a:lumOff val="15000"/>
                  </a:schemeClr>
                </a:solidFill>
              </a:rPr>
              <a:t>CONT’</a:t>
            </a:r>
          </a:p>
        </p:txBody>
      </p:sp>
      <p:sp>
        <p:nvSpPr>
          <p:cNvPr id="35843" name="Content Placeholder 2">
            <a:extLst>
              <a:ext uri="{FF2B5EF4-FFF2-40B4-BE49-F238E27FC236}">
                <a16:creationId xmlns:a16="http://schemas.microsoft.com/office/drawing/2014/main" xmlns="" id="{05A12C7A-C77C-884F-783A-89DA2BB4CC31}"/>
              </a:ext>
            </a:extLst>
          </p:cNvPr>
          <p:cNvSpPr>
            <a:spLocks noGrp="1"/>
          </p:cNvSpPr>
          <p:nvPr>
            <p:ph idx="1"/>
          </p:nvPr>
        </p:nvSpPr>
        <p:spPr>
          <a:xfrm>
            <a:off x="457200" y="609600"/>
            <a:ext cx="8229600" cy="6248400"/>
          </a:xfrm>
        </p:spPr>
        <p:txBody>
          <a:bodyPr/>
          <a:lstStyle/>
          <a:p>
            <a:pPr algn="just" eaLnBrk="1" hangingPunct="1"/>
            <a:r>
              <a:rPr lang="en-US" altLang="en-US" sz="2800">
                <a:latin typeface="Times New Roman" panose="02020603050405020304" pitchFamily="18" charset="0"/>
                <a:cs typeface="Times New Roman" panose="02020603050405020304" pitchFamily="18" charset="0"/>
              </a:rPr>
              <a:t>Prostaglandins are produced following the sequential oxidation of Gamma-linolenic acid (GLA), Arachidonic acid (AA) or eicosapentaenoic acid (EPA) by cyclooxygenases (COX-1 and COX-2) and terminal prostaglandin synthases.</a:t>
            </a:r>
          </a:p>
          <a:p>
            <a:pPr algn="just" eaLnBrk="1" hangingPunct="1"/>
            <a:r>
              <a:rPr lang="en-US" altLang="en-US" sz="2800">
                <a:latin typeface="Times New Roman" panose="02020603050405020304" pitchFamily="18" charset="0"/>
                <a:cs typeface="Times New Roman" panose="02020603050405020304" pitchFamily="18" charset="0"/>
              </a:rPr>
              <a:t> COX-1 is responsible for the baseline levels of prostaglandins and COX-2 produces prostaglandins through stimulation. </a:t>
            </a:r>
          </a:p>
          <a:p>
            <a:pPr algn="just" eaLnBrk="1" hangingPunct="1"/>
            <a:r>
              <a:rPr lang="en-US" altLang="en-US" sz="2800">
                <a:latin typeface="Times New Roman" panose="02020603050405020304" pitchFamily="18" charset="0"/>
                <a:cs typeface="Times New Roman" panose="02020603050405020304" pitchFamily="18" charset="0"/>
              </a:rPr>
              <a:t>Prostaglandin levels are increased by COX-2 in scenarios of inflammation.</a:t>
            </a:r>
          </a:p>
          <a:p>
            <a:pPr eaLnBrk="1" hangingPunct="1"/>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xmlns="" id="{A670E111-6476-07E6-7DF5-9D95827BB5F2}"/>
              </a:ext>
            </a:extLst>
          </p:cNvPr>
          <p:cNvGraphicFramePr>
            <a:graphicFrameLocks noGrp="1"/>
          </p:cNvGraphicFramePr>
          <p:nvPr/>
        </p:nvGraphicFramePr>
        <p:xfrm>
          <a:off x="152400" y="533400"/>
          <a:ext cx="8610600" cy="3810000"/>
        </p:xfrm>
        <a:graphic>
          <a:graphicData uri="http://schemas.openxmlformats.org/drawingml/2006/table">
            <a:tbl>
              <a:tblPr/>
              <a:tblGrid>
                <a:gridCol w="2102197">
                  <a:extLst>
                    <a:ext uri="{9D8B030D-6E8A-4147-A177-3AD203B41FA5}">
                      <a16:colId xmlns:a16="http://schemas.microsoft.com/office/drawing/2014/main" xmlns="" val="20000"/>
                    </a:ext>
                  </a:extLst>
                </a:gridCol>
                <a:gridCol w="6508403">
                  <a:extLst>
                    <a:ext uri="{9D8B030D-6E8A-4147-A177-3AD203B41FA5}">
                      <a16:colId xmlns:a16="http://schemas.microsoft.com/office/drawing/2014/main" xmlns="" val="20001"/>
                    </a:ext>
                  </a:extLst>
                </a:gridCol>
              </a:tblGrid>
              <a:tr h="317500">
                <a:tc>
                  <a:txBody>
                    <a:bodyPr/>
                    <a:lstStyle/>
                    <a:p>
                      <a:pPr marL="0" marR="0" algn="just">
                        <a:lnSpc>
                          <a:spcPct val="115000"/>
                        </a:lnSpc>
                        <a:spcBef>
                          <a:spcPts val="0"/>
                        </a:spcBef>
                        <a:spcAft>
                          <a:spcPts val="0"/>
                        </a:spcAft>
                      </a:pPr>
                      <a:r>
                        <a:rPr lang="en-US" sz="1200" b="1" dirty="0">
                          <a:solidFill>
                            <a:srgbClr val="000000"/>
                          </a:solidFill>
                          <a:latin typeface="Times New Roman"/>
                          <a:ea typeface="Times New Roman"/>
                          <a:cs typeface="Angsana New"/>
                        </a:rPr>
                        <a:t>Type of </a:t>
                      </a:r>
                      <a:r>
                        <a:rPr lang="en-US" sz="1200" b="1" dirty="0" err="1">
                          <a:solidFill>
                            <a:srgbClr val="000000"/>
                          </a:solidFill>
                          <a:latin typeface="Times New Roman"/>
                          <a:ea typeface="Times New Roman"/>
                          <a:cs typeface="Angsana New"/>
                        </a:rPr>
                        <a:t>eicosanoid</a:t>
                      </a:r>
                      <a:endParaRPr lang="en-US" sz="1200" dirty="0">
                        <a:latin typeface="Times New Roman"/>
                        <a:ea typeface="Times New Roman"/>
                        <a:cs typeface="Angsana New"/>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b="1" dirty="0">
                          <a:solidFill>
                            <a:srgbClr val="000000"/>
                          </a:solidFill>
                          <a:latin typeface="Times New Roman"/>
                          <a:ea typeface="Times New Roman"/>
                          <a:cs typeface="Angsana New"/>
                        </a:rPr>
                        <a:t>Effects on tissues</a:t>
                      </a:r>
                      <a:endParaRPr lang="en-US" sz="1400" dirty="0">
                        <a:latin typeface="Times New Roman"/>
                        <a:ea typeface="Times New Roman"/>
                        <a:cs typeface="Angsana New"/>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3492500">
                <a:tc>
                  <a:txBody>
                    <a:bodyPr/>
                    <a:lstStyle/>
                    <a:p>
                      <a:pPr marL="0" marR="0" algn="just">
                        <a:lnSpc>
                          <a:spcPct val="115000"/>
                        </a:lnSpc>
                        <a:spcBef>
                          <a:spcPts val="0"/>
                        </a:spcBef>
                        <a:spcAft>
                          <a:spcPts val="0"/>
                        </a:spcAft>
                      </a:pPr>
                      <a:r>
                        <a:rPr lang="en-US" sz="1200" b="1" dirty="0">
                          <a:solidFill>
                            <a:srgbClr val="000000"/>
                          </a:solidFill>
                          <a:latin typeface="Times New Roman"/>
                          <a:ea typeface="Times New Roman"/>
                          <a:cs typeface="Angsana New"/>
                        </a:rPr>
                        <a:t>Prostaglandins</a:t>
                      </a:r>
                      <a:endParaRPr lang="en-US" sz="1200" dirty="0">
                        <a:latin typeface="Times New Roman"/>
                        <a:ea typeface="Times New Roman"/>
                        <a:cs typeface="Angsana New"/>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C0C0"/>
                    </a:solidFill>
                  </a:tcPr>
                </a:tc>
                <a:tc>
                  <a:txBody>
                    <a:bodyPr/>
                    <a:lstStyle/>
                    <a:p>
                      <a:pPr marL="342900" marR="0" lvl="0" indent="-342900" algn="just">
                        <a:lnSpc>
                          <a:spcPct val="115000"/>
                        </a:lnSpc>
                        <a:spcBef>
                          <a:spcPts val="0"/>
                        </a:spcBef>
                        <a:spcAft>
                          <a:spcPts val="0"/>
                        </a:spcAft>
                        <a:buFont typeface="Arial Narrow"/>
                        <a:buChar char="-"/>
                      </a:pPr>
                      <a:r>
                        <a:rPr lang="en-US" sz="1400" dirty="0">
                          <a:solidFill>
                            <a:srgbClr val="000000"/>
                          </a:solidFill>
                          <a:latin typeface="Times New Roman"/>
                          <a:ea typeface="Calibri"/>
                          <a:cs typeface="Times New Roman"/>
                        </a:rPr>
                        <a:t>Vasodilatation</a:t>
                      </a:r>
                      <a:endParaRPr lang="en-US" sz="1400" dirty="0">
                        <a:latin typeface="Times New Roman"/>
                        <a:ea typeface="Calibri"/>
                        <a:cs typeface="Times New Roman"/>
                      </a:endParaRPr>
                    </a:p>
                    <a:p>
                      <a:pPr marL="342900" marR="0" lvl="0" indent="-342900" algn="just">
                        <a:lnSpc>
                          <a:spcPct val="115000"/>
                        </a:lnSpc>
                        <a:spcBef>
                          <a:spcPts val="0"/>
                        </a:spcBef>
                        <a:spcAft>
                          <a:spcPts val="0"/>
                        </a:spcAft>
                        <a:buFont typeface="Arial Narrow"/>
                        <a:buChar char="-"/>
                      </a:pPr>
                      <a:r>
                        <a:rPr lang="en-US" sz="1400" dirty="0">
                          <a:solidFill>
                            <a:srgbClr val="000000"/>
                          </a:solidFill>
                          <a:latin typeface="Times New Roman"/>
                          <a:ea typeface="Calibri"/>
                          <a:cs typeface="Times New Roman"/>
                        </a:rPr>
                        <a:t>Inhibition of platelet aggregation </a:t>
                      </a:r>
                      <a:endParaRPr lang="en-US" sz="1400" dirty="0">
                        <a:latin typeface="Times New Roman"/>
                        <a:ea typeface="Calibri"/>
                        <a:cs typeface="Times New Roman"/>
                      </a:endParaRPr>
                    </a:p>
                    <a:p>
                      <a:pPr marL="342900" marR="0" lvl="0" indent="-342900" algn="just">
                        <a:lnSpc>
                          <a:spcPct val="115000"/>
                        </a:lnSpc>
                        <a:spcBef>
                          <a:spcPts val="0"/>
                        </a:spcBef>
                        <a:spcAft>
                          <a:spcPts val="0"/>
                        </a:spcAft>
                        <a:buFont typeface="Arial Narrow"/>
                        <a:buChar char="-"/>
                      </a:pPr>
                      <a:r>
                        <a:rPr lang="en-US" sz="1400" dirty="0" err="1">
                          <a:solidFill>
                            <a:srgbClr val="000000"/>
                          </a:solidFill>
                          <a:latin typeface="Times New Roman"/>
                          <a:ea typeface="Calibri"/>
                          <a:cs typeface="Times New Roman"/>
                        </a:rPr>
                        <a:t>Bronchodilation</a:t>
                      </a:r>
                      <a:r>
                        <a:rPr lang="en-US" sz="1400" dirty="0">
                          <a:solidFill>
                            <a:srgbClr val="000000"/>
                          </a:solidFill>
                          <a:latin typeface="Times New Roman"/>
                          <a:ea typeface="Calibri"/>
                          <a:cs typeface="Times New Roman"/>
                        </a:rPr>
                        <a:t> and/or </a:t>
                      </a:r>
                      <a:r>
                        <a:rPr lang="en-US" sz="1400" dirty="0" err="1">
                          <a:solidFill>
                            <a:srgbClr val="000000"/>
                          </a:solidFill>
                          <a:latin typeface="Times New Roman"/>
                          <a:ea typeface="Calibri"/>
                          <a:cs typeface="Times New Roman"/>
                        </a:rPr>
                        <a:t>bronchoconstriction</a:t>
                      </a:r>
                      <a:endParaRPr lang="en-US" sz="1400" dirty="0">
                        <a:latin typeface="Times New Roman"/>
                        <a:ea typeface="Calibri"/>
                        <a:cs typeface="Times New Roman"/>
                      </a:endParaRPr>
                    </a:p>
                    <a:p>
                      <a:pPr marL="342900" marR="0" lvl="0" indent="-342900" algn="just">
                        <a:lnSpc>
                          <a:spcPct val="115000"/>
                        </a:lnSpc>
                        <a:spcBef>
                          <a:spcPts val="0"/>
                        </a:spcBef>
                        <a:spcAft>
                          <a:spcPts val="0"/>
                        </a:spcAft>
                        <a:buFont typeface="Arial Narrow"/>
                        <a:buChar char="-"/>
                      </a:pPr>
                      <a:r>
                        <a:rPr lang="en-US" sz="1400" dirty="0">
                          <a:solidFill>
                            <a:srgbClr val="000000"/>
                          </a:solidFill>
                          <a:latin typeface="Times New Roman"/>
                          <a:ea typeface="Calibri"/>
                          <a:cs typeface="Times New Roman"/>
                        </a:rPr>
                        <a:t>GIT smooth muscle contraction</a:t>
                      </a:r>
                      <a:endParaRPr lang="en-US" sz="1400" dirty="0">
                        <a:latin typeface="Times New Roman"/>
                        <a:ea typeface="Calibri"/>
                        <a:cs typeface="Times New Roman"/>
                      </a:endParaRPr>
                    </a:p>
                    <a:p>
                      <a:pPr marL="342900" marR="0" lvl="0" indent="-342900" algn="just">
                        <a:lnSpc>
                          <a:spcPct val="115000"/>
                        </a:lnSpc>
                        <a:spcBef>
                          <a:spcPts val="0"/>
                        </a:spcBef>
                        <a:spcAft>
                          <a:spcPts val="0"/>
                        </a:spcAft>
                        <a:buFont typeface="Arial Narrow"/>
                        <a:buChar char="-"/>
                      </a:pPr>
                      <a:r>
                        <a:rPr lang="en-US" sz="1400" dirty="0">
                          <a:solidFill>
                            <a:srgbClr val="000000"/>
                          </a:solidFill>
                          <a:latin typeface="Times New Roman"/>
                          <a:ea typeface="Calibri"/>
                          <a:cs typeface="Times New Roman"/>
                        </a:rPr>
                        <a:t>Lowers gastric acid secretion</a:t>
                      </a:r>
                      <a:endParaRPr lang="en-US" sz="1400" dirty="0">
                        <a:latin typeface="Times New Roman"/>
                        <a:ea typeface="Calibri"/>
                        <a:cs typeface="Times New Roman"/>
                      </a:endParaRPr>
                    </a:p>
                    <a:p>
                      <a:pPr marL="342900" marR="0" lvl="0" indent="-342900" algn="just">
                        <a:lnSpc>
                          <a:spcPct val="115000"/>
                        </a:lnSpc>
                        <a:spcBef>
                          <a:spcPts val="0"/>
                        </a:spcBef>
                        <a:spcAft>
                          <a:spcPts val="0"/>
                        </a:spcAft>
                        <a:buFont typeface="Arial Narrow"/>
                        <a:buChar char="-"/>
                      </a:pPr>
                      <a:r>
                        <a:rPr lang="en-US" sz="1400" dirty="0">
                          <a:solidFill>
                            <a:srgbClr val="000000"/>
                          </a:solidFill>
                          <a:latin typeface="Times New Roman"/>
                          <a:ea typeface="Calibri"/>
                          <a:cs typeface="Times New Roman"/>
                        </a:rPr>
                        <a:t>Increases gastric mucus secretion</a:t>
                      </a:r>
                      <a:endParaRPr lang="en-US" sz="1400" dirty="0">
                        <a:latin typeface="Times New Roman"/>
                        <a:ea typeface="Calibri"/>
                        <a:cs typeface="Times New Roman"/>
                      </a:endParaRPr>
                    </a:p>
                    <a:p>
                      <a:pPr marL="342900" marR="0" lvl="0" indent="-342900" algn="just">
                        <a:lnSpc>
                          <a:spcPct val="115000"/>
                        </a:lnSpc>
                        <a:spcBef>
                          <a:spcPts val="0"/>
                        </a:spcBef>
                        <a:spcAft>
                          <a:spcPts val="0"/>
                        </a:spcAft>
                        <a:buFont typeface="Arial Narrow"/>
                        <a:buChar char="-"/>
                      </a:pPr>
                      <a:r>
                        <a:rPr lang="en-US" sz="1400" dirty="0">
                          <a:solidFill>
                            <a:srgbClr val="000000"/>
                          </a:solidFill>
                          <a:latin typeface="Times New Roman"/>
                          <a:ea typeface="Calibri"/>
                          <a:cs typeface="Times New Roman"/>
                        </a:rPr>
                        <a:t>Contraction of pregnant uterus</a:t>
                      </a:r>
                      <a:endParaRPr lang="en-US" sz="1400" dirty="0">
                        <a:latin typeface="Times New Roman"/>
                        <a:ea typeface="Calibri"/>
                        <a:cs typeface="Times New Roman"/>
                      </a:endParaRPr>
                    </a:p>
                    <a:p>
                      <a:pPr marL="342900" marR="0" lvl="0" indent="-342900" algn="just">
                        <a:lnSpc>
                          <a:spcPct val="115000"/>
                        </a:lnSpc>
                        <a:spcBef>
                          <a:spcPts val="0"/>
                        </a:spcBef>
                        <a:spcAft>
                          <a:spcPts val="0"/>
                        </a:spcAft>
                        <a:buFont typeface="Arial Narrow"/>
                        <a:buChar char="-"/>
                      </a:pPr>
                      <a:r>
                        <a:rPr lang="en-US" sz="1400" dirty="0">
                          <a:solidFill>
                            <a:srgbClr val="000000"/>
                          </a:solidFill>
                          <a:latin typeface="Times New Roman"/>
                          <a:ea typeface="Calibri"/>
                          <a:cs typeface="Times New Roman"/>
                        </a:rPr>
                        <a:t>Inhibition of </a:t>
                      </a:r>
                      <a:r>
                        <a:rPr lang="en-US" sz="1400" dirty="0" err="1">
                          <a:solidFill>
                            <a:srgbClr val="000000"/>
                          </a:solidFill>
                          <a:latin typeface="Times New Roman"/>
                          <a:ea typeface="Calibri"/>
                          <a:cs typeface="Times New Roman"/>
                        </a:rPr>
                        <a:t>lipolysis</a:t>
                      </a:r>
                      <a:endParaRPr lang="en-US" sz="1400" dirty="0">
                        <a:latin typeface="Times New Roman"/>
                        <a:ea typeface="Calibri"/>
                        <a:cs typeface="Times New Roman"/>
                      </a:endParaRPr>
                    </a:p>
                    <a:p>
                      <a:pPr marL="342900" marR="0" lvl="0" indent="-342900" algn="just">
                        <a:lnSpc>
                          <a:spcPct val="115000"/>
                        </a:lnSpc>
                        <a:spcBef>
                          <a:spcPts val="0"/>
                        </a:spcBef>
                        <a:spcAft>
                          <a:spcPts val="0"/>
                        </a:spcAft>
                        <a:buFont typeface="Arial Narrow"/>
                        <a:buChar char="-"/>
                      </a:pPr>
                      <a:r>
                        <a:rPr lang="en-US" sz="1400" dirty="0">
                          <a:solidFill>
                            <a:srgbClr val="000000"/>
                          </a:solidFill>
                          <a:latin typeface="Times New Roman"/>
                          <a:ea typeface="Calibri"/>
                          <a:cs typeface="Times New Roman"/>
                        </a:rPr>
                        <a:t>Increases autoimmune neurotransmitters like histamine</a:t>
                      </a:r>
                      <a:endParaRPr lang="en-US" sz="1400" dirty="0">
                        <a:latin typeface="Times New Roman"/>
                        <a:ea typeface="Calibri"/>
                        <a:cs typeface="Times New Roman"/>
                      </a:endParaRPr>
                    </a:p>
                    <a:p>
                      <a:pPr marL="342900" marR="0" lvl="0" indent="-342900" algn="just">
                        <a:lnSpc>
                          <a:spcPct val="115000"/>
                        </a:lnSpc>
                        <a:spcBef>
                          <a:spcPts val="0"/>
                        </a:spcBef>
                        <a:spcAft>
                          <a:spcPts val="0"/>
                        </a:spcAft>
                        <a:buFont typeface="Arial Narrow"/>
                        <a:buChar char="-"/>
                      </a:pPr>
                      <a:r>
                        <a:rPr lang="en-US" sz="1400" dirty="0">
                          <a:solidFill>
                            <a:srgbClr val="000000"/>
                          </a:solidFill>
                          <a:latin typeface="Times New Roman"/>
                          <a:ea typeface="Calibri"/>
                          <a:cs typeface="Times New Roman"/>
                        </a:rPr>
                        <a:t>Increases platelet response to their agonists and  </a:t>
                      </a:r>
                      <a:r>
                        <a:rPr lang="en-US" sz="1400" dirty="0" err="1">
                          <a:solidFill>
                            <a:srgbClr val="000000"/>
                          </a:solidFill>
                          <a:latin typeface="Times New Roman"/>
                          <a:ea typeface="Calibri"/>
                          <a:cs typeface="Times New Roman"/>
                        </a:rPr>
                        <a:t>atherothrombosis</a:t>
                      </a:r>
                      <a:r>
                        <a:rPr lang="en-US" sz="1400" dirty="0">
                          <a:solidFill>
                            <a:srgbClr val="000000"/>
                          </a:solidFill>
                          <a:latin typeface="Times New Roman"/>
                          <a:ea typeface="Calibri"/>
                          <a:cs typeface="Times New Roman"/>
                        </a:rPr>
                        <a:t> in vivo</a:t>
                      </a:r>
                      <a:endParaRPr lang="en-US" sz="1400" dirty="0">
                        <a:latin typeface="Times New Roman"/>
                        <a:ea typeface="Calibri"/>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C0C0"/>
                    </a:solidFill>
                  </a:tcPr>
                </a:tc>
                <a:extLst>
                  <a:ext uri="{0D108BD9-81ED-4DB2-BD59-A6C34878D82A}">
                    <a16:rowId xmlns:a16="http://schemas.microsoft.com/office/drawing/2014/main" xmlns="" val="10001"/>
                  </a:ext>
                </a:extLst>
              </a:tr>
            </a:tbl>
          </a:graphicData>
        </a:graphic>
      </p:graphicFrame>
      <p:graphicFrame>
        <p:nvGraphicFramePr>
          <p:cNvPr id="3" name="Table 2">
            <a:extLst>
              <a:ext uri="{FF2B5EF4-FFF2-40B4-BE49-F238E27FC236}">
                <a16:creationId xmlns:a16="http://schemas.microsoft.com/office/drawing/2014/main" xmlns="" id="{F0F440B4-56C3-FD93-654D-6420C30E9194}"/>
              </a:ext>
            </a:extLst>
          </p:cNvPr>
          <p:cNvGraphicFramePr>
            <a:graphicFrameLocks noGrp="1"/>
          </p:cNvGraphicFramePr>
          <p:nvPr/>
        </p:nvGraphicFramePr>
        <p:xfrm>
          <a:off x="152400" y="3352800"/>
          <a:ext cx="8839200" cy="4032317"/>
        </p:xfrm>
        <a:graphic>
          <a:graphicData uri="http://schemas.openxmlformats.org/drawingml/2006/table">
            <a:tbl>
              <a:tblPr/>
              <a:tblGrid>
                <a:gridCol w="2158008">
                  <a:extLst>
                    <a:ext uri="{9D8B030D-6E8A-4147-A177-3AD203B41FA5}">
                      <a16:colId xmlns:a16="http://schemas.microsoft.com/office/drawing/2014/main" xmlns="" val="20000"/>
                    </a:ext>
                  </a:extLst>
                </a:gridCol>
                <a:gridCol w="6681192">
                  <a:extLst>
                    <a:ext uri="{9D8B030D-6E8A-4147-A177-3AD203B41FA5}">
                      <a16:colId xmlns:a16="http://schemas.microsoft.com/office/drawing/2014/main" xmlns="" val="20001"/>
                    </a:ext>
                  </a:extLst>
                </a:gridCol>
              </a:tblGrid>
              <a:tr h="1226753">
                <a:tc>
                  <a:txBody>
                    <a:bodyPr/>
                    <a:lstStyle/>
                    <a:p>
                      <a:pPr marL="0" marR="0" algn="just">
                        <a:lnSpc>
                          <a:spcPct val="115000"/>
                        </a:lnSpc>
                        <a:spcBef>
                          <a:spcPts val="0"/>
                        </a:spcBef>
                        <a:spcAft>
                          <a:spcPts val="0"/>
                        </a:spcAft>
                      </a:pPr>
                      <a:r>
                        <a:rPr lang="en-US" sz="1200" b="1" dirty="0" err="1">
                          <a:solidFill>
                            <a:srgbClr val="000000"/>
                          </a:solidFill>
                          <a:latin typeface="Times New Roman"/>
                          <a:ea typeface="Times New Roman"/>
                          <a:cs typeface="Angsana New"/>
                        </a:rPr>
                        <a:t>Thromboxane</a:t>
                      </a:r>
                      <a:r>
                        <a:rPr lang="en-US" sz="1200" b="1" dirty="0">
                          <a:solidFill>
                            <a:srgbClr val="000000"/>
                          </a:solidFill>
                          <a:latin typeface="Times New Roman"/>
                          <a:ea typeface="Times New Roman"/>
                          <a:cs typeface="Angsana New"/>
                        </a:rPr>
                        <a:t>, TXA</a:t>
                      </a:r>
                      <a:r>
                        <a:rPr lang="en-US" sz="1200" b="1" baseline="-25000" dirty="0">
                          <a:solidFill>
                            <a:srgbClr val="000000"/>
                          </a:solidFill>
                          <a:latin typeface="Times New Roman"/>
                          <a:ea typeface="Times New Roman"/>
                          <a:cs typeface="Angsana New"/>
                        </a:rPr>
                        <a:t>2</a:t>
                      </a:r>
                      <a:endParaRPr lang="en-US" sz="1200" dirty="0">
                        <a:latin typeface="Times New Roman"/>
                        <a:ea typeface="Times New Roman"/>
                        <a:cs typeface="Angsana New"/>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342900" marR="0" lvl="0" indent="-342900" algn="just">
                        <a:lnSpc>
                          <a:spcPct val="115000"/>
                        </a:lnSpc>
                        <a:spcBef>
                          <a:spcPts val="0"/>
                        </a:spcBef>
                        <a:spcAft>
                          <a:spcPts val="0"/>
                        </a:spcAft>
                        <a:buFont typeface="Arial Narrow"/>
                        <a:buChar char="-"/>
                      </a:pPr>
                      <a:r>
                        <a:rPr lang="en-US" sz="1400" dirty="0" err="1">
                          <a:solidFill>
                            <a:srgbClr val="000000"/>
                          </a:solidFill>
                          <a:latin typeface="Calibri"/>
                          <a:ea typeface="Calibri"/>
                          <a:cs typeface="Times New Roman"/>
                        </a:rPr>
                        <a:t>Thromboxane</a:t>
                      </a:r>
                      <a:r>
                        <a:rPr lang="en-US" sz="1400" dirty="0">
                          <a:solidFill>
                            <a:srgbClr val="000000"/>
                          </a:solidFill>
                          <a:latin typeface="Calibri"/>
                          <a:ea typeface="Calibri"/>
                          <a:cs typeface="Times New Roman"/>
                        </a:rPr>
                        <a:t> is a vasoconstrictor and a potent hypertensive agent.</a:t>
                      </a:r>
                      <a:endParaRPr lang="en-US" sz="1400" dirty="0">
                        <a:latin typeface="Calibri"/>
                        <a:ea typeface="Calibri"/>
                        <a:cs typeface="Times New Roman"/>
                      </a:endParaRPr>
                    </a:p>
                    <a:p>
                      <a:pPr marL="342900" marR="0" lvl="0" indent="-342900" algn="just">
                        <a:lnSpc>
                          <a:spcPct val="115000"/>
                        </a:lnSpc>
                        <a:spcBef>
                          <a:spcPts val="0"/>
                        </a:spcBef>
                        <a:spcAft>
                          <a:spcPts val="0"/>
                        </a:spcAft>
                        <a:buFont typeface="Arial Narrow"/>
                        <a:buChar char="-"/>
                      </a:pPr>
                      <a:r>
                        <a:rPr lang="en-US" sz="1400" dirty="0">
                          <a:solidFill>
                            <a:srgbClr val="000000"/>
                          </a:solidFill>
                          <a:latin typeface="Calibri"/>
                          <a:ea typeface="Calibri"/>
                          <a:cs typeface="Times New Roman"/>
                        </a:rPr>
                        <a:t>It facilitates platelet aggregation.</a:t>
                      </a:r>
                      <a:endParaRPr lang="en-US" sz="1400" dirty="0">
                        <a:latin typeface="Calibri"/>
                        <a:ea typeface="Calibri"/>
                        <a:cs typeface="Times New Roman"/>
                      </a:endParaRPr>
                    </a:p>
                    <a:p>
                      <a:pPr marL="0" marR="0" algn="just">
                        <a:lnSpc>
                          <a:spcPct val="115000"/>
                        </a:lnSpc>
                        <a:spcBef>
                          <a:spcPts val="0"/>
                        </a:spcBef>
                        <a:spcAft>
                          <a:spcPts val="0"/>
                        </a:spcAft>
                      </a:pPr>
                      <a:r>
                        <a:rPr lang="en-US" sz="1400" b="1" dirty="0">
                          <a:solidFill>
                            <a:srgbClr val="000000"/>
                          </a:solidFill>
                          <a:latin typeface="Calibri"/>
                          <a:ea typeface="Times New Roman"/>
                          <a:cs typeface="Angsana New"/>
                        </a:rPr>
                        <a:t>NB</a:t>
                      </a:r>
                      <a:r>
                        <a:rPr lang="en-US" sz="1400" dirty="0">
                          <a:solidFill>
                            <a:srgbClr val="000000"/>
                          </a:solidFill>
                          <a:latin typeface="Calibri"/>
                          <a:ea typeface="Times New Roman"/>
                          <a:cs typeface="Angsana New"/>
                        </a:rPr>
                        <a:t>: It is in homeostatic balance with </a:t>
                      </a:r>
                      <a:r>
                        <a:rPr lang="en-US" sz="1400" dirty="0" err="1">
                          <a:solidFill>
                            <a:srgbClr val="000000"/>
                          </a:solidFill>
                          <a:latin typeface="Calibri"/>
                          <a:ea typeface="Times New Roman"/>
                          <a:cs typeface="Angsana New"/>
                        </a:rPr>
                        <a:t>prostacyclin</a:t>
                      </a:r>
                      <a:r>
                        <a:rPr lang="en-US" sz="1400" dirty="0">
                          <a:solidFill>
                            <a:srgbClr val="000000"/>
                          </a:solidFill>
                          <a:latin typeface="Calibri"/>
                          <a:ea typeface="Times New Roman"/>
                          <a:cs typeface="Angsana New"/>
                        </a:rPr>
                        <a:t> (PGI</a:t>
                      </a:r>
                      <a:r>
                        <a:rPr lang="en-US" sz="1400" baseline="-25000" dirty="0">
                          <a:solidFill>
                            <a:srgbClr val="000000"/>
                          </a:solidFill>
                          <a:latin typeface="Calibri"/>
                          <a:ea typeface="Times New Roman"/>
                          <a:cs typeface="Angsana New"/>
                        </a:rPr>
                        <a:t>2), </a:t>
                      </a:r>
                      <a:r>
                        <a:rPr lang="en-US" sz="1400" dirty="0">
                          <a:solidFill>
                            <a:srgbClr val="000000"/>
                          </a:solidFill>
                          <a:latin typeface="Calibri"/>
                          <a:ea typeface="Times New Roman"/>
                          <a:cs typeface="Angsana New"/>
                        </a:rPr>
                        <a:t>a related compound, with opposite effects. </a:t>
                      </a:r>
                    </a:p>
                    <a:p>
                      <a:pPr marL="0" marR="0" algn="just">
                        <a:lnSpc>
                          <a:spcPct val="115000"/>
                        </a:lnSpc>
                        <a:spcBef>
                          <a:spcPts val="0"/>
                        </a:spcBef>
                        <a:spcAft>
                          <a:spcPts val="0"/>
                        </a:spcAft>
                      </a:pPr>
                      <a:endParaRPr lang="en-US" sz="1400" dirty="0">
                        <a:solidFill>
                          <a:srgbClr val="000000"/>
                        </a:solidFill>
                        <a:latin typeface="Calibri"/>
                        <a:ea typeface="Times New Roman"/>
                        <a:cs typeface="Angsana New"/>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xmlns="" val="10000"/>
                  </a:ext>
                </a:extLst>
              </a:tr>
              <a:tr h="832490">
                <a:tc>
                  <a:txBody>
                    <a:bodyPr/>
                    <a:lstStyle/>
                    <a:p>
                      <a:pPr marL="0" marR="0" algn="just">
                        <a:lnSpc>
                          <a:spcPct val="115000"/>
                        </a:lnSpc>
                        <a:spcBef>
                          <a:spcPts val="0"/>
                        </a:spcBef>
                        <a:spcAft>
                          <a:spcPts val="0"/>
                        </a:spcAft>
                      </a:pPr>
                      <a:r>
                        <a:rPr lang="en-US" sz="1200" b="1">
                          <a:solidFill>
                            <a:srgbClr val="000000"/>
                          </a:solidFill>
                          <a:latin typeface="Times New Roman"/>
                          <a:ea typeface="Times New Roman"/>
                          <a:cs typeface="Angsana New"/>
                        </a:rPr>
                        <a:t>Prostacyclin, </a:t>
                      </a:r>
                      <a:endParaRPr lang="en-US" sz="1200">
                        <a:latin typeface="Times New Roman"/>
                        <a:ea typeface="Times New Roman"/>
                        <a:cs typeface="Angsana New"/>
                      </a:endParaRPr>
                    </a:p>
                    <a:p>
                      <a:pPr marL="0" marR="0" algn="just">
                        <a:lnSpc>
                          <a:spcPct val="115000"/>
                        </a:lnSpc>
                        <a:spcBef>
                          <a:spcPts val="0"/>
                        </a:spcBef>
                        <a:spcAft>
                          <a:spcPts val="0"/>
                        </a:spcAft>
                      </a:pPr>
                      <a:r>
                        <a:rPr lang="en-US" sz="1200" b="1">
                          <a:solidFill>
                            <a:srgbClr val="000000"/>
                          </a:solidFill>
                          <a:latin typeface="Times New Roman"/>
                          <a:ea typeface="Times New Roman"/>
                          <a:cs typeface="Angsana New"/>
                        </a:rPr>
                        <a:t>PGI</a:t>
                      </a:r>
                      <a:r>
                        <a:rPr lang="en-US" sz="1200" b="1" baseline="-25000">
                          <a:solidFill>
                            <a:srgbClr val="000000"/>
                          </a:solidFill>
                          <a:latin typeface="Times New Roman"/>
                          <a:ea typeface="Times New Roman"/>
                          <a:cs typeface="Angsana New"/>
                        </a:rPr>
                        <a:t>2</a:t>
                      </a:r>
                      <a:endParaRPr lang="en-US" sz="1200">
                        <a:latin typeface="Times New Roman"/>
                        <a:ea typeface="Times New Roman"/>
                        <a:cs typeface="Angsana New"/>
                      </a:endParaRPr>
                    </a:p>
                  </a:txBody>
                  <a:tcPr marL="68580" marR="68580" marT="0" marB="0">
                    <a:lnL>
                      <a:noFill/>
                    </a:lnL>
                    <a:lnR>
                      <a:noFill/>
                    </a:lnR>
                    <a:lnT>
                      <a:noFill/>
                    </a:lnT>
                    <a:lnB>
                      <a:noFill/>
                    </a:lnB>
                    <a:solidFill>
                      <a:srgbClr val="C0C0C0"/>
                    </a:solidFill>
                  </a:tcPr>
                </a:tc>
                <a:tc>
                  <a:txBody>
                    <a:bodyPr/>
                    <a:lstStyle/>
                    <a:p>
                      <a:pPr marL="342900" marR="0" lvl="0" indent="-342900" algn="just">
                        <a:lnSpc>
                          <a:spcPct val="115000"/>
                        </a:lnSpc>
                        <a:spcBef>
                          <a:spcPts val="0"/>
                        </a:spcBef>
                        <a:spcAft>
                          <a:spcPts val="0"/>
                        </a:spcAft>
                        <a:buFont typeface="Arial Narrow"/>
                        <a:buNone/>
                      </a:pPr>
                      <a:r>
                        <a:rPr lang="en-US" sz="1400" dirty="0">
                          <a:solidFill>
                            <a:srgbClr val="000000"/>
                          </a:solidFill>
                          <a:latin typeface="Times New Roman"/>
                          <a:ea typeface="Calibri"/>
                          <a:cs typeface="Times New Roman"/>
                        </a:rPr>
                        <a:t>-</a:t>
                      </a:r>
                      <a:r>
                        <a:rPr lang="en-US" sz="1400" dirty="0" err="1">
                          <a:solidFill>
                            <a:srgbClr val="000000"/>
                          </a:solidFill>
                          <a:latin typeface="Times New Roman"/>
                          <a:ea typeface="Calibri"/>
                          <a:cs typeface="Times New Roman"/>
                        </a:rPr>
                        <a:t>Prostacyclin</a:t>
                      </a:r>
                      <a:r>
                        <a:rPr lang="en-US" sz="1400" dirty="0">
                          <a:solidFill>
                            <a:srgbClr val="000000"/>
                          </a:solidFill>
                          <a:latin typeface="Times New Roman"/>
                          <a:ea typeface="Calibri"/>
                          <a:cs typeface="Times New Roman"/>
                        </a:rPr>
                        <a:t> chiefly prevents formation of the platelet plug involved in blood clot formation. </a:t>
                      </a:r>
                      <a:endParaRPr lang="en-US" sz="1400" dirty="0">
                        <a:latin typeface="Times New Roman"/>
                        <a:ea typeface="Calibri"/>
                        <a:cs typeface="Times New Roman"/>
                      </a:endParaRPr>
                    </a:p>
                    <a:p>
                      <a:pPr marL="342900" marR="0" lvl="0" indent="-342900" algn="just">
                        <a:lnSpc>
                          <a:spcPct val="115000"/>
                        </a:lnSpc>
                        <a:spcBef>
                          <a:spcPts val="0"/>
                        </a:spcBef>
                        <a:spcAft>
                          <a:spcPts val="0"/>
                        </a:spcAft>
                        <a:buFont typeface="Arial Narrow"/>
                        <a:buChar char="-"/>
                      </a:pPr>
                      <a:r>
                        <a:rPr lang="en-US" sz="1400" dirty="0">
                          <a:solidFill>
                            <a:srgbClr val="000000"/>
                          </a:solidFill>
                          <a:latin typeface="Times New Roman"/>
                          <a:ea typeface="Calibri"/>
                          <a:cs typeface="Times New Roman"/>
                        </a:rPr>
                        <a:t>It is also an effective vasodilator. </a:t>
                      </a:r>
                      <a:endParaRPr lang="en-US" sz="1400" dirty="0">
                        <a:latin typeface="Times New Roman"/>
                        <a:ea typeface="Calibri"/>
                        <a:cs typeface="Times New Roman"/>
                      </a:endParaRPr>
                    </a:p>
                  </a:txBody>
                  <a:tcPr marL="68580" marR="68580" marT="0" marB="0">
                    <a:lnL>
                      <a:noFill/>
                    </a:lnL>
                    <a:lnR>
                      <a:noFill/>
                    </a:lnR>
                    <a:lnT>
                      <a:noFill/>
                    </a:lnT>
                    <a:lnB>
                      <a:noFill/>
                    </a:lnB>
                    <a:solidFill>
                      <a:srgbClr val="C0C0C0"/>
                    </a:solidFill>
                  </a:tcPr>
                </a:tc>
                <a:extLst>
                  <a:ext uri="{0D108BD9-81ED-4DB2-BD59-A6C34878D82A}">
                    <a16:rowId xmlns:a16="http://schemas.microsoft.com/office/drawing/2014/main" xmlns="" val="10001"/>
                  </a:ext>
                </a:extLst>
              </a:tr>
              <a:tr h="1973007">
                <a:tc>
                  <a:txBody>
                    <a:bodyPr/>
                    <a:lstStyle/>
                    <a:p>
                      <a:pPr marL="0" marR="0" algn="just">
                        <a:lnSpc>
                          <a:spcPct val="115000"/>
                        </a:lnSpc>
                        <a:spcBef>
                          <a:spcPts val="0"/>
                        </a:spcBef>
                        <a:spcAft>
                          <a:spcPts val="0"/>
                        </a:spcAft>
                      </a:pPr>
                      <a:r>
                        <a:rPr lang="en-US" sz="1200" b="1" dirty="0" err="1">
                          <a:solidFill>
                            <a:srgbClr val="000000"/>
                          </a:solidFill>
                          <a:latin typeface="Times New Roman"/>
                          <a:ea typeface="Times New Roman"/>
                          <a:cs typeface="Angsana New"/>
                        </a:rPr>
                        <a:t>Leukotrienes</a:t>
                      </a:r>
                      <a:endParaRPr lang="en-US" sz="1200" dirty="0">
                        <a:latin typeface="Times New Roman"/>
                        <a:ea typeface="Times New Roman"/>
                        <a:cs typeface="Angsana New"/>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342900" marR="0" lvl="0" indent="-342900" algn="just">
                        <a:lnSpc>
                          <a:spcPct val="115000"/>
                        </a:lnSpc>
                        <a:spcBef>
                          <a:spcPts val="0"/>
                        </a:spcBef>
                        <a:spcAft>
                          <a:spcPts val="0"/>
                        </a:spcAft>
                        <a:buFont typeface="Arial Narrow"/>
                        <a:buChar char="-"/>
                      </a:pPr>
                      <a:r>
                        <a:rPr lang="en-US" sz="1400" dirty="0">
                          <a:solidFill>
                            <a:srgbClr val="000000"/>
                          </a:solidFill>
                          <a:latin typeface="Times New Roman"/>
                          <a:ea typeface="Calibri"/>
                          <a:cs typeface="Times New Roman"/>
                        </a:rPr>
                        <a:t>They trigger and sustain contractions in the smooth muscles lining the trachea (specifically </a:t>
                      </a:r>
                      <a:r>
                        <a:rPr lang="en-US" sz="1400" dirty="0" err="1">
                          <a:solidFill>
                            <a:srgbClr val="000000"/>
                          </a:solidFill>
                          <a:latin typeface="Times New Roman"/>
                          <a:ea typeface="Calibri"/>
                          <a:cs typeface="Times New Roman"/>
                        </a:rPr>
                        <a:t>leukotriene</a:t>
                      </a:r>
                      <a:r>
                        <a:rPr lang="en-US" sz="1400" dirty="0">
                          <a:solidFill>
                            <a:srgbClr val="000000"/>
                          </a:solidFill>
                          <a:latin typeface="Times New Roman"/>
                          <a:ea typeface="Calibri"/>
                          <a:cs typeface="Times New Roman"/>
                        </a:rPr>
                        <a:t> D</a:t>
                      </a:r>
                      <a:r>
                        <a:rPr lang="en-US" sz="1400" baseline="-25000" dirty="0">
                          <a:solidFill>
                            <a:srgbClr val="000000"/>
                          </a:solidFill>
                          <a:latin typeface="Times New Roman"/>
                          <a:ea typeface="Calibri"/>
                          <a:cs typeface="Times New Roman"/>
                        </a:rPr>
                        <a:t>4</a:t>
                      </a:r>
                      <a:r>
                        <a:rPr lang="en-US" sz="1400" dirty="0">
                          <a:solidFill>
                            <a:srgbClr val="000000"/>
                          </a:solidFill>
                          <a:latin typeface="Times New Roman"/>
                          <a:ea typeface="Calibri"/>
                          <a:cs typeface="Times New Roman"/>
                        </a:rPr>
                        <a:t>). Their overproduction is a major cause of inflammation in asthma and allergic rhinitis. </a:t>
                      </a:r>
                      <a:endParaRPr lang="en-US" sz="1400" dirty="0">
                        <a:latin typeface="Times New Roman"/>
                        <a:ea typeface="Calibri"/>
                        <a:cs typeface="Times New Roman"/>
                      </a:endParaRPr>
                    </a:p>
                    <a:p>
                      <a:pPr marL="342900" marR="0" lvl="0" indent="-342900" algn="just">
                        <a:lnSpc>
                          <a:spcPct val="115000"/>
                        </a:lnSpc>
                        <a:spcBef>
                          <a:spcPts val="0"/>
                        </a:spcBef>
                        <a:spcAft>
                          <a:spcPts val="0"/>
                        </a:spcAft>
                        <a:buFont typeface="Arial Narrow"/>
                        <a:buChar char="-"/>
                      </a:pPr>
                      <a:r>
                        <a:rPr lang="en-US" sz="1400" dirty="0">
                          <a:solidFill>
                            <a:srgbClr val="000000"/>
                          </a:solidFill>
                          <a:latin typeface="Times New Roman"/>
                          <a:ea typeface="Calibri"/>
                          <a:cs typeface="Times New Roman"/>
                        </a:rPr>
                        <a:t>Some such as LTB</a:t>
                      </a:r>
                      <a:r>
                        <a:rPr lang="en-US" sz="1400" baseline="-25000" dirty="0">
                          <a:solidFill>
                            <a:srgbClr val="000000"/>
                          </a:solidFill>
                          <a:latin typeface="Times New Roman"/>
                          <a:ea typeface="Calibri"/>
                          <a:cs typeface="Times New Roman"/>
                        </a:rPr>
                        <a:t>4</a:t>
                      </a:r>
                      <a:r>
                        <a:rPr lang="en-US" sz="1400" dirty="0">
                          <a:solidFill>
                            <a:srgbClr val="000000"/>
                          </a:solidFill>
                          <a:latin typeface="Times New Roman"/>
                          <a:ea typeface="Calibri"/>
                          <a:cs typeface="Times New Roman"/>
                        </a:rPr>
                        <a:t> have a </a:t>
                      </a:r>
                      <a:r>
                        <a:rPr lang="en-US" sz="1400" dirty="0" err="1">
                          <a:solidFill>
                            <a:srgbClr val="000000"/>
                          </a:solidFill>
                          <a:latin typeface="Times New Roman"/>
                          <a:ea typeface="Calibri"/>
                          <a:cs typeface="Times New Roman"/>
                        </a:rPr>
                        <a:t>chemotactic</a:t>
                      </a:r>
                      <a:r>
                        <a:rPr lang="en-US" sz="1400" dirty="0">
                          <a:solidFill>
                            <a:srgbClr val="000000"/>
                          </a:solidFill>
                          <a:latin typeface="Times New Roman"/>
                          <a:ea typeface="Calibri"/>
                          <a:cs typeface="Times New Roman"/>
                        </a:rPr>
                        <a:t> effect on migrating </a:t>
                      </a:r>
                      <a:r>
                        <a:rPr lang="en-US" sz="1400" dirty="0" err="1">
                          <a:solidFill>
                            <a:srgbClr val="000000"/>
                          </a:solidFill>
                          <a:latin typeface="Times New Roman"/>
                          <a:ea typeface="Calibri"/>
                          <a:cs typeface="Times New Roman"/>
                        </a:rPr>
                        <a:t>neutrophils</a:t>
                      </a:r>
                      <a:r>
                        <a:rPr lang="en-US" sz="1400" dirty="0">
                          <a:solidFill>
                            <a:srgbClr val="000000"/>
                          </a:solidFill>
                          <a:latin typeface="Times New Roman"/>
                          <a:ea typeface="Calibri"/>
                          <a:cs typeface="Times New Roman"/>
                        </a:rPr>
                        <a:t>, and as such </a:t>
                      </a:r>
                      <a:r>
                        <a:rPr lang="en-US" sz="1200" dirty="0">
                          <a:solidFill>
                            <a:srgbClr val="000000"/>
                          </a:solidFill>
                          <a:latin typeface="Times New Roman"/>
                          <a:ea typeface="Calibri"/>
                          <a:cs typeface="Times New Roman"/>
                        </a:rPr>
                        <a:t>help to bring the necessary cells to the tissue during immune response</a:t>
                      </a:r>
                      <a:endParaRPr lang="en-US" sz="1200" dirty="0">
                        <a:latin typeface="Times New Roman"/>
                        <a:ea typeface="Calibri"/>
                        <a:cs typeface="Times New Roman"/>
                      </a:endParaRPr>
                    </a:p>
                    <a:p>
                      <a:pPr marL="342900" marR="0" lvl="0" indent="-342900" algn="just">
                        <a:lnSpc>
                          <a:spcPct val="115000"/>
                        </a:lnSpc>
                        <a:spcBef>
                          <a:spcPts val="0"/>
                        </a:spcBef>
                        <a:spcAft>
                          <a:spcPts val="0"/>
                        </a:spcAft>
                        <a:buFont typeface="Arial Narrow"/>
                        <a:buChar char="-"/>
                      </a:pPr>
                      <a:r>
                        <a:rPr lang="en-US" sz="1200" dirty="0" err="1">
                          <a:solidFill>
                            <a:srgbClr val="000000"/>
                          </a:solidFill>
                          <a:latin typeface="Times New Roman"/>
                          <a:ea typeface="Calibri"/>
                          <a:cs typeface="Times New Roman"/>
                        </a:rPr>
                        <a:t>Leukotrienes</a:t>
                      </a:r>
                      <a:r>
                        <a:rPr lang="en-US" sz="1200" dirty="0">
                          <a:solidFill>
                            <a:srgbClr val="000000"/>
                          </a:solidFill>
                          <a:latin typeface="Times New Roman"/>
                          <a:ea typeface="Calibri"/>
                          <a:cs typeface="Times New Roman"/>
                        </a:rPr>
                        <a:t> also have a powerful effect in </a:t>
                      </a:r>
                      <a:r>
                        <a:rPr lang="en-US" sz="1200" dirty="0" err="1">
                          <a:solidFill>
                            <a:srgbClr val="000000"/>
                          </a:solidFill>
                          <a:latin typeface="Times New Roman"/>
                          <a:ea typeface="Calibri"/>
                          <a:cs typeface="Times New Roman"/>
                        </a:rPr>
                        <a:t>bronchoconstriction</a:t>
                      </a:r>
                      <a:r>
                        <a:rPr lang="en-US" sz="1200" dirty="0">
                          <a:solidFill>
                            <a:srgbClr val="000000"/>
                          </a:solidFill>
                          <a:latin typeface="Times New Roman"/>
                          <a:ea typeface="Calibri"/>
                          <a:cs typeface="Times New Roman"/>
                        </a:rPr>
                        <a:t> and increase vascular permeability. </a:t>
                      </a:r>
                      <a:endParaRPr lang="en-US" sz="1200" dirty="0">
                        <a:latin typeface="Times New Roman"/>
                        <a:ea typeface="Calibri"/>
                        <a:cs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
        <p:nvSpPr>
          <p:cNvPr id="36883" name="Rectangle 1">
            <a:extLst>
              <a:ext uri="{FF2B5EF4-FFF2-40B4-BE49-F238E27FC236}">
                <a16:creationId xmlns:a16="http://schemas.microsoft.com/office/drawing/2014/main" xmlns="" id="{6C447E13-088C-185E-4009-DE73F28CEAD8}"/>
              </a:ext>
            </a:extLst>
          </p:cNvPr>
          <p:cNvSpPr>
            <a:spLocks noChangeArrowheads="1"/>
          </p:cNvSpPr>
          <p:nvPr/>
        </p:nvSpPr>
        <p:spPr bwMode="auto">
          <a:xfrm>
            <a:off x="0" y="0"/>
            <a:ext cx="215582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ea typeface="Times New Roman" panose="02020603050405020304" pitchFamily="18" charset="0"/>
                <a:cs typeface="Angsana New" panose="02020603050405020304" pitchFamily="18" charset="-34"/>
              </a:rPr>
              <a:t>.</a:t>
            </a:r>
          </a:p>
          <a:p>
            <a:r>
              <a:rPr lang="en-US" altLang="en-US" sz="1200" b="1">
                <a:latin typeface="Times New Roman" panose="02020603050405020304" pitchFamily="18" charset="0"/>
                <a:ea typeface="Times New Roman" panose="02020603050405020304" pitchFamily="18" charset="0"/>
                <a:cs typeface="Angsana New" panose="02020603050405020304" pitchFamily="18" charset="-34"/>
              </a:rPr>
              <a:t>Table 2: Effects of eicosanoids</a:t>
            </a:r>
            <a:endParaRPr lang="en-US" altLang="en-US" sz="1200">
              <a:ea typeface="Times New Roman" panose="02020603050405020304" pitchFamily="18" charset="0"/>
              <a:cs typeface="Angsana New" panose="02020603050405020304" pitchFamily="18" charset="-34"/>
            </a:endParaRPr>
          </a:p>
          <a:p>
            <a:r>
              <a:rPr lang="en-US" altLang="en-US" sz="1200">
                <a:ea typeface="Times New Roman" panose="02020603050405020304" pitchFamily="18" charset="0"/>
                <a:cs typeface="Angsana New" panose="02020603050405020304" pitchFamily="18" charset="-34"/>
              </a:rPr>
              <a:t/>
            </a:r>
            <a:br>
              <a:rPr lang="en-US" altLang="en-US" sz="1200">
                <a:ea typeface="Times New Roman" panose="02020603050405020304" pitchFamily="18" charset="0"/>
                <a:cs typeface="Angsana New" panose="02020603050405020304" pitchFamily="18" charset="-34"/>
              </a:rPr>
            </a:br>
            <a:endParaRPr lang="en-US" altLang="en-US" sz="1200">
              <a:ea typeface="Times New Roman" panose="02020603050405020304" pitchFamily="18" charset="0"/>
              <a:cs typeface="Angsana New" panose="02020603050405020304" pitchFamily="18" charset="-34"/>
            </a:endParaRPr>
          </a:p>
          <a:p>
            <a:endParaRPr lang="en-US" altLang="en-US">
              <a:ea typeface="Times New Roman" panose="02020603050405020304" pitchFamily="18" charset="0"/>
              <a:cs typeface="Angsana New" panose="02020603050405020304" pitchFamily="18" charset="-3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 name="Title 1">
            <a:extLst>
              <a:ext uri="{FF2B5EF4-FFF2-40B4-BE49-F238E27FC236}">
                <a16:creationId xmlns:a16="http://schemas.microsoft.com/office/drawing/2014/main" xmlns="" id="{AEDFF67E-9C6D-AEBE-6D5C-D3485A5D50D6}"/>
              </a:ext>
            </a:extLst>
          </p:cNvPr>
          <p:cNvSpPr>
            <a:spLocks noGrp="1"/>
          </p:cNvSpPr>
          <p:nvPr>
            <p:ph type="title"/>
          </p:nvPr>
        </p:nvSpPr>
        <p:spPr>
          <a:xfrm>
            <a:off x="1176338" y="76200"/>
            <a:ext cx="6799262" cy="1295400"/>
          </a:xfrm>
        </p:spPr>
        <p:txBody>
          <a:bodyPr rtlCol="0">
            <a:normAutofit fontScale="90000"/>
          </a:bodyPr>
          <a:lstStyle/>
          <a:p>
            <a:pPr eaLnBrk="1" fontAlgn="auto" hangingPunct="1">
              <a:spcAft>
                <a:spcPts val="0"/>
              </a:spcAft>
              <a:defRPr/>
            </a:pPr>
            <a:r>
              <a:rPr lang="en-US" b="1" dirty="0">
                <a:solidFill>
                  <a:srgbClr val="FF0000"/>
                </a:solidFill>
              </a:rPr>
              <a:t>Clinical use of eicosanoids</a:t>
            </a:r>
            <a:r>
              <a:rPr lang="en-GB" dirty="0">
                <a:solidFill>
                  <a:srgbClr val="FF0000"/>
                </a:solidFill>
              </a:rPr>
              <a:t/>
            </a:r>
            <a:br>
              <a:rPr lang="en-GB" dirty="0">
                <a:solidFill>
                  <a:srgbClr val="FF0000"/>
                </a:solidFill>
              </a:rPr>
            </a:br>
            <a:endParaRPr lang="en-GB" dirty="0">
              <a:solidFill>
                <a:srgbClr val="FF0000"/>
              </a:solidFill>
            </a:endParaRPr>
          </a:p>
        </p:txBody>
      </p:sp>
      <p:sp>
        <p:nvSpPr>
          <p:cNvPr id="38915" name="Content Placeholder 2">
            <a:extLst>
              <a:ext uri="{FF2B5EF4-FFF2-40B4-BE49-F238E27FC236}">
                <a16:creationId xmlns:a16="http://schemas.microsoft.com/office/drawing/2014/main" xmlns="" id="{8B9DFDE2-AD04-F347-03EA-51E5F011FDF8}"/>
              </a:ext>
            </a:extLst>
          </p:cNvPr>
          <p:cNvSpPr>
            <a:spLocks noGrp="1"/>
          </p:cNvSpPr>
          <p:nvPr>
            <p:ph idx="1"/>
          </p:nvPr>
        </p:nvSpPr>
        <p:spPr>
          <a:xfrm>
            <a:off x="228600" y="685800"/>
            <a:ext cx="8610600" cy="6096000"/>
          </a:xfrm>
        </p:spPr>
        <p:txBody>
          <a:bodyPr/>
          <a:lstStyle/>
          <a:p>
            <a:pPr algn="just" eaLnBrk="1" hangingPunct="1"/>
            <a:r>
              <a:rPr lang="en-US" altLang="en-US" sz="2800">
                <a:latin typeface="Times New Roman" panose="02020603050405020304" pitchFamily="18" charset="0"/>
                <a:cs typeface="Times New Roman" panose="02020603050405020304" pitchFamily="18" charset="0"/>
              </a:rPr>
              <a:t>By virtue of their actions, eicosanoids (and their derivatives and antagonists) are widely used in clinical practice. </a:t>
            </a:r>
          </a:p>
          <a:p>
            <a:pPr algn="just" eaLnBrk="1" hangingPunct="1"/>
            <a:r>
              <a:rPr lang="en-US" altLang="en-US" sz="2800">
                <a:latin typeface="Times New Roman" panose="02020603050405020304" pitchFamily="18" charset="0"/>
                <a:cs typeface="Times New Roman" panose="02020603050405020304" pitchFamily="18" charset="0"/>
              </a:rPr>
              <a:t>Non-steroidal anti-inflammatory drugs (NSAIDs), such as aspirin and brufen and its derivatives inhibit enzymes (especially cyclooxygenases) involved in the synthesis of eicosanoids.</a:t>
            </a:r>
          </a:p>
          <a:p>
            <a:pPr algn="just" eaLnBrk="1" hangingPunct="1"/>
            <a:r>
              <a:rPr lang="en-US" altLang="en-US" sz="2800">
                <a:latin typeface="Times New Roman" panose="02020603050405020304" pitchFamily="18" charset="0"/>
                <a:cs typeface="Times New Roman" panose="02020603050405020304" pitchFamily="18" charset="0"/>
              </a:rPr>
              <a:t> This inhibits formation of prostaglandins involved in fever, pain and inflammation. In addition, aspirin also inhibits blood clotting by blocking thromboxane formation in platelets (also thrombocytes).</a:t>
            </a:r>
          </a:p>
          <a:p>
            <a:pPr algn="just" eaLnBrk="1" hangingPunct="1"/>
            <a:r>
              <a:rPr lang="en-US" altLang="en-US" sz="2800">
                <a:latin typeface="Times New Roman" panose="02020603050405020304" pitchFamily="18" charset="0"/>
                <a:cs typeface="Times New Roman" panose="02020603050405020304" pitchFamily="18" charset="0"/>
              </a:rPr>
              <a:t>Prostaglandins are used in induction of labour due to their effect on smooth muscle of uterus. </a:t>
            </a:r>
            <a:endParaRPr lang="en-GB"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B5A91F-A9D8-5835-CBE6-C4770D58D7B3}"/>
              </a:ext>
            </a:extLst>
          </p:cNvPr>
          <p:cNvSpPr>
            <a:spLocks noGrp="1"/>
          </p:cNvSpPr>
          <p:nvPr>
            <p:ph type="title"/>
          </p:nvPr>
        </p:nvSpPr>
        <p:spPr>
          <a:xfrm>
            <a:off x="1176338" y="0"/>
            <a:ext cx="6799262" cy="609600"/>
          </a:xfrm>
        </p:spPr>
        <p:txBody>
          <a:bodyPr rtlCol="0">
            <a:normAutofit fontScale="90000"/>
          </a:bodyPr>
          <a:lstStyle/>
          <a:p>
            <a:pPr eaLnBrk="1" fontAlgn="auto" hangingPunct="1">
              <a:spcAft>
                <a:spcPts val="0"/>
              </a:spcAft>
              <a:defRPr/>
            </a:pPr>
            <a:r>
              <a:rPr lang="en-GB" dirty="0">
                <a:solidFill>
                  <a:srgbClr val="FF0000"/>
                </a:solidFill>
              </a:rPr>
              <a:t>CONT’</a:t>
            </a:r>
          </a:p>
        </p:txBody>
      </p:sp>
      <p:sp>
        <p:nvSpPr>
          <p:cNvPr id="3" name="Content Placeholder 2">
            <a:extLst>
              <a:ext uri="{FF2B5EF4-FFF2-40B4-BE49-F238E27FC236}">
                <a16:creationId xmlns:a16="http://schemas.microsoft.com/office/drawing/2014/main" xmlns="" id="{668E1FEF-2F6C-E5E7-83EA-408EB594E442}"/>
              </a:ext>
            </a:extLst>
          </p:cNvPr>
          <p:cNvSpPr>
            <a:spLocks noGrp="1"/>
          </p:cNvSpPr>
          <p:nvPr>
            <p:ph idx="1"/>
          </p:nvPr>
        </p:nvSpPr>
        <p:spPr>
          <a:xfrm>
            <a:off x="152400" y="609600"/>
            <a:ext cx="8763000" cy="6172200"/>
          </a:xfrm>
        </p:spPr>
        <p:txBody>
          <a:bodyPr rtlCol="0">
            <a:noAutofit/>
          </a:bodyPr>
          <a:lstStyle/>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Leukotriene antagonists are used in the management of asthma and other allergic conditions</a:t>
            </a:r>
            <a:endParaRPr lang="en-GB" sz="28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lgn="just" eaLnBrk="1" fontAlgn="auto" hangingPunct="1">
              <a:buFont typeface="Arial"/>
              <a:buNone/>
              <a:defRPr/>
            </a:pPr>
            <a:r>
              <a:rPr lang="en-US" sz="2800" b="1" dirty="0">
                <a:solidFill>
                  <a:srgbClr val="FF0000"/>
                </a:solidFill>
                <a:latin typeface="Times New Roman" panose="02020603050405020304" pitchFamily="18" charset="0"/>
                <a:cs typeface="Times New Roman" panose="02020603050405020304" pitchFamily="18" charset="0"/>
              </a:rPr>
              <a:t>Metabolism of cholesterol</a:t>
            </a: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Cholesterol in our bodies is derived from the diet and also from synthesis within our bodies.</a:t>
            </a:r>
            <a:endParaRPr lang="en-GB" sz="28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lgn="just" eaLnBrk="1" fontAlgn="auto" hangingPunct="1">
              <a:buFont typeface="Arial"/>
              <a:buNone/>
              <a:defRPr/>
            </a:pPr>
            <a:r>
              <a:rPr lang="en-US" sz="2800" b="1" dirty="0">
                <a:solidFill>
                  <a:srgbClr val="FF0000"/>
                </a:solidFill>
                <a:latin typeface="Times New Roman" panose="02020603050405020304" pitchFamily="18" charset="0"/>
                <a:cs typeface="Times New Roman" panose="02020603050405020304" pitchFamily="18" charset="0"/>
              </a:rPr>
              <a:t>a) Biosynthesis of cholesterol</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a:t>
            </a:r>
            <a:endParaRPr lang="en-GB" sz="2800" dirty="0">
              <a:solidFill>
                <a:schemeClr val="tx1">
                  <a:lumMod val="85000"/>
                  <a:lumOff val="15000"/>
                </a:schemeClr>
              </a:solidFill>
              <a:latin typeface="Times New Roman" panose="02020603050405020304" pitchFamily="18" charset="0"/>
              <a:cs typeface="Times New Roman" panose="02020603050405020304" pitchFamily="18" charset="0"/>
            </a:endParaRP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Cholesterol is an extremely important biological molecule that has roles in membrane structure as well as being a precursor for the synthesis of the steroid hormones and bile acids.</a:t>
            </a: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Cholesterol is synthesized in the cell cytosol and endoplasmic reticulum from acetyl CoA.</a:t>
            </a:r>
            <a:endParaRPr lang="en-GB" sz="28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xmlns="" id="{038EBD3B-A772-1F57-98A7-E741005C2A19}"/>
              </a:ext>
            </a:extLst>
          </p:cNvPr>
          <p:cNvSpPr>
            <a:spLocks noGrp="1"/>
          </p:cNvSpPr>
          <p:nvPr>
            <p:ph type="title"/>
          </p:nvPr>
        </p:nvSpPr>
        <p:spPr>
          <a:xfrm>
            <a:off x="1176338" y="76200"/>
            <a:ext cx="6799262" cy="762000"/>
          </a:xfrm>
        </p:spPr>
        <p:txBody>
          <a:bodyPr/>
          <a:lstStyle/>
          <a:p>
            <a:pPr eaLnBrk="1" hangingPunct="1"/>
            <a:r>
              <a:rPr lang="en-GB" altLang="en-US">
                <a:ln>
                  <a:noFill/>
                </a:ln>
                <a:solidFill>
                  <a:srgbClr val="FF0000"/>
                </a:solidFill>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xmlns="" id="{C5E2810F-050F-CBCA-3C16-5A392CD2A425}"/>
              </a:ext>
            </a:extLst>
          </p:cNvPr>
          <p:cNvSpPr>
            <a:spLocks noGrp="1"/>
          </p:cNvSpPr>
          <p:nvPr>
            <p:ph idx="1"/>
          </p:nvPr>
        </p:nvSpPr>
        <p:spPr>
          <a:xfrm>
            <a:off x="304800" y="838200"/>
            <a:ext cx="8534400" cy="5867400"/>
          </a:xfrm>
        </p:spPr>
        <p:txBody>
          <a:bodyPr rtlCol="0">
            <a:normAutofit fontScale="70000" lnSpcReduction="20000"/>
          </a:bodyPr>
          <a:lstStyle/>
          <a:p>
            <a:pPr algn="just" eaLnBrk="1" fontAlgn="auto" hangingPunct="1">
              <a:buFont typeface="Wingdings" panose="05000000000000000000" pitchFamily="2" charset="2"/>
              <a:buChar char="q"/>
              <a:defRP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sz="3600" dirty="0">
                <a:solidFill>
                  <a:schemeClr val="tx1">
                    <a:lumMod val="85000"/>
                    <a:lumOff val="15000"/>
                  </a:schemeClr>
                </a:solidFill>
                <a:latin typeface="Times New Roman" panose="02020603050405020304" pitchFamily="18" charset="0"/>
                <a:cs typeface="Times New Roman" panose="02020603050405020304" pitchFamily="18" charset="0"/>
              </a:rPr>
              <a:t>The liver and intestine account each for 10% of the total cholesterol synthesized in the body.</a:t>
            </a:r>
          </a:p>
          <a:p>
            <a:pPr algn="just" eaLnBrk="1" fontAlgn="auto" hangingPunct="1">
              <a:buFont typeface="Wingdings" panose="05000000000000000000" pitchFamily="2" charset="2"/>
              <a:buChar char="q"/>
              <a:defRPr/>
            </a:pPr>
            <a:r>
              <a:rPr lang="en-US" sz="3600" dirty="0">
                <a:solidFill>
                  <a:schemeClr val="tx1">
                    <a:lumMod val="85000"/>
                    <a:lumOff val="15000"/>
                  </a:schemeClr>
                </a:solidFill>
                <a:latin typeface="Times New Roman" panose="02020603050405020304" pitchFamily="18" charset="0"/>
                <a:cs typeface="Times New Roman" panose="02020603050405020304" pitchFamily="18" charset="0"/>
              </a:rPr>
              <a:t> Almost all tissues containing nucleated cells can synthesize cholesterol</a:t>
            </a:r>
          </a:p>
          <a:p>
            <a:pPr algn="just" eaLnBrk="1" fontAlgn="auto" hangingPunct="1">
              <a:buFont typeface="Wingdings" panose="05000000000000000000" pitchFamily="2" charset="2"/>
              <a:buChar char="q"/>
              <a:defRPr/>
            </a:pPr>
            <a:r>
              <a:rPr lang="en-US" sz="3600" dirty="0">
                <a:solidFill>
                  <a:schemeClr val="tx1">
                    <a:lumMod val="85000"/>
                    <a:lumOff val="15000"/>
                  </a:schemeClr>
                </a:solidFill>
                <a:latin typeface="Times New Roman" panose="02020603050405020304" pitchFamily="18" charset="0"/>
                <a:cs typeface="Times New Roman" panose="02020603050405020304" pitchFamily="18" charset="0"/>
              </a:rPr>
              <a:t>The process of cholesterol synthesis has five major steps:</a:t>
            </a:r>
            <a:endParaRPr lang="en-GB" sz="36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457200" indent="-457200" algn="just" eaLnBrk="1" fontAlgn="auto" hangingPunct="1">
              <a:buFont typeface="Arial"/>
              <a:buAutoNum type="alphaLcParenR"/>
              <a:defRPr/>
            </a:pPr>
            <a:r>
              <a:rPr lang="en-US" sz="3600" dirty="0">
                <a:solidFill>
                  <a:schemeClr val="tx1">
                    <a:lumMod val="85000"/>
                    <a:lumOff val="15000"/>
                  </a:schemeClr>
                </a:solidFill>
                <a:latin typeface="Times New Roman" panose="02020603050405020304" pitchFamily="18" charset="0"/>
                <a:cs typeface="Times New Roman" panose="02020603050405020304" pitchFamily="18" charset="0"/>
              </a:rPr>
              <a:t>Acetyl-</a:t>
            </a:r>
            <a:r>
              <a:rPr lang="en-US" sz="3600" dirty="0" err="1">
                <a:solidFill>
                  <a:schemeClr val="tx1">
                    <a:lumMod val="85000"/>
                    <a:lumOff val="15000"/>
                  </a:schemeClr>
                </a:solidFill>
                <a:latin typeface="Times New Roman" panose="02020603050405020304" pitchFamily="18" charset="0"/>
                <a:cs typeface="Times New Roman" panose="02020603050405020304" pitchFamily="18" charset="0"/>
              </a:rPr>
              <a:t>CoAs</a:t>
            </a:r>
            <a:r>
              <a:rPr lang="en-US" sz="3600" dirty="0">
                <a:solidFill>
                  <a:schemeClr val="tx1">
                    <a:lumMod val="85000"/>
                    <a:lumOff val="15000"/>
                  </a:schemeClr>
                </a:solidFill>
                <a:latin typeface="Times New Roman" panose="02020603050405020304" pitchFamily="18" charset="0"/>
                <a:cs typeface="Times New Roman" panose="02020603050405020304" pitchFamily="18" charset="0"/>
              </a:rPr>
              <a:t> are converted to 3-hydroxy-3-methylglutaryl-CoA (HMG-CoA) </a:t>
            </a:r>
            <a:endParaRPr lang="en-GB" sz="36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457200" indent="-457200" algn="just" eaLnBrk="1" fontAlgn="auto" hangingPunct="1">
              <a:buFont typeface="Arial"/>
              <a:buAutoNum type="alphaLcParenR"/>
              <a:defRPr/>
            </a:pPr>
            <a:r>
              <a:rPr lang="en-US" sz="3600" dirty="0">
                <a:solidFill>
                  <a:schemeClr val="tx1">
                    <a:lumMod val="85000"/>
                    <a:lumOff val="15000"/>
                  </a:schemeClr>
                </a:solidFill>
                <a:latin typeface="Times New Roman" panose="02020603050405020304" pitchFamily="18" charset="0"/>
                <a:cs typeface="Times New Roman" panose="02020603050405020304" pitchFamily="18" charset="0"/>
              </a:rPr>
              <a:t>HMG-CoA is converted to </a:t>
            </a:r>
            <a:r>
              <a:rPr lang="en-US" sz="3600" dirty="0" err="1">
                <a:solidFill>
                  <a:schemeClr val="tx1">
                    <a:lumMod val="85000"/>
                    <a:lumOff val="15000"/>
                  </a:schemeClr>
                </a:solidFill>
                <a:latin typeface="Times New Roman" panose="02020603050405020304" pitchFamily="18" charset="0"/>
                <a:cs typeface="Times New Roman" panose="02020603050405020304" pitchFamily="18" charset="0"/>
              </a:rPr>
              <a:t>mevalonate</a:t>
            </a:r>
            <a:r>
              <a:rPr lang="en-US" sz="3600" dirty="0">
                <a:solidFill>
                  <a:schemeClr val="tx1">
                    <a:lumMod val="85000"/>
                    <a:lumOff val="15000"/>
                  </a:schemeClr>
                </a:solidFill>
                <a:latin typeface="Times New Roman" panose="02020603050405020304" pitchFamily="18" charset="0"/>
                <a:cs typeface="Times New Roman" panose="02020603050405020304" pitchFamily="18" charset="0"/>
              </a:rPr>
              <a:t> by HMG-CoA reductase (HMGR).</a:t>
            </a:r>
            <a:endParaRPr lang="en-GB" sz="36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457200" indent="-457200" algn="just" eaLnBrk="1" fontAlgn="auto" hangingPunct="1">
              <a:buFont typeface="Arial"/>
              <a:buAutoNum type="alphaLcParenR"/>
              <a:defRPr/>
            </a:pPr>
            <a:r>
              <a:rPr lang="en-US" sz="3600" dirty="0" err="1">
                <a:solidFill>
                  <a:schemeClr val="tx1">
                    <a:lumMod val="85000"/>
                    <a:lumOff val="15000"/>
                  </a:schemeClr>
                </a:solidFill>
                <a:latin typeface="Times New Roman" panose="02020603050405020304" pitchFamily="18" charset="0"/>
                <a:cs typeface="Times New Roman" panose="02020603050405020304" pitchFamily="18" charset="0"/>
              </a:rPr>
              <a:t>Mevalonate</a:t>
            </a:r>
            <a:r>
              <a:rPr lang="en-US" sz="3600" dirty="0">
                <a:solidFill>
                  <a:schemeClr val="tx1">
                    <a:lumMod val="85000"/>
                    <a:lumOff val="15000"/>
                  </a:schemeClr>
                </a:solidFill>
                <a:latin typeface="Times New Roman" panose="02020603050405020304" pitchFamily="18" charset="0"/>
                <a:cs typeface="Times New Roman" panose="02020603050405020304" pitchFamily="18" charset="0"/>
              </a:rPr>
              <a:t> is converted to the isoprene based molecule, </a:t>
            </a:r>
            <a:r>
              <a:rPr lang="en-US" sz="3600" dirty="0" err="1">
                <a:solidFill>
                  <a:schemeClr val="tx1">
                    <a:lumMod val="85000"/>
                    <a:lumOff val="15000"/>
                  </a:schemeClr>
                </a:solidFill>
                <a:latin typeface="Times New Roman" panose="02020603050405020304" pitchFamily="18" charset="0"/>
                <a:cs typeface="Times New Roman" panose="02020603050405020304" pitchFamily="18" charset="0"/>
              </a:rPr>
              <a:t>isopentenyl</a:t>
            </a:r>
            <a:r>
              <a:rPr lang="en-US" sz="3600" dirty="0">
                <a:solidFill>
                  <a:schemeClr val="tx1">
                    <a:lumMod val="85000"/>
                    <a:lumOff val="15000"/>
                  </a:schemeClr>
                </a:solidFill>
                <a:latin typeface="Times New Roman" panose="02020603050405020304" pitchFamily="18" charset="0"/>
                <a:cs typeface="Times New Roman" panose="02020603050405020304" pitchFamily="18" charset="0"/>
              </a:rPr>
              <a:t> pyrophosphate (IPP), with the concomitant loss of CO</a:t>
            </a:r>
            <a:r>
              <a:rPr lang="en-US" sz="3600" baseline="-25000" dirty="0">
                <a:solidFill>
                  <a:schemeClr val="tx1">
                    <a:lumMod val="85000"/>
                    <a:lumOff val="15000"/>
                  </a:schemeClr>
                </a:solidFill>
                <a:latin typeface="Times New Roman" panose="02020603050405020304" pitchFamily="18" charset="0"/>
                <a:cs typeface="Times New Roman" panose="02020603050405020304" pitchFamily="18" charset="0"/>
              </a:rPr>
              <a:t>2</a:t>
            </a:r>
            <a:endParaRPr lang="en-GB" sz="36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457200" indent="-457200" algn="just" eaLnBrk="1" fontAlgn="auto" hangingPunct="1">
              <a:buFont typeface="Arial"/>
              <a:buAutoNum type="alphaLcParenR"/>
              <a:defRPr/>
            </a:pPr>
            <a:r>
              <a:rPr lang="en-US" sz="3600" dirty="0">
                <a:solidFill>
                  <a:schemeClr val="tx1">
                    <a:lumMod val="85000"/>
                    <a:lumOff val="15000"/>
                  </a:schemeClr>
                </a:solidFill>
                <a:latin typeface="Times New Roman" panose="02020603050405020304" pitchFamily="18" charset="0"/>
                <a:cs typeface="Times New Roman" panose="02020603050405020304" pitchFamily="18" charset="0"/>
              </a:rPr>
              <a:t>IPP is converted to </a:t>
            </a:r>
            <a:r>
              <a:rPr lang="en-US" sz="3600" dirty="0" err="1">
                <a:solidFill>
                  <a:schemeClr val="tx1">
                    <a:lumMod val="85000"/>
                    <a:lumOff val="15000"/>
                  </a:schemeClr>
                </a:solidFill>
                <a:latin typeface="Times New Roman" panose="02020603050405020304" pitchFamily="18" charset="0"/>
                <a:cs typeface="Times New Roman" panose="02020603050405020304" pitchFamily="18" charset="0"/>
              </a:rPr>
              <a:t>squalene</a:t>
            </a:r>
            <a:endParaRPr lang="en-GB" sz="36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457200" indent="-457200" algn="just" eaLnBrk="1" fontAlgn="auto" hangingPunct="1">
              <a:buFont typeface="Arial"/>
              <a:buAutoNum type="alphaLcParenR"/>
              <a:defRPr/>
            </a:pPr>
            <a:r>
              <a:rPr lang="en-US" sz="3600" dirty="0">
                <a:solidFill>
                  <a:schemeClr val="tx1">
                    <a:lumMod val="85000"/>
                    <a:lumOff val="15000"/>
                  </a:schemeClr>
                </a:solidFill>
                <a:latin typeface="Times New Roman" panose="02020603050405020304" pitchFamily="18" charset="0"/>
                <a:cs typeface="Times New Roman" panose="02020603050405020304" pitchFamily="18" charset="0"/>
              </a:rPr>
              <a:t>Lastly, </a:t>
            </a:r>
            <a:r>
              <a:rPr lang="en-US" sz="3600" dirty="0" err="1">
                <a:solidFill>
                  <a:schemeClr val="tx1">
                    <a:lumMod val="85000"/>
                    <a:lumOff val="15000"/>
                  </a:schemeClr>
                </a:solidFill>
                <a:latin typeface="Times New Roman" panose="02020603050405020304" pitchFamily="18" charset="0"/>
                <a:cs typeface="Times New Roman" panose="02020603050405020304" pitchFamily="18" charset="0"/>
              </a:rPr>
              <a:t>squalene</a:t>
            </a:r>
            <a:r>
              <a:rPr lang="en-US" sz="3600" dirty="0">
                <a:solidFill>
                  <a:schemeClr val="tx1">
                    <a:lumMod val="85000"/>
                    <a:lumOff val="15000"/>
                  </a:schemeClr>
                </a:solidFill>
                <a:latin typeface="Times New Roman" panose="02020603050405020304" pitchFamily="18" charset="0"/>
                <a:cs typeface="Times New Roman" panose="02020603050405020304" pitchFamily="18" charset="0"/>
              </a:rPr>
              <a:t> is converted to cholesterol through a cyclization process.</a:t>
            </a:r>
            <a:endParaRPr lang="en-GB" sz="3600" dirty="0">
              <a:solidFill>
                <a:schemeClr val="tx1">
                  <a:lumMod val="85000"/>
                  <a:lumOff val="15000"/>
                </a:schemeClr>
              </a:solidFill>
              <a:latin typeface="Times New Roman" panose="02020603050405020304" pitchFamily="18" charset="0"/>
              <a:cs typeface="Times New Roman" panose="02020603050405020304" pitchFamily="18" charset="0"/>
            </a:endParaRPr>
          </a:p>
          <a:p>
            <a:pPr algn="just" eaLnBrk="1" fontAlgn="auto" hangingPunct="1">
              <a:buFont typeface="Wingdings" panose="05000000000000000000" pitchFamily="2" charset="2"/>
              <a:buChar char="q"/>
              <a:defRPr/>
            </a:pPr>
            <a:endParaRPr lang="en-GB" sz="3600" b="1" dirty="0">
              <a:solidFill>
                <a:srgbClr val="FF0000"/>
              </a:solidFill>
              <a:latin typeface="Times New Roman" panose="02020603050405020304" pitchFamily="18" charset="0"/>
              <a:cs typeface="Times New Roman" panose="02020603050405020304" pitchFamily="18" charset="0"/>
            </a:endParaRPr>
          </a:p>
          <a:p>
            <a:pPr eaLnBrk="1" fontAlgn="auto" hangingPunct="1">
              <a:buFont typeface="Arial"/>
              <a:buChar char="•"/>
              <a:defRPr/>
            </a:pPr>
            <a:endParaRPr lang="en-GB" dirty="0">
              <a:solidFill>
                <a:schemeClr val="tx1">
                  <a:lumMod val="85000"/>
                  <a:lumOff val="15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xmlns="" id="{A22ED603-6070-9D35-C262-CFBB57A38F01}"/>
              </a:ext>
            </a:extLst>
          </p:cNvPr>
          <p:cNvSpPr>
            <a:spLocks noGrp="1"/>
          </p:cNvSpPr>
          <p:nvPr>
            <p:ph type="title"/>
          </p:nvPr>
        </p:nvSpPr>
        <p:spPr>
          <a:xfrm>
            <a:off x="152400" y="304800"/>
            <a:ext cx="8991600" cy="762000"/>
          </a:xfrm>
        </p:spPr>
        <p:txBody>
          <a:bodyPr/>
          <a:lstStyle/>
          <a:p>
            <a:pPr eaLnBrk="1" hangingPunct="1"/>
            <a:r>
              <a:rPr lang="en-GB" altLang="en-US" b="1">
                <a:ln>
                  <a:noFill/>
                </a:ln>
                <a:solidFill>
                  <a:srgbClr val="FF0000"/>
                </a:solidFill>
                <a:latin typeface="Times New Roman" panose="02020603050405020304" pitchFamily="18" charset="0"/>
                <a:cs typeface="Times New Roman" panose="02020603050405020304" pitchFamily="18" charset="0"/>
              </a:rPr>
              <a:t>Structure of cholestrol</a:t>
            </a:r>
          </a:p>
        </p:txBody>
      </p:sp>
      <p:pic>
        <p:nvPicPr>
          <p:cNvPr id="41987" name="Content Placeholder 3">
            <a:extLst>
              <a:ext uri="{FF2B5EF4-FFF2-40B4-BE49-F238E27FC236}">
                <a16:creationId xmlns:a16="http://schemas.microsoft.com/office/drawing/2014/main" xmlns="" id="{694FD037-EF50-799B-7046-F991A54A297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838200" y="1371600"/>
            <a:ext cx="7162800" cy="4572000"/>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xmlns="" id="{F7B2D323-50C0-49DD-5546-B7513A8C4F08}"/>
              </a:ext>
            </a:extLst>
          </p:cNvPr>
          <p:cNvSpPr>
            <a:spLocks noGrp="1"/>
          </p:cNvSpPr>
          <p:nvPr>
            <p:ph type="title"/>
          </p:nvPr>
        </p:nvSpPr>
        <p:spPr>
          <a:xfrm>
            <a:off x="1176338" y="0"/>
            <a:ext cx="6799262" cy="990600"/>
          </a:xfrm>
        </p:spPr>
        <p:txBody>
          <a:bodyPr/>
          <a:lstStyle/>
          <a:p>
            <a:pPr eaLnBrk="1" hangingPunct="1"/>
            <a:r>
              <a:rPr lang="en-GB" altLang="en-US">
                <a:ln>
                  <a:noFill/>
                </a:ln>
              </a:rPr>
              <a:t>CONT’</a:t>
            </a:r>
          </a:p>
        </p:txBody>
      </p:sp>
      <p:sp>
        <p:nvSpPr>
          <p:cNvPr id="3" name="Content Placeholder 2">
            <a:extLst>
              <a:ext uri="{FF2B5EF4-FFF2-40B4-BE49-F238E27FC236}">
                <a16:creationId xmlns:a16="http://schemas.microsoft.com/office/drawing/2014/main" xmlns="" id="{58109CA6-6FEE-6EEC-47BD-9E46D9108735}"/>
              </a:ext>
            </a:extLst>
          </p:cNvPr>
          <p:cNvSpPr>
            <a:spLocks noGrp="1"/>
          </p:cNvSpPr>
          <p:nvPr>
            <p:ph idx="1"/>
          </p:nvPr>
        </p:nvSpPr>
        <p:spPr>
          <a:xfrm>
            <a:off x="228600" y="838200"/>
            <a:ext cx="8610600" cy="5867400"/>
          </a:xfrm>
        </p:spPr>
        <p:txBody>
          <a:bodyPr rtlCol="0">
            <a:normAutofit fontScale="62500" lnSpcReduction="20000"/>
          </a:bodyPr>
          <a:lstStyle/>
          <a:p>
            <a:pPr algn="just" eaLnBrk="1" fontAlgn="auto" hangingPunct="1">
              <a:buFont typeface="Wingdings" panose="05000000000000000000" pitchFamily="2" charset="2"/>
              <a:buChar char="q"/>
              <a:defRPr/>
            </a:pPr>
            <a:r>
              <a:rPr lang="en-US" sz="5100" dirty="0">
                <a:solidFill>
                  <a:schemeClr val="tx1">
                    <a:lumMod val="85000"/>
                    <a:lumOff val="15000"/>
                  </a:schemeClr>
                </a:solidFill>
                <a:latin typeface="Times New Roman" panose="02020603050405020304" pitchFamily="18" charset="0"/>
                <a:cs typeface="Times New Roman" panose="02020603050405020304" pitchFamily="18" charset="0"/>
              </a:rPr>
              <a:t>Both the dietary cholesterol and that synthesized in the body cells are transported through the circulation in lipoprotein particles.</a:t>
            </a:r>
          </a:p>
          <a:p>
            <a:pPr algn="just" eaLnBrk="1" fontAlgn="auto" hangingPunct="1">
              <a:buFont typeface="Wingdings" panose="05000000000000000000" pitchFamily="2" charset="2"/>
              <a:buChar char="q"/>
              <a:defRPr/>
            </a:pPr>
            <a:r>
              <a:rPr lang="en-US" sz="5100" dirty="0">
                <a:solidFill>
                  <a:schemeClr val="tx1">
                    <a:lumMod val="85000"/>
                    <a:lumOff val="15000"/>
                  </a:schemeClr>
                </a:solidFill>
                <a:latin typeface="Times New Roman" panose="02020603050405020304" pitchFamily="18" charset="0"/>
                <a:cs typeface="Times New Roman" panose="02020603050405020304" pitchFamily="18" charset="0"/>
              </a:rPr>
              <a:t>Lipoproteins also transport </a:t>
            </a:r>
            <a:r>
              <a:rPr lang="en-US" sz="5100" dirty="0" err="1">
                <a:solidFill>
                  <a:schemeClr val="tx1">
                    <a:lumMod val="85000"/>
                    <a:lumOff val="15000"/>
                  </a:schemeClr>
                </a:solidFill>
                <a:latin typeface="Times New Roman" panose="02020603050405020304" pitchFamily="18" charset="0"/>
                <a:cs typeface="Times New Roman" panose="02020603050405020304" pitchFamily="18" charset="0"/>
              </a:rPr>
              <a:t>cholesteryl</a:t>
            </a:r>
            <a:r>
              <a:rPr lang="en-US" sz="5100" dirty="0">
                <a:solidFill>
                  <a:schemeClr val="tx1">
                    <a:lumMod val="85000"/>
                    <a:lumOff val="15000"/>
                  </a:schemeClr>
                </a:solidFill>
                <a:latin typeface="Times New Roman" panose="02020603050405020304" pitchFamily="18" charset="0"/>
                <a:cs typeface="Times New Roman" panose="02020603050405020304" pitchFamily="18" charset="0"/>
              </a:rPr>
              <a:t> esters, the form in which cholesterol is stored in cells.</a:t>
            </a:r>
            <a:endParaRPr lang="en-GB" sz="51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eaLnBrk="1" fontAlgn="auto" hangingPunct="1">
              <a:buFont typeface="Arial"/>
              <a:buNone/>
              <a:defRPr/>
            </a:pPr>
            <a:r>
              <a:rPr lang="en-US" sz="5100" b="1" dirty="0">
                <a:solidFill>
                  <a:schemeClr val="tx1">
                    <a:lumMod val="85000"/>
                    <a:lumOff val="15000"/>
                  </a:schemeClr>
                </a:solidFill>
              </a:rPr>
              <a:t> </a:t>
            </a:r>
            <a:r>
              <a:rPr lang="en-US" sz="5100" b="1" dirty="0">
                <a:solidFill>
                  <a:srgbClr val="FF0000"/>
                </a:solidFill>
                <a:latin typeface="Times New Roman" panose="02020603050405020304" pitchFamily="18" charset="0"/>
                <a:cs typeface="Times New Roman" panose="02020603050405020304" pitchFamily="18" charset="0"/>
              </a:rPr>
              <a:t>b) Regulation of cholesterol synthesis</a:t>
            </a:r>
            <a:endParaRPr lang="en-GB" sz="5100" b="1" dirty="0">
              <a:solidFill>
                <a:srgbClr val="FF0000"/>
              </a:solidFill>
              <a:latin typeface="Times New Roman" panose="02020603050405020304" pitchFamily="18" charset="0"/>
              <a:cs typeface="Times New Roman" panose="02020603050405020304" pitchFamily="18" charset="0"/>
            </a:endParaRPr>
          </a:p>
          <a:p>
            <a:pPr algn="just" eaLnBrk="1" fontAlgn="auto" hangingPunct="1">
              <a:buFont typeface="Wingdings" panose="05000000000000000000" pitchFamily="2" charset="2"/>
              <a:buChar char="q"/>
              <a:defRPr/>
            </a:pPr>
            <a:r>
              <a:rPr lang="en-US" sz="5100" dirty="0">
                <a:solidFill>
                  <a:schemeClr val="tx1">
                    <a:lumMod val="85000"/>
                    <a:lumOff val="15000"/>
                  </a:schemeClr>
                </a:solidFill>
                <a:latin typeface="Times New Roman" panose="02020603050405020304" pitchFamily="18" charset="0"/>
                <a:cs typeface="Times New Roman" panose="02020603050405020304" pitchFamily="18" charset="0"/>
              </a:rPr>
              <a:t>Normal healthy adults synthesize cholesterol at a rate of approximately 1g/day and consume approximately 0.3g/day.</a:t>
            </a:r>
          </a:p>
          <a:p>
            <a:pPr algn="just" eaLnBrk="1" fontAlgn="auto" hangingPunct="1">
              <a:buFont typeface="Wingdings" panose="05000000000000000000" pitchFamily="2" charset="2"/>
              <a:buChar char="q"/>
              <a:defRPr/>
            </a:pPr>
            <a:r>
              <a:rPr lang="en-US" sz="5100" dirty="0">
                <a:solidFill>
                  <a:schemeClr val="tx1">
                    <a:lumMod val="85000"/>
                    <a:lumOff val="15000"/>
                  </a:schemeClr>
                </a:solidFill>
                <a:latin typeface="Times New Roman" panose="02020603050405020304" pitchFamily="18" charset="0"/>
                <a:cs typeface="Times New Roman" panose="02020603050405020304" pitchFamily="18" charset="0"/>
              </a:rPr>
              <a:t>A relatively constant level of cholesterol in the blood (150–200 mg/</a:t>
            </a:r>
            <a:r>
              <a:rPr lang="en-US" sz="5100" dirty="0" err="1">
                <a:solidFill>
                  <a:schemeClr val="tx1">
                    <a:lumMod val="85000"/>
                    <a:lumOff val="15000"/>
                  </a:schemeClr>
                </a:solidFill>
                <a:latin typeface="Times New Roman" panose="02020603050405020304" pitchFamily="18" charset="0"/>
                <a:cs typeface="Times New Roman" panose="02020603050405020304" pitchFamily="18" charset="0"/>
              </a:rPr>
              <a:t>dL</a:t>
            </a:r>
            <a:r>
              <a:rPr lang="en-US" sz="5100" dirty="0">
                <a:solidFill>
                  <a:schemeClr val="tx1">
                    <a:lumMod val="85000"/>
                    <a:lumOff val="15000"/>
                  </a:schemeClr>
                </a:solidFill>
                <a:latin typeface="Times New Roman" panose="02020603050405020304" pitchFamily="18" charset="0"/>
                <a:cs typeface="Times New Roman" panose="02020603050405020304" pitchFamily="18" charset="0"/>
              </a:rPr>
              <a:t>) is</a:t>
            </a:r>
            <a:endParaRPr lang="en-GB" sz="4500" dirty="0">
              <a:solidFill>
                <a:schemeClr val="tx1">
                  <a:lumMod val="85000"/>
                  <a:lumOff val="15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6A9D5D-094B-4792-45F0-DBF914CD0F3B}"/>
              </a:ext>
            </a:extLst>
          </p:cNvPr>
          <p:cNvSpPr>
            <a:spLocks noGrp="1"/>
          </p:cNvSpPr>
          <p:nvPr>
            <p:ph type="title"/>
          </p:nvPr>
        </p:nvSpPr>
        <p:spPr>
          <a:xfrm>
            <a:off x="1176338" y="76200"/>
            <a:ext cx="6799262" cy="685800"/>
          </a:xfrm>
        </p:spPr>
        <p:txBody>
          <a:bodyPr rtlCol="0">
            <a:normAutofit fontScale="90000"/>
          </a:bodyPr>
          <a:lstStyle/>
          <a:p>
            <a:pPr eaLnBrk="1" fontAlgn="auto" hangingPunct="1">
              <a:spcAft>
                <a:spcPts val="0"/>
              </a:spcAft>
              <a:defRPr/>
            </a:pPr>
            <a:r>
              <a:rPr lang="en-GB" dirty="0">
                <a:solidFill>
                  <a:schemeClr val="tx1">
                    <a:lumMod val="85000"/>
                    <a:lumOff val="15000"/>
                  </a:schemeClr>
                </a:solidFill>
              </a:rPr>
              <a:t>CONT’</a:t>
            </a:r>
          </a:p>
        </p:txBody>
      </p:sp>
      <p:sp>
        <p:nvSpPr>
          <p:cNvPr id="3" name="Content Placeholder 2">
            <a:extLst>
              <a:ext uri="{FF2B5EF4-FFF2-40B4-BE49-F238E27FC236}">
                <a16:creationId xmlns:a16="http://schemas.microsoft.com/office/drawing/2014/main" xmlns="" id="{460F8438-C6F8-C70D-64C0-6DE53ADA51ED}"/>
              </a:ext>
            </a:extLst>
          </p:cNvPr>
          <p:cNvSpPr>
            <a:spLocks noGrp="1"/>
          </p:cNvSpPr>
          <p:nvPr>
            <p:ph idx="1"/>
          </p:nvPr>
        </p:nvSpPr>
        <p:spPr>
          <a:xfrm>
            <a:off x="152400" y="609600"/>
            <a:ext cx="8763000" cy="6096000"/>
          </a:xfrm>
        </p:spPr>
        <p:txBody>
          <a:bodyPr rtlCol="0">
            <a:normAutofit/>
          </a:bodyPr>
          <a:lstStyle/>
          <a:p>
            <a:pPr algn="just" eaLnBrk="1" fontAlgn="auto" hangingPunct="1">
              <a:buFont typeface="Wingdings" panose="05000000000000000000" pitchFamily="2" charset="2"/>
              <a:buChar char="q"/>
              <a:defRP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maintained primarily by controlling the level of synthesis by the cells. </a:t>
            </a:r>
          </a:p>
          <a:p>
            <a:pPr algn="just" eaLnBrk="1" fontAlgn="auto" hangingPunct="1">
              <a:buFont typeface="Wingdings" panose="05000000000000000000" pitchFamily="2" charset="2"/>
              <a:buChar char="q"/>
              <a:defRP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The level of cholesterol synthesis is regulated in part by the dietary intake of cholesterol. </a:t>
            </a:r>
          </a:p>
          <a:p>
            <a:pPr algn="just" eaLnBrk="1" fontAlgn="auto" hangingPunct="1">
              <a:buFont typeface="Wingdings" panose="05000000000000000000" pitchFamily="2" charset="2"/>
              <a:buChar char="q"/>
              <a:defRP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Cholesterol from both diet and synthesis is utilized in the formation of membranes and in the synthesis of the steroid hormones and bile acids. </a:t>
            </a:r>
          </a:p>
          <a:p>
            <a:pPr algn="just" eaLnBrk="1" fontAlgn="auto" hangingPunct="1">
              <a:buFont typeface="Wingdings" panose="05000000000000000000" pitchFamily="2" charset="2"/>
              <a:buChar char="q"/>
              <a:defRP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The greatest proportion of cholesterol is used in bile acid synthesis. </a:t>
            </a:r>
            <a:endParaRPr lang="en-GB"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lgn="just" eaLnBrk="1" fontAlgn="auto" hangingPunct="1">
              <a:buFont typeface="Arial"/>
              <a:buNone/>
              <a:defRPr/>
            </a:pPr>
            <a:endParaRPr lang="en-GB" dirty="0">
              <a:solidFill>
                <a:schemeClr val="tx1">
                  <a:lumMod val="85000"/>
                  <a:lumOff val="15000"/>
                </a:schemeClr>
              </a:solidFill>
              <a:latin typeface="Times New Roman" panose="02020603050405020304" pitchFamily="18" charset="0"/>
              <a:cs typeface="Times New Roman" panose="02020603050405020304" pitchFamily="18" charset="0"/>
            </a:endParaRPr>
          </a:p>
          <a:p>
            <a:pPr eaLnBrk="1" fontAlgn="auto" hangingPunct="1">
              <a:buFont typeface="Arial"/>
              <a:buChar char="•"/>
              <a:defRPr/>
            </a:pPr>
            <a:endParaRPr lang="en-GB" sz="2000" dirty="0">
              <a:solidFill>
                <a:schemeClr val="tx1">
                  <a:lumMod val="85000"/>
                  <a:lumOff val="15000"/>
                </a:schemeClr>
              </a:solidFill>
            </a:endParaRPr>
          </a:p>
          <a:p>
            <a:pPr eaLnBrk="1" fontAlgn="auto" hangingPunct="1">
              <a:buFont typeface="Arial"/>
              <a:buChar char="•"/>
              <a:defRPr/>
            </a:pPr>
            <a:endParaRPr lang="en-GB" dirty="0">
              <a:solidFill>
                <a:schemeClr val="tx1">
                  <a:lumMod val="85000"/>
                  <a:lumOff val="15000"/>
                </a:schemeClr>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698E1A-5ADA-C2C3-3F6A-1D4088B6E416}"/>
              </a:ext>
            </a:extLst>
          </p:cNvPr>
          <p:cNvSpPr>
            <a:spLocks noGrp="1"/>
          </p:cNvSpPr>
          <p:nvPr>
            <p:ph type="title"/>
          </p:nvPr>
        </p:nvSpPr>
        <p:spPr>
          <a:xfrm>
            <a:off x="0" y="0"/>
            <a:ext cx="9144000" cy="838200"/>
          </a:xfrm>
        </p:spPr>
        <p:txBody>
          <a:bodyPr rtlCol="0">
            <a:normAutofit fontScale="90000"/>
          </a:bodyPr>
          <a:lstStyle/>
          <a:p>
            <a:pPr eaLnBrk="1" fontAlgn="auto" hangingPunct="1">
              <a:spcAft>
                <a:spcPts val="0"/>
              </a:spcAft>
              <a:defRPr/>
            </a:pPr>
            <a:r>
              <a:rPr lang="en-US" sz="3200" b="1" dirty="0">
                <a:solidFill>
                  <a:srgbClr val="FF0000"/>
                </a:solidFill>
                <a:latin typeface="Times New Roman" panose="02020603050405020304" pitchFamily="18" charset="0"/>
                <a:cs typeface="Times New Roman" panose="02020603050405020304" pitchFamily="18" charset="0"/>
              </a:rPr>
              <a:t>Why should cholesterol synthesis be regulated and how is it achieved?</a:t>
            </a:r>
            <a:endParaRPr lang="en-GB" sz="3200" b="1" dirty="0">
              <a:solidFill>
                <a:srgbClr val="FF0000"/>
              </a:solidFill>
              <a:latin typeface="Times New Roman" panose="02020603050405020304" pitchFamily="18" charset="0"/>
              <a:cs typeface="Times New Roman" panose="02020603050405020304" pitchFamily="18" charset="0"/>
            </a:endParaRPr>
          </a:p>
        </p:txBody>
      </p:sp>
      <p:sp>
        <p:nvSpPr>
          <p:cNvPr id="45059" name="Content Placeholder 2">
            <a:extLst>
              <a:ext uri="{FF2B5EF4-FFF2-40B4-BE49-F238E27FC236}">
                <a16:creationId xmlns:a16="http://schemas.microsoft.com/office/drawing/2014/main" xmlns="" id="{D23F8F95-2D32-9C2B-87B8-E6969A2FA9CB}"/>
              </a:ext>
            </a:extLst>
          </p:cNvPr>
          <p:cNvSpPr>
            <a:spLocks noGrp="1"/>
          </p:cNvSpPr>
          <p:nvPr>
            <p:ph idx="1"/>
          </p:nvPr>
        </p:nvSpPr>
        <p:spPr>
          <a:xfrm>
            <a:off x="152400" y="838200"/>
            <a:ext cx="8915400" cy="5943600"/>
          </a:xfrm>
        </p:spPr>
        <p:txBody>
          <a:bodyPr/>
          <a:lstStyle/>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The synthesis and utilization of cholesterol must be tightly regulated in order to prevent over-accumulation and abnormal deposition within the body. </a:t>
            </a:r>
          </a:p>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Of particular importance clinically is the abnormal deposition of cholesterol and cholesterol-rich lipoproteins in the coronary arteries. Such deposition, eventually leading to atherosclerosis, is the leading contributory factor in diseases of the coronary arteries.</a:t>
            </a:r>
            <a:endParaRPr lang="en-GB" altLang="en-US" sz="280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The cellular supply of cholesterol is maintained at a steady level by three distinct mechanisms: </a:t>
            </a:r>
            <a:endParaRPr lang="en-GB" altLang="en-US" sz="280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Regulation of HMG CoA reductase activity and concentrations. </a:t>
            </a:r>
            <a:endParaRPr lang="en-GB"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1C7325-D9EB-277B-7CCC-5837480979EB}"/>
              </a:ext>
            </a:extLst>
          </p:cNvPr>
          <p:cNvSpPr>
            <a:spLocks noGrp="1"/>
          </p:cNvSpPr>
          <p:nvPr>
            <p:ph type="title"/>
          </p:nvPr>
        </p:nvSpPr>
        <p:spPr>
          <a:xfrm>
            <a:off x="152400" y="76200"/>
            <a:ext cx="8839200" cy="533400"/>
          </a:xfrm>
        </p:spPr>
        <p:txBody>
          <a:bodyPr rtlCol="0">
            <a:normAutofit fontScale="90000"/>
          </a:bodyPr>
          <a:lstStyle/>
          <a:p>
            <a:pPr eaLnBrk="1" fontAlgn="auto" hangingPunct="1">
              <a:spcAft>
                <a:spcPts val="0"/>
              </a:spcAft>
              <a:defRPr/>
            </a:pPr>
            <a:r>
              <a:rPr lang="en-GB" dirty="0">
                <a:solidFill>
                  <a:srgbClr val="FF0000"/>
                </a:solidFill>
                <a:latin typeface="Times New Roman" panose="02020603050405020304" pitchFamily="18" charset="0"/>
                <a:cs typeface="Times New Roman" panose="02020603050405020304" pitchFamily="18" charset="0"/>
              </a:rPr>
              <a:t>CONT’</a:t>
            </a:r>
          </a:p>
        </p:txBody>
      </p:sp>
      <p:sp>
        <p:nvSpPr>
          <p:cNvPr id="46083" name="Content Placeholder 2">
            <a:extLst>
              <a:ext uri="{FF2B5EF4-FFF2-40B4-BE49-F238E27FC236}">
                <a16:creationId xmlns:a16="http://schemas.microsoft.com/office/drawing/2014/main" xmlns="" id="{A09F1D42-A1DE-6A00-90A6-2FC1057CA81F}"/>
              </a:ext>
            </a:extLst>
          </p:cNvPr>
          <p:cNvSpPr>
            <a:spLocks noGrp="1"/>
          </p:cNvSpPr>
          <p:nvPr>
            <p:ph idx="1"/>
          </p:nvPr>
        </p:nvSpPr>
        <p:spPr>
          <a:xfrm>
            <a:off x="152400" y="609600"/>
            <a:ext cx="8839200" cy="6248400"/>
          </a:xfrm>
        </p:spPr>
        <p:txBody>
          <a:bodyPr/>
          <a:lstStyle/>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Regulation of HMGR activity is the primary means for controlling the level of cholesterol biosynthesis.</a:t>
            </a:r>
          </a:p>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The enzyme is controlled by four distinct mechanisms: feed-back inhibition, control of gene expression, rate of enzyme degradation and phosphorylation-dephosphorylation.</a:t>
            </a:r>
          </a:p>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 The first control mechanism is exerted by cholesterol itself.</a:t>
            </a:r>
          </a:p>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 Cholesterol acts as a feed-back inhibitor of pre-existing HMGR as well as inducing rapid degradation of the enzyme.</a:t>
            </a:r>
            <a:endParaRPr lang="en-GB" altLang="en-US" sz="2800">
              <a:latin typeface="Times New Roman" panose="02020603050405020304" pitchFamily="18" charset="0"/>
              <a:cs typeface="Times New Roman" panose="02020603050405020304" pitchFamily="18" charset="0"/>
            </a:endParaRPr>
          </a:p>
          <a:p>
            <a:pPr algn="just" eaLnBrk="1" hangingPunct="1"/>
            <a:endParaRPr lang="en-GB"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ADADF4-F99D-4158-93F3-35BCA88370E5}"/>
              </a:ext>
            </a:extLst>
          </p:cNvPr>
          <p:cNvSpPr>
            <a:spLocks noGrp="1"/>
          </p:cNvSpPr>
          <p:nvPr>
            <p:ph type="title"/>
          </p:nvPr>
        </p:nvSpPr>
        <p:spPr>
          <a:xfrm>
            <a:off x="152400" y="22225"/>
            <a:ext cx="8813800" cy="815975"/>
          </a:xfrm>
        </p:spPr>
        <p:txBody>
          <a:bodyPr rtlCol="0">
            <a:normAutofit fontScale="90000"/>
          </a:bodyPr>
          <a:lstStyle/>
          <a:p>
            <a:pPr eaLnBrk="1" fontAlgn="auto" hangingPunct="1">
              <a:spcAft>
                <a:spcPts val="0"/>
              </a:spcAft>
              <a:defRPr/>
            </a:pPr>
            <a:r>
              <a:rPr lang="en-US" b="1" dirty="0">
                <a:solidFill>
                  <a:schemeClr val="tx1">
                    <a:lumMod val="85000"/>
                    <a:lumOff val="15000"/>
                  </a:schemeClr>
                </a:solidFill>
              </a:rPr>
              <a:t/>
            </a:r>
            <a:br>
              <a:rPr lang="en-US" b="1" dirty="0">
                <a:solidFill>
                  <a:schemeClr val="tx1">
                    <a:lumMod val="85000"/>
                    <a:lumOff val="15000"/>
                  </a:schemeClr>
                </a:solidFill>
              </a:rPr>
            </a:br>
            <a:r>
              <a:rPr lang="en-US" b="1" dirty="0">
                <a:solidFill>
                  <a:srgbClr val="FF0000"/>
                </a:solidFill>
                <a:latin typeface="Times New Roman" panose="02020603050405020304" pitchFamily="18" charset="0"/>
                <a:cs typeface="Times New Roman" panose="02020603050405020304" pitchFamily="18" charset="0"/>
              </a:rPr>
              <a:t>c) Transport of cholesterol</a:t>
            </a:r>
            <a:r>
              <a:rPr lang="en-GB" dirty="0">
                <a:solidFill>
                  <a:schemeClr val="tx1">
                    <a:lumMod val="85000"/>
                    <a:lumOff val="15000"/>
                  </a:schemeClr>
                </a:solidFill>
              </a:rPr>
              <a:t/>
            </a:r>
            <a:br>
              <a:rPr lang="en-GB" dirty="0">
                <a:solidFill>
                  <a:schemeClr val="tx1">
                    <a:lumMod val="85000"/>
                    <a:lumOff val="15000"/>
                  </a:schemeClr>
                </a:solidFill>
              </a:rPr>
            </a:br>
            <a:endParaRPr lang="en-GB"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xmlns="" id="{8203B0E4-AC59-7437-BE2F-2D5022FCCCB1}"/>
              </a:ext>
            </a:extLst>
          </p:cNvPr>
          <p:cNvSpPr>
            <a:spLocks noGrp="1"/>
          </p:cNvSpPr>
          <p:nvPr>
            <p:ph idx="1"/>
          </p:nvPr>
        </p:nvSpPr>
        <p:spPr>
          <a:xfrm>
            <a:off x="304800" y="990600"/>
            <a:ext cx="8661400" cy="5638800"/>
          </a:xfrm>
        </p:spPr>
        <p:txBody>
          <a:bodyPr rtlCol="0">
            <a:normAutofit fontScale="92500" lnSpcReduction="20000"/>
          </a:bodyPr>
          <a:lstStyle/>
          <a:p>
            <a:pPr eaLnBrk="1" fontAlgn="auto" hangingPunct="1">
              <a:buFont typeface="Arial"/>
              <a:buChar char="•"/>
              <a:defRPr/>
            </a:pPr>
            <a:r>
              <a:rPr lang="en-US" sz="3300" dirty="0">
                <a:solidFill>
                  <a:schemeClr val="tx1">
                    <a:lumMod val="85000"/>
                    <a:lumOff val="15000"/>
                  </a:schemeClr>
                </a:solidFill>
                <a:latin typeface="Times New Roman" panose="02020603050405020304" pitchFamily="18" charset="0"/>
                <a:cs typeface="Times New Roman" panose="02020603050405020304" pitchFamily="18" charset="0"/>
              </a:rPr>
              <a:t>Cholesterol is transported in the plasma predominantly as </a:t>
            </a:r>
            <a:r>
              <a:rPr lang="en-US" sz="3300" dirty="0" err="1">
                <a:solidFill>
                  <a:schemeClr val="tx1">
                    <a:lumMod val="85000"/>
                    <a:lumOff val="15000"/>
                  </a:schemeClr>
                </a:solidFill>
                <a:latin typeface="Times New Roman" panose="02020603050405020304" pitchFamily="18" charset="0"/>
                <a:cs typeface="Times New Roman" panose="02020603050405020304" pitchFamily="18" charset="0"/>
              </a:rPr>
              <a:t>cholesteryl</a:t>
            </a:r>
            <a:r>
              <a:rPr lang="en-US" sz="3300" dirty="0">
                <a:solidFill>
                  <a:schemeClr val="tx1">
                    <a:lumMod val="85000"/>
                    <a:lumOff val="15000"/>
                  </a:schemeClr>
                </a:solidFill>
                <a:latin typeface="Times New Roman" panose="02020603050405020304" pitchFamily="18" charset="0"/>
                <a:cs typeface="Times New Roman" panose="02020603050405020304" pitchFamily="18" charset="0"/>
              </a:rPr>
              <a:t> esters associated with lipoproteins. </a:t>
            </a:r>
          </a:p>
          <a:p>
            <a:pPr eaLnBrk="1" fontAlgn="auto" hangingPunct="1">
              <a:buFont typeface="Arial"/>
              <a:buChar char="•"/>
              <a:defRPr/>
            </a:pPr>
            <a:r>
              <a:rPr lang="en-US" sz="3300" dirty="0">
                <a:solidFill>
                  <a:schemeClr val="tx1">
                    <a:lumMod val="85000"/>
                    <a:lumOff val="15000"/>
                  </a:schemeClr>
                </a:solidFill>
                <a:latin typeface="Times New Roman" panose="02020603050405020304" pitchFamily="18" charset="0"/>
                <a:cs typeface="Times New Roman" panose="02020603050405020304" pitchFamily="18" charset="0"/>
              </a:rPr>
              <a:t>Dietary cholesterol is transported from the small intestine to the liver within chylomicrons.</a:t>
            </a:r>
          </a:p>
          <a:p>
            <a:pPr eaLnBrk="1" fontAlgn="auto" hangingPunct="1">
              <a:buFont typeface="Arial"/>
              <a:buChar char="•"/>
              <a:defRPr/>
            </a:pPr>
            <a:r>
              <a:rPr lang="en-US" sz="3300" dirty="0">
                <a:solidFill>
                  <a:schemeClr val="tx1">
                    <a:lumMod val="85000"/>
                    <a:lumOff val="15000"/>
                  </a:schemeClr>
                </a:solidFill>
                <a:latin typeface="Times New Roman" panose="02020603050405020304" pitchFamily="18" charset="0"/>
                <a:cs typeface="Times New Roman" panose="02020603050405020304" pitchFamily="18" charset="0"/>
              </a:rPr>
              <a:t> Cholesterol synthesized by the liver, as well as any dietary cholesterol in the liver that exceeds hepatic needs, is transported in the serum within low density lipoproteins (LDLs). </a:t>
            </a:r>
          </a:p>
          <a:p>
            <a:pPr eaLnBrk="1" fontAlgn="auto" hangingPunct="1">
              <a:buFont typeface="Arial"/>
              <a:buChar char="•"/>
              <a:defRPr/>
            </a:pPr>
            <a:r>
              <a:rPr lang="en-US" sz="3300" dirty="0">
                <a:solidFill>
                  <a:schemeClr val="tx1">
                    <a:lumMod val="85000"/>
                    <a:lumOff val="15000"/>
                  </a:schemeClr>
                </a:solidFill>
                <a:latin typeface="Times New Roman" panose="02020603050405020304" pitchFamily="18" charset="0"/>
                <a:cs typeface="Times New Roman" panose="02020603050405020304" pitchFamily="18" charset="0"/>
              </a:rPr>
              <a:t>The liver synthesizes very low density lipoproteins (VLDLs) which are converted to LDLs through the action of endothelial cell-associated lipoprotein lipase.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xmlns="" id="{71B56057-FBDE-26AD-A746-E42C051C50D3}"/>
              </a:ext>
            </a:extLst>
          </p:cNvPr>
          <p:cNvSpPr>
            <a:spLocks noGrp="1"/>
          </p:cNvSpPr>
          <p:nvPr>
            <p:ph type="title"/>
          </p:nvPr>
        </p:nvSpPr>
        <p:spPr>
          <a:xfrm>
            <a:off x="152400" y="0"/>
            <a:ext cx="8763000" cy="762000"/>
          </a:xfrm>
        </p:spPr>
        <p:txBody>
          <a:bodyPr/>
          <a:lstStyle/>
          <a:p>
            <a:pPr eaLnBrk="1" hangingPunct="1"/>
            <a:r>
              <a:rPr lang="en-GB" altLang="en-US">
                <a:ln>
                  <a:noFill/>
                </a:ln>
                <a:solidFill>
                  <a:srgbClr val="FF0000"/>
                </a:solidFill>
                <a:latin typeface="Times New Roman" panose="02020603050405020304" pitchFamily="18" charset="0"/>
                <a:cs typeface="Times New Roman" panose="02020603050405020304" pitchFamily="18" charset="0"/>
              </a:rPr>
              <a:t>CONT’</a:t>
            </a:r>
          </a:p>
        </p:txBody>
      </p:sp>
      <p:sp>
        <p:nvSpPr>
          <p:cNvPr id="48131" name="Content Placeholder 2">
            <a:extLst>
              <a:ext uri="{FF2B5EF4-FFF2-40B4-BE49-F238E27FC236}">
                <a16:creationId xmlns:a16="http://schemas.microsoft.com/office/drawing/2014/main" xmlns="" id="{86FDC08E-B4C0-07F8-6F4E-F4B7E093E7D1}"/>
              </a:ext>
            </a:extLst>
          </p:cNvPr>
          <p:cNvSpPr>
            <a:spLocks noGrp="1"/>
          </p:cNvSpPr>
          <p:nvPr>
            <p:ph idx="1"/>
          </p:nvPr>
        </p:nvSpPr>
        <p:spPr>
          <a:xfrm>
            <a:off x="228600" y="762000"/>
            <a:ext cx="8686800" cy="6019800"/>
          </a:xfrm>
        </p:spPr>
        <p:txBody>
          <a:bodyPr/>
          <a:lstStyle/>
          <a:p>
            <a:pPr algn="just" eaLnBrk="1" hangingPunct="1"/>
            <a:r>
              <a:rPr lang="en-US" altLang="en-US" sz="2800">
                <a:latin typeface="Times New Roman" panose="02020603050405020304" pitchFamily="18" charset="0"/>
                <a:cs typeface="Times New Roman" panose="02020603050405020304" pitchFamily="18" charset="0"/>
              </a:rPr>
              <a:t>Cholesterol found in plasma membranes can be extracted by high density lipoproteins (HDLs) and esterified by a HDL-associated enzyme. </a:t>
            </a:r>
          </a:p>
          <a:p>
            <a:pPr algn="just" eaLnBrk="1" hangingPunct="1"/>
            <a:r>
              <a:rPr lang="en-US" altLang="en-US" sz="2800">
                <a:latin typeface="Times New Roman" panose="02020603050405020304" pitchFamily="18" charset="0"/>
                <a:cs typeface="Times New Roman" panose="02020603050405020304" pitchFamily="18" charset="0"/>
              </a:rPr>
              <a:t>The cholesterol acquired from peripheral tissues by HDLs can then be transferred to VLDLs and LDLs via the action of cholesteryl ester transfer protein which is associated with HDLs.</a:t>
            </a:r>
            <a:endParaRPr lang="en-GB" altLang="en-US" sz="2800">
              <a:latin typeface="Times New Roman" panose="02020603050405020304" pitchFamily="18" charset="0"/>
              <a:cs typeface="Times New Roman" panose="02020603050405020304" pitchFamily="18" charset="0"/>
            </a:endParaRPr>
          </a:p>
          <a:p>
            <a:pPr algn="just" eaLnBrk="1" hangingPunct="1"/>
            <a:r>
              <a:rPr lang="en-US" altLang="en-US" sz="2800">
                <a:latin typeface="Times New Roman" panose="02020603050405020304" pitchFamily="18" charset="0"/>
                <a:cs typeface="Times New Roman" panose="02020603050405020304" pitchFamily="18" charset="0"/>
              </a:rPr>
              <a:t>Reverse cholesterol transport allows peripheral cholesterol to be returned to the liver in LDLs. </a:t>
            </a:r>
          </a:p>
          <a:p>
            <a:pPr algn="just" eaLnBrk="1" hangingPunct="1"/>
            <a:r>
              <a:rPr lang="en-US" altLang="en-US" sz="2800">
                <a:latin typeface="Times New Roman" panose="02020603050405020304" pitchFamily="18" charset="0"/>
                <a:cs typeface="Times New Roman" panose="02020603050405020304" pitchFamily="18" charset="0"/>
              </a:rPr>
              <a:t>Ultimately, cholesterol is excreted in the bile as free cholesterol or as bile salts following conversion to bile acids in the liver.</a:t>
            </a:r>
            <a:endParaRPr lang="en-GB" altLang="en-US" sz="2800">
              <a:latin typeface="Times New Roman" panose="02020603050405020304" pitchFamily="18" charset="0"/>
              <a:cs typeface="Times New Roman" panose="02020603050405020304" pitchFamily="18" charset="0"/>
            </a:endParaRPr>
          </a:p>
          <a:p>
            <a:pPr algn="just" eaLnBrk="1" hangingPunct="1"/>
            <a:endParaRPr lang="en-GB" altLang="en-US" sz="2800">
              <a:latin typeface="Times New Roman" panose="02020603050405020304" pitchFamily="18" charset="0"/>
              <a:cs typeface="Times New Roman" panose="02020603050405020304" pitchFamily="18" charset="0"/>
            </a:endParaRPr>
          </a:p>
          <a:p>
            <a:pPr eaLnBrk="1" hangingPunct="1"/>
            <a:endParaRPr lang="en-GB"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4E83F8-0192-18BC-00E7-2D4B9A8BB57D}"/>
              </a:ext>
            </a:extLst>
          </p:cNvPr>
          <p:cNvSpPr>
            <a:spLocks noGrp="1"/>
          </p:cNvSpPr>
          <p:nvPr>
            <p:ph type="title"/>
          </p:nvPr>
        </p:nvSpPr>
        <p:spPr>
          <a:xfrm>
            <a:off x="0" y="0"/>
            <a:ext cx="9144000" cy="685800"/>
          </a:xfrm>
        </p:spPr>
        <p:txBody>
          <a:bodyPr rtlCol="0">
            <a:normAutofit fontScale="90000"/>
          </a:bodyPr>
          <a:lstStyle/>
          <a:p>
            <a:pPr eaLnBrk="1" fontAlgn="auto" hangingPunct="1">
              <a:spcAft>
                <a:spcPts val="0"/>
              </a:spcAft>
              <a:defRPr/>
            </a:pPr>
            <a:r>
              <a:rPr lang="en-US" b="1" dirty="0">
                <a:solidFill>
                  <a:schemeClr val="tx1">
                    <a:lumMod val="85000"/>
                    <a:lumOff val="15000"/>
                  </a:schemeClr>
                </a:solidFill>
              </a:rPr>
              <a:t/>
            </a:r>
            <a:br>
              <a:rPr lang="en-US" b="1" dirty="0">
                <a:solidFill>
                  <a:schemeClr val="tx1">
                    <a:lumMod val="85000"/>
                    <a:lumOff val="15000"/>
                  </a:schemeClr>
                </a:solidFill>
              </a:rPr>
            </a:br>
            <a:r>
              <a:rPr lang="en-US" b="1" dirty="0">
                <a:solidFill>
                  <a:srgbClr val="FF0000"/>
                </a:solidFill>
              </a:rPr>
              <a:t>N/</a:t>
            </a:r>
            <a:r>
              <a:rPr lang="en-US" b="1" dirty="0" err="1">
                <a:solidFill>
                  <a:srgbClr val="FF0000"/>
                </a:solidFill>
              </a:rPr>
              <a:t>B:Cholesterol</a:t>
            </a:r>
            <a:r>
              <a:rPr lang="en-US" b="1" dirty="0">
                <a:solidFill>
                  <a:srgbClr val="FF0000"/>
                </a:solidFill>
              </a:rPr>
              <a:t> lowering drugs </a:t>
            </a:r>
            <a:r>
              <a:rPr lang="en-GB" b="1" dirty="0">
                <a:solidFill>
                  <a:srgbClr val="FF0000"/>
                </a:solidFill>
              </a:rPr>
              <a:t/>
            </a:r>
            <a:br>
              <a:rPr lang="en-GB" b="1" dirty="0">
                <a:solidFill>
                  <a:srgbClr val="FF0000"/>
                </a:solidFill>
              </a:rPr>
            </a:br>
            <a:endParaRPr lang="en-GB" b="1" dirty="0">
              <a:solidFill>
                <a:srgbClr val="FF0000"/>
              </a:solidFill>
            </a:endParaRPr>
          </a:p>
        </p:txBody>
      </p:sp>
      <p:sp>
        <p:nvSpPr>
          <p:cNvPr id="3" name="Content Placeholder 2">
            <a:extLst>
              <a:ext uri="{FF2B5EF4-FFF2-40B4-BE49-F238E27FC236}">
                <a16:creationId xmlns:a16="http://schemas.microsoft.com/office/drawing/2014/main" xmlns="" id="{322F1CE7-E866-E82E-110A-833305B877C0}"/>
              </a:ext>
            </a:extLst>
          </p:cNvPr>
          <p:cNvSpPr>
            <a:spLocks noGrp="1"/>
          </p:cNvSpPr>
          <p:nvPr>
            <p:ph idx="1"/>
          </p:nvPr>
        </p:nvSpPr>
        <p:spPr>
          <a:xfrm>
            <a:off x="228600" y="914400"/>
            <a:ext cx="8763000" cy="5715000"/>
          </a:xfrm>
        </p:spPr>
        <p:txBody>
          <a:bodyPr rtlCol="0">
            <a:normAutofit lnSpcReduction="10000"/>
          </a:bodyPr>
          <a:lstStyle/>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Some </a:t>
            </a:r>
            <a:r>
              <a:rPr lang="en-US" sz="2800" dirty="0" err="1">
                <a:solidFill>
                  <a:schemeClr val="tx1">
                    <a:lumMod val="85000"/>
                    <a:lumOff val="15000"/>
                  </a:schemeClr>
                </a:solidFill>
                <a:latin typeface="Times New Roman" panose="02020603050405020304" pitchFamily="18" charset="0"/>
                <a:cs typeface="Times New Roman" panose="02020603050405020304" pitchFamily="18" charset="0"/>
              </a:rPr>
              <a:t>anticholesterolaemic</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drugs like Simvastatin and Lovastatin</a:t>
            </a:r>
            <a:r>
              <a:rPr lang="en-US" sz="2800" b="1"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are fungi-derived HMG-CoA reductase (HMGR) inhibitors and are members of the family of drugs referred to as the statins</a:t>
            </a:r>
            <a:r>
              <a:rPr lang="en-US" sz="2800" b="1"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a:t>
            </a: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The net result of treatment is an increased cellular uptake of LDLs, since the intracellular synthesis of cholesterol is inhibited and cells are therefore dependent on extracellular sources of cholesterol. </a:t>
            </a: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However, since </a:t>
            </a:r>
            <a:r>
              <a:rPr lang="en-US" sz="2800" dirty="0" err="1">
                <a:solidFill>
                  <a:schemeClr val="tx1">
                    <a:lumMod val="85000"/>
                    <a:lumOff val="15000"/>
                  </a:schemeClr>
                </a:solidFill>
                <a:latin typeface="Times New Roman" panose="02020603050405020304" pitchFamily="18" charset="0"/>
                <a:cs typeface="Times New Roman" panose="02020603050405020304" pitchFamily="18" charset="0"/>
              </a:rPr>
              <a:t>mevalonate</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(the product of the HMG-CoA reductase reaction) is required for the synthesis of other important </a:t>
            </a:r>
            <a:r>
              <a:rPr lang="en-US" sz="2800" dirty="0" err="1">
                <a:solidFill>
                  <a:schemeClr val="tx1">
                    <a:lumMod val="85000"/>
                    <a:lumOff val="15000"/>
                  </a:schemeClr>
                </a:solidFill>
                <a:latin typeface="Times New Roman" panose="02020603050405020304" pitchFamily="18" charset="0"/>
                <a:cs typeface="Times New Roman" panose="02020603050405020304" pitchFamily="18" charset="0"/>
              </a:rPr>
              <a:t>isoprenoid</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compounds besides cholesterol, long-term treatments carry some risk of toxicity. </a:t>
            </a:r>
            <a:endParaRPr lang="en-GB" sz="28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00C952-5EE4-BA99-6DA4-9929233F1D8D}"/>
              </a:ext>
            </a:extLst>
          </p:cNvPr>
          <p:cNvSpPr>
            <a:spLocks noGrp="1"/>
          </p:cNvSpPr>
          <p:nvPr>
            <p:ph type="title"/>
          </p:nvPr>
        </p:nvSpPr>
        <p:spPr>
          <a:xfrm>
            <a:off x="228600" y="152400"/>
            <a:ext cx="8610600" cy="762000"/>
          </a:xfrm>
        </p:spPr>
        <p:txBody>
          <a:bodyPr rtlCol="0">
            <a:normAutofit fontScale="90000"/>
          </a:bodyPr>
          <a:lstStyle/>
          <a:p>
            <a:pPr eaLnBrk="1" fontAlgn="auto" hangingPunct="1">
              <a:spcAft>
                <a:spcPts val="0"/>
              </a:spcAft>
              <a:defRPr/>
            </a:pPr>
            <a:r>
              <a:rPr lang="en-US" dirty="0">
                <a:solidFill>
                  <a:srgbClr val="FF0000"/>
                </a:solidFill>
              </a:rPr>
              <a:t>d)  Catabolism of cholesterol</a:t>
            </a:r>
            <a:r>
              <a:rPr lang="en-GB" dirty="0">
                <a:solidFill>
                  <a:schemeClr val="tx1">
                    <a:lumMod val="85000"/>
                    <a:lumOff val="15000"/>
                  </a:schemeClr>
                </a:solidFill>
              </a:rPr>
              <a:t/>
            </a:r>
            <a:br>
              <a:rPr lang="en-GB" dirty="0">
                <a:solidFill>
                  <a:schemeClr val="tx1">
                    <a:lumMod val="85000"/>
                    <a:lumOff val="15000"/>
                  </a:schemeClr>
                </a:solidFill>
              </a:rPr>
            </a:br>
            <a:endParaRPr lang="en-GB" dirty="0">
              <a:solidFill>
                <a:schemeClr val="tx1">
                  <a:lumMod val="85000"/>
                  <a:lumOff val="15000"/>
                </a:schemeClr>
              </a:solidFill>
            </a:endParaRPr>
          </a:p>
        </p:txBody>
      </p:sp>
      <p:sp>
        <p:nvSpPr>
          <p:cNvPr id="50179" name="Content Placeholder 2">
            <a:extLst>
              <a:ext uri="{FF2B5EF4-FFF2-40B4-BE49-F238E27FC236}">
                <a16:creationId xmlns:a16="http://schemas.microsoft.com/office/drawing/2014/main" xmlns="" id="{D10D38D7-FB62-5C5E-7261-A63F69E937B0}"/>
              </a:ext>
            </a:extLst>
          </p:cNvPr>
          <p:cNvSpPr>
            <a:spLocks noGrp="1"/>
          </p:cNvSpPr>
          <p:nvPr>
            <p:ph idx="1"/>
          </p:nvPr>
        </p:nvSpPr>
        <p:spPr>
          <a:xfrm>
            <a:off x="228600" y="914400"/>
            <a:ext cx="8610600" cy="5791200"/>
          </a:xfrm>
        </p:spPr>
        <p:txBody>
          <a:bodyPr/>
          <a:lstStyle/>
          <a:p>
            <a:pPr eaLnBrk="1" hangingPunct="1"/>
            <a:r>
              <a:rPr lang="en-US" altLang="en-US" b="1"/>
              <a:t> </a:t>
            </a:r>
            <a:r>
              <a:rPr lang="en-US" altLang="en-US" sz="2800">
                <a:latin typeface="Times New Roman" panose="02020603050405020304" pitchFamily="18" charset="0"/>
                <a:cs typeface="Times New Roman" panose="02020603050405020304" pitchFamily="18" charset="0"/>
              </a:rPr>
              <a:t>Intestinal Bacteria converts cholesterol to coprostanol which is excreted in faeces. </a:t>
            </a:r>
          </a:p>
          <a:p>
            <a:pPr eaLnBrk="1" hangingPunct="1"/>
            <a:r>
              <a:rPr lang="en-US" altLang="en-US" sz="2800">
                <a:latin typeface="Times New Roman" panose="02020603050405020304" pitchFamily="18" charset="0"/>
                <a:cs typeface="Times New Roman" panose="02020603050405020304" pitchFamily="18" charset="0"/>
              </a:rPr>
              <a:t>Cholesterol breaks down to bile acids cholic acid and chenodeoxycholic acid. </a:t>
            </a:r>
          </a:p>
          <a:p>
            <a:pPr eaLnBrk="1" hangingPunct="1"/>
            <a:r>
              <a:rPr lang="en-US" altLang="en-US" sz="2800">
                <a:latin typeface="Times New Roman" panose="02020603050405020304" pitchFamily="18" charset="0"/>
                <a:cs typeface="Times New Roman" panose="02020603050405020304" pitchFamily="18" charset="0"/>
              </a:rPr>
              <a:t>The bile acids combine with sodium and potassium to form bile salts. </a:t>
            </a:r>
            <a:endParaRPr lang="en-GB" altLang="en-US" sz="2800">
              <a:latin typeface="Times New Roman" panose="02020603050405020304" pitchFamily="18" charset="0"/>
              <a:cs typeface="Times New Roman" panose="02020603050405020304" pitchFamily="18" charset="0"/>
            </a:endParaRPr>
          </a:p>
          <a:p>
            <a:pPr eaLnBrk="1" hangingPunct="1"/>
            <a:endParaRPr lang="en-GB"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A21A05-FA4E-EE05-E287-DA55F56EAB6B}"/>
              </a:ext>
            </a:extLst>
          </p:cNvPr>
          <p:cNvSpPr>
            <a:spLocks noGrp="1"/>
          </p:cNvSpPr>
          <p:nvPr>
            <p:ph type="title"/>
          </p:nvPr>
        </p:nvSpPr>
        <p:spPr>
          <a:xfrm>
            <a:off x="0" y="76200"/>
            <a:ext cx="9144000" cy="685800"/>
          </a:xfrm>
        </p:spPr>
        <p:txBody>
          <a:bodyPr rtlCol="0">
            <a:normAutofit fontScale="90000"/>
          </a:bodyPr>
          <a:lstStyle/>
          <a:p>
            <a:pPr algn="just" eaLnBrk="1" fontAlgn="auto" hangingPunct="1">
              <a:spcAft>
                <a:spcPts val="0"/>
              </a:spcAft>
              <a:defRPr/>
            </a:pPr>
            <a:r>
              <a:rPr lang="en-US" dirty="0">
                <a:solidFill>
                  <a:srgbClr val="FF0000"/>
                </a:solidFill>
                <a:latin typeface="Times New Roman" panose="02020603050405020304" pitchFamily="18" charset="0"/>
                <a:cs typeface="Times New Roman" panose="02020603050405020304" pitchFamily="18" charset="0"/>
              </a:rPr>
              <a:t>AMINO ACID METABOLISM</a:t>
            </a:r>
            <a:endParaRPr lang="en-GB"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28ECEAD1-BC23-5A6C-D4F0-F7855F46A888}"/>
              </a:ext>
            </a:extLst>
          </p:cNvPr>
          <p:cNvSpPr>
            <a:spLocks noGrp="1"/>
          </p:cNvSpPr>
          <p:nvPr>
            <p:ph idx="1"/>
          </p:nvPr>
        </p:nvSpPr>
        <p:spPr>
          <a:xfrm>
            <a:off x="152400" y="762000"/>
            <a:ext cx="8915400" cy="6096000"/>
          </a:xfrm>
        </p:spPr>
        <p:txBody>
          <a:bodyPr rtlCol="0">
            <a:normAutofit fontScale="92500"/>
          </a:bodyPr>
          <a:lstStyle/>
          <a:p>
            <a:pPr marL="0" indent="0" eaLnBrk="1" fontAlgn="auto" hangingPunct="1">
              <a:buFont typeface="Arial"/>
              <a:buNone/>
              <a:defRPr/>
            </a:pPr>
            <a:r>
              <a:rPr lang="en-US" sz="2800" b="1" dirty="0">
                <a:solidFill>
                  <a:srgbClr val="FF0000"/>
                </a:solidFill>
                <a:latin typeface="Times New Roman" panose="02020603050405020304" pitchFamily="18" charset="0"/>
                <a:cs typeface="Times New Roman" panose="02020603050405020304" pitchFamily="18" charset="0"/>
              </a:rPr>
              <a:t>Overview of amino acid degradation</a:t>
            </a:r>
            <a:endParaRPr lang="en-GB" sz="2800" b="1" i="1" dirty="0">
              <a:solidFill>
                <a:srgbClr val="FF0000"/>
              </a:solidFill>
              <a:latin typeface="Times New Roman" panose="02020603050405020304" pitchFamily="18" charset="0"/>
              <a:cs typeface="Times New Roman" panose="02020603050405020304" pitchFamily="18" charset="0"/>
            </a:endParaRP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All amino acids contain at least one nitrogen atom, which forms their α-amino group. </a:t>
            </a: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This nitrogen has no use in energy metabolism and has to be eliminated. </a:t>
            </a: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There are two key processes in metabolic nitrogen elimination: </a:t>
            </a:r>
            <a:endParaRPr lang="en-GB" sz="2800" dirty="0">
              <a:solidFill>
                <a:schemeClr val="tx1">
                  <a:lumMod val="85000"/>
                  <a:lumOff val="15000"/>
                </a:schemeClr>
              </a:solidFill>
              <a:latin typeface="Times New Roman" panose="02020603050405020304" pitchFamily="18" charset="0"/>
              <a:cs typeface="Times New Roman" panose="02020603050405020304" pitchFamily="18" charset="0"/>
            </a:endParaRP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Transamination removes the α-amino group from one amino acid and transfers it to α-</a:t>
            </a:r>
            <a:r>
              <a:rPr lang="en-US" sz="2800" dirty="0" err="1">
                <a:solidFill>
                  <a:schemeClr val="tx1">
                    <a:lumMod val="85000"/>
                    <a:lumOff val="15000"/>
                  </a:schemeClr>
                </a:solidFill>
                <a:latin typeface="Times New Roman" panose="02020603050405020304" pitchFamily="18" charset="0"/>
                <a:cs typeface="Times New Roman" panose="02020603050405020304" pitchFamily="18" charset="0"/>
              </a:rPr>
              <a:t>ketoglutarate</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a:t>
            </a: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This leads to the accumulation of glutamate.</a:t>
            </a:r>
            <a:endParaRPr lang="en-GB" sz="2800" dirty="0">
              <a:solidFill>
                <a:schemeClr val="tx1">
                  <a:lumMod val="85000"/>
                  <a:lumOff val="15000"/>
                </a:schemeClr>
              </a:solidFill>
              <a:latin typeface="Times New Roman" panose="02020603050405020304" pitchFamily="18" charset="0"/>
              <a:cs typeface="Times New Roman" panose="02020603050405020304" pitchFamily="18" charset="0"/>
            </a:endParaRP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The release of nitrogen from glutamate and its conversion to urea. </a:t>
            </a: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This is accomplished by the urea cycle in the liver.</a:t>
            </a:r>
            <a:endParaRPr lang="en-GB" sz="2800" dirty="0">
              <a:solidFill>
                <a:schemeClr val="tx1">
                  <a:lumMod val="85000"/>
                  <a:lumOff val="15000"/>
                </a:schemeClr>
              </a:solidFill>
              <a:latin typeface="Times New Roman" panose="02020603050405020304" pitchFamily="18" charset="0"/>
              <a:cs typeface="Times New Roman" panose="02020603050405020304" pitchFamily="18" charset="0"/>
            </a:endParaRPr>
          </a:p>
          <a:p>
            <a:pPr algn="just" eaLnBrk="1" fontAlgn="auto" hangingPunct="1">
              <a:buFont typeface="Arial"/>
              <a:buChar char="•"/>
              <a:defRPr/>
            </a:pPr>
            <a:endParaRPr lang="en-GB" sz="28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429D10-B856-F0E5-972E-5ADD8591D360}"/>
              </a:ext>
            </a:extLst>
          </p:cNvPr>
          <p:cNvSpPr>
            <a:spLocks noGrp="1"/>
          </p:cNvSpPr>
          <p:nvPr>
            <p:ph type="title"/>
          </p:nvPr>
        </p:nvSpPr>
        <p:spPr>
          <a:xfrm>
            <a:off x="152400" y="0"/>
            <a:ext cx="8839200" cy="685800"/>
          </a:xfrm>
        </p:spPr>
        <p:txBody>
          <a:bodyPr rtlCol="0">
            <a:normAutofit fontScale="90000"/>
          </a:bodyPr>
          <a:lstStyle/>
          <a:p>
            <a:pPr eaLnBrk="1" fontAlgn="auto" hangingPunct="1">
              <a:spcAft>
                <a:spcPts val="0"/>
              </a:spcAft>
              <a:defRPr/>
            </a:pPr>
            <a:r>
              <a:rPr lang="en-GB" dirty="0">
                <a:solidFill>
                  <a:srgbClr val="FF0000"/>
                </a:solidFill>
                <a:latin typeface="Times New Roman" panose="02020603050405020304" pitchFamily="18" charset="0"/>
                <a:cs typeface="Times New Roman" panose="02020603050405020304" pitchFamily="18" charset="0"/>
              </a:rPr>
              <a:t>CONT’</a:t>
            </a:r>
          </a:p>
        </p:txBody>
      </p:sp>
      <p:sp>
        <p:nvSpPr>
          <p:cNvPr id="52227" name="Content Placeholder 2">
            <a:extLst>
              <a:ext uri="{FF2B5EF4-FFF2-40B4-BE49-F238E27FC236}">
                <a16:creationId xmlns:a16="http://schemas.microsoft.com/office/drawing/2014/main" xmlns="" id="{A1EA1BAC-F85E-B77A-EF37-680F08D9051F}"/>
              </a:ext>
            </a:extLst>
          </p:cNvPr>
          <p:cNvSpPr>
            <a:spLocks noGrp="1"/>
          </p:cNvSpPr>
          <p:nvPr>
            <p:ph idx="1"/>
          </p:nvPr>
        </p:nvSpPr>
        <p:spPr>
          <a:xfrm>
            <a:off x="381000" y="708025"/>
            <a:ext cx="8610600" cy="6073775"/>
          </a:xfrm>
        </p:spPr>
        <p:txBody>
          <a:bodyPr/>
          <a:lstStyle/>
          <a:p>
            <a:pPr eaLnBrk="1" hangingPunct="1"/>
            <a:r>
              <a:rPr lang="en-US" altLang="en-US" sz="2800">
                <a:latin typeface="Times New Roman" panose="02020603050405020304" pitchFamily="18" charset="0"/>
                <a:cs typeface="Times New Roman" panose="02020603050405020304" pitchFamily="18" charset="0"/>
              </a:rPr>
              <a:t>Several amino acids e.g. arginine, asparagine, glutamine, histidine, lysine, proline and tryptophan do contain additional nitrogen atoms in their side chains. </a:t>
            </a:r>
          </a:p>
          <a:p>
            <a:pPr eaLnBrk="1" hangingPunct="1"/>
            <a:r>
              <a:rPr lang="en-US" altLang="en-US" sz="2800">
                <a:latin typeface="Times New Roman" panose="02020603050405020304" pitchFamily="18" charset="0"/>
                <a:cs typeface="Times New Roman" panose="02020603050405020304" pitchFamily="18" charset="0"/>
              </a:rPr>
              <a:t>For these, adapter pathways exist that ultimately also feed the nitrogen into the urea cycle for ultimate elimination.</a:t>
            </a:r>
            <a:endParaRPr lang="en-GB" altLang="en-US" sz="2800">
              <a:latin typeface="Times New Roman" panose="02020603050405020304" pitchFamily="18" charset="0"/>
              <a:cs typeface="Times New Roman" panose="02020603050405020304" pitchFamily="18" charset="0"/>
            </a:endParaRPr>
          </a:p>
          <a:p>
            <a:pPr eaLnBrk="1" hangingPunct="1"/>
            <a:r>
              <a:rPr lang="en-US" altLang="en-US" sz="2800">
                <a:latin typeface="Times New Roman" panose="02020603050405020304" pitchFamily="18" charset="0"/>
                <a:cs typeface="Times New Roman" panose="02020603050405020304" pitchFamily="18" charset="0"/>
              </a:rPr>
              <a:t> Removal of nitrogen is an early step in amino acid degradation and leaves behind the carbon skeleton. </a:t>
            </a:r>
          </a:p>
          <a:p>
            <a:pPr eaLnBrk="1" hangingPunct="1"/>
            <a:r>
              <a:rPr lang="en-US" altLang="en-US" sz="2800">
                <a:latin typeface="Times New Roman" panose="02020603050405020304" pitchFamily="18" charset="0"/>
                <a:cs typeface="Times New Roman" panose="02020603050405020304" pitchFamily="18" charset="0"/>
              </a:rPr>
              <a:t>The structure of the carbon skeleton is different for each amino acid, and accordingly each amino acid has its specific pathway of degradation. </a:t>
            </a:r>
          </a:p>
          <a:p>
            <a:pPr eaLnBrk="1" hangingPunct="1"/>
            <a:r>
              <a:rPr lang="en-US" altLang="en-US" sz="2800">
                <a:latin typeface="Times New Roman" panose="02020603050405020304" pitchFamily="18" charset="0"/>
                <a:cs typeface="Times New Roman" panose="02020603050405020304" pitchFamily="18" charset="0"/>
              </a:rPr>
              <a:t>However, they can be grouped into two broad classes. </a:t>
            </a:r>
          </a:p>
          <a:p>
            <a:pPr eaLnBrk="1" hangingPunct="1"/>
            <a:endParaRPr lang="en-GB" altLang="en-US" sz="2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D06844-9C9C-EAAE-1F03-BFA88E6DB1C2}"/>
              </a:ext>
            </a:extLst>
          </p:cNvPr>
          <p:cNvSpPr>
            <a:spLocks noGrp="1"/>
          </p:cNvSpPr>
          <p:nvPr>
            <p:ph type="title"/>
          </p:nvPr>
        </p:nvSpPr>
        <p:spPr>
          <a:xfrm>
            <a:off x="152400" y="0"/>
            <a:ext cx="8991600" cy="609600"/>
          </a:xfrm>
        </p:spPr>
        <p:txBody>
          <a:bodyPr rtlCol="0">
            <a:normAutofit fontScale="90000"/>
          </a:bodyPr>
          <a:lstStyle/>
          <a:p>
            <a:pPr eaLnBrk="1" fontAlgn="auto" hangingPunct="1">
              <a:spcAft>
                <a:spcPts val="0"/>
              </a:spcAft>
              <a:defRPr/>
            </a:pPr>
            <a:r>
              <a:rPr lang="en-GB" b="1" dirty="0">
                <a:solidFill>
                  <a:srgbClr val="FF0000"/>
                </a:solidFill>
              </a:rPr>
              <a:t>CONT’</a:t>
            </a:r>
          </a:p>
        </p:txBody>
      </p:sp>
      <p:sp>
        <p:nvSpPr>
          <p:cNvPr id="3" name="Content Placeholder 2">
            <a:extLst>
              <a:ext uri="{FF2B5EF4-FFF2-40B4-BE49-F238E27FC236}">
                <a16:creationId xmlns:a16="http://schemas.microsoft.com/office/drawing/2014/main" xmlns="" id="{4E41757B-ECBE-325F-5DFC-176B14FCED62}"/>
              </a:ext>
            </a:extLst>
          </p:cNvPr>
          <p:cNvSpPr>
            <a:spLocks noGrp="1"/>
          </p:cNvSpPr>
          <p:nvPr>
            <p:ph idx="1"/>
          </p:nvPr>
        </p:nvSpPr>
        <p:spPr>
          <a:xfrm>
            <a:off x="152400" y="838200"/>
            <a:ext cx="8839200" cy="5867400"/>
          </a:xfrm>
        </p:spPr>
        <p:txBody>
          <a:bodyPr rtlCol="0">
            <a:normAutofit/>
          </a:bodyPr>
          <a:lstStyle/>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Those amino acids that can be converted to intermediates of the TCA cycle or to pyruvate are called </a:t>
            </a:r>
            <a:r>
              <a:rPr lang="en-US" sz="2800" i="1" dirty="0" err="1">
                <a:solidFill>
                  <a:schemeClr val="tx1">
                    <a:lumMod val="85000"/>
                    <a:lumOff val="15000"/>
                  </a:schemeClr>
                </a:solidFill>
                <a:latin typeface="Times New Roman" panose="02020603050405020304" pitchFamily="18" charset="0"/>
                <a:cs typeface="Times New Roman" panose="02020603050405020304" pitchFamily="18" charset="0"/>
              </a:rPr>
              <a:t>glucogenic</a:t>
            </a:r>
            <a:r>
              <a:rPr lang="en-US" sz="2800" i="1"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amino acids, since they can contribute to the synthesis of glucose (gluconeogenesis). </a:t>
            </a: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Those that yield acetoacetate are called </a:t>
            </a:r>
            <a:r>
              <a:rPr lang="en-US" sz="2800" i="1" dirty="0" err="1">
                <a:solidFill>
                  <a:schemeClr val="tx1">
                    <a:lumMod val="85000"/>
                    <a:lumOff val="15000"/>
                  </a:schemeClr>
                </a:solidFill>
                <a:latin typeface="Times New Roman" panose="02020603050405020304" pitchFamily="18" charset="0"/>
                <a:cs typeface="Times New Roman" panose="02020603050405020304" pitchFamily="18" charset="0"/>
              </a:rPr>
              <a:t>ketogenic</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since acetoacetate is one of the two ketone bodies. </a:t>
            </a:r>
            <a:endParaRPr lang="en-GB" sz="2800" dirty="0">
              <a:solidFill>
                <a:schemeClr val="tx1">
                  <a:lumMod val="85000"/>
                  <a:lumOff val="15000"/>
                </a:schemeClr>
              </a:solidFill>
              <a:latin typeface="Times New Roman" panose="02020603050405020304" pitchFamily="18" charset="0"/>
              <a:cs typeface="Times New Roman" panose="02020603050405020304" pitchFamily="18" charset="0"/>
            </a:endParaRP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The degradation of the carbon skeletons of 20 amino acids converges to just seven metabolic intermediates namely: Pyruvate, </a:t>
            </a:r>
            <a:r>
              <a:rPr lang="en-US" sz="2800" dirty="0" err="1">
                <a:solidFill>
                  <a:schemeClr val="tx1">
                    <a:lumMod val="85000"/>
                    <a:lumOff val="15000"/>
                  </a:schemeClr>
                </a:solidFill>
                <a:latin typeface="Times New Roman" panose="02020603050405020304" pitchFamily="18" charset="0"/>
                <a:cs typeface="Times New Roman" panose="02020603050405020304" pitchFamily="18" charset="0"/>
              </a:rPr>
              <a:t>Succinyl</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CoA, Acetyl CoA, </a:t>
            </a:r>
            <a:r>
              <a:rPr lang="en-US" sz="2800" dirty="0" err="1">
                <a:solidFill>
                  <a:schemeClr val="tx1">
                    <a:lumMod val="85000"/>
                    <a:lumOff val="15000"/>
                  </a:schemeClr>
                </a:solidFill>
                <a:latin typeface="Times New Roman" panose="02020603050405020304" pitchFamily="18" charset="0"/>
                <a:cs typeface="Times New Roman" panose="02020603050405020304" pitchFamily="18" charset="0"/>
              </a:rPr>
              <a:t>Fumarate</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sz="2800" dirty="0" err="1">
                <a:solidFill>
                  <a:schemeClr val="tx1">
                    <a:lumMod val="85000"/>
                    <a:lumOff val="15000"/>
                  </a:schemeClr>
                </a:solidFill>
                <a:latin typeface="Times New Roman" panose="02020603050405020304" pitchFamily="18" charset="0"/>
                <a:cs typeface="Times New Roman" panose="02020603050405020304" pitchFamily="18" charset="0"/>
              </a:rPr>
              <a:t>Acetoacetyl</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CoA, Oxaloacetate and α-</a:t>
            </a:r>
            <a:r>
              <a:rPr lang="en-US" sz="2800" dirty="0" err="1">
                <a:solidFill>
                  <a:schemeClr val="tx1">
                    <a:lumMod val="85000"/>
                    <a:lumOff val="15000"/>
                  </a:schemeClr>
                </a:solidFill>
                <a:latin typeface="Times New Roman" panose="02020603050405020304" pitchFamily="18" charset="0"/>
                <a:cs typeface="Times New Roman" panose="02020603050405020304" pitchFamily="18" charset="0"/>
              </a:rPr>
              <a:t>Ketoglutarate</a:t>
            </a:r>
            <a:endParaRPr lang="en-GB" sz="28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lgn="just" eaLnBrk="1" fontAlgn="auto" hangingPunct="1">
              <a:buFont typeface="Arial"/>
              <a:buNone/>
              <a:defRPr/>
            </a:pPr>
            <a:endParaRPr lang="en-GB" sz="2800" dirty="0">
              <a:solidFill>
                <a:schemeClr val="tx1">
                  <a:lumMod val="85000"/>
                  <a:lumOff val="15000"/>
                </a:schemeClr>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6F2AF2-6037-A74E-31D4-B819047B7FA0}"/>
              </a:ext>
            </a:extLst>
          </p:cNvPr>
          <p:cNvSpPr>
            <a:spLocks noGrp="1"/>
          </p:cNvSpPr>
          <p:nvPr>
            <p:ph type="title"/>
          </p:nvPr>
        </p:nvSpPr>
        <p:spPr>
          <a:xfrm>
            <a:off x="1176338" y="152400"/>
            <a:ext cx="6799262" cy="990600"/>
          </a:xfrm>
        </p:spPr>
        <p:txBody>
          <a:bodyPr rtlCol="0">
            <a:normAutofit fontScale="90000"/>
          </a:bodyPr>
          <a:lstStyle/>
          <a:p>
            <a:pPr eaLnBrk="1" fontAlgn="auto" hangingPunct="1">
              <a:spcAft>
                <a:spcPts val="0"/>
              </a:spcAft>
              <a:defRPr/>
            </a:pPr>
            <a:r>
              <a:rPr lang="en-US" b="1" dirty="0">
                <a:solidFill>
                  <a:srgbClr val="FF0000"/>
                </a:solidFill>
              </a:rPr>
              <a:t>Transamination</a:t>
            </a:r>
            <a:r>
              <a:rPr lang="en-GB" b="1" i="1" dirty="0">
                <a:solidFill>
                  <a:schemeClr val="tx1">
                    <a:lumMod val="85000"/>
                    <a:lumOff val="15000"/>
                  </a:schemeClr>
                </a:solidFill>
              </a:rPr>
              <a:t/>
            </a:r>
            <a:br>
              <a:rPr lang="en-GB" b="1" i="1" dirty="0">
                <a:solidFill>
                  <a:schemeClr val="tx1">
                    <a:lumMod val="85000"/>
                    <a:lumOff val="15000"/>
                  </a:schemeClr>
                </a:solidFill>
              </a:rPr>
            </a:br>
            <a:endParaRPr lang="en-GB" dirty="0">
              <a:solidFill>
                <a:schemeClr val="tx1">
                  <a:lumMod val="85000"/>
                  <a:lumOff val="15000"/>
                </a:schemeClr>
              </a:solidFill>
            </a:endParaRPr>
          </a:p>
        </p:txBody>
      </p:sp>
      <p:sp>
        <p:nvSpPr>
          <p:cNvPr id="54275" name="Content Placeholder 2">
            <a:extLst>
              <a:ext uri="{FF2B5EF4-FFF2-40B4-BE49-F238E27FC236}">
                <a16:creationId xmlns:a16="http://schemas.microsoft.com/office/drawing/2014/main" xmlns="" id="{B4E06099-07CD-57E1-5D97-BB00A8ABD05E}"/>
              </a:ext>
            </a:extLst>
          </p:cNvPr>
          <p:cNvSpPr>
            <a:spLocks noGrp="1"/>
          </p:cNvSpPr>
          <p:nvPr>
            <p:ph idx="1"/>
          </p:nvPr>
        </p:nvSpPr>
        <p:spPr>
          <a:xfrm>
            <a:off x="304800" y="762000"/>
            <a:ext cx="8763000" cy="6096000"/>
          </a:xfrm>
        </p:spPr>
        <p:txBody>
          <a:bodyPr/>
          <a:lstStyle/>
          <a:p>
            <a:pPr algn="just" eaLnBrk="1" hangingPunct="1"/>
            <a:r>
              <a:rPr lang="en-US" altLang="en-US">
                <a:latin typeface="Times New Roman" panose="02020603050405020304" pitchFamily="18" charset="0"/>
                <a:cs typeface="Times New Roman" panose="02020603050405020304" pitchFamily="18" charset="0"/>
              </a:rPr>
              <a:t>Transamination is the major process for removing nitrogen from amino acids.</a:t>
            </a:r>
          </a:p>
          <a:p>
            <a:pPr algn="just" eaLnBrk="1" hangingPunct="1"/>
            <a:r>
              <a:rPr lang="en-US" altLang="en-US">
                <a:latin typeface="Times New Roman" panose="02020603050405020304" pitchFamily="18" charset="0"/>
                <a:cs typeface="Times New Roman" panose="02020603050405020304" pitchFamily="18" charset="0"/>
              </a:rPr>
              <a:t> Most of the amino acids undergo transamination except lysine and threonine (aminotransferases exist for all amino acids except threonine and lysine). </a:t>
            </a:r>
          </a:p>
          <a:p>
            <a:pPr algn="just" eaLnBrk="1" hangingPunct="1"/>
            <a:r>
              <a:rPr lang="en-US" altLang="en-US">
                <a:latin typeface="Times New Roman" panose="02020603050405020304" pitchFamily="18" charset="0"/>
                <a:cs typeface="Times New Roman" panose="02020603050405020304" pitchFamily="18" charset="0"/>
              </a:rPr>
              <a:t>In most instances, the nitrogen is transferred as an amino group from the original amino acid to α-ketoglutarate, forming glutamate, whereas the original amino acid is converted to its corresponding α-ketoacid. </a:t>
            </a:r>
          </a:p>
          <a:p>
            <a:pPr algn="just" eaLnBrk="1" hangingPunct="1"/>
            <a:r>
              <a:rPr lang="en-US" altLang="en-US">
                <a:latin typeface="Times New Roman" panose="02020603050405020304" pitchFamily="18" charset="0"/>
                <a:cs typeface="Times New Roman" panose="02020603050405020304" pitchFamily="18" charset="0"/>
              </a:rPr>
              <a:t>For example, the amino acid aspartate can be transaminated to form its corresponding α-ketoacid, oxaloacetate.</a:t>
            </a:r>
          </a:p>
          <a:p>
            <a:pPr algn="just" eaLnBrk="1" hangingPunct="1"/>
            <a:r>
              <a:rPr lang="en-US" altLang="en-US">
                <a:latin typeface="Times New Roman" panose="02020603050405020304" pitchFamily="18" charset="0"/>
                <a:cs typeface="Times New Roman" panose="02020603050405020304" pitchFamily="18" charset="0"/>
              </a:rPr>
              <a:t> In the process, the amino group is transferred to α-ketoglutarate, which is converted to its corresponding amino acid, glutamate.</a:t>
            </a:r>
            <a:endParaRPr lang="en-GB" altLang="en-US">
              <a:latin typeface="Times New Roman" panose="02020603050405020304" pitchFamily="18" charset="0"/>
              <a:cs typeface="Times New Roman" panose="02020603050405020304" pitchFamily="18" charset="0"/>
            </a:endParaRPr>
          </a:p>
          <a:p>
            <a:pPr algn="just" eaLnBrk="1" hangingPunct="1"/>
            <a:endParaRPr lang="en-GB"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xmlns="" id="{150CC6A3-62AF-4BE0-3377-385667312551}"/>
              </a:ext>
            </a:extLst>
          </p:cNvPr>
          <p:cNvSpPr>
            <a:spLocks noGrp="1"/>
          </p:cNvSpPr>
          <p:nvPr>
            <p:ph type="title"/>
          </p:nvPr>
        </p:nvSpPr>
        <p:spPr>
          <a:xfrm>
            <a:off x="76200" y="76200"/>
            <a:ext cx="9067800" cy="762000"/>
          </a:xfrm>
        </p:spPr>
        <p:txBody>
          <a:bodyPr/>
          <a:lstStyle/>
          <a:p>
            <a:pPr eaLnBrk="1" hangingPunct="1"/>
            <a:r>
              <a:rPr lang="en-GB" altLang="en-US">
                <a:ln>
                  <a:noFill/>
                </a:ln>
              </a:rPr>
              <a:t>CONT’</a:t>
            </a:r>
          </a:p>
        </p:txBody>
      </p:sp>
      <p:sp>
        <p:nvSpPr>
          <p:cNvPr id="55299" name="Content Placeholder 2">
            <a:extLst>
              <a:ext uri="{FF2B5EF4-FFF2-40B4-BE49-F238E27FC236}">
                <a16:creationId xmlns:a16="http://schemas.microsoft.com/office/drawing/2014/main" xmlns="" id="{925AFF25-3DE6-1D58-4D55-20DDB5F2738C}"/>
              </a:ext>
            </a:extLst>
          </p:cNvPr>
          <p:cNvSpPr>
            <a:spLocks noGrp="1"/>
          </p:cNvSpPr>
          <p:nvPr>
            <p:ph idx="1"/>
          </p:nvPr>
        </p:nvSpPr>
        <p:spPr>
          <a:xfrm>
            <a:off x="228600" y="838200"/>
            <a:ext cx="8763000" cy="6019800"/>
          </a:xfrm>
        </p:spPr>
        <p:txBody>
          <a:bodyPr/>
          <a:lstStyle/>
          <a:p>
            <a:pPr algn="just" eaLnBrk="1" hangingPunct="1"/>
            <a:r>
              <a:rPr lang="en-US" altLang="en-US" sz="2800">
                <a:latin typeface="Times New Roman" panose="02020603050405020304" pitchFamily="18" charset="0"/>
                <a:cs typeface="Times New Roman" panose="02020603050405020304" pitchFamily="18" charset="0"/>
              </a:rPr>
              <a:t>The enzymes involved in transamination are called transaminases or aminotransferases. </a:t>
            </a:r>
          </a:p>
          <a:p>
            <a:pPr algn="just" eaLnBrk="1" hangingPunct="1"/>
            <a:r>
              <a:rPr lang="en-US" altLang="en-US" sz="2800">
                <a:latin typeface="Times New Roman" panose="02020603050405020304" pitchFamily="18" charset="0"/>
                <a:cs typeface="Times New Roman" panose="02020603050405020304" pitchFamily="18" charset="0"/>
              </a:rPr>
              <a:t>There are several different aminotransferases, each of which is specific for an individual amino acid or for a group of chemically similar ones. </a:t>
            </a:r>
          </a:p>
          <a:p>
            <a:pPr algn="just" eaLnBrk="1" hangingPunct="1"/>
            <a:r>
              <a:rPr lang="en-US" altLang="en-US" sz="2800">
                <a:latin typeface="Times New Roman" panose="02020603050405020304" pitchFamily="18" charset="0"/>
                <a:cs typeface="Times New Roman" panose="02020603050405020304" pitchFamily="18" charset="0"/>
              </a:rPr>
              <a:t>For most of these reactions, α-ketoglutarate and glutamate serve as one of the α-ketoacid and amino acid pairs. </a:t>
            </a:r>
          </a:p>
          <a:p>
            <a:pPr algn="just" eaLnBrk="1" hangingPunct="1"/>
            <a:r>
              <a:rPr lang="en-US" altLang="en-US" sz="2800">
                <a:latin typeface="Times New Roman" panose="02020603050405020304" pitchFamily="18" charset="0"/>
                <a:cs typeface="Times New Roman" panose="02020603050405020304" pitchFamily="18" charset="0"/>
              </a:rPr>
              <a:t>The reactions use pyridoxal phosphate (PLP) as a cofactor. Transamination is freely reversible; therefore, both glutamate and α-ketoglutarate are substrates of every single transaminase. </a:t>
            </a:r>
            <a:endParaRPr lang="en-GB" altLang="en-US" sz="2800">
              <a:latin typeface="Times New Roman" panose="02020603050405020304" pitchFamily="18" charset="0"/>
              <a:cs typeface="Times New Roman" panose="02020603050405020304" pitchFamily="18" charset="0"/>
            </a:endParaRPr>
          </a:p>
          <a:p>
            <a:pPr algn="just" eaLnBrk="1" hangingPunct="1"/>
            <a:endParaRPr lang="en-GB"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xmlns="" id="{99502CA9-73DC-83D6-1B9C-3A56536A9150}"/>
              </a:ext>
            </a:extLst>
          </p:cNvPr>
          <p:cNvSpPr>
            <a:spLocks noGrp="1"/>
          </p:cNvSpPr>
          <p:nvPr>
            <p:ph type="title"/>
          </p:nvPr>
        </p:nvSpPr>
        <p:spPr>
          <a:xfrm>
            <a:off x="152400" y="0"/>
            <a:ext cx="8991600" cy="990600"/>
          </a:xfrm>
        </p:spPr>
        <p:txBody>
          <a:bodyPr/>
          <a:lstStyle/>
          <a:p>
            <a:pPr eaLnBrk="1" hangingPunct="1"/>
            <a:r>
              <a:rPr lang="en-US" altLang="en-US" b="1">
                <a:ln>
                  <a:noFill/>
                </a:ln>
                <a:solidFill>
                  <a:srgbClr val="FF0000"/>
                </a:solidFill>
              </a:rPr>
              <a:t>General reaction in transamination</a:t>
            </a:r>
            <a:r>
              <a:rPr lang="en-US" altLang="en-US">
                <a:ln>
                  <a:noFill/>
                </a:ln>
              </a:rPr>
              <a:t>.</a:t>
            </a:r>
            <a:endParaRPr lang="en-GB" altLang="en-US">
              <a:ln>
                <a:noFill/>
              </a:ln>
            </a:endParaRPr>
          </a:p>
        </p:txBody>
      </p:sp>
      <p:pic>
        <p:nvPicPr>
          <p:cNvPr id="56323" name="Content Placeholder 3">
            <a:extLst>
              <a:ext uri="{FF2B5EF4-FFF2-40B4-BE49-F238E27FC236}">
                <a16:creationId xmlns:a16="http://schemas.microsoft.com/office/drawing/2014/main" xmlns="" id="{614896C0-4EAE-3EB3-BC14-19C43BC9298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704975" y="1447800"/>
            <a:ext cx="5886450" cy="4267200"/>
          </a:xfr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E7C1E3-7788-C292-FD7A-64F05A93F609}"/>
              </a:ext>
            </a:extLst>
          </p:cNvPr>
          <p:cNvSpPr>
            <a:spLocks noGrp="1"/>
          </p:cNvSpPr>
          <p:nvPr>
            <p:ph type="title"/>
          </p:nvPr>
        </p:nvSpPr>
        <p:spPr>
          <a:xfrm>
            <a:off x="228600" y="152400"/>
            <a:ext cx="8763000" cy="838200"/>
          </a:xfrm>
        </p:spPr>
        <p:txBody>
          <a:bodyPr rtlCol="0">
            <a:normAutofit fontScale="90000"/>
          </a:bodyPr>
          <a:lstStyle/>
          <a:p>
            <a:pPr eaLnBrk="1" fontAlgn="auto" hangingPunct="1">
              <a:spcAft>
                <a:spcPts val="0"/>
              </a:spcAft>
              <a:defRPr/>
            </a:pPr>
            <a:r>
              <a:rPr lang="en-US" b="1" dirty="0">
                <a:solidFill>
                  <a:schemeClr val="tx1">
                    <a:lumMod val="85000"/>
                    <a:lumOff val="15000"/>
                  </a:schemeClr>
                </a:solidFill>
              </a:rPr>
              <a:t/>
            </a:r>
            <a:br>
              <a:rPr lang="en-US" b="1" dirty="0">
                <a:solidFill>
                  <a:schemeClr val="tx1">
                    <a:lumMod val="85000"/>
                    <a:lumOff val="15000"/>
                  </a:schemeClr>
                </a:solidFill>
              </a:rPr>
            </a:br>
            <a:r>
              <a:rPr lang="en-US" b="1" dirty="0">
                <a:solidFill>
                  <a:srgbClr val="FF0000"/>
                </a:solidFill>
                <a:latin typeface="Times New Roman" panose="02020603050405020304" pitchFamily="18" charset="0"/>
                <a:cs typeface="Times New Roman" panose="02020603050405020304" pitchFamily="18" charset="0"/>
              </a:rPr>
              <a:t>Transaminases of clinical significance</a:t>
            </a:r>
            <a:r>
              <a:rPr lang="en-GB" dirty="0">
                <a:solidFill>
                  <a:schemeClr val="tx1">
                    <a:lumMod val="85000"/>
                    <a:lumOff val="15000"/>
                  </a:schemeClr>
                </a:solidFill>
              </a:rPr>
              <a:t/>
            </a:r>
            <a:br>
              <a:rPr lang="en-GB" dirty="0">
                <a:solidFill>
                  <a:schemeClr val="tx1">
                    <a:lumMod val="85000"/>
                    <a:lumOff val="15000"/>
                  </a:schemeClr>
                </a:solidFill>
              </a:rPr>
            </a:br>
            <a:endParaRPr lang="en-GB" dirty="0">
              <a:solidFill>
                <a:schemeClr val="tx1">
                  <a:lumMod val="85000"/>
                  <a:lumOff val="15000"/>
                </a:schemeClr>
              </a:solidFill>
            </a:endParaRPr>
          </a:p>
        </p:txBody>
      </p:sp>
      <p:sp>
        <p:nvSpPr>
          <p:cNvPr id="57347" name="Content Placeholder 2">
            <a:extLst>
              <a:ext uri="{FF2B5EF4-FFF2-40B4-BE49-F238E27FC236}">
                <a16:creationId xmlns:a16="http://schemas.microsoft.com/office/drawing/2014/main" xmlns="" id="{F0B961F0-1062-9868-14E9-5EEC1D0B7140}"/>
              </a:ext>
            </a:extLst>
          </p:cNvPr>
          <p:cNvSpPr>
            <a:spLocks noGrp="1"/>
          </p:cNvSpPr>
          <p:nvPr>
            <p:ph idx="1"/>
          </p:nvPr>
        </p:nvSpPr>
        <p:spPr>
          <a:xfrm>
            <a:off x="228600" y="1066800"/>
            <a:ext cx="8763000" cy="5791200"/>
          </a:xfrm>
        </p:spPr>
        <p:txBody>
          <a:bodyPr/>
          <a:lstStyle/>
          <a:p>
            <a:pPr algn="just" eaLnBrk="1" hangingPunct="1"/>
            <a:r>
              <a:rPr lang="en-US" altLang="en-US" sz="2800">
                <a:latin typeface="Times New Roman" panose="02020603050405020304" pitchFamily="18" charset="0"/>
                <a:cs typeface="Times New Roman" panose="02020603050405020304" pitchFamily="18" charset="0"/>
              </a:rPr>
              <a:t>Alanine transaminase (ALT) also called as glutamate pyruvate transaminase (GPT) and Aspartate transaminase (AST) also called as glutamate oxaloacetate transaminase (GOT) are the two most important transaminases of clinical importance. </a:t>
            </a:r>
          </a:p>
          <a:p>
            <a:pPr algn="just" eaLnBrk="1" hangingPunct="1"/>
            <a:r>
              <a:rPr lang="en-US" altLang="en-US" sz="2800">
                <a:latin typeface="Times New Roman" panose="02020603050405020304" pitchFamily="18" charset="0"/>
                <a:cs typeface="Times New Roman" panose="02020603050405020304" pitchFamily="18" charset="0"/>
              </a:rPr>
              <a:t>These enzymes are abundant in heart and liver they are released as part of cell injury that occurs in myocardial infarction (MI), infectious hepatitis and damage to either organ.</a:t>
            </a:r>
          </a:p>
          <a:p>
            <a:pPr algn="just" eaLnBrk="1" hangingPunct="1"/>
            <a:r>
              <a:rPr lang="en-US" altLang="en-US" sz="2800">
                <a:latin typeface="Times New Roman" panose="02020603050405020304" pitchFamily="18" charset="0"/>
                <a:cs typeface="Times New Roman" panose="02020603050405020304" pitchFamily="18" charset="0"/>
              </a:rPr>
              <a:t> An elevated level of both SGOT and SGPT (S for Serum) indicates damage to the Liver.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xmlns="" id="{942C372E-F3B9-1839-2A16-0468D1D7549A}"/>
              </a:ext>
            </a:extLst>
          </p:cNvPr>
          <p:cNvSpPr>
            <a:spLocks noGrp="1"/>
          </p:cNvSpPr>
          <p:nvPr>
            <p:ph type="title"/>
          </p:nvPr>
        </p:nvSpPr>
        <p:spPr>
          <a:xfrm>
            <a:off x="76200" y="152400"/>
            <a:ext cx="9067800" cy="762000"/>
          </a:xfrm>
        </p:spPr>
        <p:txBody>
          <a:bodyPr/>
          <a:lstStyle/>
          <a:p>
            <a:pPr eaLnBrk="1" hangingPunct="1"/>
            <a:r>
              <a:rPr lang="en-GB" altLang="en-US">
                <a:ln>
                  <a:noFill/>
                </a:ln>
                <a:solidFill>
                  <a:srgbClr val="FF0000"/>
                </a:solidFill>
                <a:latin typeface="Times New Roman" panose="02020603050405020304" pitchFamily="18" charset="0"/>
                <a:cs typeface="Times New Roman" panose="02020603050405020304" pitchFamily="18" charset="0"/>
              </a:rPr>
              <a:t>CONT’</a:t>
            </a:r>
          </a:p>
        </p:txBody>
      </p:sp>
      <p:sp>
        <p:nvSpPr>
          <p:cNvPr id="58371" name="Content Placeholder 2">
            <a:extLst>
              <a:ext uri="{FF2B5EF4-FFF2-40B4-BE49-F238E27FC236}">
                <a16:creationId xmlns:a16="http://schemas.microsoft.com/office/drawing/2014/main" xmlns="" id="{E4A71CC3-534A-9C96-6C44-73338172E25A}"/>
              </a:ext>
            </a:extLst>
          </p:cNvPr>
          <p:cNvSpPr>
            <a:spLocks noGrp="1"/>
          </p:cNvSpPr>
          <p:nvPr>
            <p:ph idx="1"/>
          </p:nvPr>
        </p:nvSpPr>
        <p:spPr>
          <a:xfrm>
            <a:off x="76200" y="1066800"/>
            <a:ext cx="8839200" cy="5791200"/>
          </a:xfrm>
        </p:spPr>
        <p:txBody>
          <a:bodyPr/>
          <a:lstStyle/>
          <a:p>
            <a:pPr algn="just" eaLnBrk="1" hangingPunct="1"/>
            <a:r>
              <a:rPr lang="en-US" altLang="en-US">
                <a:latin typeface="Times New Roman" panose="02020603050405020304" pitchFamily="18" charset="0"/>
                <a:cs typeface="Times New Roman" panose="02020603050405020304" pitchFamily="18" charset="0"/>
              </a:rPr>
              <a:t>However a rise in SGOT accompanied by only a moderate rise in SGPT suggests damage to heart muscle, skeletal muscle, kidney etc.</a:t>
            </a:r>
          </a:p>
          <a:p>
            <a:pPr algn="just" eaLnBrk="1" hangingPunct="1"/>
            <a:r>
              <a:rPr lang="en-US" altLang="en-US">
                <a:latin typeface="Times New Roman" panose="02020603050405020304" pitchFamily="18" charset="0"/>
                <a:cs typeface="Times New Roman" panose="02020603050405020304" pitchFamily="18" charset="0"/>
              </a:rPr>
              <a:t>Assays of these enzyme activities in blood serum can be used both in diagnosis and in monitoring the progress of a patient during treatment.</a:t>
            </a:r>
            <a:endParaRPr lang="en-GB" altLang="en-US">
              <a:latin typeface="Times New Roman" panose="02020603050405020304" pitchFamily="18" charset="0"/>
              <a:cs typeface="Times New Roman" panose="02020603050405020304" pitchFamily="18" charset="0"/>
            </a:endParaRPr>
          </a:p>
          <a:p>
            <a:pPr eaLnBrk="1" hangingPunct="1"/>
            <a:endParaRPr lang="en-GB"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83F7B8-C455-A9F8-4CF9-5391C5472ABF}"/>
              </a:ext>
            </a:extLst>
          </p:cNvPr>
          <p:cNvSpPr>
            <a:spLocks noGrp="1"/>
          </p:cNvSpPr>
          <p:nvPr>
            <p:ph type="title"/>
          </p:nvPr>
        </p:nvSpPr>
        <p:spPr>
          <a:xfrm>
            <a:off x="76200" y="152400"/>
            <a:ext cx="8915400" cy="914400"/>
          </a:xfrm>
        </p:spPr>
        <p:txBody>
          <a:bodyPr rtlCol="0">
            <a:normAutofit fontScale="90000"/>
          </a:bodyPr>
          <a:lstStyle/>
          <a:p>
            <a:pPr eaLnBrk="1" fontAlgn="auto" hangingPunct="1">
              <a:spcAft>
                <a:spcPts val="0"/>
              </a:spcAft>
              <a:defRPr/>
            </a:pPr>
            <a:r>
              <a:rPr lang="en-US" b="1" dirty="0">
                <a:solidFill>
                  <a:srgbClr val="FF0000"/>
                </a:solidFill>
              </a:rPr>
              <a:t>Deamination of amino acids</a:t>
            </a:r>
            <a:r>
              <a:rPr lang="en-GB" b="1" i="1" dirty="0">
                <a:solidFill>
                  <a:schemeClr val="tx1">
                    <a:lumMod val="85000"/>
                    <a:lumOff val="15000"/>
                  </a:schemeClr>
                </a:solidFill>
              </a:rPr>
              <a:t/>
            </a:r>
            <a:br>
              <a:rPr lang="en-GB" b="1" i="1" dirty="0">
                <a:solidFill>
                  <a:schemeClr val="tx1">
                    <a:lumMod val="85000"/>
                    <a:lumOff val="15000"/>
                  </a:schemeClr>
                </a:solidFill>
              </a:rPr>
            </a:br>
            <a:endParaRPr lang="en-GB" b="1"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xmlns="" id="{9D91184F-4CCC-6196-F58F-43C4C739D55E}"/>
              </a:ext>
            </a:extLst>
          </p:cNvPr>
          <p:cNvSpPr>
            <a:spLocks noGrp="1"/>
          </p:cNvSpPr>
          <p:nvPr>
            <p:ph idx="1"/>
          </p:nvPr>
        </p:nvSpPr>
        <p:spPr>
          <a:xfrm>
            <a:off x="228600" y="762000"/>
            <a:ext cx="8686800" cy="5943600"/>
          </a:xfrm>
        </p:spPr>
        <p:txBody>
          <a:bodyPr rtlCol="0">
            <a:noAutofit/>
          </a:bodyPr>
          <a:lstStyle/>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Transamination does not result in net deamination, since one amino acid is replaced by another amino acid. </a:t>
            </a: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The function of transamination is to funnel the amino nitrogen into one or a few amino acids. </a:t>
            </a: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There are other pathways that are closely related to transamination. These are oxidative and non-oxidative deamination. </a:t>
            </a:r>
            <a:r>
              <a:rPr lang="en-US" sz="2800" b="1" dirty="0">
                <a:solidFill>
                  <a:schemeClr val="tx1">
                    <a:lumMod val="85000"/>
                    <a:lumOff val="15000"/>
                  </a:schemeClr>
                </a:solidFill>
                <a:latin typeface="Times New Roman" panose="02020603050405020304" pitchFamily="18" charset="0"/>
                <a:cs typeface="Times New Roman" panose="02020603050405020304" pitchFamily="18" charset="0"/>
              </a:rPr>
              <a:t> </a:t>
            </a:r>
            <a:endParaRPr lang="en-GB" sz="28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lgn="just" eaLnBrk="1" fontAlgn="auto" hangingPunct="1">
              <a:buFont typeface="Arial"/>
              <a:buNone/>
              <a:defRPr/>
            </a:pPr>
            <a:r>
              <a:rPr lang="en-US" sz="2800" b="1" dirty="0">
                <a:solidFill>
                  <a:srgbClr val="FF0000"/>
                </a:solidFill>
                <a:latin typeface="Times New Roman" panose="02020603050405020304" pitchFamily="18" charset="0"/>
                <a:cs typeface="Times New Roman" panose="02020603050405020304" pitchFamily="18" charset="0"/>
              </a:rPr>
              <a:t>A) Oxidative deamination</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a:t>
            </a:r>
            <a:endParaRPr lang="en-GB" sz="2800" dirty="0">
              <a:solidFill>
                <a:schemeClr val="tx1">
                  <a:lumMod val="85000"/>
                  <a:lumOff val="15000"/>
                </a:schemeClr>
              </a:solidFill>
              <a:latin typeface="Times New Roman" panose="02020603050405020304" pitchFamily="18" charset="0"/>
              <a:cs typeface="Times New Roman" panose="02020603050405020304" pitchFamily="18" charset="0"/>
            </a:endParaRPr>
          </a:p>
          <a:p>
            <a:pPr algn="just" eaLnBrk="1" fontAlgn="auto" hangingPunct="1">
              <a:buFont typeface="Arial"/>
              <a:buChar char="•"/>
              <a:defRPr/>
            </a:pP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For glutamate to play a role in the net conversion of amino groups to ammonia, a mechanism for glutamate deamination is needed so that α-</a:t>
            </a:r>
            <a:r>
              <a:rPr lang="en-US" sz="2800" dirty="0" err="1">
                <a:solidFill>
                  <a:schemeClr val="tx1">
                    <a:lumMod val="85000"/>
                    <a:lumOff val="15000"/>
                  </a:schemeClr>
                </a:solidFill>
                <a:latin typeface="Times New Roman" panose="02020603050405020304" pitchFamily="18" charset="0"/>
                <a:cs typeface="Times New Roman" panose="02020603050405020304" pitchFamily="18" charset="0"/>
              </a:rPr>
              <a:t>ketoglutarate</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can be regenerated for further transamination.</a:t>
            </a:r>
            <a:endParaRPr lang="en-GB" sz="28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251482-0E79-AAB5-474B-98C0FD625C22}"/>
              </a:ext>
            </a:extLst>
          </p:cNvPr>
          <p:cNvSpPr>
            <a:spLocks noGrp="1"/>
          </p:cNvSpPr>
          <p:nvPr>
            <p:ph type="title"/>
          </p:nvPr>
        </p:nvSpPr>
        <p:spPr>
          <a:xfrm>
            <a:off x="152400" y="76200"/>
            <a:ext cx="8991600" cy="685800"/>
          </a:xfrm>
        </p:spPr>
        <p:txBody>
          <a:bodyPr rtlCol="0">
            <a:normAutofit fontScale="90000"/>
          </a:bodyPr>
          <a:lstStyle/>
          <a:p>
            <a:pPr eaLnBrk="1" fontAlgn="auto" hangingPunct="1">
              <a:spcAft>
                <a:spcPts val="0"/>
              </a:spcAft>
              <a:defRPr/>
            </a:pPr>
            <a:r>
              <a:rPr lang="en-GB" dirty="0">
                <a:solidFill>
                  <a:srgbClr val="FF0000"/>
                </a:solidFill>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xmlns="" id="{662AFE26-79AF-C180-D1EC-A626E559DAA5}"/>
              </a:ext>
            </a:extLst>
          </p:cNvPr>
          <p:cNvSpPr>
            <a:spLocks noGrp="1"/>
          </p:cNvSpPr>
          <p:nvPr>
            <p:ph idx="1"/>
          </p:nvPr>
        </p:nvSpPr>
        <p:spPr>
          <a:xfrm>
            <a:off x="152400" y="990600"/>
            <a:ext cx="8839200" cy="5867400"/>
          </a:xfrm>
        </p:spPr>
        <p:txBody>
          <a:bodyPr rtlCol="0">
            <a:normAutofit lnSpcReduction="10000"/>
          </a:bodyPr>
          <a:lstStyle/>
          <a:p>
            <a:pPr algn="just" eaLnBrk="1" fontAlgn="auto" hangingPunct="1">
              <a:buFont typeface="Wingdings" panose="05000000000000000000" pitchFamily="2" charset="2"/>
              <a:buChar char="q"/>
              <a:defRP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 The generation is accomplished by the oxidative deamination of glutamate by glutamate dehydrogenase. </a:t>
            </a:r>
          </a:p>
          <a:p>
            <a:pPr algn="just" eaLnBrk="1" fontAlgn="auto" hangingPunct="1">
              <a:buFont typeface="Wingdings" panose="05000000000000000000" pitchFamily="2" charset="2"/>
              <a:buChar char="q"/>
              <a:defRP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Glutamate is </a:t>
            </a:r>
            <a:r>
              <a:rPr lang="en-US" dirty="0" err="1">
                <a:solidFill>
                  <a:schemeClr val="tx1">
                    <a:lumMod val="85000"/>
                    <a:lumOff val="15000"/>
                  </a:schemeClr>
                </a:solidFill>
                <a:latin typeface="Times New Roman" panose="02020603050405020304" pitchFamily="18" charset="0"/>
                <a:cs typeface="Times New Roman" panose="02020603050405020304" pitchFamily="18" charset="0"/>
              </a:rPr>
              <a:t>oxidatively</a:t>
            </a:r>
            <a:r>
              <a:rPr lang="en-US"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dirty="0" err="1">
                <a:solidFill>
                  <a:schemeClr val="tx1">
                    <a:lumMod val="85000"/>
                    <a:lumOff val="15000"/>
                  </a:schemeClr>
                </a:solidFill>
                <a:latin typeface="Times New Roman" panose="02020603050405020304" pitchFamily="18" charset="0"/>
                <a:cs typeface="Times New Roman" panose="02020603050405020304" pitchFamily="18" charset="0"/>
              </a:rPr>
              <a:t>deaminated</a:t>
            </a:r>
            <a:r>
              <a:rPr lang="en-US" dirty="0">
                <a:solidFill>
                  <a:schemeClr val="tx1">
                    <a:lumMod val="85000"/>
                    <a:lumOff val="15000"/>
                  </a:schemeClr>
                </a:solidFill>
                <a:latin typeface="Times New Roman" panose="02020603050405020304" pitchFamily="18" charset="0"/>
                <a:cs typeface="Times New Roman" panose="02020603050405020304" pitchFamily="18" charset="0"/>
              </a:rPr>
              <a:t> in the mitochondrion by glutamate dehydrogenase. </a:t>
            </a:r>
          </a:p>
          <a:p>
            <a:pPr algn="just" eaLnBrk="1" fontAlgn="auto" hangingPunct="1">
              <a:buFont typeface="Wingdings" panose="05000000000000000000" pitchFamily="2" charset="2"/>
              <a:buChar char="q"/>
              <a:defRP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NAD+ or NADP+ functions as the coenzyme.</a:t>
            </a:r>
          </a:p>
          <a:p>
            <a:pPr algn="just" eaLnBrk="1" fontAlgn="auto" hangingPunct="1">
              <a:buFont typeface="Arial"/>
              <a:buChar char="•"/>
              <a:defRP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 Oxidation is thought to occur with the transfer of a hydride ion from glutamate's carbon to NAD(P)+ to form α-</a:t>
            </a:r>
            <a:r>
              <a:rPr lang="en-US" dirty="0" err="1">
                <a:solidFill>
                  <a:schemeClr val="tx1">
                    <a:lumMod val="85000"/>
                    <a:lumOff val="15000"/>
                  </a:schemeClr>
                </a:solidFill>
                <a:latin typeface="Times New Roman" panose="02020603050405020304" pitchFamily="18" charset="0"/>
                <a:cs typeface="Times New Roman" panose="02020603050405020304" pitchFamily="18" charset="0"/>
              </a:rPr>
              <a:t>iminoglutarate</a:t>
            </a:r>
            <a:r>
              <a:rPr lang="en-US" dirty="0">
                <a:solidFill>
                  <a:schemeClr val="tx1">
                    <a:lumMod val="85000"/>
                    <a:lumOff val="15000"/>
                  </a:schemeClr>
                </a:solidFill>
                <a:latin typeface="Times New Roman" panose="02020603050405020304" pitchFamily="18" charset="0"/>
                <a:cs typeface="Times New Roman" panose="02020603050405020304" pitchFamily="18" charset="0"/>
              </a:rPr>
              <a:t>, which is then </a:t>
            </a:r>
            <a:r>
              <a:rPr lang="en-US" dirty="0" err="1">
                <a:solidFill>
                  <a:schemeClr val="tx1">
                    <a:lumMod val="85000"/>
                    <a:lumOff val="15000"/>
                  </a:schemeClr>
                </a:solidFill>
                <a:latin typeface="Times New Roman" panose="02020603050405020304" pitchFamily="18" charset="0"/>
                <a:cs typeface="Times New Roman" panose="02020603050405020304" pitchFamily="18" charset="0"/>
              </a:rPr>
              <a:t>hydrolysed</a:t>
            </a:r>
            <a:r>
              <a:rPr lang="en-US" dirty="0">
                <a:solidFill>
                  <a:schemeClr val="tx1">
                    <a:lumMod val="85000"/>
                    <a:lumOff val="15000"/>
                  </a:schemeClr>
                </a:solidFill>
                <a:latin typeface="Times New Roman" panose="02020603050405020304" pitchFamily="18" charset="0"/>
                <a:cs typeface="Times New Roman" panose="02020603050405020304" pitchFamily="18" charset="0"/>
              </a:rPr>
              <a:t> to α-</a:t>
            </a:r>
            <a:r>
              <a:rPr lang="en-US" dirty="0" err="1">
                <a:solidFill>
                  <a:schemeClr val="tx1">
                    <a:lumMod val="85000"/>
                    <a:lumOff val="15000"/>
                  </a:schemeClr>
                </a:solidFill>
                <a:latin typeface="Times New Roman" panose="02020603050405020304" pitchFamily="18" charset="0"/>
                <a:cs typeface="Times New Roman" panose="02020603050405020304" pitchFamily="18" charset="0"/>
              </a:rPr>
              <a:t>ketoglutarate</a:t>
            </a:r>
            <a:r>
              <a:rPr lang="en-US" dirty="0">
                <a:solidFill>
                  <a:schemeClr val="tx1">
                    <a:lumMod val="85000"/>
                    <a:lumOff val="15000"/>
                  </a:schemeClr>
                </a:solidFill>
                <a:latin typeface="Times New Roman" panose="02020603050405020304" pitchFamily="18" charset="0"/>
                <a:cs typeface="Times New Roman" panose="02020603050405020304" pitchFamily="18" charset="0"/>
              </a:rPr>
              <a:t> and ammonia. </a:t>
            </a:r>
            <a:endParaRPr lang="en-GB" dirty="0">
              <a:solidFill>
                <a:schemeClr val="tx1">
                  <a:lumMod val="85000"/>
                  <a:lumOff val="15000"/>
                </a:schemeClr>
              </a:solidFill>
              <a:latin typeface="Times New Roman" panose="02020603050405020304" pitchFamily="18" charset="0"/>
              <a:cs typeface="Times New Roman" panose="02020603050405020304" pitchFamily="18" charset="0"/>
            </a:endParaRPr>
          </a:p>
          <a:p>
            <a:pPr eaLnBrk="1" fontAlgn="auto" hangingPunct="1">
              <a:buFont typeface="Arial"/>
              <a:buChar char="•"/>
              <a:defRPr/>
            </a:pPr>
            <a:r>
              <a:rPr lang="en-US"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dirty="0">
                <a:solidFill>
                  <a:schemeClr val="tx1">
                    <a:lumMod val="85000"/>
                    <a:lumOff val="15000"/>
                  </a:schemeClr>
                </a:solidFill>
              </a:rPr>
              <a:t>The ammonia produced is then converted to urea in mammals. </a:t>
            </a:r>
          </a:p>
          <a:p>
            <a:pPr eaLnBrk="1" fontAlgn="auto" hangingPunct="1">
              <a:buFont typeface="Arial"/>
              <a:buChar char="•"/>
              <a:defRPr/>
            </a:pPr>
            <a:r>
              <a:rPr lang="en-US" dirty="0">
                <a:solidFill>
                  <a:schemeClr val="tx1">
                    <a:lumMod val="85000"/>
                    <a:lumOff val="15000"/>
                  </a:schemeClr>
                </a:solidFill>
              </a:rPr>
              <a:t>Most ammonia results from the deamination of a single amino acid: glutamate, via the Glutamate dehydrogenase reaction. </a:t>
            </a:r>
          </a:p>
          <a:p>
            <a:pPr eaLnBrk="1" fontAlgn="auto" hangingPunct="1">
              <a:buFont typeface="Arial"/>
              <a:buChar char="•"/>
              <a:defRPr/>
            </a:pPr>
            <a:r>
              <a:rPr lang="en-US" dirty="0">
                <a:solidFill>
                  <a:schemeClr val="tx1">
                    <a:lumMod val="85000"/>
                    <a:lumOff val="15000"/>
                  </a:schemeClr>
                </a:solidFill>
              </a:rPr>
              <a:t>The reaction is reversible as shown in </a:t>
            </a:r>
            <a:r>
              <a:rPr lang="en-US" dirty="0" err="1">
                <a:solidFill>
                  <a:schemeClr val="tx1">
                    <a:lumMod val="85000"/>
                    <a:lumOff val="15000"/>
                  </a:schemeClr>
                </a:solidFill>
              </a:rPr>
              <a:t>Fig.below</a:t>
            </a:r>
            <a:endParaRPr lang="en-GB" dirty="0">
              <a:solidFill>
                <a:schemeClr val="tx1">
                  <a:lumMod val="85000"/>
                  <a:lumOff val="15000"/>
                </a:schemeClr>
              </a:solidFill>
            </a:endParaRPr>
          </a:p>
          <a:p>
            <a:pPr marL="0" indent="0" eaLnBrk="1" fontAlgn="auto" hangingPunct="1">
              <a:buFont typeface="Arial"/>
              <a:buNone/>
              <a:defRPr/>
            </a:pPr>
            <a:r>
              <a:rPr lang="en-US" dirty="0">
                <a:solidFill>
                  <a:schemeClr val="tx1">
                    <a:lumMod val="85000"/>
                    <a:lumOff val="15000"/>
                  </a:schemeClr>
                </a:solidFill>
              </a:rPr>
              <a:t> </a:t>
            </a:r>
            <a:endParaRPr lang="en-GB" dirty="0">
              <a:solidFill>
                <a:schemeClr val="tx1">
                  <a:lumMod val="85000"/>
                  <a:lumOff val="15000"/>
                </a:schemeClr>
              </a:solidFill>
            </a:endParaRPr>
          </a:p>
          <a:p>
            <a:pPr algn="just" eaLnBrk="1" fontAlgn="auto" hangingPunct="1">
              <a:buFont typeface="Arial"/>
              <a:buChar char="•"/>
              <a:defRPr/>
            </a:pPr>
            <a:endParaRPr lang="en-GB" dirty="0">
              <a:solidFill>
                <a:schemeClr val="tx1">
                  <a:lumMod val="85000"/>
                  <a:lumOff val="15000"/>
                </a:schemeClr>
              </a:solidFill>
              <a:latin typeface="Times New Roman" panose="02020603050405020304" pitchFamily="18" charset="0"/>
              <a:cs typeface="Times New Roman" panose="02020603050405020304" pitchFamily="18" charset="0"/>
            </a:endParaRPr>
          </a:p>
          <a:p>
            <a:pPr algn="just" eaLnBrk="1" fontAlgn="auto" hangingPunct="1">
              <a:buFont typeface="Arial"/>
              <a:buChar char="•"/>
              <a:defRPr/>
            </a:pPr>
            <a:endParaRPr lang="en-GB" dirty="0">
              <a:solidFill>
                <a:schemeClr val="tx1">
                  <a:lumMod val="85000"/>
                  <a:lumOff val="15000"/>
                </a:schemeClr>
              </a:solidFill>
              <a:latin typeface="Times New Roman" panose="02020603050405020304" pitchFamily="18" charset="0"/>
              <a:cs typeface="Times New Roman" panose="02020603050405020304" pitchFamily="18" charset="0"/>
            </a:endParaRPr>
          </a:p>
          <a:p>
            <a:pPr eaLnBrk="1" fontAlgn="auto" hangingPunct="1">
              <a:buFont typeface="Arial"/>
              <a:buChar char="•"/>
              <a:defRPr/>
            </a:pPr>
            <a:endParaRPr lang="en-GB" dirty="0">
              <a:solidFill>
                <a:schemeClr val="tx1">
                  <a:lumMod val="85000"/>
                  <a:lumOff val="15000"/>
                </a:schemeClr>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xmlns="" id="{F5C2A04D-EDC1-AA44-AC47-195DE3E49B0F}"/>
              </a:ext>
            </a:extLst>
          </p:cNvPr>
          <p:cNvSpPr>
            <a:spLocks noGrp="1"/>
          </p:cNvSpPr>
          <p:nvPr>
            <p:ph type="title"/>
          </p:nvPr>
        </p:nvSpPr>
        <p:spPr>
          <a:xfrm>
            <a:off x="1176338" y="76200"/>
            <a:ext cx="6799262" cy="762000"/>
          </a:xfrm>
        </p:spPr>
        <p:txBody>
          <a:bodyPr/>
          <a:lstStyle/>
          <a:p>
            <a:pPr eaLnBrk="1" hangingPunct="1"/>
            <a:r>
              <a:rPr lang="en-GB" altLang="en-US" b="1">
                <a:ln>
                  <a:noFill/>
                </a:ln>
                <a:solidFill>
                  <a:srgbClr val="FF0000"/>
                </a:solidFill>
                <a:latin typeface="Times New Roman" panose="02020603050405020304" pitchFamily="18" charset="0"/>
                <a:cs typeface="Times New Roman" panose="02020603050405020304" pitchFamily="18" charset="0"/>
              </a:rPr>
              <a:t>CONT’</a:t>
            </a:r>
          </a:p>
        </p:txBody>
      </p:sp>
      <p:pic>
        <p:nvPicPr>
          <p:cNvPr id="61443" name="Content Placeholder 3">
            <a:extLst>
              <a:ext uri="{FF2B5EF4-FFF2-40B4-BE49-F238E27FC236}">
                <a16:creationId xmlns:a16="http://schemas.microsoft.com/office/drawing/2014/main" xmlns="" id="{9767F249-7CE5-FF44-1989-1DE9576D6DC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28600" y="1066800"/>
            <a:ext cx="8534400" cy="3419475"/>
          </a:xfr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F18D88-4D0B-31B2-73D3-0E7B76A627DB}"/>
              </a:ext>
            </a:extLst>
          </p:cNvPr>
          <p:cNvSpPr>
            <a:spLocks noGrp="1"/>
          </p:cNvSpPr>
          <p:nvPr>
            <p:ph type="title"/>
          </p:nvPr>
        </p:nvSpPr>
        <p:spPr>
          <a:xfrm>
            <a:off x="1176338" y="76200"/>
            <a:ext cx="6799262" cy="685800"/>
          </a:xfrm>
        </p:spPr>
        <p:txBody>
          <a:bodyPr rtlCol="0">
            <a:normAutofit fontScale="90000"/>
          </a:bodyPr>
          <a:lstStyle/>
          <a:p>
            <a:pPr eaLnBrk="1" fontAlgn="auto" hangingPunct="1">
              <a:spcAft>
                <a:spcPts val="0"/>
              </a:spcAft>
              <a:defRPr/>
            </a:pPr>
            <a:r>
              <a:rPr lang="en-GB" b="1" dirty="0">
                <a:solidFill>
                  <a:srgbClr val="FF0000"/>
                </a:solidFill>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xmlns="" id="{1565E96F-495D-331E-47D6-6A73DE748FCD}"/>
              </a:ext>
            </a:extLst>
          </p:cNvPr>
          <p:cNvSpPr>
            <a:spLocks noGrp="1"/>
          </p:cNvSpPr>
          <p:nvPr>
            <p:ph idx="1"/>
          </p:nvPr>
        </p:nvSpPr>
        <p:spPr>
          <a:xfrm>
            <a:off x="152400" y="762000"/>
            <a:ext cx="8999538" cy="6096000"/>
          </a:xfrm>
        </p:spPr>
        <p:txBody>
          <a:bodyPr rtlCol="0">
            <a:normAutofit lnSpcReduction="10000"/>
          </a:bodyPr>
          <a:lstStyle/>
          <a:p>
            <a:pPr algn="just" eaLnBrk="1" fontAlgn="auto" hangingPunct="1">
              <a:buFont typeface="Arial"/>
              <a:buChar char="•"/>
              <a:defRPr/>
            </a:pPr>
            <a:r>
              <a:rPr lang="en-US" sz="2800" dirty="0">
                <a:solidFill>
                  <a:schemeClr val="tx1">
                    <a:lumMod val="85000"/>
                    <a:lumOff val="15000"/>
                  </a:schemeClr>
                </a:solidFill>
              </a:rPr>
              <a:t>As seen in Fig. above, the enzyme glutamate dehydrogenase utilizes both </a:t>
            </a:r>
            <a:r>
              <a:rPr lang="en-US" sz="2800" dirty="0" err="1">
                <a:solidFill>
                  <a:schemeClr val="tx1">
                    <a:lumMod val="85000"/>
                    <a:lumOff val="15000"/>
                  </a:schemeClr>
                </a:solidFill>
              </a:rPr>
              <a:t>nicotinamide</a:t>
            </a:r>
            <a:r>
              <a:rPr lang="en-US" sz="2800" dirty="0">
                <a:solidFill>
                  <a:schemeClr val="tx1">
                    <a:lumMod val="85000"/>
                    <a:lumOff val="15000"/>
                  </a:schemeClr>
                </a:solidFill>
              </a:rPr>
              <a:t> nucleotide cofactors; NAD</a:t>
            </a:r>
            <a:r>
              <a:rPr lang="en-US" sz="2800" baseline="30000" dirty="0">
                <a:solidFill>
                  <a:schemeClr val="tx1">
                    <a:lumMod val="85000"/>
                    <a:lumOff val="15000"/>
                  </a:schemeClr>
                </a:solidFill>
              </a:rPr>
              <a:t>+</a:t>
            </a:r>
            <a:r>
              <a:rPr lang="en-US" sz="2800" dirty="0">
                <a:solidFill>
                  <a:schemeClr val="tx1">
                    <a:lumMod val="85000"/>
                    <a:lumOff val="15000"/>
                  </a:schemeClr>
                </a:solidFill>
              </a:rPr>
              <a:t> in the direction of nitrogen liberation in the form of ammonia and </a:t>
            </a:r>
            <a:r>
              <a:rPr lang="en-US" sz="2800" dirty="0" err="1">
                <a:solidFill>
                  <a:schemeClr val="tx1">
                    <a:lumMod val="85000"/>
                    <a:lumOff val="15000"/>
                  </a:schemeClr>
                </a:solidFill>
              </a:rPr>
              <a:t>and</a:t>
            </a:r>
            <a:r>
              <a:rPr lang="en-US" sz="2800" dirty="0">
                <a:solidFill>
                  <a:schemeClr val="tx1">
                    <a:lumMod val="85000"/>
                    <a:lumOff val="15000"/>
                  </a:schemeClr>
                </a:solidFill>
              </a:rPr>
              <a:t> alpha-</a:t>
            </a:r>
            <a:r>
              <a:rPr lang="en-US" sz="2800" dirty="0" err="1">
                <a:solidFill>
                  <a:schemeClr val="tx1">
                    <a:lumMod val="85000"/>
                    <a:lumOff val="15000"/>
                  </a:schemeClr>
                </a:solidFill>
              </a:rPr>
              <a:t>ketoglutarate</a:t>
            </a:r>
            <a:r>
              <a:rPr lang="en-US" sz="2800" dirty="0">
                <a:solidFill>
                  <a:schemeClr val="tx1">
                    <a:lumMod val="85000"/>
                    <a:lumOff val="15000"/>
                  </a:schemeClr>
                </a:solidFill>
              </a:rPr>
              <a:t> (an intermediate of TCA cycle; and NADP</a:t>
            </a:r>
            <a:r>
              <a:rPr lang="en-US" sz="2800" baseline="30000" dirty="0">
                <a:solidFill>
                  <a:schemeClr val="tx1">
                    <a:lumMod val="85000"/>
                    <a:lumOff val="15000"/>
                  </a:schemeClr>
                </a:solidFill>
              </a:rPr>
              <a:t>+</a:t>
            </a:r>
            <a:r>
              <a:rPr lang="en-US" sz="2800" dirty="0">
                <a:solidFill>
                  <a:schemeClr val="tx1">
                    <a:lumMod val="85000"/>
                    <a:lumOff val="15000"/>
                  </a:schemeClr>
                </a:solidFill>
              </a:rPr>
              <a:t> for nitrogen incorporation into glutamate, forming one of the 20 amino acids for protein synthesis. </a:t>
            </a:r>
            <a:endParaRPr lang="en-GB" sz="2800" dirty="0">
              <a:solidFill>
                <a:schemeClr val="tx1">
                  <a:lumMod val="85000"/>
                  <a:lumOff val="15000"/>
                </a:schemeClr>
              </a:solidFill>
            </a:endParaRPr>
          </a:p>
          <a:p>
            <a:pPr algn="just" eaLnBrk="1" fontAlgn="auto" hangingPunct="1">
              <a:buFont typeface="Arial"/>
              <a:buChar char="•"/>
              <a:defRPr/>
            </a:pPr>
            <a:r>
              <a:rPr lang="en-US" sz="2800" dirty="0">
                <a:solidFill>
                  <a:schemeClr val="tx1">
                    <a:lumMod val="85000"/>
                    <a:lumOff val="15000"/>
                  </a:schemeClr>
                </a:solidFill>
              </a:rPr>
              <a:t>The ammonia thus formed is converted to glutamine by glutamine synthase and transported to kidney tubule cells.  </a:t>
            </a:r>
          </a:p>
          <a:p>
            <a:pPr algn="just" eaLnBrk="1" fontAlgn="auto" hangingPunct="1">
              <a:buFont typeface="Arial"/>
              <a:buChar char="•"/>
              <a:defRPr/>
            </a:pPr>
            <a:r>
              <a:rPr lang="en-US" sz="2800" dirty="0">
                <a:solidFill>
                  <a:schemeClr val="tx1">
                    <a:lumMod val="85000"/>
                    <a:lumOff val="15000"/>
                  </a:schemeClr>
                </a:solidFill>
              </a:rPr>
              <a:t>There the glutamine is sequentially </a:t>
            </a:r>
            <a:r>
              <a:rPr lang="en-US" sz="2800" dirty="0" err="1">
                <a:solidFill>
                  <a:schemeClr val="tx1">
                    <a:lumMod val="85000"/>
                    <a:lumOff val="15000"/>
                  </a:schemeClr>
                </a:solidFill>
              </a:rPr>
              <a:t>deamidated</a:t>
            </a:r>
            <a:r>
              <a:rPr lang="en-US" sz="2800" dirty="0">
                <a:solidFill>
                  <a:schemeClr val="tx1">
                    <a:lumMod val="85000"/>
                    <a:lumOff val="15000"/>
                  </a:schemeClr>
                </a:solidFill>
              </a:rPr>
              <a:t> by </a:t>
            </a:r>
            <a:r>
              <a:rPr lang="en-US" sz="2800" dirty="0" err="1">
                <a:solidFill>
                  <a:schemeClr val="tx1">
                    <a:lumMod val="85000"/>
                    <a:lumOff val="15000"/>
                  </a:schemeClr>
                </a:solidFill>
              </a:rPr>
              <a:t>glutaminase</a:t>
            </a:r>
            <a:r>
              <a:rPr lang="en-US" sz="2800" dirty="0">
                <a:solidFill>
                  <a:schemeClr val="tx1">
                    <a:lumMod val="85000"/>
                    <a:lumOff val="15000"/>
                  </a:schemeClr>
                </a:solidFill>
              </a:rPr>
              <a:t> and </a:t>
            </a:r>
            <a:r>
              <a:rPr lang="en-US" sz="2800" dirty="0" err="1">
                <a:solidFill>
                  <a:schemeClr val="tx1">
                    <a:lumMod val="85000"/>
                    <a:lumOff val="15000"/>
                  </a:schemeClr>
                </a:solidFill>
              </a:rPr>
              <a:t>deaminated</a:t>
            </a:r>
            <a:r>
              <a:rPr lang="en-US" sz="2800" dirty="0">
                <a:solidFill>
                  <a:schemeClr val="tx1">
                    <a:lumMod val="85000"/>
                    <a:lumOff val="15000"/>
                  </a:schemeClr>
                </a:solidFill>
              </a:rPr>
              <a:t> by kidney glutamate dehydrogenase. </a:t>
            </a:r>
          </a:p>
          <a:p>
            <a:pPr algn="just" eaLnBrk="1" fontAlgn="auto" hangingPunct="1">
              <a:buFont typeface="Arial"/>
              <a:buChar char="•"/>
              <a:defRPr/>
            </a:pPr>
            <a:r>
              <a:rPr lang="en-US" sz="2800" dirty="0">
                <a:solidFill>
                  <a:schemeClr val="tx1">
                    <a:lumMod val="85000"/>
                    <a:lumOff val="15000"/>
                  </a:schemeClr>
                </a:solidFill>
              </a:rPr>
              <a:t>The ammonia produced in the latter two reactions is excreted as NH4+ in the urine, where it helps maintain urine pH in the normal range of pH 4 to pH 8.</a:t>
            </a:r>
            <a:endParaRPr lang="en-GB" sz="2800" dirty="0">
              <a:solidFill>
                <a:schemeClr val="tx1">
                  <a:lumMod val="85000"/>
                  <a:lumOff val="15000"/>
                </a:schemeClr>
              </a:solidFill>
            </a:endParaRPr>
          </a:p>
          <a:p>
            <a:pPr algn="just" eaLnBrk="1" fontAlgn="auto" hangingPunct="1">
              <a:buFont typeface="Arial"/>
              <a:buChar char="•"/>
              <a:defRPr/>
            </a:pPr>
            <a:endParaRPr lang="en-GB" dirty="0">
              <a:solidFill>
                <a:schemeClr val="tx1">
                  <a:lumMod val="85000"/>
                  <a:lumOff val="15000"/>
                </a:schemeClr>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112B4D-557A-0117-EA91-366490499443}"/>
              </a:ext>
            </a:extLst>
          </p:cNvPr>
          <p:cNvSpPr>
            <a:spLocks noGrp="1"/>
          </p:cNvSpPr>
          <p:nvPr>
            <p:ph type="title"/>
          </p:nvPr>
        </p:nvSpPr>
        <p:spPr>
          <a:xfrm>
            <a:off x="152400" y="0"/>
            <a:ext cx="8839200" cy="685800"/>
          </a:xfrm>
        </p:spPr>
        <p:txBody>
          <a:bodyPr rtlCol="0">
            <a:normAutofit fontScale="90000"/>
          </a:bodyPr>
          <a:lstStyle/>
          <a:p>
            <a:pPr eaLnBrk="1" fontAlgn="auto" hangingPunct="1">
              <a:spcAft>
                <a:spcPts val="0"/>
              </a:spcAft>
              <a:defRPr/>
            </a:pPr>
            <a:r>
              <a:rPr lang="en-US" b="1" dirty="0">
                <a:solidFill>
                  <a:schemeClr val="tx1">
                    <a:lumMod val="85000"/>
                    <a:lumOff val="15000"/>
                  </a:schemeClr>
                </a:solidFill>
              </a:rPr>
              <a:t/>
            </a:r>
            <a:br>
              <a:rPr lang="en-US" b="1" dirty="0">
                <a:solidFill>
                  <a:schemeClr val="tx1">
                    <a:lumMod val="85000"/>
                    <a:lumOff val="15000"/>
                  </a:schemeClr>
                </a:solidFill>
              </a:rPr>
            </a:br>
            <a:r>
              <a:rPr lang="en-US" b="1" dirty="0">
                <a:solidFill>
                  <a:schemeClr val="tx1">
                    <a:lumMod val="85000"/>
                    <a:lumOff val="15000"/>
                  </a:schemeClr>
                </a:solidFill>
              </a:rPr>
              <a:t>b) Non-oxidative deamination</a:t>
            </a:r>
            <a:r>
              <a:rPr lang="en-GB" dirty="0">
                <a:solidFill>
                  <a:schemeClr val="tx1">
                    <a:lumMod val="85000"/>
                    <a:lumOff val="15000"/>
                  </a:schemeClr>
                </a:solidFill>
              </a:rPr>
              <a:t/>
            </a:r>
            <a:br>
              <a:rPr lang="en-GB" dirty="0">
                <a:solidFill>
                  <a:schemeClr val="tx1">
                    <a:lumMod val="85000"/>
                    <a:lumOff val="15000"/>
                  </a:schemeClr>
                </a:solidFill>
              </a:rPr>
            </a:br>
            <a:endParaRPr lang="en-GB" dirty="0">
              <a:solidFill>
                <a:schemeClr val="tx1">
                  <a:lumMod val="85000"/>
                  <a:lumOff val="15000"/>
                </a:schemeClr>
              </a:solidFill>
            </a:endParaRPr>
          </a:p>
        </p:txBody>
      </p:sp>
      <p:sp>
        <p:nvSpPr>
          <p:cNvPr id="63491" name="Content Placeholder 2">
            <a:extLst>
              <a:ext uri="{FF2B5EF4-FFF2-40B4-BE49-F238E27FC236}">
                <a16:creationId xmlns:a16="http://schemas.microsoft.com/office/drawing/2014/main" xmlns="" id="{E14EBC7C-45DD-EE0F-05B9-0450A0AAD2CC}"/>
              </a:ext>
            </a:extLst>
          </p:cNvPr>
          <p:cNvSpPr>
            <a:spLocks noGrp="1"/>
          </p:cNvSpPr>
          <p:nvPr>
            <p:ph idx="1"/>
          </p:nvPr>
        </p:nvSpPr>
        <p:spPr>
          <a:xfrm>
            <a:off x="152400" y="838200"/>
            <a:ext cx="8839200" cy="5867400"/>
          </a:xfrm>
        </p:spPr>
        <p:txBody>
          <a:bodyPr/>
          <a:lstStyle/>
          <a:p>
            <a:pPr algn="just" eaLnBrk="1" hangingPunct="1"/>
            <a:r>
              <a:rPr lang="en-US" altLang="en-US" sz="2800"/>
              <a:t>Amino acids such as serine and histidine are deaminated non-oxidatively. The other reactions involved in the catabolism of amino acids are decarboxylation, transulfuration, desulfuration, dehydration etc.</a:t>
            </a:r>
          </a:p>
          <a:p>
            <a:pPr algn="just" eaLnBrk="1" hangingPunct="1"/>
            <a:r>
              <a:rPr lang="en-US" altLang="en-US" sz="2800"/>
              <a:t> The decarboxylation process is important since the products of decarboxylation reactions give rise to physiologically active amines.</a:t>
            </a:r>
          </a:p>
          <a:p>
            <a:pPr algn="just" eaLnBrk="1" hangingPunct="1"/>
            <a:r>
              <a:rPr lang="en-US" altLang="en-US" sz="2800"/>
              <a:t>In decarboxylation, the responsible enzymes, amino acid decarboxylases are pyridoxal phosphate-dependent. </a:t>
            </a:r>
          </a:p>
          <a:p>
            <a:pPr algn="just" eaLnBrk="1" hangingPunct="1"/>
            <a:r>
              <a:rPr lang="en-US" altLang="en-US" sz="2800"/>
              <a:t>Pyridoxal phosphate forms a Schiff's base with the amino acid so as to stabilise the α-carbanion formed by the cleavage of bond between carboxyl and α-carbon atom.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35403D-40D4-1F9B-C367-25A05DE12F22}"/>
              </a:ext>
            </a:extLst>
          </p:cNvPr>
          <p:cNvSpPr>
            <a:spLocks noGrp="1"/>
          </p:cNvSpPr>
          <p:nvPr>
            <p:ph type="title"/>
          </p:nvPr>
        </p:nvSpPr>
        <p:spPr>
          <a:xfrm>
            <a:off x="1176338" y="0"/>
            <a:ext cx="6799262" cy="609600"/>
          </a:xfrm>
        </p:spPr>
        <p:txBody>
          <a:bodyPr rtlCol="0">
            <a:normAutofit fontScale="90000"/>
          </a:bodyPr>
          <a:lstStyle/>
          <a:p>
            <a:pPr eaLnBrk="1" fontAlgn="auto" hangingPunct="1">
              <a:spcAft>
                <a:spcPts val="0"/>
              </a:spcAft>
              <a:defRPr/>
            </a:pPr>
            <a:r>
              <a:rPr lang="en-GB" dirty="0">
                <a:solidFill>
                  <a:schemeClr val="tx1">
                    <a:lumMod val="85000"/>
                    <a:lumOff val="15000"/>
                  </a:schemeClr>
                </a:solidFill>
              </a:rPr>
              <a:t>CONT’</a:t>
            </a:r>
          </a:p>
        </p:txBody>
      </p:sp>
      <p:sp>
        <p:nvSpPr>
          <p:cNvPr id="64515" name="Content Placeholder 2">
            <a:extLst>
              <a:ext uri="{FF2B5EF4-FFF2-40B4-BE49-F238E27FC236}">
                <a16:creationId xmlns:a16="http://schemas.microsoft.com/office/drawing/2014/main" xmlns="" id="{D4D0A359-1FF6-F9BC-091D-B561A54C870E}"/>
              </a:ext>
            </a:extLst>
          </p:cNvPr>
          <p:cNvSpPr>
            <a:spLocks noGrp="1"/>
          </p:cNvSpPr>
          <p:nvPr>
            <p:ph idx="1"/>
          </p:nvPr>
        </p:nvSpPr>
        <p:spPr>
          <a:xfrm>
            <a:off x="228600" y="990600"/>
            <a:ext cx="8763000" cy="5867400"/>
          </a:xfrm>
        </p:spPr>
        <p:txBody>
          <a:bodyPr/>
          <a:lstStyle/>
          <a:p>
            <a:pPr algn="just" eaLnBrk="1" hangingPunct="1"/>
            <a:r>
              <a:rPr lang="en-US" altLang="en-US" sz="2800">
                <a:latin typeface="Times New Roman" panose="02020603050405020304" pitchFamily="18" charset="0"/>
                <a:cs typeface="Times New Roman" panose="02020603050405020304" pitchFamily="18" charset="0"/>
              </a:rPr>
              <a:t>The physiologically active amines epinephrine, nor-epinephrine, dopamine, serotonin, γ-amino butyrate and histamine are formed through decarboxylation of the corresponding precursor amino acids. </a:t>
            </a:r>
            <a:endParaRPr lang="en-GB" altLang="en-US" sz="2800">
              <a:latin typeface="Times New Roman" panose="02020603050405020304" pitchFamily="18" charset="0"/>
              <a:cs typeface="Times New Roman" panose="02020603050405020304" pitchFamily="18" charset="0"/>
            </a:endParaRPr>
          </a:p>
          <a:p>
            <a:pPr algn="just" eaLnBrk="1" hangingPunct="1"/>
            <a:endParaRPr lang="en-GB" altLang="en-US" sz="2800">
              <a:latin typeface="Times New Roman" panose="02020603050405020304" pitchFamily="18" charset="0"/>
              <a:cs typeface="Times New Roman" panose="02020603050405020304" pitchFamily="18" charset="0"/>
            </a:endParaRPr>
          </a:p>
          <a:p>
            <a:pPr eaLnBrk="1" hangingPunct="1"/>
            <a:endParaRPr lang="en-GB"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xmlns="" id="{61D52A86-7B6C-9914-6DC2-031F959B0216}"/>
              </a:ext>
            </a:extLst>
          </p:cNvPr>
          <p:cNvSpPr>
            <a:spLocks noGrp="1"/>
          </p:cNvSpPr>
          <p:nvPr>
            <p:ph type="title"/>
          </p:nvPr>
        </p:nvSpPr>
        <p:spPr>
          <a:xfrm>
            <a:off x="152400" y="0"/>
            <a:ext cx="8763000" cy="838200"/>
          </a:xfrm>
        </p:spPr>
        <p:txBody>
          <a:bodyPr/>
          <a:lstStyle/>
          <a:p>
            <a:pPr eaLnBrk="1" hangingPunct="1"/>
            <a:r>
              <a:rPr lang="en-US" altLang="en-US" b="1">
                <a:ln>
                  <a:noFill/>
                </a:ln>
              </a:rPr>
              <a:t/>
            </a:r>
            <a:br>
              <a:rPr lang="en-US" altLang="en-US" b="1">
                <a:ln>
                  <a:noFill/>
                </a:ln>
              </a:rPr>
            </a:br>
            <a:r>
              <a:rPr lang="en-US" altLang="en-US" b="1">
                <a:ln>
                  <a:noFill/>
                </a:ln>
                <a:solidFill>
                  <a:srgbClr val="FF0000"/>
                </a:solidFill>
              </a:rPr>
              <a:t>The urea cycle</a:t>
            </a:r>
            <a:r>
              <a:rPr lang="en-US" altLang="en-US" b="1" i="1">
                <a:ln>
                  <a:noFill/>
                </a:ln>
                <a:solidFill>
                  <a:srgbClr val="FF0000"/>
                </a:solidFill>
              </a:rPr>
              <a:t/>
            </a:r>
            <a:br>
              <a:rPr lang="en-US" altLang="en-US" b="1" i="1">
                <a:ln>
                  <a:noFill/>
                </a:ln>
                <a:solidFill>
                  <a:srgbClr val="FF0000"/>
                </a:solidFill>
              </a:rPr>
            </a:br>
            <a:endParaRPr lang="en-US" altLang="en-US">
              <a:ln>
                <a:noFill/>
              </a:ln>
              <a:solidFill>
                <a:srgbClr val="FF0000"/>
              </a:solidFill>
            </a:endParaRPr>
          </a:p>
        </p:txBody>
      </p:sp>
      <p:sp>
        <p:nvSpPr>
          <p:cNvPr id="65539" name="Content Placeholder 2">
            <a:extLst>
              <a:ext uri="{FF2B5EF4-FFF2-40B4-BE49-F238E27FC236}">
                <a16:creationId xmlns:a16="http://schemas.microsoft.com/office/drawing/2014/main" xmlns="" id="{A151E00C-C842-B035-AA73-A79C9E97F4DD}"/>
              </a:ext>
            </a:extLst>
          </p:cNvPr>
          <p:cNvSpPr>
            <a:spLocks noGrp="1"/>
          </p:cNvSpPr>
          <p:nvPr>
            <p:ph idx="1"/>
          </p:nvPr>
        </p:nvSpPr>
        <p:spPr>
          <a:xfrm>
            <a:off x="228600" y="762000"/>
            <a:ext cx="8763000" cy="6096000"/>
          </a:xfrm>
        </p:spPr>
        <p:txBody>
          <a:bodyPr/>
          <a:lstStyle/>
          <a:p>
            <a:pPr algn="just" eaLnBrk="1" hangingPunct="1"/>
            <a:r>
              <a:rPr lang="en-US" altLang="en-US" sz="2800">
                <a:latin typeface="Times New Roman" panose="02020603050405020304" pitchFamily="18" charset="0"/>
                <a:cs typeface="Times New Roman" panose="02020603050405020304" pitchFamily="18" charset="0"/>
              </a:rPr>
              <a:t>The normal human adult is in nitrogen balance; that is, the amount of nitrogen ingested each day, mainly in the form of dietary protein, is equal to the amount of nitrogen excreted. </a:t>
            </a:r>
          </a:p>
          <a:p>
            <a:pPr algn="just" eaLnBrk="1" hangingPunct="1"/>
            <a:r>
              <a:rPr lang="en-US" altLang="en-US" sz="2800">
                <a:latin typeface="Times New Roman" panose="02020603050405020304" pitchFamily="18" charset="0"/>
                <a:cs typeface="Times New Roman" panose="02020603050405020304" pitchFamily="18" charset="0"/>
              </a:rPr>
              <a:t>The major nitrogenous excretory product is urea, which exits from the body in the urine. </a:t>
            </a:r>
          </a:p>
          <a:p>
            <a:pPr algn="just" eaLnBrk="1" hangingPunct="1"/>
            <a:r>
              <a:rPr lang="en-US" altLang="en-US" sz="2800">
                <a:latin typeface="Times New Roman" panose="02020603050405020304" pitchFamily="18" charset="0"/>
                <a:cs typeface="Times New Roman" panose="02020603050405020304" pitchFamily="18" charset="0"/>
              </a:rPr>
              <a:t>This innocuous compound, produced mainly in the liver by the urea cycle, serves as the disposal form of ammonia, which is toxic, particularly to the central nervous system. </a:t>
            </a:r>
          </a:p>
          <a:p>
            <a:pPr algn="just" eaLnBrk="1" hangingPunct="1"/>
            <a:r>
              <a:rPr lang="en-US" altLang="en-US" sz="2800">
                <a:latin typeface="Times New Roman" panose="02020603050405020304" pitchFamily="18" charset="0"/>
                <a:cs typeface="Times New Roman" panose="02020603050405020304" pitchFamily="18" charset="0"/>
              </a:rPr>
              <a:t>Normally, little ammonia (or NH</a:t>
            </a:r>
            <a:r>
              <a:rPr lang="en-US" altLang="en-US" sz="2800" baseline="-25000">
                <a:latin typeface="Times New Roman" panose="02020603050405020304" pitchFamily="18" charset="0"/>
                <a:cs typeface="Times New Roman" panose="02020603050405020304" pitchFamily="18" charset="0"/>
              </a:rPr>
              <a:t>4</a:t>
            </a:r>
            <a:r>
              <a:rPr lang="en-US" altLang="en-US" sz="2800" baseline="30000">
                <a:latin typeface="Times New Roman" panose="02020603050405020304" pitchFamily="18" charset="0"/>
                <a:cs typeface="Times New Roman" panose="02020603050405020304" pitchFamily="18" charset="0"/>
              </a:rPr>
              <a:t>+</a:t>
            </a:r>
            <a:r>
              <a:rPr lang="en-US" altLang="en-US" sz="2800">
                <a:latin typeface="Times New Roman" panose="02020603050405020304" pitchFamily="18" charset="0"/>
                <a:cs typeface="Times New Roman" panose="02020603050405020304" pitchFamily="18" charset="0"/>
              </a:rPr>
              <a:t>) is present in the blood. </a:t>
            </a:r>
          </a:p>
          <a:p>
            <a:pPr eaLnBrk="1" hangingPunct="1"/>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xmlns="" id="{1D17C223-0D5C-BC79-6235-BACCC093160F}"/>
              </a:ext>
            </a:extLst>
          </p:cNvPr>
          <p:cNvSpPr>
            <a:spLocks noGrp="1"/>
          </p:cNvSpPr>
          <p:nvPr>
            <p:ph type="title"/>
          </p:nvPr>
        </p:nvSpPr>
        <p:spPr>
          <a:xfrm>
            <a:off x="0" y="0"/>
            <a:ext cx="9144000" cy="838200"/>
          </a:xfrm>
        </p:spPr>
        <p:txBody>
          <a:bodyPr/>
          <a:lstStyle/>
          <a:p>
            <a:pPr eaLnBrk="1" hangingPunct="1"/>
            <a:r>
              <a:rPr lang="en-US" altLang="en-US">
                <a:ln>
                  <a:noFill/>
                </a:ln>
                <a:solidFill>
                  <a:srgbClr val="FF0000"/>
                </a:solidFill>
                <a:latin typeface="Times New Roman" panose="02020603050405020304" pitchFamily="18" charset="0"/>
                <a:cs typeface="Times New Roman" panose="02020603050405020304" pitchFamily="18" charset="0"/>
              </a:rPr>
              <a:t>CONT’</a:t>
            </a:r>
          </a:p>
        </p:txBody>
      </p:sp>
      <p:sp>
        <p:nvSpPr>
          <p:cNvPr id="66563" name="Content Placeholder 2">
            <a:extLst>
              <a:ext uri="{FF2B5EF4-FFF2-40B4-BE49-F238E27FC236}">
                <a16:creationId xmlns:a16="http://schemas.microsoft.com/office/drawing/2014/main" xmlns="" id="{7BD18DDF-90BD-49C2-F0B1-1CFB5195BCEF}"/>
              </a:ext>
            </a:extLst>
          </p:cNvPr>
          <p:cNvSpPr>
            <a:spLocks noGrp="1"/>
          </p:cNvSpPr>
          <p:nvPr>
            <p:ph idx="1"/>
          </p:nvPr>
        </p:nvSpPr>
        <p:spPr>
          <a:xfrm>
            <a:off x="304800" y="685800"/>
            <a:ext cx="8610600" cy="6172200"/>
          </a:xfrm>
        </p:spPr>
        <p:txBody>
          <a:bodyPr/>
          <a:lstStyle/>
          <a:p>
            <a:pPr algn="just" eaLnBrk="1" hangingPunct="1"/>
            <a:r>
              <a:rPr lang="en-US" altLang="en-US" sz="2800">
                <a:latin typeface="Times New Roman" panose="02020603050405020304" pitchFamily="18" charset="0"/>
                <a:cs typeface="Times New Roman" panose="02020603050405020304" pitchFamily="18" charset="0"/>
              </a:rPr>
              <a:t>Ammonia is rapidly removed from the blood and converted to urea by the liver. </a:t>
            </a:r>
          </a:p>
          <a:p>
            <a:pPr algn="just" eaLnBrk="1" hangingPunct="1"/>
            <a:r>
              <a:rPr lang="en-US" altLang="en-US" sz="2800">
                <a:latin typeface="Times New Roman" panose="02020603050405020304" pitchFamily="18" charset="0"/>
                <a:cs typeface="Times New Roman" panose="02020603050405020304" pitchFamily="18" charset="0"/>
              </a:rPr>
              <a:t>Nitrogen travels in the blood mainly in amino acids, particularly alanine and glutamine.</a:t>
            </a:r>
          </a:p>
          <a:p>
            <a:pPr algn="just" eaLnBrk="1" hangingPunct="1"/>
            <a:r>
              <a:rPr lang="en-US" altLang="en-US" sz="2800">
                <a:latin typeface="Times New Roman" panose="02020603050405020304" pitchFamily="18" charset="0"/>
                <a:cs typeface="Times New Roman" panose="02020603050405020304" pitchFamily="18" charset="0"/>
              </a:rPr>
              <a:t>In summary the urea cycle occurs thus: Nitrogen enters the urea cycle as NH</a:t>
            </a:r>
            <a:r>
              <a:rPr lang="en-US" altLang="en-US" sz="2800" baseline="-25000">
                <a:latin typeface="Times New Roman" panose="02020603050405020304" pitchFamily="18" charset="0"/>
                <a:cs typeface="Times New Roman" panose="02020603050405020304" pitchFamily="18" charset="0"/>
              </a:rPr>
              <a:t>4</a:t>
            </a:r>
            <a:r>
              <a:rPr lang="en-US" altLang="en-US" sz="2800" baseline="30000">
                <a:latin typeface="Times New Roman" panose="02020603050405020304" pitchFamily="18" charset="0"/>
                <a:cs typeface="Times New Roman" panose="02020603050405020304" pitchFamily="18" charset="0"/>
              </a:rPr>
              <a:t>+</a:t>
            </a:r>
            <a:r>
              <a:rPr lang="en-US" altLang="en-US" sz="2800">
                <a:latin typeface="Times New Roman" panose="02020603050405020304" pitchFamily="18" charset="0"/>
                <a:cs typeface="Times New Roman" panose="02020603050405020304" pitchFamily="18" charset="0"/>
              </a:rPr>
              <a:t> and aspartate. </a:t>
            </a:r>
          </a:p>
          <a:p>
            <a:pPr algn="just" eaLnBrk="1" hangingPunct="1"/>
            <a:r>
              <a:rPr lang="en-US" altLang="en-US" sz="2800">
                <a:latin typeface="Times New Roman" panose="02020603050405020304" pitchFamily="18" charset="0"/>
                <a:cs typeface="Times New Roman" panose="02020603050405020304" pitchFamily="18" charset="0"/>
              </a:rPr>
              <a:t>NH</a:t>
            </a:r>
            <a:r>
              <a:rPr lang="en-US" altLang="en-US" sz="2800" baseline="-25000">
                <a:latin typeface="Times New Roman" panose="02020603050405020304" pitchFamily="18" charset="0"/>
                <a:cs typeface="Times New Roman" panose="02020603050405020304" pitchFamily="18" charset="0"/>
              </a:rPr>
              <a:t>4</a:t>
            </a:r>
            <a:r>
              <a:rPr lang="en-US" altLang="en-US" sz="2800" baseline="30000">
                <a:latin typeface="Times New Roman" panose="02020603050405020304" pitchFamily="18" charset="0"/>
                <a:cs typeface="Times New Roman" panose="02020603050405020304" pitchFamily="18" charset="0"/>
              </a:rPr>
              <a:t>+</a:t>
            </a:r>
            <a:r>
              <a:rPr lang="en-US" altLang="en-US" sz="2800">
                <a:latin typeface="Times New Roman" panose="02020603050405020304" pitchFamily="18" charset="0"/>
                <a:cs typeface="Times New Roman" panose="02020603050405020304" pitchFamily="18" charset="0"/>
              </a:rPr>
              <a:t> forms carbamoyl phosphate, which reacts with ornithine to form citrulline. </a:t>
            </a:r>
          </a:p>
          <a:p>
            <a:pPr algn="just" eaLnBrk="1" hangingPunct="1"/>
            <a:r>
              <a:rPr lang="en-US" altLang="en-US" sz="2800">
                <a:latin typeface="Times New Roman" panose="02020603050405020304" pitchFamily="18" charset="0"/>
                <a:cs typeface="Times New Roman" panose="02020603050405020304" pitchFamily="18" charset="0"/>
              </a:rPr>
              <a:t>Ornithine is the compound that both initiates and is regenerated by the cycle, similar to oxaloacetate in the tricarboxylic acid (TCA) cycle.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xmlns="" id="{6D37F6D9-F46E-8AA0-1641-A16DA174BD79}"/>
              </a:ext>
            </a:extLst>
          </p:cNvPr>
          <p:cNvSpPr>
            <a:spLocks noGrp="1"/>
          </p:cNvSpPr>
          <p:nvPr>
            <p:ph type="title"/>
          </p:nvPr>
        </p:nvSpPr>
        <p:spPr>
          <a:xfrm>
            <a:off x="228600" y="228600"/>
            <a:ext cx="8763000" cy="838200"/>
          </a:xfrm>
        </p:spPr>
        <p:txBody>
          <a:bodyPr/>
          <a:lstStyle/>
          <a:p>
            <a:pPr eaLnBrk="1" hangingPunct="1"/>
            <a:r>
              <a:rPr lang="en-US" altLang="en-US">
                <a:ln>
                  <a:noFill/>
                </a:ln>
                <a:solidFill>
                  <a:srgbClr val="FF0000"/>
                </a:solidFill>
              </a:rPr>
              <a:t>CONT’</a:t>
            </a:r>
          </a:p>
        </p:txBody>
      </p:sp>
      <p:sp>
        <p:nvSpPr>
          <p:cNvPr id="67587" name="Content Placeholder 2">
            <a:extLst>
              <a:ext uri="{FF2B5EF4-FFF2-40B4-BE49-F238E27FC236}">
                <a16:creationId xmlns:a16="http://schemas.microsoft.com/office/drawing/2014/main" xmlns="" id="{D7A21C6B-550E-B2D8-78B8-4BD81B4F2D5E}"/>
              </a:ext>
            </a:extLst>
          </p:cNvPr>
          <p:cNvSpPr>
            <a:spLocks noGrp="1"/>
          </p:cNvSpPr>
          <p:nvPr>
            <p:ph idx="1"/>
          </p:nvPr>
        </p:nvSpPr>
        <p:spPr>
          <a:xfrm>
            <a:off x="304800" y="990600"/>
            <a:ext cx="8458200" cy="5715000"/>
          </a:xfrm>
        </p:spPr>
        <p:txBody>
          <a:bodyPr/>
          <a:lstStyle/>
          <a:p>
            <a:pPr algn="just" eaLnBrk="1" hangingPunct="1"/>
            <a:r>
              <a:rPr lang="en-US" altLang="en-US">
                <a:latin typeface="Times New Roman" panose="02020603050405020304" pitchFamily="18" charset="0"/>
                <a:cs typeface="Times New Roman" panose="02020603050405020304" pitchFamily="18" charset="0"/>
              </a:rPr>
              <a:t>Aspartate reacts with citrulline, eventually donating its nitrogen for urea formation. </a:t>
            </a:r>
          </a:p>
          <a:p>
            <a:pPr algn="just" eaLnBrk="1" hangingPunct="1"/>
            <a:r>
              <a:rPr lang="en-US" altLang="en-US">
                <a:latin typeface="Times New Roman" panose="02020603050405020304" pitchFamily="18" charset="0"/>
                <a:cs typeface="Times New Roman" panose="02020603050405020304" pitchFamily="18" charset="0"/>
              </a:rPr>
              <a:t>Arginine is formed in two successive steps. </a:t>
            </a:r>
          </a:p>
          <a:p>
            <a:pPr algn="just" eaLnBrk="1" hangingPunct="1"/>
            <a:r>
              <a:rPr lang="en-US" altLang="en-US">
                <a:latin typeface="Times New Roman" panose="02020603050405020304" pitchFamily="18" charset="0"/>
                <a:cs typeface="Times New Roman" panose="02020603050405020304" pitchFamily="18" charset="0"/>
              </a:rPr>
              <a:t>Cleavage of arginine by arginase releases urea and regenerates ornithine</a:t>
            </a:r>
          </a:p>
          <a:p>
            <a:pPr eaLnBrk="1" hangingPunct="1"/>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8610" name="Picture 1" descr="http://www.vetunited.com/vb/uploaded/281_11300173618.jpg">
            <a:extLst>
              <a:ext uri="{FF2B5EF4-FFF2-40B4-BE49-F238E27FC236}">
                <a16:creationId xmlns:a16="http://schemas.microsoft.com/office/drawing/2014/main" xmlns="" id="{D4F5FD54-A152-A13F-C316-58320DCDA006}"/>
              </a:ext>
            </a:extLst>
          </p:cNvPr>
          <p:cNvPicPr>
            <a:picLocks noChangeAspect="1" noChangeArrowheads="1"/>
          </p:cNvPicPr>
          <p:nvPr/>
        </p:nvPicPr>
        <p:blipFill>
          <a:blip r:embed="rId2">
            <a:lum contrast="20000"/>
            <a:grayscl/>
            <a:extLst>
              <a:ext uri="{28A0092B-C50C-407E-A947-70E740481C1C}">
                <a14:useLocalDpi xmlns:a14="http://schemas.microsoft.com/office/drawing/2010/main" val="0"/>
              </a:ext>
            </a:extLst>
          </a:blip>
          <a:srcRect/>
          <a:stretch>
            <a:fillRect/>
          </a:stretch>
        </p:blipFill>
        <p:spPr bwMode="auto">
          <a:xfrm>
            <a:off x="381000" y="0"/>
            <a:ext cx="8458200" cy="670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1" name="Rectangle 2">
            <a:extLst>
              <a:ext uri="{FF2B5EF4-FFF2-40B4-BE49-F238E27FC236}">
                <a16:creationId xmlns:a16="http://schemas.microsoft.com/office/drawing/2014/main" xmlns="" id="{D4D56D0F-5AD7-9888-BDC5-0E8F31A2D26D}"/>
              </a:ext>
            </a:extLst>
          </p:cNvPr>
          <p:cNvSpPr>
            <a:spLocks noChangeArrowheads="1"/>
          </p:cNvSpPr>
          <p:nvPr/>
        </p:nvSpPr>
        <p:spPr bwMode="auto">
          <a:xfrm>
            <a:off x="3678238" y="0"/>
            <a:ext cx="22653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b="1">
                <a:solidFill>
                  <a:srgbClr val="FF0000"/>
                </a:solidFill>
              </a:rPr>
              <a:t>The Urea Cycle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xmlns="" id="{D9EE4AA4-697E-0B19-372C-2E02050C8E0B}"/>
              </a:ext>
            </a:extLst>
          </p:cNvPr>
          <p:cNvSpPr>
            <a:spLocks noGrp="1"/>
          </p:cNvSpPr>
          <p:nvPr>
            <p:ph type="title"/>
          </p:nvPr>
        </p:nvSpPr>
        <p:spPr>
          <a:xfrm>
            <a:off x="152400" y="0"/>
            <a:ext cx="8991600" cy="762000"/>
          </a:xfrm>
        </p:spPr>
        <p:txBody>
          <a:bodyPr/>
          <a:lstStyle/>
          <a:p>
            <a:pPr eaLnBrk="1" hangingPunct="1"/>
            <a:r>
              <a:rPr lang="en-US" altLang="en-US" b="1">
                <a:ln>
                  <a:noFill/>
                </a:ln>
              </a:rPr>
              <a:t/>
            </a:r>
            <a:br>
              <a:rPr lang="en-US" altLang="en-US" b="1">
                <a:ln>
                  <a:noFill/>
                </a:ln>
              </a:rPr>
            </a:br>
            <a:r>
              <a:rPr lang="en-US" altLang="en-US" b="1">
                <a:ln>
                  <a:noFill/>
                </a:ln>
                <a:solidFill>
                  <a:srgbClr val="FF0000"/>
                </a:solidFill>
                <a:latin typeface="Times New Roman" panose="02020603050405020304" pitchFamily="18" charset="0"/>
                <a:cs typeface="Times New Roman" panose="02020603050405020304" pitchFamily="18" charset="0"/>
              </a:rPr>
              <a:t>Reactions of the urea cycle</a:t>
            </a:r>
            <a:r>
              <a:rPr lang="en-US" altLang="en-US">
                <a:ln>
                  <a:noFill/>
                </a:ln>
                <a:solidFill>
                  <a:srgbClr val="FF0000"/>
                </a:solidFill>
                <a:latin typeface="Times New Roman" panose="02020603050405020304" pitchFamily="18" charset="0"/>
                <a:cs typeface="Times New Roman" panose="02020603050405020304" pitchFamily="18" charset="0"/>
              </a:rPr>
              <a:t/>
            </a:r>
            <a:br>
              <a:rPr lang="en-US" altLang="en-US">
                <a:ln>
                  <a:noFill/>
                </a:ln>
                <a:solidFill>
                  <a:srgbClr val="FF0000"/>
                </a:solidFill>
                <a:latin typeface="Times New Roman" panose="02020603050405020304" pitchFamily="18" charset="0"/>
                <a:cs typeface="Times New Roman" panose="02020603050405020304" pitchFamily="18" charset="0"/>
              </a:rPr>
            </a:br>
            <a:endParaRPr lang="en-US" altLang="en-US">
              <a:ln>
                <a:noFill/>
              </a:ln>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64894548-BEC2-4683-FFA2-91D0D56C0395}"/>
              </a:ext>
            </a:extLst>
          </p:cNvPr>
          <p:cNvSpPr>
            <a:spLocks noGrp="1"/>
          </p:cNvSpPr>
          <p:nvPr>
            <p:ph idx="1"/>
          </p:nvPr>
        </p:nvSpPr>
        <p:spPr>
          <a:xfrm>
            <a:off x="228600" y="838200"/>
            <a:ext cx="8686800" cy="5867400"/>
          </a:xfrm>
        </p:spPr>
        <p:txBody>
          <a:bodyPr/>
          <a:lstStyle/>
          <a:p>
            <a:pPr marL="514350" indent="-514350" eaLnBrk="1" hangingPunct="1">
              <a:buFont typeface="Arial" charset="0"/>
              <a:buAutoNum type="arabicPeriod"/>
              <a:defRPr/>
            </a:pPr>
            <a:r>
              <a:rPr lang="en-US" sz="2800" b="1" dirty="0"/>
              <a:t>Synthesis of </a:t>
            </a:r>
            <a:r>
              <a:rPr lang="en-US" sz="2800" b="1" dirty="0" err="1"/>
              <a:t>Carbamoyl</a:t>
            </a:r>
            <a:r>
              <a:rPr lang="en-US" sz="2800" b="1" dirty="0"/>
              <a:t> Phosphate</a:t>
            </a:r>
          </a:p>
          <a:p>
            <a:pPr marL="514350" indent="-514350" eaLnBrk="1" hangingPunct="1">
              <a:buFont typeface="Wingdings" pitchFamily="2" charset="2"/>
              <a:buChar char="q"/>
              <a:defRPr/>
            </a:pPr>
            <a:r>
              <a:rPr lang="en-US" sz="2800" dirty="0"/>
              <a:t>In the first step of the urea cycle, NH</a:t>
            </a:r>
            <a:r>
              <a:rPr lang="en-US" sz="2800" baseline="-25000" dirty="0"/>
              <a:t>4</a:t>
            </a:r>
            <a:r>
              <a:rPr lang="en-US" sz="2800" baseline="30000" dirty="0"/>
              <a:t>+</a:t>
            </a:r>
            <a:r>
              <a:rPr lang="en-US" sz="2800" dirty="0"/>
              <a:t>, bicarbonate, and ATP react to form </a:t>
            </a:r>
            <a:r>
              <a:rPr lang="en-US" sz="2800" dirty="0" err="1"/>
              <a:t>carbamoyl</a:t>
            </a:r>
            <a:r>
              <a:rPr lang="en-US" sz="2800" dirty="0"/>
              <a:t> phosphate. </a:t>
            </a:r>
          </a:p>
          <a:p>
            <a:pPr marL="514350" indent="-514350" eaLnBrk="1" hangingPunct="1">
              <a:buFont typeface="Wingdings" pitchFamily="2" charset="2"/>
              <a:buChar char="q"/>
              <a:defRPr/>
            </a:pPr>
            <a:r>
              <a:rPr lang="en-US" sz="2800" dirty="0"/>
              <a:t>The cleavage of two ATPs is required to form the high-energy phosphate bond of </a:t>
            </a:r>
            <a:r>
              <a:rPr lang="en-US" sz="2800" dirty="0" err="1"/>
              <a:t>carbamoyl</a:t>
            </a:r>
            <a:r>
              <a:rPr lang="en-US" sz="2800" dirty="0"/>
              <a:t> phosphate.</a:t>
            </a:r>
          </a:p>
          <a:p>
            <a:pPr marL="514350" indent="-514350" eaLnBrk="1" hangingPunct="1">
              <a:buFont typeface="Wingdings" pitchFamily="2" charset="2"/>
              <a:buChar char="q"/>
              <a:defRPr/>
            </a:pPr>
            <a:r>
              <a:rPr lang="en-US" sz="2800" dirty="0" err="1"/>
              <a:t>Carbamoyl</a:t>
            </a:r>
            <a:r>
              <a:rPr lang="en-US" sz="2800" dirty="0"/>
              <a:t> phosphate </a:t>
            </a:r>
            <a:r>
              <a:rPr lang="en-US" sz="2800" dirty="0" err="1"/>
              <a:t>synthetase</a:t>
            </a:r>
            <a:r>
              <a:rPr lang="en-US" sz="2800" dirty="0"/>
              <a:t> I (CPSI), the enzyme that catalyzes this first step of the urea cycle, is found mainly in mitochondria of the liver and intestine.</a:t>
            </a:r>
          </a:p>
          <a:p>
            <a:pPr eaLnBrk="1" hangingPunct="1">
              <a:buFont typeface="Arial" charset="0"/>
              <a:buChar char="•"/>
              <a:defRPr/>
            </a:pPr>
            <a:r>
              <a:rPr lang="en-US" b="1" dirty="0"/>
              <a:t> </a:t>
            </a:r>
            <a:endParaRPr lang="en-US" dirty="0"/>
          </a:p>
          <a:p>
            <a:pPr eaLnBrk="1" hangingPunct="1">
              <a:buFont typeface="Arial" charset="0"/>
              <a:buChar char="•"/>
              <a:defRPr/>
            </a:pP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xmlns="" id="{1BEC98F1-1CF2-EDB7-AD1C-B0DE235AF2B7}"/>
              </a:ext>
            </a:extLst>
          </p:cNvPr>
          <p:cNvSpPr>
            <a:spLocks noGrp="1"/>
          </p:cNvSpPr>
          <p:nvPr>
            <p:ph type="title"/>
          </p:nvPr>
        </p:nvSpPr>
        <p:spPr>
          <a:xfrm>
            <a:off x="228600" y="0"/>
            <a:ext cx="8915400" cy="762000"/>
          </a:xfrm>
        </p:spPr>
        <p:txBody>
          <a:bodyPr/>
          <a:lstStyle/>
          <a:p>
            <a:pPr eaLnBrk="1" hangingPunct="1"/>
            <a:r>
              <a:rPr lang="en-US" altLang="en-US">
                <a:ln>
                  <a:noFill/>
                </a:ln>
                <a:solidFill>
                  <a:srgbClr val="FF0000"/>
                </a:solidFill>
                <a:latin typeface="Times New Roman" panose="02020603050405020304" pitchFamily="18" charset="0"/>
                <a:cs typeface="Times New Roman" panose="02020603050405020304" pitchFamily="18" charset="0"/>
              </a:rPr>
              <a:t>CONT’</a:t>
            </a:r>
          </a:p>
        </p:txBody>
      </p:sp>
      <p:sp>
        <p:nvSpPr>
          <p:cNvPr id="70659" name="Content Placeholder 2">
            <a:extLst>
              <a:ext uri="{FF2B5EF4-FFF2-40B4-BE49-F238E27FC236}">
                <a16:creationId xmlns:a16="http://schemas.microsoft.com/office/drawing/2014/main" xmlns="" id="{583F0A94-D7B3-AE97-AE1D-CE15A1F29D74}"/>
              </a:ext>
            </a:extLst>
          </p:cNvPr>
          <p:cNvSpPr>
            <a:spLocks noGrp="1"/>
          </p:cNvSpPr>
          <p:nvPr>
            <p:ph idx="1"/>
          </p:nvPr>
        </p:nvSpPr>
        <p:spPr>
          <a:xfrm>
            <a:off x="228600" y="609600"/>
            <a:ext cx="8763000" cy="6096000"/>
          </a:xfrm>
        </p:spPr>
        <p:txBody>
          <a:bodyPr/>
          <a:lstStyle/>
          <a:p>
            <a:pPr eaLnBrk="1" hangingPunct="1">
              <a:buFont typeface="Arial" panose="020B0604020202020204" pitchFamily="34" charset="0"/>
              <a:buNone/>
            </a:pPr>
            <a:r>
              <a:rPr lang="en-US" altLang="en-US" b="1"/>
              <a:t>2. Production of Arginine by the Urea Cycle</a:t>
            </a:r>
            <a:r>
              <a:rPr lang="en-US" altLang="en-US"/>
              <a:t> </a:t>
            </a:r>
          </a:p>
          <a:p>
            <a:pPr eaLnBrk="1" hangingPunct="1">
              <a:buFont typeface="Wingdings" panose="05000000000000000000" pitchFamily="2" charset="2"/>
              <a:buChar char="q"/>
            </a:pPr>
            <a:r>
              <a:rPr lang="en-US" altLang="en-US"/>
              <a:t>Carbamoyl phosphate reacts with ornithine to form citrulline. </a:t>
            </a:r>
          </a:p>
          <a:p>
            <a:pPr eaLnBrk="1" hangingPunct="1">
              <a:buFont typeface="Wingdings" panose="05000000000000000000" pitchFamily="2" charset="2"/>
              <a:buChar char="q"/>
            </a:pPr>
            <a:r>
              <a:rPr lang="en-US" altLang="en-US"/>
              <a:t>The high-energy phosphate bond of carbamoyl phosphate provides the energy required for this reaction, which occurs in mitochondria and is catalyzed by ornithine transcarbamoylase. </a:t>
            </a:r>
          </a:p>
          <a:p>
            <a:pPr eaLnBrk="1" hangingPunct="1">
              <a:buFont typeface="Wingdings" panose="05000000000000000000" pitchFamily="2" charset="2"/>
              <a:buChar char="q"/>
            </a:pPr>
            <a:r>
              <a:rPr lang="en-US" altLang="en-US"/>
              <a:t>The product, citrulline, is transported across the mitochondrial membranes in exchange for cytoplasmic ornithine and enters the cytosol. </a:t>
            </a:r>
          </a:p>
          <a:p>
            <a:pPr eaLnBrk="1" hangingPunct="1">
              <a:buFont typeface="Wingdings" panose="05000000000000000000" pitchFamily="2" charset="2"/>
              <a:buChar char="q"/>
            </a:pPr>
            <a:r>
              <a:rPr lang="en-US" altLang="en-US"/>
              <a:t>In the cytosol, citrulline reacts with aspartate, the second source of nitrogen for urea synthesis, to produce argininosuccinate. </a:t>
            </a:r>
          </a:p>
          <a:p>
            <a:pPr eaLnBrk="1" hangingPunct="1">
              <a:buFont typeface="Wingdings" panose="05000000000000000000" pitchFamily="2" charset="2"/>
              <a:buChar char="q"/>
            </a:pPr>
            <a:r>
              <a:rPr lang="en-US" altLang="en-US"/>
              <a:t>This reaction, catalyzed by argininosuccinate synthetase, is driven by the hydrolysis of ATP to adenosine monophosphate (AMP) and pyrophosphate.</a:t>
            </a:r>
          </a:p>
          <a:p>
            <a:pPr eaLnBrk="1" hangingPunct="1">
              <a:buFont typeface="Wingdings" panose="05000000000000000000" pitchFamily="2" charset="2"/>
              <a:buChar char="q"/>
            </a:pPr>
            <a:r>
              <a:rPr lang="en-US" altLang="en-US"/>
              <a:t> Aspartate is produced by transamination of oxaloacetate.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xmlns="" id="{63B70073-05E9-EF40-94BD-709CE5411D20}"/>
              </a:ext>
            </a:extLst>
          </p:cNvPr>
          <p:cNvSpPr>
            <a:spLocks noGrp="1"/>
          </p:cNvSpPr>
          <p:nvPr>
            <p:ph type="title"/>
          </p:nvPr>
        </p:nvSpPr>
        <p:spPr>
          <a:xfrm>
            <a:off x="152400" y="0"/>
            <a:ext cx="8991600" cy="533400"/>
          </a:xfrm>
        </p:spPr>
        <p:txBody>
          <a:bodyPr/>
          <a:lstStyle/>
          <a:p>
            <a:pPr eaLnBrk="1" hangingPunct="1"/>
            <a:r>
              <a:rPr lang="en-US" altLang="en-US">
                <a:ln>
                  <a:noFill/>
                </a:ln>
              </a:rPr>
              <a:t>CONT’</a:t>
            </a:r>
          </a:p>
        </p:txBody>
      </p:sp>
      <p:sp>
        <p:nvSpPr>
          <p:cNvPr id="71683" name="Content Placeholder 2">
            <a:extLst>
              <a:ext uri="{FF2B5EF4-FFF2-40B4-BE49-F238E27FC236}">
                <a16:creationId xmlns:a16="http://schemas.microsoft.com/office/drawing/2014/main" xmlns="" id="{4F6C30F9-EB98-5C02-A284-5CBB33FA1C51}"/>
              </a:ext>
            </a:extLst>
          </p:cNvPr>
          <p:cNvSpPr>
            <a:spLocks noGrp="1"/>
          </p:cNvSpPr>
          <p:nvPr>
            <p:ph idx="1"/>
          </p:nvPr>
        </p:nvSpPr>
        <p:spPr>
          <a:xfrm>
            <a:off x="152400" y="533400"/>
            <a:ext cx="8839200" cy="6324600"/>
          </a:xfrm>
        </p:spPr>
        <p:txBody>
          <a:bodyPr/>
          <a:lstStyle/>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Argininosuccinate is in turn cleaved by argininosuccinate lyase to form fumarate and arginine. </a:t>
            </a:r>
          </a:p>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Fumarate is produced from the carbons of argininosuccinate provided by aspartate. </a:t>
            </a:r>
          </a:p>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Fumarate is converted to malate (using cytoplasmic fumarase), which is used either for the synthesis of glucose by the gluconeogenic pathway or for the regeneration of oxaloacetate by cytoplasmic reactions similar to those observed in the TCA cycle. </a:t>
            </a:r>
          </a:p>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The oxaloacetate that is formed is transaminated to generate the aspartate that carries nitrogen into the urea cycle. Thus, the carbons of fumarate can be recycled to aspartate.</a:t>
            </a:r>
          </a:p>
          <a:p>
            <a:pPr algn="just" eaLnBrk="1" hangingPunct="1"/>
            <a:r>
              <a:rPr lang="en-US" altLang="en-US" sz="2800">
                <a:latin typeface="Times New Roman" panose="02020603050405020304" pitchFamily="18" charset="0"/>
                <a:cs typeface="Times New Roman" panose="02020603050405020304" pitchFamily="18" charset="0"/>
              </a:rPr>
              <a:t> </a:t>
            </a:r>
          </a:p>
          <a:p>
            <a:pPr algn="just" eaLnBrk="1" hangingPunct="1"/>
            <a:endParaRPr lang="en-US" altLang="en-US" sz="2800">
              <a:latin typeface="Times New Roman" panose="02020603050405020304" pitchFamily="18" charset="0"/>
              <a:cs typeface="Times New Roman" panose="02020603050405020304" pitchFamily="18" charset="0"/>
            </a:endParaRPr>
          </a:p>
          <a:p>
            <a:pPr algn="just" eaLnBrk="1" hangingPunct="1"/>
            <a:endParaRPr lang="en-US"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xmlns="" id="{7409CC5A-F695-A6BD-D461-67E3154856D0}"/>
              </a:ext>
            </a:extLst>
          </p:cNvPr>
          <p:cNvSpPr>
            <a:spLocks noGrp="1"/>
          </p:cNvSpPr>
          <p:nvPr>
            <p:ph type="title"/>
          </p:nvPr>
        </p:nvSpPr>
        <p:spPr>
          <a:xfrm>
            <a:off x="152400" y="152400"/>
            <a:ext cx="8839200" cy="381000"/>
          </a:xfrm>
        </p:spPr>
        <p:txBody>
          <a:bodyPr/>
          <a:lstStyle/>
          <a:p>
            <a:pPr eaLnBrk="1" hangingPunct="1"/>
            <a:r>
              <a:rPr lang="en-US" altLang="en-US">
                <a:ln>
                  <a:noFill/>
                </a:ln>
              </a:rPr>
              <a:t>CONT,</a:t>
            </a:r>
          </a:p>
        </p:txBody>
      </p:sp>
      <p:sp>
        <p:nvSpPr>
          <p:cNvPr id="72707" name="Content Placeholder 2">
            <a:extLst>
              <a:ext uri="{FF2B5EF4-FFF2-40B4-BE49-F238E27FC236}">
                <a16:creationId xmlns:a16="http://schemas.microsoft.com/office/drawing/2014/main" xmlns="" id="{E2C018AF-34A8-F509-D4CD-4F543CF4B0CA}"/>
              </a:ext>
            </a:extLst>
          </p:cNvPr>
          <p:cNvSpPr>
            <a:spLocks noGrp="1"/>
          </p:cNvSpPr>
          <p:nvPr>
            <p:ph idx="1"/>
          </p:nvPr>
        </p:nvSpPr>
        <p:spPr>
          <a:xfrm>
            <a:off x="228600" y="533400"/>
            <a:ext cx="8610600" cy="6096000"/>
          </a:xfrm>
        </p:spPr>
        <p:txBody>
          <a:bodyPr/>
          <a:lstStyle/>
          <a:p>
            <a:pPr eaLnBrk="1" hangingPunct="1">
              <a:buFont typeface="Arial" panose="020B0604020202020204" pitchFamily="34" charset="0"/>
              <a:buNone/>
            </a:pPr>
            <a:r>
              <a:rPr lang="en-US" altLang="en-US" b="1"/>
              <a:t>3</a:t>
            </a:r>
            <a:r>
              <a:rPr lang="en-US" altLang="en-US" sz="2800" b="1">
                <a:latin typeface="Times New Roman" panose="02020603050405020304" pitchFamily="18" charset="0"/>
                <a:cs typeface="Times New Roman" panose="02020603050405020304" pitchFamily="18" charset="0"/>
              </a:rPr>
              <a:t>. Cleavage of Arginine to Produce Urea</a:t>
            </a:r>
            <a:endParaRPr lang="en-US" altLang="en-US" sz="280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Arginine, which contains nitrogens derived from NH</a:t>
            </a:r>
            <a:r>
              <a:rPr lang="en-US" altLang="en-US" sz="2800" baseline="-25000">
                <a:latin typeface="Times New Roman" panose="02020603050405020304" pitchFamily="18" charset="0"/>
                <a:cs typeface="Times New Roman" panose="02020603050405020304" pitchFamily="18" charset="0"/>
              </a:rPr>
              <a:t>4</a:t>
            </a:r>
            <a:r>
              <a:rPr lang="en-US" altLang="en-US" sz="2800" baseline="30000">
                <a:latin typeface="Times New Roman" panose="02020603050405020304" pitchFamily="18" charset="0"/>
                <a:cs typeface="Times New Roman" panose="02020603050405020304" pitchFamily="18" charset="0"/>
              </a:rPr>
              <a:t>+</a:t>
            </a:r>
            <a:r>
              <a:rPr lang="en-US" altLang="en-US" sz="2800">
                <a:latin typeface="Times New Roman" panose="02020603050405020304" pitchFamily="18" charset="0"/>
                <a:cs typeface="Times New Roman" panose="02020603050405020304" pitchFamily="18" charset="0"/>
              </a:rPr>
              <a:t> and aspartate, is cleaved by arginase, producing urea and regenerating ornithine. </a:t>
            </a:r>
          </a:p>
          <a:p>
            <a:pPr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Urea is produced from the guanidinium group on the side chain of arginine. </a:t>
            </a:r>
          </a:p>
          <a:p>
            <a:pPr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The portion of arginine originally derived from ornithine is reconverted to ornithine. </a:t>
            </a:r>
          </a:p>
          <a:p>
            <a:pPr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The reactions by which citrulline is converted to arginine and arginine is cleaved to produce urea occur in the cytosol.</a:t>
            </a:r>
          </a:p>
          <a:p>
            <a:pPr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Ornithine, the other product of the arginase reaction, is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xmlns="" id="{31923524-04EF-CB0B-38F8-40A7A7FAF72D}"/>
              </a:ext>
            </a:extLst>
          </p:cNvPr>
          <p:cNvSpPr>
            <a:spLocks noGrp="1"/>
          </p:cNvSpPr>
          <p:nvPr>
            <p:ph type="title"/>
          </p:nvPr>
        </p:nvSpPr>
        <p:spPr>
          <a:xfrm>
            <a:off x="0" y="0"/>
            <a:ext cx="9144000" cy="914400"/>
          </a:xfrm>
        </p:spPr>
        <p:txBody>
          <a:bodyPr/>
          <a:lstStyle/>
          <a:p>
            <a:pPr eaLnBrk="1" hangingPunct="1"/>
            <a:r>
              <a:rPr lang="en-US" altLang="en-US">
                <a:ln>
                  <a:noFill/>
                </a:ln>
                <a:solidFill>
                  <a:srgbClr val="FF0000"/>
                </a:solidFill>
                <a:latin typeface="Times New Roman" panose="02020603050405020304" pitchFamily="18" charset="0"/>
                <a:cs typeface="Times New Roman" panose="02020603050405020304" pitchFamily="18" charset="0"/>
              </a:rPr>
              <a:t>CONT’</a:t>
            </a:r>
          </a:p>
        </p:txBody>
      </p:sp>
      <p:sp>
        <p:nvSpPr>
          <p:cNvPr id="73731" name="Content Placeholder 2">
            <a:extLst>
              <a:ext uri="{FF2B5EF4-FFF2-40B4-BE49-F238E27FC236}">
                <a16:creationId xmlns:a16="http://schemas.microsoft.com/office/drawing/2014/main" xmlns="" id="{FDE3ECDA-AFA4-C13D-F96E-92A15A495D08}"/>
              </a:ext>
            </a:extLst>
          </p:cNvPr>
          <p:cNvSpPr>
            <a:spLocks noGrp="1"/>
          </p:cNvSpPr>
          <p:nvPr>
            <p:ph idx="1"/>
          </p:nvPr>
        </p:nvSpPr>
        <p:spPr>
          <a:xfrm>
            <a:off x="152400" y="990600"/>
            <a:ext cx="8763000" cy="5867400"/>
          </a:xfrm>
        </p:spPr>
        <p:txBody>
          <a:bodyPr/>
          <a:lstStyle/>
          <a:p>
            <a:pPr eaLnBrk="1" hangingPunct="1">
              <a:buFont typeface="Arial" panose="020B0604020202020204" pitchFamily="34" charset="0"/>
              <a:buNone/>
            </a:pPr>
            <a:r>
              <a:rPr lang="en-US" altLang="en-US">
                <a:latin typeface="Times New Roman" panose="02020603050405020304" pitchFamily="18" charset="0"/>
                <a:cs typeface="Times New Roman" panose="02020603050405020304" pitchFamily="18" charset="0"/>
              </a:rPr>
              <a:t>transported into the mitochondrion in exchange for citrulline, where it can react with carbamoyl phosphate, initiating another round of the cycle.</a:t>
            </a:r>
          </a:p>
          <a:p>
            <a:pPr eaLnBrk="1" hangingPunct="1"/>
            <a:endParaRPr lang="en-US"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xmlns="" id="{4863DF5A-C384-5811-1466-1C04C02E0EDA}"/>
              </a:ext>
            </a:extLst>
          </p:cNvPr>
          <p:cNvSpPr>
            <a:spLocks noGrp="1"/>
          </p:cNvSpPr>
          <p:nvPr>
            <p:ph type="title"/>
          </p:nvPr>
        </p:nvSpPr>
        <p:spPr>
          <a:xfrm>
            <a:off x="304800" y="152400"/>
            <a:ext cx="8610600" cy="838200"/>
          </a:xfrm>
        </p:spPr>
        <p:txBody>
          <a:bodyPr/>
          <a:lstStyle/>
          <a:p>
            <a:pPr eaLnBrk="1" hangingPunct="1"/>
            <a:r>
              <a:rPr lang="en-US" altLang="en-US" b="1">
                <a:ln>
                  <a:noFill/>
                </a:ln>
              </a:rPr>
              <a:t/>
            </a:r>
            <a:br>
              <a:rPr lang="en-US" altLang="en-US" b="1">
                <a:ln>
                  <a:noFill/>
                </a:ln>
              </a:rPr>
            </a:br>
            <a:r>
              <a:rPr lang="en-US" altLang="en-US" b="1">
                <a:ln>
                  <a:noFill/>
                </a:ln>
              </a:rPr>
              <a:t/>
            </a:r>
            <a:br>
              <a:rPr lang="en-US" altLang="en-US" b="1">
                <a:ln>
                  <a:noFill/>
                </a:ln>
              </a:rPr>
            </a:br>
            <a:r>
              <a:rPr lang="en-US" altLang="en-US" b="1">
                <a:ln>
                  <a:noFill/>
                </a:ln>
                <a:solidFill>
                  <a:srgbClr val="FF0000"/>
                </a:solidFill>
                <a:latin typeface="Times New Roman" panose="02020603050405020304" pitchFamily="18" charset="0"/>
                <a:cs typeface="Times New Roman" panose="02020603050405020304" pitchFamily="18" charset="0"/>
              </a:rPr>
              <a:t>Regulation of the urea cycle</a:t>
            </a:r>
            <a:r>
              <a:rPr lang="en-US" altLang="en-US">
                <a:ln>
                  <a:noFill/>
                </a:ln>
                <a:solidFill>
                  <a:srgbClr val="FF0000"/>
                </a:solidFill>
                <a:latin typeface="Times New Roman" panose="02020603050405020304" pitchFamily="18" charset="0"/>
                <a:cs typeface="Times New Roman" panose="02020603050405020304" pitchFamily="18" charset="0"/>
              </a:rPr>
              <a:t/>
            </a:r>
            <a:br>
              <a:rPr lang="en-US" altLang="en-US">
                <a:ln>
                  <a:noFill/>
                </a:ln>
                <a:solidFill>
                  <a:srgbClr val="FF0000"/>
                </a:solidFill>
                <a:latin typeface="Times New Roman" panose="02020603050405020304" pitchFamily="18" charset="0"/>
                <a:cs typeface="Times New Roman" panose="02020603050405020304" pitchFamily="18" charset="0"/>
              </a:rPr>
            </a:br>
            <a:r>
              <a:rPr lang="en-US" altLang="en-US">
                <a:ln>
                  <a:noFill/>
                </a:ln>
                <a:solidFill>
                  <a:srgbClr val="FF0000"/>
                </a:solidFill>
                <a:latin typeface="Times New Roman" panose="02020603050405020304" pitchFamily="18" charset="0"/>
                <a:cs typeface="Times New Roman" panose="02020603050405020304" pitchFamily="18" charset="0"/>
              </a:rPr>
              <a:t> </a:t>
            </a:r>
            <a:r>
              <a:rPr lang="en-US" altLang="en-US">
                <a:ln>
                  <a:noFill/>
                </a:ln>
              </a:rPr>
              <a:t/>
            </a:r>
            <a:br>
              <a:rPr lang="en-US" altLang="en-US">
                <a:ln>
                  <a:noFill/>
                </a:ln>
              </a:rPr>
            </a:br>
            <a:endParaRPr lang="en-US" altLang="en-US">
              <a:ln>
                <a:noFill/>
              </a:ln>
            </a:endParaRPr>
          </a:p>
        </p:txBody>
      </p:sp>
      <p:sp>
        <p:nvSpPr>
          <p:cNvPr id="74755" name="Content Placeholder 2">
            <a:extLst>
              <a:ext uri="{FF2B5EF4-FFF2-40B4-BE49-F238E27FC236}">
                <a16:creationId xmlns:a16="http://schemas.microsoft.com/office/drawing/2014/main" xmlns="" id="{C9939549-0077-24B4-E3D4-27DC81A0C345}"/>
              </a:ext>
            </a:extLst>
          </p:cNvPr>
          <p:cNvSpPr>
            <a:spLocks noGrp="1"/>
          </p:cNvSpPr>
          <p:nvPr>
            <p:ph idx="1"/>
          </p:nvPr>
        </p:nvSpPr>
        <p:spPr>
          <a:xfrm>
            <a:off x="304800" y="914400"/>
            <a:ext cx="8610600" cy="5715000"/>
          </a:xfrm>
        </p:spPr>
        <p:txBody>
          <a:bodyPr/>
          <a:lstStyle/>
          <a:p>
            <a:pPr eaLnBrk="1" hangingPunct="1"/>
            <a:r>
              <a:rPr lang="en-US" altLang="en-US"/>
              <a:t>The human liver has a vast capacity to convert amino acid nitrogen to urea, thereby preventing toxic effects from ammonia, which would otherwise accumulate.</a:t>
            </a:r>
          </a:p>
          <a:p>
            <a:pPr eaLnBrk="1" hangingPunct="1"/>
            <a:r>
              <a:rPr lang="en-US" altLang="en-US"/>
              <a:t> In general, the urea cycle is regulated by substrate availability; the higher the rate of ammonia production, the higher the rate of urea formation.</a:t>
            </a:r>
          </a:p>
          <a:p>
            <a:pPr eaLnBrk="1" hangingPunct="1"/>
            <a:r>
              <a:rPr lang="en-US" altLang="en-US"/>
              <a:t>Regulation by substrate availability is a general characteristic of disposal pathways, such as the urea cycle, which remove toxic compounds from the body. </a:t>
            </a:r>
          </a:p>
          <a:p>
            <a:pPr eaLnBrk="1" hangingPunct="1"/>
            <a:r>
              <a:rPr lang="en-US" altLang="en-US"/>
              <a:t>his is a type of feed-forward regulation, in contrast to the feedback regulation characteristic of pathways that produce functional end products.</a:t>
            </a:r>
          </a:p>
          <a:p>
            <a:pPr eaLnBrk="1" hangingPunct="1"/>
            <a:r>
              <a:rPr lang="en-US" altLang="en-US"/>
              <a:t> Two other types of regulation control the urea cycle: allosteric activation of CPSI by N-acetylglutamate (NAG) and induction and</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xmlns="" id="{9DE14B26-B371-8566-88CB-34E95CF1B5C5}"/>
              </a:ext>
            </a:extLst>
          </p:cNvPr>
          <p:cNvSpPr>
            <a:spLocks noGrp="1"/>
          </p:cNvSpPr>
          <p:nvPr>
            <p:ph type="title"/>
          </p:nvPr>
        </p:nvSpPr>
        <p:spPr>
          <a:xfrm>
            <a:off x="1176338" y="0"/>
            <a:ext cx="6799262" cy="685800"/>
          </a:xfrm>
        </p:spPr>
        <p:txBody>
          <a:bodyPr/>
          <a:lstStyle/>
          <a:p>
            <a:pPr eaLnBrk="1" hangingPunct="1"/>
            <a:r>
              <a:rPr lang="en-US" altLang="en-US">
                <a:ln>
                  <a:noFill/>
                </a:ln>
              </a:rPr>
              <a:t>CONT’</a:t>
            </a:r>
          </a:p>
        </p:txBody>
      </p:sp>
      <p:sp>
        <p:nvSpPr>
          <p:cNvPr id="75779" name="Content Placeholder 2">
            <a:extLst>
              <a:ext uri="{FF2B5EF4-FFF2-40B4-BE49-F238E27FC236}">
                <a16:creationId xmlns:a16="http://schemas.microsoft.com/office/drawing/2014/main" xmlns="" id="{B4209874-C509-9C5A-F25A-742156E37096}"/>
              </a:ext>
            </a:extLst>
          </p:cNvPr>
          <p:cNvSpPr>
            <a:spLocks noGrp="1"/>
          </p:cNvSpPr>
          <p:nvPr>
            <p:ph idx="1"/>
          </p:nvPr>
        </p:nvSpPr>
        <p:spPr>
          <a:xfrm>
            <a:off x="304800" y="609600"/>
            <a:ext cx="8686800" cy="6248400"/>
          </a:xfrm>
        </p:spPr>
        <p:txBody>
          <a:bodyPr/>
          <a:lstStyle/>
          <a:p>
            <a:pPr algn="just" eaLnBrk="1" hangingPunct="1">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repression of the synthesis of urea cycle enzymes. NAG is formed specifically to activate CPSI; it has no other known function in mammals. </a:t>
            </a:r>
          </a:p>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The synthesis of NAG from acetyl CoA and glutamate is stimulated by arginine. Thus, as arginine levels increase within the liver, two important reactions are stimulated. </a:t>
            </a:r>
          </a:p>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The first is the synthesis of NAG, which increases the rate at which carbamoyl phosphate is produced. </a:t>
            </a:r>
          </a:p>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The second is to produce more ornithine (via the arginase reaction), such that the cycle can operate more rapidly.</a:t>
            </a:r>
          </a:p>
          <a:p>
            <a:pPr algn="just" eaLnBrk="1" hangingPunct="1">
              <a:buFont typeface="Wingdings" panose="05000000000000000000" pitchFamily="2" charset="2"/>
              <a:buChar char="q"/>
            </a:pPr>
            <a:r>
              <a:rPr lang="en-US" altLang="en-US" sz="2800">
                <a:latin typeface="Times New Roman" panose="02020603050405020304" pitchFamily="18" charset="0"/>
                <a:cs typeface="Times New Roman" panose="02020603050405020304" pitchFamily="18" charset="0"/>
              </a:rPr>
              <a:t>The induction of urea cycle enzymes occurs in response to conditions that require increased protein metabolism</a:t>
            </a:r>
          </a:p>
          <a:p>
            <a:pPr algn="just" eaLnBrk="1" hangingPunct="1"/>
            <a:endParaRPr lang="en-US"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xmlns="" id="{5EE546F5-EBD1-5872-FF38-5BF08D7B22B2}"/>
              </a:ext>
            </a:extLst>
          </p:cNvPr>
          <p:cNvSpPr>
            <a:spLocks noGrp="1"/>
          </p:cNvSpPr>
          <p:nvPr>
            <p:ph type="title"/>
          </p:nvPr>
        </p:nvSpPr>
        <p:spPr>
          <a:xfrm>
            <a:off x="1176338" y="0"/>
            <a:ext cx="6799262" cy="609600"/>
          </a:xfrm>
        </p:spPr>
        <p:txBody>
          <a:bodyPr/>
          <a:lstStyle/>
          <a:p>
            <a:pPr eaLnBrk="1" hangingPunct="1"/>
            <a:r>
              <a:rPr lang="en-US" altLang="en-US">
                <a:ln>
                  <a:noFill/>
                </a:ln>
                <a:solidFill>
                  <a:srgbClr val="FF0000"/>
                </a:solidFill>
                <a:latin typeface="Times New Roman" panose="02020603050405020304" pitchFamily="18" charset="0"/>
                <a:cs typeface="Times New Roman" panose="02020603050405020304" pitchFamily="18" charset="0"/>
              </a:rPr>
              <a:t>CONT’</a:t>
            </a:r>
          </a:p>
        </p:txBody>
      </p:sp>
      <p:sp>
        <p:nvSpPr>
          <p:cNvPr id="76803" name="Content Placeholder 2">
            <a:extLst>
              <a:ext uri="{FF2B5EF4-FFF2-40B4-BE49-F238E27FC236}">
                <a16:creationId xmlns:a16="http://schemas.microsoft.com/office/drawing/2014/main" xmlns="" id="{89AABD01-3E4F-C29A-35B0-CA94C7092E6B}"/>
              </a:ext>
            </a:extLst>
          </p:cNvPr>
          <p:cNvSpPr>
            <a:spLocks noGrp="1"/>
          </p:cNvSpPr>
          <p:nvPr>
            <p:ph idx="1"/>
          </p:nvPr>
        </p:nvSpPr>
        <p:spPr>
          <a:xfrm>
            <a:off x="228600" y="533400"/>
            <a:ext cx="8610600" cy="6324600"/>
          </a:xfrm>
        </p:spPr>
        <p:txBody>
          <a:bodyPr/>
          <a:lstStyle/>
          <a:p>
            <a:pPr algn="just" eaLnBrk="1" hangingPunct="1">
              <a:buFont typeface="Wingdings" panose="05000000000000000000" pitchFamily="2" charset="2"/>
              <a:buChar char="q"/>
            </a:pPr>
            <a:r>
              <a:rPr lang="en-US" altLang="en-US">
                <a:latin typeface="Times New Roman" panose="02020603050405020304" pitchFamily="18" charset="0"/>
                <a:cs typeface="Times New Roman" panose="02020603050405020304" pitchFamily="18" charset="0"/>
              </a:rPr>
              <a:t>, such as a high-protein diet or prolonged fasting. </a:t>
            </a:r>
          </a:p>
          <a:p>
            <a:pPr algn="just" eaLnBrk="1" hangingPunct="1">
              <a:buFont typeface="Wingdings" panose="05000000000000000000" pitchFamily="2" charset="2"/>
              <a:buChar char="q"/>
            </a:pPr>
            <a:r>
              <a:rPr lang="en-US" altLang="en-US">
                <a:latin typeface="Times New Roman" panose="02020603050405020304" pitchFamily="18" charset="0"/>
                <a:cs typeface="Times New Roman" panose="02020603050405020304" pitchFamily="18" charset="0"/>
              </a:rPr>
              <a:t>In both of these physiological states, as amino acid carbon is converted to glucose, amino acid nitrogen is converted to urea. The ability of a high-protein diet to increase urea cycle enzyme levels is another type of feed-forward regulation.</a:t>
            </a:r>
          </a:p>
          <a:p>
            <a:pPr eaLnBrk="1" hangingPunct="1"/>
            <a:endParaRPr lang="en-US"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Title 1">
            <a:extLst>
              <a:ext uri="{FF2B5EF4-FFF2-40B4-BE49-F238E27FC236}">
                <a16:creationId xmlns:a16="http://schemas.microsoft.com/office/drawing/2014/main" xmlns="" id="{1694F8BD-ADFA-3459-820C-4CF09883E0AD}"/>
              </a:ext>
            </a:extLst>
          </p:cNvPr>
          <p:cNvSpPr>
            <a:spLocks noGrp="1"/>
          </p:cNvSpPr>
          <p:nvPr>
            <p:ph type="title"/>
          </p:nvPr>
        </p:nvSpPr>
        <p:spPr>
          <a:xfrm>
            <a:off x="1219200" y="0"/>
            <a:ext cx="6799263" cy="609600"/>
          </a:xfrm>
        </p:spPr>
        <p:txBody>
          <a:bodyPr/>
          <a:lstStyle/>
          <a:p>
            <a:pPr eaLnBrk="1" hangingPunct="1"/>
            <a:r>
              <a:rPr lang="en-US" altLang="en-US" b="1">
                <a:ln>
                  <a:noFill/>
                </a:ln>
              </a:rPr>
              <a:t/>
            </a:r>
            <a:br>
              <a:rPr lang="en-US" altLang="en-US" b="1">
                <a:ln>
                  <a:noFill/>
                </a:ln>
              </a:rPr>
            </a:br>
            <a:r>
              <a:rPr lang="en-US" altLang="en-US" b="1">
                <a:ln>
                  <a:noFill/>
                </a:ln>
                <a:solidFill>
                  <a:srgbClr val="FF0000"/>
                </a:solidFill>
                <a:latin typeface="Times New Roman" panose="02020603050405020304" pitchFamily="18" charset="0"/>
                <a:cs typeface="Times New Roman" panose="02020603050405020304" pitchFamily="18" charset="0"/>
              </a:rPr>
              <a:t>Energetics of the urea cycle</a:t>
            </a:r>
            <a:r>
              <a:rPr lang="en-US" altLang="en-US" b="1" i="1">
                <a:ln>
                  <a:noFill/>
                </a:ln>
              </a:rPr>
              <a:t/>
            </a:r>
            <a:br>
              <a:rPr lang="en-US" altLang="en-US" b="1" i="1">
                <a:ln>
                  <a:noFill/>
                </a:ln>
              </a:rPr>
            </a:br>
            <a:endParaRPr lang="en-US" altLang="en-US">
              <a:ln>
                <a:noFill/>
              </a:ln>
            </a:endParaRPr>
          </a:p>
        </p:txBody>
      </p:sp>
      <p:sp>
        <p:nvSpPr>
          <p:cNvPr id="77827" name="Content Placeholder 2">
            <a:extLst>
              <a:ext uri="{FF2B5EF4-FFF2-40B4-BE49-F238E27FC236}">
                <a16:creationId xmlns:a16="http://schemas.microsoft.com/office/drawing/2014/main" xmlns="" id="{562BB1FB-B423-08D9-5283-A7AE2EDDE5E1}"/>
              </a:ext>
            </a:extLst>
          </p:cNvPr>
          <p:cNvSpPr>
            <a:spLocks noGrp="1"/>
          </p:cNvSpPr>
          <p:nvPr>
            <p:ph idx="1"/>
          </p:nvPr>
        </p:nvSpPr>
        <p:spPr>
          <a:xfrm>
            <a:off x="304800" y="685800"/>
            <a:ext cx="8839200" cy="6477000"/>
          </a:xfrm>
        </p:spPr>
        <p:txBody>
          <a:bodyPr/>
          <a:lstStyle/>
          <a:p>
            <a:pPr eaLnBrk="1" hangingPunct="1"/>
            <a:r>
              <a:rPr lang="en-US" altLang="en-US"/>
              <a:t>If the urea cycle is considered in isolation, the synthesis of one molecule of urea requires four high energy phosphate groups. In reference to Figure 17, it is shown that: </a:t>
            </a:r>
          </a:p>
          <a:p>
            <a:pPr eaLnBrk="1" hangingPunct="1"/>
            <a:r>
              <a:rPr lang="en-US" altLang="en-US"/>
              <a:t>2 ATPs are used up to make up carbamoyl Phosphate</a:t>
            </a:r>
          </a:p>
          <a:p>
            <a:pPr eaLnBrk="1" hangingPunct="1"/>
            <a:r>
              <a:rPr lang="en-US" altLang="en-US"/>
              <a:t>1 ATP and two High- energy bonds are used to make up Arginosuccinate</a:t>
            </a:r>
          </a:p>
          <a:p>
            <a:pPr eaLnBrk="1" hangingPunct="1"/>
            <a:r>
              <a:rPr lang="en-US" altLang="en-US"/>
              <a:t> Here it should be noted that any reaction that creates a new C-N bond costs one ATP.</a:t>
            </a:r>
          </a:p>
          <a:p>
            <a:pPr eaLnBrk="1" hangingPunct="1"/>
            <a:r>
              <a:rPr lang="en-US" altLang="en-US"/>
              <a:t> However, the urea cycle also cause a net conversion of oxaloacetate to fumarate via Aspartate and regeneration of oxaloacetate produces NADH in the malate dehydrogenase reaction. </a:t>
            </a:r>
          </a:p>
          <a:p>
            <a:pPr eaLnBrk="1" hangingPunct="1"/>
            <a:r>
              <a:rPr lang="en-US" altLang="en-US"/>
              <a:t>You may recall that each NADH molecule can generate up to 3 ATPs in oxidative phosphorylation and electron transport. </a:t>
            </a:r>
          </a:p>
          <a:p>
            <a:pPr eaLnBrk="1" hangingPunct="1"/>
            <a:r>
              <a:rPr lang="en-US" altLang="en-US"/>
              <a:t> Therefore the overall equation of the urea cycle is:</a:t>
            </a:r>
          </a:p>
          <a:p>
            <a:pPr eaLnBrk="1" hangingPunct="1"/>
            <a:r>
              <a:rPr lang="en-US" altLang="en-US" b="1"/>
              <a:t> </a:t>
            </a:r>
            <a:endParaRPr lang="en-US"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xmlns="" id="{37F7C94F-9351-E513-158D-311F35C56303}"/>
              </a:ext>
            </a:extLst>
          </p:cNvPr>
          <p:cNvSpPr>
            <a:spLocks noGrp="1"/>
          </p:cNvSpPr>
          <p:nvPr>
            <p:ph type="title"/>
          </p:nvPr>
        </p:nvSpPr>
        <p:spPr>
          <a:xfrm>
            <a:off x="1176338" y="0"/>
            <a:ext cx="6799262" cy="685800"/>
          </a:xfrm>
        </p:spPr>
        <p:txBody>
          <a:bodyPr/>
          <a:lstStyle/>
          <a:p>
            <a:pPr eaLnBrk="1" hangingPunct="1"/>
            <a:r>
              <a:rPr lang="en-US" altLang="en-US">
                <a:ln>
                  <a:noFill/>
                </a:ln>
                <a:solidFill>
                  <a:srgbClr val="FF0000"/>
                </a:solidFill>
              </a:rPr>
              <a:t>CONT’</a:t>
            </a:r>
          </a:p>
        </p:txBody>
      </p:sp>
      <p:sp>
        <p:nvSpPr>
          <p:cNvPr id="78851" name="Content Placeholder 2">
            <a:extLst>
              <a:ext uri="{FF2B5EF4-FFF2-40B4-BE49-F238E27FC236}">
                <a16:creationId xmlns:a16="http://schemas.microsoft.com/office/drawing/2014/main" xmlns="" id="{9CB469E7-7456-BE1F-4F75-B50A972CC287}"/>
              </a:ext>
            </a:extLst>
          </p:cNvPr>
          <p:cNvSpPr>
            <a:spLocks noGrp="1"/>
          </p:cNvSpPr>
          <p:nvPr>
            <p:ph idx="1"/>
          </p:nvPr>
        </p:nvSpPr>
        <p:spPr>
          <a:xfrm>
            <a:off x="304800" y="838200"/>
            <a:ext cx="8382000" cy="6019800"/>
          </a:xfrm>
        </p:spPr>
        <p:txBody>
          <a:bodyPr/>
          <a:lstStyle/>
          <a:p>
            <a:pPr eaLnBrk="1" hangingPunct="1"/>
            <a:r>
              <a:rPr lang="en-US" altLang="en-US"/>
              <a:t>NH</a:t>
            </a:r>
            <a:r>
              <a:rPr lang="en-US" altLang="en-US" baseline="-25000"/>
              <a:t>4</a:t>
            </a:r>
            <a:r>
              <a:rPr lang="en-US" altLang="en-US" baseline="30000"/>
              <a:t>+</a:t>
            </a:r>
            <a:r>
              <a:rPr lang="en-US" altLang="en-US"/>
              <a:t> + HCO</a:t>
            </a:r>
            <a:r>
              <a:rPr lang="en-US" altLang="en-US" baseline="-25000"/>
              <a:t>3</a:t>
            </a:r>
            <a:r>
              <a:rPr lang="en-US" altLang="en-US" baseline="30000"/>
              <a:t>- </a:t>
            </a:r>
            <a:r>
              <a:rPr lang="en-US" altLang="en-US"/>
              <a:t>+3ATPs + H</a:t>
            </a:r>
            <a:r>
              <a:rPr lang="en-US" altLang="en-US" baseline="-25000"/>
              <a:t>2</a:t>
            </a:r>
            <a:r>
              <a:rPr lang="en-US" altLang="en-US"/>
              <a:t>O </a:t>
            </a:r>
            <a:r>
              <a:rPr lang="en-US" altLang="en-US">
                <a:sym typeface="Wingdings" panose="05000000000000000000" pitchFamily="2" charset="2"/>
              </a:rPr>
              <a:t></a:t>
            </a:r>
            <a:r>
              <a:rPr lang="en-US" altLang="en-US"/>
              <a:t>   Urea +2 ADP + 4Pi + AMP + 5H</a:t>
            </a:r>
            <a:r>
              <a:rPr lang="en-US" altLang="en-US" baseline="30000"/>
              <a:t>+</a:t>
            </a:r>
            <a:endParaRPr lang="en-US" altLang="en-US"/>
          </a:p>
          <a:p>
            <a:pPr eaLnBrk="1" hangingPunct="1">
              <a:buFont typeface="Arial" panose="020B0604020202020204" pitchFamily="34" charset="0"/>
              <a:buNone/>
            </a:pPr>
            <a:r>
              <a:rPr lang="en-US" altLang="en-US" b="1"/>
              <a:t>    </a:t>
            </a:r>
            <a:r>
              <a:rPr lang="en-US" altLang="en-US" b="1">
                <a:solidFill>
                  <a:srgbClr val="7030A0"/>
                </a:solidFill>
              </a:rPr>
              <a:t>Discuss disoders of urea-cycle.</a:t>
            </a:r>
          </a:p>
          <a:p>
            <a:pPr eaLnBrk="1" hangingPunct="1">
              <a:buFont typeface="Arial" panose="020B0604020202020204" pitchFamily="34" charset="0"/>
              <a:buNone/>
            </a:pPr>
            <a:r>
              <a:rPr lang="en-US" altLang="en-US" b="1" i="1">
                <a:solidFill>
                  <a:srgbClr val="7030A0"/>
                </a:solidFill>
              </a:rPr>
              <a:t>END</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243</TotalTime>
  <Words>4070</Words>
  <Application>Microsoft Macintosh PowerPoint</Application>
  <PresentationFormat>On-screen Show (4:3)</PresentationFormat>
  <Paragraphs>346</Paragraphs>
  <Slides>61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Angsana New</vt:lpstr>
      <vt:lpstr>Arial</vt:lpstr>
      <vt:lpstr>Arial Narrow</vt:lpstr>
      <vt:lpstr>Calibri</vt:lpstr>
      <vt:lpstr>Garamond</vt:lpstr>
      <vt:lpstr>Times New Roman</vt:lpstr>
      <vt:lpstr>Wingdings</vt:lpstr>
      <vt:lpstr>Organic</vt:lpstr>
      <vt:lpstr>  THE BIOSYNTHESIS OF FATTY ACIDS AND RELATED COMPOUNDS   </vt:lpstr>
      <vt:lpstr>CONT’</vt:lpstr>
      <vt:lpstr>CONT’</vt:lpstr>
      <vt:lpstr>CONT’</vt:lpstr>
      <vt:lpstr>CONT’</vt:lpstr>
      <vt:lpstr>  Summary of the reactions:    </vt:lpstr>
      <vt:lpstr>CONT’</vt:lpstr>
      <vt:lpstr> Biosynthesis of triacylglycerols and other fatty acids </vt:lpstr>
      <vt:lpstr>CONT’</vt:lpstr>
      <vt:lpstr>CONT’</vt:lpstr>
      <vt:lpstr>Regulation of fatty acid synthesis</vt:lpstr>
      <vt:lpstr>CONT’</vt:lpstr>
      <vt:lpstr>Biosynthesis of eicosanoids </vt:lpstr>
      <vt:lpstr> a) The role of eicosanoids </vt:lpstr>
      <vt:lpstr>  b) Biosynthesis of eicosanoids   </vt:lpstr>
      <vt:lpstr>CONT’</vt:lpstr>
      <vt:lpstr>PowerPoint Presentation</vt:lpstr>
      <vt:lpstr>CONT’</vt:lpstr>
      <vt:lpstr>CONT’</vt:lpstr>
      <vt:lpstr>CONT’</vt:lpstr>
      <vt:lpstr>PowerPoint Presentation</vt:lpstr>
      <vt:lpstr>Clinical use of eicosanoids </vt:lpstr>
      <vt:lpstr>CONT’</vt:lpstr>
      <vt:lpstr>CONT’</vt:lpstr>
      <vt:lpstr>Structure of cholestrol</vt:lpstr>
      <vt:lpstr>CONT’</vt:lpstr>
      <vt:lpstr>CONT’</vt:lpstr>
      <vt:lpstr>Why should cholesterol synthesis be regulated and how is it achieved?</vt:lpstr>
      <vt:lpstr>CONT’</vt:lpstr>
      <vt:lpstr> c) Transport of cholesterol </vt:lpstr>
      <vt:lpstr>CONT’</vt:lpstr>
      <vt:lpstr> N/B:Cholesterol lowering drugs  </vt:lpstr>
      <vt:lpstr>d)  Catabolism of cholesterol </vt:lpstr>
      <vt:lpstr>AMINO ACID METABOLISM</vt:lpstr>
      <vt:lpstr>CONT’</vt:lpstr>
      <vt:lpstr>CONT’</vt:lpstr>
      <vt:lpstr>Transamination </vt:lpstr>
      <vt:lpstr>CONT’</vt:lpstr>
      <vt:lpstr>General reaction in transamination.</vt:lpstr>
      <vt:lpstr> Transaminases of clinical significance </vt:lpstr>
      <vt:lpstr>CONT’</vt:lpstr>
      <vt:lpstr>Deamination of amino acids </vt:lpstr>
      <vt:lpstr>CONT’</vt:lpstr>
      <vt:lpstr>CONT’</vt:lpstr>
      <vt:lpstr>CONT’</vt:lpstr>
      <vt:lpstr> b) Non-oxidative deamination </vt:lpstr>
      <vt:lpstr>CONT’</vt:lpstr>
      <vt:lpstr> The urea cycle </vt:lpstr>
      <vt:lpstr>CONT’</vt:lpstr>
      <vt:lpstr>CONT’</vt:lpstr>
      <vt:lpstr>PowerPoint Presentation</vt:lpstr>
      <vt:lpstr> Reactions of the urea cycle </vt:lpstr>
      <vt:lpstr>CONT’</vt:lpstr>
      <vt:lpstr>CONT’</vt:lpstr>
      <vt:lpstr>CONT,</vt:lpstr>
      <vt:lpstr>CONT’</vt:lpstr>
      <vt:lpstr>  Regulation of the urea cycle   </vt:lpstr>
      <vt:lpstr>CONT’</vt:lpstr>
      <vt:lpstr>CONT’</vt:lpstr>
      <vt:lpstr> Energetics of the urea cycle </vt:lpstr>
      <vt:lpstr>CONT’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Ogoti</dc:creator>
  <cp:lastModifiedBy>Microsoft Office User</cp:lastModifiedBy>
  <cp:revision>15</cp:revision>
  <dcterms:created xsi:type="dcterms:W3CDTF">2014-02-12T18:28:57Z</dcterms:created>
  <dcterms:modified xsi:type="dcterms:W3CDTF">2024-11-09T13:55:32Z</dcterms:modified>
</cp:coreProperties>
</file>