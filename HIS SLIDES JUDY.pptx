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88" r:id="rId9"/>
    <p:sldId id="289" r:id="rId10"/>
    <p:sldId id="295" r:id="rId11"/>
    <p:sldId id="294" r:id="rId12"/>
    <p:sldId id="290" r:id="rId13"/>
    <p:sldId id="296" r:id="rId14"/>
    <p:sldId id="293" r:id="rId15"/>
    <p:sldId id="297" r:id="rId16"/>
    <p:sldId id="291" r:id="rId17"/>
    <p:sldId id="292" r:id="rId18"/>
    <p:sldId id="263" r:id="rId19"/>
    <p:sldId id="264" r:id="rId20"/>
    <p:sldId id="265" r:id="rId21"/>
    <p:sldId id="266" r:id="rId22"/>
    <p:sldId id="268" r:id="rId23"/>
    <p:sldId id="287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9" d="100"/>
          <a:sy n="89" d="100"/>
        </p:scale>
        <p:origin x="2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6A2C2-E29F-4F47-8EB8-D745299368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26043-2D19-4351-8BAA-E42DF3AFBE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2194" y="1332411"/>
            <a:ext cx="9144000" cy="4924698"/>
          </a:xfrm>
        </p:spPr>
        <p:txBody>
          <a:bodyPr>
            <a:normAutofit/>
          </a:bodyPr>
          <a:lstStyle/>
          <a:p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HEALTH INFORMATION SYSTEM 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HIS</a:t>
            </a:r>
            <a:endParaRPr lang="en-US" dirty="0" smtClean="0"/>
          </a:p>
          <a:p>
            <a:r>
              <a:rPr lang="en-US" dirty="0" smtClean="0"/>
              <a:t>Data sources</a:t>
            </a:r>
            <a:endParaRPr lang="en-US" dirty="0" smtClean="0"/>
          </a:p>
          <a:p>
            <a:r>
              <a:rPr lang="en-US" dirty="0" smtClean="0"/>
              <a:t>Types of HIS</a:t>
            </a:r>
            <a:endParaRPr lang="en-US" dirty="0" smtClean="0"/>
          </a:p>
          <a:p>
            <a:r>
              <a:rPr lang="en-US" dirty="0" smtClean="0"/>
              <a:t>Data collection methods</a:t>
            </a:r>
            <a:endParaRPr lang="en-US" dirty="0" smtClean="0"/>
          </a:p>
          <a:p>
            <a:r>
              <a:rPr lang="en-US" dirty="0" smtClean="0"/>
              <a:t> data storage and analysis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information </a:t>
            </a:r>
            <a:r>
              <a:rPr lang="en-US" dirty="0" err="1" smtClean="0"/>
              <a:t>utilisation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 information  systems  refers  to  any  system  that  captures,  stores,  manages  or transmits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 to  the  health  of  individuals  or  the  activities 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that  work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sector.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information system is that that system in which collection, utilization, analysis and transmission of information is done for conducting health services, training and research.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is  essential  for  health  system  policy  development  and  implementation,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regulation,  health  research,  human  resources  development,  health  education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training,  service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 OF HIS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Compilation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use.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 health  information  system  collects data from  health and other relevant sectors, analyses </a:t>
            </a:r>
            <a:r>
              <a:rPr lang="en-US" dirty="0" smtClean="0"/>
              <a:t>the </a:t>
            </a:r>
            <a:r>
              <a:rPr lang="en-US" dirty="0"/>
              <a:t>data and ensures their overall quality, relevance and timeliness and converts the data into </a:t>
            </a:r>
            <a:r>
              <a:rPr lang="en-US" dirty="0" smtClean="0"/>
              <a:t>information </a:t>
            </a:r>
            <a:r>
              <a:rPr lang="en-US" dirty="0"/>
              <a:t>for health-related </a:t>
            </a:r>
            <a:r>
              <a:rPr lang="en-US" dirty="0" smtClean="0"/>
              <a:t>decision-making.</a:t>
            </a:r>
            <a:endParaRPr lang="en-US" dirty="0" smtClean="0"/>
          </a:p>
          <a:p>
            <a:r>
              <a:rPr lang="en-US" dirty="0"/>
              <a:t>The key users </a:t>
            </a:r>
            <a:r>
              <a:rPr lang="en-US" dirty="0" smtClean="0"/>
              <a:t>of </a:t>
            </a:r>
            <a:r>
              <a:rPr lang="en-US" dirty="0"/>
              <a:t>health information policy-makers, planners, managers, health-care providers, communities </a:t>
            </a:r>
            <a:r>
              <a:rPr lang="en-US" dirty="0" smtClean="0"/>
              <a:t>and </a:t>
            </a:r>
            <a:r>
              <a:rPr lang="en-US" dirty="0"/>
              <a:t>individuals.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218"/>
          </a:xfrm>
        </p:spPr>
        <p:txBody>
          <a:bodyPr/>
          <a:lstStyle/>
          <a:p>
            <a:r>
              <a:rPr lang="en-US" dirty="0" smtClean="0"/>
              <a:t>The broad objectives of 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 monitoring and evaluation;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alert and early warning capability;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patient and health facility management;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basis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situation and trends analyses;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 reporting,  and  reinforce communication  of  health  challenges  to  diverse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778"/>
            <a:ext cx="10515600" cy="5669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raw facts/real-world observations, events, transactions and so on which have been recorded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 obtained by reading, observation, counting, measuring, weighing,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then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processed data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knowledge and understanding that is usable by the recipient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is information about people’s health status, resources, activities and events as related to health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collection of components that work together in a regular or orderly manner, to achieve a common objective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495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776"/>
            <a:ext cx="10515600" cy="5525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data processing is to present information in a way that aids/helps in decision making in all levels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process of transforming raw data to a state which analysis can be done smoothly with minimal distortion of results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(Categorical data) either nominal or ordinal (Not measurable you can only describe, i.e. descriptive)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(Measurement/Numerical data) either discrete/interval or continuous (It is measurable)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33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METHODS DATA COLLECTION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4034"/>
            <a:ext cx="10515600" cy="4922929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Observation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Questionnaires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Interviews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Surveys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Documents and records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Focus groups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Oral histories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METHODS OF DATA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1966"/>
            <a:ext cx="10515600" cy="570846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On-Premises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Considered to be the original data storage method, an on-premises data solution typically involves servers that are owned and managed by the organization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itself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Colocation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Drives (HDD)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Solid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Drive (SSD)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Tape Drives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5943"/>
            <a:ext cx="10515600" cy="59810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Example of data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1.Activity </a:t>
            </a:r>
            <a:r>
              <a:rPr lang="en-US" b="1" dirty="0"/>
              <a:t>data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MCH/FP attendances 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ANC attendant 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IMM attendant 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Postnatal attendant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 Outpatient attendant 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Inpatient attendance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2.Epidemiological </a:t>
            </a:r>
            <a:r>
              <a:rPr lang="en-US" b="1" dirty="0"/>
              <a:t>surveillance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AFP surveillance 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Measles surveillance</a:t>
            </a:r>
            <a:endParaRPr lang="en-US" dirty="0"/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NNT </a:t>
            </a:r>
            <a:r>
              <a:rPr lang="en-US" dirty="0" smtClean="0"/>
              <a:t>surveillance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5394"/>
          </a:xfrm>
        </p:spPr>
        <p:txBody>
          <a:bodyPr>
            <a:normAutofit/>
          </a:bodyPr>
          <a:lstStyle/>
          <a:p>
            <a:r>
              <a:rPr lang="en-US" dirty="0" smtClean="0"/>
              <a:t>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5395"/>
            <a:ext cx="10515600" cy="54715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3.Semi </a:t>
            </a:r>
            <a:r>
              <a:rPr lang="en-US" b="1" dirty="0"/>
              <a:t>permanent data</a:t>
            </a:r>
            <a:endParaRPr lang="en-US" dirty="0"/>
          </a:p>
          <a:p>
            <a:pPr lvl="0"/>
            <a:r>
              <a:rPr lang="en-US" dirty="0"/>
              <a:t>Pop target to be served</a:t>
            </a:r>
            <a:endParaRPr lang="en-US" dirty="0"/>
          </a:p>
          <a:p>
            <a:pPr lvl="0"/>
            <a:r>
              <a:rPr lang="en-US" dirty="0"/>
              <a:t>Facility staffing</a:t>
            </a:r>
            <a:endParaRPr lang="en-US" dirty="0"/>
          </a:p>
          <a:p>
            <a:pPr lvl="0"/>
            <a:r>
              <a:rPr lang="en-US" dirty="0"/>
              <a:t>Volunteers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4.Program </a:t>
            </a:r>
            <a:r>
              <a:rPr lang="en-US" b="1" dirty="0"/>
              <a:t>data</a:t>
            </a:r>
            <a:endParaRPr lang="en-US" dirty="0"/>
          </a:p>
          <a:p>
            <a:pPr lvl="0"/>
            <a:r>
              <a:rPr lang="en-US" dirty="0"/>
              <a:t>Stock cards</a:t>
            </a:r>
            <a:endParaRPr lang="en-US" dirty="0"/>
          </a:p>
          <a:p>
            <a:pPr lvl="0"/>
            <a:r>
              <a:rPr lang="en-US" dirty="0"/>
              <a:t>Lab specimens</a:t>
            </a:r>
            <a:endParaRPr lang="en-US" dirty="0"/>
          </a:p>
          <a:p>
            <a:pPr lvl="0"/>
            <a:r>
              <a:rPr lang="en-US" dirty="0"/>
              <a:t>No of CBD’s</a:t>
            </a:r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5.Other </a:t>
            </a:r>
            <a:r>
              <a:rPr lang="en-US" b="1" u="sng" dirty="0"/>
              <a:t>types of data that should be routinely collected</a:t>
            </a:r>
            <a:endParaRPr lang="en-US" dirty="0"/>
          </a:p>
          <a:p>
            <a:pPr lvl="0"/>
            <a:r>
              <a:rPr lang="en-US" dirty="0"/>
              <a:t>Administrative data such as  stock card for supplies ,lab specimens.</a:t>
            </a:r>
            <a:endParaRPr lang="en-US" dirty="0"/>
          </a:p>
          <a:p>
            <a:pPr lvl="0"/>
            <a:r>
              <a:rPr lang="en-US" dirty="0"/>
              <a:t>Human resource  e.g. number of staff, workload and absenteeism.</a:t>
            </a:r>
            <a:endParaRPr lang="en-US" dirty="0"/>
          </a:p>
          <a:p>
            <a:pPr lvl="0"/>
            <a:r>
              <a:rPr lang="en-US" dirty="0"/>
              <a:t>Logistical data e.g. transport </a:t>
            </a:r>
            <a:endParaRPr lang="en-US" dirty="0"/>
          </a:p>
          <a:p>
            <a:pPr lvl="0"/>
            <a:r>
              <a:rPr lang="en-US" dirty="0"/>
              <a:t>Organizational data e.g. infrastructure and equipment 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070"/>
            <a:ext cx="10515600" cy="888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Ahima</a:t>
            </a:r>
            <a:r>
              <a:rPr lang="en-US" b="1" dirty="0"/>
              <a:t> model (1998) includes following characteristics of quality data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2857"/>
            <a:ext cx="10515600" cy="4872446"/>
          </a:xfrm>
        </p:spPr>
        <p:txBody>
          <a:bodyPr>
            <a:noAutofit/>
          </a:bodyPr>
          <a:lstStyle/>
          <a:p>
            <a:pPr lvl="0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items should be easily obtainable. Should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time and at all levels (old data is of historical value only)- decisions must be made based on current information,.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Comprehensiveness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is complete. All required data items are included. Ensure the entire scope of data is collected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are free from errors (typographical or misspelling)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need to be consistent in terms of collection, transmission and use of abbreviations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represents all recorders of similar data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0342"/>
            <a:ext cx="10515600" cy="5290457"/>
          </a:xfrm>
        </p:spPr>
        <p:txBody>
          <a:bodyPr/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Comparable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same definitions of items – if we don’t measure by the same tool, we can’t compare each other’s results.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available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time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up to date Many types of healthcare data become obsolete after a period of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It denotes how close to an actual size, weight, or other standard a particular measurement. E.g. drug dosage must be very precise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Collect data will be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152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HMIS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Community </a:t>
            </a:r>
            <a:r>
              <a:rPr lang="en-US" dirty="0"/>
              <a:t>Based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Facility Based (e.g. In-</a:t>
            </a:r>
            <a:r>
              <a:rPr lang="en-US" dirty="0" err="1"/>
              <a:t>pt</a:t>
            </a:r>
            <a:r>
              <a:rPr lang="en-US" dirty="0"/>
              <a:t> HIS, </a:t>
            </a:r>
            <a:r>
              <a:rPr lang="en-US" dirty="0" err="1"/>
              <a:t>Outpt</a:t>
            </a:r>
            <a:r>
              <a:rPr lang="en-US" dirty="0"/>
              <a:t> HIS)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District Based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0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HIS- Characteristics of well designed HIS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251268"/>
          </a:xfrm>
        </p:spPr>
        <p:txBody>
          <a:bodyPr>
            <a:noAutofit/>
          </a:bodyPr>
          <a:lstStyle/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data – collects prioritized/essential data based on indicators on a routine basis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data collected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duplication of data collection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Interdependence / Integration -various depts., units have to contribute or various player to cooperate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– ability of the system to communicate with other systems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forms/reporting tools (Manual or modern e.g. computers, Smartphone’s, PDA)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decentralized planning and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OF 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Is  essential  for  health  system  policy  development  and  implementation,  governance </a:t>
            </a:r>
            <a:r>
              <a:rPr lang="en-US" dirty="0" smtClean="0"/>
              <a:t>and  </a:t>
            </a:r>
            <a:r>
              <a:rPr lang="en-US" dirty="0"/>
              <a:t>regulation,  health  research,  human  resources  development,  health  education  and </a:t>
            </a:r>
            <a:r>
              <a:rPr lang="en-US" dirty="0" smtClean="0"/>
              <a:t>training</a:t>
            </a:r>
            <a:r>
              <a:rPr lang="en-US" dirty="0"/>
              <a:t>, service delivery and financing.  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Gives  </a:t>
            </a:r>
            <a:r>
              <a:rPr lang="en-US" dirty="0"/>
              <a:t>a  clear  picture  of  health  and  sickness  at  all  level  of  society –  individual, </a:t>
            </a:r>
            <a:r>
              <a:rPr lang="en-US" dirty="0" smtClean="0"/>
              <a:t>household</a:t>
            </a:r>
            <a:r>
              <a:rPr lang="en-US" dirty="0"/>
              <a:t>, community, county, country, regional and global.  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Helps </a:t>
            </a:r>
            <a:r>
              <a:rPr lang="en-US" dirty="0"/>
              <a:t>prevent the spread of disease and improve the health of individuals.  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Leads </a:t>
            </a:r>
            <a:r>
              <a:rPr lang="en-US" dirty="0"/>
              <a:t>to better decisions and better spending. 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Makes </a:t>
            </a:r>
            <a:r>
              <a:rPr lang="en-US" dirty="0"/>
              <a:t>it easier to track and confront threats to health at all levels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KINDS OF INFORMATION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different kinds of information needed include: 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/>
              <a:t>Health  determinants </a:t>
            </a:r>
            <a:r>
              <a:rPr lang="en-US" dirty="0"/>
              <a:t>-socioeconomic,  environmental,  </a:t>
            </a:r>
            <a:r>
              <a:rPr lang="en-US" dirty="0" err="1"/>
              <a:t>behavioural</a:t>
            </a:r>
            <a:r>
              <a:rPr lang="en-US" dirty="0"/>
              <a:t>  and  genetic  factors) </a:t>
            </a:r>
            <a:r>
              <a:rPr lang="en-US" dirty="0" smtClean="0"/>
              <a:t>and the contextual environments within which the health system operates; 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/>
              <a:t>Inputs  to  the  health  system  and  related  processes </a:t>
            </a:r>
            <a:r>
              <a:rPr lang="en-US" dirty="0"/>
              <a:t>- policy  and </a:t>
            </a:r>
            <a:r>
              <a:rPr lang="en-US" dirty="0" err="1"/>
              <a:t>organisation</a:t>
            </a:r>
            <a:r>
              <a:rPr lang="en-US" dirty="0"/>
              <a:t>,  health </a:t>
            </a:r>
            <a:r>
              <a:rPr lang="en-US" dirty="0" smtClean="0"/>
              <a:t> facilities and equipment, costs, human and financial resources and health information </a:t>
            </a:r>
            <a:r>
              <a:rPr lang="en-US" dirty="0"/>
              <a:t>systems; 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 </a:t>
            </a:r>
            <a:r>
              <a:rPr lang="en-US" b="1" dirty="0"/>
              <a:t>The  performance  or  outputs  of  the  health  system- </a:t>
            </a:r>
            <a:r>
              <a:rPr lang="en-US" dirty="0"/>
              <a:t>availability,  accessibility,  quality </a:t>
            </a:r>
            <a:r>
              <a:rPr lang="en-US" dirty="0" smtClean="0"/>
              <a:t>and </a:t>
            </a:r>
            <a:r>
              <a:rPr lang="en-US" dirty="0"/>
              <a:t>use of health information and services, responsiveness of the system to user needs, </a:t>
            </a:r>
            <a:r>
              <a:rPr lang="en-US" dirty="0" smtClean="0"/>
              <a:t>and </a:t>
            </a:r>
            <a:r>
              <a:rPr lang="en-US" dirty="0"/>
              <a:t>financial risk protection; 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 </a:t>
            </a:r>
            <a:r>
              <a:rPr lang="en-US" b="1" dirty="0"/>
              <a:t>Health outcomes </a:t>
            </a:r>
            <a:r>
              <a:rPr lang="en-US" dirty="0"/>
              <a:t>- mortality, morbidity, disease outbreaks, health status, disability </a:t>
            </a:r>
            <a:r>
              <a:rPr lang="en-US" dirty="0" smtClean="0"/>
              <a:t>and wellbeing 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 </a:t>
            </a:r>
            <a:r>
              <a:rPr lang="en-US" b="1" dirty="0"/>
              <a:t>Health inequities- </a:t>
            </a:r>
            <a:r>
              <a:rPr lang="en-US" dirty="0"/>
              <a:t>determinants, coverage of use of services, and health outcomes, </a:t>
            </a:r>
            <a:r>
              <a:rPr lang="en-US" dirty="0" smtClean="0"/>
              <a:t>and including  </a:t>
            </a:r>
            <a:r>
              <a:rPr lang="en-US" dirty="0"/>
              <a:t>key  </a:t>
            </a:r>
            <a:r>
              <a:rPr lang="en-US" dirty="0" err="1"/>
              <a:t>stratifiers</a:t>
            </a:r>
            <a:r>
              <a:rPr lang="en-US" dirty="0"/>
              <a:t>  such  as  sex,  socioeconomic  status,  ethnic  group  </a:t>
            </a:r>
            <a:r>
              <a:rPr lang="en-US" dirty="0" smtClean="0"/>
              <a:t>and geographical </a:t>
            </a:r>
            <a:r>
              <a:rPr lang="en-US" dirty="0"/>
              <a:t>location. 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5210"/>
          </a:xfrm>
        </p:spPr>
        <p:txBody>
          <a:bodyPr/>
          <a:lstStyle/>
          <a:p>
            <a:r>
              <a:rPr lang="en-US" dirty="0" smtClean="0"/>
              <a:t>DATA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5211"/>
            <a:ext cx="10515600" cy="5812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Information  Source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based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-Census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household  surveys,  specials  studies,  civil/vital  registration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service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information-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 service  statistics,  national  health  accounts,  electronic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service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management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-Financial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 system,  human  resource  information  system,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supplies information system, service statistics system,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 system, pharmaceutical procurement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health information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Academic,  research  institutions  and  international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survey findings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702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THREE COMPONENTS OF 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2150"/>
            <a:ext cx="10515600" cy="587828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ability  of  those  responsible  to  lead  and  co-ordinate  the  process;  the  existence 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and policies; financial resources and people with the necessary skills to do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the  infrastructure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these includes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 set of measures that show changes in health profile;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– an integrated HIS brings together data from a variety of sources;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3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information  produced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 outputs – should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be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relevant,  accessible,  and  useful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decision making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products are collated from a range of sources,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usable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compared;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Dissemination  and  use.   Through  widespread  dissemination  and  use of  information </a:t>
            </a:r>
            <a:r>
              <a:rPr lang="en-US" dirty="0" smtClean="0"/>
              <a:t>products</a:t>
            </a:r>
            <a:r>
              <a:rPr lang="en-US" dirty="0"/>
              <a:t>, the HIS provides direct  benefit to all those who participate  in  it, providing </a:t>
            </a:r>
            <a:r>
              <a:rPr lang="en-US" dirty="0" smtClean="0"/>
              <a:t>an </a:t>
            </a:r>
            <a:r>
              <a:rPr lang="en-US" dirty="0"/>
              <a:t>ongoing incentive for users to continue to strengthen the system.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INFORMATION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Data collection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Data transmission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Data processing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Data analysis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Information for use in planning and management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867990" y="2286000"/>
            <a:ext cx="26124" cy="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own Arrow 7"/>
          <p:cNvSpPr/>
          <p:nvPr/>
        </p:nvSpPr>
        <p:spPr>
          <a:xfrm>
            <a:off x="1894114" y="2299063"/>
            <a:ext cx="484632" cy="627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1711234" y="3278777"/>
            <a:ext cx="667512" cy="4702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1816390" y="4245429"/>
            <a:ext cx="562356" cy="4833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1881052" y="4976949"/>
            <a:ext cx="484632" cy="6531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3213463" y="1998617"/>
            <a:ext cx="4885508" cy="3775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Kenya  National  Health  Information  system  (NHIS)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a  comprehensive  and  integrated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 collects,  collates,  analyses,  evaluates,  stores,  disseminates  health  and  health-related  data  and  information  for  use  by  all. 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NHIS  seeks  to  address  such  issues  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partnership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data collection and information sharing, guidelines on data processing and 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warehousing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 well  as  instituting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mandatory  reporting  by  all  care  providers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and private) and quality in data management in the health sector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Composition of NHIS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health statistics including Ministry of Health,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Kenya National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Bureau  of  Statistics  (KNBS),  vital  registration,  private  health  institutions,  research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FBOs amongst others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Committee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NHISCC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made  up  of  representatives  from senior  level  officers  in 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Health, statistical  constituencies  and  development  partners.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Concerned with provision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advisory role for health and social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welfare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management  in close  collaboration  with  other  strategic  partners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KNBS  and  Vital  Registration.  The  committee  ensures  unified 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collection, collation, processing and dissemination.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GENERAL PUBLIC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 that  any  vital  events  or  other  significant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 occurrences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the  community  are  reported  to  the  responsible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PRIVATE SECTOR 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 service  providers  in  the private  sector  have  a  mandatory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  to  submit  their  health  data  regularly  including  data  on  all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surveillance.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4.NON-GOVERNMENTAL ORGANISATIONS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 for  ensuring  that  all  health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facilities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their respective umbrellas adhere to the NHIS. In collaboration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Ministry of Health and other partners, NGOs are expected to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mobilise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NHIS  and  ensure  efficient  data  and  information  management  in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satellite facilities.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Ministry of Health - Roles by level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Unit (CU) should maintain and update its CHIS that shall be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shared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 with  household  members  in  a  forum  as  stated  in  the  health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sector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 strategy. The  community  health  workers  maintain  registers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activities and reporting regularly to supervising health facility.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HEALTH  FACILITIES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update  HIS  data  which  include  records,  filing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system(s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registry for primary data collection tools such as registers, cards,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folders,  summary  forms  such  as  reporting  forms,  CDs,  electronic  backups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safeguarded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any risks e.g. fire, floods, access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unauthorised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person, etc.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 facility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health  and  health  related  data  from 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health facility,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disseminate and use the information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provide feedback then transmit summaries to the next level.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SUB-COUNTY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 an oversight  responsibility  to  manage  all  health  and  health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all service providers within their area of jurisdiction.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 provides technical,  material  and  financial  support  to  all  service providers in HIS.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maintains a data repository.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Collaborates  and  work  in  partnership  with  other  statistical constituencies at the sub-county level to build one HIS.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 should  collate,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disseminate,  use  health  and  health  related data from all health facilities/providers and give feedback to all health care providers.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COUNTY GOVERNMENT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 oversight  responsibility  to  manage  all  health 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data from all service providers within their area of jurisdiction.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technical,  material  and  financial  support  to  all  sub-county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service providers in HIS.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data repository for the county.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Collaborates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works  in  partnership  with  other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constituencies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provincial level to build one HIS.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Collates,  analyses,  disseminates  and  makes  use  health  and  health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all sub-counties and gives feedback to all health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care providers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submitting the same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5333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6"/>
            <a:ext cx="10515600" cy="60481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oversight responsibility to manage all health and health related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all service providers.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 technical,  material  and  financial  support  to  all  counties 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providers in HIS.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 and formulates policies.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minimum data sets and data requirements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 sector.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Collate,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disseminate  and  use  health  and  health  related  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counties and service providers and provide feedback to all.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maintains a national data repository.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Collaborates  and  works  in  partnership  with  other  statistical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constituencies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national to build one HIS.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314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BENEFITS OF HMIS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8274"/>
            <a:ext cx="10515600" cy="698862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Helping decision makers to detect and control emerging and endemic health problems.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 in monitoring progress towards health goals and promote equity.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Empowering individuals and communities with timely and understandable health related information.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Improving quality of services.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the evidence base for effective health policies.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Permitting evaluation of scale up efforts and enabling innovation through research.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Mobilizing new resources and ensuring accountability in the way they are used.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governance.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facing HIS in Kenya today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7409"/>
            <a:ext cx="10515600" cy="5786846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Competing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or inadequacy of requisite skills at all levels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personnel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staff morale, poor working and storage space at all level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supply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equipments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computers and printers,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facing HIS in Kenya cont..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 base at all levels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feedback/data sharing mechanism and poor dissemination at all levels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facilitative supervision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finances/unclear funding mechanism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reporting tools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report and incomplete reports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469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solutions of the challenges facing HIS in Kenya today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2594"/>
            <a:ext cx="10515600" cy="378822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staff skills and understanding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Intensify data sharing to create demand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local information systems and structures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information culture (Data Demand and Information Use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THANK YOU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14938</Words>
  <Application>WPS Presentation</Application>
  <PresentationFormat>Widescreen</PresentationFormat>
  <Paragraphs>298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OBJECTIVES</vt:lpstr>
      <vt:lpstr>DEFINITION</vt:lpstr>
      <vt:lpstr>CONT’</vt:lpstr>
      <vt:lpstr>CONT</vt:lpstr>
      <vt:lpstr>The broad objectives of HIS</vt:lpstr>
      <vt:lpstr>CONT’</vt:lpstr>
      <vt:lpstr>PowerPoint 演示文稿</vt:lpstr>
      <vt:lpstr>METHODS DATA COLLECTION</vt:lpstr>
      <vt:lpstr>METHODS OF DATA STORAGE</vt:lpstr>
      <vt:lpstr>PowerPoint 演示文稿</vt:lpstr>
      <vt:lpstr>CONT’</vt:lpstr>
      <vt:lpstr>The Ahima model (1998) includes following characteristics of quality data</vt:lpstr>
      <vt:lpstr>CONT’</vt:lpstr>
      <vt:lpstr>Types of HMIS</vt:lpstr>
      <vt:lpstr>Principle of HIS- Characteristics of well designed HIS</vt:lpstr>
      <vt:lpstr>IMPORTANCE OF HIS</vt:lpstr>
      <vt:lpstr>DIFFERENT KINDS OF INFORMATION NEEDS</vt:lpstr>
      <vt:lpstr>DATA SOURCES</vt:lpstr>
      <vt:lpstr>THREE COMPONENTS OF HIS</vt:lpstr>
      <vt:lpstr>CONT.</vt:lpstr>
      <vt:lpstr>INFORMATION PROCESS</vt:lpstr>
      <vt:lpstr>The  Kenya  National  Health  Information  system  (NHIS)</vt:lpstr>
      <vt:lpstr>Composition of NHIS</vt:lpstr>
      <vt:lpstr>RESPONSIBILITIES</vt:lpstr>
      <vt:lpstr>2. GENERAL PUBLIC </vt:lpstr>
      <vt:lpstr>PowerPoint 演示文稿</vt:lpstr>
      <vt:lpstr>Ministry of Health - Roles by level </vt:lpstr>
      <vt:lpstr>HEALTH  FACILITIES LEVEL</vt:lpstr>
      <vt:lpstr>SUB-COUNTY LEVEL</vt:lpstr>
      <vt:lpstr>COUNTY GOVERNMENT</vt:lpstr>
      <vt:lpstr>MOH</vt:lpstr>
      <vt:lpstr>BENEFITS OF HMIS</vt:lpstr>
      <vt:lpstr>Challenges facing HIS in Kenya today</vt:lpstr>
      <vt:lpstr>Possible solutions of the challenges facing HIS in Kenya today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MAURINE MAONI</cp:lastModifiedBy>
  <cp:revision>59</cp:revision>
  <dcterms:created xsi:type="dcterms:W3CDTF">2021-02-14T10:30:00Z</dcterms:created>
  <dcterms:modified xsi:type="dcterms:W3CDTF">2026-09-25T09:35:35Z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0ADC9FDC4CB3495F9A00611BC97DE03B_13</vt:lpwstr>
  </property>
  <property fmtid="{D5CDD505-2E9C-101B-9397-08002B2CF9AE}" pid="3" name="KSOProductBuildVer">
    <vt:lpwstr>1033-12.1.0.28485</vt:lpwstr>
  </property>
</Properties>
</file>