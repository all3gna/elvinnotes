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314" autoAdjust="0"/>
    <p:restoredTop sz="95673"/>
  </p:normalViewPr>
  <p:slideViewPr>
    <p:cSldViewPr snapToGrid="0">
      <p:cViewPr varScale="1">
        <p:scale>
          <a:sx n="85" d="100"/>
          <a:sy n="85" d="100"/>
        </p:scale>
        <p:origin x="208"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image" Target="../media/image4.pn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11/9/24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25.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485900"/>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THE TRI-CARBOXYLIC ACID (TCA) CYCLE</a:t>
            </a:r>
            <a:r>
              <a:rPr lang="en-GB" sz="4000" b="1" dirty="0">
                <a:solidFill>
                  <a:srgbClr val="FF0000"/>
                </a:solidFill>
                <a:latin typeface="Times New Roman" panose="02020603050405020304" pitchFamily="18" charset="0"/>
                <a:cs typeface="Times New Roman" panose="02020603050405020304" pitchFamily="18" charset="0"/>
              </a:rPr>
              <a:t/>
            </a:r>
            <a:br>
              <a:rPr lang="en-GB" sz="4000" b="1" dirty="0">
                <a:solidFill>
                  <a:srgbClr val="FF0000"/>
                </a:solidFill>
                <a:latin typeface="Times New Roman" panose="02020603050405020304" pitchFamily="18" charset="0"/>
                <a:cs typeface="Times New Roman" panose="02020603050405020304" pitchFamily="18" charset="0"/>
              </a:rPr>
            </a:br>
            <a:endParaRPr lang="en-GB" sz="40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71513"/>
            <a:ext cx="12192000" cy="6186487"/>
          </a:xfrm>
        </p:spPr>
        <p:txBody>
          <a:bodyPr>
            <a:normAutofit/>
          </a:bodyPr>
          <a:lstStyle/>
          <a:p>
            <a:pPr algn="just"/>
            <a:r>
              <a:rPr lang="en-US" sz="3200" dirty="0">
                <a:latin typeface="Times New Roman" panose="02020603050405020304" pitchFamily="18" charset="0"/>
                <a:cs typeface="Times New Roman" panose="02020603050405020304" pitchFamily="18" charset="0"/>
              </a:rPr>
              <a:t>The TCA cycle is also called Citric Acid Cycle or Krebs’s Cycle. </a:t>
            </a:r>
          </a:p>
          <a:p>
            <a:pPr algn="just"/>
            <a:r>
              <a:rPr lang="en-US" sz="3200" dirty="0">
                <a:latin typeface="Times New Roman" panose="02020603050405020304" pitchFamily="18" charset="0"/>
                <a:cs typeface="Times New Roman" panose="02020603050405020304" pitchFamily="18" charset="0"/>
              </a:rPr>
              <a:t>It is called the Krebs cycle in </a:t>
            </a:r>
            <a:r>
              <a:rPr lang="en-US" sz="3200" dirty="0" err="1">
                <a:latin typeface="Times New Roman" panose="02020603050405020304" pitchFamily="18" charset="0"/>
                <a:cs typeface="Times New Roman" panose="02020603050405020304" pitchFamily="18" charset="0"/>
              </a:rPr>
              <a:t>honour</a:t>
            </a:r>
            <a:r>
              <a:rPr lang="en-US" sz="3200" dirty="0">
                <a:latin typeface="Times New Roman" panose="02020603050405020304" pitchFamily="18" charset="0"/>
                <a:cs typeface="Times New Roman" panose="02020603050405020304" pitchFamily="18" charset="0"/>
              </a:rPr>
              <a:t> of Sir Hans Krebs, the scientist who first formulated the cyclic nature of its reactions. </a:t>
            </a:r>
          </a:p>
          <a:p>
            <a:pPr algn="just"/>
            <a:r>
              <a:rPr lang="en-US" sz="3200" dirty="0">
                <a:latin typeface="Times New Roman" panose="02020603050405020304" pitchFamily="18" charset="0"/>
                <a:cs typeface="Times New Roman" panose="02020603050405020304" pitchFamily="18" charset="0"/>
              </a:rPr>
              <a:t>It is also called the citric acid cycle because citrate was one of the first compounds known to participate. </a:t>
            </a:r>
          </a:p>
          <a:p>
            <a:pPr algn="just"/>
            <a:r>
              <a:rPr lang="en-US" sz="3200" dirty="0">
                <a:latin typeface="Times New Roman" panose="02020603050405020304" pitchFamily="18" charset="0"/>
                <a:cs typeface="Times New Roman" panose="02020603050405020304" pitchFamily="18" charset="0"/>
              </a:rPr>
              <a:t>The most common name for this pathway is the </a:t>
            </a:r>
            <a:r>
              <a:rPr lang="en-US" sz="3200" dirty="0" err="1">
                <a:latin typeface="Times New Roman" panose="02020603050405020304" pitchFamily="18" charset="0"/>
                <a:cs typeface="Times New Roman" panose="02020603050405020304" pitchFamily="18" charset="0"/>
              </a:rPr>
              <a:t>tricarboxylic</a:t>
            </a:r>
            <a:r>
              <a:rPr lang="en-US" sz="3200" dirty="0">
                <a:latin typeface="Times New Roman" panose="02020603050405020304" pitchFamily="18" charset="0"/>
                <a:cs typeface="Times New Roman" panose="02020603050405020304" pitchFamily="18" charset="0"/>
              </a:rPr>
              <a:t> acid or TCA cycle, denotes the involvement of the </a:t>
            </a:r>
            <a:r>
              <a:rPr lang="en-US" sz="3200" dirty="0" err="1">
                <a:latin typeface="Times New Roman" panose="02020603050405020304" pitchFamily="18" charset="0"/>
                <a:cs typeface="Times New Roman" panose="02020603050405020304" pitchFamily="18" charset="0"/>
              </a:rPr>
              <a:t>tricarboxylates</a:t>
            </a:r>
            <a:r>
              <a:rPr lang="en-US" sz="3200" dirty="0">
                <a:latin typeface="Times New Roman" panose="02020603050405020304" pitchFamily="18" charset="0"/>
                <a:cs typeface="Times New Roman" panose="02020603050405020304" pitchFamily="18" charset="0"/>
              </a:rPr>
              <a:t> citrate and </a:t>
            </a:r>
            <a:r>
              <a:rPr lang="en-US" sz="3200" dirty="0" err="1">
                <a:latin typeface="Times New Roman" panose="02020603050405020304" pitchFamily="18" charset="0"/>
                <a:cs typeface="Times New Roman" panose="02020603050405020304" pitchFamily="18" charset="0"/>
              </a:rPr>
              <a:t>isocitrate</a:t>
            </a:r>
            <a:r>
              <a:rPr lang="en-US" sz="3200" dirty="0">
                <a:latin typeface="Times New Roman" panose="02020603050405020304" pitchFamily="18" charset="0"/>
                <a:cs typeface="Times New Roman" panose="02020603050405020304" pitchFamily="18" charset="0"/>
              </a:rPr>
              <a:t>.</a:t>
            </a:r>
            <a:endParaRPr lang="en-GB" sz="3200" dirty="0">
              <a:latin typeface="Times New Roman" panose="02020603050405020304" pitchFamily="18" charset="0"/>
              <a:cs typeface="Times New Roman" panose="02020603050405020304" pitchFamily="18" charset="0"/>
            </a:endParaRPr>
          </a:p>
          <a:p>
            <a:pPr algn="just"/>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5391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
            <a:ext cx="9601196" cy="1143000"/>
          </a:xfrm>
        </p:spPr>
        <p:txBody>
          <a:bodyPr>
            <a:normAutofit fontScale="90000"/>
          </a:bodyPr>
          <a:lstStyle/>
          <a:p>
            <a:r>
              <a:rPr lang="en-US" b="1" dirty="0"/>
              <a:t> </a:t>
            </a:r>
            <a:r>
              <a:rPr lang="en-US" b="1" dirty="0">
                <a:solidFill>
                  <a:srgbClr val="FF0000"/>
                </a:solidFill>
              </a:rPr>
              <a:t>Significance of TCA cycle</a:t>
            </a:r>
            <a:r>
              <a:rPr lang="en-GB" b="1" i="1" dirty="0">
                <a:solidFill>
                  <a:srgbClr val="FF0000"/>
                </a:solidFill>
              </a:rPr>
              <a:t/>
            </a:r>
            <a:br>
              <a:rPr lang="en-GB" b="1" i="1"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542925"/>
            <a:ext cx="12087225" cy="6315075"/>
          </a:xfrm>
        </p:spPr>
        <p:txBody>
          <a:bodyPr/>
          <a:lstStyle/>
          <a:p>
            <a:r>
              <a:rPr lang="en-US" sz="3200" dirty="0">
                <a:latin typeface="Times New Roman" panose="02020603050405020304" pitchFamily="18" charset="0"/>
                <a:cs typeface="Times New Roman" panose="02020603050405020304" pitchFamily="18" charset="0"/>
              </a:rPr>
              <a:t>The citric acid cycle is the final common pathway for the oxidation of carbohydrates, lipids, and protein because glucose, fatty acids, and most amino acids are metabolized to acetyl-CoA or intermediates of the cycle. </a:t>
            </a:r>
          </a:p>
          <a:p>
            <a:r>
              <a:rPr lang="en-US" sz="3200" dirty="0">
                <a:latin typeface="Times New Roman" panose="02020603050405020304" pitchFamily="18" charset="0"/>
                <a:cs typeface="Times New Roman" panose="02020603050405020304" pitchFamily="18" charset="0"/>
              </a:rPr>
              <a:t>It also has a central role in gluconeogenesis, </a:t>
            </a:r>
            <a:r>
              <a:rPr lang="en-US" sz="3200" dirty="0" err="1">
                <a:latin typeface="Times New Roman" panose="02020603050405020304" pitchFamily="18" charset="0"/>
                <a:cs typeface="Times New Roman" panose="02020603050405020304" pitchFamily="18" charset="0"/>
              </a:rPr>
              <a:t>lipogenesis</a:t>
            </a:r>
            <a:r>
              <a:rPr lang="en-US" sz="3200" dirty="0">
                <a:latin typeface="Times New Roman" panose="02020603050405020304" pitchFamily="18" charset="0"/>
                <a:cs typeface="Times New Roman" panose="02020603050405020304" pitchFamily="18" charset="0"/>
              </a:rPr>
              <a:t>, and </a:t>
            </a:r>
            <a:r>
              <a:rPr lang="en-US" sz="3200" dirty="0" err="1">
                <a:latin typeface="Times New Roman" panose="02020603050405020304" pitchFamily="18" charset="0"/>
                <a:cs typeface="Times New Roman" panose="02020603050405020304" pitchFamily="18" charset="0"/>
              </a:rPr>
              <a:t>interconversion</a:t>
            </a:r>
            <a:r>
              <a:rPr lang="en-US" sz="3200" dirty="0">
                <a:latin typeface="Times New Roman" panose="02020603050405020304" pitchFamily="18" charset="0"/>
                <a:cs typeface="Times New Roman" panose="02020603050405020304" pitchFamily="18" charset="0"/>
              </a:rPr>
              <a:t> of amino acids. </a:t>
            </a:r>
          </a:p>
          <a:p>
            <a:r>
              <a:rPr lang="en-US" sz="3200" dirty="0">
                <a:latin typeface="Times New Roman" panose="02020603050405020304" pitchFamily="18" charset="0"/>
                <a:cs typeface="Times New Roman" panose="02020603050405020304" pitchFamily="18" charset="0"/>
              </a:rPr>
              <a:t>Many of these processes occur in most tissues, but the liver is the only tissue in which all occur to a significant extent.</a:t>
            </a:r>
            <a:endParaRPr lang="en-GB" sz="3200" dirty="0">
              <a:latin typeface="Times New Roman" panose="02020603050405020304" pitchFamily="18" charset="0"/>
              <a:cs typeface="Times New Roman" panose="02020603050405020304" pitchFamily="18" charset="0"/>
            </a:endParaRPr>
          </a:p>
          <a:p>
            <a:r>
              <a:rPr lang="en-US" dirty="0"/>
              <a:t> </a:t>
            </a:r>
            <a:endParaRPr lang="en-GB" dirty="0"/>
          </a:p>
          <a:p>
            <a:endParaRPr lang="en-GB" dirty="0"/>
          </a:p>
        </p:txBody>
      </p:sp>
    </p:spTree>
    <p:extLst>
      <p:ext uri="{BB962C8B-B14F-4D97-AF65-F5344CB8AC3E}">
        <p14:creationId xmlns:p14="http://schemas.microsoft.com/office/powerpoint/2010/main" val="388916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85737"/>
            <a:ext cx="12192000" cy="771526"/>
          </a:xfrm>
        </p:spPr>
        <p:txBody>
          <a:bodyPr>
            <a:normAutofit/>
          </a:bodyPr>
          <a:lstStyle/>
          <a:p>
            <a:r>
              <a:rPr lang="en-US" b="1" dirty="0">
                <a:solidFill>
                  <a:srgbClr val="FF0000"/>
                </a:solidFill>
              </a:rPr>
              <a:t>Catabolic and anabolic functions of TCA cycle</a:t>
            </a:r>
            <a:endParaRPr lang="en-GB" dirty="0">
              <a:solidFill>
                <a:srgbClr val="FF0000"/>
              </a:solidFill>
            </a:endParaRPr>
          </a:p>
        </p:txBody>
      </p:sp>
      <p:sp>
        <p:nvSpPr>
          <p:cNvPr id="3" name="Content Placeholder 2"/>
          <p:cNvSpPr>
            <a:spLocks noGrp="1"/>
          </p:cNvSpPr>
          <p:nvPr>
            <p:ph idx="1"/>
          </p:nvPr>
        </p:nvSpPr>
        <p:spPr>
          <a:xfrm>
            <a:off x="0" y="585789"/>
            <a:ext cx="12192000" cy="6272211"/>
          </a:xfrm>
        </p:spPr>
        <p:txBody>
          <a:bodyPr>
            <a:normAutofit/>
          </a:bodyPr>
          <a:lstStyle/>
          <a:p>
            <a:pPr lvl="0"/>
            <a:r>
              <a:rPr lang="en-US" sz="3200" dirty="0">
                <a:latin typeface="Times New Roman" panose="02020603050405020304" pitchFamily="18" charset="0"/>
                <a:cs typeface="Times New Roman" panose="02020603050405020304" pitchFamily="18" charset="0"/>
              </a:rPr>
              <a:t>The TCA cycle is an integral part of the process by which much of the free energy liberated during the oxidation of fuels is made available. The energy is in the form of reducing equivalents NADH and FADH, and triphosphates GTP and ATP. </a:t>
            </a:r>
            <a:endParaRPr lang="en-GB"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It provides CO</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used for gluconeogenesis, fatty acid synthesis, urea synthesis and nucleotide synthesis.  </a:t>
            </a:r>
            <a:endParaRPr lang="en-GB"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It provides precursors for gluconeogenesis (all intermediates), amino acid synthesis (non-essential amino acids), </a:t>
            </a:r>
            <a:r>
              <a:rPr lang="en-US" sz="3200" dirty="0" err="1">
                <a:latin typeface="Times New Roman" panose="02020603050405020304" pitchFamily="18" charset="0"/>
                <a:cs typeface="Times New Roman" panose="02020603050405020304" pitchFamily="18" charset="0"/>
              </a:rPr>
              <a:t>haeme</a:t>
            </a:r>
            <a:r>
              <a:rPr lang="en-US" sz="3200" dirty="0">
                <a:latin typeface="Times New Roman" panose="02020603050405020304" pitchFamily="18" charset="0"/>
                <a:cs typeface="Times New Roman" panose="02020603050405020304" pitchFamily="18" charset="0"/>
              </a:rPr>
              <a:t> synthesis (</a:t>
            </a:r>
            <a:r>
              <a:rPr lang="en-US" sz="3200" dirty="0" err="1">
                <a:latin typeface="Times New Roman" panose="02020603050405020304" pitchFamily="18" charset="0"/>
                <a:cs typeface="Times New Roman" panose="02020603050405020304" pitchFamily="18" charset="0"/>
              </a:rPr>
              <a:t>succinyl</a:t>
            </a:r>
            <a:r>
              <a:rPr lang="en-US" sz="3200" dirty="0">
                <a:latin typeface="Times New Roman" panose="02020603050405020304" pitchFamily="18" charset="0"/>
                <a:cs typeface="Times New Roman" panose="02020603050405020304" pitchFamily="18" charset="0"/>
              </a:rPr>
              <a:t> CoA), and fatty acid synthesis (citrate). </a:t>
            </a:r>
            <a:endParaRPr lang="en-GB"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It regulates other metabolic pathways – citrate inhibits phosphofructokinase-1.</a:t>
            </a:r>
            <a:endParaRPr lang="en-GB" sz="3200" dirty="0">
              <a:latin typeface="Times New Roman" panose="02020603050405020304" pitchFamily="18" charset="0"/>
              <a:cs typeface="Times New Roman" panose="02020603050405020304" pitchFamily="18" charset="0"/>
            </a:endParaRPr>
          </a:p>
          <a:p>
            <a:endParaRPr lang="en-GB" sz="3200"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72691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14400"/>
          </a:xfrm>
        </p:spPr>
        <p:txBody>
          <a:bodyPr>
            <a:normAutofit fontScale="90000"/>
          </a:bodyPr>
          <a:lstStyle/>
          <a:p>
            <a:r>
              <a:rPr lang="en-US" b="1" dirty="0">
                <a:solidFill>
                  <a:srgbClr val="FF0000"/>
                </a:solidFill>
              </a:rPr>
              <a:t>Enzymatic conversion of Pyruvate to acetyl CoA</a:t>
            </a:r>
            <a:r>
              <a:rPr lang="en-GB" b="1" i="1" dirty="0">
                <a:solidFill>
                  <a:srgbClr val="FF0000"/>
                </a:solidFill>
              </a:rPr>
              <a:t/>
            </a:r>
            <a:br>
              <a:rPr lang="en-GB" b="1" i="1"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471488"/>
            <a:ext cx="12044363" cy="6386512"/>
          </a:xfrm>
        </p:spPr>
        <p:txBody>
          <a:bodyPr>
            <a:noAutofit/>
          </a:bodyPr>
          <a:lstStyle/>
          <a:p>
            <a:pPr algn="just"/>
            <a:r>
              <a:rPr lang="en-US" sz="2800" dirty="0">
                <a:latin typeface="Times New Roman" panose="02020603050405020304" pitchFamily="18" charset="0"/>
                <a:cs typeface="Times New Roman" panose="02020603050405020304" pitchFamily="18" charset="0"/>
              </a:rPr>
              <a:t>The fate of pyruvate produced during glycolysis and oxidation of other biofuels depends on the amount of energy in the tissues.</a:t>
            </a:r>
          </a:p>
          <a:p>
            <a:pPr algn="just"/>
            <a:r>
              <a:rPr lang="en-US" sz="2800" dirty="0">
                <a:latin typeface="Times New Roman" panose="02020603050405020304" pitchFamily="18" charset="0"/>
                <a:cs typeface="Times New Roman" panose="02020603050405020304" pitchFamily="18" charset="0"/>
              </a:rPr>
              <a:t> If tissues have adequate energy pyruvate is oxidized through </a:t>
            </a:r>
            <a:r>
              <a:rPr lang="en-US" sz="2800" dirty="0" err="1">
                <a:latin typeface="Times New Roman" panose="02020603050405020304" pitchFamily="18" charset="0"/>
                <a:cs typeface="Times New Roman" panose="02020603050405020304" pitchFamily="18" charset="0"/>
              </a:rPr>
              <a:t>gluconeonegenesis</a:t>
            </a:r>
            <a:r>
              <a:rPr lang="en-US" sz="2800" dirty="0">
                <a:latin typeface="Times New Roman" panose="02020603050405020304" pitchFamily="18" charset="0"/>
                <a:cs typeface="Times New Roman" panose="02020603050405020304" pitchFamily="18" charset="0"/>
              </a:rPr>
              <a:t> to generate glucose which can be converted glycogen for storage.</a:t>
            </a:r>
          </a:p>
          <a:p>
            <a:pPr algn="just"/>
            <a:r>
              <a:rPr lang="en-US" sz="2800" dirty="0">
                <a:latin typeface="Times New Roman" panose="02020603050405020304" pitchFamily="18" charset="0"/>
                <a:cs typeface="Times New Roman" panose="02020603050405020304" pitchFamily="18" charset="0"/>
              </a:rPr>
              <a:t> However, when the energy is low pyruvate is preferentially oxidized to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and 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 in the TCA cycle, with generation of 15 molecules ATP per pyruvate. </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enzymatic activities of the TCA cycle (and of oxidative phosphorylation) are located in the mitochondrion. </a:t>
            </a:r>
          </a:p>
          <a:p>
            <a:pPr algn="just"/>
            <a:r>
              <a:rPr lang="en-US" sz="2800" dirty="0">
                <a:latin typeface="Times New Roman" panose="02020603050405020304" pitchFamily="18" charset="0"/>
                <a:cs typeface="Times New Roman" panose="02020603050405020304" pitchFamily="18" charset="0"/>
              </a:rPr>
              <a:t>When transported into the mitochondrion, pyruvate encounters two principal metabolizing enzymes: pyruvate carboxylase (a </a:t>
            </a:r>
            <a:r>
              <a:rPr lang="en-US" sz="2800" dirty="0" err="1">
                <a:latin typeface="Times New Roman" panose="02020603050405020304" pitchFamily="18" charset="0"/>
                <a:cs typeface="Times New Roman" panose="02020603050405020304" pitchFamily="18" charset="0"/>
              </a:rPr>
              <a:t>gluconeogenic</a:t>
            </a:r>
            <a:r>
              <a:rPr lang="en-US" sz="2800" dirty="0">
                <a:latin typeface="Times New Roman" panose="02020603050405020304" pitchFamily="18" charset="0"/>
                <a:cs typeface="Times New Roman" panose="02020603050405020304" pitchFamily="18" charset="0"/>
              </a:rPr>
              <a:t> enzyme) and pyruvate dehydrogenase (PDH), the first enzyme of the PDH complex.</a:t>
            </a:r>
          </a:p>
          <a:p>
            <a:pPr algn="just"/>
            <a:r>
              <a:rPr lang="en-US" sz="2800" dirty="0">
                <a:latin typeface="Times New Roman" panose="02020603050405020304" pitchFamily="18" charset="0"/>
                <a:cs typeface="Times New Roman" panose="02020603050405020304" pitchFamily="18" charset="0"/>
              </a:rPr>
              <a:t> The activities of these two enzymes depend on the acylation state </a:t>
            </a:r>
            <a:r>
              <a:rPr lang="en-US" sz="2800" dirty="0" err="1">
                <a:latin typeface="Times New Roman" panose="02020603050405020304" pitchFamily="18" charset="0"/>
                <a:cs typeface="Times New Roman" panose="02020603050405020304" pitchFamily="18" charset="0"/>
              </a:rPr>
              <a:t>state</a:t>
            </a:r>
            <a:r>
              <a:rPr lang="en-US" sz="2800" dirty="0">
                <a:latin typeface="Times New Roman" panose="02020603050405020304" pitchFamily="18" charset="0"/>
                <a:cs typeface="Times New Roman" panose="02020603050405020304" pitchFamily="18" charset="0"/>
              </a:rPr>
              <a:t> of Coenzyme A (CoA). </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250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Title 1"/>
          <p:cNvSpPr>
            <a:spLocks noGrp="1"/>
          </p:cNvSpPr>
          <p:nvPr>
            <p:ph type="title"/>
          </p:nvPr>
        </p:nvSpPr>
        <p:spPr>
          <a:xfrm>
            <a:off x="1295402" y="0"/>
            <a:ext cx="9601196" cy="614363"/>
          </a:xfrm>
        </p:spPr>
        <p:txBody>
          <a:bodyPr>
            <a:normAutofit fontScale="90000"/>
          </a:bodyPr>
          <a:lstStyle/>
          <a:p>
            <a:r>
              <a:rPr lang="en-GB" dirty="0">
                <a:solidFill>
                  <a:srgbClr val="FF0000"/>
                </a:solidFill>
              </a:rPr>
              <a:t>CONT’</a:t>
            </a:r>
          </a:p>
        </p:txBody>
      </p:sp>
      <p:sp>
        <p:nvSpPr>
          <p:cNvPr id="3" name="Content Placeholder 2"/>
          <p:cNvSpPr>
            <a:spLocks noGrp="1"/>
          </p:cNvSpPr>
          <p:nvPr>
            <p:ph idx="1"/>
          </p:nvPr>
        </p:nvSpPr>
        <p:spPr>
          <a:xfrm>
            <a:off x="0" y="771525"/>
            <a:ext cx="12192000" cy="6086474"/>
          </a:xfrm>
        </p:spPr>
        <p:txBody>
          <a:bodyPr>
            <a:noAutofit/>
          </a:bodyPr>
          <a:lstStyle/>
          <a:p>
            <a:pPr algn="just"/>
            <a:r>
              <a:rPr lang="en-US" sz="2800" dirty="0">
                <a:latin typeface="Times New Roman" panose="02020603050405020304" pitchFamily="18" charset="0"/>
                <a:cs typeface="Times New Roman" panose="02020603050405020304" pitchFamily="18" charset="0"/>
              </a:rPr>
              <a:t>With adequate or high tissue energy CoA is </a:t>
            </a:r>
            <a:r>
              <a:rPr lang="en-US" sz="2800" dirty="0" err="1">
                <a:latin typeface="Times New Roman" panose="02020603050405020304" pitchFamily="18" charset="0"/>
                <a:cs typeface="Times New Roman" panose="02020603050405020304" pitchFamily="18" charset="0"/>
              </a:rPr>
              <a:t>acylated</a:t>
            </a:r>
            <a:r>
              <a:rPr lang="en-US" sz="2800" dirty="0">
                <a:latin typeface="Times New Roman" panose="02020603050405020304" pitchFamily="18" charset="0"/>
                <a:cs typeface="Times New Roman" panose="02020603050405020304" pitchFamily="18" charset="0"/>
              </a:rPr>
              <a:t> to become acetyl-CoA. Acetyl-CoA is able to activate pyruvate carboxylase which in turn directs pyruvate towards gluconeogenesis. </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When tissue energy is low pyruvate dehydrogenase (PDH) complex comes into play. Under low tissue energy CoA is not </a:t>
            </a:r>
            <a:r>
              <a:rPr lang="en-US" sz="2800" dirty="0" err="1">
                <a:latin typeface="Times New Roman" panose="02020603050405020304" pitchFamily="18" charset="0"/>
                <a:cs typeface="Times New Roman" panose="02020603050405020304" pitchFamily="18" charset="0"/>
              </a:rPr>
              <a:t>acylated</a:t>
            </a:r>
            <a:r>
              <a:rPr lang="en-US" sz="2800" dirty="0">
                <a:latin typeface="Times New Roman" panose="02020603050405020304" pitchFamily="18" charset="0"/>
                <a:cs typeface="Times New Roman" panose="02020603050405020304" pitchFamily="18" charset="0"/>
              </a:rPr>
              <a:t> hence the </a:t>
            </a:r>
            <a:r>
              <a:rPr lang="en-US" sz="2800" dirty="0" err="1">
                <a:latin typeface="Times New Roman" panose="02020603050405020304" pitchFamily="18" charset="0"/>
                <a:cs typeface="Times New Roman" panose="02020603050405020304" pitchFamily="18" charset="0"/>
              </a:rPr>
              <a:t>gluconeogenetic</a:t>
            </a:r>
            <a:r>
              <a:rPr lang="en-US" sz="2800" dirty="0">
                <a:latin typeface="Times New Roman" panose="02020603050405020304" pitchFamily="18" charset="0"/>
                <a:cs typeface="Times New Roman" panose="02020603050405020304" pitchFamily="18" charset="0"/>
              </a:rPr>
              <a:t> activity of pyruvate carboxylase is inhibited. </a:t>
            </a:r>
          </a:p>
          <a:p>
            <a:pPr algn="just"/>
            <a:r>
              <a:rPr lang="en-US" sz="2800" dirty="0">
                <a:latin typeface="Times New Roman" panose="02020603050405020304" pitchFamily="18" charset="0"/>
                <a:cs typeface="Times New Roman" panose="02020603050405020304" pitchFamily="18" charset="0"/>
              </a:rPr>
              <a:t>Pyruvate is therefore preferentially metabolized via the PDH complex and the enzymes of the TCA cycle to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and 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 </a:t>
            </a:r>
          </a:p>
          <a:p>
            <a:pPr algn="just"/>
            <a:r>
              <a:rPr lang="en-US" sz="2800" dirty="0">
                <a:latin typeface="Times New Roman" panose="02020603050405020304" pitchFamily="18" charset="0"/>
                <a:cs typeface="Times New Roman" panose="02020603050405020304" pitchFamily="18" charset="0"/>
              </a:rPr>
              <a:t>The PDH complex is made up of 3 enzymes designated as E1</a:t>
            </a:r>
            <a:r>
              <a:rPr lang="en-US" sz="2800" baseline="-250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E</a:t>
            </a:r>
            <a:r>
              <a:rPr lang="en-US" sz="2800" baseline="-25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and E</a:t>
            </a:r>
            <a:r>
              <a:rPr lang="en-US" sz="2800" baseline="-25000" dirty="0">
                <a:latin typeface="Times New Roman" panose="02020603050405020304" pitchFamily="18" charset="0"/>
                <a:cs typeface="Times New Roman" panose="02020603050405020304" pitchFamily="18" charset="0"/>
              </a:rPr>
              <a:t>3. </a:t>
            </a:r>
          </a:p>
          <a:p>
            <a:pPr algn="just"/>
            <a:r>
              <a:rPr lang="en-US" sz="2800" dirty="0">
                <a:latin typeface="Times New Roman" panose="02020603050405020304" pitchFamily="18" charset="0"/>
                <a:cs typeface="Times New Roman" panose="02020603050405020304" pitchFamily="18" charset="0"/>
              </a:rPr>
              <a:t>Apart from CoA, the PDH complex also requires </a:t>
            </a:r>
            <a:r>
              <a:rPr lang="en-US" sz="2800" dirty="0" err="1">
                <a:latin typeface="Times New Roman" panose="02020603050405020304" pitchFamily="18" charset="0"/>
                <a:cs typeface="Times New Roman" panose="02020603050405020304" pitchFamily="18" charset="0"/>
              </a:rPr>
              <a:t>nicotinamide</a:t>
            </a:r>
            <a:r>
              <a:rPr lang="en-US" sz="2800" dirty="0">
                <a:latin typeface="Times New Roman" panose="02020603050405020304" pitchFamily="18" charset="0"/>
                <a:cs typeface="Times New Roman" panose="02020603050405020304" pitchFamily="18" charset="0"/>
              </a:rPr>
              <a:t> adenine dinucleotide (NAD), </a:t>
            </a:r>
            <a:r>
              <a:rPr lang="en-US" sz="2800" dirty="0" err="1">
                <a:latin typeface="Times New Roman" panose="02020603050405020304" pitchFamily="18" charset="0"/>
                <a:cs typeface="Times New Roman" panose="02020603050405020304" pitchFamily="18" charset="0"/>
              </a:rPr>
              <a:t>flavin</a:t>
            </a:r>
            <a:r>
              <a:rPr lang="en-US" sz="2800" dirty="0">
                <a:latin typeface="Times New Roman" panose="02020603050405020304" pitchFamily="18" charset="0"/>
                <a:cs typeface="Times New Roman" panose="02020603050405020304" pitchFamily="18" charset="0"/>
              </a:rPr>
              <a:t> adenine dinucleotide (FAD) and thiamine pyrophosphate (TPP) as coenzymes to function. </a:t>
            </a:r>
            <a:endParaRPr lang="en-GB" sz="2800" dirty="0"/>
          </a:p>
        </p:txBody>
      </p:sp>
    </p:spTree>
    <p:extLst>
      <p:ext uri="{BB962C8B-B14F-4D97-AF65-F5344CB8AC3E}">
        <p14:creationId xmlns:p14="http://schemas.microsoft.com/office/powerpoint/2010/main" val="1563550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00100"/>
          </a:xfrm>
        </p:spPr>
        <p:txBody>
          <a:bodyPr/>
          <a:lstStyle/>
          <a:p>
            <a:r>
              <a:rPr lang="en-GB" dirty="0">
                <a:solidFill>
                  <a:srgbClr val="FF0000"/>
                </a:solidFill>
              </a:rPr>
              <a:t>CONT</a:t>
            </a:r>
            <a:r>
              <a:rPr lang="en-GB" dirty="0"/>
              <a:t>’</a:t>
            </a:r>
          </a:p>
        </p:txBody>
      </p:sp>
      <p:sp>
        <p:nvSpPr>
          <p:cNvPr id="3" name="Content Placeholder 2"/>
          <p:cNvSpPr>
            <a:spLocks noGrp="1"/>
          </p:cNvSpPr>
          <p:nvPr>
            <p:ph idx="1"/>
          </p:nvPr>
        </p:nvSpPr>
        <p:spPr>
          <a:xfrm>
            <a:off x="0" y="928688"/>
            <a:ext cx="12058650" cy="5929312"/>
          </a:xfrm>
        </p:spPr>
        <p:txBody>
          <a:bodyPr/>
          <a:lstStyle/>
          <a:p>
            <a:pPr algn="just"/>
            <a:r>
              <a:rPr lang="en-US" sz="2800" dirty="0">
                <a:latin typeface="Times New Roman" panose="02020603050405020304" pitchFamily="18" charset="0"/>
                <a:cs typeface="Times New Roman" panose="02020603050405020304" pitchFamily="18" charset="0"/>
              </a:rPr>
              <a:t>In the presence of CoA, NAD, FAD and TPP pyruvate is converted to acetyl CoA with release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The acetyl CoA formed enters the TCA cycle as a substrate for energy generation.</a:t>
            </a:r>
          </a:p>
          <a:p>
            <a:pPr algn="just"/>
            <a:r>
              <a:rPr lang="en-US" sz="2800" dirty="0"/>
              <a:t>This reaction is illustrated in the reaction here below. </a:t>
            </a:r>
          </a:p>
          <a:p>
            <a:pPr algn="just"/>
            <a:endParaRPr lang="en-GB" sz="2800" dirty="0">
              <a:latin typeface="Times New Roman" panose="02020603050405020304" pitchFamily="18" charset="0"/>
              <a:cs typeface="Times New Roman" panose="02020603050405020304" pitchFamily="18" charset="0"/>
            </a:endParaRPr>
          </a:p>
          <a:p>
            <a:endParaRPr lang="en-GB" dirty="0"/>
          </a:p>
          <a:p>
            <a:endParaRPr lang="en-GB" dirty="0"/>
          </a:p>
        </p:txBody>
      </p:sp>
      <p:pic>
        <p:nvPicPr>
          <p:cNvPr id="6" name="Picture 5"/>
          <p:cNvPicPr>
            <a:picLocks noChangeAspect="1"/>
          </p:cNvPicPr>
          <p:nvPr/>
        </p:nvPicPr>
        <p:blipFill>
          <a:blip r:embed="rId2"/>
          <a:stretch>
            <a:fillRect/>
          </a:stretch>
        </p:blipFill>
        <p:spPr>
          <a:xfrm>
            <a:off x="1100137" y="3586161"/>
            <a:ext cx="9215438" cy="3400426"/>
          </a:xfrm>
          <a:prstGeom prst="rect">
            <a:avLst/>
          </a:prstGeom>
        </p:spPr>
      </p:pic>
    </p:spTree>
    <p:extLst>
      <p:ext uri="{BB962C8B-B14F-4D97-AF65-F5344CB8AC3E}">
        <p14:creationId xmlns:p14="http://schemas.microsoft.com/office/powerpoint/2010/main" val="62503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2938" cy="1071563"/>
          </a:xfrm>
        </p:spPr>
        <p:txBody>
          <a:bodyPr>
            <a:normAutofit/>
          </a:bodyPr>
          <a:lstStyle/>
          <a:p>
            <a:r>
              <a:rPr lang="en-GB" sz="4000" dirty="0">
                <a:solidFill>
                  <a:srgbClr val="FF0000"/>
                </a:solidFill>
              </a:rPr>
              <a:t>CONT’</a:t>
            </a:r>
          </a:p>
        </p:txBody>
      </p:sp>
      <p:sp>
        <p:nvSpPr>
          <p:cNvPr id="3" name="Content Placeholder 2"/>
          <p:cNvSpPr>
            <a:spLocks noGrp="1"/>
          </p:cNvSpPr>
          <p:nvPr>
            <p:ph idx="1"/>
          </p:nvPr>
        </p:nvSpPr>
        <p:spPr>
          <a:xfrm>
            <a:off x="0" y="885825"/>
            <a:ext cx="12072938" cy="5815013"/>
          </a:xfrm>
        </p:spPr>
        <p:txBody>
          <a:bodyPr>
            <a:normAutofit/>
          </a:bodyPr>
          <a:lstStyle/>
          <a:p>
            <a:r>
              <a:rPr lang="en-US" sz="2800" dirty="0"/>
              <a:t>The reactions of the PDH complex serve to interconnect the metabolic pathways of glycolysis, gluconeogenesis and fatty acid synthesis to the TCA cycle. </a:t>
            </a:r>
          </a:p>
          <a:p>
            <a:r>
              <a:rPr lang="en-US" sz="2800" dirty="0"/>
              <a:t>As a consequence, the activity of the PDH complex must be highly regulated to maintain homeostasis.  </a:t>
            </a:r>
            <a:endParaRPr lang="en-GB" sz="2800" dirty="0"/>
          </a:p>
        </p:txBody>
      </p:sp>
    </p:spTree>
    <p:extLst>
      <p:ext uri="{BB962C8B-B14F-4D97-AF65-F5344CB8AC3E}">
        <p14:creationId xmlns:p14="http://schemas.microsoft.com/office/powerpoint/2010/main" val="1654867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6676" y="200026"/>
            <a:ext cx="12125324" cy="514350"/>
          </a:xfrm>
        </p:spPr>
        <p:txBody>
          <a:bodyPr>
            <a:normAutofit fontScale="90000"/>
          </a:bodyPr>
          <a:lstStyle/>
          <a:p>
            <a:r>
              <a:rPr lang="en-US" sz="4000" dirty="0">
                <a:solidFill>
                  <a:srgbClr val="FF0000"/>
                </a:solidFill>
              </a:rPr>
              <a:t>Reactions of the TCA cycle</a:t>
            </a:r>
            <a:endParaRPr lang="en-GB" sz="4000" dirty="0">
              <a:solidFill>
                <a:srgbClr val="FF0000"/>
              </a:solidFill>
            </a:endParaRPr>
          </a:p>
        </p:txBody>
      </p:sp>
      <p:sp>
        <p:nvSpPr>
          <p:cNvPr id="3" name="Content Placeholder 2"/>
          <p:cNvSpPr>
            <a:spLocks noGrp="1"/>
          </p:cNvSpPr>
          <p:nvPr>
            <p:ph idx="1"/>
          </p:nvPr>
        </p:nvSpPr>
        <p:spPr>
          <a:xfrm>
            <a:off x="66676" y="714376"/>
            <a:ext cx="11963399" cy="6143624"/>
          </a:xfrm>
        </p:spPr>
        <p:txBody>
          <a:bodyPr>
            <a:normAutofit/>
          </a:bodyPr>
          <a:lstStyle/>
          <a:p>
            <a:pPr algn="just"/>
            <a:r>
              <a:rPr lang="en-US" sz="3200" dirty="0">
                <a:latin typeface="Times New Roman" panose="02020603050405020304" pitchFamily="18" charset="0"/>
                <a:cs typeface="Times New Roman" panose="02020603050405020304" pitchFamily="18" charset="0"/>
              </a:rPr>
              <a:t>With the conversion of pyruvate to acetyl-CoA, the carbon derived from glucose reaches a central pathway of energy metabolism.</a:t>
            </a:r>
          </a:p>
          <a:p>
            <a:pPr algn="just"/>
            <a:r>
              <a:rPr lang="en-US" sz="3200" dirty="0">
                <a:latin typeface="Times New Roman" panose="02020603050405020304" pitchFamily="18" charset="0"/>
                <a:cs typeface="Times New Roman" panose="02020603050405020304" pitchFamily="18" charset="0"/>
              </a:rPr>
              <a:t> Degradation of all foodstuﬀs (carbohydrates, amino acids, and fat) proceeds through this stage. The next step toward complete oxidation is the TCA cycle. </a:t>
            </a:r>
          </a:p>
          <a:p>
            <a:pPr algn="just"/>
            <a:r>
              <a:rPr lang="en-US" sz="3200" dirty="0">
                <a:latin typeface="Times New Roman" panose="02020603050405020304" pitchFamily="18" charset="0"/>
                <a:cs typeface="Times New Roman" panose="02020603050405020304" pitchFamily="18" charset="0"/>
              </a:rPr>
              <a:t>There are 8 enzymatic reactions in the TCA cycle that result in the oxidation of biofuels to water (H</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O) and </a:t>
            </a:r>
            <a:r>
              <a:rPr lang="en-US" sz="3200" dirty="0" err="1">
                <a:latin typeface="Times New Roman" panose="02020603050405020304" pitchFamily="18" charset="0"/>
                <a:cs typeface="Times New Roman" panose="02020603050405020304" pitchFamily="18" charset="0"/>
              </a:rPr>
              <a:t>carbondioxide</a:t>
            </a:r>
            <a:r>
              <a:rPr lang="en-US" sz="3200" dirty="0">
                <a:latin typeface="Times New Roman" panose="02020603050405020304" pitchFamily="18" charset="0"/>
                <a:cs typeface="Times New Roman" panose="02020603050405020304" pitchFamily="18" charset="0"/>
              </a:rPr>
              <a:t> (CO</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The Figure 6 illustrates the enzymatic reactions of the TCA cycle.</a:t>
            </a:r>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952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Title 1"/>
          <p:cNvSpPr>
            <a:spLocks noGrp="1"/>
          </p:cNvSpPr>
          <p:nvPr>
            <p:ph type="title"/>
          </p:nvPr>
        </p:nvSpPr>
        <p:spPr>
          <a:xfrm>
            <a:off x="257175" y="1"/>
            <a:ext cx="11587163" cy="742950"/>
          </a:xfrm>
        </p:spPr>
        <p:txBody>
          <a:bodyPr>
            <a:normAutofit fontScale="90000"/>
          </a:bodyPr>
          <a:lstStyle/>
          <a:p>
            <a:r>
              <a:rPr lang="en-GB" dirty="0">
                <a:solidFill>
                  <a:srgbClr val="FF0000"/>
                </a:solidFill>
              </a:rPr>
              <a:t>TCA cycle</a:t>
            </a:r>
          </a:p>
        </p:txBody>
      </p:sp>
      <p:pic>
        <p:nvPicPr>
          <p:cNvPr id="4" name="Content Placeholder 3"/>
          <p:cNvPicPr>
            <a:picLocks noGrp="1" noChangeAspect="1"/>
          </p:cNvPicPr>
          <p:nvPr>
            <p:ph idx="1"/>
          </p:nvPr>
        </p:nvPicPr>
        <p:blipFill>
          <a:blip r:embed="rId2"/>
          <a:stretch>
            <a:fillRect/>
          </a:stretch>
        </p:blipFill>
        <p:spPr>
          <a:xfrm>
            <a:off x="528638" y="742951"/>
            <a:ext cx="11158537" cy="6115049"/>
          </a:xfrm>
          <a:prstGeom prst="rect">
            <a:avLst/>
          </a:prstGeom>
        </p:spPr>
      </p:pic>
    </p:spTree>
    <p:extLst>
      <p:ext uri="{BB962C8B-B14F-4D97-AF65-F5344CB8AC3E}">
        <p14:creationId xmlns:p14="http://schemas.microsoft.com/office/powerpoint/2010/main" val="3408551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71538"/>
          </a:xfrm>
        </p:spPr>
        <p:txBody>
          <a:bodyPr/>
          <a:lstStyle/>
          <a:p>
            <a:r>
              <a:rPr lang="en-GB" dirty="0">
                <a:solidFill>
                  <a:srgbClr val="FF0000"/>
                </a:solidFill>
              </a:rPr>
              <a:t>CONT’</a:t>
            </a:r>
          </a:p>
        </p:txBody>
      </p:sp>
      <p:sp>
        <p:nvSpPr>
          <p:cNvPr id="3" name="Content Placeholder 2"/>
          <p:cNvSpPr>
            <a:spLocks noGrp="1"/>
          </p:cNvSpPr>
          <p:nvPr>
            <p:ph idx="1"/>
          </p:nvPr>
        </p:nvSpPr>
        <p:spPr>
          <a:xfrm>
            <a:off x="0" y="871539"/>
            <a:ext cx="12044363" cy="5986461"/>
          </a:xfrm>
        </p:spPr>
        <p:txBody>
          <a:bodyPr>
            <a:noAutofit/>
          </a:bodyPr>
          <a:lstStyle/>
          <a:p>
            <a:r>
              <a:rPr lang="en-US" sz="2800" dirty="0"/>
              <a:t>Acetyl CoA serves as a common point of convergence for the major pathways of fuel oxidation. This leads us to the following question. </a:t>
            </a:r>
            <a:endParaRPr lang="en-GB" sz="2800" dirty="0"/>
          </a:p>
          <a:p>
            <a:r>
              <a:rPr lang="en-US" sz="2800" dirty="0"/>
              <a:t> Other sources of acetyl CoA besides pyruvate oxidation. Some of these sources are</a:t>
            </a:r>
          </a:p>
          <a:p>
            <a:pPr marL="0" indent="0">
              <a:buNone/>
            </a:pPr>
            <a:r>
              <a:rPr lang="en-US" sz="2800" dirty="0" err="1"/>
              <a:t>i</a:t>
            </a:r>
            <a:r>
              <a:rPr lang="en-US" sz="2800" dirty="0"/>
              <a:t>)Direct generation from the β-oxidation of fatty acids,</a:t>
            </a:r>
            <a:endParaRPr lang="en-GB" sz="2800" dirty="0"/>
          </a:p>
          <a:p>
            <a:pPr marL="0" lvl="0" indent="0">
              <a:buNone/>
            </a:pPr>
            <a:r>
              <a:rPr lang="en-US" sz="2800" dirty="0"/>
              <a:t>ii)Direct degradation of the ketone bodies β-</a:t>
            </a:r>
            <a:r>
              <a:rPr lang="en-US" sz="2800" dirty="0" err="1"/>
              <a:t>hydroxybutyrate</a:t>
            </a:r>
            <a:r>
              <a:rPr lang="en-US" sz="2800" dirty="0"/>
              <a:t> and acetoacetate,</a:t>
            </a:r>
            <a:endParaRPr lang="en-GB" sz="2800" dirty="0"/>
          </a:p>
          <a:p>
            <a:pPr marL="0" lvl="0" indent="0">
              <a:buNone/>
            </a:pPr>
            <a:r>
              <a:rPr lang="en-US" sz="2800" dirty="0"/>
              <a:t>iii)Formation from acetate, which can arise from the diet or from ethanol oxidation,</a:t>
            </a:r>
            <a:endParaRPr lang="en-GB" sz="2800" dirty="0"/>
          </a:p>
          <a:p>
            <a:r>
              <a:rPr lang="en-US" sz="2800" dirty="0"/>
              <a:t>As reminder, glucose and other carbohydrates enter glycolysis, a pathway common to all cells, and are oxidized to pyruvate. </a:t>
            </a:r>
          </a:p>
          <a:p>
            <a:r>
              <a:rPr lang="en-US" sz="2800" dirty="0"/>
              <a:t>The amino acids alanine and serine are also converted to pyruvate. </a:t>
            </a:r>
            <a:endParaRPr lang="en-GB" sz="2800" dirty="0"/>
          </a:p>
        </p:txBody>
      </p:sp>
    </p:spTree>
    <p:extLst>
      <p:ext uri="{BB962C8B-B14F-4D97-AF65-F5344CB8AC3E}">
        <p14:creationId xmlns:p14="http://schemas.microsoft.com/office/powerpoint/2010/main" val="348545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4375"/>
          </a:xfrm>
        </p:spPr>
        <p:txBody>
          <a:bodyPr>
            <a:normAutofit fontScale="90000"/>
          </a:bodyPr>
          <a:lstStyle/>
          <a:p>
            <a:r>
              <a:rPr lang="en-GB" dirty="0">
                <a:solidFill>
                  <a:srgbClr val="FF0000"/>
                </a:solidFill>
              </a:rPr>
              <a:t>CONT</a:t>
            </a:r>
            <a:r>
              <a:rPr lang="en-GB" dirty="0"/>
              <a:t>’</a:t>
            </a:r>
          </a:p>
        </p:txBody>
      </p:sp>
      <p:sp>
        <p:nvSpPr>
          <p:cNvPr id="3" name="Content Placeholder 2"/>
          <p:cNvSpPr>
            <a:spLocks noGrp="1"/>
          </p:cNvSpPr>
          <p:nvPr>
            <p:ph idx="1"/>
          </p:nvPr>
        </p:nvSpPr>
        <p:spPr>
          <a:xfrm>
            <a:off x="0" y="714375"/>
            <a:ext cx="12072938" cy="6143625"/>
          </a:xfrm>
        </p:spPr>
        <p:txBody>
          <a:bodyPr/>
          <a:lstStyle/>
          <a:p>
            <a:pPr algn="just"/>
            <a:r>
              <a:rPr lang="en-US" sz="2800" dirty="0">
                <a:latin typeface="Times New Roman" panose="02020603050405020304" pitchFamily="18" charset="0"/>
                <a:cs typeface="Times New Roman" panose="02020603050405020304" pitchFamily="18" charset="0"/>
              </a:rPr>
              <a:t>Pyruvate is oxidized to acetyl CoA by the pyruvate dehydrogenase complex.  </a:t>
            </a:r>
          </a:p>
          <a:p>
            <a:pPr algn="just"/>
            <a:r>
              <a:rPr lang="en-US" sz="2800" dirty="0">
                <a:latin typeface="Times New Roman" panose="02020603050405020304" pitchFamily="18" charset="0"/>
                <a:cs typeface="Times New Roman" panose="02020603050405020304" pitchFamily="18" charset="0"/>
              </a:rPr>
              <a:t>A number of amino acids, such as </a:t>
            </a:r>
            <a:r>
              <a:rPr lang="en-US" sz="2800" dirty="0" err="1">
                <a:latin typeface="Times New Roman" panose="02020603050405020304" pitchFamily="18" charset="0"/>
                <a:cs typeface="Times New Roman" panose="02020603050405020304" pitchFamily="18" charset="0"/>
              </a:rPr>
              <a:t>leucine</a:t>
            </a:r>
            <a:r>
              <a:rPr lang="en-US" sz="2800" dirty="0">
                <a:latin typeface="Times New Roman" panose="02020603050405020304" pitchFamily="18" charset="0"/>
                <a:cs typeface="Times New Roman" panose="02020603050405020304" pitchFamily="18" charset="0"/>
              </a:rPr>
              <a:t> and isoleucine, are also oxidized to acetyl CoA. Thus, the final oxidation of acetyl CoA to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in the TCA cycle is the last step in all major pathways of fuel oxidation. </a:t>
            </a:r>
            <a:endParaRPr lang="en-GB"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 </a:t>
            </a:r>
            <a:endParaRPr lang="en-GB" sz="2800" dirty="0">
              <a:latin typeface="Times New Roman" panose="02020603050405020304" pitchFamily="18" charset="0"/>
              <a:cs typeface="Times New Roman" panose="02020603050405020304" pitchFamily="18" charset="0"/>
            </a:endParaRPr>
          </a:p>
          <a:p>
            <a:pPr marL="0" indent="0">
              <a:buNone/>
            </a:pPr>
            <a:r>
              <a:rPr lang="en-US" dirty="0"/>
              <a:t> </a:t>
            </a:r>
            <a:endParaRPr lang="en-GB" dirty="0"/>
          </a:p>
          <a:p>
            <a:endParaRPr lang="en-GB" dirty="0"/>
          </a:p>
        </p:txBody>
      </p:sp>
      <p:pic>
        <p:nvPicPr>
          <p:cNvPr id="4" name="Picture 3"/>
          <p:cNvPicPr>
            <a:picLocks noChangeAspect="1"/>
          </p:cNvPicPr>
          <p:nvPr/>
        </p:nvPicPr>
        <p:blipFill>
          <a:blip r:embed="rId2"/>
          <a:stretch>
            <a:fillRect/>
          </a:stretch>
        </p:blipFill>
        <p:spPr>
          <a:xfrm>
            <a:off x="700088" y="2700338"/>
            <a:ext cx="10201275" cy="4157662"/>
          </a:xfrm>
          <a:prstGeom prst="rect">
            <a:avLst/>
          </a:prstGeom>
        </p:spPr>
      </p:pic>
    </p:spTree>
    <p:extLst>
      <p:ext uri="{BB962C8B-B14F-4D97-AF65-F5344CB8AC3E}">
        <p14:creationId xmlns:p14="http://schemas.microsoft.com/office/powerpoint/2010/main" val="172773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85838"/>
          </a:xfrm>
        </p:spPr>
        <p:txBody>
          <a:bodyPr>
            <a:normAutofit fontScale="90000"/>
          </a:bodyPr>
          <a:lstStyle/>
          <a:p>
            <a:r>
              <a:rPr lang="en-US" b="1" dirty="0">
                <a:solidFill>
                  <a:srgbClr val="FF0000"/>
                </a:solidFill>
              </a:rPr>
              <a:t>Enzymatic reactions of the TCA cycle in sequence</a:t>
            </a:r>
            <a:r>
              <a:rPr lang="en-GB" dirty="0">
                <a:solidFill>
                  <a:srgbClr val="FF0000"/>
                </a:solidFill>
              </a:rPr>
              <a:t/>
            </a:r>
            <a:br>
              <a:rPr lang="en-GB"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492920"/>
            <a:ext cx="12072938" cy="6215062"/>
          </a:xfrm>
        </p:spPr>
        <p:txBody>
          <a:bodyPr/>
          <a:lstStyle/>
          <a:p>
            <a:pPr marL="0" indent="0">
              <a:buNone/>
            </a:pPr>
            <a:r>
              <a:rPr lang="en-US" b="1" dirty="0">
                <a:solidFill>
                  <a:srgbClr val="FF0000"/>
                </a:solidFill>
              </a:rPr>
              <a:t>1</a:t>
            </a:r>
            <a:r>
              <a:rPr lang="en-US" b="1" baseline="30000" dirty="0">
                <a:solidFill>
                  <a:srgbClr val="FF0000"/>
                </a:solidFill>
              </a:rPr>
              <a:t>st</a:t>
            </a:r>
            <a:r>
              <a:rPr lang="en-US" b="1" dirty="0">
                <a:solidFill>
                  <a:srgbClr val="FF0000"/>
                </a:solidFill>
              </a:rPr>
              <a:t> Reaction: Condensation of Acetyl COA with Oxaloacetate to form Citrate</a:t>
            </a:r>
            <a:endParaRPr lang="en-GB" dirty="0">
              <a:solidFill>
                <a:srgbClr val="FF0000"/>
              </a:solidFill>
            </a:endParaRPr>
          </a:p>
          <a:p>
            <a:r>
              <a:rPr lang="en-US" sz="2800" dirty="0"/>
              <a:t>This is the first reaction of the TCA cycle. </a:t>
            </a:r>
          </a:p>
          <a:p>
            <a:r>
              <a:rPr lang="en-US" sz="2800" dirty="0"/>
              <a:t> It is </a:t>
            </a:r>
            <a:r>
              <a:rPr lang="en-US" sz="2800" dirty="0" err="1"/>
              <a:t>catalysed</a:t>
            </a:r>
            <a:r>
              <a:rPr lang="en-US" sz="2800" dirty="0"/>
              <a:t> by the enzyme citrate synthase which condenses acetyl CoA with oxaloacetate (OAA) to yield citrate and coenzyme A (</a:t>
            </a:r>
            <a:r>
              <a:rPr lang="en-US" sz="2800" dirty="0" err="1"/>
              <a:t>CoASH</a:t>
            </a:r>
            <a:r>
              <a:rPr lang="en-US" sz="2800" dirty="0"/>
              <a:t>). </a:t>
            </a:r>
          </a:p>
          <a:p>
            <a:r>
              <a:rPr lang="en-US" sz="2800" dirty="0"/>
              <a:t>A molecule of H</a:t>
            </a:r>
            <a:r>
              <a:rPr lang="en-US" sz="2800" baseline="-25000" dirty="0"/>
              <a:t>2</a:t>
            </a:r>
            <a:r>
              <a:rPr lang="en-US" sz="2800" dirty="0"/>
              <a:t>O is required for the condensation reaction. </a:t>
            </a:r>
          </a:p>
          <a:p>
            <a:r>
              <a:rPr lang="en-US" sz="2800" dirty="0"/>
              <a:t>Considerable free energy is lost as heat due to hydrolysis of </a:t>
            </a:r>
            <a:r>
              <a:rPr lang="en-US" sz="2800" dirty="0" err="1"/>
              <a:t>thioester</a:t>
            </a:r>
            <a:r>
              <a:rPr lang="en-US" sz="2800" dirty="0"/>
              <a:t> bond, this drives the reaction forward. </a:t>
            </a:r>
          </a:p>
          <a:p>
            <a:r>
              <a:rPr lang="en-US" sz="2800" dirty="0"/>
              <a:t>Under standard conditions this reaction is irreversible. </a:t>
            </a:r>
            <a:endParaRPr lang="en-GB" sz="2800" dirty="0"/>
          </a:p>
          <a:p>
            <a:pPr marL="0" indent="0">
              <a:buNone/>
            </a:pPr>
            <a:r>
              <a:rPr lang="en-US" sz="2800" dirty="0"/>
              <a:t>                                                H</a:t>
            </a:r>
            <a:r>
              <a:rPr lang="en-US" sz="2800" baseline="-25000" dirty="0"/>
              <a:t>2</a:t>
            </a:r>
            <a:r>
              <a:rPr lang="en-US" sz="2800" dirty="0"/>
              <a:t>O                  </a:t>
            </a:r>
            <a:r>
              <a:rPr lang="en-US" sz="2800" dirty="0" err="1"/>
              <a:t>CoASH</a:t>
            </a:r>
            <a:endParaRPr lang="en-US" sz="2800" dirty="0"/>
          </a:p>
          <a:p>
            <a:r>
              <a:rPr lang="en-US" sz="2800" dirty="0"/>
              <a:t>Acetyl-CoA + Oxaloacetate                                     Citrate </a:t>
            </a:r>
            <a:endParaRPr lang="en-GB" sz="2800" dirty="0"/>
          </a:p>
          <a:p>
            <a:pPr marL="0" indent="0">
              <a:buNone/>
            </a:pPr>
            <a:endParaRPr lang="en-GB" sz="2800" dirty="0"/>
          </a:p>
        </p:txBody>
      </p:sp>
      <p:pic>
        <p:nvPicPr>
          <p:cNvPr id="4" name="Picture 3"/>
          <p:cNvPicPr>
            <a:picLocks noChangeAspect="1"/>
          </p:cNvPicPr>
          <p:nvPr/>
        </p:nvPicPr>
        <p:blipFill>
          <a:blip r:embed="rId2"/>
          <a:stretch>
            <a:fillRect/>
          </a:stretch>
        </p:blipFill>
        <p:spPr>
          <a:xfrm>
            <a:off x="4557714" y="5691942"/>
            <a:ext cx="2405428" cy="245290"/>
          </a:xfrm>
          <a:prstGeom prst="rect">
            <a:avLst/>
          </a:prstGeom>
        </p:spPr>
      </p:pic>
      <p:pic>
        <p:nvPicPr>
          <p:cNvPr id="5" name="Picture 4"/>
          <p:cNvPicPr>
            <a:picLocks noChangeAspect="1"/>
          </p:cNvPicPr>
          <p:nvPr/>
        </p:nvPicPr>
        <p:blipFill>
          <a:blip r:embed="rId3"/>
          <a:stretch>
            <a:fillRect/>
          </a:stretch>
        </p:blipFill>
        <p:spPr>
          <a:xfrm>
            <a:off x="4584115" y="5937232"/>
            <a:ext cx="1507779" cy="648454"/>
          </a:xfrm>
          <a:prstGeom prst="rect">
            <a:avLst/>
          </a:prstGeom>
        </p:spPr>
      </p:pic>
      <p:pic>
        <p:nvPicPr>
          <p:cNvPr id="7" name="Picture 6"/>
          <p:cNvPicPr>
            <a:picLocks noChangeAspect="1"/>
          </p:cNvPicPr>
          <p:nvPr/>
        </p:nvPicPr>
        <p:blipFill>
          <a:blip r:embed="rId4"/>
          <a:stretch>
            <a:fillRect/>
          </a:stretch>
        </p:blipFill>
        <p:spPr>
          <a:xfrm>
            <a:off x="4306516" y="5314950"/>
            <a:ext cx="2421908" cy="373421"/>
          </a:xfrm>
          <a:prstGeom prst="rect">
            <a:avLst/>
          </a:prstGeom>
        </p:spPr>
      </p:pic>
    </p:spTree>
    <p:extLst>
      <p:ext uri="{BB962C8B-B14F-4D97-AF65-F5344CB8AC3E}">
        <p14:creationId xmlns:p14="http://schemas.microsoft.com/office/powerpoint/2010/main" val="2059279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06094"/>
          </a:xfrm>
        </p:spPr>
        <p:txBody>
          <a:bodyPr>
            <a:normAutofit fontScale="90000"/>
          </a:bodyPr>
          <a:lstStyle/>
          <a:p>
            <a:r>
              <a:rPr lang="en-US" b="1" dirty="0"/>
              <a:t/>
            </a:r>
            <a:br>
              <a:rPr lang="en-US" b="1" dirty="0"/>
            </a:br>
            <a:r>
              <a:rPr lang="en-US" b="1" dirty="0">
                <a:solidFill>
                  <a:srgbClr val="FF0000"/>
                </a:solidFill>
              </a:rPr>
              <a:t>2</a:t>
            </a:r>
            <a:r>
              <a:rPr lang="en-US" b="1" baseline="30000" dirty="0">
                <a:solidFill>
                  <a:srgbClr val="FF0000"/>
                </a:solidFill>
              </a:rPr>
              <a:t>nd</a:t>
            </a:r>
            <a:r>
              <a:rPr lang="en-US" b="1" dirty="0">
                <a:solidFill>
                  <a:srgbClr val="FF0000"/>
                </a:solidFill>
              </a:rPr>
              <a:t> Reaction: Isomerization of Citrate to Isocitrate by </a:t>
            </a:r>
            <a:r>
              <a:rPr lang="en-US" b="1" dirty="0" err="1">
                <a:solidFill>
                  <a:srgbClr val="FF0000"/>
                </a:solidFill>
              </a:rPr>
              <a:t>Aconitase</a:t>
            </a:r>
            <a:r>
              <a:rPr lang="en-GB" dirty="0">
                <a:solidFill>
                  <a:srgbClr val="FF0000"/>
                </a:solidFill>
              </a:rPr>
              <a:t/>
            </a:r>
            <a:br>
              <a:rPr lang="en-GB"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1106095"/>
            <a:ext cx="12192000" cy="5751905"/>
          </a:xfrm>
        </p:spPr>
        <p:txBody>
          <a:bodyPr>
            <a:normAutofit/>
          </a:bodyPr>
          <a:lstStyle/>
          <a:p>
            <a:r>
              <a:rPr lang="en-US" sz="2800" dirty="0">
                <a:latin typeface="Times New Roman" panose="02020603050405020304" pitchFamily="18" charset="0"/>
                <a:cs typeface="Times New Roman" panose="02020603050405020304" pitchFamily="18" charset="0"/>
              </a:rPr>
              <a:t>The citrate produced in reaction 1 is a poor candidate for oxidation because it contains a tertiary alcohol, which could be oxidized only by breaking a carbon–carbon bond. </a:t>
            </a:r>
          </a:p>
          <a:p>
            <a:r>
              <a:rPr lang="en-US" sz="2800" dirty="0">
                <a:latin typeface="Times New Roman" panose="02020603050405020304" pitchFamily="18" charset="0"/>
                <a:cs typeface="Times New Roman" panose="02020603050405020304" pitchFamily="18" charset="0"/>
              </a:rPr>
              <a:t>This problem is solved by isomerization of citrate a (tertiary alcohol) to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(a secondary alcohol). </a:t>
            </a:r>
          </a:p>
          <a:p>
            <a:r>
              <a:rPr lang="en-US" sz="2800" dirty="0">
                <a:latin typeface="Times New Roman" panose="02020603050405020304" pitchFamily="18" charset="0"/>
                <a:cs typeface="Times New Roman" panose="02020603050405020304" pitchFamily="18" charset="0"/>
              </a:rPr>
              <a:t>The enzyme catalyzing the isomerization is called </a:t>
            </a:r>
            <a:r>
              <a:rPr lang="en-US" sz="2800" dirty="0" err="1">
                <a:latin typeface="Times New Roman" panose="02020603050405020304" pitchFamily="18" charset="0"/>
                <a:cs typeface="Times New Roman" panose="02020603050405020304" pitchFamily="18" charset="0"/>
              </a:rPr>
              <a:t>aconitase</a:t>
            </a:r>
            <a:r>
              <a:rPr lang="en-US" sz="2800" dirty="0">
                <a:latin typeface="Times New Roman" panose="02020603050405020304" pitchFamily="18" charset="0"/>
                <a:cs typeface="Times New Roman" panose="02020603050405020304" pitchFamily="18" charset="0"/>
              </a:rPr>
              <a:t>. Citrate isomerization to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by </a:t>
            </a:r>
            <a:r>
              <a:rPr lang="en-US" sz="2800" dirty="0" err="1">
                <a:latin typeface="Times New Roman" panose="02020603050405020304" pitchFamily="18" charset="0"/>
                <a:cs typeface="Times New Roman" panose="02020603050405020304" pitchFamily="18" charset="0"/>
              </a:rPr>
              <a:t>aconitase</a:t>
            </a:r>
            <a:r>
              <a:rPr lang="en-US" sz="2800" dirty="0">
                <a:latin typeface="Times New Roman" panose="02020603050405020304" pitchFamily="18" charset="0"/>
                <a:cs typeface="Times New Roman" panose="02020603050405020304" pitchFamily="18" charset="0"/>
              </a:rPr>
              <a:t> is a two-step process.</a:t>
            </a:r>
          </a:p>
          <a:p>
            <a:r>
              <a:rPr lang="en-US" sz="2800" dirty="0">
                <a:latin typeface="Times New Roman" panose="02020603050405020304" pitchFamily="18" charset="0"/>
                <a:cs typeface="Times New Roman" panose="02020603050405020304" pitchFamily="18" charset="0"/>
              </a:rPr>
              <a:t> The </a:t>
            </a:r>
            <a:r>
              <a:rPr lang="en-US" sz="2800" dirty="0" err="1">
                <a:latin typeface="Times New Roman" panose="02020603050405020304" pitchFamily="18" charset="0"/>
                <a:cs typeface="Times New Roman" panose="02020603050405020304" pitchFamily="18" charset="0"/>
              </a:rPr>
              <a:t>aconitase</a:t>
            </a:r>
            <a:r>
              <a:rPr lang="en-US" sz="2800" dirty="0">
                <a:latin typeface="Times New Roman" panose="02020603050405020304" pitchFamily="18" charset="0"/>
                <a:cs typeface="Times New Roman" panose="02020603050405020304" pitchFamily="18" charset="0"/>
              </a:rPr>
              <a:t> reaction converts citrate to </a:t>
            </a:r>
            <a:r>
              <a:rPr lang="en-US" sz="2800" dirty="0" err="1">
                <a:latin typeface="Times New Roman" panose="02020603050405020304" pitchFamily="18" charset="0"/>
                <a:cs typeface="Times New Roman" panose="02020603050405020304" pitchFamily="18" charset="0"/>
              </a:rPr>
              <a:t>cis</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aconitate</a:t>
            </a:r>
            <a:r>
              <a:rPr lang="en-US" sz="2800" dirty="0">
                <a:latin typeface="Times New Roman" panose="02020603050405020304" pitchFamily="18" charset="0"/>
                <a:cs typeface="Times New Roman" panose="02020603050405020304" pitchFamily="18" charset="0"/>
              </a:rPr>
              <a:t> and then to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a:t>
            </a:r>
          </a:p>
          <a:p>
            <a:pPr marL="0" indent="0">
              <a:buNone/>
            </a:pPr>
            <a:r>
              <a:rPr lang="en-US" sz="2800" dirty="0"/>
              <a:t>                         H</a:t>
            </a:r>
            <a:r>
              <a:rPr lang="en-US" sz="2800" baseline="-25000" dirty="0"/>
              <a:t>2</a:t>
            </a:r>
            <a:r>
              <a:rPr lang="en-US" sz="2800" dirty="0"/>
              <a:t>O                                 </a:t>
            </a:r>
            <a:r>
              <a:rPr lang="en-US" sz="2800" dirty="0" err="1"/>
              <a:t>H</a:t>
            </a:r>
            <a:r>
              <a:rPr lang="en-US" sz="2800" baseline="-25000" dirty="0" err="1"/>
              <a:t>2</a:t>
            </a:r>
            <a:r>
              <a:rPr lang="en-US" sz="2800" dirty="0" err="1"/>
              <a:t>O</a:t>
            </a:r>
            <a:endParaRPr lang="en-US" sz="2800" dirty="0"/>
          </a:p>
          <a:p>
            <a:pPr marL="0" indent="0">
              <a:buNone/>
            </a:pPr>
            <a:r>
              <a:rPr lang="en-US" sz="2800" dirty="0"/>
              <a:t> Citrate                  </a:t>
            </a:r>
            <a:r>
              <a:rPr lang="en-US" sz="2800" dirty="0" err="1"/>
              <a:t>cis-Aconitase</a:t>
            </a:r>
            <a:r>
              <a:rPr lang="en-US" sz="2800" dirty="0"/>
              <a:t>                              Isocitrate</a:t>
            </a:r>
            <a:endParaRPr lang="en-GB" sz="2800" dirty="0"/>
          </a:p>
          <a:p>
            <a:pPr marL="0" indent="0">
              <a:buNone/>
            </a:pPr>
            <a:endParaRPr lang="en-GB"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55701" y="6163429"/>
            <a:ext cx="1450974" cy="188992"/>
          </a:xfrm>
          <a:prstGeom prst="rect">
            <a:avLst/>
          </a:prstGeom>
        </p:spPr>
      </p:pic>
      <p:pic>
        <p:nvPicPr>
          <p:cNvPr id="5" name="Picture 4"/>
          <p:cNvPicPr>
            <a:picLocks noChangeAspect="1"/>
          </p:cNvPicPr>
          <p:nvPr/>
        </p:nvPicPr>
        <p:blipFill>
          <a:blip r:embed="rId3"/>
          <a:stretch>
            <a:fillRect/>
          </a:stretch>
        </p:blipFill>
        <p:spPr>
          <a:xfrm>
            <a:off x="5052694" y="6227255"/>
            <a:ext cx="1585097" cy="188992"/>
          </a:xfrm>
          <a:prstGeom prst="rect">
            <a:avLst/>
          </a:prstGeom>
        </p:spPr>
      </p:pic>
      <p:pic>
        <p:nvPicPr>
          <p:cNvPr id="6" name="Picture 5"/>
          <p:cNvPicPr>
            <a:picLocks noChangeAspect="1"/>
          </p:cNvPicPr>
          <p:nvPr/>
        </p:nvPicPr>
        <p:blipFill>
          <a:blip r:embed="rId4"/>
          <a:stretch>
            <a:fillRect/>
          </a:stretch>
        </p:blipFill>
        <p:spPr>
          <a:xfrm>
            <a:off x="1222763" y="6056740"/>
            <a:ext cx="1383912" cy="213378"/>
          </a:xfrm>
          <a:prstGeom prst="rect">
            <a:avLst/>
          </a:prstGeom>
        </p:spPr>
      </p:pic>
      <p:pic>
        <p:nvPicPr>
          <p:cNvPr id="7" name="Picture 6"/>
          <p:cNvPicPr>
            <a:picLocks noChangeAspect="1"/>
          </p:cNvPicPr>
          <p:nvPr/>
        </p:nvPicPr>
        <p:blipFill>
          <a:blip r:embed="rId5"/>
          <a:stretch>
            <a:fillRect/>
          </a:stretch>
        </p:blipFill>
        <p:spPr>
          <a:xfrm rot="9063661">
            <a:off x="5323469" y="5953099"/>
            <a:ext cx="1383912" cy="207282"/>
          </a:xfrm>
          <a:prstGeom prst="rect">
            <a:avLst/>
          </a:prstGeom>
        </p:spPr>
      </p:pic>
      <p:pic>
        <p:nvPicPr>
          <p:cNvPr id="8" name="Picture 7"/>
          <p:cNvPicPr>
            <a:picLocks noChangeAspect="1"/>
          </p:cNvPicPr>
          <p:nvPr/>
        </p:nvPicPr>
        <p:blipFill>
          <a:blip r:embed="rId6"/>
          <a:stretch>
            <a:fillRect/>
          </a:stretch>
        </p:blipFill>
        <p:spPr>
          <a:xfrm>
            <a:off x="1324938" y="6292404"/>
            <a:ext cx="1047896" cy="565596"/>
          </a:xfrm>
          <a:prstGeom prst="rect">
            <a:avLst/>
          </a:prstGeom>
        </p:spPr>
      </p:pic>
      <p:pic>
        <p:nvPicPr>
          <p:cNvPr id="9" name="Picture 8"/>
          <p:cNvPicPr>
            <a:picLocks noChangeAspect="1"/>
          </p:cNvPicPr>
          <p:nvPr/>
        </p:nvPicPr>
        <p:blipFill>
          <a:blip r:embed="rId6"/>
          <a:stretch>
            <a:fillRect/>
          </a:stretch>
        </p:blipFill>
        <p:spPr>
          <a:xfrm>
            <a:off x="5321294" y="6416246"/>
            <a:ext cx="1047896" cy="441754"/>
          </a:xfrm>
          <a:prstGeom prst="rect">
            <a:avLst/>
          </a:prstGeom>
        </p:spPr>
      </p:pic>
    </p:spTree>
    <p:extLst>
      <p:ext uri="{BB962C8B-B14F-4D97-AF65-F5344CB8AC3E}">
        <p14:creationId xmlns:p14="http://schemas.microsoft.com/office/powerpoint/2010/main" val="4078527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71513"/>
          </a:xfrm>
        </p:spPr>
        <p:txBody>
          <a:bodyPr>
            <a:normAutofit fontScale="90000"/>
          </a:bodyPr>
          <a:lstStyle/>
          <a:p>
            <a:r>
              <a:rPr lang="en-GB" dirty="0">
                <a:solidFill>
                  <a:srgbClr val="FF0000"/>
                </a:solidFill>
              </a:rPr>
              <a:t>CONT’</a:t>
            </a:r>
          </a:p>
        </p:txBody>
      </p:sp>
      <p:sp>
        <p:nvSpPr>
          <p:cNvPr id="3" name="Content Placeholder 2"/>
          <p:cNvSpPr>
            <a:spLocks noGrp="1"/>
          </p:cNvSpPr>
          <p:nvPr>
            <p:ph idx="1"/>
          </p:nvPr>
        </p:nvSpPr>
        <p:spPr>
          <a:xfrm>
            <a:off x="0" y="671513"/>
            <a:ext cx="12192000" cy="6186487"/>
          </a:xfrm>
        </p:spPr>
        <p:txBody>
          <a:bodyPr>
            <a:normAutofit lnSpcReduction="10000"/>
          </a:bodyPr>
          <a:lstStyle/>
          <a:p>
            <a:pPr algn="just"/>
            <a:r>
              <a:rPr lang="en-US" sz="2800" dirty="0">
                <a:latin typeface="Times New Roman" panose="02020603050405020304" pitchFamily="18" charset="0"/>
                <a:cs typeface="Times New Roman" panose="02020603050405020304" pitchFamily="18" charset="0"/>
              </a:rPr>
              <a:t>The </a:t>
            </a:r>
            <a:r>
              <a:rPr lang="en-US" sz="2800" dirty="0" err="1">
                <a:latin typeface="Times New Roman" panose="02020603050405020304" pitchFamily="18" charset="0"/>
                <a:cs typeface="Times New Roman" panose="02020603050405020304" pitchFamily="18" charset="0"/>
              </a:rPr>
              <a:t>convertion</a:t>
            </a:r>
            <a:r>
              <a:rPr lang="en-US" sz="2800" dirty="0">
                <a:latin typeface="Times New Roman" panose="02020603050405020304" pitchFamily="18" charset="0"/>
                <a:cs typeface="Times New Roman" panose="02020603050405020304" pitchFamily="18" charset="0"/>
              </a:rPr>
              <a:t> of citrate to </a:t>
            </a:r>
            <a:r>
              <a:rPr lang="en-US" sz="2800" dirty="0" err="1">
                <a:latin typeface="Times New Roman" panose="02020603050405020304" pitchFamily="18" charset="0"/>
                <a:cs typeface="Times New Roman" panose="02020603050405020304" pitchFamily="18" charset="0"/>
              </a:rPr>
              <a:t>cis-Aconitase</a:t>
            </a:r>
            <a:r>
              <a:rPr lang="en-US" sz="2800" dirty="0">
                <a:latin typeface="Times New Roman" panose="02020603050405020304" pitchFamily="18" charset="0"/>
                <a:cs typeface="Times New Roman" panose="02020603050405020304" pitchFamily="18" charset="0"/>
              </a:rPr>
              <a:t> results in loss of 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 while conversion of </a:t>
            </a:r>
            <a:r>
              <a:rPr lang="en-US" sz="2800" dirty="0" err="1">
                <a:latin typeface="Times New Roman" panose="02020603050405020304" pitchFamily="18" charset="0"/>
                <a:cs typeface="Times New Roman" panose="02020603050405020304" pitchFamily="18" charset="0"/>
              </a:rPr>
              <a:t>cis-Aconitase</a:t>
            </a:r>
            <a:r>
              <a:rPr lang="en-US" sz="2800" dirty="0">
                <a:latin typeface="Times New Roman" panose="02020603050405020304" pitchFamily="18" charset="0"/>
                <a:cs typeface="Times New Roman" panose="02020603050405020304" pitchFamily="18" charset="0"/>
              </a:rPr>
              <a:t> to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requires a molecule of 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  </a:t>
            </a:r>
            <a:endParaRPr lang="en-GB" sz="2800" dirty="0">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3rd Reaction: Oxidative decarboxylation of </a:t>
            </a:r>
            <a:r>
              <a:rPr lang="en-US" sz="2800" b="1" dirty="0" err="1">
                <a:latin typeface="Times New Roman" panose="02020603050405020304" pitchFamily="18" charset="0"/>
                <a:cs typeface="Times New Roman" panose="02020603050405020304" pitchFamily="18" charset="0"/>
              </a:rPr>
              <a:t>isocitrate</a:t>
            </a:r>
            <a:r>
              <a:rPr lang="en-US" sz="2800" b="1" dirty="0">
                <a:latin typeface="Times New Roman" panose="02020603050405020304" pitchFamily="18" charset="0"/>
                <a:cs typeface="Times New Roman" panose="02020603050405020304" pitchFamily="18" charset="0"/>
              </a:rPr>
              <a:t> by </a:t>
            </a:r>
            <a:r>
              <a:rPr lang="en-US" sz="2800" b="1" dirty="0" err="1">
                <a:latin typeface="Times New Roman" panose="02020603050405020304" pitchFamily="18" charset="0"/>
                <a:cs typeface="Times New Roman" panose="02020603050405020304" pitchFamily="18" charset="0"/>
              </a:rPr>
              <a:t>isocitrate</a:t>
            </a:r>
            <a:r>
              <a:rPr lang="en-US" sz="2800" b="1" dirty="0">
                <a:latin typeface="Times New Roman" panose="02020603050405020304" pitchFamily="18" charset="0"/>
                <a:cs typeface="Times New Roman" panose="02020603050405020304" pitchFamily="18" charset="0"/>
              </a:rPr>
              <a:t> dehydrogenase</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This is an irreversible reaction and is the first oxidative reaction of the TCA cycle. </a:t>
            </a:r>
          </a:p>
          <a:p>
            <a:pPr algn="just"/>
            <a:r>
              <a:rPr lang="en-US" sz="2800" dirty="0">
                <a:latin typeface="Times New Roman" panose="02020603050405020304" pitchFamily="18" charset="0"/>
                <a:cs typeface="Times New Roman" panose="02020603050405020304" pitchFamily="18" charset="0"/>
              </a:rPr>
              <a:t>In this reaction the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is </a:t>
            </a:r>
            <a:r>
              <a:rPr lang="en-US" sz="2800" dirty="0" err="1">
                <a:latin typeface="Times New Roman" panose="02020603050405020304" pitchFamily="18" charset="0"/>
                <a:cs typeface="Times New Roman" panose="02020603050405020304" pitchFamily="18" charset="0"/>
              </a:rPr>
              <a:t>decarboxylated</a:t>
            </a:r>
            <a:r>
              <a:rPr lang="en-US" sz="2800" dirty="0">
                <a:latin typeface="Times New Roman" panose="02020603050405020304" pitchFamily="18" charset="0"/>
                <a:cs typeface="Times New Roman" panose="02020603050405020304" pitchFamily="18" charset="0"/>
              </a:rPr>
              <a:t> to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by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dehydrogenase (IDH) and CO</a:t>
            </a:r>
            <a:r>
              <a:rPr lang="en-US" sz="2800" baseline="-25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  is released. </a:t>
            </a:r>
          </a:p>
          <a:p>
            <a:pPr algn="just"/>
            <a:r>
              <a:rPr lang="en-US" sz="2800" dirty="0">
                <a:latin typeface="Times New Roman" panose="02020603050405020304" pitchFamily="18" charset="0"/>
                <a:cs typeface="Times New Roman" panose="02020603050405020304" pitchFamily="18" charset="0"/>
              </a:rPr>
              <a:t>The IDH of the TCA cycle, which is located only in the mitochondrial matrix, uses NAD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as a cofactor. </a:t>
            </a:r>
          </a:p>
          <a:p>
            <a:pPr algn="just"/>
            <a:r>
              <a:rPr lang="en-US" sz="2800" dirty="0">
                <a:latin typeface="Times New Roman" panose="02020603050405020304" pitchFamily="18" charset="0"/>
                <a:cs typeface="Times New Roman" panose="02020603050405020304" pitchFamily="18" charset="0"/>
              </a:rPr>
              <a:t>Before carboxylation,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is first oxidized whereby 2 electrons (2e</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and a hydrogen ion/proton (H</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are given to charged </a:t>
            </a:r>
            <a:r>
              <a:rPr lang="en-US" sz="2800" dirty="0" err="1">
                <a:latin typeface="Times New Roman" panose="02020603050405020304" pitchFamily="18" charset="0"/>
                <a:cs typeface="Times New Roman" panose="02020603050405020304" pitchFamily="18" charset="0"/>
              </a:rPr>
              <a:t>nicotinamide</a:t>
            </a:r>
            <a:r>
              <a:rPr lang="en-US" sz="2800" dirty="0">
                <a:latin typeface="Times New Roman" panose="02020603050405020304" pitchFamily="18" charset="0"/>
                <a:cs typeface="Times New Roman" panose="02020603050405020304" pitchFamily="18" charset="0"/>
              </a:rPr>
              <a:t> adenosine dinucleotide (NAD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reducing it to NADH + H</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418668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14388"/>
          </a:xfrm>
        </p:spPr>
        <p:txBody>
          <a:bodyPr/>
          <a:lstStyle/>
          <a:p>
            <a:r>
              <a:rPr lang="en-GB" dirty="0">
                <a:solidFill>
                  <a:srgbClr val="FF0000"/>
                </a:solidFill>
              </a:rPr>
              <a:t>CONT’</a:t>
            </a:r>
          </a:p>
        </p:txBody>
      </p:sp>
      <p:sp>
        <p:nvSpPr>
          <p:cNvPr id="3" name="Content Placeholder 2"/>
          <p:cNvSpPr>
            <a:spLocks noGrp="1"/>
          </p:cNvSpPr>
          <p:nvPr>
            <p:ph idx="1"/>
          </p:nvPr>
        </p:nvSpPr>
        <p:spPr>
          <a:xfrm>
            <a:off x="-41617" y="657225"/>
            <a:ext cx="12192000" cy="6200775"/>
          </a:xfrm>
        </p:spPr>
        <p:txBody>
          <a:bodyPr/>
          <a:lstStyle/>
          <a:p>
            <a:pPr marL="0" indent="0">
              <a:buNone/>
            </a:pPr>
            <a:r>
              <a:rPr lang="en-US" dirty="0"/>
              <a:t>                             NAD</a:t>
            </a:r>
            <a:r>
              <a:rPr lang="en-US" baseline="30000" dirty="0"/>
              <a:t>+                  </a:t>
            </a:r>
            <a:r>
              <a:rPr lang="en-US" dirty="0"/>
              <a:t> NADH+H</a:t>
            </a:r>
          </a:p>
          <a:p>
            <a:pPr marL="0" indent="0">
              <a:buNone/>
            </a:pPr>
            <a:r>
              <a:rPr lang="en-US" dirty="0"/>
              <a:t>      Isocitrate                                               </a:t>
            </a:r>
            <a:r>
              <a:rPr lang="en-US" dirty="0" err="1"/>
              <a:t>ketoglutarate</a:t>
            </a:r>
            <a:r>
              <a:rPr lang="en-US" dirty="0"/>
              <a:t> + CO</a:t>
            </a:r>
            <a:r>
              <a:rPr lang="en-US" baseline="-25000" dirty="0"/>
              <a:t>2</a:t>
            </a:r>
            <a:r>
              <a:rPr lang="en-US" dirty="0"/>
              <a:t> </a:t>
            </a:r>
            <a:endParaRPr lang="en-GB" dirty="0"/>
          </a:p>
        </p:txBody>
      </p:sp>
      <p:pic>
        <p:nvPicPr>
          <p:cNvPr id="4" name="Picture 3"/>
          <p:cNvPicPr>
            <a:picLocks noChangeAspect="1"/>
          </p:cNvPicPr>
          <p:nvPr/>
        </p:nvPicPr>
        <p:blipFill>
          <a:blip r:embed="rId2"/>
          <a:stretch>
            <a:fillRect/>
          </a:stretch>
        </p:blipFill>
        <p:spPr>
          <a:xfrm>
            <a:off x="2289515" y="1377117"/>
            <a:ext cx="2383743" cy="188992"/>
          </a:xfrm>
          <a:prstGeom prst="rect">
            <a:avLst/>
          </a:prstGeom>
        </p:spPr>
      </p:pic>
      <p:pic>
        <p:nvPicPr>
          <p:cNvPr id="5" name="Picture 4"/>
          <p:cNvPicPr>
            <a:picLocks noChangeAspect="1"/>
          </p:cNvPicPr>
          <p:nvPr/>
        </p:nvPicPr>
        <p:blipFill>
          <a:blip r:embed="rId3"/>
          <a:stretch>
            <a:fillRect/>
          </a:stretch>
        </p:blipFill>
        <p:spPr>
          <a:xfrm>
            <a:off x="2889444" y="1264331"/>
            <a:ext cx="1383912" cy="207282"/>
          </a:xfrm>
          <a:prstGeom prst="rect">
            <a:avLst/>
          </a:prstGeom>
        </p:spPr>
      </p:pic>
      <p:pic>
        <p:nvPicPr>
          <p:cNvPr id="7" name="Picture 6"/>
          <p:cNvPicPr>
            <a:picLocks noChangeAspect="1"/>
          </p:cNvPicPr>
          <p:nvPr/>
        </p:nvPicPr>
        <p:blipFill>
          <a:blip r:embed="rId4"/>
          <a:stretch>
            <a:fillRect/>
          </a:stretch>
        </p:blipFill>
        <p:spPr>
          <a:xfrm>
            <a:off x="2681174" y="1471614"/>
            <a:ext cx="2319451" cy="751720"/>
          </a:xfrm>
          <a:prstGeom prst="rect">
            <a:avLst/>
          </a:prstGeom>
        </p:spPr>
      </p:pic>
    </p:spTree>
    <p:extLst>
      <p:ext uri="{BB962C8B-B14F-4D97-AF65-F5344CB8AC3E}">
        <p14:creationId xmlns:p14="http://schemas.microsoft.com/office/powerpoint/2010/main" val="1709220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600200"/>
          </a:xfrm>
        </p:spPr>
        <p:txBody>
          <a:bodyPr>
            <a:normAutofit fontScale="90000"/>
          </a:bodyPr>
          <a:lstStyle/>
          <a:p>
            <a:r>
              <a:rPr lang="en-US" b="1" dirty="0"/>
              <a:t/>
            </a:r>
            <a:br>
              <a:rPr lang="en-US" b="1" dirty="0"/>
            </a:br>
            <a:r>
              <a:rPr lang="en-US" b="1" dirty="0"/>
              <a:t/>
            </a:r>
            <a:br>
              <a:rPr lang="en-US" b="1" dirty="0"/>
            </a:br>
            <a:r>
              <a:rPr lang="en-US" b="1" dirty="0">
                <a:solidFill>
                  <a:srgbClr val="FF0000"/>
                </a:solidFill>
              </a:rPr>
              <a:t>4</a:t>
            </a:r>
            <a:r>
              <a:rPr lang="en-US" b="1" baseline="30000" dirty="0">
                <a:solidFill>
                  <a:srgbClr val="FF0000"/>
                </a:solidFill>
              </a:rPr>
              <a:t>th</a:t>
            </a:r>
            <a:r>
              <a:rPr lang="en-US" b="1" dirty="0">
                <a:solidFill>
                  <a:srgbClr val="FF0000"/>
                </a:solidFill>
              </a:rPr>
              <a:t> RXN: Oxidative decarboxylation of α- </a:t>
            </a:r>
            <a:r>
              <a:rPr lang="en-US" b="1" dirty="0" err="1">
                <a:solidFill>
                  <a:srgbClr val="FF0000"/>
                </a:solidFill>
              </a:rPr>
              <a:t>ketoglutarate</a:t>
            </a:r>
            <a:r>
              <a:rPr lang="en-US" b="1" dirty="0">
                <a:solidFill>
                  <a:srgbClr val="FF0000"/>
                </a:solidFill>
              </a:rPr>
              <a:t> by α - KGDH  complex </a:t>
            </a:r>
            <a:r>
              <a:rPr lang="en-GB" dirty="0"/>
              <a:t/>
            </a:r>
            <a:br>
              <a:rPr lang="en-GB" dirty="0"/>
            </a:br>
            <a:endParaRPr lang="en-GB" dirty="0"/>
          </a:p>
        </p:txBody>
      </p:sp>
      <p:sp>
        <p:nvSpPr>
          <p:cNvPr id="3" name="Content Placeholder 2"/>
          <p:cNvSpPr>
            <a:spLocks noGrp="1"/>
          </p:cNvSpPr>
          <p:nvPr>
            <p:ph idx="1"/>
          </p:nvPr>
        </p:nvSpPr>
        <p:spPr>
          <a:xfrm>
            <a:off x="0" y="1743075"/>
            <a:ext cx="12192000" cy="5114925"/>
          </a:xfrm>
        </p:spPr>
        <p:txBody>
          <a:bodyPr>
            <a:normAutofit/>
          </a:bodyPr>
          <a:lstStyle/>
          <a:p>
            <a:pPr algn="just"/>
            <a:r>
              <a:rPr lang="en-US" dirty="0"/>
              <a:t>In this reaction α-</a:t>
            </a:r>
            <a:r>
              <a:rPr lang="en-US" dirty="0" err="1"/>
              <a:t>ketoglutarate</a:t>
            </a:r>
            <a:r>
              <a:rPr lang="en-US" dirty="0"/>
              <a:t> undergoes oxidative decarboxylation in a reaction catalyzed by a multi-enzyme complex, the α-</a:t>
            </a:r>
            <a:r>
              <a:rPr lang="en-US" dirty="0" err="1"/>
              <a:t>ketoglutarate</a:t>
            </a:r>
            <a:r>
              <a:rPr lang="en-US" dirty="0"/>
              <a:t> dehydrogenase complex. </a:t>
            </a:r>
          </a:p>
          <a:p>
            <a:pPr algn="just"/>
            <a:r>
              <a:rPr lang="en-US" dirty="0"/>
              <a:t>This enzyme complex is similar to the pyruvate dehydrogenase complex and requires the same co-factors as the pyruvate dehydrogenase complex (thiamine diphosphate, </a:t>
            </a:r>
            <a:r>
              <a:rPr lang="en-US" dirty="0" err="1"/>
              <a:t>lipoate</a:t>
            </a:r>
            <a:r>
              <a:rPr lang="en-US" dirty="0"/>
              <a:t>, NAD</a:t>
            </a:r>
            <a:r>
              <a:rPr lang="en-US" baseline="30000" dirty="0"/>
              <a:t>+</a:t>
            </a:r>
            <a:r>
              <a:rPr lang="en-US" dirty="0"/>
              <a:t>, FAD, and CoA). </a:t>
            </a:r>
          </a:p>
          <a:p>
            <a:pPr algn="just"/>
            <a:r>
              <a:rPr lang="en-US" dirty="0"/>
              <a:t>The reaction results in the formation of a </a:t>
            </a:r>
            <a:r>
              <a:rPr lang="en-US" dirty="0" err="1"/>
              <a:t>thiester</a:t>
            </a:r>
            <a:r>
              <a:rPr lang="en-US" dirty="0"/>
              <a:t> product </a:t>
            </a:r>
            <a:r>
              <a:rPr lang="en-US" dirty="0" err="1"/>
              <a:t>succinyl</a:t>
            </a:r>
            <a:r>
              <a:rPr lang="en-US" dirty="0"/>
              <a:t>-CoA and the respective reducing agents from the co-factors. </a:t>
            </a:r>
          </a:p>
          <a:p>
            <a:pPr algn="just"/>
            <a:r>
              <a:rPr lang="en-US" dirty="0"/>
              <a:t>The principal reducing agent produced is NADH. </a:t>
            </a:r>
            <a:r>
              <a:rPr lang="en-US" dirty="0" err="1"/>
              <a:t>Succinyl</a:t>
            </a:r>
            <a:r>
              <a:rPr lang="en-US" dirty="0"/>
              <a:t>-CoA and NADH products are energy-rich species that are important sources of metabolic energy in subsequent cellular processes.</a:t>
            </a:r>
          </a:p>
          <a:p>
            <a:pPr algn="just"/>
            <a:r>
              <a:rPr lang="en-US" dirty="0"/>
              <a:t>The equilibrium of this reaction is so much in </a:t>
            </a:r>
            <a:r>
              <a:rPr lang="en-US" dirty="0" err="1"/>
              <a:t>favour</a:t>
            </a:r>
            <a:r>
              <a:rPr lang="en-US" dirty="0"/>
              <a:t> of </a:t>
            </a:r>
            <a:r>
              <a:rPr lang="en-US" dirty="0" err="1"/>
              <a:t>succinyl</a:t>
            </a:r>
            <a:r>
              <a:rPr lang="en-US" dirty="0"/>
              <a:t>-CoA formation that it must be considered to be physiologically unidirectional. </a:t>
            </a:r>
            <a:endParaRPr lang="en-GB" dirty="0"/>
          </a:p>
          <a:p>
            <a:pPr algn="just"/>
            <a:endParaRPr lang="en-GB" dirty="0"/>
          </a:p>
        </p:txBody>
      </p:sp>
    </p:spTree>
    <p:extLst>
      <p:ext uri="{BB962C8B-B14F-4D97-AF65-F5344CB8AC3E}">
        <p14:creationId xmlns:p14="http://schemas.microsoft.com/office/powerpoint/2010/main" val="1413503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
            <a:ext cx="9601196" cy="814388"/>
          </a:xfrm>
        </p:spPr>
        <p:txBody>
          <a:bodyPr>
            <a:normAutofit/>
          </a:bodyPr>
          <a:lstStyle/>
          <a:p>
            <a:r>
              <a:rPr lang="en-GB" sz="4000"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idx="1"/>
          </p:nvPr>
        </p:nvSpPr>
        <p:spPr>
          <a:xfrm>
            <a:off x="0" y="700088"/>
            <a:ext cx="12192000" cy="6157912"/>
          </a:xfrm>
        </p:spPr>
        <p:txBody>
          <a:bodyPr/>
          <a:lstStyle/>
          <a:p>
            <a:pPr marL="0" indent="0">
              <a:buNone/>
            </a:pPr>
            <a:r>
              <a:rPr lang="en-US" dirty="0"/>
              <a:t>                                       NAD</a:t>
            </a:r>
            <a:r>
              <a:rPr lang="en-US" baseline="30000" dirty="0"/>
              <a:t>+</a:t>
            </a:r>
            <a:r>
              <a:rPr lang="en-US" dirty="0"/>
              <a:t>               NADH</a:t>
            </a:r>
          </a:p>
          <a:p>
            <a:pPr marL="0" indent="0">
              <a:buNone/>
            </a:pPr>
            <a:r>
              <a:rPr lang="en-US" dirty="0"/>
              <a:t> α-</a:t>
            </a:r>
            <a:r>
              <a:rPr lang="en-US" dirty="0" err="1"/>
              <a:t>Ketoglutarate</a:t>
            </a:r>
            <a:r>
              <a:rPr lang="en-US" dirty="0"/>
              <a:t> </a:t>
            </a:r>
            <a:r>
              <a:rPr lang="en-GB" dirty="0"/>
              <a:t>                                                    </a:t>
            </a:r>
            <a:r>
              <a:rPr lang="en-US" dirty="0" err="1"/>
              <a:t>Succinyl</a:t>
            </a:r>
            <a:r>
              <a:rPr lang="en-US" dirty="0"/>
              <a:t>-CoA + CO</a:t>
            </a:r>
            <a:r>
              <a:rPr lang="en-US" baseline="-25000" dirty="0"/>
              <a:t>2</a:t>
            </a:r>
            <a:endParaRPr lang="en-GB" dirty="0"/>
          </a:p>
        </p:txBody>
      </p:sp>
      <p:pic>
        <p:nvPicPr>
          <p:cNvPr id="4" name="Picture 3"/>
          <p:cNvPicPr>
            <a:picLocks noChangeAspect="1"/>
          </p:cNvPicPr>
          <p:nvPr/>
        </p:nvPicPr>
        <p:blipFill>
          <a:blip r:embed="rId2"/>
          <a:stretch>
            <a:fillRect/>
          </a:stretch>
        </p:blipFill>
        <p:spPr>
          <a:xfrm>
            <a:off x="3314981" y="1419980"/>
            <a:ext cx="2304488" cy="188992"/>
          </a:xfrm>
          <a:prstGeom prst="rect">
            <a:avLst/>
          </a:prstGeom>
        </p:spPr>
      </p:pic>
      <p:pic>
        <p:nvPicPr>
          <p:cNvPr id="5" name="Picture 4"/>
          <p:cNvPicPr>
            <a:picLocks noChangeAspect="1"/>
          </p:cNvPicPr>
          <p:nvPr/>
        </p:nvPicPr>
        <p:blipFill>
          <a:blip r:embed="rId3"/>
          <a:stretch>
            <a:fillRect/>
          </a:stretch>
        </p:blipFill>
        <p:spPr>
          <a:xfrm>
            <a:off x="3314981" y="1608972"/>
            <a:ext cx="2199994" cy="605590"/>
          </a:xfrm>
          <a:prstGeom prst="rect">
            <a:avLst/>
          </a:prstGeom>
        </p:spPr>
      </p:pic>
      <p:pic>
        <p:nvPicPr>
          <p:cNvPr id="6" name="Picture 5"/>
          <p:cNvPicPr>
            <a:picLocks noChangeAspect="1"/>
          </p:cNvPicPr>
          <p:nvPr/>
        </p:nvPicPr>
        <p:blipFill>
          <a:blip r:embed="rId4"/>
          <a:stretch>
            <a:fillRect/>
          </a:stretch>
        </p:blipFill>
        <p:spPr>
          <a:xfrm>
            <a:off x="3773584" y="1111172"/>
            <a:ext cx="1387281" cy="428625"/>
          </a:xfrm>
          <a:prstGeom prst="rect">
            <a:avLst/>
          </a:prstGeom>
        </p:spPr>
      </p:pic>
    </p:spTree>
    <p:extLst>
      <p:ext uri="{BB962C8B-B14F-4D97-AF65-F5344CB8AC3E}">
        <p14:creationId xmlns:p14="http://schemas.microsoft.com/office/powerpoint/2010/main" val="152454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87225" cy="885825"/>
          </a:xfrm>
        </p:spPr>
        <p:txBody>
          <a:bodyPr>
            <a:normAutofit/>
          </a:bodyPr>
          <a:lstStyle/>
          <a:p>
            <a:r>
              <a:rPr lang="en-GB" sz="4000"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idx="1"/>
          </p:nvPr>
        </p:nvSpPr>
        <p:spPr>
          <a:xfrm>
            <a:off x="-2" y="885825"/>
            <a:ext cx="12087225" cy="5972175"/>
          </a:xfrm>
        </p:spPr>
        <p:txBody>
          <a:bodyPr>
            <a:noAutofit/>
          </a:bodyPr>
          <a:lstStyle/>
          <a:p>
            <a:pPr algn="just"/>
            <a:r>
              <a:rPr lang="en-US" sz="2800" dirty="0" err="1">
                <a:latin typeface="Times New Roman" panose="02020603050405020304" pitchFamily="18" charset="0"/>
                <a:cs typeface="Times New Roman" panose="02020603050405020304" pitchFamily="18" charset="0"/>
              </a:rPr>
              <a:t>Arsenite</a:t>
            </a:r>
            <a:r>
              <a:rPr lang="en-US" sz="2800" dirty="0">
                <a:latin typeface="Times New Roman" panose="02020603050405020304" pitchFamily="18" charset="0"/>
                <a:cs typeface="Times New Roman" panose="02020603050405020304" pitchFamily="18" charset="0"/>
              </a:rPr>
              <a:t> inhibits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dehydrogenese</a:t>
            </a:r>
            <a:r>
              <a:rPr lang="en-US" sz="2800" dirty="0">
                <a:latin typeface="Times New Roman" panose="02020603050405020304" pitchFamily="18" charset="0"/>
                <a:cs typeface="Times New Roman" panose="02020603050405020304" pitchFamily="18" charset="0"/>
              </a:rPr>
              <a:t> complex blocking the TCA cycle. </a:t>
            </a:r>
          </a:p>
          <a:p>
            <a:pPr algn="just"/>
            <a:r>
              <a:rPr lang="en-US" sz="2800" dirty="0">
                <a:latin typeface="Times New Roman" panose="02020603050405020304" pitchFamily="18" charset="0"/>
                <a:cs typeface="Times New Roman" panose="02020603050405020304" pitchFamily="18" charset="0"/>
              </a:rPr>
              <a:t>In the presence of </a:t>
            </a:r>
            <a:r>
              <a:rPr lang="en-US" sz="2800" dirty="0" err="1">
                <a:latin typeface="Times New Roman" panose="02020603050405020304" pitchFamily="18" charset="0"/>
                <a:cs typeface="Times New Roman" panose="02020603050405020304" pitchFamily="18" charset="0"/>
              </a:rPr>
              <a:t>arsenite</a:t>
            </a:r>
            <a:r>
              <a:rPr lang="en-US" sz="2800" dirty="0">
                <a:latin typeface="Times New Roman" panose="02020603050405020304" pitchFamily="18" charset="0"/>
                <a:cs typeface="Times New Roman" panose="02020603050405020304" pitchFamily="18" charset="0"/>
              </a:rPr>
              <a:t>,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accumulates in the tissues.  </a:t>
            </a:r>
          </a:p>
          <a:p>
            <a:pPr algn="just"/>
            <a:r>
              <a:rPr lang="en-US" sz="2800" dirty="0" err="1">
                <a:latin typeface="Times New Roman" panose="02020603050405020304" pitchFamily="18" charset="0"/>
                <a:cs typeface="Times New Roman" panose="02020603050405020304" pitchFamily="18" charset="0"/>
              </a:rPr>
              <a:t>Arsenite</a:t>
            </a:r>
            <a:r>
              <a:rPr lang="en-US" sz="2800" dirty="0">
                <a:latin typeface="Times New Roman" panose="02020603050405020304" pitchFamily="18" charset="0"/>
                <a:cs typeface="Times New Roman" panose="02020603050405020304" pitchFamily="18" charset="0"/>
              </a:rPr>
              <a:t> is also an inhibitor of pyruvate dehydrogenase complex that we discussed earlier on in this section.</a:t>
            </a:r>
          </a:p>
          <a:p>
            <a:pPr marL="0" indent="0" algn="just">
              <a:buNone/>
            </a:pPr>
            <a:r>
              <a:rPr lang="en-US" sz="2800" b="1" dirty="0">
                <a:solidFill>
                  <a:srgbClr val="FF0000"/>
                </a:solidFill>
                <a:latin typeface="Times New Roman" panose="02020603050405020304" pitchFamily="18" charset="0"/>
                <a:cs typeface="Times New Roman" panose="02020603050405020304" pitchFamily="18" charset="0"/>
              </a:rPr>
              <a:t>5</a:t>
            </a:r>
            <a:r>
              <a:rPr lang="en-US" sz="2800" b="1" baseline="30000" dirty="0">
                <a:solidFill>
                  <a:srgbClr val="FF0000"/>
                </a:solidFill>
                <a:latin typeface="Times New Roman" panose="02020603050405020304" pitchFamily="18" charset="0"/>
                <a:cs typeface="Times New Roman" panose="02020603050405020304" pitchFamily="18" charset="0"/>
              </a:rPr>
              <a:t>th</a:t>
            </a:r>
            <a:r>
              <a:rPr lang="en-US" sz="2800" b="1" dirty="0">
                <a:solidFill>
                  <a:srgbClr val="FF0000"/>
                </a:solidFill>
                <a:latin typeface="Times New Roman" panose="02020603050405020304" pitchFamily="18" charset="0"/>
                <a:cs typeface="Times New Roman" panose="02020603050405020304" pitchFamily="18" charset="0"/>
              </a:rPr>
              <a:t> Reaction: Conversion of </a:t>
            </a:r>
            <a:r>
              <a:rPr lang="en-US" sz="2800" b="1" dirty="0" err="1">
                <a:solidFill>
                  <a:srgbClr val="FF0000"/>
                </a:solidFill>
                <a:latin typeface="Times New Roman" panose="02020603050405020304" pitchFamily="18" charset="0"/>
                <a:cs typeface="Times New Roman" panose="02020603050405020304" pitchFamily="18" charset="0"/>
              </a:rPr>
              <a:t>succinyl</a:t>
            </a:r>
            <a:r>
              <a:rPr lang="en-US" sz="2800" b="1" dirty="0">
                <a:solidFill>
                  <a:srgbClr val="FF0000"/>
                </a:solidFill>
                <a:latin typeface="Times New Roman" panose="02020603050405020304" pitchFamily="18" charset="0"/>
                <a:cs typeface="Times New Roman" panose="02020603050405020304" pitchFamily="18" charset="0"/>
              </a:rPr>
              <a:t> CoA into succinate by succinate </a:t>
            </a:r>
            <a:r>
              <a:rPr lang="en-US" sz="2800" b="1" dirty="0" err="1">
                <a:solidFill>
                  <a:srgbClr val="FF0000"/>
                </a:solidFill>
                <a:latin typeface="Times New Roman" panose="02020603050405020304" pitchFamily="18" charset="0"/>
                <a:cs typeface="Times New Roman" panose="02020603050405020304" pitchFamily="18" charset="0"/>
              </a:rPr>
              <a:t>thiokinase</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succinyl</a:t>
            </a:r>
            <a:r>
              <a:rPr lang="en-US" sz="2800" b="1" dirty="0">
                <a:solidFill>
                  <a:srgbClr val="FF0000"/>
                </a:solidFill>
                <a:latin typeface="Times New Roman" panose="02020603050405020304" pitchFamily="18" charset="0"/>
                <a:cs typeface="Times New Roman" panose="02020603050405020304" pitchFamily="18" charset="0"/>
              </a:rPr>
              <a:t> CoA </a:t>
            </a:r>
            <a:r>
              <a:rPr lang="en-US" sz="2800" b="1" dirty="0" err="1">
                <a:solidFill>
                  <a:srgbClr val="FF0000"/>
                </a:solidFill>
                <a:latin typeface="Times New Roman" panose="02020603050405020304" pitchFamily="18" charset="0"/>
                <a:cs typeface="Times New Roman" panose="02020603050405020304" pitchFamily="18" charset="0"/>
              </a:rPr>
              <a:t>synthetase</a:t>
            </a:r>
            <a:r>
              <a:rPr lang="en-US" sz="2800" b="1" dirty="0">
                <a:solidFill>
                  <a:srgbClr val="FF0000"/>
                </a:solidFill>
                <a:latin typeface="Times New Roman" panose="02020603050405020304" pitchFamily="18" charset="0"/>
                <a:cs typeface="Times New Roman" panose="02020603050405020304" pitchFamily="18" charset="0"/>
              </a:rPr>
              <a:t>)  </a:t>
            </a:r>
            <a:endParaRPr lang="en-GB"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a:t>
            </a:r>
            <a:r>
              <a:rPr lang="en-US" sz="2800" dirty="0" err="1">
                <a:latin typeface="Times New Roman" panose="02020603050405020304" pitchFamily="18" charset="0"/>
                <a:cs typeface="Times New Roman" panose="02020603050405020304" pitchFamily="18" charset="0"/>
              </a:rPr>
              <a:t>succinyl</a:t>
            </a:r>
            <a:r>
              <a:rPr lang="en-US" sz="2800" dirty="0">
                <a:latin typeface="Times New Roman" panose="02020603050405020304" pitchFamily="18" charset="0"/>
                <a:cs typeface="Times New Roman" panose="02020603050405020304" pitchFamily="18" charset="0"/>
              </a:rPr>
              <a:t>-CoA produced in reaction 4 is a high-energy intermediate and is utilized in this 5</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reaction of the TCA cycle to drive the phosphorylation of </a:t>
            </a:r>
            <a:r>
              <a:rPr lang="en-US" sz="2800" dirty="0" err="1">
                <a:latin typeface="Times New Roman" panose="02020603050405020304" pitchFamily="18" charset="0"/>
                <a:cs typeface="Times New Roman" panose="02020603050405020304" pitchFamily="18" charset="0"/>
              </a:rPr>
              <a:t>guanosine</a:t>
            </a:r>
            <a:r>
              <a:rPr lang="en-US" sz="2800" dirty="0">
                <a:latin typeface="Times New Roman" panose="02020603050405020304" pitchFamily="18" charset="0"/>
                <a:cs typeface="Times New Roman" panose="02020603050405020304" pitchFamily="18" charset="0"/>
              </a:rPr>
              <a:t> diphosphate (GDP) to </a:t>
            </a:r>
            <a:r>
              <a:rPr lang="en-US" sz="2800" dirty="0" err="1">
                <a:latin typeface="Times New Roman" panose="02020603050405020304" pitchFamily="18" charset="0"/>
                <a:cs typeface="Times New Roman" panose="02020603050405020304" pitchFamily="18" charset="0"/>
              </a:rPr>
              <a:t>guanosine</a:t>
            </a:r>
            <a:r>
              <a:rPr lang="en-US" sz="2800" dirty="0">
                <a:latin typeface="Times New Roman" panose="02020603050405020304" pitchFamily="18" charset="0"/>
                <a:cs typeface="Times New Roman" panose="02020603050405020304" pitchFamily="18" charset="0"/>
              </a:rPr>
              <a:t> triphosphate (GTP). </a:t>
            </a:r>
          </a:p>
          <a:p>
            <a:pPr algn="just"/>
            <a:r>
              <a:rPr lang="en-US" sz="2800" dirty="0">
                <a:latin typeface="Times New Roman" panose="02020603050405020304" pitchFamily="18" charset="0"/>
                <a:cs typeface="Times New Roman" panose="02020603050405020304" pitchFamily="18" charset="0"/>
              </a:rPr>
              <a:t>The reaction is catalyzed by </a:t>
            </a:r>
            <a:r>
              <a:rPr lang="en-US" sz="2800" dirty="0" err="1">
                <a:latin typeface="Times New Roman" panose="02020603050405020304" pitchFamily="18" charset="0"/>
                <a:cs typeface="Times New Roman" panose="02020603050405020304" pitchFamily="18" charset="0"/>
              </a:rPr>
              <a:t>succinyl</a:t>
            </a:r>
            <a:r>
              <a:rPr lang="en-US" sz="2800" dirty="0">
                <a:latin typeface="Times New Roman" panose="02020603050405020304" pitchFamily="18" charset="0"/>
                <a:cs typeface="Times New Roman" panose="02020603050405020304" pitchFamily="18" charset="0"/>
              </a:rPr>
              <a:t>-CoA </a:t>
            </a:r>
            <a:r>
              <a:rPr lang="en-US" sz="2800" dirty="0" err="1">
                <a:latin typeface="Times New Roman" panose="02020603050405020304" pitchFamily="18" charset="0"/>
                <a:cs typeface="Times New Roman" panose="02020603050405020304" pitchFamily="18" charset="0"/>
              </a:rPr>
              <a:t>synthetase</a:t>
            </a:r>
            <a:r>
              <a:rPr lang="en-US" sz="2800" dirty="0">
                <a:latin typeface="Times New Roman" panose="02020603050405020304" pitchFamily="18" charset="0"/>
                <a:cs typeface="Times New Roman" panose="02020603050405020304" pitchFamily="18" charset="0"/>
              </a:rPr>
              <a:t>, sometimes called succinate </a:t>
            </a:r>
            <a:r>
              <a:rPr lang="en-US" sz="2800" dirty="0" err="1">
                <a:latin typeface="Times New Roman" panose="02020603050405020304" pitchFamily="18" charset="0"/>
                <a:cs typeface="Times New Roman" panose="02020603050405020304" pitchFamily="18" charset="0"/>
              </a:rPr>
              <a:t>thiokinase</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6092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33485" y="-142875"/>
            <a:ext cx="10896598" cy="900113"/>
          </a:xfrm>
        </p:spPr>
        <p:txBody>
          <a:bodyPr>
            <a:normAutofit/>
          </a:bodyPr>
          <a:lstStyle/>
          <a:p>
            <a:r>
              <a:rPr lang="en-GB" sz="4000" dirty="0">
                <a:solidFill>
                  <a:srgbClr val="FF0000"/>
                </a:solidFill>
              </a:rPr>
              <a:t>CONT’</a:t>
            </a:r>
          </a:p>
        </p:txBody>
      </p:sp>
      <p:sp>
        <p:nvSpPr>
          <p:cNvPr id="3" name="Content Placeholder 2"/>
          <p:cNvSpPr>
            <a:spLocks noGrp="1"/>
          </p:cNvSpPr>
          <p:nvPr>
            <p:ph idx="1"/>
          </p:nvPr>
        </p:nvSpPr>
        <p:spPr>
          <a:xfrm>
            <a:off x="0" y="557213"/>
            <a:ext cx="12130083" cy="6300787"/>
          </a:xfrm>
        </p:spPr>
        <p:txBody>
          <a:bodyPr/>
          <a:lstStyle/>
          <a:p>
            <a:pPr algn="just"/>
            <a:r>
              <a:rPr lang="en-US" sz="2800" dirty="0">
                <a:latin typeface="Times New Roman" panose="02020603050405020304" pitchFamily="18" charset="0"/>
                <a:cs typeface="Times New Roman" panose="02020603050405020304" pitchFamily="18" charset="0"/>
              </a:rPr>
              <a:t>This reaction catalyzed by </a:t>
            </a:r>
            <a:r>
              <a:rPr lang="en-US" sz="2800" dirty="0" err="1">
                <a:latin typeface="Times New Roman" panose="02020603050405020304" pitchFamily="18" charset="0"/>
                <a:cs typeface="Times New Roman" panose="02020603050405020304" pitchFamily="18" charset="0"/>
              </a:rPr>
              <a:t>succinyl</a:t>
            </a:r>
            <a:r>
              <a:rPr lang="en-US" sz="2800" dirty="0">
                <a:latin typeface="Times New Roman" panose="02020603050405020304" pitchFamily="18" charset="0"/>
                <a:cs typeface="Times New Roman" panose="02020603050405020304" pitchFamily="18" charset="0"/>
              </a:rPr>
              <a:t>-CoA </a:t>
            </a:r>
            <a:r>
              <a:rPr lang="en-US" sz="2800" dirty="0" err="1">
                <a:latin typeface="Times New Roman" panose="02020603050405020304" pitchFamily="18" charset="0"/>
                <a:cs typeface="Times New Roman" panose="02020603050405020304" pitchFamily="18" charset="0"/>
              </a:rPr>
              <a:t>synthetase</a:t>
            </a:r>
            <a:r>
              <a:rPr lang="en-US" sz="2800" dirty="0">
                <a:latin typeface="Times New Roman" panose="02020603050405020304" pitchFamily="18" charset="0"/>
                <a:cs typeface="Times New Roman" panose="02020603050405020304" pitchFamily="18" charset="0"/>
              </a:rPr>
              <a:t> provides another example of a substrate-level phosphorylation in which a substrate, rather than an electron transport chain or proton gradient, provides the energy for phosphorylation. </a:t>
            </a:r>
          </a:p>
          <a:p>
            <a:pPr algn="just"/>
            <a:r>
              <a:rPr lang="en-US" sz="2800" dirty="0">
                <a:latin typeface="Times New Roman" panose="02020603050405020304" pitchFamily="18" charset="0"/>
                <a:cs typeface="Times New Roman" panose="02020603050405020304" pitchFamily="18" charset="0"/>
              </a:rPr>
              <a:t>It is the only such reaction in the TCA cycle</a:t>
            </a:r>
            <a:r>
              <a:rPr lang="en-US"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The GTP produced participates in mitochondrial protein synthesis pathways or is converted into ATP.</a:t>
            </a:r>
            <a:endParaRPr lang="en-GB" sz="2800" dirty="0">
              <a:latin typeface="Times New Roman" panose="02020603050405020304" pitchFamily="18" charset="0"/>
              <a:cs typeface="Times New Roman" panose="02020603050405020304" pitchFamily="18" charset="0"/>
            </a:endParaRPr>
          </a:p>
          <a:p>
            <a:pPr marL="0" indent="0" algn="just">
              <a:buNone/>
            </a:pPr>
            <a:r>
              <a:rPr lang="en-US" dirty="0"/>
              <a:t>                               </a:t>
            </a:r>
          </a:p>
          <a:p>
            <a:pPr marL="0" indent="0" algn="just">
              <a:buNone/>
            </a:pPr>
            <a:r>
              <a:rPr lang="en-US" dirty="0"/>
              <a:t>                                GDP  +pi              GTP</a:t>
            </a:r>
          </a:p>
          <a:p>
            <a:pPr algn="just"/>
            <a:r>
              <a:rPr lang="en-US" sz="2800" dirty="0" err="1"/>
              <a:t>Succinyl</a:t>
            </a:r>
            <a:r>
              <a:rPr lang="en-US" sz="2800" dirty="0"/>
              <a:t>-CoA                                         Succinate</a:t>
            </a:r>
            <a:endParaRPr lang="en-GB" sz="2800" dirty="0"/>
          </a:p>
          <a:p>
            <a:pPr algn="just"/>
            <a:endParaRPr lang="en-GB" sz="2800"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endParaRPr lang="en-GB" dirty="0"/>
          </a:p>
        </p:txBody>
      </p:sp>
      <p:pic>
        <p:nvPicPr>
          <p:cNvPr id="4" name="Picture 3"/>
          <p:cNvPicPr>
            <a:picLocks noChangeAspect="1"/>
          </p:cNvPicPr>
          <p:nvPr/>
        </p:nvPicPr>
        <p:blipFill>
          <a:blip r:embed="rId2"/>
          <a:stretch>
            <a:fillRect/>
          </a:stretch>
        </p:blipFill>
        <p:spPr>
          <a:xfrm flipV="1">
            <a:off x="3217699" y="4467093"/>
            <a:ext cx="2304488" cy="934204"/>
          </a:xfrm>
          <a:prstGeom prst="rect">
            <a:avLst/>
          </a:prstGeom>
        </p:spPr>
      </p:pic>
      <p:pic>
        <p:nvPicPr>
          <p:cNvPr id="5" name="Picture 4"/>
          <p:cNvPicPr>
            <a:picLocks noChangeAspect="1"/>
          </p:cNvPicPr>
          <p:nvPr/>
        </p:nvPicPr>
        <p:blipFill>
          <a:blip r:embed="rId3"/>
          <a:stretch>
            <a:fillRect/>
          </a:stretch>
        </p:blipFill>
        <p:spPr>
          <a:xfrm>
            <a:off x="3217699" y="4528380"/>
            <a:ext cx="2361280" cy="353672"/>
          </a:xfrm>
          <a:prstGeom prst="rect">
            <a:avLst/>
          </a:prstGeom>
        </p:spPr>
      </p:pic>
      <p:pic>
        <p:nvPicPr>
          <p:cNvPr id="6" name="Picture 5"/>
          <p:cNvPicPr>
            <a:picLocks noChangeAspect="1"/>
          </p:cNvPicPr>
          <p:nvPr/>
        </p:nvPicPr>
        <p:blipFill>
          <a:blip r:embed="rId4"/>
          <a:stretch>
            <a:fillRect/>
          </a:stretch>
        </p:blipFill>
        <p:spPr>
          <a:xfrm>
            <a:off x="3217699" y="5143500"/>
            <a:ext cx="2361280" cy="642937"/>
          </a:xfrm>
          <a:prstGeom prst="rect">
            <a:avLst/>
          </a:prstGeom>
        </p:spPr>
      </p:pic>
    </p:spTree>
    <p:extLst>
      <p:ext uri="{BB962C8B-B14F-4D97-AF65-F5344CB8AC3E}">
        <p14:creationId xmlns:p14="http://schemas.microsoft.com/office/powerpoint/2010/main" val="3186144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28725"/>
          </a:xfrm>
        </p:spPr>
        <p:txBody>
          <a:bodyPr>
            <a:normAutofit fontScale="90000"/>
          </a:bodyPr>
          <a:lstStyle/>
          <a:p>
            <a:r>
              <a:rPr lang="en-US" b="1" dirty="0"/>
              <a:t/>
            </a:r>
            <a:br>
              <a:rPr lang="en-US" b="1" dirty="0"/>
            </a:br>
            <a:r>
              <a:rPr lang="en-US" b="1" dirty="0"/>
              <a:t/>
            </a:r>
            <a:br>
              <a:rPr lang="en-US" b="1" dirty="0"/>
            </a:br>
            <a:r>
              <a:rPr lang="en-US" b="1" dirty="0">
                <a:solidFill>
                  <a:srgbClr val="FF0000"/>
                </a:solidFill>
              </a:rPr>
              <a:t>6</a:t>
            </a:r>
            <a:r>
              <a:rPr lang="en-US" b="1" baseline="30000" dirty="0">
                <a:solidFill>
                  <a:srgbClr val="FF0000"/>
                </a:solidFill>
              </a:rPr>
              <a:t>th</a:t>
            </a:r>
            <a:r>
              <a:rPr lang="en-US" b="1" dirty="0">
                <a:solidFill>
                  <a:srgbClr val="FF0000"/>
                </a:solidFill>
              </a:rPr>
              <a:t> Reaction: Oxidation of Succinate to </a:t>
            </a:r>
            <a:r>
              <a:rPr lang="en-US" b="1" dirty="0" err="1">
                <a:solidFill>
                  <a:srgbClr val="FF0000"/>
                </a:solidFill>
              </a:rPr>
              <a:t>Fumarate</a:t>
            </a:r>
            <a:r>
              <a:rPr lang="en-US" b="1" dirty="0">
                <a:solidFill>
                  <a:srgbClr val="FF0000"/>
                </a:solidFill>
              </a:rPr>
              <a:t> by Succinate Dehydrogenase </a:t>
            </a:r>
            <a:r>
              <a:rPr lang="en-GB" dirty="0"/>
              <a:t/>
            </a:r>
            <a:br>
              <a:rPr lang="en-GB" dirty="0"/>
            </a:br>
            <a:r>
              <a:rPr lang="en-US" dirty="0"/>
              <a:t> </a:t>
            </a:r>
            <a:r>
              <a:rPr lang="en-GB" dirty="0"/>
              <a:t/>
            </a:r>
            <a:br>
              <a:rPr lang="en-GB" dirty="0"/>
            </a:br>
            <a:endParaRPr lang="en-GB" dirty="0"/>
          </a:p>
        </p:txBody>
      </p:sp>
      <p:sp>
        <p:nvSpPr>
          <p:cNvPr id="3" name="Content Placeholder 2"/>
          <p:cNvSpPr>
            <a:spLocks noGrp="1"/>
          </p:cNvSpPr>
          <p:nvPr>
            <p:ph idx="1"/>
          </p:nvPr>
        </p:nvSpPr>
        <p:spPr>
          <a:xfrm>
            <a:off x="0" y="1228725"/>
            <a:ext cx="12192000" cy="5629275"/>
          </a:xfrm>
        </p:spPr>
        <p:txBody>
          <a:bodyPr/>
          <a:lstStyle/>
          <a:p>
            <a:pPr algn="just"/>
            <a:r>
              <a:rPr lang="en-US" sz="2800" dirty="0">
                <a:latin typeface="Times New Roman" panose="02020603050405020304" pitchFamily="18" charset="0"/>
                <a:cs typeface="Times New Roman" panose="02020603050405020304" pitchFamily="18" charset="0"/>
              </a:rPr>
              <a:t>During this stage succinate is oxidized to </a:t>
            </a:r>
            <a:r>
              <a:rPr lang="en-US" sz="2800" dirty="0" err="1">
                <a:latin typeface="Times New Roman" panose="02020603050405020304" pitchFamily="18" charset="0"/>
                <a:cs typeface="Times New Roman" panose="02020603050405020304" pitchFamily="18" charset="0"/>
              </a:rPr>
              <a:t>fumarate</a:t>
            </a:r>
            <a:r>
              <a:rPr lang="en-US" sz="2800" dirty="0">
                <a:latin typeface="Times New Roman" panose="02020603050405020304" pitchFamily="18" charset="0"/>
                <a:cs typeface="Times New Roman" panose="02020603050405020304" pitchFamily="18" charset="0"/>
              </a:rPr>
              <a:t> by the action succinate dehydrogenase.</a:t>
            </a:r>
          </a:p>
          <a:p>
            <a:pPr algn="just"/>
            <a:r>
              <a:rPr lang="en-US" sz="2800" dirty="0">
                <a:latin typeface="Times New Roman" panose="02020603050405020304" pitchFamily="18" charset="0"/>
                <a:cs typeface="Times New Roman" panose="02020603050405020304" pitchFamily="18" charset="0"/>
              </a:rPr>
              <a:t> Single electrons are transferred from the two adjacent methylene groups of succinate to co-factor FAD which is bound to succinate dehydrogenase, thereby forming the double bond of </a:t>
            </a:r>
            <a:r>
              <a:rPr lang="en-US" sz="2800" dirty="0" err="1">
                <a:latin typeface="Times New Roman" panose="02020603050405020304" pitchFamily="18" charset="0"/>
                <a:cs typeface="Times New Roman" panose="02020603050405020304" pitchFamily="18" charset="0"/>
              </a:rPr>
              <a:t>fumarate</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From the reduced enzyme-bound FADH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the electrons are passed into the electron transport chain. </a:t>
            </a:r>
          </a:p>
          <a:p>
            <a:pPr marL="0" indent="0" algn="just">
              <a:buNone/>
            </a:pPr>
            <a:r>
              <a:rPr lang="en-US" sz="2800" dirty="0"/>
              <a:t>                                    FAD               FADH</a:t>
            </a:r>
            <a:r>
              <a:rPr lang="en-US" sz="2800" baseline="-25000" dirty="0"/>
              <a:t>2</a:t>
            </a:r>
            <a:endParaRPr lang="en-GB" sz="2800" dirty="0"/>
          </a:p>
          <a:p>
            <a:pPr algn="just"/>
            <a:endParaRPr lang="en-GB" sz="2800" dirty="0">
              <a:latin typeface="Times New Roman" panose="02020603050405020304" pitchFamily="18" charset="0"/>
              <a:cs typeface="Times New Roman" panose="02020603050405020304" pitchFamily="18" charset="0"/>
            </a:endParaRPr>
          </a:p>
          <a:p>
            <a:pPr marL="0" indent="0">
              <a:buNone/>
            </a:pPr>
            <a:r>
              <a:rPr lang="en-US" dirty="0"/>
              <a:t> </a:t>
            </a:r>
            <a:endParaRPr lang="en-GB" dirty="0"/>
          </a:p>
          <a:p>
            <a:endParaRPr lang="en-GB" dirty="0"/>
          </a:p>
          <a:p>
            <a:endParaRPr lang="en-GB" dirty="0"/>
          </a:p>
        </p:txBody>
      </p:sp>
      <p:pic>
        <p:nvPicPr>
          <p:cNvPr id="4" name="Picture 3"/>
          <p:cNvPicPr>
            <a:picLocks noChangeAspect="1"/>
          </p:cNvPicPr>
          <p:nvPr/>
        </p:nvPicPr>
        <p:blipFill>
          <a:blip r:embed="rId2"/>
          <a:stretch>
            <a:fillRect/>
          </a:stretch>
        </p:blipFill>
        <p:spPr>
          <a:xfrm>
            <a:off x="1243013" y="5314950"/>
            <a:ext cx="7672387" cy="1371600"/>
          </a:xfrm>
          <a:prstGeom prst="rect">
            <a:avLst/>
          </a:prstGeom>
        </p:spPr>
      </p:pic>
      <p:pic>
        <p:nvPicPr>
          <p:cNvPr id="5" name="Picture 4"/>
          <p:cNvPicPr>
            <a:picLocks noChangeAspect="1"/>
          </p:cNvPicPr>
          <p:nvPr/>
        </p:nvPicPr>
        <p:blipFill>
          <a:blip r:embed="rId3"/>
          <a:stretch>
            <a:fillRect/>
          </a:stretch>
        </p:blipFill>
        <p:spPr>
          <a:xfrm>
            <a:off x="3946719" y="5091679"/>
            <a:ext cx="1383912" cy="446541"/>
          </a:xfrm>
          <a:prstGeom prst="rect">
            <a:avLst/>
          </a:prstGeom>
        </p:spPr>
      </p:pic>
    </p:spTree>
    <p:extLst>
      <p:ext uri="{BB962C8B-B14F-4D97-AF65-F5344CB8AC3E}">
        <p14:creationId xmlns:p14="http://schemas.microsoft.com/office/powerpoint/2010/main" val="290994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428749"/>
          </a:xfrm>
        </p:spPr>
        <p:txBody>
          <a:bodyPr>
            <a:normAutofit fontScale="90000"/>
          </a:bodyPr>
          <a:lstStyle/>
          <a:p>
            <a:r>
              <a:rPr lang="en-US" b="1" dirty="0"/>
              <a:t/>
            </a:r>
            <a:br>
              <a:rPr lang="en-US" b="1" dirty="0"/>
            </a:br>
            <a:r>
              <a:rPr lang="en-US" b="1" dirty="0"/>
              <a:t>7</a:t>
            </a:r>
            <a:r>
              <a:rPr lang="en-US" b="1" baseline="30000" dirty="0"/>
              <a:t>th</a:t>
            </a:r>
            <a:r>
              <a:rPr lang="en-US" b="1" dirty="0"/>
              <a:t> Reaction: Hydration of </a:t>
            </a:r>
            <a:r>
              <a:rPr lang="en-US" b="1" dirty="0" err="1"/>
              <a:t>Fumarate</a:t>
            </a:r>
            <a:r>
              <a:rPr lang="en-US" b="1" dirty="0"/>
              <a:t> by </a:t>
            </a:r>
            <a:r>
              <a:rPr lang="en-US" b="1" dirty="0" err="1"/>
              <a:t>Fumarase</a:t>
            </a:r>
            <a:r>
              <a:rPr lang="en-GB" dirty="0"/>
              <a:t/>
            </a:r>
            <a:br>
              <a:rPr lang="en-GB" dirty="0"/>
            </a:br>
            <a:r>
              <a:rPr lang="en-US" dirty="0"/>
              <a:t> </a:t>
            </a:r>
            <a:r>
              <a:rPr lang="en-GB" dirty="0"/>
              <a:t/>
            </a:r>
            <a:br>
              <a:rPr lang="en-GB" dirty="0"/>
            </a:br>
            <a:endParaRPr lang="en-GB" dirty="0"/>
          </a:p>
        </p:txBody>
      </p:sp>
      <p:sp>
        <p:nvSpPr>
          <p:cNvPr id="3" name="Content Placeholder 2"/>
          <p:cNvSpPr>
            <a:spLocks noGrp="1"/>
          </p:cNvSpPr>
          <p:nvPr>
            <p:ph idx="1"/>
          </p:nvPr>
        </p:nvSpPr>
        <p:spPr>
          <a:xfrm>
            <a:off x="0" y="800100"/>
            <a:ext cx="12192000" cy="6057900"/>
          </a:xfrm>
        </p:spPr>
        <p:txBody>
          <a:bodyPr/>
          <a:lstStyle/>
          <a:p>
            <a:pPr algn="just"/>
            <a:r>
              <a:rPr lang="en-US" sz="2800" dirty="0">
                <a:latin typeface="Times New Roman" panose="02020603050405020304" pitchFamily="18" charset="0"/>
                <a:cs typeface="Times New Roman" panose="02020603050405020304" pitchFamily="18" charset="0"/>
              </a:rPr>
              <a:t>In this reaction, </a:t>
            </a:r>
            <a:r>
              <a:rPr lang="en-US" sz="2800" dirty="0" err="1">
                <a:latin typeface="Times New Roman" panose="02020603050405020304" pitchFamily="18" charset="0"/>
                <a:cs typeface="Times New Roman" panose="02020603050405020304" pitchFamily="18" charset="0"/>
              </a:rPr>
              <a:t>fumarase</a:t>
            </a:r>
            <a:r>
              <a:rPr lang="en-US" sz="2800" dirty="0">
                <a:latin typeface="Times New Roman" panose="02020603050405020304" pitchFamily="18" charset="0"/>
                <a:cs typeface="Times New Roman" panose="02020603050405020304" pitchFamily="18" charset="0"/>
              </a:rPr>
              <a:t> (also called </a:t>
            </a:r>
            <a:r>
              <a:rPr lang="en-US" sz="2800" dirty="0" err="1">
                <a:latin typeface="Times New Roman" panose="02020603050405020304" pitchFamily="18" charset="0"/>
                <a:cs typeface="Times New Roman" panose="02020603050405020304" pitchFamily="18" charset="0"/>
              </a:rPr>
              <a:t>fumarate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hydratase</a:t>
            </a:r>
            <a:r>
              <a:rPr lang="en-US" sz="2800" dirty="0">
                <a:latin typeface="Times New Roman" panose="02020603050405020304" pitchFamily="18" charset="0"/>
                <a:cs typeface="Times New Roman" panose="02020603050405020304" pitchFamily="18" charset="0"/>
              </a:rPr>
              <a:t>) catalyzes the addition of water across the double bond of </a:t>
            </a:r>
            <a:r>
              <a:rPr lang="en-US" sz="2800" dirty="0" err="1">
                <a:latin typeface="Times New Roman" panose="02020603050405020304" pitchFamily="18" charset="0"/>
                <a:cs typeface="Times New Roman" panose="02020603050405020304" pitchFamily="18" charset="0"/>
              </a:rPr>
              <a:t>fumarate</a:t>
            </a:r>
            <a:r>
              <a:rPr lang="en-US" sz="2800" dirty="0">
                <a:latin typeface="Times New Roman" panose="02020603050405020304" pitchFamily="18" charset="0"/>
                <a:cs typeface="Times New Roman" panose="02020603050405020304" pitchFamily="18" charset="0"/>
              </a:rPr>
              <a:t>, yielding malate, a hydroxyl (–OH) group and a proton (H</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from water are added across the double bond of </a:t>
            </a:r>
            <a:r>
              <a:rPr lang="en-US" sz="2800" dirty="0" err="1">
                <a:latin typeface="Times New Roman" panose="02020603050405020304" pitchFamily="18" charset="0"/>
                <a:cs typeface="Times New Roman" panose="02020603050405020304" pitchFamily="18" charset="0"/>
              </a:rPr>
              <a:t>fumarate</a:t>
            </a:r>
            <a:r>
              <a:rPr lang="en-US" sz="2800" dirty="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a:p>
            <a:r>
              <a:rPr lang="en-US" dirty="0"/>
              <a:t> </a:t>
            </a:r>
            <a:endParaRPr lang="en-GB" dirty="0"/>
          </a:p>
          <a:p>
            <a:endParaRPr lang="en-GB" dirty="0"/>
          </a:p>
        </p:txBody>
      </p:sp>
      <p:pic>
        <p:nvPicPr>
          <p:cNvPr id="4" name="Picture 3"/>
          <p:cNvPicPr>
            <a:picLocks noChangeAspect="1"/>
          </p:cNvPicPr>
          <p:nvPr/>
        </p:nvPicPr>
        <p:blipFill>
          <a:blip r:embed="rId2"/>
          <a:stretch>
            <a:fillRect/>
          </a:stretch>
        </p:blipFill>
        <p:spPr>
          <a:xfrm>
            <a:off x="2143124" y="2857499"/>
            <a:ext cx="6343651" cy="2571751"/>
          </a:xfrm>
          <a:prstGeom prst="rect">
            <a:avLst/>
          </a:prstGeom>
        </p:spPr>
      </p:pic>
    </p:spTree>
    <p:extLst>
      <p:ext uri="{BB962C8B-B14F-4D97-AF65-F5344CB8AC3E}">
        <p14:creationId xmlns:p14="http://schemas.microsoft.com/office/powerpoint/2010/main" val="1492982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71574"/>
          </a:xfrm>
        </p:spPr>
        <p:txBody>
          <a:bodyPr>
            <a:normAutofit fontScale="90000"/>
          </a:bodyPr>
          <a:lstStyle/>
          <a:p>
            <a:r>
              <a:rPr lang="en-US" b="1" dirty="0"/>
              <a:t/>
            </a:r>
            <a:br>
              <a:rPr lang="en-US" b="1" dirty="0"/>
            </a:br>
            <a:r>
              <a:rPr lang="en-US" b="1" dirty="0"/>
              <a:t/>
            </a:r>
            <a:br>
              <a:rPr lang="en-US" b="1" dirty="0"/>
            </a:br>
            <a:r>
              <a:rPr lang="en-US" b="1" dirty="0">
                <a:solidFill>
                  <a:srgbClr val="FF0000"/>
                </a:solidFill>
                <a:latin typeface="Times New Roman" panose="02020603050405020304" pitchFamily="18" charset="0"/>
                <a:cs typeface="Times New Roman" panose="02020603050405020304" pitchFamily="18" charset="0"/>
              </a:rPr>
              <a:t>8</a:t>
            </a:r>
            <a:r>
              <a:rPr lang="en-US" b="1" baseline="30000" dirty="0">
                <a:solidFill>
                  <a:srgbClr val="FF0000"/>
                </a:solidFill>
                <a:latin typeface="Times New Roman" panose="02020603050405020304" pitchFamily="18" charset="0"/>
                <a:cs typeface="Times New Roman" panose="02020603050405020304" pitchFamily="18" charset="0"/>
              </a:rPr>
              <a:t>th</a:t>
            </a:r>
            <a:r>
              <a:rPr lang="en-US" b="1" dirty="0">
                <a:solidFill>
                  <a:srgbClr val="FF0000"/>
                </a:solidFill>
                <a:latin typeface="Times New Roman" panose="02020603050405020304" pitchFamily="18" charset="0"/>
                <a:cs typeface="Times New Roman" panose="02020603050405020304" pitchFamily="18" charset="0"/>
              </a:rPr>
              <a:t> Reaction: Oxidation of Malate by Malate Dehydrogenase</a:t>
            </a:r>
            <a:r>
              <a:rPr lang="en-GB" dirty="0">
                <a:solidFill>
                  <a:srgbClr val="FF0000"/>
                </a:solidFill>
                <a:latin typeface="Times New Roman" panose="02020603050405020304" pitchFamily="18" charset="0"/>
                <a:cs typeface="Times New Roman" panose="02020603050405020304" pitchFamily="18" charset="0"/>
              </a:rPr>
              <a:t/>
            </a:r>
            <a:br>
              <a:rPr lang="en-GB" dirty="0">
                <a:solidFill>
                  <a:srgbClr val="FF0000"/>
                </a:solidFill>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
            </a:r>
            <a:br>
              <a:rPr lang="en-GB" dirty="0">
                <a:solidFill>
                  <a:srgbClr val="FF0000"/>
                </a:solidFill>
                <a:latin typeface="Times New Roman" panose="02020603050405020304" pitchFamily="18" charset="0"/>
                <a:cs typeface="Times New Roman" panose="02020603050405020304" pitchFamily="18" charset="0"/>
              </a:rPr>
            </a:br>
            <a:endParaRPr lang="en-GB"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271588"/>
            <a:ext cx="12192000" cy="5586412"/>
          </a:xfrm>
        </p:spPr>
        <p:txBody>
          <a:bodyPr>
            <a:normAutofit/>
          </a:bodyPr>
          <a:lstStyle/>
          <a:p>
            <a:r>
              <a:rPr lang="en-US" sz="2800" dirty="0">
                <a:latin typeface="Times New Roman" panose="02020603050405020304" pitchFamily="18" charset="0"/>
                <a:cs typeface="Times New Roman" panose="02020603050405020304" pitchFamily="18" charset="0"/>
              </a:rPr>
              <a:t>In the last reaction of the TCA cycle, the alcohol group of malate is oxidized to a </a:t>
            </a:r>
            <a:r>
              <a:rPr lang="en-US" sz="2800" dirty="0" err="1">
                <a:latin typeface="Times New Roman" panose="02020603050405020304" pitchFamily="18" charset="0"/>
                <a:cs typeface="Times New Roman" panose="02020603050405020304" pitchFamily="18" charset="0"/>
              </a:rPr>
              <a:t>keto</a:t>
            </a:r>
            <a:r>
              <a:rPr lang="en-US" sz="2800" dirty="0">
                <a:latin typeface="Times New Roman" panose="02020603050405020304" pitchFamily="18" charset="0"/>
                <a:cs typeface="Times New Roman" panose="02020603050405020304" pitchFamily="18" charset="0"/>
              </a:rPr>
              <a:t> group through the donation of electrons to NAD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The catalyzing enzyme is malate dehydrogenase and the products are oxaloacetate and NADH</a:t>
            </a:r>
            <a:r>
              <a:rPr lang="en-US" sz="2800" baseline="-25000" dirty="0">
                <a:latin typeface="Times New Roman" panose="02020603050405020304" pitchFamily="18" charset="0"/>
                <a:cs typeface="Times New Roman" panose="02020603050405020304" pitchFamily="18" charset="0"/>
              </a:rPr>
              <a:t>2</a:t>
            </a:r>
            <a:endParaRPr lang="en-GB" sz="2800" dirty="0">
              <a:latin typeface="Times New Roman" panose="02020603050405020304" pitchFamily="18" charset="0"/>
              <a:cs typeface="Times New Roman" panose="02020603050405020304" pitchFamily="18" charset="0"/>
            </a:endParaRPr>
          </a:p>
          <a:p>
            <a:pPr marL="0" indent="0">
              <a:buNone/>
            </a:pPr>
            <a:r>
              <a:rPr lang="en-US" sz="2800" dirty="0"/>
              <a:t>                                     NAD          NADH</a:t>
            </a:r>
            <a:r>
              <a:rPr lang="en-US" sz="2800" baseline="-25000" dirty="0"/>
              <a:t>2</a:t>
            </a:r>
          </a:p>
          <a:p>
            <a:pPr marL="0" indent="0">
              <a:buNone/>
            </a:pPr>
            <a:r>
              <a:rPr lang="en-US" sz="2800" dirty="0"/>
              <a:t>                   Malate                                   Oxaloacetate</a:t>
            </a:r>
            <a:endParaRPr lang="en-GB"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357844" y="3729038"/>
            <a:ext cx="2304488" cy="957262"/>
          </a:xfrm>
          <a:prstGeom prst="rect">
            <a:avLst/>
          </a:prstGeom>
        </p:spPr>
      </p:pic>
      <p:pic>
        <p:nvPicPr>
          <p:cNvPr id="5" name="Picture 4"/>
          <p:cNvPicPr>
            <a:picLocks noChangeAspect="1"/>
          </p:cNvPicPr>
          <p:nvPr/>
        </p:nvPicPr>
        <p:blipFill>
          <a:blip r:embed="rId3"/>
          <a:stretch>
            <a:fillRect/>
          </a:stretch>
        </p:blipFill>
        <p:spPr>
          <a:xfrm>
            <a:off x="3932432" y="3729038"/>
            <a:ext cx="1383912" cy="439397"/>
          </a:xfrm>
          <a:prstGeom prst="rect">
            <a:avLst/>
          </a:prstGeom>
        </p:spPr>
      </p:pic>
      <p:pic>
        <p:nvPicPr>
          <p:cNvPr id="6" name="Picture 5"/>
          <p:cNvPicPr>
            <a:picLocks noChangeAspect="1"/>
          </p:cNvPicPr>
          <p:nvPr/>
        </p:nvPicPr>
        <p:blipFill>
          <a:blip r:embed="rId4"/>
          <a:stretch>
            <a:fillRect/>
          </a:stretch>
        </p:blipFill>
        <p:spPr>
          <a:xfrm>
            <a:off x="3357844" y="4371087"/>
            <a:ext cx="2099981" cy="630426"/>
          </a:xfrm>
          <a:prstGeom prst="rect">
            <a:avLst/>
          </a:prstGeom>
        </p:spPr>
      </p:pic>
    </p:spTree>
    <p:extLst>
      <p:ext uri="{BB962C8B-B14F-4D97-AF65-F5344CB8AC3E}">
        <p14:creationId xmlns:p14="http://schemas.microsoft.com/office/powerpoint/2010/main" val="783382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00087"/>
          </a:xfrm>
        </p:spPr>
        <p:txBody>
          <a:bodyPr>
            <a:normAutofit fontScale="90000"/>
          </a:bodyPr>
          <a:lstStyle/>
          <a:p>
            <a:r>
              <a:rPr lang="en-US" b="1" dirty="0">
                <a:solidFill>
                  <a:srgbClr val="FF0000"/>
                </a:solidFill>
              </a:rPr>
              <a:t/>
            </a:r>
            <a:br>
              <a:rPr lang="en-US" b="1" dirty="0">
                <a:solidFill>
                  <a:srgbClr val="FF0000"/>
                </a:solidFill>
              </a:rPr>
            </a:br>
            <a:r>
              <a:rPr lang="en-US" b="1" dirty="0">
                <a:solidFill>
                  <a:srgbClr val="FF0000"/>
                </a:solidFill>
              </a:rPr>
              <a:t>Bioenergetics of TCA cycle</a:t>
            </a:r>
            <a:r>
              <a:rPr lang="en-GB" b="1" i="1" dirty="0"/>
              <a:t/>
            </a:r>
            <a:br>
              <a:rPr lang="en-GB" b="1" i="1" dirty="0"/>
            </a:br>
            <a:endParaRPr lang="en-GB" dirty="0"/>
          </a:p>
        </p:txBody>
      </p:sp>
      <p:sp>
        <p:nvSpPr>
          <p:cNvPr id="3" name="Content Placeholder 2"/>
          <p:cNvSpPr>
            <a:spLocks noGrp="1"/>
          </p:cNvSpPr>
          <p:nvPr>
            <p:ph idx="1"/>
          </p:nvPr>
        </p:nvSpPr>
        <p:spPr>
          <a:xfrm>
            <a:off x="0" y="700088"/>
            <a:ext cx="12192000" cy="6157912"/>
          </a:xfrm>
        </p:spPr>
        <p:txBody>
          <a:bodyPr>
            <a:normAutofit/>
          </a:bodyPr>
          <a:lstStyle/>
          <a:p>
            <a:pPr algn="just"/>
            <a:r>
              <a:rPr lang="en-US" sz="2800" dirty="0">
                <a:latin typeface="Times New Roman" panose="02020603050405020304" pitchFamily="18" charset="0"/>
                <a:cs typeface="Times New Roman" panose="02020603050405020304" pitchFamily="18" charset="0"/>
              </a:rPr>
              <a:t>The overall stoichiometry equation of the TCA cycle is:</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Acetyl-CoA + 3NAD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 FAD + GDP + P</a:t>
            </a:r>
            <a:r>
              <a:rPr lang="en-US" sz="2800" baseline="-250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+ 2H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 ——&gt; 2CO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+ 3NADH + FADH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GTP + 2H</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CoASH</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equation shows that </a:t>
            </a:r>
            <a:r>
              <a:rPr lang="en-US" sz="2800" dirty="0" err="1">
                <a:latin typeface="Times New Roman" panose="02020603050405020304" pitchFamily="18" charset="0"/>
                <a:cs typeface="Times New Roman" panose="02020603050405020304" pitchFamily="18" charset="0"/>
              </a:rPr>
              <a:t>overally</a:t>
            </a:r>
            <a:r>
              <a:rPr lang="en-US" sz="2800" dirty="0">
                <a:latin typeface="Times New Roman" panose="02020603050405020304" pitchFamily="18" charset="0"/>
                <a:cs typeface="Times New Roman" panose="02020603050405020304" pitchFamily="18" charset="0"/>
              </a:rPr>
              <a:t>, 1 molecule of acetyl CoA was invested plus 3NAD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1FA D</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1 GDP, 1 high-energy phosphate (P</a:t>
            </a:r>
            <a:r>
              <a:rPr lang="en-US" sz="2800" baseline="-25000"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and 2 molecules of 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O.</a:t>
            </a:r>
          </a:p>
          <a:p>
            <a:pPr algn="just"/>
            <a:r>
              <a:rPr lang="en-US" sz="2800" dirty="0">
                <a:latin typeface="Times New Roman" panose="02020603050405020304" pitchFamily="18" charset="0"/>
                <a:cs typeface="Times New Roman" panose="02020603050405020304" pitchFamily="18" charset="0"/>
              </a:rPr>
              <a:t>As a return on that investment 2CO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molecules were lost, while 3 NADH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1 FADH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and 1 GTP were harvested as storage forms of energy. </a:t>
            </a:r>
          </a:p>
          <a:p>
            <a:pPr algn="just"/>
            <a:r>
              <a:rPr lang="en-US" sz="2800" dirty="0">
                <a:latin typeface="Times New Roman" panose="02020603050405020304" pitchFamily="18" charset="0"/>
                <a:cs typeface="Times New Roman" panose="02020603050405020304" pitchFamily="18" charset="0"/>
              </a:rPr>
              <a:t>In addition 2 H</a:t>
            </a:r>
            <a:r>
              <a:rPr lang="en-US" sz="2800" baseline="300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and coenzyme A were produced for recycling. </a:t>
            </a:r>
            <a:endParaRPr lang="en-GB"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Given that 1 NADH</a:t>
            </a:r>
            <a:r>
              <a:rPr lang="en-US" sz="2800" baseline="-25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has an equivalent of 3 moles of ATP, 1 FADH</a:t>
            </a:r>
            <a:r>
              <a:rPr lang="en-US" sz="2800" baseline="-25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has 2 moles of ATP and GTP has 1 of mole ATP</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2034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28700"/>
          </a:xfrm>
        </p:spPr>
        <p:txBody>
          <a:bodyPr>
            <a:normAutofit fontScale="90000"/>
          </a:bodyPr>
          <a:lstStyle/>
          <a:p>
            <a:r>
              <a:rPr lang="en-US" b="1" dirty="0"/>
              <a:t/>
            </a:r>
            <a:br>
              <a:rPr lang="en-US" b="1" dirty="0"/>
            </a:br>
            <a:r>
              <a:rPr lang="en-US" b="1" dirty="0">
                <a:solidFill>
                  <a:srgbClr val="FF0000"/>
                </a:solidFill>
                <a:latin typeface="Times New Roman" panose="02020603050405020304" pitchFamily="18" charset="0"/>
                <a:cs typeface="Times New Roman" panose="02020603050405020304" pitchFamily="18" charset="0"/>
              </a:rPr>
              <a:t>Table 1: Amount of energy in the form of ATP is generated in TCA.</a:t>
            </a:r>
            <a:r>
              <a:rPr lang="en-GB" b="1" dirty="0">
                <a:solidFill>
                  <a:srgbClr val="FF0000"/>
                </a:solidFill>
                <a:latin typeface="Times New Roman" panose="02020603050405020304" pitchFamily="18" charset="0"/>
                <a:cs typeface="Times New Roman" panose="02020603050405020304" pitchFamily="18" charset="0"/>
              </a:rPr>
              <a:t/>
            </a:r>
            <a:br>
              <a:rPr lang="en-GB" b="1" dirty="0">
                <a:solidFill>
                  <a:srgbClr val="FF0000"/>
                </a:solidFill>
                <a:latin typeface="Times New Roman" panose="02020603050405020304" pitchFamily="18" charset="0"/>
                <a:cs typeface="Times New Roman" panose="02020603050405020304" pitchFamily="18" charset="0"/>
              </a:rPr>
            </a:br>
            <a:endParaRPr lang="en-GB"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0" y="1485899"/>
            <a:ext cx="12191999" cy="5072063"/>
          </a:xfrm>
          <a:prstGeom prst="rect">
            <a:avLst/>
          </a:prstGeom>
        </p:spPr>
      </p:pic>
    </p:spTree>
    <p:extLst>
      <p:ext uri="{BB962C8B-B14F-4D97-AF65-F5344CB8AC3E}">
        <p14:creationId xmlns:p14="http://schemas.microsoft.com/office/powerpoint/2010/main" val="3058699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500063"/>
          </a:xfrm>
        </p:spPr>
        <p:txBody>
          <a:bodyPr>
            <a:normAutofit fontScale="90000"/>
          </a:bodyPr>
          <a:lstStyle/>
          <a:p>
            <a:r>
              <a:rPr lang="en-GB" sz="2800"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idx="1"/>
          </p:nvPr>
        </p:nvSpPr>
        <p:spPr>
          <a:xfrm>
            <a:off x="0" y="500063"/>
            <a:ext cx="12192000" cy="6357937"/>
          </a:xfrm>
        </p:spPr>
        <p:txBody>
          <a:bodyPr/>
          <a:lstStyle/>
          <a:p>
            <a:pPr algn="just"/>
            <a:r>
              <a:rPr lang="en-US" sz="2800" dirty="0">
                <a:latin typeface="Times New Roman" panose="02020603050405020304" pitchFamily="18" charset="0"/>
                <a:cs typeface="Times New Roman" panose="02020603050405020304" pitchFamily="18" charset="0"/>
              </a:rPr>
              <a:t>Therefore it can be summarized that as a result of oxidations in the TCA cycle, three molecules of NADH and one of FADH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are produced for each molecule of acetyl-CoA catabolized in one turn of the cycle. </a:t>
            </a:r>
          </a:p>
          <a:p>
            <a:pPr algn="just"/>
            <a:r>
              <a:rPr lang="en-US" sz="2800" dirty="0">
                <a:latin typeface="Times New Roman" panose="02020603050405020304" pitchFamily="18" charset="0"/>
                <a:cs typeface="Times New Roman" panose="02020603050405020304" pitchFamily="18" charset="0"/>
              </a:rPr>
              <a:t>These reducing equivalents are transferred to the respiratory chain where </a:t>
            </a:r>
            <a:r>
              <a:rPr lang="en-US" sz="2800" dirty="0" err="1">
                <a:latin typeface="Times New Roman" panose="02020603050405020304" pitchFamily="18" charset="0"/>
                <a:cs typeface="Times New Roman" panose="02020603050405020304" pitchFamily="18" charset="0"/>
              </a:rPr>
              <a:t>reoxidation</a:t>
            </a:r>
            <a:r>
              <a:rPr lang="en-US" sz="2800" dirty="0">
                <a:latin typeface="Times New Roman" panose="02020603050405020304" pitchFamily="18" charset="0"/>
                <a:cs typeface="Times New Roman" panose="02020603050405020304" pitchFamily="18" charset="0"/>
              </a:rPr>
              <a:t> of each NADH results in formation of approximately 3 ATP, and of FADH</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approximately 2 ATP. </a:t>
            </a:r>
          </a:p>
          <a:p>
            <a:pPr algn="just"/>
            <a:r>
              <a:rPr lang="en-US" sz="2800" dirty="0">
                <a:latin typeface="Times New Roman" panose="02020603050405020304" pitchFamily="18" charset="0"/>
                <a:cs typeface="Times New Roman" panose="02020603050405020304" pitchFamily="18" charset="0"/>
              </a:rPr>
              <a:t>In addition, 1 ATP (or GTP) is formed by substrate-level phosphorylation catalyzed by succinate </a:t>
            </a:r>
            <a:r>
              <a:rPr lang="en-US" sz="2800" dirty="0" err="1">
                <a:latin typeface="Times New Roman" panose="02020603050405020304" pitchFamily="18" charset="0"/>
                <a:cs typeface="Times New Roman" panose="02020603050405020304" pitchFamily="18" charset="0"/>
              </a:rPr>
              <a:t>thiokinase</a:t>
            </a:r>
            <a:r>
              <a:rPr lang="en-US" sz="2800" dirty="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686859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87225" cy="942975"/>
          </a:xfrm>
        </p:spPr>
        <p:txBody>
          <a:bodyPr>
            <a:normAutofit fontScale="90000"/>
          </a:bodyPr>
          <a:lstStyle/>
          <a:p>
            <a:r>
              <a:rPr lang="en-US" b="1" dirty="0">
                <a:solidFill>
                  <a:srgbClr val="FF0000"/>
                </a:solidFill>
              </a:rPr>
              <a:t/>
            </a:r>
            <a:br>
              <a:rPr lang="en-US" b="1" dirty="0">
                <a:solidFill>
                  <a:srgbClr val="FF0000"/>
                </a:solidFill>
              </a:rPr>
            </a:br>
            <a:r>
              <a:rPr lang="en-US" b="1" dirty="0">
                <a:solidFill>
                  <a:srgbClr val="FF0000"/>
                </a:solidFill>
              </a:rPr>
              <a:t>Regulation of the TCA cycle</a:t>
            </a:r>
            <a:r>
              <a:rPr lang="en-GB" b="1" i="1" dirty="0">
                <a:solidFill>
                  <a:srgbClr val="FF0000"/>
                </a:solidFill>
              </a:rPr>
              <a:t/>
            </a:r>
            <a:br>
              <a:rPr lang="en-GB" b="1" i="1"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185738" y="814388"/>
            <a:ext cx="11901486" cy="6043612"/>
          </a:xfrm>
        </p:spPr>
        <p:txBody>
          <a:bodyPr>
            <a:normAutofit fontScale="77500" lnSpcReduction="20000"/>
          </a:bodyPr>
          <a:lstStyle/>
          <a:p>
            <a:r>
              <a:rPr lang="en-US" dirty="0"/>
              <a:t>The TCA cycle is regulated through various mechanisms which include:</a:t>
            </a:r>
            <a:endParaRPr lang="en-GB" dirty="0"/>
          </a:p>
          <a:p>
            <a:pPr marL="571500" lvl="0" indent="-571500" algn="just">
              <a:buAutoNum type="romanLcParenR"/>
            </a:pPr>
            <a:r>
              <a:rPr lang="en-US" sz="2800" dirty="0">
                <a:solidFill>
                  <a:srgbClr val="0070C0"/>
                </a:solidFill>
                <a:latin typeface="Times New Roman" panose="02020603050405020304" pitchFamily="18" charset="0"/>
                <a:cs typeface="Times New Roman" panose="02020603050405020304" pitchFamily="18" charset="0"/>
              </a:rPr>
              <a:t>Regulation of acetyl CoA entry at the citrate synthase stage</a:t>
            </a:r>
            <a:endParaRPr lang="en-GB" sz="2800" dirty="0">
              <a:solidFill>
                <a:srgbClr val="0070C0"/>
              </a:solidFill>
              <a:latin typeface="Times New Roman" panose="02020603050405020304" pitchFamily="18" charset="0"/>
              <a:cs typeface="Times New Roman" panose="02020603050405020304" pitchFamily="18" charset="0"/>
            </a:endParaRPr>
          </a:p>
          <a:p>
            <a:pPr marL="571500" lvl="0" indent="-571500" algn="just">
              <a:buAutoNum type="romanLcParenR"/>
            </a:pPr>
            <a:r>
              <a:rPr lang="en-US" sz="2800" dirty="0">
                <a:solidFill>
                  <a:srgbClr val="0070C0"/>
                </a:solidFill>
                <a:latin typeface="Times New Roman" panose="02020603050405020304" pitchFamily="18" charset="0"/>
                <a:cs typeface="Times New Roman" panose="02020603050405020304" pitchFamily="18" charset="0"/>
              </a:rPr>
              <a:t>Allosteric regulation of enzyme </a:t>
            </a:r>
            <a:r>
              <a:rPr lang="en-US" sz="2800" dirty="0" err="1">
                <a:solidFill>
                  <a:srgbClr val="0070C0"/>
                </a:solidFill>
                <a:latin typeface="Times New Roman" panose="02020603050405020304" pitchFamily="18" charset="0"/>
                <a:cs typeface="Times New Roman" panose="02020603050405020304" pitchFamily="18" charset="0"/>
              </a:rPr>
              <a:t>isocitrate</a:t>
            </a:r>
            <a:r>
              <a:rPr lang="en-US" sz="2800" dirty="0">
                <a:solidFill>
                  <a:srgbClr val="0070C0"/>
                </a:solidFill>
                <a:latin typeface="Times New Roman" panose="02020603050405020304" pitchFamily="18" charset="0"/>
                <a:cs typeface="Times New Roman" panose="02020603050405020304" pitchFamily="18" charset="0"/>
              </a:rPr>
              <a:t> dehydrogenase</a:t>
            </a:r>
            <a:endParaRPr lang="en-GB" sz="2800" dirty="0">
              <a:solidFill>
                <a:srgbClr val="0070C0"/>
              </a:solidFill>
              <a:latin typeface="Times New Roman" panose="02020603050405020304" pitchFamily="18" charset="0"/>
              <a:cs typeface="Times New Roman" panose="02020603050405020304" pitchFamily="18" charset="0"/>
            </a:endParaRPr>
          </a:p>
          <a:p>
            <a:pPr marL="571500" lvl="0" indent="-571500" algn="just">
              <a:buAutoNum type="romanLcParenR"/>
            </a:pPr>
            <a:r>
              <a:rPr lang="en-US" sz="2800" dirty="0">
                <a:solidFill>
                  <a:srgbClr val="0070C0"/>
                </a:solidFill>
                <a:latin typeface="Times New Roman" panose="02020603050405020304" pitchFamily="18" charset="0"/>
                <a:cs typeface="Times New Roman" panose="02020603050405020304" pitchFamily="18" charset="0"/>
              </a:rPr>
              <a:t>Regulation of enzyme α-</a:t>
            </a:r>
            <a:r>
              <a:rPr lang="en-US" sz="2800" dirty="0" err="1">
                <a:solidFill>
                  <a:srgbClr val="0070C0"/>
                </a:solidFill>
                <a:latin typeface="Times New Roman" panose="02020603050405020304" pitchFamily="18" charset="0"/>
                <a:cs typeface="Times New Roman" panose="02020603050405020304" pitchFamily="18" charset="0"/>
              </a:rPr>
              <a:t>ketoglutarate</a:t>
            </a:r>
            <a:r>
              <a:rPr lang="en-US" sz="2800" dirty="0">
                <a:solidFill>
                  <a:srgbClr val="0070C0"/>
                </a:solidFill>
                <a:latin typeface="Times New Roman" panose="02020603050405020304" pitchFamily="18" charset="0"/>
                <a:cs typeface="Times New Roman" panose="02020603050405020304" pitchFamily="18" charset="0"/>
              </a:rPr>
              <a:t> dehydrogenase</a:t>
            </a:r>
            <a:endParaRPr lang="en-GB" sz="2800" dirty="0">
              <a:solidFill>
                <a:srgbClr val="0070C0"/>
              </a:solidFill>
              <a:latin typeface="Times New Roman" panose="02020603050405020304" pitchFamily="18" charset="0"/>
              <a:cs typeface="Times New Roman" panose="02020603050405020304" pitchFamily="18" charset="0"/>
            </a:endParaRPr>
          </a:p>
          <a:p>
            <a:pPr marL="571500" lvl="0" indent="-571500" algn="just">
              <a:buAutoNum type="romanLcParenR"/>
            </a:pPr>
            <a:r>
              <a:rPr lang="en-US" sz="2800" dirty="0">
                <a:solidFill>
                  <a:srgbClr val="0070C0"/>
                </a:solidFill>
                <a:latin typeface="Times New Roman" panose="02020603050405020304" pitchFamily="18" charset="0"/>
                <a:cs typeface="Times New Roman" panose="02020603050405020304" pitchFamily="18" charset="0"/>
              </a:rPr>
              <a:t>Regulation of TCA Cycle Intermediates</a:t>
            </a:r>
            <a:endParaRPr lang="en-GB" sz="2800" dirty="0">
              <a:solidFill>
                <a:srgbClr val="0070C0"/>
              </a:solidFill>
              <a:latin typeface="Times New Roman" panose="02020603050405020304" pitchFamily="18" charset="0"/>
              <a:cs typeface="Times New Roman" panose="02020603050405020304" pitchFamily="18" charset="0"/>
            </a:endParaRPr>
          </a:p>
          <a:p>
            <a:pPr marL="0" indent="0">
              <a:buNone/>
            </a:pPr>
            <a:r>
              <a:rPr lang="en-US" sz="3600" b="1" dirty="0">
                <a:solidFill>
                  <a:srgbClr val="FF0000"/>
                </a:solidFill>
              </a:rPr>
              <a:t>Regulation of acetyl CoA entry into the TCA cycle</a:t>
            </a:r>
            <a:endParaRPr lang="en-GB" sz="3600" dirty="0">
              <a:solidFill>
                <a:srgbClr val="FF0000"/>
              </a:solidFill>
            </a:endParaRPr>
          </a:p>
          <a:p>
            <a:r>
              <a:rPr lang="en-US" sz="3600" dirty="0">
                <a:latin typeface="Times New Roman" panose="02020603050405020304" pitchFamily="18" charset="0"/>
                <a:cs typeface="Times New Roman" panose="02020603050405020304" pitchFamily="18" charset="0"/>
              </a:rPr>
              <a:t>This occurs at the first stage of TCA cycle.  </a:t>
            </a:r>
          </a:p>
          <a:p>
            <a:r>
              <a:rPr lang="en-US" sz="3600" dirty="0">
                <a:latin typeface="Times New Roman" panose="02020603050405020304" pitchFamily="18" charset="0"/>
                <a:cs typeface="Times New Roman" panose="02020603050405020304" pitchFamily="18" charset="0"/>
              </a:rPr>
              <a:t>The enzyme involved is citrate synthase and it is subject to feedback regulation. </a:t>
            </a:r>
          </a:p>
          <a:p>
            <a:r>
              <a:rPr lang="en-US" sz="3600" dirty="0">
                <a:latin typeface="Times New Roman" panose="02020603050405020304" pitchFamily="18" charset="0"/>
                <a:cs typeface="Times New Roman" panose="02020603050405020304" pitchFamily="18" charset="0"/>
              </a:rPr>
              <a:t>This first step of TCA must be regulated so that precursors flow into alternative pathways if product is not needed. </a:t>
            </a:r>
          </a:p>
          <a:p>
            <a:r>
              <a:rPr lang="en-US" sz="3600" dirty="0">
                <a:latin typeface="Times New Roman" panose="02020603050405020304" pitchFamily="18" charset="0"/>
                <a:cs typeface="Times New Roman" panose="02020603050405020304" pitchFamily="18" charset="0"/>
              </a:rPr>
              <a:t>Citrate synthase, which is the first enzyme of the TCA cycle, is a simple enzyme that has no allosteric regulators. </a:t>
            </a:r>
            <a:endParaRPr lang="en-GB" sz="3600" dirty="0">
              <a:latin typeface="Times New Roman" panose="02020603050405020304" pitchFamily="18" charset="0"/>
              <a:cs typeface="Times New Roman" panose="02020603050405020304" pitchFamily="18" charset="0"/>
            </a:endParaRPr>
          </a:p>
          <a:p>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580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71538"/>
          </a:xfrm>
        </p:spPr>
        <p:txBody>
          <a:bodyPr/>
          <a:lstStyle/>
          <a:p>
            <a:r>
              <a:rPr lang="en-GB" dirty="0">
                <a:solidFill>
                  <a:srgbClr val="FF0000"/>
                </a:solidFill>
              </a:rPr>
              <a:t>CONT’</a:t>
            </a:r>
          </a:p>
        </p:txBody>
      </p:sp>
      <p:sp>
        <p:nvSpPr>
          <p:cNvPr id="3" name="Content Placeholder 2"/>
          <p:cNvSpPr>
            <a:spLocks noGrp="1"/>
          </p:cNvSpPr>
          <p:nvPr>
            <p:ph idx="1"/>
          </p:nvPr>
        </p:nvSpPr>
        <p:spPr>
          <a:xfrm>
            <a:off x="0" y="1057276"/>
            <a:ext cx="12082459" cy="5672137"/>
          </a:xfrm>
        </p:spPr>
        <p:txBody>
          <a:bodyPr>
            <a:normAutofit/>
          </a:bodyPr>
          <a:lstStyle/>
          <a:p>
            <a:pPr algn="just"/>
            <a:r>
              <a:rPr lang="en-US" sz="2800" dirty="0"/>
              <a:t>Its rate of reaction is controlled principally by the concentration of oxaloacetate, its substrate, and by the concentration of its product citrate.</a:t>
            </a:r>
          </a:p>
          <a:p>
            <a:pPr algn="just"/>
            <a:r>
              <a:rPr lang="en-US" sz="2800" dirty="0"/>
              <a:t> Situations of increased oxaloacetate and decreased citrate levels will stimulate citrate synthase and vice vasa. </a:t>
            </a:r>
          </a:p>
          <a:p>
            <a:pPr algn="just"/>
            <a:r>
              <a:rPr lang="en-US" sz="2800" dirty="0"/>
              <a:t>In addition, in the liver, the NADH/NAD</a:t>
            </a:r>
            <a:r>
              <a:rPr lang="en-US" sz="2800" baseline="30000" dirty="0"/>
              <a:t>+</a:t>
            </a:r>
            <a:r>
              <a:rPr lang="en-US" sz="2800" dirty="0"/>
              <a:t> ratio helps to determine whether acetyl CoA enters the TCA cycle or goes into other alternative pathways. </a:t>
            </a:r>
          </a:p>
          <a:p>
            <a:pPr algn="just"/>
            <a:r>
              <a:rPr lang="en-US" sz="2800" dirty="0"/>
              <a:t>High ratio is inhibitory while a low ratio is stimulatory.</a:t>
            </a:r>
            <a:endParaRPr lang="en-GB" sz="2800" dirty="0"/>
          </a:p>
        </p:txBody>
      </p:sp>
    </p:spTree>
    <p:extLst>
      <p:ext uri="{BB962C8B-B14F-4D97-AF65-F5344CB8AC3E}">
        <p14:creationId xmlns:p14="http://schemas.microsoft.com/office/powerpoint/2010/main" val="1128306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030075" cy="1614488"/>
          </a:xfrm>
        </p:spPr>
        <p:txBody>
          <a:bodyPr>
            <a:normAutofit fontScale="90000"/>
          </a:bodyPr>
          <a:lstStyle/>
          <a:p>
            <a:r>
              <a:rPr lang="en-US" b="1" dirty="0">
                <a:solidFill>
                  <a:srgbClr val="FF0000"/>
                </a:solidFill>
              </a:rPr>
              <a:t>b) Allosteric regulation of enzyme </a:t>
            </a:r>
            <a:r>
              <a:rPr lang="en-US" b="1" dirty="0" err="1">
                <a:solidFill>
                  <a:srgbClr val="FF0000"/>
                </a:solidFill>
              </a:rPr>
              <a:t>isocitrate</a:t>
            </a:r>
            <a:r>
              <a:rPr lang="en-US" b="1" dirty="0">
                <a:solidFill>
                  <a:srgbClr val="FF0000"/>
                </a:solidFill>
              </a:rPr>
              <a:t> dehydrogenase</a:t>
            </a:r>
            <a:r>
              <a:rPr lang="en-GB" dirty="0">
                <a:solidFill>
                  <a:srgbClr val="FF0000"/>
                </a:solidFill>
              </a:rPr>
              <a:t/>
            </a:r>
            <a:br>
              <a:rPr lang="en-GB"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1114425"/>
            <a:ext cx="11915775" cy="5743575"/>
          </a:xfrm>
        </p:spPr>
        <p:txBody>
          <a:bodyPr>
            <a:noAutofit/>
          </a:bodyPr>
          <a:lstStyle/>
          <a:p>
            <a:pPr algn="just"/>
            <a:r>
              <a:rPr lang="en-US" sz="2800" dirty="0"/>
              <a:t>This regulation occurs at the third stage of TCA cycle. </a:t>
            </a:r>
          </a:p>
          <a:p>
            <a:pPr algn="just"/>
            <a:r>
              <a:rPr lang="en-US" sz="2800" dirty="0"/>
              <a:t>This is a rate-limiting (slowest) step in TCA. Isocitrate dehydrogenase is </a:t>
            </a:r>
            <a:r>
              <a:rPr lang="en-US" sz="2800" dirty="0" err="1"/>
              <a:t>allosterically</a:t>
            </a:r>
            <a:r>
              <a:rPr lang="en-US" sz="2800" dirty="0"/>
              <a:t> activated by ADP and inhibited by NADH. </a:t>
            </a:r>
          </a:p>
          <a:p>
            <a:pPr algn="just"/>
            <a:r>
              <a:rPr lang="en-US" sz="2800" dirty="0"/>
              <a:t>Thus, at the concentration of </a:t>
            </a:r>
            <a:r>
              <a:rPr lang="en-US" sz="2800" dirty="0" err="1"/>
              <a:t>isocitrate</a:t>
            </a:r>
            <a:r>
              <a:rPr lang="en-US" sz="2800" dirty="0"/>
              <a:t> found in the mitochondrial matrix, a small change in the concentration of ADP can produce a large change in the rate of the </a:t>
            </a:r>
            <a:r>
              <a:rPr lang="en-US" sz="2800" dirty="0" err="1"/>
              <a:t>isocitrate</a:t>
            </a:r>
            <a:r>
              <a:rPr lang="en-US" sz="2800" dirty="0"/>
              <a:t> dehydrogenase reaction. </a:t>
            </a:r>
          </a:p>
          <a:p>
            <a:pPr algn="just"/>
            <a:r>
              <a:rPr lang="en-US" sz="2800" dirty="0"/>
              <a:t>Small changes in the concentration of the product NADH and of the co-substrate NAD</a:t>
            </a:r>
            <a:r>
              <a:rPr lang="en-US" sz="2800" baseline="30000" dirty="0"/>
              <a:t>+</a:t>
            </a:r>
            <a:r>
              <a:rPr lang="en-US" sz="2800" dirty="0"/>
              <a:t> also affect the rate of the enzyme more than they would a non-allosteric enzyme. </a:t>
            </a:r>
          </a:p>
          <a:p>
            <a:pPr algn="just"/>
            <a:r>
              <a:rPr lang="en-US" sz="2800" dirty="0"/>
              <a:t>During muscle contraction, increased Ca</a:t>
            </a:r>
            <a:r>
              <a:rPr lang="en-US" sz="2800" baseline="30000" dirty="0"/>
              <a:t>2+</a:t>
            </a:r>
            <a:r>
              <a:rPr lang="en-US" sz="2800" dirty="0"/>
              <a:t> concentrations activate </a:t>
            </a:r>
            <a:r>
              <a:rPr lang="en-US" sz="2800" dirty="0" err="1"/>
              <a:t>isocitrate</a:t>
            </a:r>
            <a:r>
              <a:rPr lang="en-US" sz="2800" dirty="0"/>
              <a:t> dehydrogenase. </a:t>
            </a:r>
          </a:p>
        </p:txBody>
      </p:sp>
    </p:spTree>
    <p:extLst>
      <p:ext uri="{BB962C8B-B14F-4D97-AF65-F5344CB8AC3E}">
        <p14:creationId xmlns:p14="http://schemas.microsoft.com/office/powerpoint/2010/main" val="3724670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57238"/>
          </a:xfrm>
        </p:spPr>
        <p:txBody>
          <a:bodyPr>
            <a:normAutofit/>
          </a:bodyPr>
          <a:lstStyle/>
          <a:p>
            <a:r>
              <a:rPr lang="en-GB" sz="2800" dirty="0">
                <a:solidFill>
                  <a:srgbClr val="FF0000"/>
                </a:solidFill>
              </a:rPr>
              <a:t>CONT’</a:t>
            </a:r>
          </a:p>
        </p:txBody>
      </p:sp>
      <p:sp>
        <p:nvSpPr>
          <p:cNvPr id="3" name="Content Placeholder 2"/>
          <p:cNvSpPr>
            <a:spLocks noGrp="1"/>
          </p:cNvSpPr>
          <p:nvPr>
            <p:ph idx="1"/>
          </p:nvPr>
        </p:nvSpPr>
        <p:spPr>
          <a:xfrm>
            <a:off x="0" y="757239"/>
            <a:ext cx="12192000" cy="6100761"/>
          </a:xfrm>
        </p:spPr>
        <p:txBody>
          <a:bodyPr>
            <a:normAutofit/>
          </a:bodyPr>
          <a:lstStyle/>
          <a:p>
            <a:pPr algn="just"/>
            <a:r>
              <a:rPr lang="en-US" sz="2800" dirty="0">
                <a:latin typeface="Times New Roman" panose="02020603050405020304" pitchFamily="18" charset="0"/>
                <a:cs typeface="Times New Roman" panose="02020603050405020304" pitchFamily="18" charset="0"/>
              </a:rPr>
              <a:t>This effect of Ca</a:t>
            </a:r>
            <a:r>
              <a:rPr lang="en-US" sz="2800" baseline="30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is also the same for enzymes and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dehydrogenase and pyruvate dehydrogenase.</a:t>
            </a:r>
            <a:endParaRPr lang="en-GB" sz="2800" dirty="0">
              <a:latin typeface="Times New Roman" panose="02020603050405020304" pitchFamily="18" charset="0"/>
              <a:cs typeface="Times New Roman" panose="02020603050405020304" pitchFamily="18" charset="0"/>
            </a:endParaRPr>
          </a:p>
          <a:p>
            <a:r>
              <a:rPr lang="en-US" sz="2800" b="1" dirty="0">
                <a:solidFill>
                  <a:srgbClr val="FF0000"/>
                </a:solidFill>
                <a:latin typeface="Times New Roman" panose="02020603050405020304" pitchFamily="18" charset="0"/>
                <a:cs typeface="Times New Roman" panose="02020603050405020304" pitchFamily="18" charset="0"/>
              </a:rPr>
              <a:t>c)  Regulation of enzyme α-</a:t>
            </a:r>
            <a:r>
              <a:rPr lang="en-US" sz="2800" b="1" dirty="0" err="1">
                <a:solidFill>
                  <a:srgbClr val="FF0000"/>
                </a:solidFill>
                <a:latin typeface="Times New Roman" panose="02020603050405020304" pitchFamily="18" charset="0"/>
                <a:cs typeface="Times New Roman" panose="02020603050405020304" pitchFamily="18" charset="0"/>
              </a:rPr>
              <a:t>ketoglutarate</a:t>
            </a:r>
            <a:r>
              <a:rPr lang="en-US" sz="2800" b="1" dirty="0">
                <a:solidFill>
                  <a:srgbClr val="FF0000"/>
                </a:solidFill>
                <a:latin typeface="Times New Roman" panose="02020603050405020304" pitchFamily="18" charset="0"/>
                <a:cs typeface="Times New Roman" panose="02020603050405020304" pitchFamily="18" charset="0"/>
              </a:rPr>
              <a:t> dehydrogenase</a:t>
            </a:r>
            <a:endParaRPr lang="en-GB" sz="2800" dirty="0">
              <a:solidFill>
                <a:srgbClr val="FF0000"/>
              </a:solidFill>
              <a:latin typeface="Times New Roman" panose="02020603050405020304" pitchFamily="18" charset="0"/>
              <a:cs typeface="Times New Roman" panose="02020603050405020304" pitchFamily="18" charset="0"/>
            </a:endParaRPr>
          </a:p>
          <a:p>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dehydrogenase complex, although not an allosteric enzyme, is product-inhibited by NADH and </a:t>
            </a:r>
            <a:r>
              <a:rPr lang="en-US" sz="2800" dirty="0" err="1">
                <a:latin typeface="Times New Roman" panose="02020603050405020304" pitchFamily="18" charset="0"/>
                <a:cs typeface="Times New Roman" panose="02020603050405020304" pitchFamily="18" charset="0"/>
              </a:rPr>
              <a:t>succinyl</a:t>
            </a:r>
            <a:r>
              <a:rPr lang="en-US" sz="2800" dirty="0">
                <a:latin typeface="Times New Roman" panose="02020603050405020304" pitchFamily="18" charset="0"/>
                <a:cs typeface="Times New Roman" panose="02020603050405020304" pitchFamily="18" charset="0"/>
              </a:rPr>
              <a:t> CoA and may also be inhibited by GTP. </a:t>
            </a:r>
          </a:p>
          <a:p>
            <a:r>
              <a:rPr lang="en-US" sz="2800" dirty="0">
                <a:latin typeface="Times New Roman" panose="02020603050405020304" pitchFamily="18" charset="0"/>
                <a:cs typeface="Times New Roman" panose="02020603050405020304" pitchFamily="18" charset="0"/>
              </a:rPr>
              <a:t>Thus, both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dehydrogenase and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dehydrogenase respond directly to changes in the relative levels of ADP and hence the rate at which NADH is oxidized by electron transport. </a:t>
            </a:r>
          </a:p>
          <a:p>
            <a:r>
              <a:rPr lang="en-US" sz="2800" dirty="0">
                <a:latin typeface="Times New Roman" panose="02020603050405020304" pitchFamily="18" charset="0"/>
                <a:cs typeface="Times New Roman" panose="02020603050405020304" pitchFamily="18" charset="0"/>
              </a:rPr>
              <a:t>Both of these enzymes are also activated by Ca</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generated during muscle contraction when ATP is being rapidly hydrolyzed.</a:t>
            </a:r>
            <a:endParaRPr lang="en-GB" sz="2800" dirty="0">
              <a:latin typeface="Times New Roman" panose="02020603050405020304" pitchFamily="18" charset="0"/>
              <a:cs typeface="Times New Roman" panose="02020603050405020304" pitchFamily="18" charset="0"/>
            </a:endParaRPr>
          </a:p>
          <a:p>
            <a:pPr marL="0" indent="0">
              <a:buNone/>
            </a:pPr>
            <a:endParaRPr lang="en-GB" sz="2800" dirty="0">
              <a:latin typeface="Times New Roman" panose="02020603050405020304" pitchFamily="18" charset="0"/>
              <a:cs typeface="Times New Roman" panose="02020603050405020304" pitchFamily="18" charset="0"/>
            </a:endParaRPr>
          </a:p>
          <a:p>
            <a:pPr algn="just"/>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697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85850"/>
          </a:xfrm>
        </p:spPr>
        <p:txBody>
          <a:bodyPr>
            <a:normAutofit fontScale="90000"/>
          </a:bodyPr>
          <a:lstStyle/>
          <a:p>
            <a:r>
              <a:rPr lang="en-US" b="1" dirty="0"/>
              <a:t/>
            </a:r>
            <a:br>
              <a:rPr lang="en-US" b="1" dirty="0"/>
            </a:br>
            <a:r>
              <a:rPr lang="en-US" b="1" dirty="0">
                <a:solidFill>
                  <a:srgbClr val="FF0000"/>
                </a:solidFill>
                <a:latin typeface="Times New Roman" panose="02020603050405020304" pitchFamily="18" charset="0"/>
                <a:cs typeface="Times New Roman" panose="02020603050405020304" pitchFamily="18" charset="0"/>
              </a:rPr>
              <a:t>d) Regulation of TCA cycle intermediates</a:t>
            </a:r>
            <a:r>
              <a:rPr lang="en-GB" dirty="0">
                <a:solidFill>
                  <a:srgbClr val="FF0000"/>
                </a:solidFill>
                <a:latin typeface="Times New Roman" panose="02020603050405020304" pitchFamily="18" charset="0"/>
                <a:cs typeface="Times New Roman" panose="02020603050405020304" pitchFamily="18" charset="0"/>
              </a:rPr>
              <a:t/>
            </a:r>
            <a:br>
              <a:rPr lang="en-GB" dirty="0">
                <a:solidFill>
                  <a:srgbClr val="FF0000"/>
                </a:solidFill>
                <a:latin typeface="Times New Roman" panose="02020603050405020304" pitchFamily="18" charset="0"/>
                <a:cs typeface="Times New Roman" panose="02020603050405020304" pitchFamily="18" charset="0"/>
              </a:rPr>
            </a:br>
            <a:r>
              <a:rPr lang="en-US" b="1" dirty="0"/>
              <a:t> </a:t>
            </a:r>
            <a:r>
              <a:rPr lang="en-GB" dirty="0"/>
              <a:t/>
            </a:r>
            <a:br>
              <a:rPr lang="en-GB" dirty="0"/>
            </a:br>
            <a:endParaRPr lang="en-GB" dirty="0"/>
          </a:p>
        </p:txBody>
      </p:sp>
      <p:sp>
        <p:nvSpPr>
          <p:cNvPr id="3" name="Content Placeholder 2"/>
          <p:cNvSpPr>
            <a:spLocks noGrp="1"/>
          </p:cNvSpPr>
          <p:nvPr>
            <p:ph idx="1"/>
          </p:nvPr>
        </p:nvSpPr>
        <p:spPr>
          <a:xfrm>
            <a:off x="0" y="742950"/>
            <a:ext cx="12087225" cy="6115050"/>
          </a:xfrm>
        </p:spPr>
        <p:txBody>
          <a:bodyPr>
            <a:normAutofit/>
          </a:bodyPr>
          <a:lstStyle/>
          <a:p>
            <a:r>
              <a:rPr lang="en-US" sz="2800" dirty="0"/>
              <a:t>Regulation of the TCA cycle serves two functions: it ensures that NADH is generated fast enough to maintain ATP homeostasis, and it regulates the concentration of TCA cycle intermediates. </a:t>
            </a:r>
          </a:p>
          <a:p>
            <a:r>
              <a:rPr lang="en-US" sz="2800" dirty="0"/>
              <a:t>For example, in the liver, a decreased rate of </a:t>
            </a:r>
            <a:r>
              <a:rPr lang="en-US" sz="2800" dirty="0" err="1"/>
              <a:t>isocitrate</a:t>
            </a:r>
            <a:r>
              <a:rPr lang="en-US" sz="2800" dirty="0"/>
              <a:t> dehydrogenase increases citrate concentration, which stimulates citrate efflux to the cytosol. </a:t>
            </a:r>
          </a:p>
          <a:p>
            <a:r>
              <a:rPr lang="en-US" sz="2800" dirty="0"/>
              <a:t>A number of regulatory interactions in the TCA cycle, in addition to those mentioned earlier, control the levels of TCA intermediates and their flux into pathways that adjoin the TCA cycle.</a:t>
            </a:r>
            <a:endParaRPr lang="en-GB" sz="2800" dirty="0"/>
          </a:p>
          <a:p>
            <a:r>
              <a:rPr lang="en-US" sz="2800" dirty="0"/>
              <a:t> </a:t>
            </a:r>
            <a:endParaRPr lang="en-GB" sz="2800" dirty="0"/>
          </a:p>
          <a:p>
            <a:endParaRPr lang="en-GB" dirty="0"/>
          </a:p>
        </p:txBody>
      </p:sp>
    </p:spTree>
    <p:extLst>
      <p:ext uri="{BB962C8B-B14F-4D97-AF65-F5344CB8AC3E}">
        <p14:creationId xmlns:p14="http://schemas.microsoft.com/office/powerpoint/2010/main" val="4057848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43000"/>
          </a:xfrm>
        </p:spPr>
        <p:txBody>
          <a:bodyPr>
            <a:normAutofit fontScale="90000"/>
          </a:bodyPr>
          <a:lstStyle/>
          <a:p>
            <a:r>
              <a:rPr lang="en-US" b="1" dirty="0">
                <a:solidFill>
                  <a:srgbClr val="FF0000"/>
                </a:solidFill>
              </a:rPr>
              <a:t>The role of vitamins in TCA cycle</a:t>
            </a:r>
            <a:r>
              <a:rPr lang="en-GB" b="1" i="1" dirty="0">
                <a:solidFill>
                  <a:srgbClr val="FF0000"/>
                </a:solidFill>
              </a:rPr>
              <a:t/>
            </a:r>
            <a:br>
              <a:rPr lang="en-GB" b="1" i="1" dirty="0">
                <a:solidFill>
                  <a:srgbClr val="FF0000"/>
                </a:solidFill>
              </a:rPr>
            </a:br>
            <a:endParaRPr lang="en-GB" dirty="0">
              <a:solidFill>
                <a:srgbClr val="FF0000"/>
              </a:solidFill>
            </a:endParaRPr>
          </a:p>
        </p:txBody>
      </p:sp>
      <p:sp>
        <p:nvSpPr>
          <p:cNvPr id="3" name="Content Placeholder 2"/>
          <p:cNvSpPr>
            <a:spLocks noGrp="1"/>
          </p:cNvSpPr>
          <p:nvPr>
            <p:ph idx="1"/>
          </p:nvPr>
        </p:nvSpPr>
        <p:spPr>
          <a:xfrm>
            <a:off x="0" y="585788"/>
            <a:ext cx="12192000" cy="6272212"/>
          </a:xfrm>
        </p:spPr>
        <p:txBody>
          <a:bodyPr>
            <a:normAutofit/>
          </a:bodyPr>
          <a:lstStyle/>
          <a:p>
            <a:r>
              <a:rPr lang="en-US" sz="2800" dirty="0">
                <a:latin typeface="Times New Roman" panose="02020603050405020304" pitchFamily="18" charset="0"/>
                <a:cs typeface="Times New Roman" panose="02020603050405020304" pitchFamily="18" charset="0"/>
              </a:rPr>
              <a:t>Vitamins, mainly of the B-group play important roles in TCA cycle. Four of the B vitamins that are essential in the TCA cycle and hence energy-yielding metabolism are:</a:t>
            </a:r>
            <a:endParaRPr lang="en-GB" sz="2800" dirty="0">
              <a:latin typeface="Times New Roman" panose="02020603050405020304" pitchFamily="18" charset="0"/>
              <a:cs typeface="Times New Roman" panose="02020603050405020304" pitchFamily="18" charset="0"/>
            </a:endParaRPr>
          </a:p>
          <a:p>
            <a:pPr lvl="0"/>
            <a:r>
              <a:rPr lang="en-US" sz="2800" b="1" dirty="0">
                <a:solidFill>
                  <a:srgbClr val="0070C0"/>
                </a:solidFill>
                <a:latin typeface="Times New Roman" panose="02020603050405020304" pitchFamily="18" charset="0"/>
                <a:cs typeface="Times New Roman" panose="02020603050405020304" pitchFamily="18" charset="0"/>
              </a:rPr>
              <a:t>Riboflavin</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 the form of </a:t>
            </a:r>
            <a:r>
              <a:rPr lang="en-US" sz="2800" dirty="0" err="1">
                <a:latin typeface="Times New Roman" panose="02020603050405020304" pitchFamily="18" charset="0"/>
                <a:cs typeface="Times New Roman" panose="02020603050405020304" pitchFamily="18" charset="0"/>
              </a:rPr>
              <a:t>flavin</a:t>
            </a:r>
            <a:r>
              <a:rPr lang="en-US" sz="2800" dirty="0">
                <a:latin typeface="Times New Roman" panose="02020603050405020304" pitchFamily="18" charset="0"/>
                <a:cs typeface="Times New Roman" panose="02020603050405020304" pitchFamily="18" charset="0"/>
              </a:rPr>
              <a:t> adenine dinucleotide (FAD), it is a co-factor for succinate dehydrogenase.</a:t>
            </a:r>
            <a:endParaRPr lang="en-GB" sz="2800" dirty="0">
              <a:latin typeface="Times New Roman" panose="02020603050405020304" pitchFamily="18" charset="0"/>
              <a:cs typeface="Times New Roman" panose="02020603050405020304" pitchFamily="18" charset="0"/>
            </a:endParaRPr>
          </a:p>
          <a:p>
            <a:pPr lvl="0"/>
            <a:r>
              <a:rPr lang="en-US" sz="2800" b="1" dirty="0">
                <a:solidFill>
                  <a:srgbClr val="0070C0"/>
                </a:solidFill>
                <a:latin typeface="Times New Roman" panose="02020603050405020304" pitchFamily="18" charset="0"/>
                <a:cs typeface="Times New Roman" panose="02020603050405020304" pitchFamily="18" charset="0"/>
              </a:rPr>
              <a:t>Niacin</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 the form the form of adenine dinucleotide is the electron acceptor for </a:t>
            </a:r>
            <a:r>
              <a:rPr lang="en-US" sz="2800" dirty="0" err="1">
                <a:latin typeface="Times New Roman" panose="02020603050405020304" pitchFamily="18" charset="0"/>
                <a:cs typeface="Times New Roman" panose="02020603050405020304" pitchFamily="18" charset="0"/>
              </a:rPr>
              <a:t>isocitrate</a:t>
            </a:r>
            <a:r>
              <a:rPr lang="en-US" sz="2800" dirty="0">
                <a:latin typeface="Times New Roman" panose="02020603050405020304" pitchFamily="18" charset="0"/>
                <a:cs typeface="Times New Roman" panose="02020603050405020304" pitchFamily="18" charset="0"/>
              </a:rPr>
              <a:t> dehydrogenase,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dehydrogenase, and malate dehydrogenase.</a:t>
            </a:r>
            <a:endParaRPr lang="en-GB" sz="2800" dirty="0">
              <a:latin typeface="Times New Roman" panose="02020603050405020304" pitchFamily="18" charset="0"/>
              <a:cs typeface="Times New Roman" panose="02020603050405020304" pitchFamily="18" charset="0"/>
            </a:endParaRPr>
          </a:p>
          <a:p>
            <a:pPr lvl="0"/>
            <a:r>
              <a:rPr lang="en-US" sz="2800" b="1" dirty="0">
                <a:solidFill>
                  <a:srgbClr val="0070C0"/>
                </a:solidFill>
                <a:latin typeface="Times New Roman" panose="02020603050405020304" pitchFamily="18" charset="0"/>
                <a:cs typeface="Times New Roman" panose="02020603050405020304" pitchFamily="18" charset="0"/>
              </a:rPr>
              <a:t>Thiamine (Vitamin B1)</a:t>
            </a:r>
            <a:r>
              <a:rPr lang="en-US" sz="2800" dirty="0">
                <a:solidFill>
                  <a:srgbClr val="0070C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as thiamine diphosphate is the co-enzyme for decarboxylation in the α-</a:t>
            </a:r>
            <a:r>
              <a:rPr lang="en-US" sz="2800" dirty="0" err="1">
                <a:latin typeface="Times New Roman" panose="02020603050405020304" pitchFamily="18" charset="0"/>
                <a:cs typeface="Times New Roman" panose="02020603050405020304" pitchFamily="18" charset="0"/>
              </a:rPr>
              <a:t>ketoglutarate</a:t>
            </a:r>
            <a:r>
              <a:rPr lang="en-US" sz="2800" dirty="0">
                <a:latin typeface="Times New Roman" panose="02020603050405020304" pitchFamily="18" charset="0"/>
                <a:cs typeface="Times New Roman" panose="02020603050405020304" pitchFamily="18" charset="0"/>
              </a:rPr>
              <a:t> dehydrogenase reaction. </a:t>
            </a:r>
            <a:endParaRPr lang="en-GB" sz="2800" dirty="0">
              <a:latin typeface="Times New Roman" panose="02020603050405020304" pitchFamily="18" charset="0"/>
              <a:cs typeface="Times New Roman" panose="02020603050405020304" pitchFamily="18" charset="0"/>
            </a:endParaRPr>
          </a:p>
          <a:p>
            <a:pPr lvl="0"/>
            <a:r>
              <a:rPr lang="en-US" sz="2800" b="1" dirty="0">
                <a:solidFill>
                  <a:srgbClr val="0070C0"/>
                </a:solidFill>
                <a:latin typeface="Times New Roman" panose="02020603050405020304" pitchFamily="18" charset="0"/>
                <a:cs typeface="Times New Roman" panose="02020603050405020304" pitchFamily="18" charset="0"/>
              </a:rPr>
              <a:t>Pantothenic acid </a:t>
            </a:r>
            <a:r>
              <a:rPr lang="en-US" sz="2800" b="1" dirty="0">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s a part of coenzyme A, the co-factor attached to "active" carboxylic acid residues such as acetyl-CoA and </a:t>
            </a:r>
            <a:r>
              <a:rPr lang="en-US" sz="2800" dirty="0" err="1">
                <a:latin typeface="Times New Roman" panose="02020603050405020304" pitchFamily="18" charset="0"/>
                <a:cs typeface="Times New Roman" panose="02020603050405020304" pitchFamily="18" charset="0"/>
              </a:rPr>
              <a:t>succinyl</a:t>
            </a:r>
            <a:r>
              <a:rPr lang="en-US" sz="2800" dirty="0">
                <a:latin typeface="Times New Roman" panose="02020603050405020304" pitchFamily="18" charset="0"/>
                <a:cs typeface="Times New Roman" panose="02020603050405020304" pitchFamily="18" charset="0"/>
              </a:rPr>
              <a:t>-CoA.</a:t>
            </a:r>
            <a:endParaRPr lang="en-GB" sz="2800" dirty="0">
              <a:latin typeface="Times New Roman" panose="02020603050405020304" pitchFamily="18" charset="0"/>
              <a:cs typeface="Times New Roman" panose="02020603050405020304" pitchFamily="18" charset="0"/>
            </a:endParaRPr>
          </a:p>
          <a:p>
            <a:endParaRPr lang="en-GB" sz="2800" dirty="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10790783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129</TotalTime>
  <Words>2333</Words>
  <Application>Microsoft Macintosh PowerPoint</Application>
  <PresentationFormat>Widescreen</PresentationFormat>
  <Paragraphs>174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Garamond</vt:lpstr>
      <vt:lpstr>Times New Roman</vt:lpstr>
      <vt:lpstr>Arial</vt:lpstr>
      <vt:lpstr>Organic</vt:lpstr>
      <vt:lpstr>THE TRI-CARBOXYLIC ACID (TCA) CYCLE </vt:lpstr>
      <vt:lpstr> Significance of TCA cycle </vt:lpstr>
      <vt:lpstr>Catabolic and anabolic functions of TCA cycle</vt:lpstr>
      <vt:lpstr>Enzymatic conversion of Pyruvate to acetyl CoA </vt:lpstr>
      <vt:lpstr>CONT’</vt:lpstr>
      <vt:lpstr>CONT’</vt:lpstr>
      <vt:lpstr>CONT’</vt:lpstr>
      <vt:lpstr>Reactions of the TCA cycle</vt:lpstr>
      <vt:lpstr>TCA cycle</vt:lpstr>
      <vt:lpstr>CONT’</vt:lpstr>
      <vt:lpstr>CONT’</vt:lpstr>
      <vt:lpstr>Enzymatic reactions of the TCA cycle in sequence </vt:lpstr>
      <vt:lpstr> 2nd Reaction: Isomerization of Citrate to Isocitrate by Aconitase </vt:lpstr>
      <vt:lpstr>CONT’</vt:lpstr>
      <vt:lpstr>CONT’</vt:lpstr>
      <vt:lpstr>  4th RXN: Oxidative decarboxylation of α- ketoglutarate by α - KGDH  complex  </vt:lpstr>
      <vt:lpstr>CONT’</vt:lpstr>
      <vt:lpstr>CONT’</vt:lpstr>
      <vt:lpstr>CONT’</vt:lpstr>
      <vt:lpstr>  6th Reaction: Oxidation of Succinate to Fumarate by Succinate Dehydrogenase    </vt:lpstr>
      <vt:lpstr> 7th Reaction: Hydration of Fumarate by Fumarase   </vt:lpstr>
      <vt:lpstr>  8th Reaction: Oxidation of Malate by Malate Dehydrogenase   </vt:lpstr>
      <vt:lpstr> Bioenergetics of TCA cycle </vt:lpstr>
      <vt:lpstr> Table 1: Amount of energy in the form of ATP is generated in TCA. </vt:lpstr>
      <vt:lpstr>CONT’</vt:lpstr>
      <vt:lpstr> Regulation of the TCA cycle </vt:lpstr>
      <vt:lpstr>CONT’</vt:lpstr>
      <vt:lpstr>b) Allosteric regulation of enzyme isocitrate dehydrogenase </vt:lpstr>
      <vt:lpstr>CONT’</vt:lpstr>
      <vt:lpstr> d) Regulation of TCA cycle intermediates   </vt:lpstr>
      <vt:lpstr>The role of vitamins in TCA cycle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TRI-CARBOXYLIC ACID (TCA) CYCLE</dc:title>
  <dc:creator>PC</dc:creator>
  <cp:lastModifiedBy>Microsoft Office User</cp:lastModifiedBy>
  <cp:revision>19</cp:revision>
  <dcterms:created xsi:type="dcterms:W3CDTF">2014-02-10T11:40:58Z</dcterms:created>
  <dcterms:modified xsi:type="dcterms:W3CDTF">2024-11-09T14:05:49Z</dcterms:modified>
</cp:coreProperties>
</file>