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3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AD8A6-6671-4267-AAE5-D676E40D6676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C82F5-7256-47CD-A711-3FEA6FBBD6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AD8A6-6671-4267-AAE5-D676E40D6676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C82F5-7256-47CD-A711-3FEA6FBBD6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AD8A6-6671-4267-AAE5-D676E40D6676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C82F5-7256-47CD-A711-3FEA6FBBD6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AD8A6-6671-4267-AAE5-D676E40D6676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C82F5-7256-47CD-A711-3FEA6FBBD6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AD8A6-6671-4267-AAE5-D676E40D6676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C82F5-7256-47CD-A711-3FEA6FBBD6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AD8A6-6671-4267-AAE5-D676E40D6676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C82F5-7256-47CD-A711-3FEA6FBBD6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AD8A6-6671-4267-AAE5-D676E40D6676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C82F5-7256-47CD-A711-3FEA6FBBD6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AD8A6-6671-4267-AAE5-D676E40D6676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C82F5-7256-47CD-A711-3FEA6FBBD6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AD8A6-6671-4267-AAE5-D676E40D6676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C82F5-7256-47CD-A711-3FEA6FBBD6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AD8A6-6671-4267-AAE5-D676E40D6676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C82F5-7256-47CD-A711-3FEA6FBBD6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AD8A6-6671-4267-AAE5-D676E40D6676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C82F5-7256-47CD-A711-3FEA6FBBD6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1AD8A6-6671-4267-AAE5-D676E40D6676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2C82F5-7256-47CD-A711-3FEA6FBBD6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TOPIC FOUR</a:t>
            </a:r>
            <a:r>
              <a:rPr lang="en-US" dirty="0">
                <a:solidFill>
                  <a:srgbClr val="FF0000"/>
                </a:solidFill>
              </a:rPr>
              <a:t/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MOLECULAR GENETICS / MODERN BIOCHEMISTRY.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Lecture 6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lvl="0"/>
            <a:r>
              <a:rPr lang="en-US" dirty="0" smtClean="0"/>
              <a:t>This </a:t>
            </a:r>
            <a:r>
              <a:rPr lang="en-US" dirty="0"/>
              <a:t>subject teaches us that the genetic information is stored in DNA or RNA (RNA viruses). And it teaches us the central dogma; that is the flow of genetic information from DNA to DNA from DNA to RNA, and then to protein. Human beings are highly developed species</a:t>
            </a:r>
            <a:r>
              <a:rPr lang="en-US" dirty="0" smtClean="0"/>
              <a:t>. </a:t>
            </a:r>
            <a:endParaRPr lang="en-US" dirty="0"/>
          </a:p>
          <a:p>
            <a:pPr lvl="0"/>
            <a:r>
              <a:rPr lang="en-US" dirty="0"/>
              <a:t>How a person looks, behaves, suffers </a:t>
            </a:r>
            <a:r>
              <a:rPr lang="en-US" dirty="0" smtClean="0"/>
              <a:t>from diseases </a:t>
            </a:r>
            <a:r>
              <a:rPr lang="en-US" dirty="0"/>
              <a:t>and the like are dictated by genetic material called DNA. The information is </a:t>
            </a:r>
            <a:r>
              <a:rPr lang="en-US" dirty="0" smtClean="0"/>
              <a:t>inherited from </a:t>
            </a:r>
            <a:r>
              <a:rPr lang="en-US" dirty="0"/>
              <a:t>parent to offspring. The same is replicated from parent DNA to daughter DNA.</a:t>
            </a:r>
          </a:p>
          <a:p>
            <a:pPr lvl="0"/>
            <a:endParaRPr lang="en-US" dirty="0" smtClean="0"/>
          </a:p>
          <a:p>
            <a:pPr lvl="0"/>
            <a:r>
              <a:rPr lang="en-US" dirty="0" smtClean="0"/>
              <a:t>First </a:t>
            </a:r>
            <a:r>
              <a:rPr lang="en-US" dirty="0"/>
              <a:t>RNA is synthesized from DNA (Transcription) which is translated in to Proteins. </a:t>
            </a:r>
          </a:p>
          <a:p>
            <a:pPr lvl="0"/>
            <a:r>
              <a:rPr lang="en-US" dirty="0"/>
              <a:t>These proteins are responsible for various metabolic functions. Protein expression during development, adaptation, aging and other related processes of life are controlled by DNA</a:t>
            </a:r>
            <a:r>
              <a:rPr lang="en-US" dirty="0" smtClean="0"/>
              <a:t>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Changes in the genetic material cause </a:t>
            </a:r>
            <a:r>
              <a:rPr lang="en-US" b="1" dirty="0"/>
              <a:t>hereditary diseases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NUCLEIC ACIDs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Nucleic </a:t>
            </a:r>
            <a:r>
              <a:rPr lang="en-US" dirty="0"/>
              <a:t>acids are present in nucleus and Mitochondria</a:t>
            </a:r>
          </a:p>
          <a:p>
            <a:pPr lvl="0"/>
            <a:r>
              <a:rPr lang="en-US" dirty="0"/>
              <a:t>They are found in two basic structural forms, deoxyribonucleic acid (DNA) and ribonucleic acid(RNA).</a:t>
            </a:r>
          </a:p>
          <a:p>
            <a:pPr>
              <a:buNone/>
            </a:pPr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 </a:t>
            </a:r>
            <a:br>
              <a:rPr lang="en-US" dirty="0"/>
            </a:br>
            <a:r>
              <a:rPr lang="en-US" b="1" dirty="0"/>
              <a:t>THE STRUCTURE OF DNA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Deoxyribonucleic acid (DNA) is polymers </a:t>
            </a:r>
            <a:r>
              <a:rPr lang="en-US" dirty="0" smtClean="0"/>
              <a:t>of </a:t>
            </a:r>
            <a:r>
              <a:rPr lang="en-US" dirty="0" err="1" smtClean="0"/>
              <a:t>deoxyribonucleotides</a:t>
            </a:r>
            <a:r>
              <a:rPr lang="en-US" dirty="0" smtClean="0"/>
              <a:t> </a:t>
            </a:r>
            <a:r>
              <a:rPr lang="en-US" dirty="0"/>
              <a:t>attached to each other </a:t>
            </a:r>
            <a:r>
              <a:rPr lang="en-US" dirty="0" smtClean="0"/>
              <a:t>by </a:t>
            </a:r>
            <a:r>
              <a:rPr lang="en-US" dirty="0" err="1" smtClean="0"/>
              <a:t>phosphodiester</a:t>
            </a:r>
            <a:r>
              <a:rPr lang="en-US" dirty="0" smtClean="0"/>
              <a:t> linkages.</a:t>
            </a:r>
          </a:p>
          <a:p>
            <a:r>
              <a:rPr lang="en-US" dirty="0" smtClean="0"/>
              <a:t> Each </a:t>
            </a:r>
            <a:r>
              <a:rPr lang="en-US" dirty="0" err="1" smtClean="0"/>
              <a:t>deoxyribonucleotide</a:t>
            </a:r>
            <a:r>
              <a:rPr lang="en-US" dirty="0" smtClean="0"/>
              <a:t> is composed of </a:t>
            </a:r>
            <a:r>
              <a:rPr lang="en-US" dirty="0" err="1" smtClean="0"/>
              <a:t>deoxyribonucleoside</a:t>
            </a:r>
            <a:r>
              <a:rPr lang="en-US" dirty="0" smtClean="0"/>
              <a:t> &amp; inorganic phosphate group. </a:t>
            </a:r>
          </a:p>
          <a:p>
            <a:r>
              <a:rPr lang="en-US" dirty="0" smtClean="0"/>
              <a:t>Each </a:t>
            </a:r>
            <a:r>
              <a:rPr lang="en-US" dirty="0" err="1" smtClean="0"/>
              <a:t>deoxyribonucleoside</a:t>
            </a:r>
            <a:r>
              <a:rPr lang="en-US" dirty="0" smtClean="0"/>
              <a:t> is composed of nitrogen bases and a sugar </a:t>
            </a:r>
            <a:r>
              <a:rPr lang="en-US" dirty="0" err="1" smtClean="0"/>
              <a:t>deoxyribose</a:t>
            </a:r>
            <a:r>
              <a:rPr lang="en-US" dirty="0" smtClean="0"/>
              <a:t>. </a:t>
            </a:r>
          </a:p>
          <a:p>
            <a:r>
              <a:rPr lang="en-US" dirty="0" smtClean="0"/>
              <a:t>The nitrogenous bases are </a:t>
            </a:r>
            <a:r>
              <a:rPr lang="en-US" dirty="0" err="1" smtClean="0"/>
              <a:t>purines</a:t>
            </a:r>
            <a:r>
              <a:rPr lang="en-US" dirty="0" smtClean="0"/>
              <a:t> and </a:t>
            </a:r>
            <a:r>
              <a:rPr lang="en-US" dirty="0" err="1" smtClean="0"/>
              <a:t>pyrimidines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two </a:t>
            </a:r>
            <a:r>
              <a:rPr lang="en-US" dirty="0" err="1" smtClean="0"/>
              <a:t>Purine</a:t>
            </a:r>
            <a:r>
              <a:rPr lang="en-US" dirty="0" smtClean="0"/>
              <a:t> </a:t>
            </a:r>
            <a:r>
              <a:rPr lang="en-US" dirty="0"/>
              <a:t>bases are </a:t>
            </a:r>
            <a:r>
              <a:rPr lang="en-US" b="1" dirty="0"/>
              <a:t>adenine</a:t>
            </a:r>
            <a:r>
              <a:rPr lang="en-US" dirty="0"/>
              <a:t> and </a:t>
            </a:r>
            <a:r>
              <a:rPr lang="en-US" b="1" dirty="0"/>
              <a:t>guanine</a:t>
            </a:r>
            <a:r>
              <a:rPr lang="en-US" dirty="0"/>
              <a:t>. They are derived from their </a:t>
            </a:r>
            <a:r>
              <a:rPr lang="en-US" dirty="0" smtClean="0"/>
              <a:t>parental compound</a:t>
            </a:r>
            <a:r>
              <a:rPr lang="en-US" dirty="0"/>
              <a:t>.</a:t>
            </a:r>
          </a:p>
          <a:p>
            <a:r>
              <a:rPr lang="en-US" dirty="0"/>
              <a:t>The three </a:t>
            </a:r>
            <a:r>
              <a:rPr lang="en-US" dirty="0" err="1" smtClean="0"/>
              <a:t>Pyrimidine</a:t>
            </a:r>
            <a:r>
              <a:rPr lang="en-US" dirty="0" smtClean="0"/>
              <a:t> </a:t>
            </a:r>
            <a:r>
              <a:rPr lang="en-US" dirty="0"/>
              <a:t>bases are</a:t>
            </a:r>
            <a:r>
              <a:rPr lang="en-US" b="1" dirty="0"/>
              <a:t> cytosine</a:t>
            </a:r>
            <a:r>
              <a:rPr lang="en-US" dirty="0"/>
              <a:t>, </a:t>
            </a:r>
            <a:r>
              <a:rPr lang="en-US" b="1" dirty="0"/>
              <a:t>thymine</a:t>
            </a:r>
            <a:r>
              <a:rPr lang="en-US" dirty="0"/>
              <a:t> and</a:t>
            </a:r>
            <a:r>
              <a:rPr lang="en-US" b="1" dirty="0"/>
              <a:t> </a:t>
            </a:r>
            <a:r>
              <a:rPr lang="en-US" b="1" dirty="0" err="1"/>
              <a:t>uracil</a:t>
            </a:r>
            <a:r>
              <a:rPr lang="en-US" dirty="0"/>
              <a:t>. </a:t>
            </a:r>
            <a:endParaRPr lang="en-US" dirty="0" smtClean="0"/>
          </a:p>
          <a:p>
            <a:pPr>
              <a:buNone/>
            </a:pPr>
            <a:r>
              <a:rPr lang="en-US" b="1" dirty="0" smtClean="0"/>
              <a:t>NB:</a:t>
            </a:r>
            <a:r>
              <a:rPr lang="en-US" b="1" dirty="0"/>
              <a:t> </a:t>
            </a:r>
            <a:r>
              <a:rPr lang="en-US" b="1" dirty="0" smtClean="0"/>
              <a:t>Thymine</a:t>
            </a:r>
            <a:r>
              <a:rPr lang="en-US" dirty="0" smtClean="0"/>
              <a:t> </a:t>
            </a:r>
            <a:r>
              <a:rPr lang="en-US" dirty="0"/>
              <a:t>is found in DNA and </a:t>
            </a:r>
            <a:r>
              <a:rPr lang="en-US" b="1" dirty="0" err="1"/>
              <a:t>uracil</a:t>
            </a:r>
            <a:r>
              <a:rPr lang="en-US" dirty="0"/>
              <a:t> is found in RNA but the other above mentioned bases are found in both DNA and RNA.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The Structure of RNA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The </a:t>
            </a:r>
            <a:r>
              <a:rPr lang="en-US" dirty="0"/>
              <a:t>building unit of RNA is </a:t>
            </a:r>
            <a:r>
              <a:rPr lang="en-US" dirty="0" err="1"/>
              <a:t>ribonucleotide</a:t>
            </a:r>
            <a:r>
              <a:rPr lang="en-US" dirty="0"/>
              <a:t>. </a:t>
            </a:r>
            <a:r>
              <a:rPr lang="en-US" dirty="0" err="1"/>
              <a:t>Ribonucleotide</a:t>
            </a:r>
            <a:r>
              <a:rPr lang="en-US" dirty="0"/>
              <a:t> differs from </a:t>
            </a:r>
            <a:r>
              <a:rPr lang="en-US" dirty="0" err="1"/>
              <a:t>deoxyribonucleotide</a:t>
            </a:r>
            <a:r>
              <a:rPr lang="en-US" dirty="0"/>
              <a:t> </a:t>
            </a:r>
            <a:r>
              <a:rPr lang="en-US" dirty="0" smtClean="0"/>
              <a:t>in that </a:t>
            </a:r>
            <a:r>
              <a:rPr lang="en-US" dirty="0" err="1"/>
              <a:t>ribonucleotide</a:t>
            </a:r>
            <a:r>
              <a:rPr lang="en-US" dirty="0"/>
              <a:t> contains “O” in the carbon 2’ sugar ribose.</a:t>
            </a:r>
          </a:p>
          <a:p>
            <a:r>
              <a:rPr lang="en-US" dirty="0" err="1"/>
              <a:t>Uracil</a:t>
            </a:r>
            <a:r>
              <a:rPr lang="en-US" dirty="0"/>
              <a:t> is found in RNA while Thymine is found in DNA.</a:t>
            </a:r>
          </a:p>
          <a:p>
            <a:r>
              <a:rPr lang="en-US" dirty="0"/>
              <a:t>The nuclear DNA is in secondary structure, but RNA is the primary structure. Only </a:t>
            </a:r>
            <a:r>
              <a:rPr lang="en-US" dirty="0" smtClean="0"/>
              <a:t>t-RNA </a:t>
            </a:r>
            <a:r>
              <a:rPr lang="en-US" dirty="0" err="1" smtClean="0"/>
              <a:t>afterpost</a:t>
            </a:r>
            <a:r>
              <a:rPr lang="en-US" dirty="0" smtClean="0"/>
              <a:t> </a:t>
            </a:r>
            <a:r>
              <a:rPr lang="en-US" dirty="0"/>
              <a:t>transcriptional process can be changed to tertiary structure.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STRUCTURE OF DNA &amp; RNA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STRUCTURE OF </a:t>
            </a:r>
            <a:r>
              <a:rPr lang="en-US" dirty="0" smtClean="0"/>
              <a:t>DNA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Structure of </a:t>
            </a:r>
            <a:r>
              <a:rPr lang="en-US" dirty="0" smtClean="0"/>
              <a:t>RNA</a:t>
            </a:r>
            <a:endParaRPr lang="en-US" dirty="0"/>
          </a:p>
        </p:txBody>
      </p:sp>
      <p:pic>
        <p:nvPicPr>
          <p:cNvPr id="7" name="Content Placeholder 6"/>
          <p:cNvPicPr>
            <a:picLocks noGrp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2514600"/>
            <a:ext cx="4040188" cy="3124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Content Placeholder 7"/>
          <p:cNvPicPr>
            <a:picLocks noGrp="1"/>
          </p:cNvPicPr>
          <p:nvPr>
            <p:ph sz="quarter" idx="4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4645025" y="2286000"/>
            <a:ext cx="4041775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Differences between RNA and </a:t>
            </a:r>
            <a:r>
              <a:rPr lang="en-US" b="1" dirty="0" smtClean="0"/>
              <a:t>DNA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41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latin typeface="Times New Roman"/>
                          <a:ea typeface="Calibri"/>
                          <a:cs typeface="Times New Roman"/>
                        </a:rPr>
                        <a:t>DNA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latin typeface="Times New Roman"/>
                          <a:ea typeface="Calibri"/>
                          <a:cs typeface="Times New Roman"/>
                        </a:rPr>
                        <a:t>RNA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Calibri"/>
                          <a:cs typeface="Times New Roman"/>
                        </a:rPr>
                        <a:t>Uracil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Calibri"/>
                          <a:cs typeface="Times New Roman"/>
                        </a:rPr>
                        <a:t>Absent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Calibri"/>
                          <a:cs typeface="Times New Roman"/>
                        </a:rPr>
                        <a:t>Present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Calibri"/>
                          <a:cs typeface="Times New Roman"/>
                        </a:rPr>
                        <a:t>Sugar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Calibri"/>
                          <a:cs typeface="Times New Roman"/>
                        </a:rPr>
                        <a:t>Deoxyribose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Calibri"/>
                          <a:cs typeface="Times New Roman"/>
                        </a:rPr>
                        <a:t>Ribose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Calibri"/>
                          <a:cs typeface="Times New Roman"/>
                        </a:rPr>
                        <a:t>Site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Calibri"/>
                          <a:cs typeface="Times New Roman"/>
                        </a:rPr>
                        <a:t>Nucleus, mitochondria but never in cytosol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Calibri"/>
                          <a:cs typeface="Times New Roman"/>
                        </a:rPr>
                        <a:t>Nucleus, ribosome, cytosol,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Calibri"/>
                          <a:cs typeface="Times New Roman"/>
                        </a:rPr>
                        <a:t> Nucleolus, mitochondria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Calibri"/>
                          <a:cs typeface="Times New Roman"/>
                        </a:rPr>
                        <a:t>Strands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Calibri"/>
                          <a:cs typeface="Times New Roman"/>
                        </a:rPr>
                        <a:t>Two helical strands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Calibri"/>
                          <a:cs typeface="Times New Roman"/>
                        </a:rPr>
                        <a:t>Single strand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Calibri"/>
                          <a:cs typeface="Times New Roman"/>
                        </a:rPr>
                        <a:t>Types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Calibri"/>
                          <a:cs typeface="Times New Roman"/>
                        </a:rPr>
                        <a:t>Major forms are A,B &amp;Z  hn RNA,&amp; sn RNA.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Calibri"/>
                          <a:cs typeface="Times New Roman"/>
                        </a:rPr>
                        <a:t>t-RNA ,m-RNA, r- RNA, hn RNA, sn RNA .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Calibri"/>
                          <a:cs typeface="Times New Roman"/>
                        </a:rPr>
                        <a:t>Carries genetic information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Calibri"/>
                          <a:cs typeface="Times New Roman"/>
                        </a:rPr>
                        <a:t>-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Calibri"/>
                          <a:cs typeface="Times New Roman"/>
                        </a:rPr>
                        <a:t>Only m-RNA carries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Calibri"/>
                          <a:cs typeface="Times New Roman"/>
                        </a:rPr>
                        <a:t>genetic information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Calibri"/>
                          <a:cs typeface="Times New Roman"/>
                        </a:rPr>
                        <a:t>DNA can synthesize RNA by transcription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Calibri"/>
                          <a:cs typeface="Times New Roman"/>
                        </a:rPr>
                        <a:t>Usually RNA can’t form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Calibri"/>
                          <a:cs typeface="Times New Roman"/>
                        </a:rPr>
                        <a:t>DNA, except by reverse transcriptase.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Calibri"/>
                          <a:cs typeface="Times New Roman"/>
                        </a:rPr>
                        <a:t>Number of Bases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Calibri"/>
                          <a:cs typeface="Times New Roman"/>
                        </a:rPr>
                        <a:t>Equal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Calibri"/>
                          <a:cs typeface="Times New Roman"/>
                        </a:rPr>
                        <a:t>Not equal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Thymine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Present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Absent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RNAs protein synthesis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smtClean="0"/>
              <a:t>three RNAs protein synthesis </a:t>
            </a:r>
            <a:r>
              <a:rPr lang="en-US" dirty="0" err="1" smtClean="0"/>
              <a:t>are:</a:t>
            </a:r>
            <a:r>
              <a:rPr lang="en-US" dirty="0" err="1" smtClean="0"/>
              <a:t>that</a:t>
            </a:r>
            <a:r>
              <a:rPr lang="en-US" dirty="0" smtClean="0"/>
              <a:t> have important role in </a:t>
            </a:r>
            <a:endParaRPr lang="en-US" dirty="0"/>
          </a:p>
          <a:p>
            <a:r>
              <a:rPr lang="en-US" dirty="0"/>
              <a:t>1. Messenger RNA (mRNA)</a:t>
            </a:r>
          </a:p>
          <a:p>
            <a:r>
              <a:rPr lang="en-US" dirty="0"/>
              <a:t>2. Transfer RNA (</a:t>
            </a:r>
            <a:r>
              <a:rPr lang="en-US" dirty="0" err="1"/>
              <a:t>tRNA</a:t>
            </a:r>
            <a:r>
              <a:rPr lang="en-US" dirty="0"/>
              <a:t>)</a:t>
            </a:r>
          </a:p>
          <a:p>
            <a:r>
              <a:rPr lang="en-US" dirty="0"/>
              <a:t>3. Ribosomal RNA (</a:t>
            </a:r>
            <a:r>
              <a:rPr lang="en-US" dirty="0" err="1"/>
              <a:t>rRNA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Catabolism of Nucleic acids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Pancreatic </a:t>
            </a:r>
            <a:r>
              <a:rPr lang="en-US" dirty="0"/>
              <a:t>enzymes called nucleases hydrolyze both DNA and RNA to nucleotides in the intestinal </a:t>
            </a:r>
            <a:r>
              <a:rPr lang="en-US" dirty="0" smtClean="0"/>
              <a:t>tract.</a:t>
            </a:r>
          </a:p>
          <a:p>
            <a:r>
              <a:rPr lang="en-US" dirty="0" smtClean="0"/>
              <a:t>Nucleic </a:t>
            </a:r>
            <a:r>
              <a:rPr lang="en-US" dirty="0"/>
              <a:t>acid is also hydrolyzed by </a:t>
            </a:r>
            <a:r>
              <a:rPr lang="en-US" dirty="0" err="1"/>
              <a:t>lysosomal</a:t>
            </a:r>
            <a:r>
              <a:rPr lang="en-US" dirty="0"/>
              <a:t> enzymes inside tissues. Here in the intestine, the nucleotide is also hydrolyzed to nucleoside and phosphoric acid.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nucleoside is absorbed in to blood and transported to peripheral tissues. </a:t>
            </a:r>
            <a:endParaRPr lang="en-US" dirty="0" smtClean="0"/>
          </a:p>
          <a:p>
            <a:r>
              <a:rPr lang="en-US" dirty="0" smtClean="0"/>
              <a:t>Excess </a:t>
            </a:r>
            <a:r>
              <a:rPr lang="en-US" dirty="0"/>
              <a:t>nitrogen bases are further degraded. Finally adenine and guanine are converted to uric acid in our body which is excreted through urine</a:t>
            </a:r>
            <a:r>
              <a:rPr lang="en-US" dirty="0" smtClean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Catabolism of Nucleic acids CONT….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/>
              <a:t> Since uric acid has a precipitation character, excess uric acid in kidney causes kidney stone and in joints causes gout.</a:t>
            </a:r>
          </a:p>
          <a:p>
            <a:pPr>
              <a:buNone/>
            </a:pPr>
            <a:r>
              <a:rPr lang="en-US" dirty="0" smtClean="0"/>
              <a:t>The degradation of </a:t>
            </a:r>
            <a:r>
              <a:rPr lang="en-US" dirty="0" err="1" smtClean="0"/>
              <a:t>pyrimidine</a:t>
            </a:r>
            <a:r>
              <a:rPr lang="en-US" dirty="0" smtClean="0"/>
              <a:t> bases are converted to:</a:t>
            </a:r>
          </a:p>
          <a:p>
            <a:r>
              <a:rPr lang="en-US" dirty="0" smtClean="0"/>
              <a:t>1. Cytosine and </a:t>
            </a:r>
            <a:r>
              <a:rPr lang="en-US" dirty="0" err="1" smtClean="0"/>
              <a:t>uracil</a:t>
            </a:r>
            <a:r>
              <a:rPr lang="en-US" dirty="0" smtClean="0"/>
              <a:t> to ammonia, </a:t>
            </a:r>
            <a:r>
              <a:rPr lang="en-US" dirty="0" err="1" smtClean="0"/>
              <a:t>carbondioxide</a:t>
            </a:r>
            <a:r>
              <a:rPr lang="en-US" dirty="0" smtClean="0"/>
              <a:t> and beta-</a:t>
            </a:r>
            <a:r>
              <a:rPr lang="en-US" dirty="0" err="1" smtClean="0"/>
              <a:t>alanine</a:t>
            </a:r>
            <a:endParaRPr lang="en-US" dirty="0" smtClean="0"/>
          </a:p>
          <a:p>
            <a:r>
              <a:rPr lang="en-US" dirty="0" smtClean="0"/>
              <a:t>2. Thymine to NH3, CO2, H2O and α-methyl β </a:t>
            </a:r>
            <a:r>
              <a:rPr lang="en-US" dirty="0" err="1" smtClean="0"/>
              <a:t>alanine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RNA Synthesis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Transcription </a:t>
            </a:r>
            <a:r>
              <a:rPr lang="en-US" dirty="0"/>
              <a:t>is the process of RNA Synthesis directed by a DNA template. It occurs in three</a:t>
            </a:r>
          </a:p>
          <a:p>
            <a:r>
              <a:rPr lang="en-US" dirty="0"/>
              <a:t>phases:-</a:t>
            </a:r>
          </a:p>
          <a:p>
            <a:r>
              <a:rPr lang="en-US" dirty="0"/>
              <a:t>1. Initiation</a:t>
            </a:r>
          </a:p>
          <a:p>
            <a:r>
              <a:rPr lang="en-US" dirty="0"/>
              <a:t>2. Elongation</a:t>
            </a:r>
          </a:p>
          <a:p>
            <a:r>
              <a:rPr lang="en-US" dirty="0"/>
              <a:t>3. Termination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Translation or protein synthesis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The </a:t>
            </a:r>
            <a:r>
              <a:rPr lang="en-US" dirty="0"/>
              <a:t>genetic information which flows from DNA to mRNA will be translated to the </a:t>
            </a:r>
            <a:r>
              <a:rPr lang="en-US" dirty="0" smtClean="0"/>
              <a:t>universal language </a:t>
            </a:r>
            <a:r>
              <a:rPr lang="en-US" dirty="0"/>
              <a:t>called protein. </a:t>
            </a:r>
            <a:endParaRPr lang="en-US" dirty="0" smtClean="0"/>
          </a:p>
          <a:p>
            <a:r>
              <a:rPr lang="en-US" dirty="0" smtClean="0"/>
              <a:t>During </a:t>
            </a:r>
            <a:r>
              <a:rPr lang="en-US" dirty="0"/>
              <a:t>transcription the base sequence of DNA determines the </a:t>
            </a:r>
            <a:r>
              <a:rPr lang="en-US" dirty="0" smtClean="0"/>
              <a:t>base sequence </a:t>
            </a:r>
            <a:r>
              <a:rPr lang="en-US" dirty="0"/>
              <a:t>of mRNA. </a:t>
            </a:r>
            <a:endParaRPr lang="en-US" dirty="0" smtClean="0"/>
          </a:p>
          <a:p>
            <a:r>
              <a:rPr lang="en-US" dirty="0" smtClean="0"/>
              <a:t>Under </a:t>
            </a:r>
            <a:r>
              <a:rPr lang="en-US" dirty="0"/>
              <a:t>translation the base sequence of mRNA determines the amino </a:t>
            </a:r>
            <a:r>
              <a:rPr lang="en-US" dirty="0" smtClean="0"/>
              <a:t>acid sequences </a:t>
            </a:r>
            <a:r>
              <a:rPr lang="en-US" dirty="0"/>
              <a:t>in protein.</a:t>
            </a:r>
          </a:p>
          <a:p>
            <a:r>
              <a:rPr lang="en-US" dirty="0"/>
              <a:t>Translation has 4 – stages:</a:t>
            </a:r>
          </a:p>
          <a:p>
            <a:r>
              <a:rPr lang="en-US" dirty="0"/>
              <a:t>1. Activation</a:t>
            </a:r>
          </a:p>
          <a:p>
            <a:r>
              <a:rPr lang="en-US" dirty="0"/>
              <a:t>2. Initiation</a:t>
            </a:r>
          </a:p>
          <a:p>
            <a:r>
              <a:rPr lang="en-US" dirty="0"/>
              <a:t>3. Elongation</a:t>
            </a:r>
          </a:p>
          <a:p>
            <a:r>
              <a:rPr lang="en-US" dirty="0"/>
              <a:t>4. Termination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Clinical Significance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Deoxyribonucleic </a:t>
            </a:r>
            <a:r>
              <a:rPr lang="en-US" dirty="0"/>
              <a:t>acid (DNA) probes are coming into play in diagnosis of genetic disorders, infectious diseases, and </a:t>
            </a:r>
            <a:r>
              <a:rPr lang="en-US" dirty="0" smtClean="0"/>
              <a:t>cancers.</a:t>
            </a:r>
          </a:p>
          <a:p>
            <a:r>
              <a:rPr lang="en-US" dirty="0" smtClean="0"/>
              <a:t>Genetically </a:t>
            </a:r>
            <a:r>
              <a:rPr lang="en-US" dirty="0"/>
              <a:t>engineered strains of bacteria containing recombinant DNA are producing valuable proteins such as insulin and growth hormone. </a:t>
            </a:r>
          </a:p>
          <a:p>
            <a:r>
              <a:rPr lang="en-US" dirty="0"/>
              <a:t>Identifying and sequencing genes responsible for causing diseases, and genetic cloning technology has led to remarkable progress in understanding the relationships of genes and proteins.</a:t>
            </a:r>
          </a:p>
          <a:p>
            <a:r>
              <a:rPr lang="en-US" dirty="0"/>
              <a:t> The molecular bases of several diseases, such as sickle cell anemia, and numerous inborn errors of metabolism are now known. </a:t>
            </a:r>
          </a:p>
          <a:p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i="1" dirty="0" smtClean="0"/>
              <a:t>Many thanks</a:t>
            </a:r>
            <a:endParaRPr lang="en-US" i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 END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847</Words>
  <Application>Microsoft Office PowerPoint</Application>
  <PresentationFormat>On-screen Show (4:3)</PresentationFormat>
  <Paragraphs>98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TOPIC FOUR MOLECULAR GENETICS / MODERN BIOCHEMISTRY. </vt:lpstr>
      <vt:lpstr>INTRODUCTION</vt:lpstr>
      <vt:lpstr>NUCLEIC ACIDs</vt:lpstr>
      <vt:lpstr>  THE STRUCTURE OF DNA </vt:lpstr>
      <vt:lpstr>Slide 5</vt:lpstr>
      <vt:lpstr>The Structure of RNA</vt:lpstr>
      <vt:lpstr>STRUCTURE OF DNA &amp; RNA</vt:lpstr>
      <vt:lpstr>Slide 8</vt:lpstr>
      <vt:lpstr>Differences between RNA and DNA</vt:lpstr>
      <vt:lpstr>RNAs protein synthesis</vt:lpstr>
      <vt:lpstr>Catabolism of Nucleic acids</vt:lpstr>
      <vt:lpstr>Catabolism of Nucleic acids CONT….</vt:lpstr>
      <vt:lpstr>RNA Synthesis </vt:lpstr>
      <vt:lpstr>Translation or protein synthesis </vt:lpstr>
      <vt:lpstr>Clinical Significance</vt:lpstr>
      <vt:lpstr>Many thanks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FOUR MOLECULAR GENETICS / MODERN BIOCHEMISTRY.</dc:title>
  <dc:creator>user</dc:creator>
  <cp:lastModifiedBy>user</cp:lastModifiedBy>
  <cp:revision>9</cp:revision>
  <dcterms:created xsi:type="dcterms:W3CDTF">2020-12-01T12:18:14Z</dcterms:created>
  <dcterms:modified xsi:type="dcterms:W3CDTF">2020-12-01T13:16:01Z</dcterms:modified>
</cp:coreProperties>
</file>