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3"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10" d="100"/>
          <a:sy n="110" d="100"/>
        </p:scale>
        <p:origin x="-1644"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FBD18CE-7E15-4F90-B063-1FA4C6BFF57F}" type="datetimeFigureOut">
              <a:rPr lang="en-US" smtClean="0"/>
              <a:pPr/>
              <a:t>12/2/2020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93CD17-D34A-4412-BBFA-447977F468D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BD18CE-7E15-4F90-B063-1FA4C6BFF57F}" type="datetimeFigureOut">
              <a:rPr lang="en-US" smtClean="0"/>
              <a:pPr/>
              <a:t>12/2/2020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93CD17-D34A-4412-BBFA-447977F468D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BD18CE-7E15-4F90-B063-1FA4C6BFF57F}" type="datetimeFigureOut">
              <a:rPr lang="en-US" smtClean="0"/>
              <a:pPr/>
              <a:t>12/2/2020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93CD17-D34A-4412-BBFA-447977F468D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FBD18CE-7E15-4F90-B063-1FA4C6BFF57F}" type="datetimeFigureOut">
              <a:rPr lang="en-US" smtClean="0"/>
              <a:pPr/>
              <a:t>12/2/2020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93CD17-D34A-4412-BBFA-447977F468D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FBD18CE-7E15-4F90-B063-1FA4C6BFF57F}" type="datetimeFigureOut">
              <a:rPr lang="en-US" smtClean="0"/>
              <a:pPr/>
              <a:t>12/2/2020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93CD17-D34A-4412-BBFA-447977F468D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FBD18CE-7E15-4F90-B063-1FA4C6BFF57F}" type="datetimeFigureOut">
              <a:rPr lang="en-US" smtClean="0"/>
              <a:pPr/>
              <a:t>12/2/2020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93CD17-D34A-4412-BBFA-447977F468D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BD18CE-7E15-4F90-B063-1FA4C6BFF57F}" type="datetimeFigureOut">
              <a:rPr lang="en-US" smtClean="0"/>
              <a:pPr/>
              <a:t>12/2/2020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93CD17-D34A-4412-BBFA-447977F468D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BD18CE-7E15-4F90-B063-1FA4C6BFF57F}" type="datetimeFigureOut">
              <a:rPr lang="en-US" smtClean="0"/>
              <a:pPr/>
              <a:t>12/2/2020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93CD17-D34A-4412-BBFA-447977F468D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BD18CE-7E15-4F90-B063-1FA4C6BFF57F}" type="datetimeFigureOut">
              <a:rPr lang="en-US" smtClean="0"/>
              <a:pPr/>
              <a:t>12/2/2020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93CD17-D34A-4412-BBFA-447977F468D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BD18CE-7E15-4F90-B063-1FA4C6BFF57F}" type="datetimeFigureOut">
              <a:rPr lang="en-US" smtClean="0"/>
              <a:pPr/>
              <a:t>12/2/2020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93CD17-D34A-4412-BBFA-447977F468D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BD18CE-7E15-4F90-B063-1FA4C6BFF57F}" type="datetimeFigureOut">
              <a:rPr lang="en-US" smtClean="0"/>
              <a:pPr/>
              <a:t>12/2/2020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93CD17-D34A-4412-BBFA-447977F468D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BD18CE-7E15-4F90-B063-1FA4C6BFF57F}" type="datetimeFigureOut">
              <a:rPr lang="en-US" smtClean="0"/>
              <a:pPr/>
              <a:t>12/2/2020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93CD17-D34A-4412-BBFA-447977F468D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TOPIC FIVE</a:t>
            </a:r>
            <a:r>
              <a:rPr lang="en-US" dirty="0"/>
              <a:t/>
            </a:r>
            <a:br>
              <a:rPr lang="en-US" dirty="0"/>
            </a:br>
            <a:r>
              <a:rPr lang="en-US" b="1" dirty="0"/>
              <a:t>ENZYMES</a:t>
            </a:r>
            <a:r>
              <a:rPr lang="en-US" dirty="0"/>
              <a:t/>
            </a:r>
            <a:br>
              <a:rPr lang="en-US" dirty="0"/>
            </a:br>
            <a:endParaRPr lang="en-US" dirty="0"/>
          </a:p>
        </p:txBody>
      </p:sp>
      <p:sp>
        <p:nvSpPr>
          <p:cNvPr id="3" name="Subtitle 2"/>
          <p:cNvSpPr>
            <a:spLocks noGrp="1"/>
          </p:cNvSpPr>
          <p:nvPr>
            <p:ph type="subTitle" idx="1"/>
          </p:nvPr>
        </p:nvSpPr>
        <p:spPr/>
        <p:txBody>
          <a:bodyPr/>
          <a:lstStyle/>
          <a:p>
            <a:r>
              <a:rPr lang="en-US" dirty="0" smtClean="0"/>
              <a:t>LECTURE 7</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Learning Objectives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70000" lnSpcReduction="20000"/>
          </a:bodyPr>
          <a:lstStyle/>
          <a:p>
            <a:pPr marL="514350" lvl="0" indent="-514350">
              <a:buFont typeface="+mj-lt"/>
              <a:buAutoNum type="arabicParenR"/>
            </a:pPr>
            <a:r>
              <a:rPr lang="en-US" dirty="0" smtClean="0"/>
              <a:t>Define </a:t>
            </a:r>
            <a:r>
              <a:rPr lang="en-US" dirty="0"/>
              <a:t>Enzymes in chemical terms</a:t>
            </a:r>
          </a:p>
          <a:p>
            <a:pPr marL="514350" lvl="0" indent="-514350">
              <a:buFont typeface="+mj-lt"/>
              <a:buAutoNum type="arabicParenR"/>
            </a:pPr>
            <a:r>
              <a:rPr lang="en-US" dirty="0"/>
              <a:t>Classify Enzymes into two  major groups  according to the Nature of Enzymes</a:t>
            </a:r>
          </a:p>
          <a:p>
            <a:pPr marL="514350" lvl="0" indent="-514350">
              <a:buFont typeface="+mj-lt"/>
              <a:buAutoNum type="arabicParenR"/>
            </a:pPr>
            <a:r>
              <a:rPr lang="en-US" dirty="0"/>
              <a:t>List the importance of Enzymes in biochemical processes .</a:t>
            </a:r>
          </a:p>
          <a:p>
            <a:pPr marL="514350" lvl="0" indent="-514350">
              <a:buFont typeface="+mj-lt"/>
              <a:buAutoNum type="arabicParenR"/>
            </a:pPr>
            <a:r>
              <a:rPr lang="en-US" dirty="0"/>
              <a:t>Explain Properties of Enzyme and Regulation of enzyme activity</a:t>
            </a:r>
          </a:p>
          <a:p>
            <a:pPr marL="514350" lvl="0" indent="-514350">
              <a:buFont typeface="+mj-lt"/>
              <a:buAutoNum type="arabicParenR"/>
            </a:pPr>
            <a:r>
              <a:rPr lang="en-US" dirty="0"/>
              <a:t>Explain mechanism of action of enzymes(Hypothesis of action of enzymes on substrate)</a:t>
            </a:r>
          </a:p>
          <a:p>
            <a:pPr marL="514350" lvl="0" indent="-514350">
              <a:buFont typeface="+mj-lt"/>
              <a:buAutoNum type="arabicParenR"/>
            </a:pPr>
            <a:r>
              <a:rPr lang="en-US" dirty="0"/>
              <a:t>Explain biological importance/functions of Enzymes </a:t>
            </a:r>
          </a:p>
          <a:p>
            <a:pPr marL="514350" lvl="0" indent="-514350">
              <a:buFont typeface="+mj-lt"/>
              <a:buAutoNum type="arabicParenR"/>
            </a:pPr>
            <a:r>
              <a:rPr lang="en-US" dirty="0"/>
              <a:t>Explain the various Factors Affecting Enzyme Activity</a:t>
            </a:r>
          </a:p>
          <a:p>
            <a:pPr marL="514350" lvl="0" indent="-514350">
              <a:buFont typeface="+mj-lt"/>
              <a:buAutoNum type="arabicParenR"/>
            </a:pPr>
            <a:r>
              <a:rPr lang="en-US" dirty="0"/>
              <a:t>Describe the two major types of enzyme inhibition and their roles in enzyme activity </a:t>
            </a:r>
          </a:p>
          <a:p>
            <a:pPr marL="514350" lvl="0" indent="-514350">
              <a:buFont typeface="+mj-lt"/>
              <a:buAutoNum type="arabicParenR"/>
            </a:pPr>
            <a:r>
              <a:rPr lang="en-US" dirty="0"/>
              <a:t>Describe diseases/disorder associated with Enzymes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Introduction</a:t>
            </a:r>
            <a:r>
              <a:rPr lang="en-US" dirty="0" smtClean="0"/>
              <a:t> </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Enzymes </a:t>
            </a:r>
            <a:r>
              <a:rPr lang="en-US" dirty="0"/>
              <a:t>are protein catalysts for chemical reaction in biological systems. They increase the rate of chemical reactions taking place within living cells with out changing themselves.</a:t>
            </a:r>
          </a:p>
          <a:p>
            <a:r>
              <a:rPr lang="en-US" dirty="0"/>
              <a:t>Enzymes are usually proteins (some RNA)</a:t>
            </a:r>
          </a:p>
          <a:p>
            <a:r>
              <a:rPr lang="en-US" dirty="0"/>
              <a:t>• In general, names end with suffix “</a:t>
            </a:r>
            <a:r>
              <a:rPr lang="en-US" dirty="0" err="1"/>
              <a:t>ase</a:t>
            </a:r>
            <a:r>
              <a:rPr lang="en-US" dirty="0"/>
              <a:t>”</a:t>
            </a:r>
          </a:p>
          <a:p>
            <a:r>
              <a:rPr lang="en-US" dirty="0"/>
              <a:t>• Enzymes are catalysts</a:t>
            </a:r>
          </a:p>
          <a:p>
            <a:r>
              <a:rPr lang="en-US" dirty="0"/>
              <a:t>– increase the rate of a reaction</a:t>
            </a:r>
          </a:p>
          <a:p>
            <a:r>
              <a:rPr lang="en-US" dirty="0"/>
              <a:t>– not consumed by the reaction</a:t>
            </a:r>
          </a:p>
          <a:p>
            <a:r>
              <a:rPr lang="en-US" dirty="0"/>
              <a:t>– act repeatedly to increase the rate of reactions</a:t>
            </a:r>
          </a:p>
          <a:p>
            <a:r>
              <a:rPr lang="en-US" dirty="0"/>
              <a:t>– Enzymes are often very “specific” – promote only 1 particular reaction</a:t>
            </a:r>
          </a:p>
          <a:p>
            <a:r>
              <a:rPr lang="en-US" dirty="0"/>
              <a:t>– Reactants also called “substrates” of enzyme</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Enzymes?</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a:buNone/>
            </a:pPr>
            <a:r>
              <a:rPr lang="en-US" dirty="0" smtClean="0"/>
              <a:t>• </a:t>
            </a:r>
            <a:r>
              <a:rPr lang="en-US" dirty="0"/>
              <a:t>Accelerate and control the rates of vitally important biochemical reactions</a:t>
            </a:r>
          </a:p>
          <a:p>
            <a:pPr>
              <a:buNone/>
            </a:pPr>
            <a:r>
              <a:rPr lang="en-US" dirty="0"/>
              <a:t>• Greater reaction specificity</a:t>
            </a:r>
          </a:p>
          <a:p>
            <a:pPr>
              <a:buNone/>
            </a:pPr>
            <a:r>
              <a:rPr lang="en-US" dirty="0"/>
              <a:t>• Milder reaction conditions</a:t>
            </a:r>
          </a:p>
          <a:p>
            <a:pPr>
              <a:buNone/>
            </a:pPr>
            <a:r>
              <a:rPr lang="en-US" dirty="0"/>
              <a:t>• Capacity for regulation</a:t>
            </a:r>
          </a:p>
          <a:p>
            <a:pPr>
              <a:buNone/>
            </a:pPr>
            <a:r>
              <a:rPr lang="en-US" dirty="0"/>
              <a:t>• Enzymes are the agents of metabolic function.</a:t>
            </a:r>
          </a:p>
          <a:p>
            <a:pPr>
              <a:buNone/>
            </a:pPr>
            <a:r>
              <a:rPr lang="en-US" dirty="0"/>
              <a:t>• Metabolites have many potential pathways</a:t>
            </a:r>
          </a:p>
          <a:p>
            <a:pPr>
              <a:buNone/>
            </a:pPr>
            <a:r>
              <a:rPr lang="en-US" dirty="0"/>
              <a:t>• Enzymes make the desired one most favorable</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Nature of Enzymes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Most </a:t>
            </a:r>
            <a:r>
              <a:rPr lang="en-US" dirty="0"/>
              <a:t>enzymes are protein in nature. Depending on the presence and absence of a </a:t>
            </a:r>
            <a:r>
              <a:rPr lang="en-US" dirty="0" err="1"/>
              <a:t>nonprotein</a:t>
            </a:r>
            <a:r>
              <a:rPr lang="en-US" dirty="0"/>
              <a:t> component with the enzyme can exist as, simple enzyme or </a:t>
            </a:r>
            <a:r>
              <a:rPr lang="en-US" dirty="0" err="1"/>
              <a:t>holoenzyme</a:t>
            </a:r>
            <a:endParaRPr lang="en-US" dirty="0"/>
          </a:p>
          <a:p>
            <a:r>
              <a:rPr lang="en-US" b="1" dirty="0"/>
              <a:t>1. Simple enzyme: </a:t>
            </a:r>
            <a:r>
              <a:rPr lang="en-US" dirty="0"/>
              <a:t>It is made up of only protein molecules not bound to any </a:t>
            </a:r>
            <a:r>
              <a:rPr lang="en-US" dirty="0" err="1"/>
              <a:t>nonproteins</a:t>
            </a:r>
            <a:r>
              <a:rPr lang="en-US" dirty="0"/>
              <a:t>.</a:t>
            </a:r>
          </a:p>
          <a:p>
            <a:pPr lvl="1"/>
            <a:r>
              <a:rPr lang="en-US" dirty="0"/>
              <a:t>Example: Pancreatic </a:t>
            </a:r>
            <a:r>
              <a:rPr lang="en-US" dirty="0" err="1"/>
              <a:t>Ribonuclease</a:t>
            </a:r>
            <a:r>
              <a:rPr lang="en-US" dirty="0"/>
              <a:t>.</a:t>
            </a:r>
          </a:p>
          <a:p>
            <a:r>
              <a:rPr lang="en-US" b="1" dirty="0"/>
              <a:t>2. </a:t>
            </a:r>
            <a:r>
              <a:rPr lang="en-US" b="1" dirty="0" err="1"/>
              <a:t>Holo</a:t>
            </a:r>
            <a:r>
              <a:rPr lang="en-US" b="1" dirty="0"/>
              <a:t> enzyme </a:t>
            </a:r>
            <a:r>
              <a:rPr lang="en-US" dirty="0"/>
              <a:t>is made up o protein groups and non-protein component.</a:t>
            </a:r>
          </a:p>
          <a:p>
            <a:pPr lvl="1"/>
            <a:r>
              <a:rPr lang="en-US" dirty="0" smtClean="0"/>
              <a:t>The </a:t>
            </a:r>
            <a:r>
              <a:rPr lang="en-US" dirty="0"/>
              <a:t>protein component of this </a:t>
            </a:r>
            <a:r>
              <a:rPr lang="en-US" dirty="0" err="1"/>
              <a:t>holo</a:t>
            </a:r>
            <a:r>
              <a:rPr lang="en-US" dirty="0"/>
              <a:t> enzymes is called </a:t>
            </a:r>
            <a:r>
              <a:rPr lang="en-US" b="1" dirty="0" err="1"/>
              <a:t>apoenzyme</a:t>
            </a:r>
            <a:endParaRPr lang="en-US" dirty="0"/>
          </a:p>
          <a:p>
            <a:pPr lvl="1"/>
            <a:r>
              <a:rPr lang="en-US" dirty="0" smtClean="0"/>
              <a:t>The </a:t>
            </a:r>
            <a:r>
              <a:rPr lang="en-US" dirty="0"/>
              <a:t>non-protein component of the </a:t>
            </a:r>
            <a:r>
              <a:rPr lang="en-US" dirty="0" err="1"/>
              <a:t>holo</a:t>
            </a:r>
            <a:r>
              <a:rPr lang="en-US" dirty="0"/>
              <a:t> enzyme is called a </a:t>
            </a:r>
            <a:r>
              <a:rPr lang="en-US" b="1" dirty="0"/>
              <a:t>cofactor</a:t>
            </a:r>
            <a:r>
              <a:rPr lang="en-US" dirty="0"/>
              <a:t>. I</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Nature of </a:t>
            </a:r>
            <a:r>
              <a:rPr lang="en-US" b="1" dirty="0" err="1" smtClean="0"/>
              <a:t>Enzymescoenzyme</a:t>
            </a:r>
            <a:endParaRPr lang="en-US" dirty="0"/>
          </a:p>
        </p:txBody>
      </p:sp>
      <p:sp>
        <p:nvSpPr>
          <p:cNvPr id="3" name="Content Placeholder 2"/>
          <p:cNvSpPr>
            <a:spLocks noGrp="1"/>
          </p:cNvSpPr>
          <p:nvPr>
            <p:ph idx="1"/>
          </p:nvPr>
        </p:nvSpPr>
        <p:spPr/>
        <p:txBody>
          <a:bodyPr/>
          <a:lstStyle/>
          <a:p>
            <a:r>
              <a:rPr lang="en-US" dirty="0"/>
              <a:t>If this cofactor is an organic compound it is called a </a:t>
            </a:r>
            <a:r>
              <a:rPr lang="en-US" b="1" dirty="0"/>
              <a:t>coenzyme </a:t>
            </a:r>
            <a:r>
              <a:rPr lang="en-US" dirty="0"/>
              <a:t>and if it is an inorganic groups it is called </a:t>
            </a:r>
            <a:r>
              <a:rPr lang="en-US" b="1" dirty="0"/>
              <a:t>activator</a:t>
            </a:r>
            <a:r>
              <a:rPr lang="en-US" dirty="0"/>
              <a:t>. (Fe 2+, </a:t>
            </a:r>
            <a:r>
              <a:rPr lang="en-US" dirty="0" err="1"/>
              <a:t>Mn</a:t>
            </a:r>
            <a:r>
              <a:rPr lang="en-US" dirty="0"/>
              <a:t> 2+, or Zn 2+ ions).</a:t>
            </a:r>
          </a:p>
          <a:p>
            <a:r>
              <a:rPr lang="en-US" dirty="0"/>
              <a:t>If the cofactor is bound so tightly to the </a:t>
            </a:r>
            <a:r>
              <a:rPr lang="en-US" dirty="0" err="1"/>
              <a:t>apoenzyme</a:t>
            </a:r>
            <a:r>
              <a:rPr lang="en-US" dirty="0"/>
              <a:t> and is difficult to remove without damaging the enzyme it is sometimes called a </a:t>
            </a:r>
            <a:r>
              <a:rPr lang="en-US" b="1" dirty="0"/>
              <a:t>prosthetic group</a:t>
            </a:r>
            <a:endParaRPr lang="en-US" dirty="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Coenzymes</a:t>
            </a:r>
            <a:endParaRPr lang="en-US" dirty="0"/>
          </a:p>
        </p:txBody>
      </p:sp>
      <p:sp>
        <p:nvSpPr>
          <p:cNvPr id="3" name="Content Placeholder 2"/>
          <p:cNvSpPr>
            <a:spLocks noGrp="1"/>
          </p:cNvSpPr>
          <p:nvPr>
            <p:ph idx="1"/>
          </p:nvPr>
        </p:nvSpPr>
        <p:spPr/>
        <p:txBody>
          <a:bodyPr>
            <a:normAutofit fontScale="62500" lnSpcReduction="20000"/>
          </a:bodyPr>
          <a:lstStyle/>
          <a:p>
            <a:r>
              <a:rPr lang="en-US" b="1" dirty="0"/>
              <a:t>Coenzymes</a:t>
            </a:r>
            <a:r>
              <a:rPr lang="en-US" dirty="0"/>
              <a:t> are derivatives of vitamins without which the enzyme cannot exhibit any reaction. One molecule of coenzyme is able to convert a large number of substrate  molecules with the help of enzyme.</a:t>
            </a:r>
          </a:p>
          <a:p>
            <a:pPr lvl="1"/>
            <a:r>
              <a:rPr lang="en-US" dirty="0" smtClean="0"/>
              <a:t> </a:t>
            </a:r>
            <a:r>
              <a:rPr lang="en-US" dirty="0"/>
              <a:t>Coenzyme accepts a particular group removed from the substrate or donates a particular group to the substrate</a:t>
            </a:r>
          </a:p>
          <a:p>
            <a:pPr lvl="1"/>
            <a:r>
              <a:rPr lang="en-US" dirty="0" smtClean="0"/>
              <a:t>Coenzymes </a:t>
            </a:r>
            <a:r>
              <a:rPr lang="en-US" dirty="0"/>
              <a:t>are called co substrate because the changes that take place in substrates are complimentary to the changes in coenzymes.</a:t>
            </a:r>
          </a:p>
          <a:p>
            <a:pPr lvl="1"/>
            <a:r>
              <a:rPr lang="en-US" dirty="0" smtClean="0"/>
              <a:t>The </a:t>
            </a:r>
            <a:r>
              <a:rPr lang="en-US" dirty="0"/>
              <a:t>coenzyme may participate in forming an intermediate enzyme-substrate complex</a:t>
            </a:r>
          </a:p>
          <a:p>
            <a:r>
              <a:rPr lang="en-US" dirty="0"/>
              <a:t>Example: </a:t>
            </a:r>
            <a:r>
              <a:rPr lang="en-US" b="1" dirty="0"/>
              <a:t>NAD, FAD, Coenzyme A</a:t>
            </a:r>
            <a:endParaRPr lang="en-US" dirty="0"/>
          </a:p>
          <a:p>
            <a:r>
              <a:rPr lang="en-US" b="1" dirty="0"/>
              <a:t>Metal ions in </a:t>
            </a:r>
            <a:r>
              <a:rPr lang="en-US" b="1" dirty="0" smtClean="0"/>
              <a:t>enzymes</a:t>
            </a:r>
          </a:p>
          <a:p>
            <a:endParaRPr lang="en-US" dirty="0"/>
          </a:p>
          <a:p>
            <a:pPr lvl="0"/>
            <a:r>
              <a:rPr lang="en-US" dirty="0"/>
              <a:t>Many enzymes require metal ions like </a:t>
            </a:r>
            <a:r>
              <a:rPr lang="en-US" b="1" dirty="0"/>
              <a:t>ca2+, K+, Mg2+, Fe2+, Cu2+, Zn2+, Mn2+ and Co2+ </a:t>
            </a:r>
            <a:r>
              <a:rPr lang="en-US" dirty="0"/>
              <a:t>for their activity.</a:t>
            </a:r>
          </a:p>
          <a:p>
            <a:pPr lvl="0"/>
            <a:r>
              <a:rPr lang="en-US" dirty="0"/>
              <a:t>Metal-activated enzymes-form only loose and easily dissociable complexes with the metal and can easily release the metal without </a:t>
            </a:r>
            <a:r>
              <a:rPr lang="en-US" dirty="0" err="1"/>
              <a:t>denaturation</a:t>
            </a:r>
            <a:r>
              <a:rPr lang="en-US"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Properties of </a:t>
            </a:r>
            <a:r>
              <a:rPr lang="en-US" b="1" dirty="0" smtClean="0"/>
              <a:t>Enzyme</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solidFill>
                  <a:srgbClr val="FF0000"/>
                </a:solidFill>
              </a:rPr>
              <a:t>1. Active </a:t>
            </a:r>
            <a:r>
              <a:rPr lang="en-US" b="1" dirty="0">
                <a:solidFill>
                  <a:srgbClr val="FF0000"/>
                </a:solidFill>
              </a:rPr>
              <a:t>site</a:t>
            </a:r>
            <a:endParaRPr lang="en-US" dirty="0">
              <a:solidFill>
                <a:srgbClr val="FF0000"/>
              </a:solidFill>
            </a:endParaRPr>
          </a:p>
          <a:p>
            <a:r>
              <a:rPr lang="en-US" dirty="0"/>
              <a:t>Enzyme molecules contain a special pocket or cleft called the active site. The active site contains amino acid chains that create a three-dimensional surface complementary to the substrate</a:t>
            </a:r>
            <a:r>
              <a:rPr lang="en-US" dirty="0" smtClean="0"/>
              <a:t>.</a:t>
            </a:r>
            <a:r>
              <a:rPr lang="en-US" b="1" dirty="0"/>
              <a:t> </a:t>
            </a:r>
            <a:endParaRPr lang="en-US" b="1" dirty="0" smtClean="0"/>
          </a:p>
          <a:p>
            <a:pPr>
              <a:buNone/>
            </a:pPr>
            <a:r>
              <a:rPr lang="en-US" b="1" dirty="0" smtClean="0"/>
              <a:t>2. Catalytic </a:t>
            </a:r>
            <a:r>
              <a:rPr lang="en-US" b="1" dirty="0"/>
              <a:t>efficiency</a:t>
            </a:r>
            <a:r>
              <a:rPr lang="en-US" dirty="0"/>
              <a:t>/ </a:t>
            </a:r>
            <a:r>
              <a:rPr lang="en-US" b="1" dirty="0"/>
              <a:t>Enzyme turnover number</a:t>
            </a:r>
            <a:endParaRPr lang="en-US" dirty="0"/>
          </a:p>
          <a:p>
            <a:pPr lvl="0"/>
            <a:r>
              <a:rPr lang="en-US" dirty="0"/>
              <a:t>Typically each enzyme molecule is capable of transforming 100 to 1000 substrate molecule in to product each second.</a:t>
            </a:r>
          </a:p>
          <a:p>
            <a:pPr lvl="0"/>
            <a:r>
              <a:rPr lang="en-US" dirty="0"/>
              <a:t>Enzyme turn over number refers to the amount of substrate converted per unit time (carbonic </a:t>
            </a:r>
            <a:r>
              <a:rPr lang="en-US" dirty="0" err="1"/>
              <a:t>anhydrase</a:t>
            </a:r>
            <a:r>
              <a:rPr lang="en-US" dirty="0"/>
              <a:t> is the fastest enzyme).</a:t>
            </a:r>
          </a:p>
          <a:p>
            <a:pPr lvl="0"/>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Properties of Enzyme</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 3.</a:t>
            </a:r>
            <a:r>
              <a:rPr lang="en-US" b="1" dirty="0" smtClean="0"/>
              <a:t>Specificity</a:t>
            </a:r>
            <a:endParaRPr lang="en-US" dirty="0" smtClean="0"/>
          </a:p>
          <a:p>
            <a:r>
              <a:rPr lang="en-US" dirty="0" smtClean="0"/>
              <a:t>Enzymes </a:t>
            </a:r>
            <a:r>
              <a:rPr lang="en-US" dirty="0"/>
              <a:t>are specific for their substrate. Specificity of enzymes are divided into:</a:t>
            </a:r>
          </a:p>
          <a:p>
            <a:r>
              <a:rPr lang="en-US" dirty="0"/>
              <a:t> a. Absolute specificity:- this means one enzyme catalyzes or acts on only </a:t>
            </a:r>
            <a:r>
              <a:rPr lang="en-US" dirty="0" err="1"/>
              <a:t>onesubstrate</a:t>
            </a:r>
            <a:r>
              <a:rPr lang="en-US" dirty="0"/>
              <a:t>. For example: </a:t>
            </a:r>
            <a:r>
              <a:rPr lang="en-US" dirty="0" err="1"/>
              <a:t>Urease</a:t>
            </a:r>
            <a:r>
              <a:rPr lang="en-US" dirty="0"/>
              <a:t> catalyzes hydrolysis of urea but not </a:t>
            </a:r>
            <a:r>
              <a:rPr lang="en-US" dirty="0" err="1"/>
              <a:t>thiourea</a:t>
            </a:r>
            <a:r>
              <a:rPr lang="en-US" dirty="0"/>
              <a:t>.</a:t>
            </a:r>
          </a:p>
          <a:p>
            <a:r>
              <a:rPr lang="en-US" dirty="0"/>
              <a:t>b. Stereo specificity- some enzymes are specific to only one isomer even if the compound is one type of molecule:</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Properties of Enzyme</a:t>
            </a:r>
            <a:endParaRPr lang="en-US" dirty="0"/>
          </a:p>
        </p:txBody>
      </p:sp>
      <p:sp>
        <p:nvSpPr>
          <p:cNvPr id="3" name="Content Placeholder 2"/>
          <p:cNvSpPr>
            <a:spLocks noGrp="1"/>
          </p:cNvSpPr>
          <p:nvPr>
            <p:ph idx="1"/>
          </p:nvPr>
        </p:nvSpPr>
        <p:spPr/>
        <p:txBody>
          <a:bodyPr/>
          <a:lstStyle/>
          <a:p>
            <a:pPr>
              <a:buNone/>
            </a:pPr>
            <a:r>
              <a:rPr lang="en-US" b="1" dirty="0" smtClean="0"/>
              <a:t>4. Regulation</a:t>
            </a:r>
            <a:endParaRPr lang="en-US" dirty="0"/>
          </a:p>
          <a:p>
            <a:r>
              <a:rPr lang="en-US" dirty="0"/>
              <a:t>Enzyme activity can be regulated- that is, enzyme can be, activated or inhibited so that the rate of product formation responds to the needs of the cell.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Classification of </a:t>
            </a:r>
            <a:r>
              <a:rPr lang="en-US" b="1" dirty="0" smtClean="0"/>
              <a:t>Enzymes</a:t>
            </a:r>
            <a:endParaRPr lang="en-US" dirty="0"/>
          </a:p>
        </p:txBody>
      </p:sp>
      <p:sp>
        <p:nvSpPr>
          <p:cNvPr id="3" name="Content Placeholder 2"/>
          <p:cNvSpPr>
            <a:spLocks noGrp="1"/>
          </p:cNvSpPr>
          <p:nvPr>
            <p:ph idx="1"/>
          </p:nvPr>
        </p:nvSpPr>
        <p:spPr/>
        <p:txBody>
          <a:bodyPr>
            <a:normAutofit fontScale="92500"/>
          </a:bodyPr>
          <a:lstStyle/>
          <a:p>
            <a:pPr>
              <a:buNone/>
            </a:pPr>
            <a:r>
              <a:rPr lang="en-US" dirty="0"/>
              <a:t>Enzymes are classified on the basis of the reactions they catalyze- Each enzyme is assigned a four-digit classification number and a systematic name, which identifies the reaction catalyzed. </a:t>
            </a:r>
            <a:endParaRPr lang="en-US" dirty="0" smtClean="0"/>
          </a:p>
          <a:p>
            <a:r>
              <a:rPr lang="en-US" b="1" dirty="0"/>
              <a:t>Class I. </a:t>
            </a:r>
            <a:r>
              <a:rPr lang="en-US" b="1" dirty="0" err="1"/>
              <a:t>Oxidoreducatases</a:t>
            </a:r>
            <a:r>
              <a:rPr lang="en-US" b="1" dirty="0"/>
              <a:t>- </a:t>
            </a:r>
            <a:r>
              <a:rPr lang="en-US" dirty="0"/>
              <a:t>Enzymes catalyzing oxidation reduction reactions.</a:t>
            </a:r>
          </a:p>
          <a:p>
            <a:r>
              <a:rPr lang="en-US" b="1" dirty="0"/>
              <a:t>Class II</a:t>
            </a:r>
            <a:r>
              <a:rPr lang="en-US" dirty="0"/>
              <a:t>. </a:t>
            </a:r>
            <a:r>
              <a:rPr lang="en-US" b="1" dirty="0" err="1"/>
              <a:t>Transferases</a:t>
            </a:r>
            <a:r>
              <a:rPr lang="en-US" b="1" dirty="0"/>
              <a:t>: </a:t>
            </a:r>
            <a:r>
              <a:rPr lang="en-US" dirty="0"/>
              <a:t>Enzymes catalyzing a transfer of a group other than hydrogen (methyl, </a:t>
            </a:r>
            <a:r>
              <a:rPr lang="en-US" dirty="0" err="1"/>
              <a:t>acyl</a:t>
            </a:r>
            <a:r>
              <a:rPr lang="en-US" dirty="0"/>
              <a:t>, amino or</a:t>
            </a:r>
            <a:r>
              <a:rPr lang="en-US" b="1" dirty="0"/>
              <a:t> </a:t>
            </a:r>
            <a:r>
              <a:rPr lang="en-US" dirty="0"/>
              <a:t>phosphate groups)</a:t>
            </a:r>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Classification of Enzymes</a:t>
            </a:r>
            <a:endParaRPr lang="en-US" dirty="0"/>
          </a:p>
        </p:txBody>
      </p:sp>
      <p:sp>
        <p:nvSpPr>
          <p:cNvPr id="3" name="Content Placeholder 2"/>
          <p:cNvSpPr>
            <a:spLocks noGrp="1"/>
          </p:cNvSpPr>
          <p:nvPr>
            <p:ph idx="1"/>
          </p:nvPr>
        </p:nvSpPr>
        <p:spPr/>
        <p:txBody>
          <a:bodyPr>
            <a:normAutofit fontScale="70000" lnSpcReduction="20000"/>
          </a:bodyPr>
          <a:lstStyle/>
          <a:p>
            <a:r>
              <a:rPr lang="en-US" b="1" dirty="0"/>
              <a:t>Class III. </a:t>
            </a:r>
            <a:r>
              <a:rPr lang="en-US" b="1" dirty="0" err="1"/>
              <a:t>Hydrolases</a:t>
            </a:r>
            <a:r>
              <a:rPr lang="en-US" dirty="0"/>
              <a:t>: Enzymes catalyzing hydrolysis of ester, ether, </a:t>
            </a:r>
            <a:r>
              <a:rPr lang="en-US" dirty="0" err="1"/>
              <a:t>peptido</a:t>
            </a:r>
            <a:r>
              <a:rPr lang="en-US" dirty="0"/>
              <a:t>, </a:t>
            </a:r>
            <a:r>
              <a:rPr lang="en-US" dirty="0" err="1"/>
              <a:t>glycosyl</a:t>
            </a:r>
            <a:r>
              <a:rPr lang="en-US" dirty="0"/>
              <a:t>, acid-anhydride, C-C, C-halide, or P-N-bonds by utilizing water.</a:t>
            </a:r>
          </a:p>
          <a:p>
            <a:r>
              <a:rPr lang="en-US" b="1" dirty="0"/>
              <a:t>Class IV. </a:t>
            </a:r>
            <a:r>
              <a:rPr lang="en-US" b="1" dirty="0" err="1"/>
              <a:t>Lyases</a:t>
            </a:r>
            <a:r>
              <a:rPr lang="en-US" b="1" dirty="0"/>
              <a:t>: </a:t>
            </a:r>
            <a:r>
              <a:rPr lang="en-US" dirty="0"/>
              <a:t>Enzymes that catalyze removal of groups from substances by mechanisms other than hydrolysis, leaving double bonds.</a:t>
            </a:r>
          </a:p>
          <a:p>
            <a:r>
              <a:rPr lang="en-US" b="1" dirty="0"/>
              <a:t>Class V. </a:t>
            </a:r>
            <a:r>
              <a:rPr lang="en-US" b="1" dirty="0" err="1"/>
              <a:t>Isomerases</a:t>
            </a:r>
            <a:r>
              <a:rPr lang="en-US" dirty="0"/>
              <a:t>:</a:t>
            </a:r>
          </a:p>
          <a:p>
            <a:r>
              <a:rPr lang="en-US" dirty="0"/>
              <a:t>Includes all enzymes catalyzing </a:t>
            </a:r>
            <a:r>
              <a:rPr lang="en-US" dirty="0" err="1"/>
              <a:t>interconversion</a:t>
            </a:r>
            <a:r>
              <a:rPr lang="en-US" dirty="0"/>
              <a:t> of optical, geometric, or positional ,isomers.</a:t>
            </a:r>
          </a:p>
          <a:p>
            <a:r>
              <a:rPr lang="en-US" b="1" dirty="0"/>
              <a:t>Class VI. </a:t>
            </a:r>
            <a:r>
              <a:rPr lang="en-US" b="1" dirty="0" err="1"/>
              <a:t>Ligases</a:t>
            </a:r>
            <a:r>
              <a:rPr lang="en-US" b="1" dirty="0"/>
              <a:t> or </a:t>
            </a:r>
            <a:r>
              <a:rPr lang="en-US" b="1" dirty="0" err="1"/>
              <a:t>synthetases</a:t>
            </a:r>
            <a:r>
              <a:rPr lang="en-US" dirty="0"/>
              <a:t>.</a:t>
            </a:r>
          </a:p>
          <a:p>
            <a:r>
              <a:rPr lang="en-US" dirty="0"/>
              <a:t>Enzymes catalyzing the linking together of 2 compounds coupled to the breaking of a pyrophosphate bond in ATP or similar </a:t>
            </a:r>
            <a:r>
              <a:rPr lang="en-US" dirty="0" err="1"/>
              <a:t>trinucleotides</a:t>
            </a:r>
            <a:r>
              <a:rPr lang="en-US" dirty="0"/>
              <a:t>: GTP, UTP etc. included are enzymes catalyzing reactions forming C-O, C-S, C-N, and C-C bonds,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MECHANISM OF ACTION OF </a:t>
            </a:r>
            <a:r>
              <a:rPr lang="en-US" b="1" dirty="0" smtClean="0"/>
              <a:t>ENZYMES</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1</a:t>
            </a:r>
            <a:r>
              <a:rPr lang="en-US" b="1" dirty="0"/>
              <a:t>. Lock and Key Model:</a:t>
            </a:r>
            <a:endParaRPr lang="en-US" dirty="0"/>
          </a:p>
          <a:p>
            <a:r>
              <a:rPr lang="en-US" b="1" dirty="0"/>
              <a:t>Emil Fischer’s model Lock and Key model 1890</a:t>
            </a:r>
            <a:r>
              <a:rPr lang="en-US" dirty="0"/>
              <a:t> developed a model called Lock: Key model of enzyme action implies that the active site of the enzyme is complementary in shape to that of its substrate, i.e. the shape of the enzyme molecule and the substrate molecule should fit each other like a lock and </a:t>
            </a:r>
            <a:r>
              <a:rPr lang="en-US" dirty="0" smtClean="0"/>
              <a:t>Key</a:t>
            </a:r>
          </a:p>
          <a:p>
            <a:pPr>
              <a:buNone/>
            </a:pPr>
            <a:r>
              <a:rPr lang="en-US" b="1" dirty="0" smtClean="0"/>
              <a:t>2.Induced </a:t>
            </a:r>
            <a:r>
              <a:rPr lang="en-US" b="1" dirty="0"/>
              <a:t>Fit Model (Hand in Glove analogy)</a:t>
            </a:r>
            <a:endParaRPr lang="en-US" dirty="0"/>
          </a:p>
          <a:p>
            <a:r>
              <a:rPr lang="en-US" b="1" dirty="0"/>
              <a:t>In 1958, Daniel </a:t>
            </a:r>
            <a:r>
              <a:rPr lang="en-US" b="1" dirty="0" err="1"/>
              <a:t>Koshland</a:t>
            </a:r>
            <a:r>
              <a:rPr lang="en-US" b="1" dirty="0"/>
              <a:t>,</a:t>
            </a:r>
            <a:r>
              <a:rPr lang="en-US" dirty="0"/>
              <a:t> postulated another model; which implies that the shapes &amp; the active sites of enzymes are complementary to that of the substrate only after the substrate is bound.</a:t>
            </a:r>
          </a:p>
          <a:p>
            <a:endParaRPr lang="en-US" dirty="0"/>
          </a:p>
          <a:p>
            <a:pPr>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MECHANISM OF ACTION OF ENZYMES</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a:t>Mechanism of Enzyme Action (1913)</a:t>
            </a:r>
            <a:endParaRPr lang="en-US" dirty="0"/>
          </a:p>
          <a:p>
            <a:r>
              <a:rPr lang="en-US" dirty="0"/>
              <a:t>Michaels and </a:t>
            </a:r>
            <a:r>
              <a:rPr lang="en-US" dirty="0" err="1"/>
              <a:t>Menten</a:t>
            </a:r>
            <a:r>
              <a:rPr lang="en-US" dirty="0"/>
              <a:t> have proposed a hypothesis for enzyme action, which is most acceptable. According to their hypothesis, the enzyme molecule (E) first combines with a substrate molecule (S) to form an enzyme substrate (ES) complex which further 8 dissociates to form product (P) and enzyme (E) back. Enzyme once dissociated from the complex is free to combine with another molecule of substrate and form product in a similar way.</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br>
              <a:rPr lang="en-US" dirty="0"/>
            </a:br>
            <a:r>
              <a:rPr lang="en-US" b="1" dirty="0"/>
              <a:t>Factors Affecting Enzyme Activity</a:t>
            </a:r>
            <a:r>
              <a:rPr lang="en-US" dirty="0"/>
              <a:t/>
            </a:r>
            <a:br>
              <a:rPr lang="en-US" dirty="0"/>
            </a:br>
            <a:endParaRPr lang="en-US" dirty="0"/>
          </a:p>
        </p:txBody>
      </p:sp>
      <p:sp>
        <p:nvSpPr>
          <p:cNvPr id="3" name="Content Placeholder 2"/>
          <p:cNvSpPr>
            <a:spLocks noGrp="1"/>
          </p:cNvSpPr>
          <p:nvPr>
            <p:ph idx="1"/>
          </p:nvPr>
        </p:nvSpPr>
        <p:spPr/>
        <p:txBody>
          <a:bodyPr>
            <a:normAutofit fontScale="92500"/>
          </a:bodyPr>
          <a:lstStyle/>
          <a:p>
            <a:pPr>
              <a:buNone/>
            </a:pPr>
            <a:r>
              <a:rPr lang="en-US" dirty="0"/>
              <a:t>1. </a:t>
            </a:r>
            <a:r>
              <a:rPr lang="en-US" b="1" dirty="0"/>
              <a:t>Temperature</a:t>
            </a:r>
            <a:r>
              <a:rPr lang="en-US" dirty="0"/>
              <a:t>; Starting from low temperature as the temperature increases to certain degree the activity of the enzyme increases because the temperature increase the total energy of the chemical system .</a:t>
            </a:r>
          </a:p>
          <a:p>
            <a:pPr>
              <a:buNone/>
            </a:pPr>
            <a:r>
              <a:rPr lang="en-US" dirty="0"/>
              <a:t>2</a:t>
            </a:r>
            <a:r>
              <a:rPr lang="en-US" b="1" dirty="0"/>
              <a:t>. PH;</a:t>
            </a:r>
            <a:r>
              <a:rPr lang="en-US" dirty="0"/>
              <a:t> Extreme pH can also lead to </a:t>
            </a:r>
            <a:r>
              <a:rPr lang="en-US" dirty="0" err="1"/>
              <a:t>denaturation</a:t>
            </a:r>
            <a:r>
              <a:rPr lang="en-US" dirty="0"/>
              <a:t> of the enzyme, because the structure of the catalytically active protein molecule depends on the ionic character of the amino acid chains.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Factors Affecting Enzyme Activity</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a:t>3. </a:t>
            </a:r>
            <a:r>
              <a:rPr lang="en-US" b="1" dirty="0"/>
              <a:t>Substrate/enzyme concentration etc</a:t>
            </a:r>
            <a:r>
              <a:rPr lang="en-US" b="1" dirty="0" smtClean="0"/>
              <a:t>.</a:t>
            </a:r>
          </a:p>
          <a:p>
            <a:pPr>
              <a:buNone/>
            </a:pPr>
            <a:r>
              <a:rPr lang="en-US" dirty="0" smtClean="0"/>
              <a:t> </a:t>
            </a:r>
            <a:r>
              <a:rPr lang="en-US" dirty="0"/>
              <a:t>An increase in the substrate concentration increases the enzyme activity till a maximum is reached. Further increase in substrate concentration does not increase rate of reaction because  the substrate molecule combine with all available enzyme molecules at their active site till not more active sites are available (The active Sites become saturated). At this state the enzyme is obtained </a:t>
            </a:r>
            <a:r>
              <a:rPr lang="en-US" b="1" dirty="0"/>
              <a:t>it maximum rate (V max).</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Enzyme Inhibition</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Any </a:t>
            </a:r>
            <a:r>
              <a:rPr lang="en-US" dirty="0"/>
              <a:t>substance that can diminish the velocity of an enzyme-catalyzed reaction is called an inhibitor and the process is known as inhibition.</a:t>
            </a:r>
          </a:p>
          <a:p>
            <a:r>
              <a:rPr lang="en-US" dirty="0"/>
              <a:t>There are two major types of enzyme inhibition, </a:t>
            </a:r>
            <a:r>
              <a:rPr lang="en-US" b="1" dirty="0"/>
              <a:t>Irreversible and Reversible.</a:t>
            </a:r>
            <a:endParaRPr lang="en-US" dirty="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Irreversible Inhibition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a:t>
            </a:r>
            <a:r>
              <a:rPr lang="en-US" dirty="0"/>
              <a:t>type of inhibition that can not be reversed by increasing substrate concentration or removing the remaining free </a:t>
            </a:r>
            <a:r>
              <a:rPr lang="en-US" dirty="0" smtClean="0"/>
              <a:t>inhibitor.</a:t>
            </a:r>
            <a:endParaRPr lang="en-US" b="1" dirty="0" smtClean="0"/>
          </a:p>
          <a:p>
            <a:pPr lvl="1"/>
            <a:r>
              <a:rPr lang="en-US" dirty="0" err="1" smtClean="0"/>
              <a:t>Eg</a:t>
            </a:r>
            <a:r>
              <a:rPr lang="en-US" dirty="0" smtClean="0"/>
              <a:t>. </a:t>
            </a:r>
            <a:r>
              <a:rPr lang="en-US" dirty="0" err="1" smtClean="0"/>
              <a:t>Diisopropyl</a:t>
            </a:r>
            <a:r>
              <a:rPr lang="en-US" dirty="0" smtClean="0"/>
              <a:t> &amp; </a:t>
            </a:r>
            <a:r>
              <a:rPr lang="en-US" dirty="0" err="1" smtClean="0"/>
              <a:t>luorophosphate</a:t>
            </a:r>
            <a:r>
              <a:rPr lang="en-US" dirty="0" smtClean="0"/>
              <a:t> (DFP) Inhibits the enzyme acetyl cholinesterase, important in the transmission of nerve impulses.</a:t>
            </a:r>
          </a:p>
          <a:p>
            <a:r>
              <a:rPr lang="en-US" dirty="0" smtClean="0"/>
              <a:t>Acetyl cholinesterase catalyzes the hydrolysis of </a:t>
            </a:r>
            <a:r>
              <a:rPr lang="en-US" dirty="0" err="1" smtClean="0"/>
              <a:t>Acetylcholin</a:t>
            </a:r>
            <a:r>
              <a:rPr lang="en-US" dirty="0" smtClean="0"/>
              <a:t> (to acetic acid and </a:t>
            </a:r>
            <a:r>
              <a:rPr lang="en-US" dirty="0" err="1" smtClean="0"/>
              <a:t>choline</a:t>
            </a:r>
            <a:r>
              <a:rPr lang="en-US" dirty="0" smtClean="0"/>
              <a:t>) a neurotransmitter substance functioning in certain portions of the nervous system</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Reversible Inhibition</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This </a:t>
            </a:r>
            <a:r>
              <a:rPr lang="en-US" dirty="0"/>
              <a:t>type of inhibition can </a:t>
            </a:r>
            <a:r>
              <a:rPr lang="en-US" dirty="0" smtClean="0"/>
              <a:t>be: </a:t>
            </a:r>
          </a:p>
          <a:p>
            <a:pPr lvl="1"/>
            <a:r>
              <a:rPr lang="en-US" b="1" dirty="0" smtClean="0"/>
              <a:t>Competitive</a:t>
            </a:r>
            <a:r>
              <a:rPr lang="en-US" b="1" dirty="0"/>
              <a:t>, </a:t>
            </a:r>
            <a:endParaRPr lang="en-US" b="1" dirty="0" smtClean="0"/>
          </a:p>
          <a:p>
            <a:pPr lvl="1"/>
            <a:r>
              <a:rPr lang="en-US" b="1" dirty="0" smtClean="0"/>
              <a:t>Non-competitive </a:t>
            </a:r>
            <a:r>
              <a:rPr lang="en-US" b="1" dirty="0"/>
              <a:t>and </a:t>
            </a:r>
            <a:endParaRPr lang="en-US" b="1" dirty="0" smtClean="0"/>
          </a:p>
          <a:p>
            <a:pPr lvl="1"/>
            <a:r>
              <a:rPr lang="en-US" b="1" dirty="0" smtClean="0"/>
              <a:t>uncompetitive</a:t>
            </a:r>
            <a:endParaRPr lang="en-US" dirty="0"/>
          </a:p>
          <a:p>
            <a:pPr>
              <a:buNone/>
            </a:pPr>
            <a:r>
              <a:rPr lang="en-US" b="1" dirty="0"/>
              <a:t>Competitive Inhibition: </a:t>
            </a:r>
            <a:r>
              <a:rPr lang="en-US" dirty="0"/>
              <a:t>This type of inhibition occurs when the inhibitor binds reversibly to the same site that the substrate would normally occupy, therefore, competes with the substrate for that site</a:t>
            </a:r>
            <a:r>
              <a:rPr lang="en-US" dirty="0" smtClean="0"/>
              <a:t>.</a:t>
            </a:r>
            <a:r>
              <a:rPr lang="en-US" dirty="0"/>
              <a:t>  </a:t>
            </a:r>
          </a:p>
          <a:p>
            <a:pPr>
              <a:buNone/>
            </a:pPr>
            <a:r>
              <a:rPr lang="en-US" b="1" dirty="0"/>
              <a:t>Non-Competitive Inhibition</a:t>
            </a:r>
            <a:endParaRPr lang="en-US" dirty="0"/>
          </a:p>
          <a:p>
            <a:pPr lvl="0"/>
            <a:r>
              <a:rPr lang="en-US" dirty="0"/>
              <a:t>In non-competitive inhibition the inhibitor binds at different site rather than the substrate-binding site. </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Reversible Inhibition cont….</a:t>
            </a:r>
            <a:endParaRPr lang="en-US" dirty="0"/>
          </a:p>
        </p:txBody>
      </p:sp>
      <p:sp>
        <p:nvSpPr>
          <p:cNvPr id="3" name="Content Placeholder 2"/>
          <p:cNvSpPr>
            <a:spLocks noGrp="1"/>
          </p:cNvSpPr>
          <p:nvPr>
            <p:ph idx="1"/>
          </p:nvPr>
        </p:nvSpPr>
        <p:spPr/>
        <p:txBody>
          <a:bodyPr>
            <a:normAutofit fontScale="92500" lnSpcReduction="20000"/>
          </a:bodyPr>
          <a:lstStyle/>
          <a:p>
            <a:pPr lvl="0">
              <a:buNone/>
            </a:pPr>
            <a:r>
              <a:rPr lang="en-US" dirty="0" smtClean="0"/>
              <a:t>When the inhibitor binds at this site there will be a change in conformation of the enzyme molecules, which leads to the reversible inactivation of the catalytic site. </a:t>
            </a:r>
            <a:endParaRPr lang="en-US" b="1" dirty="0" smtClean="0"/>
          </a:p>
          <a:p>
            <a:pPr>
              <a:buNone/>
            </a:pPr>
            <a:r>
              <a:rPr lang="en-US" b="1" dirty="0" smtClean="0"/>
              <a:t>Uncompetitive </a:t>
            </a:r>
            <a:r>
              <a:rPr lang="en-US" b="1" dirty="0"/>
              <a:t>Inhibition</a:t>
            </a:r>
            <a:endParaRPr lang="en-US" dirty="0"/>
          </a:p>
          <a:p>
            <a:r>
              <a:rPr lang="en-US" dirty="0"/>
              <a:t>Uncompetitive Inhibitor binds only to ES complex at locations other than the catalytic site. Substrate binding modifies enzyme structure, making inhibitor-binding site available. Inhibition cannot be reversed by substrate. In this case apparent </a:t>
            </a:r>
            <a:r>
              <a:rPr lang="en-US" dirty="0" err="1"/>
              <a:t>Vmax</a:t>
            </a:r>
            <a:r>
              <a:rPr lang="en-US" dirty="0"/>
              <a:t>. and Km decreased.</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Regulation of enzyme </a:t>
            </a:r>
            <a:r>
              <a:rPr lang="en-US" b="1" dirty="0" smtClean="0"/>
              <a:t>activity</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a:t>1</a:t>
            </a:r>
            <a:r>
              <a:rPr lang="en-US" b="1" dirty="0"/>
              <a:t>. Irreversible covalent Activation / </a:t>
            </a:r>
            <a:r>
              <a:rPr lang="en-US" b="1" dirty="0" err="1"/>
              <a:t>Zymogen</a:t>
            </a:r>
            <a:r>
              <a:rPr lang="en-US" b="1" dirty="0"/>
              <a:t> activation</a:t>
            </a:r>
            <a:endParaRPr lang="en-US" dirty="0"/>
          </a:p>
          <a:p>
            <a:r>
              <a:rPr lang="en-US" dirty="0"/>
              <a:t>Some enzymes are secreted in an inactive form called </a:t>
            </a:r>
            <a:r>
              <a:rPr lang="en-US" dirty="0" err="1"/>
              <a:t>Proenzymes</a:t>
            </a:r>
            <a:r>
              <a:rPr lang="en-US" dirty="0"/>
              <a:t> or zymogens. </a:t>
            </a:r>
            <a:endParaRPr lang="en-US" dirty="0" smtClean="0"/>
          </a:p>
          <a:p>
            <a:r>
              <a:rPr lang="en-US" dirty="0" smtClean="0"/>
              <a:t>At </a:t>
            </a:r>
            <a:r>
              <a:rPr lang="en-US" dirty="0"/>
              <a:t>the site of action specific peptide bonds are </a:t>
            </a:r>
            <a:r>
              <a:rPr lang="en-US" dirty="0" err="1"/>
              <a:t>hydrolysed</a:t>
            </a:r>
            <a:r>
              <a:rPr lang="en-US" dirty="0"/>
              <a:t> either </a:t>
            </a:r>
            <a:r>
              <a:rPr lang="en-US" dirty="0" err="1"/>
              <a:t>enzymatically</a:t>
            </a:r>
            <a:r>
              <a:rPr lang="en-US" dirty="0"/>
              <a:t> or by PH changes to convert it into active form, e.g. </a:t>
            </a:r>
            <a:r>
              <a:rPr lang="en-US" dirty="0" err="1"/>
              <a:t>Pepsinogen</a:t>
            </a:r>
            <a:r>
              <a:rPr lang="en-US" dirty="0"/>
              <a:t> to pepsin, </a:t>
            </a:r>
            <a:r>
              <a:rPr lang="en-US" dirty="0" err="1"/>
              <a:t>Trypsinogen</a:t>
            </a:r>
            <a:r>
              <a:rPr lang="en-US" dirty="0"/>
              <a:t> to </a:t>
            </a:r>
            <a:r>
              <a:rPr lang="en-US" dirty="0" err="1"/>
              <a:t>trypsin</a:t>
            </a:r>
            <a:r>
              <a:rPr lang="en-US" dirty="0"/>
              <a:t>, </a:t>
            </a:r>
            <a:r>
              <a:rPr lang="en-US" dirty="0" err="1"/>
              <a:t>plasminogen</a:t>
            </a:r>
            <a:r>
              <a:rPr lang="en-US" dirty="0"/>
              <a:t> to </a:t>
            </a:r>
            <a:r>
              <a:rPr lang="en-US" dirty="0" err="1"/>
              <a:t>plasmin</a:t>
            </a:r>
            <a:r>
              <a:rPr lang="en-US" dirty="0"/>
              <a:t>. </a:t>
            </a:r>
            <a:endParaRPr lang="en-US" dirty="0" smtClean="0"/>
          </a:p>
          <a:p>
            <a:r>
              <a:rPr lang="en-US" dirty="0" smtClean="0"/>
              <a:t>After </a:t>
            </a:r>
            <a:r>
              <a:rPr lang="en-US" dirty="0"/>
              <a:t>hydrolysis when it is activated, it cannot be reconverted into </a:t>
            </a:r>
            <a:r>
              <a:rPr lang="en-US" dirty="0" err="1"/>
              <a:t>proenzyme</a:t>
            </a:r>
            <a:r>
              <a:rPr lang="en-US" dirty="0"/>
              <a:t> form.</a:t>
            </a:r>
          </a:p>
          <a:p>
            <a:pPr>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Regulation of enzyme activity</a:t>
            </a:r>
            <a:endParaRPr lang="en-US" dirty="0"/>
          </a:p>
        </p:txBody>
      </p:sp>
      <p:sp>
        <p:nvSpPr>
          <p:cNvPr id="3" name="Content Placeholder 2"/>
          <p:cNvSpPr>
            <a:spLocks noGrp="1"/>
          </p:cNvSpPr>
          <p:nvPr>
            <p:ph idx="1"/>
          </p:nvPr>
        </p:nvSpPr>
        <p:spPr/>
        <p:txBody>
          <a:bodyPr/>
          <a:lstStyle/>
          <a:p>
            <a:pPr>
              <a:buNone/>
            </a:pPr>
            <a:r>
              <a:rPr lang="en-US" b="1" dirty="0"/>
              <a:t>2. Reversible Covalent Modification</a:t>
            </a:r>
            <a:endParaRPr lang="en-US" dirty="0"/>
          </a:p>
          <a:p>
            <a:r>
              <a:rPr lang="en-US" dirty="0"/>
              <a:t>By addition of or removal of phosphate or </a:t>
            </a:r>
            <a:r>
              <a:rPr lang="en-US" dirty="0" err="1"/>
              <a:t>adenylate</a:t>
            </a:r>
            <a:r>
              <a:rPr lang="en-US" dirty="0"/>
              <a:t>, certain enzymes are reversibly activated and inactivated as per the requirement. </a:t>
            </a:r>
            <a:endParaRPr lang="en-US" dirty="0" smtClean="0"/>
          </a:p>
          <a:p>
            <a:r>
              <a:rPr lang="en-US" dirty="0" smtClean="0"/>
              <a:t>Protein </a:t>
            </a:r>
            <a:r>
              <a:rPr lang="en-US" dirty="0" err="1"/>
              <a:t>kinase</a:t>
            </a:r>
            <a:r>
              <a:rPr lang="en-US" dirty="0"/>
              <a:t> of muscle </a:t>
            </a:r>
            <a:r>
              <a:rPr lang="en-US" dirty="0" err="1"/>
              <a:t>phosphorylate</a:t>
            </a:r>
            <a:r>
              <a:rPr lang="en-US" dirty="0"/>
              <a:t> </a:t>
            </a:r>
            <a:r>
              <a:rPr lang="en-US" dirty="0" err="1"/>
              <a:t>phosphorylase</a:t>
            </a:r>
            <a:r>
              <a:rPr lang="en-US" dirty="0"/>
              <a:t> </a:t>
            </a:r>
            <a:r>
              <a:rPr lang="en-US" dirty="0" err="1"/>
              <a:t>kinase</a:t>
            </a:r>
            <a:r>
              <a:rPr lang="en-US" dirty="0"/>
              <a:t>, glycogen </a:t>
            </a:r>
            <a:r>
              <a:rPr lang="en-US" dirty="0" err="1"/>
              <a:t>synthetase</a:t>
            </a:r>
            <a:r>
              <a:rPr lang="en-US" dirty="0"/>
              <a:t> by making use of ATP.</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Regulation of enzyme activity</a:t>
            </a: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dirty="0"/>
              <a:t>3. </a:t>
            </a:r>
            <a:r>
              <a:rPr lang="en-US" b="1" dirty="0" err="1"/>
              <a:t>Allosteric</a:t>
            </a:r>
            <a:r>
              <a:rPr lang="en-US" b="1" dirty="0"/>
              <a:t> Modulation</a:t>
            </a:r>
            <a:endParaRPr lang="en-US" dirty="0"/>
          </a:p>
          <a:p>
            <a:pPr lvl="0"/>
            <a:r>
              <a:rPr lang="en-US" dirty="0"/>
              <a:t>In addition to simple enzymes that interact only with substrates and inhibitors, there is a class of enzymes that bind small, physiologically important molecules and modulate activity in ways other than those described above. These are known as </a:t>
            </a:r>
            <a:r>
              <a:rPr lang="en-US" b="1" dirty="0" err="1"/>
              <a:t>allosteric</a:t>
            </a:r>
            <a:r>
              <a:rPr lang="en-US" dirty="0"/>
              <a:t> </a:t>
            </a:r>
            <a:r>
              <a:rPr lang="en-US" b="1" dirty="0"/>
              <a:t>enzymes</a:t>
            </a:r>
            <a:r>
              <a:rPr lang="en-US" dirty="0"/>
              <a:t>; the small regulatory molecules to which they bind are known as </a:t>
            </a:r>
            <a:r>
              <a:rPr lang="en-US" b="1" dirty="0"/>
              <a:t>effectors</a:t>
            </a:r>
            <a:r>
              <a:rPr lang="en-US" dirty="0"/>
              <a:t>.</a:t>
            </a:r>
          </a:p>
          <a:p>
            <a:pPr lvl="0"/>
            <a:r>
              <a:rPr lang="en-US" dirty="0" err="1"/>
              <a:t>Allosteric</a:t>
            </a:r>
            <a:r>
              <a:rPr lang="en-US" dirty="0"/>
              <a:t> effectors bring about catalytic modification by binding to the enzyme at distinct </a:t>
            </a:r>
            <a:r>
              <a:rPr lang="en-US" dirty="0" err="1"/>
              <a:t>allosteric</a:t>
            </a:r>
            <a:r>
              <a:rPr lang="en-US" dirty="0"/>
              <a:t> sites, well removed from the catalytic site, and causing conformational changes that are transmitted through the bulk of the protein to the catalytically active site(s).</a:t>
            </a:r>
          </a:p>
          <a:p>
            <a:pPr lvl="0"/>
            <a:r>
              <a:rPr lang="en-US" dirty="0"/>
              <a:t>The hallmark of effectors is that when they bind to enzymes, they alter the catalytic properties of an enzyme's active site. </a:t>
            </a:r>
          </a:p>
          <a:p>
            <a:pPr lvl="0"/>
            <a:r>
              <a:rPr lang="en-US" dirty="0"/>
              <a:t>Those that increase catalytic activity are known as positive effectors. Effectors that reduce or inhibit catalytic activity are negative effectors.</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Regulation of enzyme activity</a:t>
            </a:r>
            <a:endParaRPr lang="en-US" dirty="0"/>
          </a:p>
        </p:txBody>
      </p:sp>
      <p:sp>
        <p:nvSpPr>
          <p:cNvPr id="3" name="Content Placeholder 2"/>
          <p:cNvSpPr>
            <a:spLocks noGrp="1"/>
          </p:cNvSpPr>
          <p:nvPr>
            <p:ph idx="1"/>
          </p:nvPr>
        </p:nvSpPr>
        <p:spPr/>
        <p:txBody>
          <a:bodyPr>
            <a:normAutofit fontScale="92500"/>
          </a:bodyPr>
          <a:lstStyle/>
          <a:p>
            <a:pPr>
              <a:buNone/>
            </a:pPr>
            <a:r>
              <a:rPr lang="en-US" b="1" dirty="0"/>
              <a:t>4. Feedback inhibition</a:t>
            </a:r>
            <a:endParaRPr lang="en-US" dirty="0"/>
          </a:p>
          <a:p>
            <a:r>
              <a:rPr lang="en-US" dirty="0"/>
              <a:t>In </a:t>
            </a:r>
            <a:r>
              <a:rPr lang="en-US" dirty="0" err="1"/>
              <a:t>allosteric</a:t>
            </a:r>
            <a:r>
              <a:rPr lang="en-US" dirty="0"/>
              <a:t> regulation in which end products inhibit the activity of the enzyme is called” feedback inhibition”. The kinetics of feedback inhibition cay be competitive, mixed, etc. It is the commonest way of regulation of a biosynthetic pathway. Feedback regulation generally occurs at the earliest functionally irreversible step unique in the biosynthetic pathway.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CLINICAL SIGNIFICANCE OF ENZYMES</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dirty="0"/>
              <a:t>Measurement of enzymes concentration of mostly the latter type in plasma gives valuable information about disease involving tissues of their origin</a:t>
            </a:r>
            <a:r>
              <a:rPr lang="en-US" dirty="0" smtClean="0"/>
              <a:t>.</a:t>
            </a:r>
          </a:p>
          <a:p>
            <a:pPr>
              <a:buFont typeface="Wingdings" pitchFamily="2" charset="2"/>
              <a:buChar char="v"/>
            </a:pPr>
            <a:r>
              <a:rPr lang="en-US" dirty="0" smtClean="0"/>
              <a:t>The </a:t>
            </a:r>
            <a:r>
              <a:rPr lang="en-US" dirty="0"/>
              <a:t>plasma lipase level may be low in liver disease, Vitamin A deficiency, some malignancies, and diabetes mellitus. It may be elevated in acute pancreatitis and pancreatic carcinoma</a:t>
            </a:r>
            <a:r>
              <a:rPr lang="en-US" dirty="0" smtClean="0"/>
              <a:t>.</a:t>
            </a:r>
          </a:p>
          <a:p>
            <a:pPr>
              <a:buFont typeface="Wingdings" pitchFamily="2" charset="2"/>
              <a:buChar char="v"/>
            </a:pPr>
            <a:r>
              <a:rPr lang="en-US" dirty="0"/>
              <a:t>The main use of amylase estimations is in the diagnosis of acute pancreatitis. The plasma amylase level may be low in liver disease and increased in high intestinal obstruction, mumps, acute pancreatitis and diabetes.</a:t>
            </a:r>
          </a:p>
          <a:p>
            <a:pPr>
              <a:buNone/>
            </a:pPr>
            <a:endParaRPr lang="en-US" dirty="0"/>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CLINICAL SIGNIFICANCE OF ENZYMES</a:t>
            </a:r>
            <a:endParaRPr lang="en-US" dirty="0"/>
          </a:p>
        </p:txBody>
      </p:sp>
      <p:sp>
        <p:nvSpPr>
          <p:cNvPr id="3" name="Content Placeholder 2"/>
          <p:cNvSpPr>
            <a:spLocks noGrp="1"/>
          </p:cNvSpPr>
          <p:nvPr>
            <p:ph idx="1"/>
          </p:nvPr>
        </p:nvSpPr>
        <p:spPr/>
        <p:txBody>
          <a:bodyPr>
            <a:normAutofit fontScale="77500" lnSpcReduction="20000"/>
          </a:bodyPr>
          <a:lstStyle/>
          <a:p>
            <a:pPr>
              <a:buFont typeface="Wingdings" pitchFamily="2" charset="2"/>
              <a:buChar char="v"/>
            </a:pPr>
            <a:r>
              <a:rPr lang="en-US" dirty="0" err="1"/>
              <a:t>Trypsin</a:t>
            </a:r>
            <a:r>
              <a:rPr lang="en-US" dirty="0"/>
              <a:t> is secreted by pancreas. Elevated levels of </a:t>
            </a:r>
            <a:r>
              <a:rPr lang="en-US" dirty="0" err="1"/>
              <a:t>trypsin</a:t>
            </a:r>
            <a:r>
              <a:rPr lang="en-US" dirty="0"/>
              <a:t> in plasma occur </a:t>
            </a:r>
            <a:r>
              <a:rPr lang="en-US" dirty="0" smtClean="0"/>
              <a:t>during acute </a:t>
            </a:r>
            <a:r>
              <a:rPr lang="en-US" dirty="0"/>
              <a:t>pancreatic </a:t>
            </a:r>
            <a:r>
              <a:rPr lang="en-US" dirty="0" smtClean="0"/>
              <a:t>disease.</a:t>
            </a:r>
          </a:p>
          <a:p>
            <a:pPr>
              <a:buFont typeface="Wingdings" pitchFamily="2" charset="2"/>
              <a:buChar char="v"/>
            </a:pPr>
            <a:r>
              <a:rPr lang="en-US" dirty="0" smtClean="0"/>
              <a:t>The </a:t>
            </a:r>
            <a:r>
              <a:rPr lang="en-US" dirty="0"/>
              <a:t>alkaline phosphates are a group of enzymes, which hydrolyze phosphate esters at an alkaline </a:t>
            </a:r>
            <a:r>
              <a:rPr lang="en-US" dirty="0" err="1"/>
              <a:t>pH.</a:t>
            </a:r>
            <a:r>
              <a:rPr lang="en-US" dirty="0"/>
              <a:t> </a:t>
            </a:r>
            <a:r>
              <a:rPr lang="en-US" dirty="0" smtClean="0"/>
              <a:t>In </a:t>
            </a:r>
            <a:r>
              <a:rPr lang="en-US" dirty="0"/>
              <a:t>bone the enzyme is found in </a:t>
            </a:r>
            <a:r>
              <a:rPr lang="en-US" dirty="0" err="1"/>
              <a:t>osteoblasts</a:t>
            </a:r>
            <a:r>
              <a:rPr lang="en-US" dirty="0"/>
              <a:t> and is probably important for normal bone function. The level of these enzymes may be increased in rickets and </a:t>
            </a:r>
            <a:r>
              <a:rPr lang="en-US" dirty="0" err="1"/>
              <a:t>osteomalacia</a:t>
            </a:r>
            <a:r>
              <a:rPr lang="en-US" dirty="0"/>
              <a:t>, hyperparathyroidism, </a:t>
            </a:r>
            <a:r>
              <a:rPr lang="en-US" dirty="0" err="1"/>
              <a:t>paget's</a:t>
            </a:r>
            <a:r>
              <a:rPr lang="en-US" dirty="0"/>
              <a:t> disease of bone, obstructive jaundice, and metastatic carcinoma. </a:t>
            </a:r>
            <a:endParaRPr lang="en-US" dirty="0" smtClean="0"/>
          </a:p>
          <a:p>
            <a:pPr>
              <a:buNone/>
            </a:pPr>
            <a:r>
              <a:rPr lang="en-US" dirty="0" smtClean="0"/>
              <a:t>   </a:t>
            </a:r>
            <a:r>
              <a:rPr lang="en-US" smtClean="0"/>
              <a:t>I,,,,,,,,,,,,,,,mSerum</a:t>
            </a:r>
            <a:r>
              <a:rPr lang="en-US" dirty="0" smtClean="0"/>
              <a:t> </a:t>
            </a:r>
            <a:r>
              <a:rPr lang="en-US" dirty="0"/>
              <a:t>alkaline </a:t>
            </a:r>
            <a:r>
              <a:rPr lang="en-US" dirty="0" err="1"/>
              <a:t>phosphatase</a:t>
            </a:r>
            <a:r>
              <a:rPr lang="en-US" dirty="0"/>
              <a:t> levels may </a:t>
            </a:r>
            <a:r>
              <a:rPr lang="en-US" dirty="0" smtClean="0"/>
              <a:t>be increase </a:t>
            </a:r>
            <a:r>
              <a:rPr lang="en-US" dirty="0"/>
              <a:t>in congestive heart failure result of injury to the liver.</a:t>
            </a:r>
          </a:p>
          <a:p>
            <a:pPr>
              <a:buFont typeface="Wingdings" pitchFamily="2" charset="2"/>
              <a:buChar char="v"/>
            </a:pPr>
            <a:endParaRPr lang="en-US" dirty="0"/>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Many THANKS</a:t>
            </a:r>
            <a:endParaRPr lang="en-US" dirty="0"/>
          </a:p>
        </p:txBody>
      </p:sp>
      <p:sp>
        <p:nvSpPr>
          <p:cNvPr id="3" name="Text Placeholder 2"/>
          <p:cNvSpPr>
            <a:spLocks noGrp="1"/>
          </p:cNvSpPr>
          <p:nvPr>
            <p:ph type="body" idx="1"/>
          </p:nvPr>
        </p:nvSpPr>
        <p:spPr/>
        <p:txBody>
          <a:bodyPr>
            <a:normAutofit/>
          </a:bodyPr>
          <a:lstStyle/>
          <a:p>
            <a:pPr algn="ctr"/>
            <a:r>
              <a:rPr lang="en-US" sz="3200" dirty="0" smtClean="0"/>
              <a:t>end</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169</TotalTime>
  <Words>2059</Words>
  <Application>Microsoft Office PowerPoint</Application>
  <PresentationFormat>On-screen Show (4:3)</PresentationFormat>
  <Paragraphs>136</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TOPIC FIVE ENZYMES </vt:lpstr>
      <vt:lpstr>Learning Objectives </vt:lpstr>
      <vt:lpstr>Introduction </vt:lpstr>
      <vt:lpstr>Why Enzymes? </vt:lpstr>
      <vt:lpstr>Nature of Enzymes</vt:lpstr>
      <vt:lpstr>Nature of Enzymescoenzyme</vt:lpstr>
      <vt:lpstr>Coenzymes</vt:lpstr>
      <vt:lpstr>Properties of Enzyme</vt:lpstr>
      <vt:lpstr>Properties of Enzyme</vt:lpstr>
      <vt:lpstr>Properties of Enzyme</vt:lpstr>
      <vt:lpstr>Classification of Enzymes</vt:lpstr>
      <vt:lpstr>Classification of Enzymes</vt:lpstr>
      <vt:lpstr>MECHANISM OF ACTION OF ENZYMES</vt:lpstr>
      <vt:lpstr>MECHANISM OF ACTION OF ENZYMES</vt:lpstr>
      <vt:lpstr>  Factors Affecting Enzyme Activity </vt:lpstr>
      <vt:lpstr>Factors Affecting Enzyme Activity</vt:lpstr>
      <vt:lpstr>Enzyme Inhibition </vt:lpstr>
      <vt:lpstr>Irreversible Inhibition</vt:lpstr>
      <vt:lpstr>Reversible Inhibition</vt:lpstr>
      <vt:lpstr>Reversible Inhibition cont….</vt:lpstr>
      <vt:lpstr>Regulation of enzyme activity</vt:lpstr>
      <vt:lpstr>Regulation of enzyme activity</vt:lpstr>
      <vt:lpstr>Regulation of enzyme activity</vt:lpstr>
      <vt:lpstr>Regulation of enzyme activity</vt:lpstr>
      <vt:lpstr>CLINICAL SIGNIFICANCE OF ENZYMES</vt:lpstr>
      <vt:lpstr>CLINICAL SIGNIFICANCE OF ENZYMES</vt:lpstr>
      <vt:lpstr>Many THANKS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FIVE ENZYMES </dc:title>
  <dc:creator>user</dc:creator>
  <cp:lastModifiedBy>user</cp:lastModifiedBy>
  <cp:revision>16</cp:revision>
  <dcterms:created xsi:type="dcterms:W3CDTF">2020-12-01T13:16:23Z</dcterms:created>
  <dcterms:modified xsi:type="dcterms:W3CDTF">2020-12-02T10:03:27Z</dcterms:modified>
</cp:coreProperties>
</file>