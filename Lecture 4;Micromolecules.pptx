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5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44BE6-929D-4F49-B509-2DBAB4DEC2DD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FC226-D19F-458A-9822-CF8E8F9E44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TOPIC TWO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SUB TOPIC 5: MINERALS MICROMOLECULE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4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MINERALS MICROMOLECULE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Learning Objectives</a:t>
            </a:r>
            <a:endParaRPr lang="en-US" dirty="0"/>
          </a:p>
          <a:p>
            <a:pPr lvl="0"/>
            <a:r>
              <a:rPr lang="en-US" dirty="0"/>
              <a:t>Define Mineral  in chemical terms</a:t>
            </a:r>
          </a:p>
          <a:p>
            <a:pPr lvl="0"/>
            <a:r>
              <a:rPr lang="en-US" dirty="0"/>
              <a:t>Classify Minerals into two major groups with examples of each group</a:t>
            </a:r>
          </a:p>
          <a:p>
            <a:pPr lvl="0"/>
            <a:r>
              <a:rPr lang="en-US" dirty="0"/>
              <a:t>List the </a:t>
            </a:r>
            <a:r>
              <a:rPr lang="en-US" b="1" dirty="0"/>
              <a:t>Major minerals </a:t>
            </a:r>
            <a:r>
              <a:rPr lang="en-US" dirty="0" err="1"/>
              <a:t>Minerals</a:t>
            </a:r>
            <a:r>
              <a:rPr lang="en-US" dirty="0"/>
              <a:t> of biological importance and learn their properties</a:t>
            </a:r>
          </a:p>
          <a:p>
            <a:pPr lvl="0"/>
            <a:r>
              <a:rPr lang="en-US" dirty="0"/>
              <a:t>List the </a:t>
            </a:r>
            <a:r>
              <a:rPr lang="en-US" b="1" dirty="0"/>
              <a:t>Trace elements</a:t>
            </a:r>
            <a:r>
              <a:rPr lang="en-US" dirty="0"/>
              <a:t> Minerals of biological importance and learn their properties</a:t>
            </a:r>
          </a:p>
          <a:p>
            <a:pPr lvl="0"/>
            <a:r>
              <a:rPr lang="en-US" dirty="0"/>
              <a:t>Explain biological importance/functions of each Minerals</a:t>
            </a:r>
          </a:p>
          <a:p>
            <a:pPr lvl="0"/>
            <a:r>
              <a:rPr lang="en-US" dirty="0"/>
              <a:t>Describe the diseases/D </a:t>
            </a:r>
            <a:r>
              <a:rPr lang="en-US" dirty="0" err="1"/>
              <a:t>isorder</a:t>
            </a:r>
            <a:r>
              <a:rPr lang="en-US" dirty="0"/>
              <a:t> associated with Minerals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Required </a:t>
            </a:r>
            <a:r>
              <a:rPr lang="en-US" b="1" dirty="0"/>
              <a:t>for </a:t>
            </a:r>
            <a:r>
              <a:rPr lang="en-US" dirty="0"/>
              <a:t>: growth, repair, and regulation of vital body functions. Two major groups: </a:t>
            </a:r>
            <a:endParaRPr lang="en-US" dirty="0" smtClean="0"/>
          </a:p>
          <a:p>
            <a:r>
              <a:rPr lang="en-US" b="1" dirty="0" smtClean="0"/>
              <a:t>Major </a:t>
            </a:r>
            <a:r>
              <a:rPr lang="en-US" b="1" dirty="0"/>
              <a:t>minerals </a:t>
            </a:r>
            <a:r>
              <a:rPr lang="en-US" dirty="0"/>
              <a:t>: calcium, phosphorus, sodium, potassium, magnesium</a:t>
            </a:r>
            <a:r>
              <a:rPr lang="en-US" dirty="0" smtClean="0"/>
              <a:t>;</a:t>
            </a:r>
          </a:p>
          <a:p>
            <a:r>
              <a:rPr lang="en-US" dirty="0" smtClean="0"/>
              <a:t> </a:t>
            </a:r>
            <a:r>
              <a:rPr lang="en-US" b="1" dirty="0"/>
              <a:t>Trace elements</a:t>
            </a:r>
            <a:r>
              <a:rPr lang="en-US" dirty="0"/>
              <a:t> : iron, iodine, </a:t>
            </a:r>
            <a:r>
              <a:rPr lang="en-US" dirty="0" err="1"/>
              <a:t>flourine</a:t>
            </a:r>
            <a:r>
              <a:rPr lang="en-US" dirty="0"/>
              <a:t>, zinc, copper, cobalt, Chromium, Manganese etc. (requirement-- less than few mg/day.)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Causes of iron deficiency:</a:t>
            </a:r>
            <a:endParaRPr lang="en-US" dirty="0"/>
          </a:p>
          <a:p>
            <a:r>
              <a:rPr lang="en-US" dirty="0"/>
              <a:t>• Storage </a:t>
            </a:r>
            <a:r>
              <a:rPr lang="en-US" dirty="0" smtClean="0"/>
              <a:t>depletion</a:t>
            </a:r>
            <a:endParaRPr lang="en-US" dirty="0"/>
          </a:p>
          <a:p>
            <a:r>
              <a:rPr lang="en-US" dirty="0"/>
              <a:t>• Reduced dietary intake.</a:t>
            </a:r>
          </a:p>
          <a:p>
            <a:r>
              <a:rPr lang="en-US" dirty="0"/>
              <a:t>• Malnutrition</a:t>
            </a:r>
          </a:p>
          <a:p>
            <a:r>
              <a:rPr lang="en-US" dirty="0"/>
              <a:t>• </a:t>
            </a:r>
            <a:r>
              <a:rPr lang="en-US" dirty="0" err="1"/>
              <a:t>Hemolysis</a:t>
            </a:r>
            <a:endParaRPr lang="en-US" dirty="0"/>
          </a:p>
          <a:p>
            <a:r>
              <a:rPr lang="en-US" dirty="0"/>
              <a:t>• Children who are on milk diet only are prone to iron deficiency.</a:t>
            </a:r>
          </a:p>
          <a:p>
            <a:r>
              <a:rPr lang="en-US" dirty="0"/>
              <a:t>• Chronic bleeding, irregular menstrual cycles</a:t>
            </a:r>
          </a:p>
          <a:p>
            <a:r>
              <a:rPr lang="en-US" dirty="0"/>
              <a:t>• Peptic ulcer, piles</a:t>
            </a:r>
          </a:p>
          <a:p>
            <a:r>
              <a:rPr lang="en-US" dirty="0"/>
              <a:t>• Hook worm infection</a:t>
            </a:r>
          </a:p>
          <a:p>
            <a:r>
              <a:rPr lang="en-US" dirty="0"/>
              <a:t>• Repeated malarial infections.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CALCIUM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Absorption: </a:t>
            </a:r>
            <a:r>
              <a:rPr lang="en-US" dirty="0"/>
              <a:t>It is influenced by</a:t>
            </a:r>
          </a:p>
          <a:p>
            <a:r>
              <a:rPr lang="en-US" dirty="0"/>
              <a:t>• Acidic pH </a:t>
            </a:r>
            <a:r>
              <a:rPr lang="en-US" dirty="0" err="1"/>
              <a:t>solubilizes</a:t>
            </a:r>
            <a:r>
              <a:rPr lang="en-US" dirty="0"/>
              <a:t> Calcium salts, promote absorption.</a:t>
            </a:r>
          </a:p>
          <a:p>
            <a:r>
              <a:rPr lang="en-US" dirty="0"/>
              <a:t>• High protein diet favors absorption</a:t>
            </a:r>
          </a:p>
          <a:p>
            <a:r>
              <a:rPr lang="en-US" dirty="0"/>
              <a:t>• Certain plant products, high fiber diet, oxalates interfere with absorption.</a:t>
            </a:r>
          </a:p>
          <a:p>
            <a:r>
              <a:rPr lang="en-US" dirty="0"/>
              <a:t>• Vitamin D promotes absorption.</a:t>
            </a:r>
          </a:p>
          <a:p>
            <a:r>
              <a:rPr lang="en-US" dirty="0"/>
              <a:t>• PTH, </a:t>
            </a:r>
            <a:r>
              <a:rPr lang="en-US" dirty="0" err="1"/>
              <a:t>Calcitonin</a:t>
            </a:r>
            <a:r>
              <a:rPr lang="en-US" dirty="0"/>
              <a:t> favors absorption while </a:t>
            </a:r>
            <a:r>
              <a:rPr lang="en-US" dirty="0" err="1"/>
              <a:t>Glucocorticoids</a:t>
            </a:r>
            <a:r>
              <a:rPr lang="en-US" dirty="0"/>
              <a:t> decrease intestinal transport.</a:t>
            </a:r>
          </a:p>
          <a:p>
            <a:r>
              <a:rPr lang="en-US" dirty="0"/>
              <a:t>• Normal blood concentration is critically maintained at 9-11 mg %.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Functions: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• </a:t>
            </a:r>
            <a:r>
              <a:rPr lang="en-US" dirty="0"/>
              <a:t>Calcification of bones and teeth. Bone formation requires Calcium continuously.</a:t>
            </a:r>
          </a:p>
          <a:p>
            <a:r>
              <a:rPr lang="en-US" dirty="0"/>
              <a:t>• It is important for blood coagulation</a:t>
            </a:r>
          </a:p>
          <a:p>
            <a:r>
              <a:rPr lang="en-US" dirty="0"/>
              <a:t>• Neuromuscular transmission.</a:t>
            </a:r>
          </a:p>
          <a:p>
            <a:r>
              <a:rPr lang="en-US" dirty="0"/>
              <a:t>• Muscle contraction</a:t>
            </a:r>
          </a:p>
          <a:p>
            <a:r>
              <a:rPr lang="en-US" dirty="0"/>
              <a:t>• Acts as secondary messenger in hormone action.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Clinical conditions: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Hyper- </a:t>
            </a:r>
            <a:r>
              <a:rPr lang="en-US" dirty="0" err="1"/>
              <a:t>calcemia</a:t>
            </a:r>
            <a:r>
              <a:rPr lang="en-US" dirty="0"/>
              <a:t>; may be due to hyper </a:t>
            </a:r>
            <a:r>
              <a:rPr lang="en-US" dirty="0" err="1"/>
              <a:t>parathyroidism</a:t>
            </a:r>
            <a:r>
              <a:rPr lang="en-US" dirty="0"/>
              <a:t>, endocrine causes, renal failure and</a:t>
            </a:r>
          </a:p>
          <a:p>
            <a:r>
              <a:rPr lang="en-US" dirty="0"/>
              <a:t>malignancies. Hypo- </a:t>
            </a:r>
            <a:r>
              <a:rPr lang="en-US" dirty="0" err="1"/>
              <a:t>calcemia</a:t>
            </a:r>
            <a:r>
              <a:rPr lang="en-US" dirty="0"/>
              <a:t> (below 8.5mg %) due to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Inadequate dietary intake.</a:t>
            </a:r>
          </a:p>
          <a:p>
            <a:pPr lvl="1"/>
            <a:r>
              <a:rPr lang="en-US" dirty="0" smtClean="0"/>
              <a:t> </a:t>
            </a:r>
            <a:r>
              <a:rPr lang="en-US" dirty="0" err="1"/>
              <a:t>Hypoalbuminemia</a:t>
            </a:r>
            <a:endParaRPr lang="en-US" dirty="0"/>
          </a:p>
          <a:p>
            <a:pPr lvl="1"/>
            <a:r>
              <a:rPr lang="en-US" dirty="0" smtClean="0"/>
              <a:t>Hypo </a:t>
            </a:r>
            <a:r>
              <a:rPr lang="en-US" dirty="0" err="1"/>
              <a:t>parathyroidism</a:t>
            </a:r>
            <a:endParaRPr lang="en-US" dirty="0"/>
          </a:p>
          <a:p>
            <a:pPr lvl="1"/>
            <a:r>
              <a:rPr lang="en-US" dirty="0" smtClean="0"/>
              <a:t>Renal </a:t>
            </a:r>
            <a:r>
              <a:rPr lang="en-US" dirty="0"/>
              <a:t>disease/ failure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Vitamin D deficiency</a:t>
            </a:r>
          </a:p>
          <a:p>
            <a:r>
              <a:rPr lang="en-US" b="1" dirty="0"/>
              <a:t>Chronic deficiency</a:t>
            </a:r>
            <a:r>
              <a:rPr lang="en-US" dirty="0"/>
              <a:t> leads to loss of bone mass (bone </a:t>
            </a:r>
            <a:r>
              <a:rPr lang="en-US" dirty="0" err="1"/>
              <a:t>resorption</a:t>
            </a:r>
            <a:r>
              <a:rPr lang="en-US" dirty="0"/>
              <a:t>) and osteoporosis, bone fractures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PHOSPHORUS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Important </a:t>
            </a:r>
            <a:r>
              <a:rPr lang="en-US" dirty="0"/>
              <a:t>in Bones &amp; teeth, Other metabolisms rare Equal to calcium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SODIUM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Processed foods, salt Osmotic skeleton of extracellular fluid &gt;10g intake/d increase B.P. 5g/d </a:t>
            </a:r>
          </a:p>
          <a:p>
            <a:r>
              <a:rPr lang="en-US" b="1" dirty="0"/>
              <a:t>Functions:</a:t>
            </a:r>
            <a:endParaRPr lang="en-US" dirty="0"/>
          </a:p>
          <a:p>
            <a:r>
              <a:rPr lang="en-US" dirty="0"/>
              <a:t>• Sodium maintains osmotic pressure of extra cellular fluid and ECF balance.</a:t>
            </a:r>
          </a:p>
          <a:p>
            <a:r>
              <a:rPr lang="en-US" dirty="0"/>
              <a:t>• It has a role , along with others, in the </a:t>
            </a:r>
            <a:r>
              <a:rPr lang="en-US" dirty="0" err="1"/>
              <a:t>neuro</a:t>
            </a:r>
            <a:r>
              <a:rPr lang="en-US" dirty="0"/>
              <a:t> muscular excitability</a:t>
            </a:r>
          </a:p>
          <a:p>
            <a:r>
              <a:rPr lang="en-US" dirty="0"/>
              <a:t>• Sodium is exchanged with Hydrogen in renal tubules to acidify urine.</a:t>
            </a:r>
          </a:p>
          <a:p>
            <a:r>
              <a:rPr lang="en-US" dirty="0"/>
              <a:t>• Sodium pump keeps sodium in far higher concentration outside the cell .This results high polarization, create resting membrane potential.</a:t>
            </a:r>
          </a:p>
          <a:p>
            <a:r>
              <a:rPr lang="en-US" dirty="0"/>
              <a:t>• Sodium and Potassium maintain the degree of hydration of plasma proteins, and there by viscosity of blood.</a:t>
            </a:r>
          </a:p>
          <a:p>
            <a:r>
              <a:rPr lang="en-US" dirty="0"/>
              <a:t>• Potassium is critically important for the functioning of cardiac muscle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POTASSIUM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Occurs widely in foodstuffs, little likelihood of deficiency </a:t>
            </a:r>
            <a:r>
              <a:rPr lang="en-US" dirty="0" err="1"/>
              <a:t>Vasoactive</a:t>
            </a:r>
            <a:r>
              <a:rPr lang="en-US" dirty="0"/>
              <a:t>, increases blood flow, sustains metabolic needs of tissue, lowers B.P., intracellular </a:t>
            </a:r>
            <a:r>
              <a:rPr lang="en-US" dirty="0" err="1"/>
              <a:t>osmolality</a:t>
            </a:r>
            <a:r>
              <a:rPr lang="en-US" dirty="0"/>
              <a:t> Little likelihood of deficiency </a:t>
            </a:r>
            <a:r>
              <a:rPr lang="en-US" dirty="0" err="1"/>
              <a:t>Hyperkalemia</a:t>
            </a:r>
            <a:r>
              <a:rPr lang="en-US" dirty="0"/>
              <a:t> –ECG changes (cardiac arrest) 1:1 ratio of sodium: potassium (</a:t>
            </a:r>
            <a:r>
              <a:rPr lang="en-US" dirty="0" err="1"/>
              <a:t>mmol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b="1" dirty="0" smtClean="0"/>
              <a:t>Functions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• Constituent of bone and teeth</a:t>
            </a:r>
          </a:p>
          <a:p>
            <a:r>
              <a:rPr lang="en-US" dirty="0"/>
              <a:t>• Needed for the synthesis of energy rich molecules like ATP and </a:t>
            </a:r>
            <a:r>
              <a:rPr lang="en-US" dirty="0" err="1"/>
              <a:t>Creatin</a:t>
            </a:r>
            <a:r>
              <a:rPr lang="en-US" dirty="0"/>
              <a:t> phosphate.</a:t>
            </a:r>
          </a:p>
          <a:p>
            <a:r>
              <a:rPr lang="en-US" dirty="0"/>
              <a:t>• It forms Phosphate buffer in blood.</a:t>
            </a:r>
          </a:p>
          <a:p>
            <a:r>
              <a:rPr lang="en-US" dirty="0"/>
              <a:t>• Constituent of phospholipids, </a:t>
            </a:r>
            <a:r>
              <a:rPr lang="en-US" dirty="0" err="1"/>
              <a:t>biomolecules</a:t>
            </a:r>
            <a:r>
              <a:rPr lang="en-US" dirty="0"/>
              <a:t> and coenzymes (TPP).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MAGNESIUM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MAGNESIUM</a:t>
            </a:r>
            <a:r>
              <a:rPr lang="en-US" dirty="0"/>
              <a:t>: Metabolism of calcium and potassium Irritability, </a:t>
            </a:r>
            <a:r>
              <a:rPr lang="en-US" dirty="0" err="1"/>
              <a:t>tetany</a:t>
            </a:r>
            <a:r>
              <a:rPr lang="en-US" dirty="0"/>
              <a:t>, hyper-</a:t>
            </a:r>
            <a:r>
              <a:rPr lang="en-US" dirty="0" err="1"/>
              <a:t>reflexia</a:t>
            </a:r>
            <a:r>
              <a:rPr lang="en-US" dirty="0"/>
              <a:t>, hypo- </a:t>
            </a:r>
            <a:r>
              <a:rPr lang="en-US" dirty="0" err="1"/>
              <a:t>reflexia</a:t>
            </a:r>
            <a:r>
              <a:rPr lang="en-US" dirty="0"/>
              <a:t> 340mg/day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Functions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• Role in enzyme action. It is a cofactor for peptidases, </a:t>
            </a:r>
            <a:r>
              <a:rPr lang="en-US" dirty="0" err="1"/>
              <a:t>ribonucleases</a:t>
            </a:r>
            <a:r>
              <a:rPr lang="en-US" dirty="0"/>
              <a:t>, </a:t>
            </a:r>
            <a:r>
              <a:rPr lang="en-US" dirty="0" err="1"/>
              <a:t>glycolytic</a:t>
            </a:r>
            <a:r>
              <a:rPr lang="en-US" dirty="0"/>
              <a:t> enzymes</a:t>
            </a:r>
          </a:p>
          <a:p>
            <a:r>
              <a:rPr lang="en-US" dirty="0"/>
              <a:t>• Its action is similar to that of calcium in neuromuscular irritability.</a:t>
            </a:r>
          </a:p>
          <a:p>
            <a:r>
              <a:rPr lang="en-US" dirty="0"/>
              <a:t>• High levels depress nerve conduction, low levels may cause </a:t>
            </a:r>
            <a:r>
              <a:rPr lang="en-US" dirty="0" err="1"/>
              <a:t>Tetany</a:t>
            </a:r>
            <a:r>
              <a:rPr lang="en-US" dirty="0"/>
              <a:t>.</a:t>
            </a:r>
          </a:p>
          <a:p>
            <a:r>
              <a:rPr lang="en-US" dirty="0"/>
              <a:t>• Major part is found in bones. In teeth, it is present as dentin and enamel.</a:t>
            </a:r>
          </a:p>
          <a:p>
            <a:r>
              <a:rPr lang="en-US" dirty="0"/>
              <a:t>• Magnesium deficiency occurs rarely in man.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653</Words>
  <Application>Microsoft Office PowerPoint</Application>
  <PresentationFormat>On-screen Show (4:3)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TOPIC TWO SUB TOPIC 5: MINERALS MICROMOLECULE </vt:lpstr>
      <vt:lpstr>MINERALS MICROMOLECULE</vt:lpstr>
      <vt:lpstr>Introduction</vt:lpstr>
      <vt:lpstr>IRON</vt:lpstr>
      <vt:lpstr>CALCIUM:</vt:lpstr>
      <vt:lpstr>Functions:</vt:lpstr>
      <vt:lpstr>Clinical conditions:</vt:lpstr>
      <vt:lpstr>PHOSPHORUS:</vt:lpstr>
      <vt:lpstr>SODIUM</vt:lpstr>
      <vt:lpstr>POTASSIUM</vt:lpstr>
      <vt:lpstr>MAGNESIUM: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TWO SUB TOPIC 5: MINERALS MICROMOLECULE </dc:title>
  <dc:creator>user</dc:creator>
  <cp:lastModifiedBy>user</cp:lastModifiedBy>
  <cp:revision>1</cp:revision>
  <dcterms:created xsi:type="dcterms:W3CDTF">2020-12-01T11:25:45Z</dcterms:created>
  <dcterms:modified xsi:type="dcterms:W3CDTF">2020-12-01T11:45:42Z</dcterms:modified>
</cp:coreProperties>
</file>