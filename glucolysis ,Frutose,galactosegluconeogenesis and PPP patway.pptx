
<file path=[Content_Types].xml><?xml version="1.0" encoding="utf-8"?>
<Types xmlns="http://schemas.openxmlformats.org/package/2006/content-types">
  <Default Extension="xml" ContentType="application/xml"/>
  <Default Extension="bin" ContentType="application/vnd.openxmlformats-officedocument.oleObject"/>
  <Default Extension="jpeg" ContentType="image/jpeg"/>
  <Default Extension="rels" ContentType="application/vnd.openxmlformats-package.relationships+xml"/>
  <Default Extension="emf" ContentType="image/x-emf"/>
  <Default Extension="vml" ContentType="application/vnd.openxmlformats-officedocument.vmlDrawing"/>
  <Default Extension="gif" ContentType="image/gif"/>
  <Default Extension="png" ContentType="image/png"/>
  <Default Extension="wmf" ContentType="image/x-w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8" r:id="rId2"/>
  </p:sldMasterIdLst>
  <p:sldIdLst>
    <p:sldId id="256" r:id="rId3"/>
    <p:sldId id="330" r:id="rId4"/>
    <p:sldId id="260" r:id="rId5"/>
    <p:sldId id="258" r:id="rId6"/>
    <p:sldId id="259" r:id="rId7"/>
    <p:sldId id="261" r:id="rId8"/>
    <p:sldId id="262" r:id="rId9"/>
    <p:sldId id="263" r:id="rId10"/>
    <p:sldId id="329" r:id="rId11"/>
    <p:sldId id="331" r:id="rId12"/>
    <p:sldId id="334" r:id="rId13"/>
    <p:sldId id="336" r:id="rId14"/>
    <p:sldId id="335" r:id="rId15"/>
    <p:sldId id="337" r:id="rId16"/>
    <p:sldId id="338" r:id="rId17"/>
    <p:sldId id="339" r:id="rId18"/>
    <p:sldId id="340" r:id="rId19"/>
    <p:sldId id="341" r:id="rId20"/>
    <p:sldId id="342" r:id="rId21"/>
    <p:sldId id="343" r:id="rId22"/>
    <p:sldId id="344" r:id="rId23"/>
    <p:sldId id="345" r:id="rId24"/>
    <p:sldId id="346" r:id="rId25"/>
    <p:sldId id="347" r:id="rId26"/>
    <p:sldId id="348" r:id="rId27"/>
    <p:sldId id="349" r:id="rId28"/>
    <p:sldId id="351" r:id="rId29"/>
    <p:sldId id="350" r:id="rId30"/>
    <p:sldId id="352" r:id="rId31"/>
    <p:sldId id="353" r:id="rId32"/>
    <p:sldId id="354" r:id="rId33"/>
    <p:sldId id="265" r:id="rId34"/>
    <p:sldId id="266" r:id="rId35"/>
    <p:sldId id="267" r:id="rId36"/>
    <p:sldId id="268" r:id="rId37"/>
    <p:sldId id="269" r:id="rId38"/>
    <p:sldId id="270" r:id="rId39"/>
    <p:sldId id="271" r:id="rId40"/>
    <p:sldId id="272" r:id="rId41"/>
    <p:sldId id="273" r:id="rId42"/>
    <p:sldId id="274" r:id="rId43"/>
    <p:sldId id="277" r:id="rId44"/>
    <p:sldId id="275" r:id="rId45"/>
    <p:sldId id="276" r:id="rId46"/>
    <p:sldId id="278" r:id="rId47"/>
    <p:sldId id="285" r:id="rId48"/>
    <p:sldId id="286" r:id="rId49"/>
    <p:sldId id="287" r:id="rId50"/>
    <p:sldId id="333" r:id="rId51"/>
    <p:sldId id="279" r:id="rId52"/>
    <p:sldId id="280" r:id="rId53"/>
    <p:sldId id="281" r:id="rId54"/>
    <p:sldId id="282" r:id="rId55"/>
    <p:sldId id="283" r:id="rId56"/>
    <p:sldId id="284" r:id="rId57"/>
    <p:sldId id="288" r:id="rId58"/>
    <p:sldId id="289" r:id="rId59"/>
    <p:sldId id="290" r:id="rId60"/>
    <p:sldId id="291" r:id="rId61"/>
    <p:sldId id="292" r:id="rId62"/>
    <p:sldId id="293" r:id="rId63"/>
    <p:sldId id="294" r:id="rId64"/>
    <p:sldId id="295" r:id="rId65"/>
    <p:sldId id="296" r:id="rId66"/>
    <p:sldId id="297" r:id="rId67"/>
    <p:sldId id="298" r:id="rId68"/>
    <p:sldId id="299" r:id="rId69"/>
    <p:sldId id="300" r:id="rId70"/>
    <p:sldId id="301" r:id="rId71"/>
    <p:sldId id="302" r:id="rId72"/>
    <p:sldId id="303" r:id="rId73"/>
    <p:sldId id="304" r:id="rId74"/>
    <p:sldId id="305" r:id="rId75"/>
    <p:sldId id="306" r:id="rId76"/>
    <p:sldId id="307" r:id="rId77"/>
    <p:sldId id="308" r:id="rId78"/>
    <p:sldId id="309" r:id="rId79"/>
    <p:sldId id="310" r:id="rId80"/>
    <p:sldId id="312" r:id="rId81"/>
    <p:sldId id="327" r:id="rId82"/>
    <p:sldId id="356" r:id="rId83"/>
    <p:sldId id="358" r:id="rId84"/>
    <p:sldId id="311" r:id="rId85"/>
    <p:sldId id="313" r:id="rId86"/>
    <p:sldId id="323" r:id="rId87"/>
    <p:sldId id="257" r:id="rId88"/>
    <p:sldId id="314" r:id="rId89"/>
    <p:sldId id="315" r:id="rId90"/>
    <p:sldId id="316" r:id="rId91"/>
    <p:sldId id="317" r:id="rId92"/>
    <p:sldId id="318" r:id="rId93"/>
    <p:sldId id="319" r:id="rId94"/>
    <p:sldId id="320" r:id="rId95"/>
    <p:sldId id="321" r:id="rId96"/>
    <p:sldId id="322" r:id="rId97"/>
    <p:sldId id="324" r:id="rId98"/>
    <p:sldId id="325" r:id="rId99"/>
    <p:sldId id="326" r:id="rId100"/>
    <p:sldId id="328" r:id="rId101"/>
    <p:sldId id="355" r:id="rId10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3CD2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961"/>
    <p:restoredTop sz="50000"/>
  </p:normalViewPr>
  <p:slideViewPr>
    <p:cSldViewPr>
      <p:cViewPr varScale="1">
        <p:scale>
          <a:sx n="50" d="100"/>
          <a:sy n="50" d="100"/>
        </p:scale>
        <p:origin x="2336" y="16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01" Type="http://schemas.openxmlformats.org/officeDocument/2006/relationships/slide" Target="slides/slide99.xml"/><Relationship Id="rId102" Type="http://schemas.openxmlformats.org/officeDocument/2006/relationships/slide" Target="slides/slide100.xml"/><Relationship Id="rId103" Type="http://schemas.openxmlformats.org/officeDocument/2006/relationships/presProps" Target="presProps.xml"/><Relationship Id="rId104" Type="http://schemas.openxmlformats.org/officeDocument/2006/relationships/viewProps" Target="viewProps.xml"/><Relationship Id="rId105" Type="http://schemas.openxmlformats.org/officeDocument/2006/relationships/theme" Target="theme/theme1.xml"/><Relationship Id="rId106"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70" Type="http://schemas.openxmlformats.org/officeDocument/2006/relationships/slide" Target="slides/slide68.xml"/><Relationship Id="rId71" Type="http://schemas.openxmlformats.org/officeDocument/2006/relationships/slide" Target="slides/slide69.xml"/><Relationship Id="rId72" Type="http://schemas.openxmlformats.org/officeDocument/2006/relationships/slide" Target="slides/slide70.xml"/><Relationship Id="rId73" Type="http://schemas.openxmlformats.org/officeDocument/2006/relationships/slide" Target="slides/slide71.xml"/><Relationship Id="rId74" Type="http://schemas.openxmlformats.org/officeDocument/2006/relationships/slide" Target="slides/slide72.xml"/><Relationship Id="rId75" Type="http://schemas.openxmlformats.org/officeDocument/2006/relationships/slide" Target="slides/slide73.xml"/><Relationship Id="rId76" Type="http://schemas.openxmlformats.org/officeDocument/2006/relationships/slide" Target="slides/slide74.xml"/><Relationship Id="rId77" Type="http://schemas.openxmlformats.org/officeDocument/2006/relationships/slide" Target="slides/slide75.xml"/><Relationship Id="rId78" Type="http://schemas.openxmlformats.org/officeDocument/2006/relationships/slide" Target="slides/slide76.xml"/><Relationship Id="rId79" Type="http://schemas.openxmlformats.org/officeDocument/2006/relationships/slide" Target="slides/slide77.xml"/><Relationship Id="rId90" Type="http://schemas.openxmlformats.org/officeDocument/2006/relationships/slide" Target="slides/slide88.xml"/><Relationship Id="rId91" Type="http://schemas.openxmlformats.org/officeDocument/2006/relationships/slide" Target="slides/slide89.xml"/><Relationship Id="rId92" Type="http://schemas.openxmlformats.org/officeDocument/2006/relationships/slide" Target="slides/slide90.xml"/><Relationship Id="rId93" Type="http://schemas.openxmlformats.org/officeDocument/2006/relationships/slide" Target="slides/slide91.xml"/><Relationship Id="rId94" Type="http://schemas.openxmlformats.org/officeDocument/2006/relationships/slide" Target="slides/slide92.xml"/><Relationship Id="rId95" Type="http://schemas.openxmlformats.org/officeDocument/2006/relationships/slide" Target="slides/slide93.xml"/><Relationship Id="rId96" Type="http://schemas.openxmlformats.org/officeDocument/2006/relationships/slide" Target="slides/slide94.xml"/><Relationship Id="rId97" Type="http://schemas.openxmlformats.org/officeDocument/2006/relationships/slide" Target="slides/slide95.xml"/><Relationship Id="rId98" Type="http://schemas.openxmlformats.org/officeDocument/2006/relationships/slide" Target="slides/slide96.xml"/><Relationship Id="rId99" Type="http://schemas.openxmlformats.org/officeDocument/2006/relationships/slide" Target="slides/slide9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slide" Target="slides/slide63.xml"/><Relationship Id="rId66" Type="http://schemas.openxmlformats.org/officeDocument/2006/relationships/slide" Target="slides/slide64.xml"/><Relationship Id="rId67" Type="http://schemas.openxmlformats.org/officeDocument/2006/relationships/slide" Target="slides/slide65.xml"/><Relationship Id="rId68" Type="http://schemas.openxmlformats.org/officeDocument/2006/relationships/slide" Target="slides/slide66.xml"/><Relationship Id="rId69" Type="http://schemas.openxmlformats.org/officeDocument/2006/relationships/slide" Target="slides/slide67.xml"/><Relationship Id="rId100" Type="http://schemas.openxmlformats.org/officeDocument/2006/relationships/slide" Target="slides/slide98.xml"/><Relationship Id="rId80" Type="http://schemas.openxmlformats.org/officeDocument/2006/relationships/slide" Target="slides/slide78.xml"/><Relationship Id="rId81" Type="http://schemas.openxmlformats.org/officeDocument/2006/relationships/slide" Target="slides/slide79.xml"/><Relationship Id="rId82" Type="http://schemas.openxmlformats.org/officeDocument/2006/relationships/slide" Target="slides/slide80.xml"/><Relationship Id="rId83" Type="http://schemas.openxmlformats.org/officeDocument/2006/relationships/slide" Target="slides/slide81.xml"/><Relationship Id="rId84" Type="http://schemas.openxmlformats.org/officeDocument/2006/relationships/slide" Target="slides/slide82.xml"/><Relationship Id="rId85" Type="http://schemas.openxmlformats.org/officeDocument/2006/relationships/slide" Target="slides/slide83.xml"/><Relationship Id="rId86" Type="http://schemas.openxmlformats.org/officeDocument/2006/relationships/slide" Target="slides/slide84.xml"/><Relationship Id="rId87" Type="http://schemas.openxmlformats.org/officeDocument/2006/relationships/slide" Target="slides/slide85.xml"/><Relationship Id="rId88" Type="http://schemas.openxmlformats.org/officeDocument/2006/relationships/slide" Target="slides/slide86.xml"/><Relationship Id="rId89" Type="http://schemas.openxmlformats.org/officeDocument/2006/relationships/slide" Target="slides/slide8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0.wmf"/><Relationship Id="rId2" Type="http://schemas.openxmlformats.org/officeDocument/2006/relationships/image" Target="../media/image3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68.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73.png"/></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74.png"/></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75.pn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9144677" cy="68580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6065417" y="5054602"/>
            <a:ext cx="673276" cy="279400"/>
          </a:xfrm>
        </p:spPr>
        <p:txBody>
          <a:bodyPr/>
          <a:lstStyle/>
          <a:p>
            <a:fld id="{1E428E6E-1BF7-4B8E-9AB5-4CDE1CC2B185}" type="datetimeFigureOut">
              <a:rPr lang="en-US" smtClean="0"/>
              <a:pPr/>
              <a:t>11/9/24</a:t>
            </a:fld>
            <a:endParaRPr lang="en-GB"/>
          </a:p>
        </p:txBody>
      </p:sp>
      <p:sp>
        <p:nvSpPr>
          <p:cNvPr id="5" name="Footer Placeholder 4"/>
          <p:cNvSpPr>
            <a:spLocks noGrp="1"/>
          </p:cNvSpPr>
          <p:nvPr>
            <p:ph type="ftr" sz="quarter" idx="11"/>
          </p:nvPr>
        </p:nvSpPr>
        <p:spPr>
          <a:xfrm>
            <a:off x="1921934" y="5054602"/>
            <a:ext cx="4064860" cy="279400"/>
          </a:xfrm>
        </p:spPr>
        <p:txBody>
          <a:bodyPr/>
          <a:lstStyle/>
          <a:p>
            <a:endParaRPr lang="en-GB"/>
          </a:p>
        </p:txBody>
      </p:sp>
      <p:sp>
        <p:nvSpPr>
          <p:cNvPr id="6" name="Slide Number Placeholder 5"/>
          <p:cNvSpPr>
            <a:spLocks noGrp="1"/>
          </p:cNvSpPr>
          <p:nvPr>
            <p:ph type="sldNum" sz="quarter" idx="12"/>
          </p:nvPr>
        </p:nvSpPr>
        <p:spPr>
          <a:xfrm>
            <a:off x="6817317" y="5054602"/>
            <a:ext cx="413483" cy="279400"/>
          </a:xfrm>
        </p:spPr>
        <p:txBody>
          <a:bodyPr/>
          <a:lstStyle/>
          <a:p>
            <a:fld id="{501BC0D8-2105-4DE6-9F4D-8EF2911863E2}" type="slidenum">
              <a:rPr lang="en-GB" smtClean="0"/>
              <a:pPr/>
              <a:t>‹#›</a:t>
            </a:fld>
            <a:endParaRPr lang="en-GB"/>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814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E428E6E-1BF7-4B8E-9AB5-4CDE1CC2B185}" type="datetimeFigureOut">
              <a:rPr lang="en-US" smtClean="0"/>
              <a:pPr/>
              <a:t>11/9/24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01BC0D8-2105-4DE6-9F4D-8EF2911863E2}" type="slidenum">
              <a:rPr lang="en-GB" smtClean="0"/>
              <a:pPr/>
              <a:t>‹#›</a:t>
            </a:fld>
            <a:endParaRPr lang="en-GB"/>
          </a:p>
        </p:txBody>
      </p:sp>
    </p:spTree>
    <p:extLst>
      <p:ext uri="{BB962C8B-B14F-4D97-AF65-F5344CB8AC3E}">
        <p14:creationId xmlns:p14="http://schemas.microsoft.com/office/powerpoint/2010/main" val="18137701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E428E6E-1BF7-4B8E-9AB5-4CDE1CC2B185}" type="datetimeFigureOut">
              <a:rPr lang="en-US" smtClean="0"/>
              <a:pPr/>
              <a:t>11/9/24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01BC0D8-2105-4DE6-9F4D-8EF2911863E2}" type="slidenum">
              <a:rPr lang="en-GB" smtClean="0"/>
              <a:pPr/>
              <a:t>‹#›</a:t>
            </a:fld>
            <a:endParaRPr lang="en-GB"/>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86464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E428E6E-1BF7-4B8E-9AB5-4CDE1CC2B185}" type="datetimeFigureOut">
              <a:rPr lang="en-US" smtClean="0"/>
              <a:pPr/>
              <a:t>11/9/24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01BC0D8-2105-4DE6-9F4D-8EF2911863E2}" type="slidenum">
              <a:rPr lang="en-GB" smtClean="0"/>
              <a:pPr/>
              <a:t>‹#›</a:t>
            </a:fld>
            <a:endParaRPr lang="en-GB"/>
          </a:p>
        </p:txBody>
      </p:sp>
    </p:spTree>
    <p:extLst>
      <p:ext uri="{BB962C8B-B14F-4D97-AF65-F5344CB8AC3E}">
        <p14:creationId xmlns:p14="http://schemas.microsoft.com/office/powerpoint/2010/main" val="2283865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E428E6E-1BF7-4B8E-9AB5-4CDE1CC2B185}" type="datetimeFigureOut">
              <a:rPr lang="en-US" smtClean="0"/>
              <a:pPr/>
              <a:t>11/9/24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01BC0D8-2105-4DE6-9F4D-8EF2911863E2}" type="slidenum">
              <a:rPr lang="en-GB" smtClean="0"/>
              <a:pPr/>
              <a:t>‹#›</a:t>
            </a:fld>
            <a:endParaRPr lang="en-GB"/>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362203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E428E6E-1BF7-4B8E-9AB5-4CDE1CC2B185}" type="datetimeFigureOut">
              <a:rPr lang="en-US" smtClean="0"/>
              <a:pPr/>
              <a:t>11/9/24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01BC0D8-2105-4DE6-9F4D-8EF2911863E2}" type="slidenum">
              <a:rPr lang="en-GB" smtClean="0"/>
              <a:pPr/>
              <a:t>‹#›</a:t>
            </a:fld>
            <a:endParaRPr lang="en-GB"/>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423211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428E6E-1BF7-4B8E-9AB5-4CDE1CC2B185}" type="datetimeFigureOut">
              <a:rPr lang="en-US" smtClean="0"/>
              <a:pPr/>
              <a:t>11/9/24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501BC0D8-2105-4DE6-9F4D-8EF2911863E2}" type="slidenum">
              <a:rPr lang="en-GB" smtClean="0"/>
              <a:pPr/>
              <a:t>‹#›</a:t>
            </a:fld>
            <a:endParaRPr lang="en-GB"/>
          </a:p>
        </p:txBody>
      </p:sp>
    </p:spTree>
    <p:extLst>
      <p:ext uri="{BB962C8B-B14F-4D97-AF65-F5344CB8AC3E}">
        <p14:creationId xmlns:p14="http://schemas.microsoft.com/office/powerpoint/2010/main" val="4408539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428E6E-1BF7-4B8E-9AB5-4CDE1CC2B185}" type="datetimeFigureOut">
              <a:rPr lang="en-US" smtClean="0"/>
              <a:pPr/>
              <a:t>11/9/24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01BC0D8-2105-4DE6-9F4D-8EF2911863E2}" type="slidenum">
              <a:rPr lang="en-GB" smtClean="0"/>
              <a:pPr/>
              <a:t>‹#›</a:t>
            </a:fld>
            <a:endParaRPr lang="en-GB"/>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607065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428E6E-1BF7-4B8E-9AB5-4CDE1CC2B185}" type="datetimeFigureOut">
              <a:rPr lang="en-US" smtClean="0"/>
              <a:pPr/>
              <a:t>11/9/24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01BC0D8-2105-4DE6-9F4D-8EF2911863E2}" type="slidenum">
              <a:rPr lang="en-GB" smtClean="0"/>
              <a:pPr/>
              <a:t>‹#›</a:t>
            </a:fld>
            <a:endParaRPr lang="en-GB"/>
          </a:p>
        </p:txBody>
      </p:sp>
    </p:spTree>
    <p:extLst>
      <p:ext uri="{BB962C8B-B14F-4D97-AF65-F5344CB8AC3E}">
        <p14:creationId xmlns:p14="http://schemas.microsoft.com/office/powerpoint/2010/main" val="1437811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428E6E-1BF7-4B8E-9AB5-4CDE1CC2B185}" type="datetimeFigureOut">
              <a:rPr lang="en-US" smtClean="0"/>
              <a:pPr/>
              <a:t>11/9/24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01BC0D8-2105-4DE6-9F4D-8EF2911863E2}" type="slidenum">
              <a:rPr lang="en-GB" smtClean="0"/>
              <a:pPr/>
              <a:t>‹#›</a:t>
            </a:fld>
            <a:endParaRPr lang="en-GB"/>
          </a:p>
        </p:txBody>
      </p:sp>
    </p:spTree>
    <p:extLst>
      <p:ext uri="{BB962C8B-B14F-4D97-AF65-F5344CB8AC3E}">
        <p14:creationId xmlns:p14="http://schemas.microsoft.com/office/powerpoint/2010/main" val="3485474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E428E6E-1BF7-4B8E-9AB5-4CDE1CC2B185}" type="datetimeFigureOut">
              <a:rPr lang="en-US" smtClean="0"/>
              <a:pPr/>
              <a:t>11/9/24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01BC0D8-2105-4DE6-9F4D-8EF2911863E2}" type="slidenum">
              <a:rPr lang="en-GB" smtClean="0"/>
              <a:pPr/>
              <a:t>‹#›</a:t>
            </a:fld>
            <a:endParaRPr lang="en-GB"/>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286215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E428E6E-1BF7-4B8E-9AB5-4CDE1CC2B185}" type="datetimeFigureOut">
              <a:rPr lang="en-US" smtClean="0"/>
              <a:pPr/>
              <a:t>11/9/24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01BC0D8-2105-4DE6-9F4D-8EF2911863E2}" type="slidenum">
              <a:rPr lang="en-GB" smtClean="0"/>
              <a:pPr/>
              <a:t>‹#›</a:t>
            </a:fld>
            <a:endParaRPr lang="en-GB"/>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909497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E428E6E-1BF7-4B8E-9AB5-4CDE1CC2B185}" type="datetimeFigureOut">
              <a:rPr lang="en-US" smtClean="0"/>
              <a:pPr/>
              <a:t>11/9/24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01BC0D8-2105-4DE6-9F4D-8EF2911863E2}" type="slidenum">
              <a:rPr lang="en-GB" smtClean="0"/>
              <a:pPr/>
              <a:t>‹#›</a:t>
            </a:fld>
            <a:endParaRPr lang="en-GB"/>
          </a:p>
        </p:txBody>
      </p:sp>
    </p:spTree>
    <p:extLst>
      <p:ext uri="{BB962C8B-B14F-4D97-AF65-F5344CB8AC3E}">
        <p14:creationId xmlns:p14="http://schemas.microsoft.com/office/powerpoint/2010/main" val="2975490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E428E6E-1BF7-4B8E-9AB5-4CDE1CC2B185}" type="datetimeFigureOut">
              <a:rPr lang="en-US" smtClean="0"/>
              <a:pPr/>
              <a:t>11/9/24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01BC0D8-2105-4DE6-9F4D-8EF2911863E2}" type="slidenum">
              <a:rPr lang="en-GB" smtClean="0"/>
              <a:pPr/>
              <a:t>‹#›</a:t>
            </a:fld>
            <a:endParaRPr lang="en-GB"/>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585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smtClean="0"/>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E428E6E-1BF7-4B8E-9AB5-4CDE1CC2B185}" type="datetimeFigureOut">
              <a:rPr lang="en-US" smtClean="0"/>
              <a:pPr/>
              <a:t>11/9/24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01BC0D8-2105-4DE6-9F4D-8EF2911863E2}" type="slidenum">
              <a:rPr lang="en-GB" smtClean="0"/>
              <a:pPr/>
              <a:t>‹#›</a:t>
            </a:fld>
            <a:endParaRPr lang="en-GB"/>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737772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E428E6E-1BF7-4B8E-9AB5-4CDE1CC2B185}" type="datetimeFigureOut">
              <a:rPr lang="en-US" smtClean="0"/>
              <a:pPr/>
              <a:t>11/9/24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01BC0D8-2105-4DE6-9F4D-8EF2911863E2}" type="slidenum">
              <a:rPr lang="en-GB" smtClean="0"/>
              <a:pPr/>
              <a:t>‹#›</a:t>
            </a:fld>
            <a:endParaRPr lang="en-GB"/>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279518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E428E6E-1BF7-4B8E-9AB5-4CDE1CC2B185}" type="datetimeFigureOut">
              <a:rPr lang="en-US" smtClean="0"/>
              <a:pPr/>
              <a:t>11/9/24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01BC0D8-2105-4DE6-9F4D-8EF2911863E2}" type="slidenum">
              <a:rPr lang="en-GB" smtClean="0"/>
              <a:pPr/>
              <a:t>‹#›</a:t>
            </a:fld>
            <a:endParaRPr lang="en-GB"/>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527810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2700" y="0"/>
            <a:ext cx="917337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019299" y="1871132"/>
            <a:ext cx="5111752" cy="1515533"/>
          </a:xfrm>
        </p:spPr>
        <p:txBody>
          <a:bodyPr anchor="b">
            <a:noAutofit/>
          </a:bodyPr>
          <a:lstStyle>
            <a:lvl1pPr algn="ctr">
              <a:defRPr sz="405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019299" y="3657597"/>
            <a:ext cx="5111752" cy="1320802"/>
          </a:xfrm>
        </p:spPr>
        <p:txBody>
          <a:bodyPr anchor="t">
            <a:normAutofit/>
          </a:bodyPr>
          <a:lstStyle>
            <a:lvl1pPr marL="0" indent="0" algn="ctr">
              <a:buNone/>
              <a:defRPr sz="1575">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5987425" y="5037663"/>
            <a:ext cx="673100" cy="279400"/>
          </a:xfrm>
        </p:spPr>
        <p:txBody>
          <a:bodyPr/>
          <a:lstStyle/>
          <a:p>
            <a:fld id="{B61BEF0D-F0BB-DE4B-95CE-6DB70DBA9567}" type="datetimeFigureOut">
              <a:rPr lang="en-US" dirty="0">
                <a:solidFill>
                  <a:prstClr val="black"/>
                </a:solidFill>
              </a:rPr>
              <a:pPr/>
              <a:t>11/9/24</a:t>
            </a:fld>
            <a:endParaRPr lang="en-US" dirty="0">
              <a:solidFill>
                <a:prstClr val="black"/>
              </a:solidFill>
            </a:endParaRPr>
          </a:p>
        </p:txBody>
      </p:sp>
      <p:sp>
        <p:nvSpPr>
          <p:cNvPr id="5" name="Footer Placeholder 4"/>
          <p:cNvSpPr>
            <a:spLocks noGrp="1"/>
          </p:cNvSpPr>
          <p:nvPr>
            <p:ph type="ftr" sz="quarter" idx="11"/>
          </p:nvPr>
        </p:nvSpPr>
        <p:spPr>
          <a:xfrm>
            <a:off x="2019298" y="5037663"/>
            <a:ext cx="3910976" cy="279400"/>
          </a:xfrm>
        </p:spPr>
        <p:txBody>
          <a:bodyPr/>
          <a:lstStyle/>
          <a:p>
            <a:endParaRPr lang="en-US" dirty="0">
              <a:solidFill>
                <a:prstClr val="black"/>
              </a:solidFill>
            </a:endParaRPr>
          </a:p>
        </p:txBody>
      </p:sp>
      <p:sp>
        <p:nvSpPr>
          <p:cNvPr id="6" name="Slide Number Placeholder 5"/>
          <p:cNvSpPr>
            <a:spLocks noGrp="1"/>
          </p:cNvSpPr>
          <p:nvPr>
            <p:ph type="sldNum" sz="quarter" idx="12"/>
          </p:nvPr>
        </p:nvSpPr>
        <p:spPr>
          <a:xfrm>
            <a:off x="6717676" y="5037663"/>
            <a:ext cx="413375" cy="279400"/>
          </a:xfrm>
        </p:spPr>
        <p:txBody>
          <a:bodyPr/>
          <a:lstStyle/>
          <a:p>
            <a:fld id="{D57F1E4F-1CFF-5643-939E-217C01CDF565}" type="slidenum">
              <a:rPr lang="en-US" dirty="0">
                <a:solidFill>
                  <a:prstClr val="black"/>
                </a:solidFill>
              </a:rPr>
              <a:pPr/>
              <a:t>‹#›</a:t>
            </a:fld>
            <a:endParaRPr lang="en-US" dirty="0">
              <a:solidFill>
                <a:prstClr val="black"/>
              </a:solidFill>
            </a:endParaRPr>
          </a:p>
        </p:txBody>
      </p:sp>
      <p:cxnSp>
        <p:nvCxnSpPr>
          <p:cNvPr id="15" name="Straight Connector 14"/>
          <p:cNvCxnSpPr/>
          <p:nvPr/>
        </p:nvCxnSpPr>
        <p:spPr>
          <a:xfrm>
            <a:off x="2019299" y="3522131"/>
            <a:ext cx="5111751"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752781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047127" y="2421466"/>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solidFill>
                  <a:prstClr val="black"/>
                </a:solidFill>
              </a:rPr>
              <a:pPr/>
              <a:t>11/9/24</a:t>
            </a:fld>
            <a:endParaRPr lang="en-US" dirty="0">
              <a:solidFill>
                <a:prstClr val="black"/>
              </a:solidFill>
            </a:endParaRPr>
          </a:p>
        </p:txBody>
      </p:sp>
      <p:sp>
        <p:nvSpPr>
          <p:cNvPr id="5" name="Footer Placeholder 4"/>
          <p:cNvSpPr>
            <a:spLocks noGrp="1"/>
          </p:cNvSpPr>
          <p:nvPr>
            <p:ph type="ftr" sz="quarter" idx="11"/>
          </p:nvPr>
        </p:nvSpPr>
        <p:spPr/>
        <p:txBody>
          <a:bodyPr/>
          <a:lstStyle/>
          <a:p>
            <a:endParaRPr lang="en-US" dirty="0">
              <a:solidFill>
                <a:prstClr val="black"/>
              </a:solidFill>
            </a:endParaRPr>
          </a:p>
        </p:txBody>
      </p:sp>
      <p:sp>
        <p:nvSpPr>
          <p:cNvPr id="6" name="Slide Number Placeholder 5"/>
          <p:cNvSpPr>
            <a:spLocks noGrp="1"/>
          </p:cNvSpPr>
          <p:nvPr>
            <p:ph type="sldNum" sz="quarter" idx="12"/>
          </p:nvPr>
        </p:nvSpPr>
        <p:spPr/>
        <p:txBody>
          <a:bodyPr/>
          <a:lstStyle/>
          <a:p>
            <a:fld id="{E97799C9-84D9-46D2-A11E-BCF8A720529D}" type="slidenum">
              <a:rPr lang="en-US" dirty="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1562526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11302" y="1752606"/>
            <a:ext cx="6119016" cy="1822514"/>
          </a:xfrm>
        </p:spPr>
        <p:txBody>
          <a:bodyPr anchor="b">
            <a:normAutofit/>
          </a:bodyPr>
          <a:lstStyle>
            <a:lvl1pPr algn="ctr">
              <a:defRPr sz="33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511300" y="3846052"/>
            <a:ext cx="6119018" cy="954547"/>
          </a:xfrm>
        </p:spPr>
        <p:txBody>
          <a:bodyPr anchor="t">
            <a:normAutofit/>
          </a:bodyPr>
          <a:lstStyle>
            <a:lvl1pPr marL="0" indent="0" algn="ctr">
              <a:buNone/>
              <a:defRPr sz="18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solidFill>
              </a:rPr>
              <a:pPr/>
              <a:t>11/9/24</a:t>
            </a:fld>
            <a:endParaRPr lang="en-US" dirty="0">
              <a:solidFill>
                <a:prstClr val="black"/>
              </a:solidFill>
            </a:endParaRPr>
          </a:p>
        </p:txBody>
      </p:sp>
      <p:sp>
        <p:nvSpPr>
          <p:cNvPr id="5" name="Footer Placeholder 4"/>
          <p:cNvSpPr>
            <a:spLocks noGrp="1"/>
          </p:cNvSpPr>
          <p:nvPr>
            <p:ph type="ftr" sz="quarter" idx="11"/>
          </p:nvPr>
        </p:nvSpPr>
        <p:spPr/>
        <p:txBody>
          <a:bodyPr/>
          <a:lstStyle/>
          <a:p>
            <a:endParaRPr lang="en-US" dirty="0">
              <a:solidFill>
                <a:prstClr val="black"/>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prstClr val="black"/>
                </a:solidFill>
              </a:rPr>
              <a:pPr/>
              <a:t>‹#›</a:t>
            </a:fld>
            <a:endParaRPr lang="en-US" dirty="0">
              <a:solidFill>
                <a:prstClr val="black"/>
              </a:solidFill>
            </a:endParaRPr>
          </a:p>
        </p:txBody>
      </p:sp>
      <p:cxnSp>
        <p:nvCxnSpPr>
          <p:cNvPr id="16" name="Straight Connector 15"/>
          <p:cNvCxnSpPr/>
          <p:nvPr/>
        </p:nvCxnSpPr>
        <p:spPr>
          <a:xfrm>
            <a:off x="1509542" y="3710585"/>
            <a:ext cx="612253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639524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047127" y="2421466"/>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73836" y="2560320"/>
            <a:ext cx="3538728"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36008" y="2560320"/>
            <a:ext cx="3538728"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solidFill>
                  <a:prstClr val="black"/>
                </a:solidFill>
              </a:rPr>
              <a:pPr/>
              <a:t>11/9/24</a:t>
            </a:fld>
            <a:endParaRPr lang="en-US" dirty="0">
              <a:solidFill>
                <a:prstClr val="black"/>
              </a:solidFill>
            </a:endParaRPr>
          </a:p>
        </p:txBody>
      </p:sp>
      <p:sp>
        <p:nvSpPr>
          <p:cNvPr id="6" name="Footer Placeholder 5"/>
          <p:cNvSpPr>
            <a:spLocks noGrp="1"/>
          </p:cNvSpPr>
          <p:nvPr>
            <p:ph type="ftr" sz="quarter" idx="11"/>
          </p:nvPr>
        </p:nvSpPr>
        <p:spPr/>
        <p:txBody>
          <a:bodyPr/>
          <a:lstStyle/>
          <a:p>
            <a:endParaRPr lang="en-US" dirty="0">
              <a:solidFill>
                <a:prstClr val="black"/>
              </a:solidFill>
            </a:endParaRPr>
          </a:p>
        </p:txBody>
      </p:sp>
      <p:sp>
        <p:nvSpPr>
          <p:cNvPr id="7" name="Slide Number Placeholder 6"/>
          <p:cNvSpPr>
            <a:spLocks noGrp="1"/>
          </p:cNvSpPr>
          <p:nvPr>
            <p:ph type="sldNum" sz="quarter" idx="12"/>
          </p:nvPr>
        </p:nvSpPr>
        <p:spPr/>
        <p:txBody>
          <a:bodyPr/>
          <a:lstStyle/>
          <a:p>
            <a:fld id="{5D84065D-F351-4B03-BD91-D8A6B8D4B362}" type="slidenum">
              <a:rPr lang="en-US" dirty="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24580750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1550" y="2658533"/>
            <a:ext cx="3538728" cy="576262"/>
          </a:xfrm>
        </p:spPr>
        <p:txBody>
          <a:bodyPr anchor="b">
            <a:noAutofit/>
          </a:bodyPr>
          <a:lstStyle>
            <a:lvl1pPr marL="0" indent="0">
              <a:spcBef>
                <a:spcPts val="504"/>
              </a:spcBef>
              <a:spcAft>
                <a:spcPts val="450"/>
              </a:spcAft>
              <a:buNone/>
              <a:defRPr sz="21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971550" y="3243263"/>
            <a:ext cx="3538728"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35503" y="2658533"/>
            <a:ext cx="3538728" cy="576262"/>
          </a:xfrm>
        </p:spPr>
        <p:txBody>
          <a:bodyPr anchor="b">
            <a:noAutofit/>
          </a:bodyPr>
          <a:lstStyle>
            <a:lvl1pPr marL="0" indent="0">
              <a:spcBef>
                <a:spcPts val="504"/>
              </a:spcBef>
              <a:spcAft>
                <a:spcPts val="450"/>
              </a:spcAft>
              <a:buNone/>
              <a:defRPr sz="21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35503" y="3243263"/>
            <a:ext cx="3538728"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solidFill>
                  <a:prstClr val="black"/>
                </a:solidFill>
              </a:rPr>
              <a:pPr/>
              <a:t>11/9/24</a:t>
            </a:fld>
            <a:endParaRPr lang="en-US" dirty="0">
              <a:solidFill>
                <a:prstClr val="black"/>
              </a:solidFill>
            </a:endParaRPr>
          </a:p>
        </p:txBody>
      </p:sp>
      <p:sp>
        <p:nvSpPr>
          <p:cNvPr id="8" name="Footer Placeholder 7"/>
          <p:cNvSpPr>
            <a:spLocks noGrp="1"/>
          </p:cNvSpPr>
          <p:nvPr>
            <p:ph type="ftr" sz="quarter" idx="11"/>
          </p:nvPr>
        </p:nvSpPr>
        <p:spPr/>
        <p:txBody>
          <a:bodyPr/>
          <a:lstStyle/>
          <a:p>
            <a:endParaRPr lang="en-US" dirty="0">
              <a:solidFill>
                <a:prstClr val="black"/>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prstClr val="black"/>
                </a:solidFill>
              </a:rPr>
              <a:pPr/>
              <a:t>‹#›</a:t>
            </a:fld>
            <a:endParaRPr lang="en-US" dirty="0">
              <a:solidFill>
                <a:prstClr val="black"/>
              </a:solidFill>
            </a:endParaRPr>
          </a:p>
        </p:txBody>
      </p:sp>
      <p:cxnSp>
        <p:nvCxnSpPr>
          <p:cNvPr id="18" name="Straight Connector 17"/>
          <p:cNvCxnSpPr/>
          <p:nvPr/>
        </p:nvCxnSpPr>
        <p:spPr>
          <a:xfrm>
            <a:off x="1047127" y="2421466"/>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934626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solidFill>
                  <a:prstClr val="black"/>
                </a:solidFill>
              </a:rPr>
              <a:pPr/>
              <a:t>11/9/24</a:t>
            </a:fld>
            <a:endParaRPr lang="en-US" dirty="0">
              <a:solidFill>
                <a:prstClr val="black"/>
              </a:solidFill>
            </a:endParaRPr>
          </a:p>
        </p:txBody>
      </p:sp>
      <p:sp>
        <p:nvSpPr>
          <p:cNvPr id="4" name="Footer Placeholder 3"/>
          <p:cNvSpPr>
            <a:spLocks noGrp="1"/>
          </p:cNvSpPr>
          <p:nvPr>
            <p:ph type="ftr" sz="quarter" idx="11"/>
          </p:nvPr>
        </p:nvSpPr>
        <p:spPr/>
        <p:txBody>
          <a:bodyPr/>
          <a:lstStyle/>
          <a:p>
            <a:endParaRPr lang="en-US" dirty="0">
              <a:solidFill>
                <a:prstClr val="black"/>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prstClr val="black"/>
                </a:solidFill>
              </a:rPr>
              <a:pPr/>
              <a:t>‹#›</a:t>
            </a:fld>
            <a:endParaRPr lang="en-US" dirty="0">
              <a:solidFill>
                <a:prstClr val="black"/>
              </a:solidFill>
            </a:endParaRPr>
          </a:p>
        </p:txBody>
      </p:sp>
      <p:cxnSp>
        <p:nvCxnSpPr>
          <p:cNvPr id="14" name="Straight Connector 13"/>
          <p:cNvCxnSpPr/>
          <p:nvPr/>
        </p:nvCxnSpPr>
        <p:spPr>
          <a:xfrm>
            <a:off x="1047127" y="2421466"/>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283496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solidFill>
                  <a:prstClr val="black"/>
                </a:solidFill>
              </a:rPr>
              <a:pPr/>
              <a:t>11/9/24</a:t>
            </a:fld>
            <a:endParaRPr lang="en-US" dirty="0">
              <a:solidFill>
                <a:prstClr val="black"/>
              </a:solidFill>
            </a:endParaRPr>
          </a:p>
        </p:txBody>
      </p:sp>
      <p:sp>
        <p:nvSpPr>
          <p:cNvPr id="3" name="Footer Placeholder 2"/>
          <p:cNvSpPr>
            <a:spLocks noGrp="1"/>
          </p:cNvSpPr>
          <p:nvPr>
            <p:ph type="ftr" sz="quarter" idx="11"/>
          </p:nvPr>
        </p:nvSpPr>
        <p:spPr/>
        <p:txBody>
          <a:bodyPr/>
          <a:lstStyle/>
          <a:p>
            <a:endParaRPr lang="en-US" dirty="0">
              <a:solidFill>
                <a:prstClr val="black"/>
              </a:solidFill>
            </a:endParaRPr>
          </a:p>
        </p:txBody>
      </p:sp>
      <p:sp>
        <p:nvSpPr>
          <p:cNvPr id="4" name="Slide Number Placeholder 3"/>
          <p:cNvSpPr>
            <a:spLocks noGrp="1"/>
          </p:cNvSpPr>
          <p:nvPr>
            <p:ph type="sldNum" sz="quarter" idx="12"/>
          </p:nvPr>
        </p:nvSpPr>
        <p:spPr/>
        <p:txBody>
          <a:bodyPr/>
          <a:lstStyle/>
          <a:p>
            <a:fld id="{D57F1E4F-1CFF-5643-939E-217C01CDF565}" type="slidenum">
              <a:rPr lang="en-US" dirty="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41329083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0359" y="1388534"/>
            <a:ext cx="2788841" cy="1371600"/>
          </a:xfrm>
        </p:spPr>
        <p:txBody>
          <a:bodyPr anchor="b">
            <a:normAutofit/>
          </a:bodyPr>
          <a:lstStyle>
            <a:lvl1pPr algn="ctr">
              <a:defRPr sz="1800" b="0"/>
            </a:lvl1pPr>
          </a:lstStyle>
          <a:p>
            <a:r>
              <a:rPr lang="en-US" smtClean="0"/>
              <a:t>Click to edit Master title style</a:t>
            </a:r>
            <a:endParaRPr lang="en-US" dirty="0"/>
          </a:p>
        </p:txBody>
      </p:sp>
      <p:sp>
        <p:nvSpPr>
          <p:cNvPr id="3" name="Content Placeholder 2"/>
          <p:cNvSpPr>
            <a:spLocks noGrp="1"/>
          </p:cNvSpPr>
          <p:nvPr>
            <p:ph idx="1"/>
          </p:nvPr>
        </p:nvSpPr>
        <p:spPr>
          <a:xfrm>
            <a:off x="4064001" y="982132"/>
            <a:ext cx="4102100"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70359" y="3031065"/>
            <a:ext cx="2788841" cy="2438404"/>
          </a:xfrm>
        </p:spPr>
        <p:txBody>
          <a:bodyPr anchor="t">
            <a:normAutofit/>
          </a:bodyPr>
          <a:lstStyle>
            <a:lvl1pPr marL="0" indent="0" algn="ctr">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solidFill>
                  <a:prstClr val="black"/>
                </a:solidFill>
              </a:rPr>
              <a:pPr/>
              <a:t>11/9/24</a:t>
            </a:fld>
            <a:endParaRPr lang="en-US" dirty="0">
              <a:solidFill>
                <a:prstClr val="black"/>
              </a:solidFill>
            </a:endParaRPr>
          </a:p>
        </p:txBody>
      </p:sp>
      <p:sp>
        <p:nvSpPr>
          <p:cNvPr id="6" name="Footer Placeholder 5"/>
          <p:cNvSpPr>
            <a:spLocks noGrp="1"/>
          </p:cNvSpPr>
          <p:nvPr>
            <p:ph type="ftr" sz="quarter" idx="11"/>
          </p:nvPr>
        </p:nvSpPr>
        <p:spPr/>
        <p:txBody>
          <a:bodyPr/>
          <a:lstStyle/>
          <a:p>
            <a:endParaRPr lang="en-US" dirty="0">
              <a:solidFill>
                <a:prstClr val="black"/>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prstClr val="black"/>
                </a:solidFill>
              </a:rPr>
              <a:pPr/>
              <a:t>‹#›</a:t>
            </a:fld>
            <a:endParaRPr lang="en-US" dirty="0">
              <a:solidFill>
                <a:prstClr val="black"/>
              </a:solidFill>
            </a:endParaRPr>
          </a:p>
        </p:txBody>
      </p:sp>
      <p:cxnSp>
        <p:nvCxnSpPr>
          <p:cNvPr id="16" name="Straight Connector 15"/>
          <p:cNvCxnSpPr/>
          <p:nvPr/>
        </p:nvCxnSpPr>
        <p:spPr>
          <a:xfrm>
            <a:off x="1047127" y="2912533"/>
            <a:ext cx="26358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85017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1549" y="1883832"/>
            <a:ext cx="4681362" cy="1371600"/>
          </a:xfrm>
        </p:spPr>
        <p:txBody>
          <a:bodyPr anchor="b">
            <a:normAutofit/>
          </a:bodyPr>
          <a:lstStyle>
            <a:lvl1pPr algn="ctr">
              <a:defRPr sz="21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6071124" y="1041400"/>
            <a:ext cx="2297510"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smtClean="0"/>
              <a:t>Click icon to add picture</a:t>
            </a:r>
            <a:endParaRPr lang="en-US" dirty="0"/>
          </a:p>
        </p:txBody>
      </p:sp>
      <p:sp>
        <p:nvSpPr>
          <p:cNvPr id="4" name="Text Placeholder 3"/>
          <p:cNvSpPr>
            <a:spLocks noGrp="1"/>
          </p:cNvSpPr>
          <p:nvPr>
            <p:ph type="body" sz="half" idx="2"/>
          </p:nvPr>
        </p:nvSpPr>
        <p:spPr>
          <a:xfrm>
            <a:off x="971549" y="3255432"/>
            <a:ext cx="4681362" cy="1828800"/>
          </a:xfrm>
        </p:spPr>
        <p:txBody>
          <a:bodyPr anchor="t">
            <a:normAutofit/>
          </a:bodyPr>
          <a:lstStyle>
            <a:lvl1pPr marL="0" indent="0" algn="ctr">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solidFill>
                  <a:prstClr val="black"/>
                </a:solidFill>
              </a:rPr>
              <a:pPr/>
              <a:t>11/9/24</a:t>
            </a:fld>
            <a:endParaRPr lang="en-US" dirty="0">
              <a:solidFill>
                <a:prstClr val="black"/>
              </a:solidFill>
            </a:endParaRPr>
          </a:p>
        </p:txBody>
      </p:sp>
      <p:sp>
        <p:nvSpPr>
          <p:cNvPr id="6" name="Footer Placeholder 5"/>
          <p:cNvSpPr>
            <a:spLocks noGrp="1"/>
          </p:cNvSpPr>
          <p:nvPr>
            <p:ph type="ftr" sz="quarter" idx="11"/>
          </p:nvPr>
        </p:nvSpPr>
        <p:spPr/>
        <p:txBody>
          <a:bodyPr/>
          <a:lstStyle/>
          <a:p>
            <a:endParaRPr lang="en-US" dirty="0">
              <a:solidFill>
                <a:prstClr val="black"/>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1494839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1551" y="4815415"/>
            <a:ext cx="7207250" cy="566738"/>
          </a:xfrm>
        </p:spPr>
        <p:txBody>
          <a:bodyPr anchor="b">
            <a:normAutofit/>
          </a:bodyPr>
          <a:lstStyle>
            <a:lvl1pPr algn="ctr">
              <a:defRPr sz="18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81070" y="1041400"/>
            <a:ext cx="7579479"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smtClean="0"/>
              <a:t>Click icon to add picture</a:t>
            </a:r>
            <a:endParaRPr lang="en-US" dirty="0"/>
          </a:p>
        </p:txBody>
      </p:sp>
      <p:sp>
        <p:nvSpPr>
          <p:cNvPr id="4" name="Text Placeholder 3"/>
          <p:cNvSpPr>
            <a:spLocks noGrp="1"/>
          </p:cNvSpPr>
          <p:nvPr>
            <p:ph type="body" sz="half" idx="2"/>
          </p:nvPr>
        </p:nvSpPr>
        <p:spPr>
          <a:xfrm>
            <a:off x="971551" y="5382153"/>
            <a:ext cx="7207250" cy="493712"/>
          </a:xfrm>
        </p:spPr>
        <p:txBody>
          <a:bodyPr>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solidFill>
                  <a:prstClr val="black"/>
                </a:solidFill>
              </a:rPr>
              <a:pPr/>
              <a:t>11/9/24</a:t>
            </a:fld>
            <a:endParaRPr lang="en-US" dirty="0">
              <a:solidFill>
                <a:prstClr val="black"/>
              </a:solidFill>
            </a:endParaRPr>
          </a:p>
        </p:txBody>
      </p:sp>
      <p:sp>
        <p:nvSpPr>
          <p:cNvPr id="6" name="Footer Placeholder 5"/>
          <p:cNvSpPr>
            <a:spLocks noGrp="1"/>
          </p:cNvSpPr>
          <p:nvPr>
            <p:ph type="ftr" sz="quarter" idx="11"/>
          </p:nvPr>
        </p:nvSpPr>
        <p:spPr/>
        <p:txBody>
          <a:bodyPr/>
          <a:lstStyle/>
          <a:p>
            <a:endParaRPr lang="en-US" dirty="0">
              <a:solidFill>
                <a:prstClr val="black"/>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7594949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77901" y="982132"/>
            <a:ext cx="7194549" cy="2954868"/>
          </a:xfrm>
        </p:spPr>
        <p:txBody>
          <a:bodyPr anchor="ctr">
            <a:normAutofit/>
          </a:bodyPr>
          <a:lstStyle>
            <a:lvl1pPr algn="ctr">
              <a:defRPr sz="2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977901" y="4343400"/>
            <a:ext cx="7194549" cy="1532467"/>
          </a:xfrm>
        </p:spPr>
        <p:txBody>
          <a:bodyPr anchor="ctr">
            <a:normAutofit/>
          </a:bodyPr>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solidFill>
              </a:rPr>
              <a:pPr/>
              <a:t>11/9/24</a:t>
            </a:fld>
            <a:endParaRPr lang="en-US" dirty="0">
              <a:solidFill>
                <a:prstClr val="black"/>
              </a:solidFill>
            </a:endParaRPr>
          </a:p>
        </p:txBody>
      </p:sp>
      <p:sp>
        <p:nvSpPr>
          <p:cNvPr id="5" name="Footer Placeholder 4"/>
          <p:cNvSpPr>
            <a:spLocks noGrp="1"/>
          </p:cNvSpPr>
          <p:nvPr>
            <p:ph type="ftr" sz="quarter" idx="11"/>
          </p:nvPr>
        </p:nvSpPr>
        <p:spPr/>
        <p:txBody>
          <a:bodyPr/>
          <a:lstStyle/>
          <a:p>
            <a:endParaRPr lang="en-US" dirty="0">
              <a:solidFill>
                <a:prstClr val="black"/>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prstClr val="black"/>
                </a:solidFill>
              </a:rPr>
              <a:pPr/>
              <a:t>‹#›</a:t>
            </a:fld>
            <a:endParaRPr lang="en-US" dirty="0">
              <a:solidFill>
                <a:prstClr val="black"/>
              </a:solidFill>
            </a:endParaRPr>
          </a:p>
        </p:txBody>
      </p:sp>
      <p:cxnSp>
        <p:nvCxnSpPr>
          <p:cNvPr id="15" name="Straight Connector 14"/>
          <p:cNvCxnSpPr/>
          <p:nvPr/>
        </p:nvCxnSpPr>
        <p:spPr>
          <a:xfrm>
            <a:off x="1047127" y="4140199"/>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650689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60" y="982132"/>
            <a:ext cx="6972299" cy="2370668"/>
          </a:xfrm>
        </p:spPr>
        <p:txBody>
          <a:bodyPr anchor="ctr">
            <a:normAutofit/>
          </a:bodyPr>
          <a:lstStyle>
            <a:lvl1pPr algn="ctr">
              <a:defRPr sz="24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256109" y="3352800"/>
            <a:ext cx="6629402" cy="584200"/>
          </a:xfrm>
        </p:spPr>
        <p:txBody>
          <a:bodyPr anchor="ctr">
            <a:normAutofit/>
          </a:bodyPr>
          <a:lstStyle>
            <a:lvl1pPr marL="0" indent="0" algn="r">
              <a:buFontTx/>
              <a:buNone/>
              <a:defRPr sz="1500"/>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971551" y="4343400"/>
            <a:ext cx="7207250" cy="1532467"/>
          </a:xfrm>
        </p:spPr>
        <p:txBody>
          <a:bodyPr anchor="ctr">
            <a:normAutofit/>
          </a:bodyPr>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solidFill>
              </a:rPr>
              <a:pPr/>
              <a:t>11/9/24</a:t>
            </a:fld>
            <a:endParaRPr lang="en-US" dirty="0">
              <a:solidFill>
                <a:prstClr val="black"/>
              </a:solidFill>
            </a:endParaRPr>
          </a:p>
        </p:txBody>
      </p:sp>
      <p:sp>
        <p:nvSpPr>
          <p:cNvPr id="5" name="Footer Placeholder 4"/>
          <p:cNvSpPr>
            <a:spLocks noGrp="1"/>
          </p:cNvSpPr>
          <p:nvPr>
            <p:ph type="ftr" sz="quarter" idx="11"/>
          </p:nvPr>
        </p:nvSpPr>
        <p:spPr/>
        <p:txBody>
          <a:bodyPr/>
          <a:lstStyle/>
          <a:p>
            <a:endParaRPr lang="en-US" dirty="0">
              <a:solidFill>
                <a:prstClr val="black"/>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prstClr val="black"/>
                </a:solidFill>
              </a:rPr>
              <a:pPr/>
              <a:t>‹#›</a:t>
            </a:fld>
            <a:endParaRPr lang="en-US" dirty="0">
              <a:solidFill>
                <a:prstClr val="black"/>
              </a:solidFill>
            </a:endParaRPr>
          </a:p>
        </p:txBody>
      </p:sp>
      <p:sp>
        <p:nvSpPr>
          <p:cNvPr id="14" name="TextBox 13"/>
          <p:cNvSpPr txBox="1"/>
          <p:nvPr/>
        </p:nvSpPr>
        <p:spPr>
          <a:xfrm>
            <a:off x="646510" y="879961"/>
            <a:ext cx="457200" cy="584776"/>
          </a:xfrm>
          <a:prstGeom prst="rect">
            <a:avLst/>
          </a:prstGeom>
        </p:spPr>
        <p:txBody>
          <a:bodyPr vert="horz" lIns="68580" tIns="34290" rIns="68580" bIns="34290" rtlCol="0" anchor="ctr">
            <a:noAutofit/>
          </a:bodyPr>
          <a:lstStyle/>
          <a:p>
            <a:pPr defTabSz="342900"/>
            <a:r>
              <a:rPr lang="en-US" sz="6000" dirty="0">
                <a:solidFill>
                  <a:prstClr val="black"/>
                </a:solidFill>
              </a:rPr>
              <a:t>“</a:t>
            </a:r>
          </a:p>
        </p:txBody>
      </p:sp>
      <p:sp>
        <p:nvSpPr>
          <p:cNvPr id="15" name="TextBox 14"/>
          <p:cNvSpPr txBox="1"/>
          <p:nvPr/>
        </p:nvSpPr>
        <p:spPr>
          <a:xfrm>
            <a:off x="7950200" y="2827870"/>
            <a:ext cx="457200" cy="584776"/>
          </a:xfrm>
          <a:prstGeom prst="rect">
            <a:avLst/>
          </a:prstGeom>
        </p:spPr>
        <p:txBody>
          <a:bodyPr vert="horz" lIns="68580" tIns="34290" rIns="68580" bIns="34290" rtlCol="0" anchor="ctr">
            <a:noAutofit/>
          </a:bodyPr>
          <a:lstStyle/>
          <a:p>
            <a:pPr algn="r" defTabSz="342900"/>
            <a:r>
              <a:rPr lang="en-US" sz="6000" dirty="0">
                <a:solidFill>
                  <a:prstClr val="black"/>
                </a:solidFill>
              </a:rPr>
              <a:t>”</a:t>
            </a:r>
          </a:p>
        </p:txBody>
      </p:sp>
      <p:cxnSp>
        <p:nvCxnSpPr>
          <p:cNvPr id="19" name="Straight Connector 18"/>
          <p:cNvCxnSpPr/>
          <p:nvPr/>
        </p:nvCxnSpPr>
        <p:spPr>
          <a:xfrm>
            <a:off x="1047127" y="4140199"/>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051640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71552" y="3308581"/>
            <a:ext cx="7207251" cy="1468800"/>
          </a:xfrm>
        </p:spPr>
        <p:txBody>
          <a:bodyPr anchor="b">
            <a:normAutofit/>
          </a:bodyPr>
          <a:lstStyle>
            <a:lvl1pPr algn="l">
              <a:defRPr sz="2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971551" y="4777381"/>
            <a:ext cx="7207251" cy="860400"/>
          </a:xfrm>
        </p:spPr>
        <p:txBody>
          <a:bodyPr anchor="t">
            <a:normAutofit/>
          </a:bodyPr>
          <a:lstStyle>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solidFill>
              </a:rPr>
              <a:pPr/>
              <a:t>11/9/24</a:t>
            </a:fld>
            <a:endParaRPr lang="en-US" dirty="0">
              <a:solidFill>
                <a:prstClr val="black"/>
              </a:solidFill>
            </a:endParaRPr>
          </a:p>
        </p:txBody>
      </p:sp>
      <p:sp>
        <p:nvSpPr>
          <p:cNvPr id="5" name="Footer Placeholder 4"/>
          <p:cNvSpPr>
            <a:spLocks noGrp="1"/>
          </p:cNvSpPr>
          <p:nvPr>
            <p:ph type="ftr" sz="quarter" idx="11"/>
          </p:nvPr>
        </p:nvSpPr>
        <p:spPr/>
        <p:txBody>
          <a:bodyPr/>
          <a:lstStyle/>
          <a:p>
            <a:endParaRPr lang="en-US" dirty="0">
              <a:solidFill>
                <a:prstClr val="black"/>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9700043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084660" y="982132"/>
            <a:ext cx="6972299" cy="2243668"/>
          </a:xfrm>
        </p:spPr>
        <p:txBody>
          <a:bodyPr anchor="ctr">
            <a:normAutofit/>
          </a:bodyPr>
          <a:lstStyle>
            <a:lvl1pPr algn="ctr">
              <a:defRPr sz="24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971551" y="3639312"/>
            <a:ext cx="7207251" cy="886968"/>
          </a:xfrm>
        </p:spPr>
        <p:txBody>
          <a:bodyPr anchor="b">
            <a:normAutofit/>
          </a:bodyPr>
          <a:lstStyle>
            <a:lvl1pPr marL="0" indent="0" algn="l">
              <a:spcBef>
                <a:spcPts val="0"/>
              </a:spcBef>
              <a:buNone/>
              <a:defRPr sz="18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971551" y="4529667"/>
            <a:ext cx="7207251" cy="134620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solidFill>
              </a:rPr>
              <a:pPr/>
              <a:t>11/9/24</a:t>
            </a:fld>
            <a:endParaRPr lang="en-US" dirty="0">
              <a:solidFill>
                <a:prstClr val="black"/>
              </a:solidFill>
            </a:endParaRPr>
          </a:p>
        </p:txBody>
      </p:sp>
      <p:sp>
        <p:nvSpPr>
          <p:cNvPr id="5" name="Footer Placeholder 4"/>
          <p:cNvSpPr>
            <a:spLocks noGrp="1"/>
          </p:cNvSpPr>
          <p:nvPr>
            <p:ph type="ftr" sz="quarter" idx="11"/>
          </p:nvPr>
        </p:nvSpPr>
        <p:spPr/>
        <p:txBody>
          <a:bodyPr/>
          <a:lstStyle/>
          <a:p>
            <a:endParaRPr lang="en-US" dirty="0">
              <a:solidFill>
                <a:prstClr val="black"/>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prstClr val="black"/>
                </a:solidFill>
              </a:rPr>
              <a:pPr/>
              <a:t>‹#›</a:t>
            </a:fld>
            <a:endParaRPr lang="en-US" dirty="0">
              <a:solidFill>
                <a:prstClr val="black"/>
              </a:solidFill>
            </a:endParaRPr>
          </a:p>
        </p:txBody>
      </p:sp>
      <p:sp>
        <p:nvSpPr>
          <p:cNvPr id="12" name="TextBox 11"/>
          <p:cNvSpPr txBox="1"/>
          <p:nvPr/>
        </p:nvSpPr>
        <p:spPr>
          <a:xfrm>
            <a:off x="646510" y="879961"/>
            <a:ext cx="457200" cy="584776"/>
          </a:xfrm>
          <a:prstGeom prst="rect">
            <a:avLst/>
          </a:prstGeom>
        </p:spPr>
        <p:txBody>
          <a:bodyPr vert="horz" lIns="68580" tIns="34290" rIns="68580" bIns="34290" rtlCol="0" anchor="ctr">
            <a:noAutofit/>
          </a:bodyPr>
          <a:lstStyle/>
          <a:p>
            <a:pPr defTabSz="342900"/>
            <a:r>
              <a:rPr lang="en-US" sz="6000" dirty="0">
                <a:solidFill>
                  <a:prstClr val="black"/>
                </a:solidFill>
              </a:rPr>
              <a:t>“</a:t>
            </a:r>
          </a:p>
        </p:txBody>
      </p:sp>
      <p:sp>
        <p:nvSpPr>
          <p:cNvPr id="13" name="TextBox 12"/>
          <p:cNvSpPr txBox="1"/>
          <p:nvPr/>
        </p:nvSpPr>
        <p:spPr>
          <a:xfrm>
            <a:off x="7950200" y="2599261"/>
            <a:ext cx="457200" cy="584776"/>
          </a:xfrm>
          <a:prstGeom prst="rect">
            <a:avLst/>
          </a:prstGeom>
        </p:spPr>
        <p:txBody>
          <a:bodyPr vert="horz" lIns="68580" tIns="34290" rIns="68580" bIns="34290" rtlCol="0" anchor="ctr">
            <a:noAutofit/>
          </a:bodyPr>
          <a:lstStyle/>
          <a:p>
            <a:pPr algn="r" defTabSz="342900"/>
            <a:r>
              <a:rPr lang="en-US" sz="6000" dirty="0">
                <a:solidFill>
                  <a:prstClr val="black"/>
                </a:solidFill>
              </a:rPr>
              <a:t>”</a:t>
            </a:r>
          </a:p>
        </p:txBody>
      </p:sp>
      <p:cxnSp>
        <p:nvCxnSpPr>
          <p:cNvPr id="26" name="Straight Connector 25"/>
          <p:cNvCxnSpPr/>
          <p:nvPr/>
        </p:nvCxnSpPr>
        <p:spPr>
          <a:xfrm>
            <a:off x="1047127" y="34290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4018168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971551" y="982132"/>
            <a:ext cx="7207250"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971551" y="3630168"/>
            <a:ext cx="7207251" cy="841248"/>
          </a:xfrm>
        </p:spPr>
        <p:txBody>
          <a:bodyPr anchor="b">
            <a:normAutofit/>
          </a:bodyPr>
          <a:lstStyle>
            <a:lvl1pPr marL="0" indent="0" algn="l">
              <a:spcBef>
                <a:spcPts val="0"/>
              </a:spcBef>
              <a:buNone/>
              <a:defRPr sz="21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971550" y="4470400"/>
            <a:ext cx="7207253" cy="1405467"/>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solidFill>
              </a:rPr>
              <a:pPr/>
              <a:t>11/9/24</a:t>
            </a:fld>
            <a:endParaRPr lang="en-US" dirty="0">
              <a:solidFill>
                <a:prstClr val="black"/>
              </a:solidFill>
            </a:endParaRPr>
          </a:p>
        </p:txBody>
      </p:sp>
      <p:sp>
        <p:nvSpPr>
          <p:cNvPr id="5" name="Footer Placeholder 4"/>
          <p:cNvSpPr>
            <a:spLocks noGrp="1"/>
          </p:cNvSpPr>
          <p:nvPr>
            <p:ph type="ftr" sz="quarter" idx="11"/>
          </p:nvPr>
        </p:nvSpPr>
        <p:spPr/>
        <p:txBody>
          <a:bodyPr/>
          <a:lstStyle/>
          <a:p>
            <a:endParaRPr lang="en-US" dirty="0">
              <a:solidFill>
                <a:prstClr val="black"/>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prstClr val="black"/>
                </a:solidFill>
              </a:rPr>
              <a:pPr/>
              <a:t>‹#›</a:t>
            </a:fld>
            <a:endParaRPr lang="en-US" dirty="0">
              <a:solidFill>
                <a:prstClr val="black"/>
              </a:solidFill>
            </a:endParaRPr>
          </a:p>
        </p:txBody>
      </p:sp>
      <p:cxnSp>
        <p:nvCxnSpPr>
          <p:cNvPr id="15" name="Straight Connector 14"/>
          <p:cNvCxnSpPr/>
          <p:nvPr/>
        </p:nvCxnSpPr>
        <p:spPr>
          <a:xfrm>
            <a:off x="1047127" y="34290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7815020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solidFill>
              </a:rPr>
              <a:pPr/>
              <a:t>11/9/24</a:t>
            </a:fld>
            <a:endParaRPr lang="en-US" dirty="0">
              <a:solidFill>
                <a:prstClr val="black"/>
              </a:solidFill>
            </a:endParaRPr>
          </a:p>
        </p:txBody>
      </p:sp>
      <p:sp>
        <p:nvSpPr>
          <p:cNvPr id="5" name="Footer Placeholder 4"/>
          <p:cNvSpPr>
            <a:spLocks noGrp="1"/>
          </p:cNvSpPr>
          <p:nvPr>
            <p:ph type="ftr" sz="quarter" idx="11"/>
          </p:nvPr>
        </p:nvSpPr>
        <p:spPr/>
        <p:txBody>
          <a:bodyPr/>
          <a:lstStyle/>
          <a:p>
            <a:endParaRPr lang="en-US" dirty="0">
              <a:solidFill>
                <a:prstClr val="black"/>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prstClr val="black"/>
                </a:solidFill>
              </a:rPr>
              <a:pPr/>
              <a:t>‹#›</a:t>
            </a:fld>
            <a:endParaRPr lang="en-US" dirty="0">
              <a:solidFill>
                <a:prstClr val="black"/>
              </a:solidFill>
            </a:endParaRPr>
          </a:p>
        </p:txBody>
      </p:sp>
      <p:cxnSp>
        <p:nvCxnSpPr>
          <p:cNvPr id="14" name="Straight Connector 13"/>
          <p:cNvCxnSpPr/>
          <p:nvPr/>
        </p:nvCxnSpPr>
        <p:spPr>
          <a:xfrm>
            <a:off x="1047127" y="2421466"/>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0654681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9518" y="982132"/>
            <a:ext cx="1418171"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71549" y="982132"/>
            <a:ext cx="5574769" cy="4893734"/>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solidFill>
                  <a:prstClr val="black"/>
                </a:solidFill>
              </a:rPr>
              <a:pPr/>
              <a:t>11/9/24</a:t>
            </a:fld>
            <a:endParaRPr lang="en-US" dirty="0">
              <a:solidFill>
                <a:prstClr val="black"/>
              </a:solidFill>
            </a:endParaRPr>
          </a:p>
        </p:txBody>
      </p:sp>
      <p:sp>
        <p:nvSpPr>
          <p:cNvPr id="5" name="Footer Placeholder 4"/>
          <p:cNvSpPr>
            <a:spLocks noGrp="1"/>
          </p:cNvSpPr>
          <p:nvPr>
            <p:ph type="ftr" sz="quarter" idx="11"/>
          </p:nvPr>
        </p:nvSpPr>
        <p:spPr/>
        <p:txBody>
          <a:bodyPr/>
          <a:lstStyle/>
          <a:p>
            <a:endParaRPr lang="en-US" dirty="0">
              <a:solidFill>
                <a:prstClr val="black"/>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prstClr val="black"/>
                </a:solidFill>
              </a:rPr>
              <a:pPr/>
              <a:t>‹#›</a:t>
            </a:fld>
            <a:endParaRPr lang="en-US" dirty="0">
              <a:solidFill>
                <a:prstClr val="black"/>
              </a:solidFill>
            </a:endParaRPr>
          </a:p>
        </p:txBody>
      </p:sp>
      <p:cxnSp>
        <p:nvCxnSpPr>
          <p:cNvPr id="14" name="Straight Connector 13"/>
          <p:cNvCxnSpPr/>
          <p:nvPr/>
        </p:nvCxnSpPr>
        <p:spPr>
          <a:xfrm>
            <a:off x="6647918"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70889652"/>
      </p:ext>
    </p:extLst>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20" Type="http://schemas.openxmlformats.org/officeDocument/2006/relationships/image" Target="../media/image4.png"/><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3.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6.xml"/><Relationship Id="rId20" Type="http://schemas.openxmlformats.org/officeDocument/2006/relationships/image" Target="../media/image9.png"/><Relationship Id="rId10" Type="http://schemas.openxmlformats.org/officeDocument/2006/relationships/slideLayout" Target="../slideLayouts/slideLayout27.xml"/><Relationship Id="rId11" Type="http://schemas.openxmlformats.org/officeDocument/2006/relationships/slideLayout" Target="../slideLayouts/slideLayout28.xml"/><Relationship Id="rId12" Type="http://schemas.openxmlformats.org/officeDocument/2006/relationships/slideLayout" Target="../slideLayouts/slideLayout29.xml"/><Relationship Id="rId13" Type="http://schemas.openxmlformats.org/officeDocument/2006/relationships/slideLayout" Target="../slideLayouts/slideLayout30.xml"/><Relationship Id="rId14" Type="http://schemas.openxmlformats.org/officeDocument/2006/relationships/slideLayout" Target="../slideLayouts/slideLayout31.xml"/><Relationship Id="rId15" Type="http://schemas.openxmlformats.org/officeDocument/2006/relationships/slideLayout" Target="../slideLayouts/slideLayout32.xml"/><Relationship Id="rId16" Type="http://schemas.openxmlformats.org/officeDocument/2006/relationships/slideLayout" Target="../slideLayouts/slideLayout33.xml"/><Relationship Id="rId17" Type="http://schemas.openxmlformats.org/officeDocument/2006/relationships/slideLayout" Target="../slideLayouts/slideLayout34.xml"/><Relationship Id="rId18" Type="http://schemas.openxmlformats.org/officeDocument/2006/relationships/theme" Target="../theme/theme2.xml"/><Relationship Id="rId19" Type="http://schemas.openxmlformats.org/officeDocument/2006/relationships/image" Target="../media/image8.png"/><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Relationship Id="rId5" Type="http://schemas.openxmlformats.org/officeDocument/2006/relationships/slideLayout" Target="../slideLayouts/slideLayout22.xml"/><Relationship Id="rId6" Type="http://schemas.openxmlformats.org/officeDocument/2006/relationships/slideLayout" Target="../slideLayouts/slideLayout23.xml"/><Relationship Id="rId7" Type="http://schemas.openxmlformats.org/officeDocument/2006/relationships/slideLayout" Target="../slideLayouts/slideLayout24.xml"/><Relationship Id="rId8"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E428E6E-1BF7-4B8E-9AB5-4CDE1CC2B185}" type="datetimeFigureOut">
              <a:rPr lang="en-US" smtClean="0"/>
              <a:pPr/>
              <a:t>11/9/24</a:t>
            </a:fld>
            <a:endParaRPr lang="en-GB"/>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GB"/>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01BC0D8-2105-4DE6-9F4D-8EF2911863E2}" type="slidenum">
              <a:rPr lang="en-GB" smtClean="0"/>
              <a:pPr/>
              <a:t>‹#›</a:t>
            </a:fld>
            <a:endParaRPr lang="en-GB"/>
          </a:p>
        </p:txBody>
      </p:sp>
    </p:spTree>
    <p:extLst>
      <p:ext uri="{BB962C8B-B14F-4D97-AF65-F5344CB8AC3E}">
        <p14:creationId xmlns:p14="http://schemas.microsoft.com/office/powerpoint/2010/main" val="18568937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1802" y="0"/>
            <a:ext cx="917247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971552" y="982133"/>
            <a:ext cx="7200897"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71551" y="2556932"/>
            <a:ext cx="7200897" cy="3318936"/>
          </a:xfrm>
          <a:prstGeom prst="rect">
            <a:avLst/>
          </a:prstGeom>
        </p:spPr>
        <p:txBody>
          <a:bodyPr vert="horz" lIns="91440" tIns="45720" rIns="91440" bIns="45720" rtlCol="0"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508126" y="5969000"/>
            <a:ext cx="1200150" cy="279400"/>
          </a:xfrm>
          <a:prstGeom prst="rect">
            <a:avLst/>
          </a:prstGeom>
        </p:spPr>
        <p:txBody>
          <a:bodyPr vert="horz" lIns="91440" tIns="45720" rIns="91440" bIns="45720" rtlCol="0" anchor="ctr"/>
          <a:lstStyle>
            <a:lvl1pPr algn="r">
              <a:defRPr sz="750" b="0" i="0">
                <a:solidFill>
                  <a:schemeClr val="tx1"/>
                </a:solidFill>
                <a:effectLst/>
                <a:latin typeface="+mn-lt"/>
              </a:defRPr>
            </a:lvl1pPr>
          </a:lstStyle>
          <a:p>
            <a:pPr defTabSz="342900"/>
            <a:fld id="{B61BEF0D-F0BB-DE4B-95CE-6DB70DBA9567}" type="datetimeFigureOut">
              <a:rPr lang="en-US" smtClean="0">
                <a:solidFill>
                  <a:prstClr val="black"/>
                </a:solidFill>
              </a:rPr>
              <a:pPr defTabSz="342900"/>
              <a:t>11/9/24</a:t>
            </a:fld>
            <a:endParaRPr lang="en-US" dirty="0">
              <a:solidFill>
                <a:prstClr val="black"/>
              </a:solidFill>
            </a:endParaRPr>
          </a:p>
        </p:txBody>
      </p:sp>
      <p:sp>
        <p:nvSpPr>
          <p:cNvPr id="5" name="Footer Placeholder 4"/>
          <p:cNvSpPr>
            <a:spLocks noGrp="1"/>
          </p:cNvSpPr>
          <p:nvPr>
            <p:ph type="ftr" sz="quarter" idx="3"/>
          </p:nvPr>
        </p:nvSpPr>
        <p:spPr>
          <a:xfrm>
            <a:off x="971551" y="5969000"/>
            <a:ext cx="5479425" cy="279400"/>
          </a:xfrm>
          <a:prstGeom prst="rect">
            <a:avLst/>
          </a:prstGeom>
        </p:spPr>
        <p:txBody>
          <a:bodyPr vert="horz" lIns="91440" tIns="45720" rIns="91440" bIns="45720" rtlCol="0" anchor="ctr"/>
          <a:lstStyle>
            <a:lvl1pPr algn="l">
              <a:defRPr sz="750" b="0" i="0">
                <a:solidFill>
                  <a:schemeClr val="tx1"/>
                </a:solidFill>
                <a:effectLst/>
                <a:latin typeface="+mn-lt"/>
              </a:defRPr>
            </a:lvl1pPr>
          </a:lstStyle>
          <a:p>
            <a:pPr defTabSz="342900"/>
            <a:endParaRPr lang="en-US" dirty="0">
              <a:solidFill>
                <a:prstClr val="black"/>
              </a:solidFill>
            </a:endParaRPr>
          </a:p>
        </p:txBody>
      </p:sp>
      <p:sp>
        <p:nvSpPr>
          <p:cNvPr id="6" name="Slide Number Placeholder 5"/>
          <p:cNvSpPr>
            <a:spLocks noGrp="1"/>
          </p:cNvSpPr>
          <p:nvPr>
            <p:ph type="sldNum" sz="quarter" idx="4"/>
          </p:nvPr>
        </p:nvSpPr>
        <p:spPr>
          <a:xfrm>
            <a:off x="7765426" y="5969000"/>
            <a:ext cx="407023" cy="279400"/>
          </a:xfrm>
          <a:prstGeom prst="rect">
            <a:avLst/>
          </a:prstGeom>
        </p:spPr>
        <p:txBody>
          <a:bodyPr vert="horz" lIns="91440" tIns="45720" rIns="91440" bIns="45720" rtlCol="0" anchor="ctr"/>
          <a:lstStyle>
            <a:lvl1pPr algn="r">
              <a:defRPr sz="750" b="0" i="0">
                <a:solidFill>
                  <a:schemeClr val="tx1"/>
                </a:solidFill>
                <a:effectLst/>
                <a:latin typeface="+mn-lt"/>
              </a:defRPr>
            </a:lvl1pPr>
          </a:lstStyle>
          <a:p>
            <a:pPr defTabSz="342900"/>
            <a:fld id="{D57F1E4F-1CFF-5643-939E-217C01CDF565}" type="slidenum">
              <a:rPr lang="en-US" smtClean="0">
                <a:solidFill>
                  <a:prstClr val="black"/>
                </a:solidFill>
              </a:rPr>
              <a:pPr defTabSz="342900"/>
              <a:t>‹#›</a:t>
            </a:fld>
            <a:endParaRPr lang="en-US" dirty="0">
              <a:solidFill>
                <a:prstClr val="black"/>
              </a:solidFill>
            </a:endParaRPr>
          </a:p>
        </p:txBody>
      </p:sp>
    </p:spTree>
    <p:extLst>
      <p:ext uri="{BB962C8B-B14F-4D97-AF65-F5344CB8AC3E}">
        <p14:creationId xmlns:p14="http://schemas.microsoft.com/office/powerpoint/2010/main" val="1095667827"/>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342900" rtl="0" eaLnBrk="1" latinLnBrk="0" hangingPunct="1">
        <a:spcBef>
          <a:spcPct val="0"/>
        </a:spcBef>
        <a:buNone/>
        <a:defRPr sz="33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14313" indent="-214313" algn="l" defTabSz="342900" rtl="0" eaLnBrk="1" latinLnBrk="0" hangingPunct="1">
        <a:spcBef>
          <a:spcPct val="20000"/>
        </a:spcBef>
        <a:spcAft>
          <a:spcPts val="45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1pPr>
      <a:lvl2pPr marL="557213" indent="-214313" algn="l" defTabSz="342900" rtl="0" eaLnBrk="1" latinLnBrk="0" hangingPunct="1">
        <a:spcBef>
          <a:spcPct val="20000"/>
        </a:spcBef>
        <a:spcAft>
          <a:spcPts val="450"/>
        </a:spcAft>
        <a:buClr>
          <a:schemeClr val="accent1"/>
        </a:buClr>
        <a:buSzPct val="115000"/>
        <a:buFont typeface="Arial"/>
        <a:buChar char="•"/>
        <a:defRPr sz="1500" kern="1200" cap="none">
          <a:solidFill>
            <a:schemeClr val="tx1">
              <a:lumMod val="85000"/>
              <a:lumOff val="15000"/>
            </a:schemeClr>
          </a:solidFill>
          <a:effectLst/>
          <a:latin typeface="+mn-lt"/>
          <a:ea typeface="+mn-ea"/>
          <a:cs typeface="+mn-cs"/>
        </a:defRPr>
      </a:lvl2pPr>
      <a:lvl3pPr marL="900113" indent="-214313" algn="l" defTabSz="342900" rtl="0" eaLnBrk="1" latinLnBrk="0" hangingPunct="1">
        <a:spcBef>
          <a:spcPct val="20000"/>
        </a:spcBef>
        <a:spcAft>
          <a:spcPts val="450"/>
        </a:spcAft>
        <a:buClr>
          <a:schemeClr val="accent1"/>
        </a:buClr>
        <a:buSzPct val="115000"/>
        <a:buFont typeface="Arial"/>
        <a:buChar char="•"/>
        <a:defRPr sz="1350" kern="1200" cap="none">
          <a:solidFill>
            <a:schemeClr val="tx1">
              <a:lumMod val="85000"/>
              <a:lumOff val="15000"/>
            </a:schemeClr>
          </a:solidFill>
          <a:effectLst/>
          <a:latin typeface="+mn-lt"/>
          <a:ea typeface="+mn-ea"/>
          <a:cs typeface="+mn-cs"/>
        </a:defRPr>
      </a:lvl3pPr>
      <a:lvl4pPr marL="1157288" indent="-128588" algn="l" defTabSz="342900" rtl="0" eaLnBrk="1" latinLnBrk="0" hangingPunct="1">
        <a:spcBef>
          <a:spcPct val="20000"/>
        </a:spcBef>
        <a:spcAft>
          <a:spcPts val="450"/>
        </a:spcAft>
        <a:buClr>
          <a:schemeClr val="accent1"/>
        </a:buClr>
        <a:buSzPct val="115000"/>
        <a:buFont typeface="Arial"/>
        <a:buChar char="•"/>
        <a:defRPr sz="1200" kern="1200" cap="none">
          <a:solidFill>
            <a:schemeClr val="tx1">
              <a:lumMod val="85000"/>
              <a:lumOff val="15000"/>
            </a:schemeClr>
          </a:solidFill>
          <a:effectLst/>
          <a:latin typeface="+mn-lt"/>
          <a:ea typeface="+mn-ea"/>
          <a:cs typeface="+mn-cs"/>
        </a:defRPr>
      </a:lvl4pPr>
      <a:lvl5pPr marL="1500188" indent="-128588"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5pPr>
      <a:lvl6pPr marL="18859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6pPr>
      <a:lvl7pPr marL="22288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7pPr>
      <a:lvl8pPr marL="25717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8pPr>
      <a:lvl9pPr marL="29146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jpeg"/><Relationship Id="rId3" Type="http://schemas.openxmlformats.org/officeDocument/2006/relationships/image" Target="../media/image17.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bin"/><Relationship Id="rId4" Type="http://schemas.openxmlformats.org/officeDocument/2006/relationships/image" Target="../media/image28.wmf"/><Relationship Id="rId1" Type="http://schemas.openxmlformats.org/officeDocument/2006/relationships/vmlDrawing" Target="../drawings/vmlDrawing1.vml"/><Relationship Id="rId2"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2.bin"/><Relationship Id="rId4" Type="http://schemas.openxmlformats.org/officeDocument/2006/relationships/image" Target="../media/image30.wmf"/><Relationship Id="rId5" Type="http://schemas.openxmlformats.org/officeDocument/2006/relationships/oleObject" Target="../embeddings/oleObject3.bin"/><Relationship Id="rId6" Type="http://schemas.openxmlformats.org/officeDocument/2006/relationships/image" Target="../media/image31.emf"/><Relationship Id="rId1" Type="http://schemas.openxmlformats.org/officeDocument/2006/relationships/vmlDrawing" Target="../drawings/vmlDrawing2.vml"/><Relationship Id="rId2"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image" Target="../media/image33.png"/></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4.bin"/><Relationship Id="rId4" Type="http://schemas.openxmlformats.org/officeDocument/2006/relationships/image" Target="../media/image34.wmf"/><Relationship Id="rId1" Type="http://schemas.openxmlformats.org/officeDocument/2006/relationships/vmlDrawing" Target="../drawings/vmlDrawing3.vml"/><Relationship Id="rId2"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5.bin"/><Relationship Id="rId4" Type="http://schemas.openxmlformats.org/officeDocument/2006/relationships/image" Target="../media/image35.wmf"/><Relationship Id="rId1" Type="http://schemas.openxmlformats.org/officeDocument/2006/relationships/vmlDrawing" Target="../drawings/vmlDrawing4.vml"/><Relationship Id="rId2"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6.bin"/><Relationship Id="rId4" Type="http://schemas.openxmlformats.org/officeDocument/2006/relationships/image" Target="../media/image36.wmf"/><Relationship Id="rId1" Type="http://schemas.openxmlformats.org/officeDocument/2006/relationships/vmlDrawing" Target="../drawings/vmlDrawing5.vml"/><Relationship Id="rId2"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7.bin"/><Relationship Id="rId4" Type="http://schemas.openxmlformats.org/officeDocument/2006/relationships/image" Target="../media/image34.wmf"/><Relationship Id="rId1" Type="http://schemas.openxmlformats.org/officeDocument/2006/relationships/vmlDrawing" Target="../drawings/vmlDrawing6.vml"/><Relationship Id="rId2"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jpeg"/><Relationship Id="rId3" Type="http://schemas.openxmlformats.org/officeDocument/2006/relationships/image" Target="../media/image38.jpe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9.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8.bin"/><Relationship Id="rId4" Type="http://schemas.openxmlformats.org/officeDocument/2006/relationships/image" Target="../media/image40.wmf"/><Relationship Id="rId1" Type="http://schemas.openxmlformats.org/officeDocument/2006/relationships/vmlDrawing" Target="../drawings/vmlDrawing7.vml"/><Relationship Id="rId2"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9.bin"/><Relationship Id="rId4" Type="http://schemas.openxmlformats.org/officeDocument/2006/relationships/image" Target="../media/image40.wmf"/><Relationship Id="rId1" Type="http://schemas.openxmlformats.org/officeDocument/2006/relationships/vmlDrawing" Target="../drawings/vmlDrawing8.vml"/><Relationship Id="rId2"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10.bin"/><Relationship Id="rId4" Type="http://schemas.openxmlformats.org/officeDocument/2006/relationships/image" Target="../media/image41.wmf"/><Relationship Id="rId1" Type="http://schemas.openxmlformats.org/officeDocument/2006/relationships/vmlDrawing" Target="../drawings/vmlDrawing9.vml"/><Relationship Id="rId2"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2.jpe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jpe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4.jpe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7.png"/><Relationship Id="rId3" Type="http://schemas.openxmlformats.org/officeDocument/2006/relationships/image" Target="../media/image4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9.png"/><Relationship Id="rId3" Type="http://schemas.openxmlformats.org/officeDocument/2006/relationships/image" Target="../media/image5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2.jpe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3.jpe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4.jpe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5.jpe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7.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8.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0.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61.png"/></Relationships>
</file>

<file path=ppt/slides/_rels/slide83.xml.rels><?xml version="1.0" encoding="UTF-8" standalone="yes"?>
<Relationships xmlns="http://schemas.openxmlformats.org/package/2006/relationships"><Relationship Id="rId3" Type="http://schemas.openxmlformats.org/officeDocument/2006/relationships/image" Target="../media/image63.jpeg"/><Relationship Id="rId4" Type="http://schemas.openxmlformats.org/officeDocument/2006/relationships/image" Target="../media/image64.jpeg"/><Relationship Id="rId1" Type="http://schemas.openxmlformats.org/officeDocument/2006/relationships/slideLayout" Target="../slideLayouts/slideLayout2.xml"/><Relationship Id="rId2" Type="http://schemas.openxmlformats.org/officeDocument/2006/relationships/image" Target="../media/image62.jpe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jpeg"/><Relationship Id="rId3" Type="http://schemas.openxmlformats.org/officeDocument/2006/relationships/image" Target="../media/image66.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7.png"/></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11.bin"/><Relationship Id="rId4" Type="http://schemas.openxmlformats.org/officeDocument/2006/relationships/image" Target="../media/image68.png"/><Relationship Id="rId1" Type="http://schemas.openxmlformats.org/officeDocument/2006/relationships/vmlDrawing" Target="../drawings/vmlDrawing10.vml"/><Relationship Id="rId2"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9.jpe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0.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1.jpe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2.jpeg"/></Relationships>
</file>

<file path=ppt/slides/_rels/slide92.xml.rels><?xml version="1.0" encoding="UTF-8" standalone="yes"?>
<Relationships xmlns="http://schemas.openxmlformats.org/package/2006/relationships"><Relationship Id="rId3" Type="http://schemas.openxmlformats.org/officeDocument/2006/relationships/oleObject" Target="../embeddings/oleObject12.bin"/><Relationship Id="rId4" Type="http://schemas.openxmlformats.org/officeDocument/2006/relationships/image" Target="../media/image73.png"/><Relationship Id="rId1" Type="http://schemas.openxmlformats.org/officeDocument/2006/relationships/vmlDrawing" Target="../drawings/vmlDrawing11.vml"/><Relationship Id="rId2"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oleObject" Target="../embeddings/oleObject13.bin"/><Relationship Id="rId4" Type="http://schemas.openxmlformats.org/officeDocument/2006/relationships/image" Target="../media/image74.png"/><Relationship Id="rId1" Type="http://schemas.openxmlformats.org/officeDocument/2006/relationships/vmlDrawing" Target="../drawings/vmlDrawing12.vml"/><Relationship Id="rId2"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oleObject" Target="../embeddings/oleObject14.bin"/><Relationship Id="rId4" Type="http://schemas.openxmlformats.org/officeDocument/2006/relationships/image" Target="../media/image75.png"/><Relationship Id="rId1" Type="http://schemas.openxmlformats.org/officeDocument/2006/relationships/vmlDrawing" Target="../drawings/vmlDrawing13.vml"/><Relationship Id="rId2"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6.jpe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7.jpe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8.jpe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Metabolism</a:t>
            </a:r>
            <a:br>
              <a:rPr lang="en-GB" dirty="0" smtClean="0"/>
            </a:br>
            <a:r>
              <a:rPr lang="en-GB" dirty="0" smtClean="0"/>
              <a:t>Edwin Maiko</a:t>
            </a:r>
            <a:endParaRPr lang="en-GB"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a:bodyPr>
          <a:lstStyle/>
          <a:p>
            <a:r>
              <a:rPr lang="en-GB" dirty="0" smtClean="0"/>
              <a:t>What is Metabolism?</a:t>
            </a:r>
            <a:endParaRPr lang="en-GB" dirty="0"/>
          </a:p>
        </p:txBody>
      </p:sp>
      <p:sp>
        <p:nvSpPr>
          <p:cNvPr id="3" name="Content Placeholder 2"/>
          <p:cNvSpPr>
            <a:spLocks noGrp="1"/>
          </p:cNvSpPr>
          <p:nvPr>
            <p:ph idx="1"/>
          </p:nvPr>
        </p:nvSpPr>
        <p:spPr>
          <a:xfrm>
            <a:off x="428596" y="785794"/>
            <a:ext cx="8329642" cy="5572164"/>
          </a:xfrm>
        </p:spPr>
        <p:txBody>
          <a:bodyPr>
            <a:normAutofit fontScale="92500" lnSpcReduction="20000"/>
          </a:bodyPr>
          <a:lstStyle/>
          <a:p>
            <a:pPr>
              <a:buNone/>
            </a:pPr>
            <a:r>
              <a:rPr lang="en-GB" u="sng" dirty="0" smtClean="0"/>
              <a:t>Def:</a:t>
            </a:r>
          </a:p>
          <a:p>
            <a:pPr algn="just">
              <a:buFont typeface="Wingdings" pitchFamily="2" charset="2"/>
              <a:buChar char="Ø"/>
            </a:pPr>
            <a:r>
              <a:rPr lang="en-GB" dirty="0" smtClean="0"/>
              <a:t>The entire chemical reaction network of the body that are catalysed by enzymes.</a:t>
            </a:r>
          </a:p>
          <a:p>
            <a:pPr algn="just"/>
            <a:r>
              <a:rPr lang="en-GB" dirty="0" smtClean="0"/>
              <a:t>The intermediates, substrates  or products of these enzyme catalysed reactions are referred to as </a:t>
            </a:r>
            <a:r>
              <a:rPr lang="en-GB" b="1" dirty="0" smtClean="0">
                <a:solidFill>
                  <a:srgbClr val="FF0000"/>
                </a:solidFill>
              </a:rPr>
              <a:t>Metabolites</a:t>
            </a:r>
            <a:r>
              <a:rPr lang="en-GB" dirty="0" smtClean="0"/>
              <a:t>.</a:t>
            </a:r>
          </a:p>
          <a:p>
            <a:pPr algn="just"/>
            <a:r>
              <a:rPr lang="en-GB" dirty="0" smtClean="0"/>
              <a:t>The sequence of enzymatic reactions that lead to specific products are referred to as </a:t>
            </a:r>
            <a:r>
              <a:rPr lang="en-GB" b="1" dirty="0" smtClean="0">
                <a:solidFill>
                  <a:srgbClr val="FF0000"/>
                </a:solidFill>
              </a:rPr>
              <a:t>Metabolic Pathways</a:t>
            </a:r>
            <a:r>
              <a:rPr lang="en-GB" dirty="0" smtClean="0"/>
              <a:t>. They are of three types:</a:t>
            </a:r>
          </a:p>
          <a:p>
            <a:pPr marL="571500" indent="-571500" algn="just">
              <a:buFont typeface="+mj-lt"/>
              <a:buAutoNum type="romanLcPeriod"/>
            </a:pPr>
            <a:r>
              <a:rPr lang="en-GB" b="1" dirty="0" smtClean="0"/>
              <a:t>Catabolic pathways </a:t>
            </a:r>
            <a:r>
              <a:rPr lang="en-GB" dirty="0" smtClean="0"/>
              <a:t>(</a:t>
            </a:r>
            <a:r>
              <a:rPr lang="en-GB" b="1" dirty="0" smtClean="0"/>
              <a:t>Catabolism</a:t>
            </a:r>
            <a:r>
              <a:rPr lang="en-GB" dirty="0" smtClean="0"/>
              <a:t>): Breakdown of complex molecules (Carbohydrates, Proteins &amp; Lipids) to small molecules. Energy is generated.</a:t>
            </a:r>
          </a:p>
          <a:p>
            <a:pPr marL="571500" indent="-571500" algn="just">
              <a:buFont typeface="+mj-lt"/>
              <a:buAutoNum type="romanLcPeriod"/>
            </a:pPr>
            <a:r>
              <a:rPr lang="en-GB" b="1" dirty="0" smtClean="0"/>
              <a:t>Anabolic pathways </a:t>
            </a:r>
            <a:r>
              <a:rPr lang="en-GB" dirty="0" smtClean="0"/>
              <a:t>(</a:t>
            </a:r>
            <a:r>
              <a:rPr lang="en-GB" b="1" dirty="0" smtClean="0"/>
              <a:t>Anabolism</a:t>
            </a:r>
            <a:r>
              <a:rPr lang="en-GB" dirty="0" smtClean="0"/>
              <a:t>): Synthesis of complex molecules from small molecules. Energy is consumed.</a:t>
            </a:r>
          </a:p>
          <a:p>
            <a:pPr marL="571500" indent="-571500" algn="just">
              <a:buFont typeface="+mj-lt"/>
              <a:buAutoNum type="romanLcPeriod"/>
            </a:pPr>
            <a:r>
              <a:rPr lang="en-GB" b="1" dirty="0" err="1" smtClean="0"/>
              <a:t>Amphibolic</a:t>
            </a:r>
            <a:r>
              <a:rPr lang="en-GB" b="1" dirty="0" smtClean="0"/>
              <a:t>  pathways</a:t>
            </a:r>
            <a:r>
              <a:rPr lang="en-GB" dirty="0" smtClean="0"/>
              <a:t>: Act as links between catabolic pathways and anabolic pathways.</a:t>
            </a:r>
          </a:p>
          <a:p>
            <a:pPr marL="571500" indent="-571500" algn="just">
              <a:buNone/>
            </a:pPr>
            <a:r>
              <a:rPr lang="en-GB" b="1" dirty="0" smtClean="0"/>
              <a:t>Note: </a:t>
            </a:r>
            <a:r>
              <a:rPr lang="en-GB" dirty="0" smtClean="0"/>
              <a:t>These pathways do not occur in isolation. </a:t>
            </a:r>
          </a:p>
          <a:p>
            <a:endParaRPr lang="en-GB"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52"/>
            <a:ext cx="8229600" cy="439718"/>
          </a:xfrm>
        </p:spPr>
        <p:txBody>
          <a:bodyPr>
            <a:normAutofit fontScale="90000"/>
          </a:bodyPr>
          <a:lstStyle/>
          <a:p>
            <a:r>
              <a:rPr lang="en-GB" dirty="0" smtClean="0"/>
              <a:t>Carbohydrate Metabolism</a:t>
            </a:r>
            <a:endParaRPr lang="en-GB" dirty="0"/>
          </a:p>
        </p:txBody>
      </p:sp>
      <p:sp>
        <p:nvSpPr>
          <p:cNvPr id="3" name="Content Placeholder 2"/>
          <p:cNvSpPr>
            <a:spLocks noGrp="1"/>
          </p:cNvSpPr>
          <p:nvPr>
            <p:ph idx="1"/>
          </p:nvPr>
        </p:nvSpPr>
        <p:spPr>
          <a:xfrm>
            <a:off x="457200" y="571480"/>
            <a:ext cx="8229600" cy="3071834"/>
          </a:xfrm>
        </p:spPr>
        <p:txBody>
          <a:bodyPr>
            <a:normAutofit/>
          </a:bodyPr>
          <a:lstStyle/>
          <a:p>
            <a:r>
              <a:rPr lang="en-GB" sz="2400" dirty="0" smtClean="0"/>
              <a:t>Glucose occupies a central position in the metabolism of plants, animals and many microorganisms.</a:t>
            </a:r>
          </a:p>
          <a:p>
            <a:pPr marL="1714500" lvl="3" indent="-457200">
              <a:buFont typeface="+mj-lt"/>
              <a:buAutoNum type="alphaLcPeriod"/>
            </a:pPr>
            <a:r>
              <a:rPr lang="en-GB" dirty="0" smtClean="0">
                <a:latin typeface="+mj-lt"/>
              </a:rPr>
              <a:t>It is relatively rich in potential energy, thus a good fuel.(Complete oxidation to CO</a:t>
            </a:r>
            <a:r>
              <a:rPr lang="en-GB" baseline="-25000" dirty="0" smtClean="0">
                <a:latin typeface="+mj-lt"/>
              </a:rPr>
              <a:t>2</a:t>
            </a:r>
            <a:r>
              <a:rPr lang="en-GB" dirty="0" smtClean="0">
                <a:latin typeface="+mj-lt"/>
              </a:rPr>
              <a:t> and H</a:t>
            </a:r>
            <a:r>
              <a:rPr lang="en-GB" baseline="-25000" dirty="0" smtClean="0">
                <a:latin typeface="+mj-lt"/>
              </a:rPr>
              <a:t>2</a:t>
            </a:r>
            <a:r>
              <a:rPr lang="en-GB" dirty="0" smtClean="0">
                <a:latin typeface="+mj-lt"/>
              </a:rPr>
              <a:t>O proceeds with a </a:t>
            </a:r>
            <a:r>
              <a:rPr lang="en-GB" dirty="0" smtClean="0">
                <a:latin typeface="+mj-lt"/>
                <a:cs typeface="Times New Roman"/>
              </a:rPr>
              <a:t>∆G value of -2,840 KJ/mol).</a:t>
            </a:r>
          </a:p>
          <a:p>
            <a:pPr marL="1714500" lvl="3" indent="-457200">
              <a:buFont typeface="+mj-lt"/>
              <a:buAutoNum type="alphaLcPeriod"/>
            </a:pPr>
            <a:r>
              <a:rPr lang="en-GB" dirty="0" smtClean="0">
                <a:latin typeface="+mj-lt"/>
                <a:cs typeface="Times New Roman"/>
              </a:rPr>
              <a:t>It is a versatile precursor, capable of supplying a huge array of metabolic intermediates for biosynthetic reactions. e.g. </a:t>
            </a:r>
            <a:r>
              <a:rPr lang="en-GB" b="1" dirty="0" smtClean="0">
                <a:latin typeface="+mj-lt"/>
                <a:cs typeface="Times New Roman"/>
              </a:rPr>
              <a:t>E. coli</a:t>
            </a:r>
            <a:r>
              <a:rPr lang="en-GB" dirty="0" smtClean="0">
                <a:latin typeface="+mj-lt"/>
                <a:cs typeface="Times New Roman"/>
              </a:rPr>
              <a:t> can obtain carbon skeleton for Amino acids, nucleotides, coenzymes, fatty acids or other metabolic intermediates it needs for growth.</a:t>
            </a:r>
          </a:p>
        </p:txBody>
      </p:sp>
      <p:sp>
        <p:nvSpPr>
          <p:cNvPr id="4" name="TextBox 3"/>
          <p:cNvSpPr txBox="1"/>
          <p:nvPr/>
        </p:nvSpPr>
        <p:spPr>
          <a:xfrm>
            <a:off x="500034" y="3545049"/>
            <a:ext cx="8286808" cy="461665"/>
          </a:xfrm>
          <a:prstGeom prst="rect">
            <a:avLst/>
          </a:prstGeom>
          <a:noFill/>
        </p:spPr>
        <p:txBody>
          <a:bodyPr wrap="square" rtlCol="0">
            <a:spAutoFit/>
          </a:bodyPr>
          <a:lstStyle/>
          <a:p>
            <a:pPr>
              <a:buFont typeface="Arial" pitchFamily="34" charset="0"/>
              <a:buChar char="•"/>
            </a:pPr>
            <a:r>
              <a:rPr lang="en-GB" sz="2400" dirty="0" smtClean="0"/>
              <a:t>   In animals </a:t>
            </a:r>
            <a:r>
              <a:rPr lang="en-GB" sz="2400" dirty="0"/>
              <a:t>and vascular plants, glucose has three </a:t>
            </a:r>
            <a:r>
              <a:rPr lang="en-GB" sz="2400" dirty="0" smtClean="0"/>
              <a:t>major fates:   </a:t>
            </a:r>
          </a:p>
        </p:txBody>
      </p:sp>
      <p:pic>
        <p:nvPicPr>
          <p:cNvPr id="2050" name="Picture 2"/>
          <p:cNvPicPr>
            <a:picLocks noChangeAspect="1" noChangeArrowheads="1"/>
          </p:cNvPicPr>
          <p:nvPr/>
        </p:nvPicPr>
        <p:blipFill>
          <a:blip r:embed="rId2">
            <a:lum bright="-20000" contrast="40000"/>
          </a:blip>
          <a:srcRect/>
          <a:stretch>
            <a:fillRect/>
          </a:stretch>
        </p:blipFill>
        <p:spPr bwMode="auto">
          <a:xfrm>
            <a:off x="571472" y="3929066"/>
            <a:ext cx="3500462" cy="2762228"/>
          </a:xfrm>
          <a:prstGeom prst="rect">
            <a:avLst/>
          </a:prstGeom>
          <a:noFill/>
          <a:ln w="9525">
            <a:noFill/>
            <a:miter lim="800000"/>
            <a:headEnd/>
            <a:tailEnd/>
          </a:ln>
          <a:effectLst/>
        </p:spPr>
      </p:pic>
      <p:sp>
        <p:nvSpPr>
          <p:cNvPr id="6" name="TextBox 5"/>
          <p:cNvSpPr txBox="1"/>
          <p:nvPr/>
        </p:nvSpPr>
        <p:spPr>
          <a:xfrm>
            <a:off x="4071966" y="4071942"/>
            <a:ext cx="5000628" cy="2554545"/>
          </a:xfrm>
          <a:prstGeom prst="rect">
            <a:avLst/>
          </a:prstGeom>
          <a:noFill/>
        </p:spPr>
        <p:txBody>
          <a:bodyPr wrap="square" rtlCol="0">
            <a:spAutoFit/>
          </a:bodyPr>
          <a:lstStyle/>
          <a:p>
            <a:r>
              <a:rPr lang="en-GB" sz="2000" b="1" dirty="0" smtClean="0"/>
              <a:t>How is glucose synthesized?</a:t>
            </a:r>
          </a:p>
          <a:p>
            <a:pPr>
              <a:buFont typeface="Wingdings" pitchFamily="2" charset="2"/>
              <a:buChar char="v"/>
            </a:pPr>
            <a:r>
              <a:rPr lang="en-GB" sz="2000" dirty="0" smtClean="0"/>
              <a:t>Photosynthetic organisms make glucose by fixing CO2 to </a:t>
            </a:r>
            <a:r>
              <a:rPr lang="en-GB" sz="2000" dirty="0" err="1" smtClean="0"/>
              <a:t>trioses</a:t>
            </a:r>
            <a:r>
              <a:rPr lang="en-GB" sz="2000" dirty="0" smtClean="0"/>
              <a:t>, then convert the </a:t>
            </a:r>
            <a:r>
              <a:rPr lang="en-GB" sz="2000" dirty="0" err="1" smtClean="0"/>
              <a:t>trioses</a:t>
            </a:r>
            <a:r>
              <a:rPr lang="en-GB" sz="2000" dirty="0" smtClean="0"/>
              <a:t> to glucose.</a:t>
            </a:r>
          </a:p>
          <a:p>
            <a:endParaRPr lang="en-GB" sz="2000" dirty="0" smtClean="0"/>
          </a:p>
          <a:p>
            <a:pPr>
              <a:buFont typeface="Wingdings" pitchFamily="2" charset="2"/>
              <a:buChar char="v"/>
            </a:pPr>
            <a:r>
              <a:rPr lang="en-GB" sz="2000" dirty="0" smtClean="0"/>
              <a:t>Non-photosynthetic cells make glucose from simpler three and four-carbon compounds by the process of </a:t>
            </a:r>
            <a:r>
              <a:rPr lang="en-GB" sz="2000" b="1" dirty="0" err="1" smtClean="0"/>
              <a:t>gluconeogenesis</a:t>
            </a:r>
            <a:endParaRPr lang="en-GB" sz="2000" b="1"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1472" y="1714489"/>
            <a:ext cx="7643866" cy="2428891"/>
          </a:xfrm>
        </p:spPr>
        <p:txBody>
          <a:bodyPr>
            <a:normAutofit fontScale="70000" lnSpcReduction="20000"/>
          </a:bodyPr>
          <a:lstStyle/>
          <a:p>
            <a:r>
              <a:rPr lang="en-GB" sz="2400" dirty="0" smtClean="0">
                <a:solidFill>
                  <a:srgbClr val="FF0000"/>
                </a:solidFill>
              </a:rPr>
              <a:t>Glycolysis.</a:t>
            </a:r>
          </a:p>
          <a:p>
            <a:r>
              <a:rPr lang="en-GB" sz="2400" dirty="0" smtClean="0">
                <a:solidFill>
                  <a:srgbClr val="FF0000"/>
                </a:solidFill>
              </a:rPr>
              <a:t>Fructose metabolism</a:t>
            </a:r>
          </a:p>
          <a:p>
            <a:r>
              <a:rPr lang="en-GB" dirty="0" smtClean="0">
                <a:solidFill>
                  <a:srgbClr val="FF0000"/>
                </a:solidFill>
              </a:rPr>
              <a:t>Galactose metabolism</a:t>
            </a:r>
            <a:endParaRPr lang="en-GB" sz="2400" dirty="0" smtClean="0">
              <a:solidFill>
                <a:srgbClr val="FF0000"/>
              </a:solidFill>
            </a:endParaRPr>
          </a:p>
          <a:p>
            <a:r>
              <a:rPr lang="en-GB" sz="2400" dirty="0" err="1" smtClean="0">
                <a:solidFill>
                  <a:srgbClr val="FF0000"/>
                </a:solidFill>
              </a:rPr>
              <a:t>Gluconeogenesis</a:t>
            </a:r>
            <a:r>
              <a:rPr lang="en-GB" sz="2400" dirty="0" smtClean="0">
                <a:solidFill>
                  <a:srgbClr val="FF0000"/>
                </a:solidFill>
              </a:rPr>
              <a:t>.</a:t>
            </a:r>
          </a:p>
          <a:p>
            <a:r>
              <a:rPr lang="en-GB" sz="2400" dirty="0" smtClean="0">
                <a:solidFill>
                  <a:srgbClr val="FF0000"/>
                </a:solidFill>
              </a:rPr>
              <a:t>Pentose Phosphate Pathway.</a:t>
            </a:r>
          </a:p>
          <a:p>
            <a:r>
              <a:rPr lang="en-GB" sz="2400" dirty="0" err="1" smtClean="0">
                <a:solidFill>
                  <a:srgbClr val="FF0000"/>
                </a:solidFill>
              </a:rPr>
              <a:t>Tricarboxylic</a:t>
            </a:r>
            <a:r>
              <a:rPr lang="en-GB" sz="2400" dirty="0" smtClean="0">
                <a:solidFill>
                  <a:srgbClr val="FF0000"/>
                </a:solidFill>
              </a:rPr>
              <a:t> acid cycle (TCA cycle).</a:t>
            </a:r>
          </a:p>
          <a:p>
            <a:r>
              <a:rPr lang="en-GB" sz="2400" dirty="0" smtClean="0">
                <a:solidFill>
                  <a:srgbClr val="FF0000"/>
                </a:solidFill>
              </a:rPr>
              <a:t>Electron Transport Chain (Oxidative phosphorylation).</a:t>
            </a:r>
            <a:endParaRPr lang="en-GB" sz="2400" dirty="0">
              <a:solidFill>
                <a:srgbClr val="FF0000"/>
              </a:solidFill>
            </a:endParaRPr>
          </a:p>
        </p:txBody>
      </p:sp>
      <p:sp>
        <p:nvSpPr>
          <p:cNvPr id="4" name="TextBox 3"/>
          <p:cNvSpPr txBox="1"/>
          <p:nvPr/>
        </p:nvSpPr>
        <p:spPr>
          <a:xfrm>
            <a:off x="1000100" y="857232"/>
            <a:ext cx="1806200" cy="646331"/>
          </a:xfrm>
          <a:prstGeom prst="rect">
            <a:avLst/>
          </a:prstGeom>
          <a:noFill/>
        </p:spPr>
        <p:txBody>
          <a:bodyPr wrap="none" rtlCol="0">
            <a:spAutoFit/>
          </a:bodyPr>
          <a:lstStyle/>
          <a:p>
            <a:r>
              <a:rPr lang="en-GB" sz="3600" dirty="0" smtClean="0"/>
              <a:t>Content:</a:t>
            </a:r>
            <a:endParaRPr lang="en-GB" sz="36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857488" y="274638"/>
            <a:ext cx="2786082" cy="368280"/>
          </a:xfrm>
        </p:spPr>
        <p:txBody>
          <a:bodyPr>
            <a:normAutofit fontScale="90000"/>
          </a:bodyPr>
          <a:lstStyle/>
          <a:p>
            <a:r>
              <a:rPr lang="en-GB" sz="3600" dirty="0" smtClean="0">
                <a:solidFill>
                  <a:srgbClr val="FF0000"/>
                </a:solidFill>
              </a:rPr>
              <a:t>Glycolysis</a:t>
            </a:r>
            <a:endParaRPr lang="en-GB" sz="3600" dirty="0">
              <a:solidFill>
                <a:srgbClr val="FF0000"/>
              </a:solidFill>
            </a:endParaRPr>
          </a:p>
        </p:txBody>
      </p:sp>
      <p:sp>
        <p:nvSpPr>
          <p:cNvPr id="5" name="TextBox 4"/>
          <p:cNvSpPr txBox="1"/>
          <p:nvPr/>
        </p:nvSpPr>
        <p:spPr>
          <a:xfrm>
            <a:off x="142845" y="912572"/>
            <a:ext cx="8786873" cy="5632311"/>
          </a:xfrm>
          <a:prstGeom prst="rect">
            <a:avLst/>
          </a:prstGeom>
          <a:noFill/>
        </p:spPr>
        <p:txBody>
          <a:bodyPr wrap="square" rtlCol="0">
            <a:spAutoFit/>
          </a:bodyPr>
          <a:lstStyle/>
          <a:p>
            <a:pPr algn="just">
              <a:buFont typeface="Wingdings" pitchFamily="2" charset="2"/>
              <a:buChar char="ü"/>
            </a:pPr>
            <a:r>
              <a:rPr lang="en-GB" sz="2000" dirty="0"/>
              <a:t>In </a:t>
            </a:r>
            <a:r>
              <a:rPr lang="en-GB" sz="2000" b="1" dirty="0"/>
              <a:t>glycolysis </a:t>
            </a:r>
            <a:r>
              <a:rPr lang="en-GB" sz="2000" i="1" dirty="0" smtClean="0"/>
              <a:t> </a:t>
            </a:r>
            <a:r>
              <a:rPr lang="en-GB" sz="2000" dirty="0"/>
              <a:t>a molecule of glucose </a:t>
            </a:r>
            <a:r>
              <a:rPr lang="en-GB" sz="2000" i="1" dirty="0" smtClean="0"/>
              <a:t>is </a:t>
            </a:r>
            <a:r>
              <a:rPr lang="en-GB" sz="2000" dirty="0" smtClean="0"/>
              <a:t>degraded </a:t>
            </a:r>
            <a:r>
              <a:rPr lang="en-GB" sz="2000" dirty="0"/>
              <a:t>in a series of enzyme-catalyzed </a:t>
            </a:r>
            <a:r>
              <a:rPr lang="en-GB" sz="2000" dirty="0" smtClean="0"/>
              <a:t>reactions to yield </a:t>
            </a:r>
            <a:r>
              <a:rPr lang="en-GB" sz="2000" dirty="0"/>
              <a:t>two molecules of the three-carbon </a:t>
            </a:r>
            <a:r>
              <a:rPr lang="en-GB" sz="2000" dirty="0" smtClean="0"/>
              <a:t>compound (</a:t>
            </a:r>
            <a:r>
              <a:rPr lang="en-GB" sz="2000" dirty="0" err="1" smtClean="0"/>
              <a:t>pyruvate</a:t>
            </a:r>
            <a:r>
              <a:rPr lang="en-GB" sz="2000" dirty="0" smtClean="0"/>
              <a:t>).</a:t>
            </a:r>
          </a:p>
          <a:p>
            <a:pPr algn="just"/>
            <a:r>
              <a:rPr lang="en-GB" sz="2000" dirty="0" smtClean="0"/>
              <a:t> </a:t>
            </a:r>
          </a:p>
          <a:p>
            <a:pPr algn="just">
              <a:buFont typeface="Wingdings" pitchFamily="2" charset="2"/>
              <a:buChar char="ü"/>
            </a:pPr>
            <a:r>
              <a:rPr lang="en-GB" sz="2000" dirty="0"/>
              <a:t>T</a:t>
            </a:r>
            <a:r>
              <a:rPr lang="en-GB" sz="2000" dirty="0" smtClean="0"/>
              <a:t>he </a:t>
            </a:r>
            <a:r>
              <a:rPr lang="en-GB" sz="2000" dirty="0"/>
              <a:t>sequential reactions of glycolysis</a:t>
            </a:r>
            <a:r>
              <a:rPr lang="en-GB" sz="2000" dirty="0" smtClean="0"/>
              <a:t>, conserve the </a:t>
            </a:r>
            <a:r>
              <a:rPr lang="en-GB" sz="2000" dirty="0"/>
              <a:t>free energy released from </a:t>
            </a:r>
            <a:r>
              <a:rPr lang="en-GB" sz="2000" dirty="0" smtClean="0"/>
              <a:t>glucose in </a:t>
            </a:r>
            <a:r>
              <a:rPr lang="en-GB" sz="2000" dirty="0"/>
              <a:t>form of ATP and </a:t>
            </a:r>
            <a:r>
              <a:rPr lang="en-GB" sz="2000" dirty="0" smtClean="0"/>
              <a:t>NADH.</a:t>
            </a:r>
          </a:p>
          <a:p>
            <a:pPr algn="just">
              <a:buFont typeface="Wingdings" pitchFamily="2" charset="2"/>
              <a:buChar char="ü"/>
            </a:pPr>
            <a:r>
              <a:rPr lang="en-GB" sz="2000" dirty="0" smtClean="0"/>
              <a:t>Glycolysis is the central pathway of glucose catabolism in most cells some of which solely depend on it as a source of metabolic energy .e.g. </a:t>
            </a:r>
          </a:p>
          <a:p>
            <a:pPr marL="971550" lvl="1" indent="-514350" algn="just">
              <a:buFont typeface="+mj-lt"/>
              <a:buAutoNum type="romanLcPeriod"/>
            </a:pPr>
            <a:r>
              <a:rPr lang="en-GB" sz="2000" dirty="0" smtClean="0"/>
              <a:t>Mammalian tissues and cell types (erythrocytes, renal medulla, brain and sperm cell .</a:t>
            </a:r>
          </a:p>
          <a:p>
            <a:pPr marL="971550" lvl="1" indent="-514350" algn="just">
              <a:buFont typeface="+mj-lt"/>
              <a:buAutoNum type="romanLcPeriod"/>
            </a:pPr>
            <a:r>
              <a:rPr lang="en-GB" sz="2000" dirty="0" smtClean="0"/>
              <a:t>Plants tissues that are modified to store starch (potato tubers)</a:t>
            </a:r>
          </a:p>
          <a:p>
            <a:pPr marL="971550" lvl="1" indent="-514350" algn="just">
              <a:buFont typeface="+mj-lt"/>
              <a:buAutoNum type="romanLcPeriod"/>
            </a:pPr>
            <a:r>
              <a:rPr lang="en-GB" sz="2000" dirty="0" smtClean="0"/>
              <a:t>Most anaerobic microorganisms. </a:t>
            </a:r>
          </a:p>
          <a:p>
            <a:pPr algn="just"/>
            <a:endParaRPr lang="en-GB" sz="2000" dirty="0" smtClean="0"/>
          </a:p>
          <a:p>
            <a:pPr algn="just">
              <a:buFont typeface="Wingdings" pitchFamily="2" charset="2"/>
              <a:buChar char="ü"/>
            </a:pPr>
            <a:r>
              <a:rPr lang="en-GB" sz="2000" dirty="0" smtClean="0"/>
              <a:t>The </a:t>
            </a:r>
            <a:r>
              <a:rPr lang="en-GB" sz="2000" dirty="0"/>
              <a:t>breakdown of the six-carbon </a:t>
            </a:r>
            <a:r>
              <a:rPr lang="en-GB" sz="2000" dirty="0" smtClean="0"/>
              <a:t>(glucose) </a:t>
            </a:r>
            <a:r>
              <a:rPr lang="en-GB" sz="2000" dirty="0"/>
              <a:t>into two </a:t>
            </a:r>
            <a:r>
              <a:rPr lang="en-GB" sz="2000" dirty="0" smtClean="0"/>
              <a:t>molecules of </a:t>
            </a:r>
            <a:r>
              <a:rPr lang="en-GB" sz="2000" dirty="0"/>
              <a:t>the </a:t>
            </a:r>
            <a:r>
              <a:rPr lang="en-GB" sz="2000" dirty="0" smtClean="0"/>
              <a:t>three-carbon </a:t>
            </a:r>
            <a:r>
              <a:rPr lang="en-GB" sz="2000" dirty="0" err="1" smtClean="0"/>
              <a:t>pyruvate</a:t>
            </a:r>
            <a:r>
              <a:rPr lang="en-GB" sz="2000" dirty="0" smtClean="0"/>
              <a:t> </a:t>
            </a:r>
            <a:r>
              <a:rPr lang="en-GB" sz="2000" dirty="0"/>
              <a:t>occurs in ten steps</a:t>
            </a:r>
            <a:r>
              <a:rPr lang="en-GB" sz="2000" dirty="0" smtClean="0"/>
              <a:t>, which are divided in to two phases:</a:t>
            </a:r>
          </a:p>
          <a:p>
            <a:pPr marL="1885950" lvl="3" indent="-514350" algn="just">
              <a:buFont typeface="+mj-lt"/>
              <a:buAutoNum type="romanLcPeriod"/>
            </a:pPr>
            <a:r>
              <a:rPr lang="en-GB" sz="2000" dirty="0" smtClean="0"/>
              <a:t>Preparatory phase</a:t>
            </a:r>
          </a:p>
          <a:p>
            <a:pPr marL="1885950" lvl="3" indent="-514350" algn="just">
              <a:buFont typeface="+mj-lt"/>
              <a:buAutoNum type="romanLcPeriod"/>
            </a:pPr>
            <a:r>
              <a:rPr lang="en-GB" sz="2000" dirty="0" smtClean="0"/>
              <a:t>Pay off phase.</a:t>
            </a:r>
          </a:p>
          <a:p>
            <a:pPr marL="1885950" lvl="3" indent="-514350" algn="just"/>
            <a:r>
              <a:rPr lang="en-GB" sz="2000" dirty="0" smtClean="0"/>
              <a:t>Note: </a:t>
            </a:r>
            <a:r>
              <a:rPr lang="en-GB" sz="2000" dirty="0" err="1" smtClean="0"/>
              <a:t>Glycolytic</a:t>
            </a:r>
            <a:r>
              <a:rPr lang="en-GB" sz="2000" dirty="0" smtClean="0"/>
              <a:t> Enzymes are present in the </a:t>
            </a:r>
            <a:r>
              <a:rPr lang="en-GB" sz="2000" dirty="0" err="1" smtClean="0"/>
              <a:t>cytosol</a:t>
            </a:r>
            <a:r>
              <a:rPr lang="en-GB" sz="2000" dirty="0" smtClean="0"/>
              <a:t> of cells.</a:t>
            </a:r>
          </a:p>
          <a:p>
            <a:pPr marL="1885950" lvl="3" indent="-514350" algn="just"/>
            <a:endParaRPr lang="en-GB" sz="2000" dirty="0"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14346" y="142852"/>
            <a:ext cx="3929090" cy="368280"/>
          </a:xfrm>
        </p:spPr>
        <p:txBody>
          <a:bodyPr>
            <a:noAutofit/>
          </a:bodyPr>
          <a:lstStyle/>
          <a:p>
            <a:r>
              <a:rPr lang="en-GB" sz="2800" dirty="0" smtClean="0"/>
              <a:t>Glycolysis cont….</a:t>
            </a:r>
            <a:endParaRPr lang="en-GB" sz="2800" dirty="0"/>
          </a:p>
        </p:txBody>
      </p:sp>
      <p:sp>
        <p:nvSpPr>
          <p:cNvPr id="4" name="TextBox 3"/>
          <p:cNvSpPr txBox="1"/>
          <p:nvPr/>
        </p:nvSpPr>
        <p:spPr>
          <a:xfrm>
            <a:off x="285720" y="500042"/>
            <a:ext cx="2534348" cy="461665"/>
          </a:xfrm>
          <a:prstGeom prst="rect">
            <a:avLst/>
          </a:prstGeom>
          <a:noFill/>
        </p:spPr>
        <p:txBody>
          <a:bodyPr wrap="none" rtlCol="0">
            <a:spAutoFit/>
          </a:bodyPr>
          <a:lstStyle/>
          <a:p>
            <a:r>
              <a:rPr lang="en-GB" sz="2400" b="1" dirty="0" smtClean="0"/>
              <a:t>Preparatory phase</a:t>
            </a:r>
            <a:endParaRPr lang="en-GB" sz="2400" b="1" dirty="0"/>
          </a:p>
        </p:txBody>
      </p:sp>
      <p:sp>
        <p:nvSpPr>
          <p:cNvPr id="5" name="TextBox 4"/>
          <p:cNvSpPr txBox="1"/>
          <p:nvPr/>
        </p:nvSpPr>
        <p:spPr>
          <a:xfrm>
            <a:off x="214282" y="928670"/>
            <a:ext cx="4143404" cy="2308324"/>
          </a:xfrm>
          <a:prstGeom prst="rect">
            <a:avLst/>
          </a:prstGeom>
          <a:noFill/>
        </p:spPr>
        <p:txBody>
          <a:bodyPr wrap="square" rtlCol="0">
            <a:spAutoFit/>
          </a:bodyPr>
          <a:lstStyle/>
          <a:p>
            <a:pPr algn="just">
              <a:buFont typeface="Wingdings" pitchFamily="2" charset="2"/>
              <a:buChar char="Ø"/>
            </a:pPr>
            <a:r>
              <a:rPr lang="en-GB" dirty="0" smtClean="0"/>
              <a:t>The </a:t>
            </a:r>
            <a:r>
              <a:rPr lang="en-GB" dirty="0"/>
              <a:t>first </a:t>
            </a:r>
            <a:r>
              <a:rPr lang="en-GB" dirty="0" smtClean="0"/>
              <a:t>five reactions of glycolysis  which </a:t>
            </a:r>
            <a:r>
              <a:rPr lang="en-GB" dirty="0"/>
              <a:t>constitute the preparatory </a:t>
            </a:r>
            <a:r>
              <a:rPr lang="en-GB" dirty="0" smtClean="0"/>
              <a:t>phase the energy of ATP is invested, raising the free-energy content of the intermediates, and the carbon chain of all hexoses are converted into a common product; two molecules of glyceraldehyde 3- phosphate (G3P).</a:t>
            </a:r>
            <a:endParaRPr lang="en-GB" dirty="0"/>
          </a:p>
        </p:txBody>
      </p:sp>
      <p:pic>
        <p:nvPicPr>
          <p:cNvPr id="3076" name="Picture 4"/>
          <p:cNvPicPr>
            <a:picLocks noChangeAspect="1" noChangeArrowheads="1"/>
          </p:cNvPicPr>
          <p:nvPr/>
        </p:nvPicPr>
        <p:blipFill>
          <a:blip r:embed="rId2">
            <a:lum bright="-20000" contrast="40000"/>
          </a:blip>
          <a:srcRect/>
          <a:stretch>
            <a:fillRect/>
          </a:stretch>
        </p:blipFill>
        <p:spPr bwMode="auto">
          <a:xfrm>
            <a:off x="4429124" y="71462"/>
            <a:ext cx="4643470" cy="6715124"/>
          </a:xfrm>
          <a:prstGeom prst="rect">
            <a:avLst/>
          </a:prstGeom>
          <a:noFill/>
          <a:ln w="9525">
            <a:noFill/>
            <a:miter lim="800000"/>
            <a:headEnd/>
            <a:tailEnd/>
          </a:ln>
          <a:effectLst/>
        </p:spPr>
      </p:pic>
      <p:sp>
        <p:nvSpPr>
          <p:cNvPr id="9" name="TextBox 8"/>
          <p:cNvSpPr txBox="1"/>
          <p:nvPr/>
        </p:nvSpPr>
        <p:spPr>
          <a:xfrm>
            <a:off x="285720" y="3143248"/>
            <a:ext cx="2534348" cy="461665"/>
          </a:xfrm>
          <a:prstGeom prst="rect">
            <a:avLst/>
          </a:prstGeom>
          <a:noFill/>
        </p:spPr>
        <p:txBody>
          <a:bodyPr wrap="square" rtlCol="0">
            <a:spAutoFit/>
          </a:bodyPr>
          <a:lstStyle/>
          <a:p>
            <a:r>
              <a:rPr lang="en-GB" sz="2400" b="1" dirty="0" smtClean="0"/>
              <a:t>Payoff phase</a:t>
            </a:r>
            <a:endParaRPr lang="en-GB" sz="2400" b="1" dirty="0"/>
          </a:p>
        </p:txBody>
      </p:sp>
      <p:sp>
        <p:nvSpPr>
          <p:cNvPr id="10" name="TextBox 9"/>
          <p:cNvSpPr txBox="1"/>
          <p:nvPr/>
        </p:nvSpPr>
        <p:spPr>
          <a:xfrm>
            <a:off x="142844" y="3571876"/>
            <a:ext cx="4143404" cy="2862322"/>
          </a:xfrm>
          <a:prstGeom prst="rect">
            <a:avLst/>
          </a:prstGeom>
          <a:noFill/>
        </p:spPr>
        <p:txBody>
          <a:bodyPr wrap="square" rtlCol="0">
            <a:spAutoFit/>
          </a:bodyPr>
          <a:lstStyle/>
          <a:p>
            <a:pPr algn="just">
              <a:buFont typeface="Wingdings" pitchFamily="2" charset="2"/>
              <a:buChar char="Ø"/>
            </a:pPr>
            <a:r>
              <a:rPr lang="en-GB" dirty="0"/>
              <a:t>I</a:t>
            </a:r>
            <a:r>
              <a:rPr lang="en-GB" dirty="0" smtClean="0"/>
              <a:t>n </a:t>
            </a:r>
            <a:r>
              <a:rPr lang="en-GB" dirty="0"/>
              <a:t>the payoff phase of e</a:t>
            </a:r>
            <a:r>
              <a:rPr lang="en-GB" dirty="0" smtClean="0"/>
              <a:t>ach </a:t>
            </a:r>
            <a:r>
              <a:rPr lang="en-GB" dirty="0"/>
              <a:t>molecule of </a:t>
            </a:r>
            <a:r>
              <a:rPr lang="en-GB" dirty="0" smtClean="0"/>
              <a:t>G3P </a:t>
            </a:r>
            <a:r>
              <a:rPr lang="en-GB" dirty="0"/>
              <a:t>is oxidized and </a:t>
            </a:r>
            <a:r>
              <a:rPr lang="en-GB" dirty="0" err="1"/>
              <a:t>phosphorylated</a:t>
            </a:r>
            <a:r>
              <a:rPr lang="en-GB" dirty="0"/>
              <a:t> by </a:t>
            </a:r>
            <a:r>
              <a:rPr lang="en-GB" dirty="0" smtClean="0"/>
              <a:t>inorganic phosphate </a:t>
            </a:r>
            <a:r>
              <a:rPr lang="en-GB" dirty="0"/>
              <a:t>(not by ATP) </a:t>
            </a:r>
            <a:r>
              <a:rPr lang="en-GB" dirty="0" smtClean="0"/>
              <a:t>to form 1,3-bisphosphoglycerate.</a:t>
            </a:r>
            <a:endParaRPr lang="en-GB" dirty="0"/>
          </a:p>
          <a:p>
            <a:pPr algn="just">
              <a:buFont typeface="Wingdings" pitchFamily="2" charset="2"/>
              <a:buChar char="Ø"/>
            </a:pPr>
            <a:r>
              <a:rPr lang="en-GB" dirty="0" smtClean="0"/>
              <a:t>Energy </a:t>
            </a:r>
            <a:r>
              <a:rPr lang="en-GB" dirty="0"/>
              <a:t>is then released as the two</a:t>
            </a:r>
          </a:p>
          <a:p>
            <a:pPr algn="just"/>
            <a:r>
              <a:rPr lang="en-GB" dirty="0"/>
              <a:t>molecules of 1,3-bisphosphoglycerate are converted </a:t>
            </a:r>
            <a:r>
              <a:rPr lang="en-GB" dirty="0" smtClean="0"/>
              <a:t>to two </a:t>
            </a:r>
            <a:r>
              <a:rPr lang="en-GB" dirty="0"/>
              <a:t>molecules of </a:t>
            </a:r>
            <a:r>
              <a:rPr lang="en-GB" dirty="0" err="1" smtClean="0"/>
              <a:t>pyruvate</a:t>
            </a:r>
            <a:r>
              <a:rPr lang="en-GB" dirty="0" smtClean="0"/>
              <a:t>.</a:t>
            </a:r>
          </a:p>
          <a:p>
            <a:pPr algn="just">
              <a:buFont typeface="Wingdings" pitchFamily="2" charset="2"/>
              <a:buChar char="Ø"/>
            </a:pPr>
            <a:r>
              <a:rPr lang="en-GB" dirty="0" smtClean="0"/>
              <a:t>The net yield is two molecules of ATP and two molecules of NADH per molecule of glucose.</a:t>
            </a:r>
            <a:endParaRPr lang="en-GB"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704485" y="273586"/>
            <a:ext cx="2688685" cy="523220"/>
          </a:xfrm>
          <a:prstGeom prst="rect">
            <a:avLst/>
          </a:prstGeom>
          <a:noFill/>
        </p:spPr>
        <p:txBody>
          <a:bodyPr wrap="none" rtlCol="0">
            <a:spAutoFit/>
          </a:bodyPr>
          <a:lstStyle/>
          <a:p>
            <a:r>
              <a:rPr lang="en-GB" sz="2800" dirty="0" smtClean="0"/>
              <a:t>Fates of Pyruvate</a:t>
            </a:r>
            <a:endParaRPr lang="en-GB" sz="2800" dirty="0"/>
          </a:p>
        </p:txBody>
      </p:sp>
      <p:pic>
        <p:nvPicPr>
          <p:cNvPr id="4098" name="Picture 2"/>
          <p:cNvPicPr>
            <a:picLocks noChangeAspect="1" noChangeArrowheads="1"/>
          </p:cNvPicPr>
          <p:nvPr/>
        </p:nvPicPr>
        <p:blipFill>
          <a:blip r:embed="rId2">
            <a:lum bright="-20000" contrast="40000"/>
          </a:blip>
          <a:srcRect/>
          <a:stretch>
            <a:fillRect/>
          </a:stretch>
        </p:blipFill>
        <p:spPr bwMode="auto">
          <a:xfrm>
            <a:off x="4714876" y="285728"/>
            <a:ext cx="4071966" cy="5929354"/>
          </a:xfrm>
          <a:prstGeom prst="rect">
            <a:avLst/>
          </a:prstGeom>
          <a:noFill/>
          <a:ln w="9525">
            <a:noFill/>
            <a:miter lim="800000"/>
            <a:headEnd/>
            <a:tailEnd/>
          </a:ln>
          <a:effectLst/>
        </p:spPr>
      </p:pic>
      <p:sp>
        <p:nvSpPr>
          <p:cNvPr id="6" name="TextBox 5"/>
          <p:cNvSpPr txBox="1"/>
          <p:nvPr/>
        </p:nvSpPr>
        <p:spPr>
          <a:xfrm>
            <a:off x="142844" y="859770"/>
            <a:ext cx="4357718" cy="5355312"/>
          </a:xfrm>
          <a:prstGeom prst="rect">
            <a:avLst/>
          </a:prstGeom>
          <a:noFill/>
        </p:spPr>
        <p:txBody>
          <a:bodyPr wrap="square" rtlCol="0">
            <a:spAutoFit/>
          </a:bodyPr>
          <a:lstStyle/>
          <a:p>
            <a:pPr algn="just"/>
            <a:r>
              <a:rPr lang="en-GB" dirty="0" smtClean="0"/>
              <a:t>The </a:t>
            </a:r>
            <a:r>
              <a:rPr lang="en-GB" dirty="0" err="1" smtClean="0"/>
              <a:t>pyruvate</a:t>
            </a:r>
            <a:r>
              <a:rPr lang="en-GB" dirty="0" smtClean="0"/>
              <a:t> formed in glycolysis is further metabolized in three major catabolic routes.</a:t>
            </a:r>
          </a:p>
          <a:p>
            <a:pPr marL="400050" indent="-400050" algn="just">
              <a:buFont typeface="+mj-lt"/>
              <a:buAutoNum type="romanUcPeriod"/>
            </a:pPr>
            <a:r>
              <a:rPr lang="en-GB" dirty="0" smtClean="0"/>
              <a:t>Complete oxidation to CO2 and water in the citric acid cycle and electron transport chain in the mitochondria. The energy from electron-transfer reactions drive ATP synthesis ( e.g. aerobic organisms or tissues).</a:t>
            </a:r>
          </a:p>
          <a:p>
            <a:pPr marL="400050" indent="-400050" algn="just">
              <a:buFont typeface="+mj-lt"/>
              <a:buAutoNum type="romanUcPeriod"/>
            </a:pPr>
            <a:r>
              <a:rPr lang="en-GB" dirty="0" smtClean="0"/>
              <a:t>Pyruvate reduction to lactate via lactic acid </a:t>
            </a:r>
            <a:r>
              <a:rPr lang="en-GB" dirty="0" err="1" smtClean="0"/>
              <a:t>fermantation</a:t>
            </a:r>
            <a:r>
              <a:rPr lang="en-GB" dirty="0" smtClean="0"/>
              <a:t> for regeneration of NAD+ required as an electron acceptor for further oxidation of glucose to </a:t>
            </a:r>
            <a:r>
              <a:rPr lang="en-GB" dirty="0" err="1" smtClean="0"/>
              <a:t>pyruvate</a:t>
            </a:r>
            <a:r>
              <a:rPr lang="en-GB" dirty="0"/>
              <a:t> </a:t>
            </a:r>
            <a:r>
              <a:rPr lang="en-GB" dirty="0" smtClean="0"/>
              <a:t>( e.g. contracting muscle, erythrocytes, retina and anaerobic microorganisms) </a:t>
            </a:r>
          </a:p>
          <a:p>
            <a:pPr marL="400050" indent="-400050" algn="just">
              <a:buFont typeface="+mj-lt"/>
              <a:buAutoNum type="romanUcPeriod"/>
            </a:pPr>
            <a:r>
              <a:rPr lang="en-GB" dirty="0" err="1" smtClean="0"/>
              <a:t>Decarboxylation</a:t>
            </a:r>
            <a:r>
              <a:rPr lang="en-GB" dirty="0" smtClean="0"/>
              <a:t> of </a:t>
            </a:r>
            <a:r>
              <a:rPr lang="en-GB" dirty="0" err="1" smtClean="0"/>
              <a:t>pyruvate</a:t>
            </a:r>
            <a:r>
              <a:rPr lang="en-GB" dirty="0" smtClean="0"/>
              <a:t> to ethanol in ethanol (alcohol) fermentation  under hypoxic or anaerobic conditions (e.g. protists and microorganisms)</a:t>
            </a:r>
            <a:endParaRPr lang="en-GB"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1857356" y="142852"/>
            <a:ext cx="4642425" cy="523220"/>
          </a:xfrm>
          <a:prstGeom prst="rect">
            <a:avLst/>
          </a:prstGeom>
          <a:noFill/>
        </p:spPr>
        <p:txBody>
          <a:bodyPr wrap="none" rtlCol="0">
            <a:spAutoFit/>
          </a:bodyPr>
          <a:lstStyle/>
          <a:p>
            <a:r>
              <a:rPr lang="en-GB" sz="2800" dirty="0" smtClean="0"/>
              <a:t>Feeder pathways for Glycolysis</a:t>
            </a:r>
            <a:endParaRPr lang="en-GB" sz="2800" dirty="0"/>
          </a:p>
        </p:txBody>
      </p:sp>
      <p:grpSp>
        <p:nvGrpSpPr>
          <p:cNvPr id="7" name="Group 6"/>
          <p:cNvGrpSpPr/>
          <p:nvPr/>
        </p:nvGrpSpPr>
        <p:grpSpPr>
          <a:xfrm>
            <a:off x="714348" y="723903"/>
            <a:ext cx="7286676" cy="5848369"/>
            <a:chOff x="714348" y="723903"/>
            <a:chExt cx="7286676" cy="5848369"/>
          </a:xfrm>
        </p:grpSpPr>
        <p:pic>
          <p:nvPicPr>
            <p:cNvPr id="5122" name="Picture 2"/>
            <p:cNvPicPr>
              <a:picLocks noChangeAspect="1" noChangeArrowheads="1"/>
            </p:cNvPicPr>
            <p:nvPr/>
          </p:nvPicPr>
          <p:blipFill>
            <a:blip r:embed="rId2">
              <a:lum bright="-20000" contrast="40000"/>
            </a:blip>
            <a:srcRect/>
            <a:stretch>
              <a:fillRect/>
            </a:stretch>
          </p:blipFill>
          <p:spPr bwMode="auto">
            <a:xfrm>
              <a:off x="714348" y="723903"/>
              <a:ext cx="6858000" cy="5848369"/>
            </a:xfrm>
            <a:prstGeom prst="rect">
              <a:avLst/>
            </a:prstGeom>
            <a:noFill/>
            <a:ln w="9525">
              <a:noFill/>
              <a:miter lim="800000"/>
              <a:headEnd/>
              <a:tailEnd/>
            </a:ln>
            <a:effectLst/>
          </p:spPr>
        </p:pic>
        <p:sp>
          <p:nvSpPr>
            <p:cNvPr id="6" name="TextBox 5"/>
            <p:cNvSpPr txBox="1"/>
            <p:nvPr/>
          </p:nvSpPr>
          <p:spPr>
            <a:xfrm>
              <a:off x="5786446" y="6131502"/>
              <a:ext cx="2214578" cy="369332"/>
            </a:xfrm>
            <a:prstGeom prst="rect">
              <a:avLst/>
            </a:prstGeom>
            <a:solidFill>
              <a:schemeClr val="bg1"/>
            </a:solidFill>
          </p:spPr>
          <p:txBody>
            <a:bodyPr wrap="square" rtlCol="0">
              <a:spAutoFit/>
            </a:bodyPr>
            <a:lstStyle/>
            <a:p>
              <a:endParaRPr lang="en-GB" dirty="0"/>
            </a:p>
          </p:txBody>
        </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214290"/>
            <a:ext cx="9144000" cy="357190"/>
          </a:xfrm>
        </p:spPr>
        <p:txBody>
          <a:bodyPr>
            <a:normAutofit fontScale="90000"/>
          </a:bodyPr>
          <a:lstStyle/>
          <a:p>
            <a:r>
              <a:rPr lang="en-GB" dirty="0" smtClean="0"/>
              <a:t>Regulation of Glycolysis</a:t>
            </a:r>
            <a:endParaRPr lang="en-GB" dirty="0"/>
          </a:p>
        </p:txBody>
      </p:sp>
      <p:sp>
        <p:nvSpPr>
          <p:cNvPr id="3" name="Content Placeholder 2"/>
          <p:cNvSpPr>
            <a:spLocks noGrp="1"/>
          </p:cNvSpPr>
          <p:nvPr>
            <p:ph idx="1"/>
          </p:nvPr>
        </p:nvSpPr>
        <p:spPr>
          <a:xfrm>
            <a:off x="428596" y="803275"/>
            <a:ext cx="8429684" cy="5626121"/>
          </a:xfrm>
        </p:spPr>
        <p:txBody>
          <a:bodyPr>
            <a:normAutofit fontScale="70000" lnSpcReduction="20000"/>
          </a:bodyPr>
          <a:lstStyle/>
          <a:p>
            <a:r>
              <a:rPr lang="en-GB" dirty="0" smtClean="0"/>
              <a:t>metabolic pathways are regulated by altering activities of few enzymes of that pathway.</a:t>
            </a:r>
          </a:p>
          <a:p>
            <a:r>
              <a:rPr lang="en-GB" b="1" dirty="0" err="1" smtClean="0"/>
              <a:t>Hexokinase</a:t>
            </a:r>
            <a:r>
              <a:rPr lang="en-GB" dirty="0" smtClean="0"/>
              <a:t>, </a:t>
            </a:r>
            <a:r>
              <a:rPr lang="en-GB" b="1" dirty="0" err="1" smtClean="0"/>
              <a:t>phosphofructo</a:t>
            </a:r>
            <a:r>
              <a:rPr lang="en-GB" b="1" dirty="0" smtClean="0"/>
              <a:t> </a:t>
            </a:r>
            <a:r>
              <a:rPr lang="en-GB" b="1" dirty="0" err="1" smtClean="0"/>
              <a:t>kinase</a:t>
            </a:r>
            <a:r>
              <a:rPr lang="en-GB" b="1" dirty="0" smtClean="0"/>
              <a:t> </a:t>
            </a:r>
            <a:r>
              <a:rPr lang="en-GB" dirty="0" smtClean="0"/>
              <a:t>and </a:t>
            </a:r>
            <a:r>
              <a:rPr lang="en-GB" b="1" dirty="0" err="1" smtClean="0"/>
              <a:t>pyruvate</a:t>
            </a:r>
            <a:r>
              <a:rPr lang="en-GB" b="1" dirty="0" smtClean="0"/>
              <a:t> </a:t>
            </a:r>
            <a:r>
              <a:rPr lang="en-GB" b="1" dirty="0" err="1" smtClean="0"/>
              <a:t>kinase</a:t>
            </a:r>
            <a:r>
              <a:rPr lang="en-GB" b="1" dirty="0" smtClean="0"/>
              <a:t> </a:t>
            </a:r>
            <a:r>
              <a:rPr lang="en-GB" dirty="0" smtClean="0"/>
              <a:t>are the regulatory enzymes of glycolysis.</a:t>
            </a:r>
          </a:p>
          <a:p>
            <a:r>
              <a:rPr lang="en-GB" dirty="0" smtClean="0"/>
              <a:t>Their activities are under </a:t>
            </a:r>
            <a:r>
              <a:rPr lang="en-GB" dirty="0" err="1" smtClean="0"/>
              <a:t>allosteric</a:t>
            </a:r>
            <a:r>
              <a:rPr lang="en-GB" dirty="0" smtClean="0"/>
              <a:t> and hormonal control. </a:t>
            </a:r>
          </a:p>
          <a:p>
            <a:pPr>
              <a:buNone/>
            </a:pPr>
            <a:r>
              <a:rPr lang="en-GB" b="1" dirty="0" err="1" smtClean="0"/>
              <a:t>Allosteric</a:t>
            </a:r>
            <a:r>
              <a:rPr lang="en-GB" b="1" dirty="0" smtClean="0"/>
              <a:t> regulation of glycolysis</a:t>
            </a:r>
          </a:p>
          <a:p>
            <a:pPr>
              <a:buNone/>
            </a:pPr>
            <a:r>
              <a:rPr lang="en-GB" b="1" dirty="0" smtClean="0">
                <a:solidFill>
                  <a:srgbClr val="0000FF"/>
                </a:solidFill>
              </a:rPr>
              <a:t>Phosphofructokinase-1:</a:t>
            </a:r>
          </a:p>
          <a:p>
            <a:r>
              <a:rPr lang="en-GB" dirty="0" smtClean="0"/>
              <a:t>is the major regulatory enzymes of glycolysis. </a:t>
            </a:r>
          </a:p>
          <a:p>
            <a:r>
              <a:rPr lang="en-GB" dirty="0" smtClean="0"/>
              <a:t>It is an </a:t>
            </a:r>
            <a:r>
              <a:rPr lang="en-GB" dirty="0" err="1" smtClean="0"/>
              <a:t>allosteric</a:t>
            </a:r>
            <a:r>
              <a:rPr lang="en-GB" dirty="0" smtClean="0"/>
              <a:t> enzyme and catalyzes rate limiting reaction of glycolysis. </a:t>
            </a:r>
          </a:p>
          <a:p>
            <a:r>
              <a:rPr lang="en-GB" dirty="0" smtClean="0"/>
              <a:t>It is inhibited by</a:t>
            </a:r>
            <a:r>
              <a:rPr lang="en-GB" b="1" dirty="0" smtClean="0"/>
              <a:t> ATP </a:t>
            </a:r>
            <a:r>
              <a:rPr lang="en-GB" dirty="0" smtClean="0"/>
              <a:t>and </a:t>
            </a:r>
            <a:r>
              <a:rPr lang="en-GB" b="1" dirty="0" smtClean="0"/>
              <a:t>citrate</a:t>
            </a:r>
            <a:r>
              <a:rPr lang="en-GB" dirty="0" smtClean="0"/>
              <a:t>, while </a:t>
            </a:r>
            <a:r>
              <a:rPr lang="en-GB" b="1" dirty="0" smtClean="0"/>
              <a:t>AMP</a:t>
            </a:r>
            <a:r>
              <a:rPr lang="en-GB" dirty="0" smtClean="0"/>
              <a:t> and </a:t>
            </a:r>
            <a:r>
              <a:rPr lang="en-GB" b="1" dirty="0" smtClean="0"/>
              <a:t>fructose-6-phosphate</a:t>
            </a:r>
            <a:r>
              <a:rPr lang="en-GB" dirty="0" smtClean="0"/>
              <a:t> are activators of this enzyme. </a:t>
            </a:r>
          </a:p>
          <a:p>
            <a:pPr>
              <a:buNone/>
            </a:pPr>
            <a:r>
              <a:rPr lang="en-GB" b="1" dirty="0" smtClean="0">
                <a:solidFill>
                  <a:srgbClr val="0000FF"/>
                </a:solidFill>
              </a:rPr>
              <a:t>Pyruvate </a:t>
            </a:r>
            <a:r>
              <a:rPr lang="en-GB" b="1" dirty="0" err="1" smtClean="0">
                <a:solidFill>
                  <a:srgbClr val="0000FF"/>
                </a:solidFill>
              </a:rPr>
              <a:t>kinase</a:t>
            </a:r>
            <a:r>
              <a:rPr lang="en-GB" b="1" dirty="0" smtClean="0">
                <a:solidFill>
                  <a:srgbClr val="0000FF"/>
                </a:solidFill>
              </a:rPr>
              <a:t>:</a:t>
            </a:r>
          </a:p>
          <a:p>
            <a:r>
              <a:rPr lang="en-GB" dirty="0" smtClean="0"/>
              <a:t> is the second regulatory enzyme.</a:t>
            </a:r>
          </a:p>
          <a:p>
            <a:r>
              <a:rPr lang="en-GB" dirty="0" smtClean="0"/>
              <a:t> It is inhibited by ATP. </a:t>
            </a:r>
          </a:p>
          <a:p>
            <a:pPr>
              <a:buNone/>
            </a:pPr>
            <a:r>
              <a:rPr lang="en-GB" b="1" dirty="0" err="1" smtClean="0">
                <a:solidFill>
                  <a:srgbClr val="0000FF"/>
                </a:solidFill>
              </a:rPr>
              <a:t>Hexokinase</a:t>
            </a:r>
            <a:r>
              <a:rPr lang="en-GB" b="1" dirty="0" smtClean="0">
                <a:solidFill>
                  <a:srgbClr val="0000FF"/>
                </a:solidFill>
              </a:rPr>
              <a:t>: </a:t>
            </a:r>
          </a:p>
          <a:p>
            <a:r>
              <a:rPr lang="en-GB" dirty="0" smtClean="0"/>
              <a:t>Is inhibited </a:t>
            </a:r>
            <a:r>
              <a:rPr lang="en-GB" dirty="0" err="1" smtClean="0"/>
              <a:t>bt</a:t>
            </a:r>
            <a:r>
              <a:rPr lang="en-GB" dirty="0" smtClean="0"/>
              <a:t> Glucose-6-phosphate.</a:t>
            </a:r>
          </a:p>
          <a:p>
            <a:pPr>
              <a:buFont typeface="Wingdings" pitchFamily="2" charset="2"/>
              <a:buChar char="ü"/>
            </a:pPr>
            <a:r>
              <a:rPr lang="en-GB" dirty="0" smtClean="0"/>
              <a:t> So, when ATP (energy) concentration is </a:t>
            </a:r>
            <a:r>
              <a:rPr lang="en-GB" dirty="0" err="1" smtClean="0"/>
              <a:t>highglycolysis</a:t>
            </a:r>
            <a:r>
              <a:rPr lang="en-GB" dirty="0" smtClean="0"/>
              <a:t> is inhibited.</a:t>
            </a:r>
          </a:p>
          <a:p>
            <a:pPr>
              <a:buFont typeface="Wingdings" pitchFamily="2" charset="2"/>
              <a:buChar char="ü"/>
            </a:pPr>
            <a:r>
              <a:rPr lang="en-GB" dirty="0" smtClean="0"/>
              <a:t> and decrease in ATP level increases rate of glycolysis.</a:t>
            </a:r>
          </a:p>
          <a:p>
            <a:endParaRPr lang="en-GB"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a:spLocks noGrp="1"/>
          </p:cNvSpPr>
          <p:nvPr>
            <p:ph type="title"/>
          </p:nvPr>
        </p:nvSpPr>
        <p:spPr>
          <a:xfrm>
            <a:off x="0" y="214290"/>
            <a:ext cx="9144000" cy="357190"/>
          </a:xfrm>
        </p:spPr>
        <p:txBody>
          <a:bodyPr>
            <a:normAutofit fontScale="90000"/>
          </a:bodyPr>
          <a:lstStyle/>
          <a:p>
            <a:r>
              <a:rPr lang="en-GB" dirty="0" smtClean="0"/>
              <a:t>Regulation of Glycolysis cont…</a:t>
            </a:r>
            <a:endParaRPr lang="en-GB" dirty="0"/>
          </a:p>
        </p:txBody>
      </p:sp>
      <p:sp>
        <p:nvSpPr>
          <p:cNvPr id="3" name="Content Placeholder 2"/>
          <p:cNvSpPr>
            <a:spLocks noGrp="1"/>
          </p:cNvSpPr>
          <p:nvPr>
            <p:ph idx="1"/>
          </p:nvPr>
        </p:nvSpPr>
        <p:spPr>
          <a:xfrm>
            <a:off x="457200" y="714357"/>
            <a:ext cx="8229600" cy="1143007"/>
          </a:xfrm>
        </p:spPr>
        <p:txBody>
          <a:bodyPr>
            <a:normAutofit fontScale="92500" lnSpcReduction="10000"/>
          </a:bodyPr>
          <a:lstStyle/>
          <a:p>
            <a:pPr>
              <a:buNone/>
            </a:pPr>
            <a:r>
              <a:rPr lang="en-GB" b="1" dirty="0" smtClean="0"/>
              <a:t>Hormonal regulation of glycolysis</a:t>
            </a:r>
          </a:p>
          <a:p>
            <a:r>
              <a:rPr lang="en-GB" dirty="0" smtClean="0"/>
              <a:t>Insulin increases rate of glycolysis by increasing concentration of </a:t>
            </a:r>
            <a:r>
              <a:rPr lang="en-GB" b="1" dirty="0" err="1" smtClean="0"/>
              <a:t>glucokinase</a:t>
            </a:r>
            <a:r>
              <a:rPr lang="en-GB" dirty="0" smtClean="0"/>
              <a:t>, </a:t>
            </a:r>
            <a:r>
              <a:rPr lang="en-GB" b="1" dirty="0" smtClean="0"/>
              <a:t>phosphofructokinase-1</a:t>
            </a:r>
            <a:r>
              <a:rPr lang="en-GB" dirty="0" smtClean="0"/>
              <a:t> and </a:t>
            </a:r>
            <a:r>
              <a:rPr lang="en-GB" b="1" dirty="0" err="1" smtClean="0"/>
              <a:t>pyruvate</a:t>
            </a:r>
            <a:r>
              <a:rPr lang="en-GB" b="1" dirty="0" smtClean="0"/>
              <a:t> </a:t>
            </a:r>
            <a:r>
              <a:rPr lang="en-GB" b="1" dirty="0" err="1" smtClean="0"/>
              <a:t>kinase</a:t>
            </a:r>
            <a:r>
              <a:rPr lang="en-GB" dirty="0" smtClean="0"/>
              <a:t>.</a:t>
            </a:r>
            <a:endParaRPr lang="en-GB" dirty="0"/>
          </a:p>
        </p:txBody>
      </p:sp>
      <p:pic>
        <p:nvPicPr>
          <p:cNvPr id="5" name="irc_mi" descr="http://intranet.tdmu.edu.ua/data/kafedra/internal/vnutrmed2/classes_stud/en/med/lik/ptn/Internal%20medicine/4%20course/03.%20Diabetes%20mellitus%20-%20classification,%20diagnostic%20criteria..files/image014.jpg"/>
          <p:cNvPicPr/>
          <p:nvPr/>
        </p:nvPicPr>
        <p:blipFill>
          <a:blip r:embed="rId2">
            <a:lum bright="-20000" contrast="40000"/>
          </a:blip>
          <a:srcRect/>
          <a:stretch>
            <a:fillRect/>
          </a:stretch>
        </p:blipFill>
        <p:spPr bwMode="auto">
          <a:xfrm>
            <a:off x="4929190" y="2643182"/>
            <a:ext cx="3786214" cy="3714777"/>
          </a:xfrm>
          <a:prstGeom prst="rect">
            <a:avLst/>
          </a:prstGeom>
          <a:noFill/>
          <a:ln w="9525">
            <a:noFill/>
            <a:miter lim="800000"/>
            <a:headEnd/>
            <a:tailEnd/>
          </a:ln>
        </p:spPr>
      </p:pic>
      <p:pic>
        <p:nvPicPr>
          <p:cNvPr id="6" name="irc_mi" descr="http://www.medbio.info/images/Time%203-4/Insuli5.gif"/>
          <p:cNvPicPr/>
          <p:nvPr/>
        </p:nvPicPr>
        <p:blipFill>
          <a:blip r:embed="rId3">
            <a:lum bright="-20000" contrast="40000"/>
          </a:blip>
          <a:srcRect/>
          <a:stretch>
            <a:fillRect/>
          </a:stretch>
        </p:blipFill>
        <p:spPr bwMode="auto">
          <a:xfrm>
            <a:off x="428596" y="2500306"/>
            <a:ext cx="4429156" cy="3867153"/>
          </a:xfrm>
          <a:prstGeom prst="rect">
            <a:avLst/>
          </a:prstGeom>
          <a:noFill/>
          <a:ln w="9525">
            <a:noFill/>
            <a:miter lim="800000"/>
            <a:headEnd/>
            <a:tailEnd/>
          </a:ln>
        </p:spPr>
      </p:pic>
      <p:sp>
        <p:nvSpPr>
          <p:cNvPr id="7" name="TextBox 6"/>
          <p:cNvSpPr txBox="1"/>
          <p:nvPr/>
        </p:nvSpPr>
        <p:spPr>
          <a:xfrm>
            <a:off x="2755193" y="1967203"/>
            <a:ext cx="3817071" cy="461665"/>
          </a:xfrm>
          <a:prstGeom prst="rect">
            <a:avLst/>
          </a:prstGeom>
          <a:noFill/>
        </p:spPr>
        <p:txBody>
          <a:bodyPr wrap="none" rtlCol="0">
            <a:spAutoFit/>
          </a:bodyPr>
          <a:lstStyle/>
          <a:p>
            <a:r>
              <a:rPr lang="en-GB" sz="2400" b="1" dirty="0" smtClean="0"/>
              <a:t>Mechanism of Insulin Action</a:t>
            </a:r>
            <a:endParaRPr lang="en-GB" sz="2400" b="1"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6" y="1"/>
            <a:ext cx="6798734" cy="476672"/>
          </a:xfrm>
        </p:spPr>
        <p:txBody>
          <a:bodyPr>
            <a:normAutofit fontScale="90000"/>
          </a:bodyPr>
          <a:lstStyle/>
          <a:p>
            <a:r>
              <a:rPr lang="en-US" dirty="0">
                <a:solidFill>
                  <a:srgbClr val="FF0000"/>
                </a:solidFill>
              </a:rPr>
              <a:t>FRUCTOSE METABOLISM</a:t>
            </a:r>
          </a:p>
        </p:txBody>
      </p:sp>
      <p:sp>
        <p:nvSpPr>
          <p:cNvPr id="3" name="Content Placeholder 2"/>
          <p:cNvSpPr>
            <a:spLocks noGrp="1"/>
          </p:cNvSpPr>
          <p:nvPr>
            <p:ph idx="1"/>
          </p:nvPr>
        </p:nvSpPr>
        <p:spPr>
          <a:xfrm>
            <a:off x="251520" y="332656"/>
            <a:ext cx="8784976" cy="6912767"/>
          </a:xfrm>
        </p:spPr>
        <p:txBody>
          <a:bodyPr>
            <a:noAutofit/>
          </a:bodyPr>
          <a:lstStyle/>
          <a:p>
            <a:pPr algn="just"/>
            <a:r>
              <a:rPr lang="en-US" b="1" dirty="0"/>
              <a:t>Fructolysis </a:t>
            </a:r>
            <a:r>
              <a:rPr lang="en-US" dirty="0"/>
              <a:t>is the term used to refer to the metabolism of fructose from dietary sources</a:t>
            </a:r>
            <a:r>
              <a:rPr lang="en-US" dirty="0" smtClean="0"/>
              <a:t>.</a:t>
            </a:r>
          </a:p>
          <a:p>
            <a:pPr algn="just"/>
            <a:r>
              <a:rPr lang="en-US" dirty="0" smtClean="0"/>
              <a:t> </a:t>
            </a:r>
            <a:r>
              <a:rPr lang="en-US" dirty="0"/>
              <a:t>Though the metabolism of glucose through glycolysis uses many of the same enzymes and intermediate structures as those in fructolysis, the two sugars have very different metabolic fates in human metabolism.</a:t>
            </a:r>
          </a:p>
          <a:p>
            <a:pPr algn="just"/>
            <a:r>
              <a:rPr lang="en-US" dirty="0"/>
              <a:t> Unlike glucose, which is directly metabolized widely in the body, fructose is almost entirely metabolized in the </a:t>
            </a:r>
            <a:r>
              <a:rPr lang="en-US" b="1" dirty="0">
                <a:solidFill>
                  <a:srgbClr val="FF0000"/>
                </a:solidFill>
              </a:rPr>
              <a:t>liver</a:t>
            </a:r>
            <a:r>
              <a:rPr lang="en-US" dirty="0"/>
              <a:t> in humans, where it is directed toward replenishment of liver glycogen and triglyceride synthesis. </a:t>
            </a:r>
          </a:p>
          <a:p>
            <a:pPr algn="just"/>
            <a:r>
              <a:rPr lang="en-US" dirty="0"/>
              <a:t>Under </a:t>
            </a:r>
            <a:r>
              <a:rPr lang="en-US" dirty="0" smtClean="0"/>
              <a:t>1% </a:t>
            </a:r>
            <a:r>
              <a:rPr lang="en-US" dirty="0"/>
              <a:t>of ingested fructose is directly converted to plasma triglyceride. </a:t>
            </a:r>
            <a:endParaRPr lang="en-US" dirty="0" smtClean="0"/>
          </a:p>
          <a:p>
            <a:pPr algn="just"/>
            <a:r>
              <a:rPr lang="en-US" dirty="0" smtClean="0"/>
              <a:t>Approx. </a:t>
            </a:r>
            <a:r>
              <a:rPr lang="en-US" dirty="0"/>
              <a:t>29% - 54% of fructose is converted in liver to glucose, and about a quarter of fructose is converted to lactate. 15% - 18% is converted to glycogen</a:t>
            </a:r>
            <a:r>
              <a:rPr lang="en-US" dirty="0" smtClean="0"/>
              <a:t>.</a:t>
            </a:r>
          </a:p>
          <a:p>
            <a:pPr algn="just"/>
            <a:r>
              <a:rPr lang="en-US" dirty="0"/>
              <a:t> Glucose and lactate are then used normally as energy to fuel cells </a:t>
            </a:r>
            <a:r>
              <a:rPr lang="en-US" dirty="0" smtClean="0"/>
              <a:t> body</a:t>
            </a:r>
            <a:endParaRPr lang="en-US" dirty="0"/>
          </a:p>
          <a:p>
            <a:pPr algn="just"/>
            <a:endParaRPr lang="en-US" dirty="0" smtClean="0"/>
          </a:p>
          <a:p>
            <a:pPr algn="just"/>
            <a:endParaRPr lang="en-US" dirty="0"/>
          </a:p>
        </p:txBody>
      </p:sp>
    </p:spTree>
    <p:extLst>
      <p:ext uri="{BB962C8B-B14F-4D97-AF65-F5344CB8AC3E}">
        <p14:creationId xmlns:p14="http://schemas.microsoft.com/office/powerpoint/2010/main" val="274193952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6" y="1"/>
            <a:ext cx="6798734" cy="620687"/>
          </a:xfrm>
        </p:spPr>
        <p:txBody>
          <a:bodyPr>
            <a:normAutofit fontScale="90000"/>
          </a:bodyPr>
          <a:lstStyle/>
          <a:p>
            <a:r>
              <a:rPr lang="en-US" dirty="0"/>
              <a:t>Reactions of Fructose Metabolism.</a:t>
            </a:r>
          </a:p>
        </p:txBody>
      </p:sp>
      <p:sp>
        <p:nvSpPr>
          <p:cNvPr id="3" name="Content Placeholder 2"/>
          <p:cNvSpPr>
            <a:spLocks noGrp="1"/>
          </p:cNvSpPr>
          <p:nvPr>
            <p:ph idx="1"/>
          </p:nvPr>
        </p:nvSpPr>
        <p:spPr>
          <a:xfrm>
            <a:off x="179512" y="620688"/>
            <a:ext cx="8640960" cy="6120680"/>
          </a:xfrm>
        </p:spPr>
        <p:txBody>
          <a:bodyPr>
            <a:normAutofit fontScale="92500" lnSpcReduction="10000"/>
          </a:bodyPr>
          <a:lstStyle/>
          <a:p>
            <a:pPr algn="just"/>
            <a:r>
              <a:rPr lang="en-US" dirty="0"/>
              <a:t>Fructose is phosphorylated to fructose-1-phosphate by fructokinase in the liver. This enzyme will not phosphorylate glucose and unlike glucokinase its activity is not affected by fasting or by insulin and that is why fructose disappears from the blood of diabetic patients at a normal rate.</a:t>
            </a:r>
          </a:p>
          <a:p>
            <a:pPr algn="just"/>
            <a:r>
              <a:rPr lang="en-US" dirty="0"/>
              <a:t>•Fructose-1-phosphosphate is cleaved by liver aldolase(aldolase B)to </a:t>
            </a:r>
            <a:r>
              <a:rPr lang="en-US" dirty="0" err="1"/>
              <a:t>dihydroxy</a:t>
            </a:r>
            <a:r>
              <a:rPr lang="en-US" dirty="0"/>
              <a:t> acetone phosphate(DHAP) and D-glyceraldehyde. Aldolase-B also functions in glycolysis in the liver attacking fructose-1,6-bisphosphate.</a:t>
            </a:r>
          </a:p>
          <a:p>
            <a:pPr algn="just"/>
            <a:r>
              <a:rPr lang="en-US" dirty="0"/>
              <a:t>•D-glyceraldehyde is phosphorylated by glyceraldehyde kinase to D-glyceraldehyde-3-phophate.These two triose phosphates(DHAP and glyceraldehyde-3-phosphate) then may enter the glycolytic pathway, gluconeogenesis or glycogenesis according to the metabolic status of the tissue.</a:t>
            </a:r>
          </a:p>
          <a:p>
            <a:pPr algn="just"/>
            <a:r>
              <a:rPr lang="en-US" dirty="0"/>
              <a:t>•In extra hepatic tissues, especially the adipose and muscle tissues, fructose can be phosphorylated by hexokinase to fructose-6-phosphate.This however is a slow reaction and occurs only in the presence of high concentration of fructose because when fructose is present with glucose, its phosphorylation is inhibited by glucose.</a:t>
            </a:r>
          </a:p>
          <a:p>
            <a:endParaRPr lang="en-US" dirty="0"/>
          </a:p>
          <a:p>
            <a:endParaRPr lang="en-US" dirty="0"/>
          </a:p>
        </p:txBody>
      </p:sp>
    </p:spTree>
    <p:extLst>
      <p:ext uri="{BB962C8B-B14F-4D97-AF65-F5344CB8AC3E}">
        <p14:creationId xmlns:p14="http://schemas.microsoft.com/office/powerpoint/2010/main" val="23278179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6" y="188641"/>
            <a:ext cx="6798734" cy="360039"/>
          </a:xfrm>
        </p:spPr>
        <p:txBody>
          <a:bodyPr>
            <a:normAutofit fontScale="90000"/>
          </a:bodyPr>
          <a:lstStyle/>
          <a:p>
            <a:r>
              <a:rPr lang="en-US" dirty="0" smtClean="0">
                <a:solidFill>
                  <a:srgbClr val="FF0000"/>
                </a:solidFill>
              </a:rPr>
              <a:t>Continuation.</a:t>
            </a:r>
            <a:endParaRPr lang="en-US" dirty="0">
              <a:solidFill>
                <a:srgbClr val="FF0000"/>
              </a:solidFill>
            </a:endParaRPr>
          </a:p>
        </p:txBody>
      </p:sp>
      <p:sp>
        <p:nvSpPr>
          <p:cNvPr id="3" name="Content Placeholder 2"/>
          <p:cNvSpPr>
            <a:spLocks noGrp="1"/>
          </p:cNvSpPr>
          <p:nvPr>
            <p:ph idx="1"/>
          </p:nvPr>
        </p:nvSpPr>
        <p:spPr>
          <a:xfrm>
            <a:off x="323528" y="548680"/>
            <a:ext cx="8568952" cy="6192688"/>
          </a:xfrm>
        </p:spPr>
        <p:txBody>
          <a:bodyPr>
            <a:normAutofit/>
          </a:bodyPr>
          <a:lstStyle/>
          <a:p>
            <a:r>
              <a:rPr lang="en-US" dirty="0"/>
              <a:t>about a quarter of fructose is converted to lactate. 15% - 18% is converted to glycogen.</a:t>
            </a:r>
          </a:p>
          <a:p>
            <a:r>
              <a:rPr lang="en-US" dirty="0"/>
              <a:t> Glucose and lactate are then used normally as energy to fuel cells all over the body</a:t>
            </a:r>
            <a:r>
              <a:rPr lang="en-US" dirty="0" smtClean="0"/>
              <a:t>.</a:t>
            </a:r>
          </a:p>
          <a:p>
            <a:r>
              <a:rPr lang="en-US" dirty="0" smtClean="0"/>
              <a:t>Fructose </a:t>
            </a:r>
            <a:r>
              <a:rPr lang="en-US" dirty="0"/>
              <a:t>is a dietary monosaccharide present naturally in fruits and vegetables, either as free fructose or as part of the disaccharide sucrose, and as its polymer inulin</a:t>
            </a:r>
            <a:r>
              <a:rPr lang="en-US" dirty="0" smtClean="0"/>
              <a:t>.</a:t>
            </a:r>
          </a:p>
          <a:p>
            <a:r>
              <a:rPr lang="en-US" dirty="0" smtClean="0"/>
              <a:t> </a:t>
            </a:r>
            <a:r>
              <a:rPr lang="en-US" dirty="0"/>
              <a:t>It is also present in the form of refined sugars including granulated sugars (white crystalline table sugar, brown sugar, confectioner's sugar, and </a:t>
            </a:r>
            <a:r>
              <a:rPr lang="en-US" dirty="0" err="1"/>
              <a:t>turbinado</a:t>
            </a:r>
            <a:r>
              <a:rPr lang="en-US" dirty="0"/>
              <a:t> sugar), refined crystalline fructose , as high fructose corn syrups as well as in honey.</a:t>
            </a:r>
          </a:p>
          <a:p>
            <a:endParaRPr lang="en-US" dirty="0"/>
          </a:p>
        </p:txBody>
      </p:sp>
    </p:spTree>
    <p:extLst>
      <p:ext uri="{BB962C8B-B14F-4D97-AF65-F5344CB8AC3E}">
        <p14:creationId xmlns:p14="http://schemas.microsoft.com/office/powerpoint/2010/main" val="808606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80528" y="260649"/>
            <a:ext cx="9145016" cy="576063"/>
          </a:xfrm>
        </p:spPr>
        <p:txBody>
          <a:bodyPr>
            <a:normAutofit fontScale="90000"/>
          </a:bodyPr>
          <a:lstStyle/>
          <a:p>
            <a:r>
              <a:rPr lang="en-US" dirty="0">
                <a:solidFill>
                  <a:srgbClr val="FF0000"/>
                </a:solidFill>
              </a:rPr>
              <a:t>Illustration of the fructose metabolism pathway</a:t>
            </a:r>
          </a:p>
        </p:txBody>
      </p:sp>
      <p:pic>
        <p:nvPicPr>
          <p:cNvPr id="4" name="Content Placeholder 3"/>
          <p:cNvPicPr>
            <a:picLocks noGrp="1" noChangeAspect="1"/>
          </p:cNvPicPr>
          <p:nvPr>
            <p:ph idx="1"/>
          </p:nvPr>
        </p:nvPicPr>
        <p:blipFill>
          <a:blip r:embed="rId2"/>
          <a:stretch>
            <a:fillRect/>
          </a:stretch>
        </p:blipFill>
        <p:spPr>
          <a:xfrm>
            <a:off x="0" y="836712"/>
            <a:ext cx="9144000" cy="6021288"/>
          </a:xfrm>
          <a:prstGeom prst="rect">
            <a:avLst/>
          </a:prstGeom>
        </p:spPr>
      </p:pic>
    </p:spTree>
    <p:extLst>
      <p:ext uri="{BB962C8B-B14F-4D97-AF65-F5344CB8AC3E}">
        <p14:creationId xmlns:p14="http://schemas.microsoft.com/office/powerpoint/2010/main" val="30115251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
            <a:ext cx="8784976" cy="836712"/>
          </a:xfrm>
        </p:spPr>
        <p:txBody>
          <a:bodyPr>
            <a:normAutofit fontScale="90000"/>
          </a:bodyPr>
          <a:lstStyle/>
          <a:p>
            <a:r>
              <a:rPr lang="en-US" dirty="0"/>
              <a:t>Sorbitol or Polyol Pathway for Formation of Fructose</a:t>
            </a:r>
          </a:p>
        </p:txBody>
      </p:sp>
      <p:sp>
        <p:nvSpPr>
          <p:cNvPr id="3" name="Content Placeholder 2"/>
          <p:cNvSpPr>
            <a:spLocks noGrp="1"/>
          </p:cNvSpPr>
          <p:nvPr>
            <p:ph idx="1"/>
          </p:nvPr>
        </p:nvSpPr>
        <p:spPr>
          <a:xfrm>
            <a:off x="251520" y="836713"/>
            <a:ext cx="8784976" cy="5832647"/>
          </a:xfrm>
        </p:spPr>
        <p:txBody>
          <a:bodyPr>
            <a:normAutofit/>
          </a:bodyPr>
          <a:lstStyle/>
          <a:p>
            <a:pPr marL="0" indent="0">
              <a:buNone/>
            </a:pPr>
            <a:r>
              <a:rPr lang="en-US" b="1" u="sng" dirty="0"/>
              <a:t>Sorbitol</a:t>
            </a:r>
          </a:p>
          <a:p>
            <a:r>
              <a:rPr lang="en-US" dirty="0"/>
              <a:t>Sorbitol less commonly known as glucitol, is a sugar alcohol with a sweet taste which the human body metabolizes slowly. </a:t>
            </a:r>
          </a:p>
          <a:p>
            <a:r>
              <a:rPr lang="en-US" dirty="0"/>
              <a:t>It can be obtained by reduction of glucose, which changes the converted aldehyde group (−CHO) to a primary alcohol group (−C(OH)H2). </a:t>
            </a:r>
            <a:endParaRPr lang="en-US" dirty="0" smtClean="0"/>
          </a:p>
          <a:p>
            <a:r>
              <a:rPr lang="en-US" dirty="0" smtClean="0"/>
              <a:t>Most </a:t>
            </a:r>
            <a:r>
              <a:rPr lang="en-US" dirty="0"/>
              <a:t>sorbitol is made from potato starch, but it is also found in nature, for example in apples, pears, peaches, and prunes</a:t>
            </a:r>
            <a:r>
              <a:rPr lang="en-US" dirty="0" smtClean="0"/>
              <a:t>.</a:t>
            </a:r>
          </a:p>
          <a:p>
            <a:r>
              <a:rPr lang="en-US" dirty="0" smtClean="0"/>
              <a:t> </a:t>
            </a:r>
            <a:r>
              <a:rPr lang="en-US" dirty="0"/>
              <a:t>It is converted to fructose by sorbitol dehydrogenase. </a:t>
            </a:r>
          </a:p>
          <a:p>
            <a:endParaRPr lang="en-US" dirty="0"/>
          </a:p>
        </p:txBody>
      </p:sp>
    </p:spTree>
    <p:extLst>
      <p:ext uri="{BB962C8B-B14F-4D97-AF65-F5344CB8AC3E}">
        <p14:creationId xmlns:p14="http://schemas.microsoft.com/office/powerpoint/2010/main" val="11835902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208637" y="188640"/>
            <a:ext cx="6798734" cy="692695"/>
          </a:xfrm>
        </p:spPr>
        <p:txBody>
          <a:bodyPr>
            <a:normAutofit fontScale="90000"/>
          </a:bodyPr>
          <a:lstStyle/>
          <a:p>
            <a:r>
              <a:rPr lang="en-US" dirty="0" smtClean="0"/>
              <a:t>Continuation</a:t>
            </a:r>
            <a:endParaRPr lang="en-US" dirty="0"/>
          </a:p>
        </p:txBody>
      </p:sp>
      <p:pic>
        <p:nvPicPr>
          <p:cNvPr id="4" name="Content Placeholder 3"/>
          <p:cNvPicPr>
            <a:picLocks noGrp="1" noChangeAspect="1"/>
          </p:cNvPicPr>
          <p:nvPr>
            <p:ph idx="1"/>
          </p:nvPr>
        </p:nvPicPr>
        <p:blipFill>
          <a:blip r:embed="rId2"/>
          <a:stretch>
            <a:fillRect/>
          </a:stretch>
        </p:blipFill>
        <p:spPr>
          <a:xfrm>
            <a:off x="0" y="881335"/>
            <a:ext cx="9144000" cy="5860033"/>
          </a:xfrm>
          <a:prstGeom prst="rect">
            <a:avLst/>
          </a:prstGeom>
        </p:spPr>
      </p:pic>
    </p:spTree>
    <p:extLst>
      <p:ext uri="{BB962C8B-B14F-4D97-AF65-F5344CB8AC3E}">
        <p14:creationId xmlns:p14="http://schemas.microsoft.com/office/powerpoint/2010/main" val="12941852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6" y="188641"/>
            <a:ext cx="6798734" cy="504055"/>
          </a:xfrm>
        </p:spPr>
        <p:txBody>
          <a:bodyPr>
            <a:normAutofit fontScale="90000"/>
          </a:bodyPr>
          <a:lstStyle/>
          <a:p>
            <a:r>
              <a:rPr lang="en-US" dirty="0" smtClean="0"/>
              <a:t>Continuation.</a:t>
            </a:r>
            <a:endParaRPr lang="en-US" dirty="0"/>
          </a:p>
        </p:txBody>
      </p:sp>
      <p:sp>
        <p:nvSpPr>
          <p:cNvPr id="3" name="Content Placeholder 2"/>
          <p:cNvSpPr>
            <a:spLocks noGrp="1"/>
          </p:cNvSpPr>
          <p:nvPr>
            <p:ph idx="1"/>
          </p:nvPr>
        </p:nvSpPr>
        <p:spPr>
          <a:xfrm>
            <a:off x="179512" y="692696"/>
            <a:ext cx="8784976" cy="5976664"/>
          </a:xfrm>
        </p:spPr>
        <p:txBody>
          <a:bodyPr>
            <a:normAutofit/>
          </a:bodyPr>
          <a:lstStyle/>
          <a:p>
            <a:pPr algn="just"/>
            <a:r>
              <a:rPr lang="en-US" dirty="0"/>
              <a:t>The sorbitol (polyol)pathway is for formation of fructose from glucose.</a:t>
            </a:r>
          </a:p>
          <a:p>
            <a:pPr algn="just"/>
            <a:r>
              <a:rPr lang="en-US" dirty="0"/>
              <a:t>Aldose reductase reduces glucose to sorbitol(</a:t>
            </a:r>
            <a:r>
              <a:rPr lang="en-US" dirty="0" err="1"/>
              <a:t>glucitol</a:t>
            </a:r>
            <a:r>
              <a:rPr lang="en-US" dirty="0" smtClean="0"/>
              <a:t>).</a:t>
            </a:r>
          </a:p>
          <a:p>
            <a:pPr algn="just"/>
            <a:r>
              <a:rPr lang="en-US" dirty="0" smtClean="0"/>
              <a:t>It’s </a:t>
            </a:r>
            <a:r>
              <a:rPr lang="en-US" dirty="0"/>
              <a:t>found in many tissues such as lens</a:t>
            </a:r>
            <a:r>
              <a:rPr lang="en-US" dirty="0" smtClean="0"/>
              <a:t>, retina, peripheral nerve cells, kidney, </a:t>
            </a:r>
            <a:r>
              <a:rPr lang="en-US" dirty="0" err="1" smtClean="0"/>
              <a:t>placenta,red</a:t>
            </a:r>
            <a:r>
              <a:rPr lang="en-US" dirty="0" smtClean="0"/>
              <a:t> </a:t>
            </a:r>
            <a:r>
              <a:rPr lang="en-US" dirty="0"/>
              <a:t>blood cells, ovaries and seminal vesicles. But it is not present in liver. </a:t>
            </a:r>
            <a:endParaRPr lang="en-US" dirty="0" smtClean="0"/>
          </a:p>
          <a:p>
            <a:pPr algn="just"/>
            <a:r>
              <a:rPr lang="en-US" dirty="0" smtClean="0"/>
              <a:t>A </a:t>
            </a:r>
            <a:r>
              <a:rPr lang="en-US" dirty="0"/>
              <a:t>second enzyme, sorbitol dehydrogenase that can oxidize the sorbitol to fructose is present in liver, ovaries and sperm cell.</a:t>
            </a:r>
          </a:p>
          <a:p>
            <a:pPr algn="just"/>
            <a:r>
              <a:rPr lang="en-US" dirty="0"/>
              <a:t>In </a:t>
            </a:r>
            <a:r>
              <a:rPr lang="en-US" dirty="0" smtClean="0"/>
              <a:t>liver, ovaries </a:t>
            </a:r>
            <a:r>
              <a:rPr lang="en-US" dirty="0"/>
              <a:t>and sperm cells, the same enzyme, sorbitol dehydrogenase oxidizes the sorbitol to fructose.</a:t>
            </a:r>
          </a:p>
          <a:p>
            <a:pPr algn="just"/>
            <a:r>
              <a:rPr lang="en-US" dirty="0"/>
              <a:t>The pathway from sorbitol to fructose in the liver provides a mechanism by which dietary sorbitol is converted into fructose which can enter glycolysis.</a:t>
            </a:r>
          </a:p>
          <a:p>
            <a:endParaRPr lang="en-US" dirty="0"/>
          </a:p>
        </p:txBody>
      </p:sp>
    </p:spTree>
    <p:extLst>
      <p:ext uri="{BB962C8B-B14F-4D97-AF65-F5344CB8AC3E}">
        <p14:creationId xmlns:p14="http://schemas.microsoft.com/office/powerpoint/2010/main" val="17911748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6" y="188641"/>
            <a:ext cx="6798734" cy="504055"/>
          </a:xfrm>
        </p:spPr>
        <p:txBody>
          <a:bodyPr>
            <a:normAutofit fontScale="90000"/>
          </a:bodyPr>
          <a:lstStyle/>
          <a:p>
            <a:r>
              <a:rPr lang="en-US" dirty="0" smtClean="0"/>
              <a:t>Continuation</a:t>
            </a:r>
            <a:endParaRPr lang="en-US" dirty="0"/>
          </a:p>
        </p:txBody>
      </p:sp>
      <p:pic>
        <p:nvPicPr>
          <p:cNvPr id="4" name="Content Placeholder 3"/>
          <p:cNvPicPr>
            <a:picLocks noGrp="1" noChangeAspect="1"/>
          </p:cNvPicPr>
          <p:nvPr>
            <p:ph idx="1"/>
          </p:nvPr>
        </p:nvPicPr>
        <p:blipFill>
          <a:blip r:embed="rId2"/>
          <a:stretch>
            <a:fillRect/>
          </a:stretch>
        </p:blipFill>
        <p:spPr>
          <a:xfrm>
            <a:off x="251520" y="692696"/>
            <a:ext cx="8640960" cy="6048672"/>
          </a:xfrm>
          <a:prstGeom prst="rect">
            <a:avLst/>
          </a:prstGeom>
        </p:spPr>
      </p:pic>
    </p:spTree>
    <p:extLst>
      <p:ext uri="{BB962C8B-B14F-4D97-AF65-F5344CB8AC3E}">
        <p14:creationId xmlns:p14="http://schemas.microsoft.com/office/powerpoint/2010/main" val="36357095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116633"/>
            <a:ext cx="8064896" cy="504055"/>
          </a:xfrm>
        </p:spPr>
        <p:txBody>
          <a:bodyPr>
            <a:normAutofit fontScale="90000"/>
          </a:bodyPr>
          <a:lstStyle/>
          <a:p>
            <a:r>
              <a:rPr lang="en-US" dirty="0"/>
              <a:t>Inborn errors in fructose metabolism</a:t>
            </a:r>
          </a:p>
        </p:txBody>
      </p:sp>
      <p:sp>
        <p:nvSpPr>
          <p:cNvPr id="3" name="Content Placeholder 2"/>
          <p:cNvSpPr>
            <a:spLocks noGrp="1"/>
          </p:cNvSpPr>
          <p:nvPr>
            <p:ph idx="1"/>
          </p:nvPr>
        </p:nvSpPr>
        <p:spPr>
          <a:xfrm>
            <a:off x="107504" y="764704"/>
            <a:ext cx="8928992" cy="5616624"/>
          </a:xfrm>
        </p:spPr>
        <p:txBody>
          <a:bodyPr>
            <a:normAutofit/>
          </a:bodyPr>
          <a:lstStyle/>
          <a:p>
            <a:r>
              <a:rPr lang="en-US" dirty="0">
                <a:solidFill>
                  <a:srgbClr val="FF0000"/>
                </a:solidFill>
              </a:rPr>
              <a:t>1.Essential </a:t>
            </a:r>
            <a:r>
              <a:rPr lang="en-US" dirty="0" smtClean="0">
                <a:solidFill>
                  <a:srgbClr val="FF0000"/>
                </a:solidFill>
              </a:rPr>
              <a:t>fructosuria</a:t>
            </a:r>
          </a:p>
          <a:p>
            <a:r>
              <a:rPr lang="en-US" dirty="0" smtClean="0"/>
              <a:t>The </a:t>
            </a:r>
            <a:r>
              <a:rPr lang="en-US" dirty="0"/>
              <a:t>absence of fructokinase results in the inability to phosphorylate fructose to fructose-1-phosphate within the cell. </a:t>
            </a:r>
            <a:endParaRPr lang="en-US" dirty="0" smtClean="0"/>
          </a:p>
          <a:p>
            <a:r>
              <a:rPr lang="en-US" dirty="0" smtClean="0"/>
              <a:t>As </a:t>
            </a:r>
            <a:r>
              <a:rPr lang="en-US" dirty="0"/>
              <a:t>a result, fructose is neither trapped within the cell nor directed toward its metabolism. </a:t>
            </a:r>
            <a:endParaRPr lang="en-US" dirty="0" smtClean="0"/>
          </a:p>
          <a:p>
            <a:r>
              <a:rPr lang="en-US" dirty="0" smtClean="0"/>
              <a:t>Free </a:t>
            </a:r>
            <a:r>
              <a:rPr lang="en-US" dirty="0"/>
              <a:t>fructose concentrations in the liver increase and fructose is free to leave the cell and enter plasma.</a:t>
            </a:r>
          </a:p>
          <a:p>
            <a:r>
              <a:rPr lang="en-US" dirty="0"/>
              <a:t> This results in an increase in plasma concentration of fructose, eventually exceeding the kidneys' threshold for fructose reabsorption resulting in the appearance of fructose in the urine</a:t>
            </a:r>
            <a:r>
              <a:rPr lang="en-US" dirty="0" smtClean="0"/>
              <a:t>.</a:t>
            </a:r>
          </a:p>
          <a:p>
            <a:r>
              <a:rPr lang="en-US" dirty="0" smtClean="0"/>
              <a:t> </a:t>
            </a:r>
            <a:r>
              <a:rPr lang="en-US" dirty="0"/>
              <a:t>Essential fructosuria is a benign asymptomatic condition.</a:t>
            </a:r>
          </a:p>
          <a:p>
            <a:endParaRPr lang="en-US" dirty="0"/>
          </a:p>
          <a:p>
            <a:endParaRPr lang="en-US" dirty="0"/>
          </a:p>
        </p:txBody>
      </p:sp>
    </p:spTree>
    <p:extLst>
      <p:ext uri="{BB962C8B-B14F-4D97-AF65-F5344CB8AC3E}">
        <p14:creationId xmlns:p14="http://schemas.microsoft.com/office/powerpoint/2010/main" val="28668293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6" y="260649"/>
            <a:ext cx="6798734" cy="432047"/>
          </a:xfrm>
        </p:spPr>
        <p:txBody>
          <a:bodyPr>
            <a:normAutofit fontScale="90000"/>
          </a:bodyPr>
          <a:lstStyle/>
          <a:p>
            <a:r>
              <a:rPr lang="en-US" dirty="0">
                <a:solidFill>
                  <a:srgbClr val="FF0000"/>
                </a:solidFill>
              </a:rPr>
              <a:t>2.Hereditary fructose intolerance</a:t>
            </a:r>
          </a:p>
        </p:txBody>
      </p:sp>
      <p:sp>
        <p:nvSpPr>
          <p:cNvPr id="3" name="Content Placeholder 2"/>
          <p:cNvSpPr>
            <a:spLocks noGrp="1"/>
          </p:cNvSpPr>
          <p:nvPr>
            <p:ph idx="1"/>
          </p:nvPr>
        </p:nvSpPr>
        <p:spPr>
          <a:xfrm>
            <a:off x="179512" y="908720"/>
            <a:ext cx="8856984" cy="5400600"/>
          </a:xfrm>
        </p:spPr>
        <p:txBody>
          <a:bodyPr>
            <a:normAutofit/>
          </a:bodyPr>
          <a:lstStyle/>
          <a:p>
            <a:r>
              <a:rPr lang="en-US" dirty="0"/>
              <a:t>The absence of fructose-1-phosphate aldolase (aldolase B) results in the accumulation of fructose 1 phosphate in hepatocytes, kidney and small intestines</a:t>
            </a:r>
            <a:r>
              <a:rPr lang="en-US" dirty="0" smtClean="0"/>
              <a:t>.</a:t>
            </a:r>
          </a:p>
          <a:p>
            <a:r>
              <a:rPr lang="en-US" dirty="0" smtClean="0"/>
              <a:t> </a:t>
            </a:r>
            <a:r>
              <a:rPr lang="en-US" dirty="0"/>
              <a:t>An accumulation of fructose-1-phosphate following fructose ingestion inhibits glycogenolysis (breakdown of glycogen) and gluconeogenesis, resulting in severe hypoglycemia.</a:t>
            </a:r>
          </a:p>
          <a:p>
            <a:r>
              <a:rPr lang="en-US" dirty="0"/>
              <a:t> It is symptomatic resulting in severe hypoglycemia, abdominal pain, vomiting, hemorrhage, jaundice, hepatomegaly, and hyperuricemia eventually leading to liver and/or kidney failure and death. </a:t>
            </a:r>
          </a:p>
          <a:p>
            <a:endParaRPr lang="en-US" dirty="0"/>
          </a:p>
          <a:p>
            <a:endParaRPr lang="en-US" dirty="0"/>
          </a:p>
        </p:txBody>
      </p:sp>
    </p:spTree>
    <p:extLst>
      <p:ext uri="{BB962C8B-B14F-4D97-AF65-F5344CB8AC3E}">
        <p14:creationId xmlns:p14="http://schemas.microsoft.com/office/powerpoint/2010/main" val="10082515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16633"/>
            <a:ext cx="8496944" cy="432048"/>
          </a:xfrm>
        </p:spPr>
        <p:txBody>
          <a:bodyPr>
            <a:normAutofit fontScale="90000"/>
          </a:bodyPr>
          <a:lstStyle/>
          <a:p>
            <a:r>
              <a:rPr lang="en-US" dirty="0"/>
              <a:t/>
            </a:r>
            <a:br>
              <a:rPr lang="en-US" dirty="0"/>
            </a:br>
            <a:r>
              <a:rPr lang="en-US" dirty="0">
                <a:solidFill>
                  <a:srgbClr val="FF0000"/>
                </a:solidFill>
              </a:rPr>
              <a:t>3.Reduced phosphorylation potential</a:t>
            </a:r>
            <a:r>
              <a:rPr lang="en-US" dirty="0"/>
              <a:t/>
            </a:r>
            <a:br>
              <a:rPr lang="en-US" dirty="0"/>
            </a:br>
            <a:endParaRPr lang="en-US" dirty="0"/>
          </a:p>
        </p:txBody>
      </p:sp>
      <p:sp>
        <p:nvSpPr>
          <p:cNvPr id="3" name="Content Placeholder 2"/>
          <p:cNvSpPr>
            <a:spLocks noGrp="1"/>
          </p:cNvSpPr>
          <p:nvPr>
            <p:ph idx="1"/>
          </p:nvPr>
        </p:nvSpPr>
        <p:spPr>
          <a:xfrm>
            <a:off x="107504" y="764704"/>
            <a:ext cx="8928992" cy="5760640"/>
          </a:xfrm>
        </p:spPr>
        <p:txBody>
          <a:bodyPr>
            <a:normAutofit fontScale="92500" lnSpcReduction="10000"/>
          </a:bodyPr>
          <a:lstStyle/>
          <a:p>
            <a:r>
              <a:rPr lang="en-US" dirty="0"/>
              <a:t>Intravenous (i.v) infusion of fructose has been shown to lower phosphorylation potential in liver cells by trapping Pi(inorganic phosphate) as fructose 1-phosphate.</a:t>
            </a:r>
          </a:p>
          <a:p>
            <a:r>
              <a:rPr lang="en-US" dirty="0"/>
              <a:t> The fructokinase reaction occurs quite rapidly in hepatocytes trapping fructose in cells by phosphorylation. On the other hand, the splitting of fructose-1-phosphate to DHAP and glyceraldehyde by Aldolase B is relatively slow. </a:t>
            </a:r>
          </a:p>
          <a:p>
            <a:r>
              <a:rPr lang="en-US" dirty="0"/>
              <a:t>Therefore, fructose-1-phosphate accumulates with the corresponding reduction of intracellular Pi available for phosphorylation reactions in the cell. </a:t>
            </a:r>
            <a:endParaRPr lang="en-US" dirty="0" smtClean="0"/>
          </a:p>
          <a:p>
            <a:r>
              <a:rPr lang="en-US" dirty="0" smtClean="0"/>
              <a:t>This </a:t>
            </a:r>
            <a:r>
              <a:rPr lang="en-US" dirty="0"/>
              <a:t>is why fructose is contraindicated for total parenteral nutrition (TPN) solutions and is never given intravenously as a source of carbohydrate. </a:t>
            </a:r>
          </a:p>
          <a:p>
            <a:r>
              <a:rPr lang="en-US" dirty="0"/>
              <a:t>It has been suggested that excessive dietary intake of fructose may also result in reduced phosphorylation potential. However, this is still a contentious issue. Dietary fructose is not well absorbed and increased dietary intake often results in malabsorption. </a:t>
            </a:r>
          </a:p>
          <a:p>
            <a:endParaRPr lang="en-US" dirty="0"/>
          </a:p>
        </p:txBody>
      </p:sp>
    </p:spTree>
    <p:extLst>
      <p:ext uri="{BB962C8B-B14F-4D97-AF65-F5344CB8AC3E}">
        <p14:creationId xmlns:p14="http://schemas.microsoft.com/office/powerpoint/2010/main" val="11759206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6" y="764704"/>
            <a:ext cx="6798734" cy="220038"/>
          </a:xfrm>
        </p:spPr>
        <p:txBody>
          <a:bodyPr>
            <a:normAutofit fontScale="90000"/>
          </a:bodyPr>
          <a:lstStyle/>
          <a:p>
            <a:r>
              <a:rPr lang="en-US" b="1" dirty="0"/>
              <a:t>GALACTOSE METABOLISM</a:t>
            </a:r>
          </a:p>
        </p:txBody>
      </p:sp>
      <p:sp>
        <p:nvSpPr>
          <p:cNvPr id="3" name="Content Placeholder 2"/>
          <p:cNvSpPr>
            <a:spLocks noGrp="1"/>
          </p:cNvSpPr>
          <p:nvPr>
            <p:ph idx="1"/>
          </p:nvPr>
        </p:nvSpPr>
        <p:spPr>
          <a:xfrm>
            <a:off x="359532" y="984742"/>
            <a:ext cx="8604956" cy="5536588"/>
          </a:xfrm>
        </p:spPr>
        <p:txBody>
          <a:bodyPr/>
          <a:lstStyle/>
          <a:p>
            <a:r>
              <a:rPr lang="en-US" dirty="0"/>
              <a:t>Galactose, sometimes abbreviated Gal, is a monosaccharide and the C4 epimer of glucose, that is, they differ only for the position of the -OH group on C4 .It has the molecular formula C6H12O6  and molar mass 180.156 g/mol. It has a sweetness equal to 33% of sucrose</a:t>
            </a:r>
            <a:r>
              <a:rPr lang="en-US" dirty="0" smtClean="0"/>
              <a:t>.</a:t>
            </a:r>
          </a:p>
          <a:p>
            <a:pPr marL="2286000" lvl="5" indent="0">
              <a:buNone/>
            </a:pPr>
            <a:r>
              <a:rPr lang="en-US" dirty="0" smtClean="0"/>
              <a:t>		Structure </a:t>
            </a:r>
            <a:r>
              <a:rPr lang="en-US" dirty="0"/>
              <a:t>of galactose</a:t>
            </a:r>
          </a:p>
          <a:p>
            <a:endParaRPr lang="en-US" dirty="0"/>
          </a:p>
          <a:p>
            <a:endParaRPr lang="en-US" dirty="0"/>
          </a:p>
        </p:txBody>
      </p:sp>
      <p:pic>
        <p:nvPicPr>
          <p:cNvPr id="4" name="Picture 3"/>
          <p:cNvPicPr>
            <a:picLocks noChangeAspect="1"/>
          </p:cNvPicPr>
          <p:nvPr/>
        </p:nvPicPr>
        <p:blipFill>
          <a:blip r:embed="rId2"/>
          <a:stretch>
            <a:fillRect/>
          </a:stretch>
        </p:blipFill>
        <p:spPr>
          <a:xfrm>
            <a:off x="2483768" y="3429001"/>
            <a:ext cx="4032448" cy="2646134"/>
          </a:xfrm>
          <a:prstGeom prst="rect">
            <a:avLst/>
          </a:prstGeom>
        </p:spPr>
      </p:pic>
    </p:spTree>
    <p:extLst>
      <p:ext uri="{BB962C8B-B14F-4D97-AF65-F5344CB8AC3E}">
        <p14:creationId xmlns:p14="http://schemas.microsoft.com/office/powerpoint/2010/main" val="6905185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6" y="116633"/>
            <a:ext cx="6798734" cy="504055"/>
          </a:xfrm>
        </p:spPr>
        <p:txBody>
          <a:bodyPr>
            <a:normAutofit fontScale="90000"/>
          </a:bodyPr>
          <a:lstStyle/>
          <a:p>
            <a:r>
              <a:rPr lang="en-US" b="1" dirty="0"/>
              <a:t>Food sources of galactose</a:t>
            </a:r>
          </a:p>
        </p:txBody>
      </p:sp>
      <p:sp>
        <p:nvSpPr>
          <p:cNvPr id="3" name="Content Placeholder 2"/>
          <p:cNvSpPr>
            <a:spLocks noGrp="1"/>
          </p:cNvSpPr>
          <p:nvPr>
            <p:ph idx="1"/>
          </p:nvPr>
        </p:nvSpPr>
        <p:spPr>
          <a:xfrm>
            <a:off x="179512" y="620688"/>
            <a:ext cx="8712968" cy="6048672"/>
          </a:xfrm>
        </p:spPr>
        <p:txBody>
          <a:bodyPr>
            <a:normAutofit fontScale="85000" lnSpcReduction="10000"/>
          </a:bodyPr>
          <a:lstStyle/>
          <a:p>
            <a:r>
              <a:rPr lang="en-US" dirty="0"/>
              <a:t>In human nutrition the most part comes from the hydrolysis of the disaccharide lactose(Galactose + Glucose),the milk sugar, including that of the human milk.</a:t>
            </a:r>
          </a:p>
          <a:p>
            <a:r>
              <a:rPr lang="en-US" dirty="0"/>
              <a:t>As mother’s milk is the only source of energy and carbohydrates for newborn, galactose has a crucial role in human nutrition.</a:t>
            </a:r>
          </a:p>
          <a:p>
            <a:r>
              <a:rPr lang="en-US" dirty="0"/>
              <a:t>The monosaccharide is also bound to caseins, and therefore it is found in all dairy products.</a:t>
            </a:r>
          </a:p>
          <a:p>
            <a:r>
              <a:rPr lang="en-US" dirty="0"/>
              <a:t>Findings from studies conducted since the 50s of last century have shown that galactose is present not only in milk and dairy products, but also in plant products such as legumes, grains, nuts, tubers and vegetables. It seems that in these foods it is often engaged in bonds resistant to the attack of human digestive enzymes, and therefore not metabolizable. However, different fruits and vegetables contain it also in free form, in variable amounts</a:t>
            </a:r>
            <a:r>
              <a:rPr lang="en-US" dirty="0" smtClean="0"/>
              <a:t>;</a:t>
            </a:r>
          </a:p>
          <a:p>
            <a:r>
              <a:rPr lang="en-US" dirty="0" smtClean="0"/>
              <a:t>Less </a:t>
            </a:r>
            <a:r>
              <a:rPr lang="en-US" dirty="0"/>
              <a:t>than 0.1 mg/100 g of edible portion: artichokes, mushrooms, olives, and </a:t>
            </a:r>
            <a:r>
              <a:rPr lang="en-US" dirty="0" smtClean="0"/>
              <a:t>peanuts; more </a:t>
            </a:r>
            <a:r>
              <a:rPr lang="en-US" dirty="0"/>
              <a:t>than 10 mg/100 g of edible portion: bell peppers, date, papaya, watermelon, tomato;</a:t>
            </a:r>
          </a:p>
          <a:p>
            <a:r>
              <a:rPr lang="en-US" dirty="0" smtClean="0"/>
              <a:t>up </a:t>
            </a:r>
            <a:r>
              <a:rPr lang="en-US" dirty="0"/>
              <a:t>to 35.4 mg/100 g of edible portion in persimmon.</a:t>
            </a:r>
          </a:p>
          <a:p>
            <a:r>
              <a:rPr lang="en-US" dirty="0" smtClean="0"/>
              <a:t>These </a:t>
            </a:r>
            <a:r>
              <a:rPr lang="en-US" dirty="0"/>
              <a:t>values are very low, but to take into account in case of galactosemia</a:t>
            </a:r>
          </a:p>
          <a:p>
            <a:endParaRPr lang="en-US" dirty="0"/>
          </a:p>
        </p:txBody>
      </p:sp>
    </p:spTree>
    <p:extLst>
      <p:ext uri="{BB962C8B-B14F-4D97-AF65-F5344CB8AC3E}">
        <p14:creationId xmlns:p14="http://schemas.microsoft.com/office/powerpoint/2010/main" val="42249841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60649"/>
            <a:ext cx="8280920" cy="720079"/>
          </a:xfrm>
        </p:spPr>
        <p:txBody>
          <a:bodyPr>
            <a:normAutofit/>
          </a:bodyPr>
          <a:lstStyle/>
          <a:p>
            <a:r>
              <a:rPr lang="en-US" b="1" dirty="0"/>
              <a:t>Process of Galactose Metabolism</a:t>
            </a:r>
            <a:r>
              <a:rPr lang="en-US" dirty="0"/>
              <a:t>.</a:t>
            </a:r>
          </a:p>
        </p:txBody>
      </p:sp>
      <p:sp>
        <p:nvSpPr>
          <p:cNvPr id="3" name="Content Placeholder 2"/>
          <p:cNvSpPr>
            <a:spLocks noGrp="1"/>
          </p:cNvSpPr>
          <p:nvPr>
            <p:ph idx="1"/>
          </p:nvPr>
        </p:nvSpPr>
        <p:spPr>
          <a:xfrm>
            <a:off x="755576" y="980728"/>
            <a:ext cx="7704855" cy="4954405"/>
          </a:xfrm>
        </p:spPr>
        <p:txBody>
          <a:bodyPr>
            <a:normAutofit/>
          </a:bodyPr>
          <a:lstStyle/>
          <a:p>
            <a:r>
              <a:rPr lang="en-US" dirty="0"/>
              <a:t>Galactose, which is metabolized from the milk sugar, lactose (a disaccharide of glucose and galactose),enters glycolysis by its conversion to glucose-1-phosphate (G-1-P). This occurs through a series of steps that is referred to as the Leloir pathway, named after Luis Federico Leloir who determined the overall process of galactose utilization.</a:t>
            </a:r>
          </a:p>
          <a:p>
            <a:r>
              <a:rPr lang="en-US" dirty="0"/>
              <a:t>Galactose can exist in two different stereoisomeric forms; α-D-galactose and β-D-galactose. The α-D-form is that which is metabolized in the Leloir pathway. </a:t>
            </a:r>
          </a:p>
          <a:p>
            <a:r>
              <a:rPr lang="en-US" dirty="0"/>
              <a:t>Conversion of the β-form of galactose to the α-form requires the enzyme galactose mutarotase encoded by the GALM gene (also known as aldose 1-epimerase)</a:t>
            </a:r>
          </a:p>
          <a:p>
            <a:endParaRPr lang="en-US" dirty="0"/>
          </a:p>
        </p:txBody>
      </p:sp>
    </p:spTree>
    <p:extLst>
      <p:ext uri="{BB962C8B-B14F-4D97-AF65-F5344CB8AC3E}">
        <p14:creationId xmlns:p14="http://schemas.microsoft.com/office/powerpoint/2010/main" val="32946435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6" y="260649"/>
            <a:ext cx="6798734" cy="1080119"/>
          </a:xfrm>
        </p:spPr>
        <p:txBody>
          <a:bodyPr/>
          <a:lstStyle/>
          <a:p>
            <a:r>
              <a:rPr lang="en-US" dirty="0"/>
              <a:t>Continuation..</a:t>
            </a:r>
          </a:p>
        </p:txBody>
      </p:sp>
      <p:pic>
        <p:nvPicPr>
          <p:cNvPr id="4" name="Content Placeholder 3"/>
          <p:cNvPicPr>
            <a:picLocks noGrp="1" noChangeAspect="1"/>
          </p:cNvPicPr>
          <p:nvPr>
            <p:ph idx="1"/>
          </p:nvPr>
        </p:nvPicPr>
        <p:blipFill>
          <a:blip r:embed="rId2"/>
          <a:stretch>
            <a:fillRect/>
          </a:stretch>
        </p:blipFill>
        <p:spPr>
          <a:xfrm>
            <a:off x="693734" y="1124744"/>
            <a:ext cx="7622682" cy="5256584"/>
          </a:xfrm>
          <a:prstGeom prst="rect">
            <a:avLst/>
          </a:prstGeom>
        </p:spPr>
      </p:pic>
    </p:spTree>
    <p:extLst>
      <p:ext uri="{BB962C8B-B14F-4D97-AF65-F5344CB8AC3E}">
        <p14:creationId xmlns:p14="http://schemas.microsoft.com/office/powerpoint/2010/main" val="27291099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6" y="915337"/>
            <a:ext cx="6798734" cy="641455"/>
          </a:xfrm>
        </p:spPr>
        <p:txBody>
          <a:bodyPr>
            <a:normAutofit fontScale="90000"/>
          </a:bodyPr>
          <a:lstStyle/>
          <a:p>
            <a:r>
              <a:rPr lang="en-US" dirty="0"/>
              <a:t>Continuation…</a:t>
            </a:r>
          </a:p>
        </p:txBody>
      </p:sp>
      <p:sp>
        <p:nvSpPr>
          <p:cNvPr id="3" name="Content Placeholder 2"/>
          <p:cNvSpPr>
            <a:spLocks noGrp="1"/>
          </p:cNvSpPr>
          <p:nvPr>
            <p:ph idx="1"/>
          </p:nvPr>
        </p:nvSpPr>
        <p:spPr>
          <a:xfrm>
            <a:off x="755576" y="1556792"/>
            <a:ext cx="7632848" cy="4392488"/>
          </a:xfrm>
        </p:spPr>
        <p:txBody>
          <a:bodyPr>
            <a:normAutofit fontScale="92500" lnSpcReduction="10000"/>
          </a:bodyPr>
          <a:lstStyle/>
          <a:p>
            <a:r>
              <a:rPr lang="en-US" dirty="0"/>
              <a:t>The first reaction of the Leloir pathway is the phosphorylation of </a:t>
            </a:r>
            <a:r>
              <a:rPr lang="el-GR" dirty="0"/>
              <a:t>α-</a:t>
            </a:r>
            <a:r>
              <a:rPr lang="en-US" dirty="0"/>
              <a:t>D-galactose by galactokinase to yield galactose-1-phosphate. </a:t>
            </a:r>
          </a:p>
          <a:p>
            <a:r>
              <a:rPr lang="en-US" dirty="0"/>
              <a:t>Epimerization of galactose-1-phosphate to glucose-1-phosphate (G-1-P) requires the transfer of UDP from UDP-glucose catalyzed by galactose-1-phosphate uridyltransferase (GALT).The galactose-1-phosphate uridyltransferase catalyzed reaction generates UDP-galactose and glucose-1-phosphate (G-1-P).</a:t>
            </a:r>
          </a:p>
          <a:p>
            <a:r>
              <a:rPr lang="en-US" dirty="0"/>
              <a:t>The UDP-galactose is epimerized to UDP-glucose by UDP-galactose-4 epimerase (GALE). The UDP portion is exchanged for phosphate generating glucose-1-phosphate which then is converted to glucose-6-phosphate (G-6-P) by </a:t>
            </a:r>
            <a:r>
              <a:rPr lang="en-US" dirty="0" err="1"/>
              <a:t>phosphoglucosemutase</a:t>
            </a:r>
            <a:r>
              <a:rPr lang="en-US" dirty="0"/>
              <a:t>. The glucose-6-phosphate then joins glycolytic pathway where it is </a:t>
            </a:r>
            <a:r>
              <a:rPr lang="en-US" dirty="0" err="1"/>
              <a:t>metabolised</a:t>
            </a:r>
            <a:r>
              <a:rPr lang="en-US" dirty="0"/>
              <a:t> </a:t>
            </a:r>
            <a:r>
              <a:rPr lang="en-US" dirty="0" err="1"/>
              <a:t>futher</a:t>
            </a:r>
            <a:r>
              <a:rPr lang="en-US" dirty="0"/>
              <a:t> to pyruvate.</a:t>
            </a:r>
          </a:p>
          <a:p>
            <a:endParaRPr lang="en-US" dirty="0"/>
          </a:p>
          <a:p>
            <a:endParaRPr lang="en-US" dirty="0"/>
          </a:p>
        </p:txBody>
      </p:sp>
    </p:spTree>
    <p:extLst>
      <p:ext uri="{BB962C8B-B14F-4D97-AF65-F5344CB8AC3E}">
        <p14:creationId xmlns:p14="http://schemas.microsoft.com/office/powerpoint/2010/main" val="13340767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476673"/>
            <a:ext cx="8136904" cy="1008112"/>
          </a:xfrm>
        </p:spPr>
        <p:txBody>
          <a:bodyPr>
            <a:normAutofit fontScale="90000"/>
          </a:bodyPr>
          <a:lstStyle/>
          <a:p>
            <a:r>
              <a:rPr lang="en-US" b="1" dirty="0"/>
              <a:t>Illustration of Leloir pathway(Galactose pathway)</a:t>
            </a:r>
          </a:p>
        </p:txBody>
      </p:sp>
      <p:pic>
        <p:nvPicPr>
          <p:cNvPr id="4" name="Content Placeholder 3"/>
          <p:cNvPicPr>
            <a:picLocks noGrp="1" noChangeAspect="1"/>
          </p:cNvPicPr>
          <p:nvPr>
            <p:ph idx="1"/>
          </p:nvPr>
        </p:nvPicPr>
        <p:blipFill>
          <a:blip r:embed="rId2"/>
          <a:stretch>
            <a:fillRect/>
          </a:stretch>
        </p:blipFill>
        <p:spPr>
          <a:xfrm>
            <a:off x="683568" y="1484786"/>
            <a:ext cx="7704856" cy="4680518"/>
          </a:xfrm>
          <a:prstGeom prst="rect">
            <a:avLst/>
          </a:prstGeom>
        </p:spPr>
      </p:pic>
    </p:spTree>
    <p:extLst>
      <p:ext uri="{BB962C8B-B14F-4D97-AF65-F5344CB8AC3E}">
        <p14:creationId xmlns:p14="http://schemas.microsoft.com/office/powerpoint/2010/main" val="40180034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6" y="188641"/>
            <a:ext cx="6798734" cy="648071"/>
          </a:xfrm>
        </p:spPr>
        <p:txBody>
          <a:bodyPr>
            <a:normAutofit fontScale="90000"/>
          </a:bodyPr>
          <a:lstStyle/>
          <a:p>
            <a:r>
              <a:rPr lang="en-US" b="1" dirty="0"/>
              <a:t>Metabolic fate of UDP-Galactose</a:t>
            </a:r>
            <a:r>
              <a:rPr lang="en-US" dirty="0"/>
              <a:t/>
            </a:r>
            <a:br>
              <a:rPr lang="en-US" dirty="0"/>
            </a:br>
            <a:endParaRPr lang="en-US" dirty="0"/>
          </a:p>
        </p:txBody>
      </p:sp>
      <p:sp>
        <p:nvSpPr>
          <p:cNvPr id="5" name="Content Placeholder 4"/>
          <p:cNvSpPr>
            <a:spLocks noGrp="1"/>
          </p:cNvSpPr>
          <p:nvPr>
            <p:ph idx="1"/>
          </p:nvPr>
        </p:nvSpPr>
        <p:spPr>
          <a:xfrm>
            <a:off x="179512" y="692696"/>
            <a:ext cx="8784976" cy="5832648"/>
          </a:xfrm>
        </p:spPr>
        <p:txBody>
          <a:bodyPr>
            <a:normAutofit fontScale="92500" lnSpcReduction="10000"/>
          </a:bodyPr>
          <a:lstStyle/>
          <a:p>
            <a:r>
              <a:rPr lang="en-US" dirty="0"/>
              <a:t>UDP-Gal is an important precursor in the synthesis of glycolipids, such as gangliosides and galactocerebrosides, sphingolipids, mucopolysaccharides and membrane glycoproteins.</a:t>
            </a:r>
          </a:p>
          <a:p>
            <a:r>
              <a:rPr lang="en-US" dirty="0"/>
              <a:t>In the adult mammary gland, under the influence of prolactin, UDP-Gal can be joined to glucose to give milk sugar(Lactose).</a:t>
            </a:r>
          </a:p>
          <a:p>
            <a:r>
              <a:rPr lang="en-US" dirty="0"/>
              <a:t>Regulated Reactions-No Regulation</a:t>
            </a:r>
          </a:p>
          <a:p>
            <a:r>
              <a:rPr lang="en-US" dirty="0"/>
              <a:t>There is no known regulated step in the conversion of galactose to glucose intermediates. The fate of glucose from dietary galactose, toward either glycolysis or glycogenesis, is determined by pathways regulating glucose metabolism in the liver.</a:t>
            </a:r>
          </a:p>
          <a:p>
            <a:r>
              <a:rPr lang="en-US" dirty="0"/>
              <a:t>Unique Characteristics-UDP-Glucose Intermediate</a:t>
            </a:r>
          </a:p>
          <a:p>
            <a:r>
              <a:rPr lang="en-US" dirty="0"/>
              <a:t>Although the galactose pathway forms UDP-glucose, there is no net synthesis of this intermediate, since it is recycled. The net output of this pathway is in the conversion of a mole of galactose 1-phosphate to glucose 1-phosphate.</a:t>
            </a:r>
          </a:p>
          <a:p>
            <a:endParaRPr lang="en-US" dirty="0"/>
          </a:p>
        </p:txBody>
      </p:sp>
    </p:spTree>
    <p:extLst>
      <p:ext uri="{BB962C8B-B14F-4D97-AF65-F5344CB8AC3E}">
        <p14:creationId xmlns:p14="http://schemas.microsoft.com/office/powerpoint/2010/main" val="17546164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116633"/>
            <a:ext cx="8496944" cy="1008112"/>
          </a:xfrm>
        </p:spPr>
        <p:txBody>
          <a:bodyPr>
            <a:normAutofit fontScale="90000"/>
          </a:bodyPr>
          <a:lstStyle/>
          <a:p>
            <a:r>
              <a:rPr lang="en-US" dirty="0"/>
              <a:t>Interface with Other Pathways-Polyol Pathway</a:t>
            </a:r>
          </a:p>
        </p:txBody>
      </p:sp>
      <p:sp>
        <p:nvSpPr>
          <p:cNvPr id="3" name="Content Placeholder 2"/>
          <p:cNvSpPr>
            <a:spLocks noGrp="1"/>
          </p:cNvSpPr>
          <p:nvPr>
            <p:ph idx="1"/>
          </p:nvPr>
        </p:nvSpPr>
        <p:spPr>
          <a:xfrm>
            <a:off x="323528" y="980728"/>
            <a:ext cx="8496944" cy="4954405"/>
          </a:xfrm>
        </p:spPr>
        <p:txBody>
          <a:bodyPr/>
          <a:lstStyle/>
          <a:p>
            <a:r>
              <a:rPr lang="en-US" dirty="0"/>
              <a:t>Free galactose can be reduced by aldose reductase in the polyol pathway to galactitol (Figure below). The polyol pathway is widely distributed in the body including in the lens, where it contributes to the formation of cataracts in both galactosemia and </a:t>
            </a:r>
            <a:r>
              <a:rPr lang="en-US" dirty="0" smtClean="0"/>
              <a:t>diabetes.</a:t>
            </a:r>
          </a:p>
          <a:p>
            <a:endParaRPr lang="en-US" dirty="0"/>
          </a:p>
        </p:txBody>
      </p:sp>
      <p:pic>
        <p:nvPicPr>
          <p:cNvPr id="4" name="Picture 3"/>
          <p:cNvPicPr>
            <a:picLocks noChangeAspect="1"/>
          </p:cNvPicPr>
          <p:nvPr/>
        </p:nvPicPr>
        <p:blipFill>
          <a:blip r:embed="rId2"/>
          <a:stretch>
            <a:fillRect/>
          </a:stretch>
        </p:blipFill>
        <p:spPr>
          <a:xfrm>
            <a:off x="179512" y="2708920"/>
            <a:ext cx="8640960" cy="3442235"/>
          </a:xfrm>
          <a:prstGeom prst="rect">
            <a:avLst/>
          </a:prstGeom>
        </p:spPr>
      </p:pic>
    </p:spTree>
    <p:extLst>
      <p:ext uri="{BB962C8B-B14F-4D97-AF65-F5344CB8AC3E}">
        <p14:creationId xmlns:p14="http://schemas.microsoft.com/office/powerpoint/2010/main" val="9893595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04665"/>
            <a:ext cx="8424936" cy="720079"/>
          </a:xfrm>
        </p:spPr>
        <p:txBody>
          <a:bodyPr>
            <a:normAutofit fontScale="90000"/>
          </a:bodyPr>
          <a:lstStyle/>
          <a:p>
            <a:r>
              <a:rPr lang="en-US" dirty="0"/>
              <a:t>Continuation..(sorbitol implicating diabetes)</a:t>
            </a:r>
          </a:p>
        </p:txBody>
      </p:sp>
      <p:sp>
        <p:nvSpPr>
          <p:cNvPr id="3" name="Content Placeholder 2"/>
          <p:cNvSpPr>
            <a:spLocks noGrp="1"/>
          </p:cNvSpPr>
          <p:nvPr>
            <p:ph idx="1"/>
          </p:nvPr>
        </p:nvSpPr>
        <p:spPr>
          <a:xfrm>
            <a:off x="611560" y="1124744"/>
            <a:ext cx="7848872" cy="5040560"/>
          </a:xfrm>
        </p:spPr>
        <p:txBody>
          <a:bodyPr>
            <a:normAutofit/>
          </a:bodyPr>
          <a:lstStyle/>
          <a:p>
            <a:r>
              <a:rPr lang="en-US" dirty="0"/>
              <a:t>The pathway is implicated in diabetic complications, especially in microvascular damage to the retina, kidney and nerves.</a:t>
            </a:r>
          </a:p>
          <a:p>
            <a:r>
              <a:rPr lang="en-US" dirty="0"/>
              <a:t>Sorbitol cannot cross cell membranes, and, when it accumulates, it produces osmotic stresses on cells by drawing water into the insulin-independent tissues.</a:t>
            </a:r>
          </a:p>
          <a:p>
            <a:r>
              <a:rPr lang="en-US" dirty="0"/>
              <a:t> Cells use glucose for energy. This normally occurs by phosphorylation via the enzyme hexokinase</a:t>
            </a:r>
            <a:r>
              <a:rPr lang="en-US" dirty="0" smtClean="0"/>
              <a:t>.</a:t>
            </a:r>
          </a:p>
          <a:p>
            <a:r>
              <a:rPr lang="en-US" dirty="0" smtClean="0"/>
              <a:t> </a:t>
            </a:r>
            <a:r>
              <a:rPr lang="en-US" dirty="0"/>
              <a:t>However, if large amounts of glucose are present (as in diabetes mellitus), hexokinase becomes saturated and the excess glucose enters the polyol pathway when aldose reductase reduces it to sorbitol</a:t>
            </a:r>
          </a:p>
        </p:txBody>
      </p:sp>
    </p:spTree>
    <p:extLst>
      <p:ext uri="{BB962C8B-B14F-4D97-AF65-F5344CB8AC3E}">
        <p14:creationId xmlns:p14="http://schemas.microsoft.com/office/powerpoint/2010/main" val="9797612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6" y="915337"/>
            <a:ext cx="6798734" cy="497439"/>
          </a:xfrm>
        </p:spPr>
        <p:txBody>
          <a:bodyPr>
            <a:normAutofit fontScale="90000"/>
          </a:bodyPr>
          <a:lstStyle/>
          <a:p>
            <a:r>
              <a:rPr lang="en-US" dirty="0"/>
              <a:t>Continuation….</a:t>
            </a:r>
          </a:p>
        </p:txBody>
      </p:sp>
      <p:pic>
        <p:nvPicPr>
          <p:cNvPr id="4" name="Content Placeholder 3"/>
          <p:cNvPicPr>
            <a:picLocks noGrp="1" noChangeAspect="1"/>
          </p:cNvPicPr>
          <p:nvPr>
            <p:ph idx="1"/>
          </p:nvPr>
        </p:nvPicPr>
        <p:blipFill>
          <a:blip r:embed="rId2"/>
          <a:stretch>
            <a:fillRect/>
          </a:stretch>
        </p:blipFill>
        <p:spPr>
          <a:xfrm>
            <a:off x="395536" y="1628800"/>
            <a:ext cx="8208912" cy="4896544"/>
          </a:xfrm>
          <a:prstGeom prst="rect">
            <a:avLst/>
          </a:prstGeom>
        </p:spPr>
      </p:pic>
    </p:spTree>
    <p:extLst>
      <p:ext uri="{BB962C8B-B14F-4D97-AF65-F5344CB8AC3E}">
        <p14:creationId xmlns:p14="http://schemas.microsoft.com/office/powerpoint/2010/main" val="18733891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928794" y="-24"/>
            <a:ext cx="4786346" cy="439718"/>
          </a:xfrm>
        </p:spPr>
        <p:txBody>
          <a:bodyPr>
            <a:noAutofit/>
          </a:bodyPr>
          <a:lstStyle/>
          <a:p>
            <a:r>
              <a:rPr lang="en-GB" sz="3200" b="1" dirty="0" err="1" smtClean="0"/>
              <a:t>Gluconeogenesis</a:t>
            </a:r>
            <a:endParaRPr lang="en-GB" sz="3200" b="1" dirty="0"/>
          </a:p>
        </p:txBody>
      </p:sp>
      <p:sp>
        <p:nvSpPr>
          <p:cNvPr id="4" name="TextBox 3"/>
          <p:cNvSpPr txBox="1"/>
          <p:nvPr/>
        </p:nvSpPr>
        <p:spPr>
          <a:xfrm>
            <a:off x="142844" y="357166"/>
            <a:ext cx="8643966" cy="6370975"/>
          </a:xfrm>
          <a:prstGeom prst="rect">
            <a:avLst/>
          </a:prstGeom>
          <a:noFill/>
        </p:spPr>
        <p:txBody>
          <a:bodyPr wrap="square" rtlCol="0">
            <a:spAutoFit/>
          </a:bodyPr>
          <a:lstStyle/>
          <a:p>
            <a:pPr algn="just">
              <a:buFont typeface="Wingdings" pitchFamily="2" charset="2"/>
              <a:buChar char="v"/>
            </a:pPr>
            <a:r>
              <a:rPr lang="en-GB" sz="2400" dirty="0" smtClean="0"/>
              <a:t>In mammals, some tissues depend almost completely on glucose for their metabolic energy. e.g. Brain and the nervous system, erythrocytes, testes, renal medulla and embryonic tissues.</a:t>
            </a:r>
          </a:p>
          <a:p>
            <a:pPr algn="just"/>
            <a:r>
              <a:rPr lang="en-GB" sz="2400" b="1" dirty="0" smtClean="0"/>
              <a:t>	Note: </a:t>
            </a:r>
          </a:p>
          <a:p>
            <a:pPr marL="971550" lvl="1" indent="-514350" algn="just">
              <a:buFont typeface="+mj-lt"/>
              <a:buAutoNum type="romanLcPeriod"/>
            </a:pPr>
            <a:r>
              <a:rPr lang="en-GB" dirty="0" smtClean="0"/>
              <a:t>Supply of glucose stored from stores (Glycogen) is not always sufficient (i.e. brain requires 120g of glucose/day More than half the glucose stored as glycogen in muscle and liver.</a:t>
            </a:r>
          </a:p>
          <a:p>
            <a:pPr marL="971550" lvl="1" indent="-514350" algn="just">
              <a:buFont typeface="+mj-lt"/>
              <a:buAutoNum type="romanLcPeriod"/>
            </a:pPr>
            <a:r>
              <a:rPr lang="en-GB" dirty="0" smtClean="0"/>
              <a:t>Between meals and prolonged fasts or vigorous exercise, glycogen is depleted.</a:t>
            </a:r>
          </a:p>
          <a:p>
            <a:pPr algn="just">
              <a:buFont typeface="Wingdings" pitchFamily="2" charset="2"/>
              <a:buChar char="v"/>
            </a:pPr>
            <a:r>
              <a:rPr lang="en-GB" sz="2400" dirty="0" smtClean="0"/>
              <a:t>To maintain blood glucose, glucose is synthesised from non-carbohydrate precursors through </a:t>
            </a:r>
            <a:r>
              <a:rPr lang="en-GB" sz="2400" b="1" dirty="0" err="1" smtClean="0"/>
              <a:t>Gluconeogenesis</a:t>
            </a:r>
            <a:r>
              <a:rPr lang="en-GB" sz="2400" dirty="0" smtClean="0"/>
              <a:t>.</a:t>
            </a:r>
          </a:p>
          <a:p>
            <a:pPr algn="just">
              <a:buFont typeface="Wingdings" pitchFamily="2" charset="2"/>
              <a:buChar char="v"/>
            </a:pPr>
            <a:r>
              <a:rPr lang="en-GB" sz="2400" b="1" dirty="0" smtClean="0"/>
              <a:t>Gluconeogenic pathway </a:t>
            </a:r>
            <a:r>
              <a:rPr lang="en-GB" sz="2400" dirty="0" smtClean="0"/>
              <a:t>convert </a:t>
            </a:r>
            <a:r>
              <a:rPr lang="en-GB" sz="2400" dirty="0" err="1" smtClean="0"/>
              <a:t>pyruvate</a:t>
            </a:r>
            <a:r>
              <a:rPr lang="en-GB" sz="2400" dirty="0" smtClean="0"/>
              <a:t>  and related 3 and 4 carbon </a:t>
            </a:r>
            <a:r>
              <a:rPr lang="en-GB" sz="2400" dirty="0" err="1" smtClean="0"/>
              <a:t>cpds</a:t>
            </a:r>
            <a:r>
              <a:rPr lang="en-GB" sz="2400" dirty="0" smtClean="0"/>
              <a:t> to glucose.</a:t>
            </a:r>
          </a:p>
          <a:p>
            <a:pPr lvl="1" algn="just">
              <a:buFont typeface="Wingdings" pitchFamily="2" charset="2"/>
              <a:buChar char="ü"/>
            </a:pPr>
            <a:r>
              <a:rPr lang="en-GB" dirty="0" smtClean="0"/>
              <a:t>In animals important precursors of glucose include: </a:t>
            </a:r>
            <a:r>
              <a:rPr lang="en-GB" b="1" dirty="0" smtClean="0"/>
              <a:t>lactate, </a:t>
            </a:r>
            <a:r>
              <a:rPr lang="en-GB" b="1" dirty="0" err="1" smtClean="0"/>
              <a:t>pyruvate</a:t>
            </a:r>
            <a:r>
              <a:rPr lang="en-GB" b="1" dirty="0" smtClean="0"/>
              <a:t>, glycerol</a:t>
            </a:r>
          </a:p>
          <a:p>
            <a:pPr lvl="1" algn="just"/>
            <a:r>
              <a:rPr lang="en-GB" b="1" dirty="0" smtClean="0"/>
              <a:t>    and some amino acid</a:t>
            </a:r>
            <a:r>
              <a:rPr lang="en-GB" dirty="0" smtClean="0"/>
              <a:t>s.</a:t>
            </a:r>
          </a:p>
          <a:p>
            <a:pPr lvl="1" algn="just">
              <a:buFont typeface="Wingdings" pitchFamily="2" charset="2"/>
              <a:buChar char="ü"/>
            </a:pPr>
            <a:r>
              <a:rPr lang="en-GB" dirty="0" smtClean="0"/>
              <a:t>In microorganisms </a:t>
            </a:r>
            <a:r>
              <a:rPr lang="en-GB" dirty="0" err="1" smtClean="0"/>
              <a:t>gluconeogenesis</a:t>
            </a:r>
            <a:r>
              <a:rPr lang="en-GB" dirty="0" smtClean="0"/>
              <a:t> starts from simple organic </a:t>
            </a:r>
            <a:r>
              <a:rPr lang="en-GB" dirty="0" err="1" smtClean="0"/>
              <a:t>cpds</a:t>
            </a:r>
            <a:r>
              <a:rPr lang="en-GB" dirty="0" smtClean="0"/>
              <a:t> of 2 or 3     carbons such as: </a:t>
            </a:r>
            <a:r>
              <a:rPr lang="en-GB" b="1" dirty="0" smtClean="0"/>
              <a:t>acetate, lactate and propionate</a:t>
            </a:r>
            <a:r>
              <a:rPr lang="en-GB" dirty="0" smtClean="0"/>
              <a:t>.</a:t>
            </a:r>
          </a:p>
          <a:p>
            <a:pPr algn="just">
              <a:buFont typeface="Wingdings" pitchFamily="2" charset="2"/>
              <a:buChar char="v"/>
            </a:pPr>
            <a:r>
              <a:rPr lang="en-GB" sz="2400" dirty="0" smtClean="0"/>
              <a:t>In Mammals it takes place mainly in the liver and to a lesser extent in renal cortex. </a:t>
            </a:r>
          </a:p>
          <a:p>
            <a:pPr algn="just"/>
            <a:endParaRPr lang="en-GB" sz="24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357159" y="357166"/>
            <a:ext cx="2714643" cy="1200329"/>
          </a:xfrm>
          <a:prstGeom prst="rect">
            <a:avLst/>
          </a:prstGeom>
          <a:noFill/>
        </p:spPr>
        <p:txBody>
          <a:bodyPr wrap="square" rtlCol="0">
            <a:spAutoFit/>
          </a:bodyPr>
          <a:lstStyle/>
          <a:p>
            <a:r>
              <a:rPr lang="en-GB" sz="2400" b="1" dirty="0" smtClean="0"/>
              <a:t>An overview of </a:t>
            </a:r>
            <a:r>
              <a:rPr lang="en-GB" sz="2400" b="1" dirty="0" err="1" smtClean="0"/>
              <a:t>Gluconeogenesis</a:t>
            </a:r>
            <a:r>
              <a:rPr lang="en-GB" sz="2400" b="1" dirty="0" smtClean="0"/>
              <a:t> in Plants and Animals</a:t>
            </a:r>
            <a:endParaRPr lang="en-GB" sz="2400" b="1" dirty="0"/>
          </a:p>
        </p:txBody>
      </p:sp>
      <p:pic>
        <p:nvPicPr>
          <p:cNvPr id="1026" name="Picture 2"/>
          <p:cNvPicPr>
            <a:picLocks noChangeAspect="1" noChangeArrowheads="1"/>
          </p:cNvPicPr>
          <p:nvPr/>
        </p:nvPicPr>
        <p:blipFill>
          <a:blip r:embed="rId2">
            <a:lum bright="-20000" contrast="40000"/>
          </a:blip>
          <a:srcRect/>
          <a:stretch>
            <a:fillRect/>
          </a:stretch>
        </p:blipFill>
        <p:spPr bwMode="auto">
          <a:xfrm>
            <a:off x="3357554" y="252434"/>
            <a:ext cx="4929222" cy="631983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243143" y="262574"/>
            <a:ext cx="6186245" cy="523220"/>
          </a:xfrm>
          <a:prstGeom prst="rect">
            <a:avLst/>
          </a:prstGeom>
          <a:noFill/>
        </p:spPr>
        <p:txBody>
          <a:bodyPr wrap="none" rtlCol="0">
            <a:spAutoFit/>
          </a:bodyPr>
          <a:lstStyle/>
          <a:p>
            <a:r>
              <a:rPr lang="en-GB" sz="2800" b="1" dirty="0" smtClean="0"/>
              <a:t>Reactions of the </a:t>
            </a:r>
            <a:r>
              <a:rPr lang="en-GB" sz="2800" b="1" dirty="0" err="1" smtClean="0"/>
              <a:t>gluconeogenic</a:t>
            </a:r>
            <a:r>
              <a:rPr lang="en-GB" sz="2800" b="1" dirty="0" smtClean="0"/>
              <a:t> pathway</a:t>
            </a:r>
            <a:endParaRPr lang="en-GB" sz="2800" b="1" dirty="0"/>
          </a:p>
        </p:txBody>
      </p:sp>
      <p:sp>
        <p:nvSpPr>
          <p:cNvPr id="5" name="TextBox 4"/>
          <p:cNvSpPr txBox="1"/>
          <p:nvPr/>
        </p:nvSpPr>
        <p:spPr>
          <a:xfrm>
            <a:off x="142844" y="893047"/>
            <a:ext cx="8715436" cy="5706177"/>
          </a:xfrm>
          <a:prstGeom prst="rect">
            <a:avLst/>
          </a:prstGeom>
          <a:noFill/>
        </p:spPr>
        <p:txBody>
          <a:bodyPr wrap="square" rtlCol="0">
            <a:spAutoFit/>
          </a:bodyPr>
          <a:lstStyle/>
          <a:p>
            <a:pPr algn="just">
              <a:buFont typeface="Wingdings" pitchFamily="2" charset="2"/>
              <a:buChar char="v"/>
            </a:pPr>
            <a:r>
              <a:rPr lang="en-GB" sz="2400" dirty="0" smtClean="0"/>
              <a:t>Glycolysis and </a:t>
            </a:r>
            <a:r>
              <a:rPr lang="en-GB" sz="2400" dirty="0" err="1" smtClean="0"/>
              <a:t>gluconeogenesis</a:t>
            </a:r>
            <a:r>
              <a:rPr lang="en-GB" sz="2400" dirty="0" smtClean="0"/>
              <a:t> share several steps; seven of the ten enzymatic reactions of </a:t>
            </a:r>
            <a:r>
              <a:rPr lang="en-GB" sz="2400" dirty="0" err="1" smtClean="0"/>
              <a:t>gluconeogenesis</a:t>
            </a:r>
            <a:r>
              <a:rPr lang="en-GB" sz="2400" dirty="0" smtClean="0"/>
              <a:t> are the reverse of glycolysis</a:t>
            </a:r>
          </a:p>
          <a:p>
            <a:pPr algn="just">
              <a:buFont typeface="Wingdings" pitchFamily="2" charset="2"/>
              <a:buChar char="v"/>
            </a:pPr>
            <a:r>
              <a:rPr lang="en-US" sz="2400" dirty="0" smtClean="0">
                <a:cs typeface="Times New Roman" pitchFamily="18" charset="0"/>
              </a:rPr>
              <a:t>Three Glycolysis reactions have such a large negative </a:t>
            </a:r>
            <a:r>
              <a:rPr lang="en-US" sz="2400" dirty="0" smtClean="0">
                <a:latin typeface="Symbol" pitchFamily="18" charset="2"/>
                <a:cs typeface="Times New Roman" pitchFamily="18" charset="0"/>
              </a:rPr>
              <a:t>D</a:t>
            </a:r>
            <a:r>
              <a:rPr lang="en-US" sz="2400" dirty="0" smtClean="0">
                <a:cs typeface="Times New Roman" pitchFamily="18" charset="0"/>
              </a:rPr>
              <a:t>G that they are essentially </a:t>
            </a:r>
            <a:r>
              <a:rPr lang="en-US" sz="2400" b="1" dirty="0" smtClean="0">
                <a:cs typeface="Times New Roman" pitchFamily="18" charset="0"/>
              </a:rPr>
              <a:t>irreversible</a:t>
            </a:r>
            <a:r>
              <a:rPr lang="en-US" sz="2400" dirty="0" smtClean="0">
                <a:cs typeface="Times New Roman" pitchFamily="18" charset="0"/>
              </a:rPr>
              <a:t>. </a:t>
            </a:r>
          </a:p>
          <a:p>
            <a:pPr lvl="1" indent="-342900" algn="just">
              <a:lnSpc>
                <a:spcPct val="95000"/>
              </a:lnSpc>
              <a:spcBef>
                <a:spcPct val="0"/>
              </a:spcBef>
              <a:spcAft>
                <a:spcPct val="15000"/>
              </a:spcAft>
              <a:buClr>
                <a:schemeClr val="hlink"/>
              </a:buClr>
              <a:buFont typeface="Wingdings" pitchFamily="2" charset="2"/>
              <a:buChar char="w"/>
            </a:pPr>
            <a:r>
              <a:rPr lang="en-US" b="1" dirty="0" err="1" smtClean="0">
                <a:cs typeface="Times New Roman" pitchFamily="18" charset="0"/>
              </a:rPr>
              <a:t>Hexokinase</a:t>
            </a:r>
            <a:r>
              <a:rPr lang="en-US" b="1" dirty="0" smtClean="0">
                <a:cs typeface="Times New Roman" pitchFamily="18" charset="0"/>
              </a:rPr>
              <a:t> </a:t>
            </a:r>
            <a:r>
              <a:rPr lang="en-US" dirty="0" smtClean="0">
                <a:cs typeface="Times New Roman" pitchFamily="18" charset="0"/>
              </a:rPr>
              <a:t>(or </a:t>
            </a:r>
            <a:r>
              <a:rPr lang="en-US" dirty="0" err="1" smtClean="0">
                <a:cs typeface="Times New Roman" pitchFamily="18" charset="0"/>
              </a:rPr>
              <a:t>Glucokinase</a:t>
            </a:r>
            <a:r>
              <a:rPr lang="en-US" dirty="0" smtClean="0">
                <a:cs typeface="Times New Roman" pitchFamily="18" charset="0"/>
              </a:rPr>
              <a:t>)</a:t>
            </a:r>
          </a:p>
          <a:p>
            <a:pPr lvl="1" indent="-342900" algn="just">
              <a:lnSpc>
                <a:spcPct val="95000"/>
              </a:lnSpc>
              <a:spcBef>
                <a:spcPct val="0"/>
              </a:spcBef>
              <a:spcAft>
                <a:spcPct val="15000"/>
              </a:spcAft>
              <a:buClr>
                <a:schemeClr val="hlink"/>
              </a:buClr>
              <a:buFont typeface="Wingdings" pitchFamily="2" charset="2"/>
              <a:buChar char="w"/>
            </a:pPr>
            <a:r>
              <a:rPr lang="en-US" b="1" dirty="0" err="1" smtClean="0">
                <a:cs typeface="Times New Roman" pitchFamily="18" charset="0"/>
              </a:rPr>
              <a:t>Phosphofructokinase</a:t>
            </a:r>
            <a:endParaRPr lang="en-US" b="1" dirty="0" smtClean="0">
              <a:cs typeface="Times New Roman" pitchFamily="18" charset="0"/>
            </a:endParaRPr>
          </a:p>
          <a:p>
            <a:pPr lvl="1" indent="-342900" algn="just">
              <a:lnSpc>
                <a:spcPct val="95000"/>
              </a:lnSpc>
              <a:spcBef>
                <a:spcPct val="0"/>
              </a:spcBef>
              <a:spcAft>
                <a:spcPct val="40000"/>
              </a:spcAft>
              <a:buClr>
                <a:schemeClr val="hlink"/>
              </a:buClr>
              <a:buFont typeface="Wingdings" pitchFamily="2" charset="2"/>
              <a:buChar char="w"/>
            </a:pPr>
            <a:r>
              <a:rPr lang="en-US" b="1" dirty="0" smtClean="0">
                <a:cs typeface="Times New Roman" pitchFamily="18" charset="0"/>
              </a:rPr>
              <a:t>Pyruvate </a:t>
            </a:r>
            <a:r>
              <a:rPr lang="en-US" b="1" dirty="0" err="1" smtClean="0">
                <a:cs typeface="Times New Roman" pitchFamily="18" charset="0"/>
              </a:rPr>
              <a:t>Kinase</a:t>
            </a:r>
            <a:r>
              <a:rPr lang="en-US" b="1" dirty="0" smtClean="0">
                <a:cs typeface="Times New Roman" pitchFamily="18" charset="0"/>
              </a:rPr>
              <a:t>. </a:t>
            </a:r>
          </a:p>
          <a:p>
            <a:pPr algn="just">
              <a:lnSpc>
                <a:spcPct val="95000"/>
              </a:lnSpc>
              <a:spcBef>
                <a:spcPct val="0"/>
              </a:spcBef>
              <a:spcAft>
                <a:spcPct val="20000"/>
              </a:spcAft>
              <a:buFont typeface="Wingdings" pitchFamily="2" charset="2"/>
              <a:buChar char="v"/>
            </a:pPr>
            <a:r>
              <a:rPr lang="en-US" sz="2400" dirty="0" smtClean="0">
                <a:cs typeface="Times New Roman" pitchFamily="18" charset="0"/>
              </a:rPr>
              <a:t>In </a:t>
            </a:r>
            <a:r>
              <a:rPr lang="en-US" sz="2400" dirty="0" err="1" smtClean="0">
                <a:cs typeface="Times New Roman" pitchFamily="18" charset="0"/>
              </a:rPr>
              <a:t>Gluconeogenesis</a:t>
            </a:r>
            <a:r>
              <a:rPr lang="en-US" sz="2400" dirty="0" smtClean="0">
                <a:cs typeface="Times New Roman" pitchFamily="18" charset="0"/>
              </a:rPr>
              <a:t> the three irreversible steps are </a:t>
            </a:r>
            <a:r>
              <a:rPr lang="en-US" sz="2400" b="1" dirty="0" smtClean="0">
                <a:cs typeface="Times New Roman" pitchFamily="18" charset="0"/>
              </a:rPr>
              <a:t>bypassed</a:t>
            </a:r>
            <a:r>
              <a:rPr lang="en-US" sz="2400" dirty="0" smtClean="0">
                <a:cs typeface="Times New Roman" pitchFamily="18" charset="0"/>
              </a:rPr>
              <a:t> by a separate set of enzymes that are irreversible in the direction of glucose synthesis.</a:t>
            </a:r>
          </a:p>
          <a:p>
            <a:pPr algn="just">
              <a:lnSpc>
                <a:spcPct val="95000"/>
              </a:lnSpc>
              <a:spcBef>
                <a:spcPct val="0"/>
              </a:spcBef>
              <a:spcAft>
                <a:spcPct val="20000"/>
              </a:spcAft>
              <a:buFont typeface="Wingdings" pitchFamily="2" charset="2"/>
              <a:buChar char="§"/>
            </a:pPr>
            <a:r>
              <a:rPr lang="en-US" dirty="0" smtClean="0">
                <a:cs typeface="Times New Roman" pitchFamily="18" charset="0"/>
              </a:rPr>
              <a:t>Conversion of </a:t>
            </a:r>
            <a:r>
              <a:rPr lang="en-US" dirty="0" err="1" smtClean="0">
                <a:cs typeface="Times New Roman" pitchFamily="18" charset="0"/>
              </a:rPr>
              <a:t>pyruvate</a:t>
            </a:r>
            <a:r>
              <a:rPr lang="en-US" dirty="0" smtClean="0">
                <a:cs typeface="Times New Roman" pitchFamily="18" charset="0"/>
              </a:rPr>
              <a:t> to </a:t>
            </a:r>
            <a:r>
              <a:rPr lang="en-US" dirty="0" err="1" smtClean="0">
                <a:cs typeface="Times New Roman" pitchFamily="18" charset="0"/>
              </a:rPr>
              <a:t>phosphoenol</a:t>
            </a:r>
            <a:r>
              <a:rPr lang="en-US" dirty="0" smtClean="0">
                <a:cs typeface="Times New Roman" pitchFamily="18" charset="0"/>
              </a:rPr>
              <a:t> </a:t>
            </a:r>
            <a:r>
              <a:rPr lang="en-US" dirty="0" err="1" smtClean="0">
                <a:cs typeface="Times New Roman" pitchFamily="18" charset="0"/>
              </a:rPr>
              <a:t>pyruvate</a:t>
            </a:r>
            <a:r>
              <a:rPr lang="en-US" dirty="0" smtClean="0">
                <a:cs typeface="Times New Roman" pitchFamily="18" charset="0"/>
              </a:rPr>
              <a:t>.</a:t>
            </a:r>
          </a:p>
          <a:p>
            <a:pPr algn="just">
              <a:lnSpc>
                <a:spcPct val="95000"/>
              </a:lnSpc>
              <a:spcBef>
                <a:spcPct val="0"/>
              </a:spcBef>
              <a:spcAft>
                <a:spcPct val="20000"/>
              </a:spcAft>
              <a:buFont typeface="Wingdings" pitchFamily="2" charset="2"/>
              <a:buChar char="§"/>
            </a:pPr>
            <a:r>
              <a:rPr lang="en-US" dirty="0" smtClean="0">
                <a:cs typeface="Times New Roman" pitchFamily="18" charset="0"/>
              </a:rPr>
              <a:t>Conversion of Fructose 1,6- </a:t>
            </a:r>
            <a:r>
              <a:rPr lang="en-US" dirty="0" err="1" smtClean="0">
                <a:cs typeface="Times New Roman" pitchFamily="18" charset="0"/>
              </a:rPr>
              <a:t>Bisphosphate</a:t>
            </a:r>
            <a:r>
              <a:rPr lang="en-US" dirty="0" smtClean="0">
                <a:cs typeface="Times New Roman" pitchFamily="18" charset="0"/>
              </a:rPr>
              <a:t> to Fructose 6-phosphate.</a:t>
            </a:r>
          </a:p>
          <a:p>
            <a:pPr algn="just">
              <a:lnSpc>
                <a:spcPct val="95000"/>
              </a:lnSpc>
              <a:spcBef>
                <a:spcPct val="0"/>
              </a:spcBef>
              <a:spcAft>
                <a:spcPct val="20000"/>
              </a:spcAft>
              <a:buFont typeface="Wingdings" pitchFamily="2" charset="2"/>
              <a:buChar char="§"/>
            </a:pPr>
            <a:r>
              <a:rPr lang="en-US" dirty="0" smtClean="0">
                <a:cs typeface="Times New Roman" pitchFamily="18" charset="0"/>
              </a:rPr>
              <a:t>Conversion of glucose 6-phosphate to glucose.</a:t>
            </a:r>
          </a:p>
          <a:p>
            <a:pPr algn="just">
              <a:lnSpc>
                <a:spcPct val="95000"/>
              </a:lnSpc>
              <a:spcBef>
                <a:spcPct val="0"/>
              </a:spcBef>
              <a:spcAft>
                <a:spcPct val="30000"/>
              </a:spcAft>
              <a:buFont typeface="Wingdings" pitchFamily="2" charset="2"/>
              <a:buChar char="v"/>
            </a:pPr>
            <a:r>
              <a:rPr lang="en-US" sz="2400" dirty="0" smtClean="0">
                <a:cs typeface="Times New Roman" pitchFamily="18" charset="0"/>
              </a:rPr>
              <a:t>In animals, both pathways occur largely in the </a:t>
            </a:r>
            <a:r>
              <a:rPr lang="en-US" sz="2400" dirty="0" err="1" smtClean="0">
                <a:cs typeface="Times New Roman" pitchFamily="18" charset="0"/>
              </a:rPr>
              <a:t>cytosol</a:t>
            </a:r>
            <a:r>
              <a:rPr lang="en-US" sz="2400" dirty="0" smtClean="0">
                <a:cs typeface="Times New Roman" pitchFamily="18" charset="0"/>
              </a:rPr>
              <a:t>, necessitating their reciprocal and coordinated regulation. </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lum bright="-20000" contrast="40000"/>
          </a:blip>
          <a:srcRect/>
          <a:stretch>
            <a:fillRect/>
          </a:stretch>
        </p:blipFill>
        <p:spPr bwMode="auto">
          <a:xfrm>
            <a:off x="3643306" y="71438"/>
            <a:ext cx="5214974" cy="6786586"/>
          </a:xfrm>
          <a:prstGeom prst="rect">
            <a:avLst/>
          </a:prstGeom>
          <a:noFill/>
          <a:ln w="9525">
            <a:noFill/>
            <a:miter lim="800000"/>
            <a:headEnd/>
            <a:tailEnd/>
          </a:ln>
          <a:effectLst/>
        </p:spPr>
      </p:pic>
      <p:sp>
        <p:nvSpPr>
          <p:cNvPr id="5" name="TextBox 4"/>
          <p:cNvSpPr txBox="1"/>
          <p:nvPr/>
        </p:nvSpPr>
        <p:spPr>
          <a:xfrm>
            <a:off x="-32" y="571480"/>
            <a:ext cx="3668055" cy="523220"/>
          </a:xfrm>
          <a:prstGeom prst="rect">
            <a:avLst/>
          </a:prstGeom>
          <a:noFill/>
        </p:spPr>
        <p:txBody>
          <a:bodyPr wrap="none" rtlCol="0">
            <a:spAutoFit/>
          </a:bodyPr>
          <a:lstStyle/>
          <a:p>
            <a:r>
              <a:rPr lang="en-GB" sz="2800" dirty="0" smtClean="0"/>
              <a:t>Gluconeogenic pathway</a:t>
            </a:r>
            <a:endParaRPr lang="en-GB" sz="2800"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298708" y="214290"/>
            <a:ext cx="8130944" cy="461665"/>
          </a:xfrm>
          <a:prstGeom prst="rect">
            <a:avLst/>
          </a:prstGeom>
          <a:noFill/>
        </p:spPr>
        <p:txBody>
          <a:bodyPr wrap="none" rtlCol="0">
            <a:spAutoFit/>
          </a:bodyPr>
          <a:lstStyle/>
          <a:p>
            <a:r>
              <a:rPr lang="en-GB" sz="2400" b="1" dirty="0" smtClean="0"/>
              <a:t>First bypass: </a:t>
            </a:r>
            <a:r>
              <a:rPr lang="en-GB" sz="2400" u="sng" dirty="0" smtClean="0"/>
              <a:t>Conversion of Pyruvate to </a:t>
            </a:r>
            <a:r>
              <a:rPr lang="en-GB" sz="2400" u="sng" dirty="0" err="1" smtClean="0"/>
              <a:t>phosphoenol</a:t>
            </a:r>
            <a:r>
              <a:rPr lang="en-GB" sz="2400" u="sng" dirty="0" smtClean="0"/>
              <a:t> </a:t>
            </a:r>
            <a:r>
              <a:rPr lang="en-GB" sz="2400" u="sng" dirty="0" err="1" smtClean="0"/>
              <a:t>pyruvate</a:t>
            </a:r>
            <a:r>
              <a:rPr lang="en-GB" dirty="0" smtClean="0"/>
              <a:t>.</a:t>
            </a:r>
            <a:endParaRPr lang="en-GB" dirty="0"/>
          </a:p>
        </p:txBody>
      </p:sp>
      <p:graphicFrame>
        <p:nvGraphicFramePr>
          <p:cNvPr id="3074" name="Object 5"/>
          <p:cNvGraphicFramePr>
            <a:graphicFrameLocks noChangeAspect="1"/>
          </p:cNvGraphicFramePr>
          <p:nvPr/>
        </p:nvGraphicFramePr>
        <p:xfrm>
          <a:off x="357158" y="1142984"/>
          <a:ext cx="8143932" cy="1928826"/>
        </p:xfrm>
        <a:graphic>
          <a:graphicData uri="http://schemas.openxmlformats.org/presentationml/2006/ole">
            <mc:AlternateContent xmlns:mc="http://schemas.openxmlformats.org/markup-compatibility/2006">
              <mc:Choice xmlns:v="urn:schemas-microsoft-com:vml" Requires="v">
                <p:oleObj spid="_x0000_s3091" r:id="rId3" imgW="3657600" imgH="1600200" progId="Word.Picture.8">
                  <p:embed/>
                </p:oleObj>
              </mc:Choice>
              <mc:Fallback>
                <p:oleObj r:id="rId3" imgW="3657600" imgH="1600200" progId="Word.Picture.8">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158" y="1142984"/>
                        <a:ext cx="8143932" cy="19288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Box 5"/>
          <p:cNvSpPr txBox="1"/>
          <p:nvPr/>
        </p:nvSpPr>
        <p:spPr>
          <a:xfrm>
            <a:off x="285720" y="642918"/>
            <a:ext cx="8655255" cy="461665"/>
          </a:xfrm>
          <a:prstGeom prst="rect">
            <a:avLst/>
          </a:prstGeom>
          <a:noFill/>
        </p:spPr>
        <p:txBody>
          <a:bodyPr wrap="none" rtlCol="0">
            <a:spAutoFit/>
          </a:bodyPr>
          <a:lstStyle/>
          <a:p>
            <a:pPr>
              <a:buFont typeface="Wingdings" pitchFamily="2" charset="2"/>
              <a:buChar char="v"/>
            </a:pPr>
            <a:r>
              <a:rPr lang="en-GB" sz="2400" dirty="0" smtClean="0"/>
              <a:t>This step requires enzymes in both the </a:t>
            </a:r>
            <a:r>
              <a:rPr lang="en-GB" sz="2400" dirty="0" err="1" smtClean="0"/>
              <a:t>Cytosol</a:t>
            </a:r>
            <a:r>
              <a:rPr lang="en-GB" sz="2400" dirty="0" smtClean="0"/>
              <a:t> and </a:t>
            </a:r>
            <a:r>
              <a:rPr lang="en-GB" sz="2400" dirty="0" err="1" smtClean="0"/>
              <a:t>Motochondria</a:t>
            </a:r>
            <a:endParaRPr lang="en-GB" sz="2400" dirty="0"/>
          </a:p>
        </p:txBody>
      </p:sp>
      <p:sp>
        <p:nvSpPr>
          <p:cNvPr id="7" name="TextBox 6"/>
          <p:cNvSpPr txBox="1"/>
          <p:nvPr/>
        </p:nvSpPr>
        <p:spPr>
          <a:xfrm>
            <a:off x="71406" y="3214686"/>
            <a:ext cx="8929719" cy="1500198"/>
          </a:xfrm>
          <a:prstGeom prst="rect">
            <a:avLst/>
          </a:prstGeom>
          <a:noFill/>
        </p:spPr>
        <p:txBody>
          <a:bodyPr wrap="square" rtlCol="0">
            <a:spAutoFit/>
          </a:bodyPr>
          <a:lstStyle/>
          <a:p>
            <a:pPr algn="just">
              <a:buFont typeface="Wingdings" pitchFamily="2" charset="2"/>
              <a:buChar char="v"/>
            </a:pPr>
            <a:r>
              <a:rPr lang="en-GB" sz="2400" dirty="0" smtClean="0"/>
              <a:t>Pyruvate is transported to the mitochondria where </a:t>
            </a:r>
            <a:r>
              <a:rPr lang="en-GB" sz="2400" b="1" dirty="0" err="1" smtClean="0"/>
              <a:t>pyruvate</a:t>
            </a:r>
            <a:r>
              <a:rPr lang="en-GB" sz="2400" b="1" dirty="0" smtClean="0"/>
              <a:t> </a:t>
            </a:r>
            <a:r>
              <a:rPr lang="en-GB" sz="2400" b="1" dirty="0" err="1" smtClean="0"/>
              <a:t>carboxylase</a:t>
            </a:r>
            <a:r>
              <a:rPr lang="en-GB" sz="2400" b="1" dirty="0" smtClean="0"/>
              <a:t> </a:t>
            </a:r>
            <a:r>
              <a:rPr lang="en-GB" sz="2400" dirty="0" smtClean="0"/>
              <a:t>converts </a:t>
            </a:r>
            <a:r>
              <a:rPr lang="en-GB" sz="2400" dirty="0" err="1" smtClean="0"/>
              <a:t>pyruvate</a:t>
            </a:r>
            <a:r>
              <a:rPr lang="en-GB" sz="2400" dirty="0" smtClean="0"/>
              <a:t> to </a:t>
            </a:r>
            <a:r>
              <a:rPr lang="en-GB" sz="2400" b="1" dirty="0" err="1" smtClean="0"/>
              <a:t>oxaloacetate</a:t>
            </a:r>
            <a:r>
              <a:rPr lang="en-GB" sz="2400" dirty="0" smtClean="0"/>
              <a:t>.</a:t>
            </a:r>
          </a:p>
          <a:p>
            <a:pPr algn="ctr"/>
            <a:r>
              <a:rPr lang="en-US" sz="2400" b="1" dirty="0" err="1" smtClean="0">
                <a:solidFill>
                  <a:srgbClr val="000080"/>
                </a:solidFill>
                <a:cs typeface="Times New Roman" pitchFamily="18" charset="0"/>
              </a:rPr>
              <a:t>pyruvate</a:t>
            </a:r>
            <a:r>
              <a:rPr lang="en-US" sz="2400" b="1" dirty="0" smtClean="0">
                <a:solidFill>
                  <a:srgbClr val="000080"/>
                </a:solidFill>
                <a:cs typeface="Times New Roman" pitchFamily="18" charset="0"/>
              </a:rPr>
              <a:t> + HCO</a:t>
            </a:r>
            <a:r>
              <a:rPr lang="en-US" sz="2400" b="1" baseline="-30000" dirty="0" smtClean="0">
                <a:solidFill>
                  <a:srgbClr val="000080"/>
                </a:solidFill>
                <a:cs typeface="Times New Roman" pitchFamily="18" charset="0"/>
              </a:rPr>
              <a:t>3</a:t>
            </a:r>
            <a:r>
              <a:rPr lang="en-US" sz="2400" b="1" baseline="30000" dirty="0" smtClean="0">
                <a:solidFill>
                  <a:srgbClr val="000080"/>
                </a:solidFill>
                <a:latin typeface="Symbol" pitchFamily="18" charset="2"/>
                <a:cs typeface="Arial" charset="0"/>
              </a:rPr>
              <a:t>-</a:t>
            </a:r>
            <a:r>
              <a:rPr lang="en-US" sz="2400" b="1" dirty="0" smtClean="0">
                <a:solidFill>
                  <a:srgbClr val="000080"/>
                </a:solidFill>
                <a:cs typeface="Times New Roman" pitchFamily="18" charset="0"/>
              </a:rPr>
              <a:t> + ATP  </a:t>
            </a:r>
            <a:r>
              <a:rPr lang="en-US" sz="2400" b="1" dirty="0" smtClean="0">
                <a:solidFill>
                  <a:srgbClr val="FF0000"/>
                </a:solidFill>
                <a:cs typeface="Times New Roman" pitchFamily="18" charset="0"/>
                <a:sym typeface="Wingdings" pitchFamily="2" charset="2"/>
              </a:rPr>
              <a:t></a:t>
            </a:r>
            <a:r>
              <a:rPr lang="en-US" sz="2400" b="1" dirty="0" smtClean="0">
                <a:solidFill>
                  <a:srgbClr val="FF0000"/>
                </a:solidFill>
                <a:cs typeface="Times New Roman" pitchFamily="18" charset="0"/>
              </a:rPr>
              <a:t> </a:t>
            </a:r>
            <a:r>
              <a:rPr lang="en-US" sz="2400" b="1" dirty="0" smtClean="0">
                <a:solidFill>
                  <a:srgbClr val="000080"/>
                </a:solidFill>
                <a:cs typeface="Times New Roman" pitchFamily="18" charset="0"/>
              </a:rPr>
              <a:t> </a:t>
            </a:r>
            <a:r>
              <a:rPr lang="en-US" sz="2400" b="1" dirty="0" err="1" smtClean="0">
                <a:solidFill>
                  <a:srgbClr val="000080"/>
                </a:solidFill>
                <a:cs typeface="Times New Roman" pitchFamily="18" charset="0"/>
              </a:rPr>
              <a:t>oxaloacetate</a:t>
            </a:r>
            <a:r>
              <a:rPr lang="en-US" sz="2400" b="1" dirty="0" smtClean="0">
                <a:solidFill>
                  <a:srgbClr val="000080"/>
                </a:solidFill>
                <a:cs typeface="Times New Roman" pitchFamily="18" charset="0"/>
              </a:rPr>
              <a:t> + ADP + P</a:t>
            </a:r>
            <a:r>
              <a:rPr lang="en-US" sz="2400" b="1" baseline="-30000" dirty="0" smtClean="0">
                <a:solidFill>
                  <a:srgbClr val="000080"/>
                </a:solidFill>
                <a:cs typeface="Times New Roman" pitchFamily="18" charset="0"/>
              </a:rPr>
              <a:t>i</a:t>
            </a:r>
            <a:endParaRPr lang="en-US" sz="2000" b="1" dirty="0" smtClean="0">
              <a:solidFill>
                <a:srgbClr val="000080"/>
              </a:solidFill>
              <a:cs typeface="Times New Roman" pitchFamily="18" charset="0"/>
            </a:endParaRPr>
          </a:p>
          <a:p>
            <a:pPr algn="ctr"/>
            <a:r>
              <a:rPr lang="en-US" sz="2000" b="1" dirty="0" smtClean="0">
                <a:solidFill>
                  <a:srgbClr val="000080"/>
                </a:solidFill>
                <a:cs typeface="Times New Roman" pitchFamily="18" charset="0"/>
              </a:rPr>
              <a:t>Note: The reaction requires Biotin as a carrier of activated HCO</a:t>
            </a:r>
            <a:r>
              <a:rPr lang="en-US" sz="2000" b="1" baseline="-25000" dirty="0" smtClean="0">
                <a:solidFill>
                  <a:srgbClr val="000080"/>
                </a:solidFill>
                <a:cs typeface="Times New Roman" pitchFamily="18" charset="0"/>
              </a:rPr>
              <a:t>3</a:t>
            </a:r>
            <a:r>
              <a:rPr lang="en-US" sz="2000" b="1" baseline="30000" dirty="0" smtClean="0">
                <a:solidFill>
                  <a:srgbClr val="000080"/>
                </a:solidFill>
                <a:cs typeface="Times New Roman" pitchFamily="18" charset="0"/>
              </a:rPr>
              <a:t>-</a:t>
            </a:r>
            <a:r>
              <a:rPr lang="en-US" sz="2000" b="1" dirty="0" smtClean="0">
                <a:solidFill>
                  <a:srgbClr val="000080"/>
                </a:solidFill>
                <a:cs typeface="Times New Roman" pitchFamily="18" charset="0"/>
              </a:rPr>
              <a:t> </a:t>
            </a:r>
            <a:endParaRPr lang="en-GB" sz="2000" dirty="0"/>
          </a:p>
        </p:txBody>
      </p:sp>
      <p:sp>
        <p:nvSpPr>
          <p:cNvPr id="9" name="TextBox 8"/>
          <p:cNvSpPr txBox="1"/>
          <p:nvPr/>
        </p:nvSpPr>
        <p:spPr>
          <a:xfrm>
            <a:off x="71406" y="4929198"/>
            <a:ext cx="8929750" cy="1214446"/>
          </a:xfrm>
          <a:prstGeom prst="rect">
            <a:avLst/>
          </a:prstGeom>
          <a:noFill/>
        </p:spPr>
        <p:txBody>
          <a:bodyPr wrap="square" rtlCol="0">
            <a:spAutoFit/>
          </a:bodyPr>
          <a:lstStyle/>
          <a:p>
            <a:pPr>
              <a:buFont typeface="Wingdings" pitchFamily="2" charset="2"/>
              <a:buChar char="v"/>
            </a:pPr>
            <a:r>
              <a:rPr lang="en-GB" sz="2400" dirty="0" err="1" smtClean="0"/>
              <a:t>Oxaloacetate</a:t>
            </a:r>
            <a:r>
              <a:rPr lang="en-GB" sz="2400" dirty="0" smtClean="0"/>
              <a:t> formed is transported back to the </a:t>
            </a:r>
            <a:r>
              <a:rPr lang="en-GB" sz="2400" dirty="0" err="1" smtClean="0"/>
              <a:t>cytosol</a:t>
            </a:r>
            <a:r>
              <a:rPr lang="en-GB" sz="2400" dirty="0" smtClean="0"/>
              <a:t> where it is converted </a:t>
            </a:r>
            <a:r>
              <a:rPr lang="en-GB" sz="2400" b="1" dirty="0" smtClean="0"/>
              <a:t>PEP</a:t>
            </a:r>
            <a:r>
              <a:rPr lang="en-GB" sz="2400" dirty="0" smtClean="0"/>
              <a:t> by </a:t>
            </a:r>
            <a:r>
              <a:rPr lang="en-GB" sz="2400" b="1" dirty="0" err="1" smtClean="0"/>
              <a:t>phosphoenolpyruvate</a:t>
            </a:r>
            <a:r>
              <a:rPr lang="en-GB" sz="2400" b="1" dirty="0" smtClean="0"/>
              <a:t> </a:t>
            </a:r>
            <a:r>
              <a:rPr lang="en-GB" sz="2400" b="1" dirty="0" err="1" smtClean="0"/>
              <a:t>carboxykinase</a:t>
            </a:r>
            <a:r>
              <a:rPr lang="en-GB" sz="2400" b="1" dirty="0" smtClean="0"/>
              <a:t> </a:t>
            </a:r>
          </a:p>
          <a:p>
            <a:pPr algn="ctr"/>
            <a:r>
              <a:rPr lang="en-US" sz="2400" b="1" dirty="0" err="1" smtClean="0">
                <a:solidFill>
                  <a:srgbClr val="000080"/>
                </a:solidFill>
                <a:cs typeface="Times New Roman" pitchFamily="18" charset="0"/>
              </a:rPr>
              <a:t>oxaloacetate</a:t>
            </a:r>
            <a:r>
              <a:rPr lang="en-US" sz="2400" b="1" dirty="0" smtClean="0">
                <a:solidFill>
                  <a:srgbClr val="000080"/>
                </a:solidFill>
                <a:cs typeface="Times New Roman" pitchFamily="18" charset="0"/>
              </a:rPr>
              <a:t> + GTP  </a:t>
            </a:r>
            <a:r>
              <a:rPr lang="en-US" sz="2400" b="1" dirty="0" smtClean="0">
                <a:solidFill>
                  <a:srgbClr val="FF0000"/>
                </a:solidFill>
                <a:cs typeface="Times New Roman" pitchFamily="18" charset="0"/>
                <a:sym typeface="Wingdings" pitchFamily="2" charset="2"/>
              </a:rPr>
              <a:t></a:t>
            </a:r>
            <a:r>
              <a:rPr lang="en-US" sz="2400" b="1" dirty="0" smtClean="0">
                <a:solidFill>
                  <a:srgbClr val="FF0000"/>
                </a:solidFill>
                <a:cs typeface="Times New Roman" pitchFamily="18" charset="0"/>
              </a:rPr>
              <a:t> </a:t>
            </a:r>
            <a:r>
              <a:rPr lang="en-US" sz="2400" b="1" dirty="0" smtClean="0">
                <a:solidFill>
                  <a:srgbClr val="000080"/>
                </a:solidFill>
                <a:cs typeface="Times New Roman" pitchFamily="18" charset="0"/>
              </a:rPr>
              <a:t> PEP + GDP + CO</a:t>
            </a:r>
            <a:r>
              <a:rPr lang="en-US" sz="2400" b="1" baseline="-30000" dirty="0" smtClean="0">
                <a:solidFill>
                  <a:srgbClr val="000080"/>
                </a:solidFill>
                <a:cs typeface="Times New Roman" pitchFamily="18" charset="0"/>
              </a:rPr>
              <a:t>2</a:t>
            </a:r>
            <a:endParaRPr lang="en-GB" sz="2400" b="1"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214282" y="1136769"/>
            <a:ext cx="3714776" cy="5078313"/>
          </a:xfrm>
          <a:prstGeom prst="rect">
            <a:avLst/>
          </a:prstGeom>
          <a:noFill/>
        </p:spPr>
        <p:txBody>
          <a:bodyPr wrap="square" rtlCol="0">
            <a:spAutoFit/>
          </a:bodyPr>
          <a:lstStyle/>
          <a:p>
            <a:pPr algn="just">
              <a:buFont typeface="Wingdings" pitchFamily="2" charset="2"/>
              <a:buChar char="v"/>
            </a:pPr>
            <a:r>
              <a:rPr lang="en-GB" dirty="0" smtClean="0"/>
              <a:t>Pyruvate is transported to the mitochondria where it is converted to </a:t>
            </a:r>
            <a:r>
              <a:rPr lang="en-GB" dirty="0" err="1" smtClean="0"/>
              <a:t>Oxaloacetate</a:t>
            </a:r>
            <a:r>
              <a:rPr lang="en-GB" dirty="0" smtClean="0"/>
              <a:t>. </a:t>
            </a:r>
          </a:p>
          <a:p>
            <a:pPr algn="just">
              <a:buFont typeface="Wingdings" pitchFamily="2" charset="2"/>
              <a:buChar char="v"/>
            </a:pPr>
            <a:r>
              <a:rPr lang="en-GB" dirty="0" err="1" smtClean="0"/>
              <a:t>Oxaloacetae</a:t>
            </a:r>
            <a:r>
              <a:rPr lang="en-GB" dirty="0" smtClean="0"/>
              <a:t> formed is reduced to </a:t>
            </a:r>
            <a:r>
              <a:rPr lang="en-GB" dirty="0" err="1" smtClean="0"/>
              <a:t>malate</a:t>
            </a:r>
            <a:r>
              <a:rPr lang="en-GB" dirty="0" smtClean="0"/>
              <a:t> by mitochondrial </a:t>
            </a:r>
            <a:r>
              <a:rPr lang="en-GB" dirty="0" err="1" smtClean="0"/>
              <a:t>malate</a:t>
            </a:r>
            <a:r>
              <a:rPr lang="en-GB" dirty="0" smtClean="0"/>
              <a:t> DH at the expense of NADH.</a:t>
            </a:r>
          </a:p>
          <a:p>
            <a:pPr algn="just">
              <a:buFont typeface="Wingdings" pitchFamily="2" charset="2"/>
              <a:buChar char="v"/>
            </a:pPr>
            <a:r>
              <a:rPr lang="en-GB" dirty="0" err="1" smtClean="0"/>
              <a:t>Malate</a:t>
            </a:r>
            <a:r>
              <a:rPr lang="en-GB" dirty="0" smtClean="0"/>
              <a:t> is transported back to the </a:t>
            </a:r>
            <a:r>
              <a:rPr lang="en-GB" dirty="0" err="1" smtClean="0"/>
              <a:t>cytosol</a:t>
            </a:r>
            <a:r>
              <a:rPr lang="en-GB" dirty="0" smtClean="0"/>
              <a:t> through a specific </a:t>
            </a:r>
            <a:r>
              <a:rPr lang="en-GB" dirty="0" err="1" smtClean="0"/>
              <a:t>transporter</a:t>
            </a:r>
            <a:r>
              <a:rPr lang="en-GB" dirty="0" smtClean="0"/>
              <a:t> where it is </a:t>
            </a:r>
            <a:r>
              <a:rPr lang="en-GB" dirty="0" err="1" smtClean="0"/>
              <a:t>reoxidesed</a:t>
            </a:r>
            <a:r>
              <a:rPr lang="en-GB" dirty="0" smtClean="0"/>
              <a:t> to </a:t>
            </a:r>
            <a:r>
              <a:rPr lang="en-GB" dirty="0" err="1" smtClean="0"/>
              <a:t>oxaloacetate</a:t>
            </a:r>
            <a:r>
              <a:rPr lang="en-GB" dirty="0" smtClean="0"/>
              <a:t> generating </a:t>
            </a:r>
            <a:r>
              <a:rPr lang="en-GB" dirty="0" err="1" smtClean="0"/>
              <a:t>cytosolic</a:t>
            </a:r>
            <a:r>
              <a:rPr lang="en-GB" dirty="0" smtClean="0"/>
              <a:t> NADH.</a:t>
            </a:r>
          </a:p>
          <a:p>
            <a:pPr algn="just">
              <a:buFont typeface="Wingdings" pitchFamily="2" charset="2"/>
              <a:buChar char="v"/>
            </a:pPr>
            <a:r>
              <a:rPr lang="en-GB" dirty="0" err="1" smtClean="0"/>
              <a:t>Oxaloacetate</a:t>
            </a:r>
            <a:r>
              <a:rPr lang="en-GB" dirty="0" smtClean="0"/>
              <a:t> is then converted to PEP by a</a:t>
            </a:r>
            <a:r>
              <a:rPr lang="en-GB" b="1" dirty="0" smtClean="0"/>
              <a:t> </a:t>
            </a:r>
            <a:r>
              <a:rPr lang="en-GB" b="1" dirty="0" err="1" smtClean="0"/>
              <a:t>cytosolic</a:t>
            </a:r>
            <a:r>
              <a:rPr lang="en-GB" b="1" dirty="0" smtClean="0"/>
              <a:t> PEP </a:t>
            </a:r>
            <a:r>
              <a:rPr lang="en-GB" b="1" dirty="0" err="1" smtClean="0"/>
              <a:t>carboxykinase</a:t>
            </a:r>
            <a:r>
              <a:rPr lang="en-GB" dirty="0" smtClean="0"/>
              <a:t>.</a:t>
            </a:r>
          </a:p>
          <a:p>
            <a:pPr algn="just">
              <a:buFont typeface="Wingdings" pitchFamily="2" charset="2"/>
              <a:buChar char="v"/>
            </a:pPr>
            <a:endParaRPr lang="en-GB" dirty="0" smtClean="0"/>
          </a:p>
          <a:p>
            <a:pPr algn="ctr"/>
            <a:r>
              <a:rPr lang="en-GB" b="1" dirty="0" smtClean="0"/>
              <a:t>OR</a:t>
            </a:r>
          </a:p>
          <a:p>
            <a:pPr algn="just"/>
            <a:endParaRPr lang="en-GB" dirty="0" smtClean="0"/>
          </a:p>
          <a:p>
            <a:pPr algn="just">
              <a:buFont typeface="Wingdings" pitchFamily="2" charset="2"/>
              <a:buChar char="v"/>
            </a:pPr>
            <a:r>
              <a:rPr lang="en-GB" dirty="0" err="1" smtClean="0"/>
              <a:t>Oxaloacetate</a:t>
            </a:r>
            <a:r>
              <a:rPr lang="en-GB" dirty="0" smtClean="0"/>
              <a:t>, can directly be converted to PEP by a mitochondrial </a:t>
            </a:r>
            <a:r>
              <a:rPr lang="en-GB" b="1" dirty="0" err="1" smtClean="0"/>
              <a:t>isozyme</a:t>
            </a:r>
            <a:r>
              <a:rPr lang="en-GB" b="1" dirty="0" smtClean="0"/>
              <a:t> of PEP </a:t>
            </a:r>
            <a:r>
              <a:rPr lang="en-GB" b="1" dirty="0" err="1" smtClean="0"/>
              <a:t>carboxykinase</a:t>
            </a:r>
            <a:r>
              <a:rPr lang="en-GB" dirty="0" smtClean="0"/>
              <a:t>.</a:t>
            </a:r>
            <a:endParaRPr lang="en-GB" dirty="0"/>
          </a:p>
        </p:txBody>
      </p:sp>
      <p:pic>
        <p:nvPicPr>
          <p:cNvPr id="4098" name="Picture 2"/>
          <p:cNvPicPr>
            <a:picLocks noChangeAspect="1" noChangeArrowheads="1"/>
          </p:cNvPicPr>
          <p:nvPr/>
        </p:nvPicPr>
        <p:blipFill>
          <a:blip r:embed="rId2">
            <a:lum bright="-20000" contrast="40000"/>
          </a:blip>
          <a:srcRect/>
          <a:stretch>
            <a:fillRect/>
          </a:stretch>
        </p:blipFill>
        <p:spPr bwMode="auto">
          <a:xfrm>
            <a:off x="3857620" y="214314"/>
            <a:ext cx="5219700" cy="6429396"/>
          </a:xfrm>
          <a:prstGeom prst="rect">
            <a:avLst/>
          </a:prstGeom>
          <a:noFill/>
          <a:ln w="9525">
            <a:noFill/>
            <a:miter lim="800000"/>
            <a:headEnd/>
            <a:tailEnd/>
          </a:ln>
          <a:effectLst/>
        </p:spPr>
      </p:pic>
      <p:sp>
        <p:nvSpPr>
          <p:cNvPr id="6" name="TextBox 5"/>
          <p:cNvSpPr txBox="1"/>
          <p:nvPr/>
        </p:nvSpPr>
        <p:spPr>
          <a:xfrm>
            <a:off x="214282" y="210901"/>
            <a:ext cx="3357586" cy="830997"/>
          </a:xfrm>
          <a:prstGeom prst="rect">
            <a:avLst/>
          </a:prstGeom>
          <a:noFill/>
        </p:spPr>
        <p:txBody>
          <a:bodyPr wrap="square" rtlCol="0">
            <a:spAutoFit/>
          </a:bodyPr>
          <a:lstStyle/>
          <a:p>
            <a:r>
              <a:rPr lang="en-GB" sz="2400" b="1" dirty="0" smtClean="0"/>
              <a:t>Alternative paths from </a:t>
            </a:r>
            <a:r>
              <a:rPr lang="en-GB" sz="2400" b="1" dirty="0" err="1" smtClean="0"/>
              <a:t>pyruvate</a:t>
            </a:r>
            <a:r>
              <a:rPr lang="en-GB" sz="2400" b="1" dirty="0" smtClean="0"/>
              <a:t> to PEP</a:t>
            </a:r>
            <a:endParaRPr lang="en-GB" sz="2400" b="1"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9"/>
          <p:cNvSpPr>
            <a:spLocks noChangeArrowheads="1"/>
          </p:cNvSpPr>
          <p:nvPr/>
        </p:nvSpPr>
        <p:spPr bwMode="auto">
          <a:xfrm>
            <a:off x="241285" y="285728"/>
            <a:ext cx="2544765" cy="1643074"/>
          </a:xfrm>
          <a:prstGeom prst="rect">
            <a:avLst/>
          </a:prstGeom>
          <a:noFill/>
          <a:ln w="9525">
            <a:noFill/>
            <a:miter lim="800000"/>
            <a:headEnd/>
            <a:tailEnd/>
          </a:ln>
        </p:spPr>
        <p:txBody>
          <a:bodyPr/>
          <a:lstStyle/>
          <a:p>
            <a:pPr algn="just">
              <a:lnSpc>
                <a:spcPct val="95000"/>
              </a:lnSpc>
              <a:spcAft>
                <a:spcPct val="40000"/>
              </a:spcAft>
              <a:tabLst>
                <a:tab pos="685800" algn="l"/>
              </a:tabLst>
            </a:pPr>
            <a:r>
              <a:rPr lang="en-US" sz="2800" b="1" dirty="0">
                <a:cs typeface="Times New Roman" pitchFamily="18" charset="0"/>
              </a:rPr>
              <a:t>Pyruvate </a:t>
            </a:r>
            <a:r>
              <a:rPr lang="en-US" sz="2800" b="1" dirty="0" err="1">
                <a:cs typeface="Times New Roman" pitchFamily="18" charset="0"/>
              </a:rPr>
              <a:t>Carboxylase</a:t>
            </a:r>
            <a:r>
              <a:rPr lang="en-US" sz="2800" dirty="0">
                <a:cs typeface="Times New Roman" pitchFamily="18" charset="0"/>
              </a:rPr>
              <a:t> </a:t>
            </a:r>
            <a:r>
              <a:rPr lang="en-US" sz="2400" dirty="0">
                <a:cs typeface="Times New Roman" pitchFamily="18" charset="0"/>
              </a:rPr>
              <a:t>uses </a:t>
            </a:r>
            <a:r>
              <a:rPr lang="en-US" sz="2400" b="1" dirty="0" smtClean="0">
                <a:solidFill>
                  <a:srgbClr val="000099"/>
                </a:solidFill>
                <a:cs typeface="Times New Roman" pitchFamily="18" charset="0"/>
              </a:rPr>
              <a:t>biotin </a:t>
            </a:r>
            <a:r>
              <a:rPr lang="en-US" sz="2400" dirty="0" smtClean="0">
                <a:cs typeface="Times New Roman" pitchFamily="18" charset="0"/>
              </a:rPr>
              <a:t>as prosthetic group</a:t>
            </a:r>
            <a:r>
              <a:rPr lang="en-US" sz="2400" dirty="0">
                <a:cs typeface="Times New Roman" pitchFamily="18" charset="0"/>
              </a:rPr>
              <a:t>. </a:t>
            </a:r>
          </a:p>
        </p:txBody>
      </p:sp>
      <p:graphicFrame>
        <p:nvGraphicFramePr>
          <p:cNvPr id="5122" name="Object 12"/>
          <p:cNvGraphicFramePr>
            <a:graphicFrameLocks noChangeAspect="1"/>
          </p:cNvGraphicFramePr>
          <p:nvPr/>
        </p:nvGraphicFramePr>
        <p:xfrm>
          <a:off x="2817812" y="1"/>
          <a:ext cx="6326188" cy="3571876"/>
        </p:xfrm>
        <a:graphic>
          <a:graphicData uri="http://schemas.openxmlformats.org/presentationml/2006/ole">
            <mc:AlternateContent xmlns:mc="http://schemas.openxmlformats.org/markup-compatibility/2006">
              <mc:Choice xmlns:v="urn:schemas-microsoft-com:vml" Requires="v">
                <p:oleObj spid="_x0000_s5155" r:id="rId3" imgW="3144012" imgH="1886712" progId="Word.Picture.8">
                  <p:embed/>
                </p:oleObj>
              </mc:Choice>
              <mc:Fallback>
                <p:oleObj r:id="rId3" imgW="3144012" imgH="1886712" progId="Word.Picture.8">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7812" y="1"/>
                        <a:ext cx="6326188" cy="35718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3" name="Object 1041"/>
          <p:cNvGraphicFramePr>
            <a:graphicFrameLocks noChangeAspect="1"/>
          </p:cNvGraphicFramePr>
          <p:nvPr/>
        </p:nvGraphicFramePr>
        <p:xfrm>
          <a:off x="214282" y="2071678"/>
          <a:ext cx="2357454" cy="4500594"/>
        </p:xfrm>
        <a:graphic>
          <a:graphicData uri="http://schemas.openxmlformats.org/presentationml/2006/ole">
            <mc:AlternateContent xmlns:mc="http://schemas.openxmlformats.org/markup-compatibility/2006">
              <mc:Choice xmlns:v="urn:schemas-microsoft-com:vml" Requires="v">
                <p:oleObj spid="_x0000_s5156" name="Picture" r:id="rId5" imgW="1141059" imgH="1825705" progId="Word.Picture.8">
                  <p:embed/>
                </p:oleObj>
              </mc:Choice>
              <mc:Fallback>
                <p:oleObj name="Picture" r:id="rId5" imgW="1141059" imgH="1825705" progId="Word.Picture.8">
                  <p:embed/>
                  <p:pic>
                    <p:nvPicPr>
                      <p:cNvPr id="0" name="Object 104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4282" y="2071678"/>
                        <a:ext cx="2357454" cy="45005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3"/>
          <p:cNvSpPr txBox="1">
            <a:spLocks noChangeArrowheads="1"/>
          </p:cNvSpPr>
          <p:nvPr/>
        </p:nvSpPr>
        <p:spPr>
          <a:xfrm>
            <a:off x="2633694" y="3619524"/>
            <a:ext cx="6438900" cy="2952748"/>
          </a:xfrm>
          <a:prstGeom prst="rect">
            <a:avLst/>
          </a:prstGeom>
        </p:spPr>
        <p:txBody>
          <a:bodyPr/>
          <a:lstStyle/>
          <a:p>
            <a:pPr marL="0" marR="0" lvl="0" indent="0" algn="l" defTabSz="914400" rtl="0" eaLnBrk="1" fontAlgn="auto" latinLnBrk="0" hangingPunct="1">
              <a:lnSpc>
                <a:spcPct val="95000"/>
              </a:lnSpc>
              <a:spcBef>
                <a:spcPct val="0"/>
              </a:spcBef>
              <a:spcAft>
                <a:spcPct val="40000"/>
              </a:spcAft>
              <a:buClrTx/>
              <a:buSzTx/>
              <a:buFontTx/>
              <a:buNone/>
              <a:tabLst>
                <a:tab pos="685800" algn="l"/>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Biotin has a 5-C side chain whose terminal carboxyl is in amide linkage to the </a:t>
            </a:r>
            <a:r>
              <a:rPr kumimoji="0" lang="en-US" sz="2800" b="0" i="0" u="none" strike="noStrike" kern="1200" cap="none" spc="0" normalizeH="0" baseline="0" noProof="0" dirty="0" smtClean="0">
                <a:ln>
                  <a:noFill/>
                </a:ln>
                <a:solidFill>
                  <a:schemeClr val="tx1"/>
                </a:solidFill>
                <a:effectLst/>
                <a:uLnTx/>
                <a:uFillTx/>
                <a:latin typeface="Symbol" pitchFamily="18" charset="2"/>
                <a:ea typeface="+mn-ea"/>
                <a:cs typeface="Times New Roman" pitchFamily="18" charset="0"/>
              </a:rPr>
              <a:t>e</a:t>
            </a: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-amino group of an enzyme </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lysine</a:t>
            </a: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a:t>
            </a:r>
          </a:p>
          <a:p>
            <a:pPr marL="0" marR="0" lvl="0" indent="0" algn="l" defTabSz="914400" rtl="0" eaLnBrk="1" fontAlgn="auto" latinLnBrk="0" hangingPunct="1">
              <a:lnSpc>
                <a:spcPct val="95000"/>
              </a:lnSpc>
              <a:spcBef>
                <a:spcPct val="0"/>
              </a:spcBef>
              <a:spcAft>
                <a:spcPct val="40000"/>
              </a:spcAft>
              <a:buClrTx/>
              <a:buSzTx/>
              <a:buFontTx/>
              <a:buNone/>
              <a:tabLst>
                <a:tab pos="685800" algn="l"/>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The biotin &amp; lysine side chains form a </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long swinging arm</a:t>
            </a: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 that allows the biotin ring to swing back &amp; forth between 2 active sites. </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5239369" y="220784"/>
            <a:ext cx="3404597" cy="707886"/>
          </a:xfrm>
          <a:prstGeom prst="rect">
            <a:avLst/>
          </a:prstGeom>
          <a:noFill/>
        </p:spPr>
        <p:txBody>
          <a:bodyPr wrap="square" rtlCol="0">
            <a:spAutoFit/>
          </a:bodyPr>
          <a:lstStyle/>
          <a:p>
            <a:r>
              <a:rPr lang="en-GB" sz="2000" b="1" dirty="0" smtClean="0"/>
              <a:t>Role of Biotin in the </a:t>
            </a:r>
            <a:r>
              <a:rPr lang="en-GB" sz="2000" b="1" dirty="0" err="1" smtClean="0"/>
              <a:t>pyruvate</a:t>
            </a:r>
            <a:r>
              <a:rPr lang="en-GB" sz="2000" b="1" dirty="0" smtClean="0"/>
              <a:t> </a:t>
            </a:r>
            <a:r>
              <a:rPr lang="en-GB" sz="2000" b="1" dirty="0" err="1" smtClean="0"/>
              <a:t>carboxylase</a:t>
            </a:r>
            <a:r>
              <a:rPr lang="en-GB" sz="2000" b="1" dirty="0" smtClean="0"/>
              <a:t> reaction</a:t>
            </a:r>
            <a:endParaRPr lang="en-GB" sz="2000" b="1" dirty="0"/>
          </a:p>
        </p:txBody>
      </p:sp>
      <p:pic>
        <p:nvPicPr>
          <p:cNvPr id="6146" name="Picture 2"/>
          <p:cNvPicPr>
            <a:picLocks noChangeAspect="1" noChangeArrowheads="1"/>
          </p:cNvPicPr>
          <p:nvPr/>
        </p:nvPicPr>
        <p:blipFill>
          <a:blip r:embed="rId2">
            <a:lum bright="-20000" contrast="40000"/>
          </a:blip>
          <a:srcRect/>
          <a:stretch>
            <a:fillRect/>
          </a:stretch>
        </p:blipFill>
        <p:spPr bwMode="auto">
          <a:xfrm>
            <a:off x="214282" y="142876"/>
            <a:ext cx="4791075" cy="6572272"/>
          </a:xfrm>
          <a:prstGeom prst="rect">
            <a:avLst/>
          </a:prstGeom>
          <a:noFill/>
          <a:ln w="9525">
            <a:noFill/>
            <a:miter lim="800000"/>
            <a:headEnd/>
            <a:tailEnd/>
          </a:ln>
          <a:effectLst/>
        </p:spPr>
      </p:pic>
      <p:pic>
        <p:nvPicPr>
          <p:cNvPr id="6147" name="Picture 3"/>
          <p:cNvPicPr>
            <a:picLocks noChangeAspect="1" noChangeArrowheads="1"/>
          </p:cNvPicPr>
          <p:nvPr/>
        </p:nvPicPr>
        <p:blipFill>
          <a:blip r:embed="rId3">
            <a:lum bright="-20000" contrast="40000"/>
          </a:blip>
          <a:srcRect/>
          <a:stretch>
            <a:fillRect/>
          </a:stretch>
        </p:blipFill>
        <p:spPr bwMode="auto">
          <a:xfrm>
            <a:off x="5715008" y="2428868"/>
            <a:ext cx="3286148" cy="4276724"/>
          </a:xfrm>
          <a:prstGeom prst="rect">
            <a:avLst/>
          </a:prstGeom>
          <a:noFill/>
          <a:ln w="9525">
            <a:noFill/>
            <a:miter lim="800000"/>
            <a:headEnd/>
            <a:tailEnd/>
          </a:ln>
          <a:effectLst/>
        </p:spPr>
      </p:pic>
      <p:cxnSp>
        <p:nvCxnSpPr>
          <p:cNvPr id="8" name="Straight Arrow Connector 7"/>
          <p:cNvCxnSpPr/>
          <p:nvPr/>
        </p:nvCxnSpPr>
        <p:spPr>
          <a:xfrm flipV="1">
            <a:off x="3714744" y="4572008"/>
            <a:ext cx="1857388" cy="57150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5286380" y="1000108"/>
            <a:ext cx="3857620" cy="923330"/>
          </a:xfrm>
          <a:prstGeom prst="rect">
            <a:avLst/>
          </a:prstGeom>
          <a:noFill/>
        </p:spPr>
        <p:txBody>
          <a:bodyPr wrap="square" rtlCol="0">
            <a:spAutoFit/>
          </a:bodyPr>
          <a:lstStyle/>
          <a:p>
            <a:r>
              <a:rPr lang="en-GB" dirty="0" smtClean="0"/>
              <a:t>The reaction occurs in two steps at different active sites of </a:t>
            </a:r>
            <a:r>
              <a:rPr lang="en-GB" dirty="0" err="1" smtClean="0"/>
              <a:t>pyruvate</a:t>
            </a:r>
            <a:r>
              <a:rPr lang="en-GB" dirty="0" smtClean="0"/>
              <a:t> </a:t>
            </a:r>
            <a:r>
              <a:rPr lang="en-GB" dirty="0" err="1" smtClean="0"/>
              <a:t>carboxylase</a:t>
            </a:r>
            <a:r>
              <a:rPr lang="en-GB" dirty="0" smtClean="0"/>
              <a:t> enzyme.</a:t>
            </a:r>
            <a:endParaRPr lang="en-GB"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253881" y="181253"/>
            <a:ext cx="8675837" cy="461665"/>
          </a:xfrm>
          <a:prstGeom prst="rect">
            <a:avLst/>
          </a:prstGeom>
          <a:noFill/>
        </p:spPr>
        <p:txBody>
          <a:bodyPr wrap="none" rtlCol="0">
            <a:spAutoFit/>
          </a:bodyPr>
          <a:lstStyle/>
          <a:p>
            <a:r>
              <a:rPr lang="en-GB" sz="2400" b="1" dirty="0" smtClean="0"/>
              <a:t>Second bypass: </a:t>
            </a:r>
            <a:r>
              <a:rPr lang="en-GB" sz="2400" u="sng" dirty="0" smtClean="0"/>
              <a:t>Conversion of F 1,6- </a:t>
            </a:r>
            <a:r>
              <a:rPr lang="en-GB" sz="2400" u="sng" dirty="0" err="1" smtClean="0"/>
              <a:t>Bisphosphate</a:t>
            </a:r>
            <a:r>
              <a:rPr lang="en-GB" sz="2400" u="sng" dirty="0" smtClean="0"/>
              <a:t> to F 6-Phosphate</a:t>
            </a:r>
            <a:r>
              <a:rPr lang="en-GB" dirty="0" smtClean="0"/>
              <a:t>.</a:t>
            </a:r>
            <a:endParaRPr lang="en-GB" dirty="0"/>
          </a:p>
        </p:txBody>
      </p:sp>
      <p:sp>
        <p:nvSpPr>
          <p:cNvPr id="5" name="TextBox 4"/>
          <p:cNvSpPr txBox="1"/>
          <p:nvPr/>
        </p:nvSpPr>
        <p:spPr>
          <a:xfrm>
            <a:off x="142844" y="714356"/>
            <a:ext cx="8715437" cy="1015663"/>
          </a:xfrm>
          <a:prstGeom prst="rect">
            <a:avLst/>
          </a:prstGeom>
          <a:noFill/>
        </p:spPr>
        <p:txBody>
          <a:bodyPr wrap="square" rtlCol="0">
            <a:spAutoFit/>
          </a:bodyPr>
          <a:lstStyle/>
          <a:p>
            <a:pPr>
              <a:buFont typeface="Wingdings" pitchFamily="2" charset="2"/>
              <a:buChar char="v"/>
            </a:pPr>
            <a:r>
              <a:rPr lang="en-GB" sz="2000" dirty="0" smtClean="0"/>
              <a:t>This is catalysed by a different enzyme, Mg</a:t>
            </a:r>
            <a:r>
              <a:rPr lang="en-GB" sz="2000" baseline="30000" dirty="0" smtClean="0"/>
              <a:t>2+</a:t>
            </a:r>
            <a:r>
              <a:rPr lang="en-GB" sz="2000" dirty="0" smtClean="0"/>
              <a:t>- dependent fructose 1,6-bisphosphatase (FBPase-1) which promotes the irreversible hydrolysis of C-1 phosphate.</a:t>
            </a:r>
            <a:endParaRPr lang="en-GB" sz="2000" dirty="0"/>
          </a:p>
        </p:txBody>
      </p:sp>
      <p:graphicFrame>
        <p:nvGraphicFramePr>
          <p:cNvPr id="7170" name="Object 1036"/>
          <p:cNvGraphicFramePr>
            <a:graphicFrameLocks noChangeAspect="1"/>
          </p:cNvGraphicFramePr>
          <p:nvPr/>
        </p:nvGraphicFramePr>
        <p:xfrm>
          <a:off x="428596" y="1785926"/>
          <a:ext cx="8286808" cy="2571768"/>
        </p:xfrm>
        <a:graphic>
          <a:graphicData uri="http://schemas.openxmlformats.org/presentationml/2006/ole">
            <mc:AlternateContent xmlns:mc="http://schemas.openxmlformats.org/markup-compatibility/2006">
              <mc:Choice xmlns:v="urn:schemas-microsoft-com:vml" Requires="v">
                <p:oleObj spid="_x0000_s7187" name="Picture" r:id="rId3" imgW="3770188" imgH="1484949" progId="Word.Picture.8">
                  <p:embed/>
                </p:oleObj>
              </mc:Choice>
              <mc:Fallback>
                <p:oleObj name="Picture" r:id="rId3" imgW="3770188" imgH="1484949" progId="Word.Picture.8">
                  <p:embed/>
                  <p:pic>
                    <p:nvPicPr>
                      <p:cNvPr id="0" name="Object 103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596" y="1785926"/>
                        <a:ext cx="8286808" cy="25717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3"/>
          <p:cNvSpPr txBox="1">
            <a:spLocks noChangeArrowheads="1"/>
          </p:cNvSpPr>
          <p:nvPr/>
        </p:nvSpPr>
        <p:spPr>
          <a:xfrm>
            <a:off x="142844" y="4500570"/>
            <a:ext cx="8896350" cy="1766880"/>
          </a:xfrm>
          <a:prstGeom prst="rect">
            <a:avLst/>
          </a:prstGeom>
        </p:spPr>
        <p:txBody>
          <a:bodyPr/>
          <a:lstStyle/>
          <a:p>
            <a:pPr marL="0" marR="0" lvl="0" indent="0" algn="l" defTabSz="914400" rtl="0" eaLnBrk="1" fontAlgn="auto" latinLnBrk="0" hangingPunct="1">
              <a:lnSpc>
                <a:spcPct val="100000"/>
              </a:lnSpc>
              <a:spcBef>
                <a:spcPct val="0"/>
              </a:spcBef>
              <a:spcAft>
                <a:spcPct val="10000"/>
              </a:spcAft>
              <a:buClr>
                <a:schemeClr val="hlink"/>
              </a:buClr>
              <a:buSzTx/>
              <a:buFont typeface="Wingdings" pitchFamily="2" charset="2"/>
              <a:buNone/>
              <a:tabLst>
                <a:tab pos="685800" algn="l"/>
              </a:tabLst>
              <a:defRPr/>
            </a:pPr>
            <a:r>
              <a:rPr kumimoji="0" lang="en-US" sz="2400" b="1" i="0" u="none" strike="noStrike" kern="1200" cap="none" spc="0" normalizeH="0" baseline="0" noProof="0" dirty="0" err="1" smtClean="0">
                <a:ln>
                  <a:noFill/>
                </a:ln>
                <a:solidFill>
                  <a:schemeClr val="tx1"/>
                </a:solidFill>
                <a:effectLst/>
                <a:uLnTx/>
                <a:uFillTx/>
                <a:latin typeface="+mn-lt"/>
                <a:ea typeface="+mn-ea"/>
                <a:cs typeface="Times New Roman" pitchFamily="18" charset="0"/>
              </a:rPr>
              <a:t>Phosphofructokinase</a:t>
            </a:r>
            <a:r>
              <a:rPr kumimoji="0" lang="en-US" sz="2400" b="0" i="0" u="none" strike="noStrike" kern="1200" cap="none" spc="0" normalizeH="0" baseline="0" noProof="0" dirty="0" smtClean="0">
                <a:ln>
                  <a:noFill/>
                </a:ln>
                <a:solidFill>
                  <a:schemeClr val="tx1"/>
                </a:solidFill>
                <a:effectLst/>
                <a:uLnTx/>
                <a:uFillTx/>
                <a:latin typeface="+mn-lt"/>
                <a:ea typeface="+mn-ea"/>
                <a:cs typeface="Times New Roman" pitchFamily="18" charset="0"/>
              </a:rPr>
              <a:t> (Glycolysis) catalyzes:  </a:t>
            </a:r>
          </a:p>
          <a:p>
            <a:pPr marL="0" marR="0" lvl="0" indent="0" algn="l" defTabSz="914400" rtl="0" eaLnBrk="1" fontAlgn="auto" latinLnBrk="0" hangingPunct="1">
              <a:lnSpc>
                <a:spcPct val="100000"/>
              </a:lnSpc>
              <a:spcBef>
                <a:spcPct val="0"/>
              </a:spcBef>
              <a:spcAft>
                <a:spcPct val="40000"/>
              </a:spcAft>
              <a:buClr>
                <a:schemeClr val="hlink"/>
              </a:buClr>
              <a:buSzTx/>
              <a:buFont typeface="Wingdings" pitchFamily="2" charset="2"/>
              <a:buNone/>
              <a:tabLst>
                <a:tab pos="685800" algn="l"/>
              </a:tabLst>
              <a:defRPr/>
            </a:pPr>
            <a:r>
              <a:rPr kumimoji="0" lang="en-US" sz="2400" b="1" i="0" u="none" strike="noStrike" kern="1200" cap="none" spc="0" normalizeH="0" baseline="0" noProof="0" dirty="0" smtClean="0">
                <a:ln>
                  <a:noFill/>
                </a:ln>
                <a:solidFill>
                  <a:srgbClr val="000080"/>
                </a:solidFill>
                <a:effectLst/>
                <a:uLnTx/>
                <a:uFillTx/>
                <a:latin typeface="+mn-lt"/>
                <a:ea typeface="+mn-ea"/>
                <a:cs typeface="Times New Roman" pitchFamily="18" charset="0"/>
              </a:rPr>
              <a:t>	fructose-6-P + ATP  </a:t>
            </a:r>
            <a:r>
              <a:rPr kumimoji="0" lang="en-US" sz="2400" b="1" i="0" u="none" strike="noStrike" kern="1200" cap="none" spc="0" normalizeH="0" baseline="0" noProof="0" dirty="0" smtClean="0">
                <a:ln>
                  <a:noFill/>
                </a:ln>
                <a:solidFill>
                  <a:srgbClr val="FF0000"/>
                </a:solidFill>
                <a:effectLst/>
                <a:uLnTx/>
                <a:uFillTx/>
                <a:latin typeface="+mn-lt"/>
                <a:ea typeface="+mn-ea"/>
                <a:cs typeface="Times New Roman" pitchFamily="18" charset="0"/>
                <a:sym typeface="Wingdings" pitchFamily="2" charset="2"/>
              </a:rPr>
              <a:t></a:t>
            </a:r>
            <a:r>
              <a:rPr kumimoji="0" lang="en-US" sz="2400" b="1" i="0" u="none" strike="noStrike" kern="1200" cap="none" spc="0" normalizeH="0" baseline="0" noProof="0" dirty="0" smtClean="0">
                <a:ln>
                  <a:noFill/>
                </a:ln>
                <a:solidFill>
                  <a:srgbClr val="FF0000"/>
                </a:solidFill>
                <a:effectLst/>
                <a:uLnTx/>
                <a:uFillTx/>
                <a:latin typeface="+mn-lt"/>
                <a:ea typeface="+mn-ea"/>
                <a:cs typeface="Times New Roman" pitchFamily="18" charset="0"/>
              </a:rPr>
              <a:t> </a:t>
            </a:r>
            <a:r>
              <a:rPr kumimoji="0" lang="en-US" sz="2400" b="1" i="0" u="none" strike="noStrike" kern="1200" cap="none" spc="0" normalizeH="0" baseline="0" noProof="0" dirty="0" smtClean="0">
                <a:ln>
                  <a:noFill/>
                </a:ln>
                <a:solidFill>
                  <a:srgbClr val="000080"/>
                </a:solidFill>
                <a:effectLst/>
                <a:uLnTx/>
                <a:uFillTx/>
                <a:latin typeface="+mn-lt"/>
                <a:ea typeface="+mn-ea"/>
                <a:cs typeface="Times New Roman" pitchFamily="18" charset="0"/>
              </a:rPr>
              <a:t> fructose-1,6-bisP + ADP</a:t>
            </a:r>
            <a:endParaRPr kumimoji="0" lang="en-US" sz="2400" b="0" i="0" u="none" strike="noStrike" kern="1200" cap="none" spc="0" normalizeH="0" baseline="0" noProof="0" dirty="0" smtClean="0">
              <a:ln>
                <a:noFill/>
              </a:ln>
              <a:solidFill>
                <a:schemeClr val="tx1"/>
              </a:solidFill>
              <a:effectLst/>
              <a:uLnTx/>
              <a:uFillTx/>
              <a:latin typeface="+mn-lt"/>
              <a:ea typeface="+mn-ea"/>
              <a:cs typeface="Times New Roman" pitchFamily="18" charset="0"/>
            </a:endParaRPr>
          </a:p>
          <a:p>
            <a:pPr marL="0" marR="0" lvl="0" indent="0" algn="l" defTabSz="914400" rtl="0" eaLnBrk="1" fontAlgn="auto" latinLnBrk="0" hangingPunct="1">
              <a:lnSpc>
                <a:spcPct val="100000"/>
              </a:lnSpc>
              <a:spcBef>
                <a:spcPct val="0"/>
              </a:spcBef>
              <a:spcAft>
                <a:spcPct val="10000"/>
              </a:spcAft>
              <a:buClr>
                <a:srgbClr val="0000FF"/>
              </a:buClr>
              <a:buSzTx/>
              <a:buFont typeface="Wingdings" pitchFamily="2" charset="2"/>
              <a:buNone/>
              <a:tabLst>
                <a:tab pos="685800" algn="l"/>
              </a:tabLst>
              <a:defRPr/>
            </a:pPr>
            <a:r>
              <a:rPr kumimoji="0" lang="en-US" sz="2400" b="1" i="0" u="none" strike="noStrike" kern="1200" cap="none" spc="0" normalizeH="0" baseline="0" noProof="0" dirty="0" smtClean="0">
                <a:ln>
                  <a:noFill/>
                </a:ln>
                <a:solidFill>
                  <a:schemeClr val="tx1"/>
                </a:solidFill>
                <a:effectLst/>
                <a:uLnTx/>
                <a:uFillTx/>
                <a:latin typeface="+mn-lt"/>
                <a:ea typeface="+mn-ea"/>
                <a:cs typeface="Times New Roman" pitchFamily="18" charset="0"/>
              </a:rPr>
              <a:t>Fructose-1,6-bisphosphatase</a:t>
            </a:r>
            <a:r>
              <a:rPr kumimoji="0" lang="en-US" sz="2400" b="0" i="0" u="none" strike="noStrike" kern="1200" cap="none" spc="0" normalizeH="0" baseline="0" noProof="0" dirty="0" smtClean="0">
                <a:ln>
                  <a:noFill/>
                </a:ln>
                <a:solidFill>
                  <a:schemeClr val="tx1"/>
                </a:solidFill>
                <a:effectLst/>
                <a:uLnTx/>
                <a:uFillTx/>
                <a:latin typeface="+mn-lt"/>
                <a:ea typeface="+mn-ea"/>
                <a:cs typeface="Times New Roman" pitchFamily="18" charset="0"/>
              </a:rPr>
              <a:t> (</a:t>
            </a:r>
            <a:r>
              <a:rPr kumimoji="0" lang="en-US" sz="2400" b="0" i="0" u="none" strike="noStrike" kern="1200" cap="none" spc="0" normalizeH="0" baseline="0" noProof="0" dirty="0" err="1" smtClean="0">
                <a:ln>
                  <a:noFill/>
                </a:ln>
                <a:solidFill>
                  <a:schemeClr val="tx1"/>
                </a:solidFill>
                <a:effectLst/>
                <a:uLnTx/>
                <a:uFillTx/>
                <a:latin typeface="+mn-lt"/>
                <a:ea typeface="+mn-ea"/>
                <a:cs typeface="Times New Roman" pitchFamily="18" charset="0"/>
              </a:rPr>
              <a:t>Gluconeogenesis</a:t>
            </a:r>
            <a:r>
              <a:rPr kumimoji="0" lang="en-US" sz="2400" b="0" i="0" u="none" strike="noStrike" kern="1200" cap="none" spc="0" normalizeH="0" baseline="0" noProof="0" dirty="0" smtClean="0">
                <a:ln>
                  <a:noFill/>
                </a:ln>
                <a:solidFill>
                  <a:schemeClr val="tx1"/>
                </a:solidFill>
                <a:effectLst/>
                <a:uLnTx/>
                <a:uFillTx/>
                <a:latin typeface="+mn-lt"/>
                <a:ea typeface="+mn-ea"/>
                <a:cs typeface="Times New Roman" pitchFamily="18" charset="0"/>
              </a:rPr>
              <a:t>) catalyzes:   </a:t>
            </a:r>
          </a:p>
          <a:p>
            <a:pPr marL="0" marR="0" lvl="0" indent="0" algn="just" defTabSz="914400" rtl="0" eaLnBrk="1" fontAlgn="auto" latinLnBrk="0" hangingPunct="1">
              <a:lnSpc>
                <a:spcPct val="100000"/>
              </a:lnSpc>
              <a:spcBef>
                <a:spcPct val="0"/>
              </a:spcBef>
              <a:spcAft>
                <a:spcPct val="5000"/>
              </a:spcAft>
              <a:buClr>
                <a:schemeClr val="hlink"/>
              </a:buClr>
              <a:buSzTx/>
              <a:buFont typeface="Wingdings" pitchFamily="2" charset="2"/>
              <a:buNone/>
              <a:tabLst>
                <a:tab pos="685800" algn="l"/>
              </a:tabLst>
              <a:defRPr/>
            </a:pPr>
            <a:r>
              <a:rPr kumimoji="0" lang="en-US" sz="2400" b="1" i="0" u="none" strike="noStrike" kern="1200" cap="none" spc="0" normalizeH="0" baseline="0" noProof="0" dirty="0" smtClean="0">
                <a:ln>
                  <a:noFill/>
                </a:ln>
                <a:solidFill>
                  <a:srgbClr val="000080"/>
                </a:solidFill>
                <a:effectLst/>
                <a:uLnTx/>
                <a:uFillTx/>
                <a:latin typeface="+mn-lt"/>
                <a:ea typeface="+mn-ea"/>
                <a:cs typeface="Times New Roman" pitchFamily="18" charset="0"/>
              </a:rPr>
              <a:t>	fructose-1,6-bisP + H</a:t>
            </a:r>
            <a:r>
              <a:rPr kumimoji="0" lang="en-US" sz="2400" b="1" i="0" u="none" strike="noStrike" kern="1200" cap="none" spc="0" normalizeH="0" baseline="-30000" noProof="0" dirty="0" smtClean="0">
                <a:ln>
                  <a:noFill/>
                </a:ln>
                <a:solidFill>
                  <a:srgbClr val="000080"/>
                </a:solidFill>
                <a:effectLst/>
                <a:uLnTx/>
                <a:uFillTx/>
                <a:latin typeface="+mn-lt"/>
                <a:ea typeface="+mn-ea"/>
                <a:cs typeface="Times New Roman" pitchFamily="18" charset="0"/>
              </a:rPr>
              <a:t>2</a:t>
            </a:r>
            <a:r>
              <a:rPr kumimoji="0" lang="en-US" sz="2400" b="1" i="0" u="none" strike="noStrike" kern="1200" cap="none" spc="0" normalizeH="0" baseline="0" noProof="0" dirty="0" smtClean="0">
                <a:ln>
                  <a:noFill/>
                </a:ln>
                <a:solidFill>
                  <a:srgbClr val="000080"/>
                </a:solidFill>
                <a:effectLst/>
                <a:uLnTx/>
                <a:uFillTx/>
                <a:latin typeface="+mn-lt"/>
                <a:ea typeface="+mn-ea"/>
                <a:cs typeface="Times New Roman" pitchFamily="18" charset="0"/>
              </a:rPr>
              <a:t>O  </a:t>
            </a:r>
            <a:r>
              <a:rPr kumimoji="0" lang="en-US" sz="2400" b="1" i="0" u="none" strike="noStrike" kern="1200" cap="none" spc="0" normalizeH="0" baseline="0" noProof="0" dirty="0" smtClean="0">
                <a:ln>
                  <a:noFill/>
                </a:ln>
                <a:solidFill>
                  <a:srgbClr val="FF0000"/>
                </a:solidFill>
                <a:effectLst/>
                <a:uLnTx/>
                <a:uFillTx/>
                <a:latin typeface="+mn-lt"/>
                <a:ea typeface="+mn-ea"/>
                <a:cs typeface="Times New Roman" pitchFamily="18" charset="0"/>
                <a:sym typeface="Wingdings" pitchFamily="2" charset="2"/>
              </a:rPr>
              <a:t></a:t>
            </a:r>
            <a:r>
              <a:rPr kumimoji="0" lang="en-US" sz="2400" b="1" i="0" u="none" strike="noStrike" kern="1200" cap="none" spc="0" normalizeH="0" baseline="0" noProof="0" dirty="0" smtClean="0">
                <a:ln>
                  <a:noFill/>
                </a:ln>
                <a:solidFill>
                  <a:srgbClr val="000080"/>
                </a:solidFill>
                <a:effectLst/>
                <a:uLnTx/>
                <a:uFillTx/>
                <a:latin typeface="+mn-lt"/>
                <a:ea typeface="+mn-ea"/>
                <a:cs typeface="Times New Roman" pitchFamily="18" charset="0"/>
              </a:rPr>
              <a:t>  fructose-6-P + P</a:t>
            </a:r>
            <a:r>
              <a:rPr kumimoji="0" lang="en-US" sz="2400" b="1" i="0" u="none" strike="noStrike" kern="1200" cap="none" spc="0" normalizeH="0" baseline="-30000" noProof="0" dirty="0" smtClean="0">
                <a:ln>
                  <a:noFill/>
                </a:ln>
                <a:solidFill>
                  <a:srgbClr val="000080"/>
                </a:solidFill>
                <a:effectLst/>
                <a:uLnTx/>
                <a:uFillTx/>
                <a:latin typeface="+mn-lt"/>
                <a:ea typeface="+mn-ea"/>
                <a:cs typeface="Times New Roman" pitchFamily="18" charset="0"/>
              </a:rPr>
              <a:t>i</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552229" y="252691"/>
            <a:ext cx="7234481" cy="461665"/>
          </a:xfrm>
          <a:prstGeom prst="rect">
            <a:avLst/>
          </a:prstGeom>
          <a:noFill/>
        </p:spPr>
        <p:txBody>
          <a:bodyPr wrap="none" rtlCol="0">
            <a:spAutoFit/>
          </a:bodyPr>
          <a:lstStyle/>
          <a:p>
            <a:r>
              <a:rPr lang="en-GB" sz="2400" b="1" dirty="0" smtClean="0"/>
              <a:t>Third bypass: </a:t>
            </a:r>
            <a:r>
              <a:rPr lang="en-GB" sz="2400" u="sng" dirty="0" smtClean="0"/>
              <a:t>Conversion of </a:t>
            </a:r>
            <a:r>
              <a:rPr lang="en-GB" sz="2400" u="sng" dirty="0" err="1" smtClean="0"/>
              <a:t>Glc</a:t>
            </a:r>
            <a:r>
              <a:rPr lang="en-GB" sz="2400" u="sng" dirty="0" smtClean="0"/>
              <a:t> 6- phosphate to glucose</a:t>
            </a:r>
            <a:r>
              <a:rPr lang="en-GB" dirty="0" smtClean="0"/>
              <a:t>.</a:t>
            </a:r>
            <a:endParaRPr lang="en-GB" dirty="0"/>
          </a:p>
        </p:txBody>
      </p:sp>
      <p:sp>
        <p:nvSpPr>
          <p:cNvPr id="5" name="TextBox 4"/>
          <p:cNvSpPr txBox="1"/>
          <p:nvPr/>
        </p:nvSpPr>
        <p:spPr>
          <a:xfrm>
            <a:off x="71469" y="714356"/>
            <a:ext cx="8929687" cy="1938992"/>
          </a:xfrm>
          <a:prstGeom prst="rect">
            <a:avLst/>
          </a:prstGeom>
          <a:noFill/>
        </p:spPr>
        <p:txBody>
          <a:bodyPr wrap="square" rtlCol="0">
            <a:spAutoFit/>
          </a:bodyPr>
          <a:lstStyle/>
          <a:p>
            <a:pPr>
              <a:buFont typeface="Wingdings" pitchFamily="2" charset="2"/>
              <a:buChar char="v"/>
            </a:pPr>
            <a:r>
              <a:rPr lang="en-GB" sz="2000" dirty="0" smtClean="0"/>
              <a:t>The reaction is catalysed by glucose 6-phosphatase, without synthesis of ATP, it is a simple hydrolysis of a phosphate ester</a:t>
            </a:r>
          </a:p>
          <a:p>
            <a:pPr>
              <a:buFont typeface="Wingdings" pitchFamily="2" charset="2"/>
              <a:buChar char="v"/>
            </a:pPr>
            <a:r>
              <a:rPr lang="en-GB" sz="2000" dirty="0" smtClean="0"/>
              <a:t>This Mg2+ activated enzyme is found on the </a:t>
            </a:r>
            <a:r>
              <a:rPr lang="en-GB" sz="2000" dirty="0" err="1" smtClean="0"/>
              <a:t>lumenal</a:t>
            </a:r>
            <a:r>
              <a:rPr lang="en-GB" sz="2000" dirty="0" smtClean="0"/>
              <a:t> side of the ER of </a:t>
            </a:r>
            <a:r>
              <a:rPr lang="en-GB" sz="2000" b="1" dirty="0" err="1" smtClean="0"/>
              <a:t>Hepatocytes</a:t>
            </a:r>
            <a:r>
              <a:rPr lang="en-GB" sz="2000" b="1" dirty="0" smtClean="0"/>
              <a:t> </a:t>
            </a:r>
            <a:r>
              <a:rPr lang="en-GB" sz="2000" dirty="0" smtClean="0"/>
              <a:t>and </a:t>
            </a:r>
            <a:r>
              <a:rPr lang="en-GB" sz="2000" b="1" dirty="0" smtClean="0"/>
              <a:t>Renal cells</a:t>
            </a:r>
            <a:r>
              <a:rPr lang="en-GB" sz="2000" dirty="0" smtClean="0"/>
              <a:t>.</a:t>
            </a:r>
          </a:p>
          <a:p>
            <a:pPr>
              <a:buFont typeface="Wingdings" pitchFamily="2" charset="2"/>
              <a:buChar char="v"/>
            </a:pPr>
            <a:r>
              <a:rPr lang="en-GB" sz="2000" b="1" dirty="0" smtClean="0"/>
              <a:t>Note: </a:t>
            </a:r>
            <a:r>
              <a:rPr lang="en-GB" sz="2000" dirty="0" smtClean="0"/>
              <a:t>Muscle and brain tissues do not have this enzyme thus </a:t>
            </a:r>
            <a:r>
              <a:rPr lang="en-GB" sz="2000" dirty="0" err="1" smtClean="0"/>
              <a:t>connot</a:t>
            </a:r>
            <a:r>
              <a:rPr lang="en-GB" sz="2000" dirty="0" smtClean="0"/>
              <a:t> carry out </a:t>
            </a:r>
            <a:r>
              <a:rPr lang="en-GB" sz="2000" dirty="0" err="1" smtClean="0"/>
              <a:t>gluconeogenesis</a:t>
            </a:r>
            <a:r>
              <a:rPr lang="en-GB" sz="2000" dirty="0" smtClean="0"/>
              <a:t>.</a:t>
            </a:r>
            <a:endParaRPr lang="en-GB" sz="2000" dirty="0"/>
          </a:p>
        </p:txBody>
      </p:sp>
      <p:graphicFrame>
        <p:nvGraphicFramePr>
          <p:cNvPr id="8194" name="Object 9"/>
          <p:cNvGraphicFramePr>
            <a:graphicFrameLocks noChangeAspect="1"/>
          </p:cNvGraphicFramePr>
          <p:nvPr/>
        </p:nvGraphicFramePr>
        <p:xfrm>
          <a:off x="642910" y="2786058"/>
          <a:ext cx="7715304" cy="1857388"/>
        </p:xfrm>
        <a:graphic>
          <a:graphicData uri="http://schemas.openxmlformats.org/presentationml/2006/ole">
            <mc:AlternateContent xmlns:mc="http://schemas.openxmlformats.org/markup-compatibility/2006">
              <mc:Choice xmlns:v="urn:schemas-microsoft-com:vml" Requires="v">
                <p:oleObj spid="_x0000_s8211" name="Picture" r:id="rId3" imgW="3659127" imgH="1486854" progId="Word.Picture.8">
                  <p:embed/>
                </p:oleObj>
              </mc:Choice>
              <mc:Fallback>
                <p:oleObj name="Picture" r:id="rId3" imgW="3659127" imgH="1486854" progId="Word.Picture.8">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2910" y="2786058"/>
                        <a:ext cx="7715304" cy="1857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3"/>
          <p:cNvSpPr txBox="1">
            <a:spLocks noChangeArrowheads="1"/>
          </p:cNvSpPr>
          <p:nvPr/>
        </p:nvSpPr>
        <p:spPr>
          <a:xfrm>
            <a:off x="428596" y="4786322"/>
            <a:ext cx="8215370" cy="1838342"/>
          </a:xfrm>
          <a:prstGeom prst="rect">
            <a:avLst/>
          </a:prstGeom>
        </p:spPr>
        <p:txBody>
          <a:bodyPr/>
          <a:lstStyle/>
          <a:p>
            <a:pPr marL="0" marR="0" lvl="0" indent="0" algn="ctr" defTabSz="914400" rtl="0" eaLnBrk="1" fontAlgn="auto" latinLnBrk="0" hangingPunct="1">
              <a:lnSpc>
                <a:spcPct val="100000"/>
              </a:lnSpc>
              <a:spcBef>
                <a:spcPct val="0"/>
              </a:spcBef>
              <a:spcAft>
                <a:spcPct val="10000"/>
              </a:spcAft>
              <a:buClrTx/>
              <a:buSzTx/>
              <a:buFontTx/>
              <a:buNone/>
              <a:tabLst>
                <a:tab pos="685800" algn="l"/>
              </a:tabLst>
              <a:defRPr/>
            </a:pPr>
            <a:r>
              <a:rPr kumimoji="0" lang="en-US" sz="2400" b="1" i="0" u="none" strike="noStrike" kern="1200" cap="none" spc="0" normalizeH="0" baseline="0" noProof="0" dirty="0" err="1" smtClean="0">
                <a:ln>
                  <a:noFill/>
                </a:ln>
                <a:solidFill>
                  <a:schemeClr val="tx1"/>
                </a:solidFill>
                <a:effectLst/>
                <a:uLnTx/>
                <a:uFillTx/>
                <a:latin typeface="+mn-lt"/>
                <a:ea typeface="+mn-ea"/>
                <a:cs typeface="Times New Roman" pitchFamily="18" charset="0"/>
              </a:rPr>
              <a:t>Hexokinase</a:t>
            </a:r>
            <a:r>
              <a:rPr kumimoji="0" lang="en-US" sz="2400" b="0" i="0" u="none" strike="noStrike" kern="1200" cap="none" spc="0" normalizeH="0" baseline="0" noProof="0" dirty="0" smtClean="0">
                <a:ln>
                  <a:noFill/>
                </a:ln>
                <a:solidFill>
                  <a:schemeClr val="tx1"/>
                </a:solidFill>
                <a:effectLst/>
                <a:uLnTx/>
                <a:uFillTx/>
                <a:latin typeface="+mn-lt"/>
                <a:ea typeface="+mn-ea"/>
                <a:cs typeface="Times New Roman" pitchFamily="18" charset="0"/>
              </a:rPr>
              <a:t> or </a:t>
            </a:r>
            <a:r>
              <a:rPr kumimoji="0" lang="en-US" sz="2400" b="0" i="0" u="none" strike="noStrike" kern="1200" cap="none" spc="0" normalizeH="0" baseline="0" noProof="0" dirty="0" err="1" smtClean="0">
                <a:ln>
                  <a:noFill/>
                </a:ln>
                <a:solidFill>
                  <a:schemeClr val="tx1"/>
                </a:solidFill>
                <a:effectLst/>
                <a:uLnTx/>
                <a:uFillTx/>
                <a:latin typeface="+mn-lt"/>
                <a:ea typeface="+mn-ea"/>
                <a:cs typeface="Times New Roman" pitchFamily="18" charset="0"/>
              </a:rPr>
              <a:t>Glucokinase</a:t>
            </a:r>
            <a:r>
              <a:rPr kumimoji="0" lang="en-US" sz="2400" b="0" i="0" u="none" strike="noStrike" kern="1200" cap="none" spc="0" normalizeH="0" baseline="0" noProof="0" dirty="0" smtClean="0">
                <a:ln>
                  <a:noFill/>
                </a:ln>
                <a:solidFill>
                  <a:schemeClr val="tx1"/>
                </a:solidFill>
                <a:effectLst/>
                <a:uLnTx/>
                <a:uFillTx/>
                <a:latin typeface="+mn-lt"/>
                <a:ea typeface="+mn-ea"/>
                <a:cs typeface="Times New Roman" pitchFamily="18" charset="0"/>
              </a:rPr>
              <a:t> (Glycolysis) catalyzes:</a:t>
            </a:r>
          </a:p>
          <a:p>
            <a:pPr marL="0" marR="0" lvl="0" indent="0" algn="ctr" defTabSz="914400" rtl="0" eaLnBrk="1" fontAlgn="auto" latinLnBrk="0" hangingPunct="1">
              <a:lnSpc>
                <a:spcPct val="100000"/>
              </a:lnSpc>
              <a:spcBef>
                <a:spcPct val="0"/>
              </a:spcBef>
              <a:spcAft>
                <a:spcPct val="50000"/>
              </a:spcAft>
              <a:buClrTx/>
              <a:buSzTx/>
              <a:buFontTx/>
              <a:buNone/>
              <a:tabLst>
                <a:tab pos="685800" algn="l"/>
              </a:tabLst>
              <a:defRPr/>
            </a:pPr>
            <a:r>
              <a:rPr kumimoji="0" lang="en-US" sz="2400" b="1" i="0" u="none" strike="noStrike" kern="1200" cap="none" spc="0" normalizeH="0" baseline="0" noProof="0" dirty="0" smtClean="0">
                <a:ln>
                  <a:noFill/>
                </a:ln>
                <a:solidFill>
                  <a:srgbClr val="000080"/>
                </a:solidFill>
                <a:effectLst/>
                <a:uLnTx/>
                <a:uFillTx/>
                <a:latin typeface="+mn-lt"/>
                <a:ea typeface="+mn-ea"/>
                <a:cs typeface="Times New Roman" pitchFamily="18" charset="0"/>
              </a:rPr>
              <a:t>	glucose + ATP  </a:t>
            </a:r>
            <a:r>
              <a:rPr kumimoji="0" lang="en-US" sz="2400" b="1" i="0" u="none" strike="noStrike" kern="1200" cap="none" spc="0" normalizeH="0" baseline="0" noProof="0" dirty="0" smtClean="0">
                <a:ln>
                  <a:noFill/>
                </a:ln>
                <a:solidFill>
                  <a:srgbClr val="FF0000"/>
                </a:solidFill>
                <a:effectLst/>
                <a:uLnTx/>
                <a:uFillTx/>
                <a:latin typeface="+mn-lt"/>
                <a:ea typeface="+mn-ea"/>
                <a:cs typeface="Times New Roman" pitchFamily="18" charset="0"/>
                <a:sym typeface="Wingdings" pitchFamily="2" charset="2"/>
              </a:rPr>
              <a:t></a:t>
            </a:r>
            <a:r>
              <a:rPr kumimoji="0" lang="en-US" sz="2400" b="1" i="0" u="none" strike="noStrike" kern="1200" cap="none" spc="0" normalizeH="0" baseline="0" noProof="0" dirty="0" smtClean="0">
                <a:ln>
                  <a:noFill/>
                </a:ln>
                <a:solidFill>
                  <a:srgbClr val="FF0000"/>
                </a:solidFill>
                <a:effectLst/>
                <a:uLnTx/>
                <a:uFillTx/>
                <a:latin typeface="+mn-lt"/>
                <a:ea typeface="+mn-ea"/>
                <a:cs typeface="Times New Roman" pitchFamily="18" charset="0"/>
              </a:rPr>
              <a:t> </a:t>
            </a:r>
            <a:r>
              <a:rPr kumimoji="0" lang="en-US" sz="2400" b="1" i="0" u="none" strike="noStrike" kern="1200" cap="none" spc="0" normalizeH="0" baseline="0" noProof="0" dirty="0" smtClean="0">
                <a:ln>
                  <a:noFill/>
                </a:ln>
                <a:solidFill>
                  <a:srgbClr val="000080"/>
                </a:solidFill>
                <a:effectLst/>
                <a:uLnTx/>
                <a:uFillTx/>
                <a:latin typeface="+mn-lt"/>
                <a:ea typeface="+mn-ea"/>
                <a:cs typeface="Times New Roman" pitchFamily="18" charset="0"/>
              </a:rPr>
              <a:t> glucose-6-phosphate + ADP</a:t>
            </a:r>
            <a:endParaRPr kumimoji="0" lang="en-US" sz="2400" b="0" i="0" u="none" strike="noStrike" kern="1200" cap="none" spc="0" normalizeH="0" baseline="0" noProof="0" dirty="0" smtClean="0">
              <a:ln>
                <a:noFill/>
              </a:ln>
              <a:solidFill>
                <a:schemeClr val="tx1"/>
              </a:solidFill>
              <a:effectLst/>
              <a:uLnTx/>
              <a:uFillTx/>
              <a:latin typeface="+mn-lt"/>
              <a:ea typeface="+mn-ea"/>
              <a:cs typeface="Times New Roman" pitchFamily="18" charset="0"/>
            </a:endParaRPr>
          </a:p>
          <a:p>
            <a:pPr marL="0" marR="0" lvl="0" indent="0" algn="ctr" defTabSz="914400" rtl="0" eaLnBrk="1" fontAlgn="auto" latinLnBrk="0" hangingPunct="1">
              <a:lnSpc>
                <a:spcPct val="100000"/>
              </a:lnSpc>
              <a:spcBef>
                <a:spcPct val="0"/>
              </a:spcBef>
              <a:spcAft>
                <a:spcPct val="10000"/>
              </a:spcAft>
              <a:buClr>
                <a:srgbClr val="0000FF"/>
              </a:buClr>
              <a:buSzTx/>
              <a:buFont typeface="Wingdings" pitchFamily="2" charset="2"/>
              <a:buNone/>
              <a:tabLst>
                <a:tab pos="685800" algn="l"/>
              </a:tabLst>
              <a:defRPr/>
            </a:pPr>
            <a:r>
              <a:rPr kumimoji="0" lang="en-US" sz="2400" b="1" i="0" u="none" strike="noStrike" kern="1200" cap="none" spc="0" normalizeH="0" baseline="0" noProof="0" dirty="0" smtClean="0">
                <a:ln>
                  <a:noFill/>
                </a:ln>
                <a:solidFill>
                  <a:schemeClr val="tx1"/>
                </a:solidFill>
                <a:effectLst/>
                <a:uLnTx/>
                <a:uFillTx/>
                <a:latin typeface="+mn-lt"/>
                <a:ea typeface="+mn-ea"/>
                <a:cs typeface="Times New Roman" pitchFamily="18" charset="0"/>
              </a:rPr>
              <a:t>Glucose-6-Phosphatase</a:t>
            </a:r>
            <a:r>
              <a:rPr kumimoji="0" lang="en-US" sz="2400" b="0" i="0" u="none" strike="noStrike" kern="1200" cap="none" spc="0" normalizeH="0" baseline="0" noProof="0" dirty="0" smtClean="0">
                <a:ln>
                  <a:noFill/>
                </a:ln>
                <a:solidFill>
                  <a:schemeClr val="tx1"/>
                </a:solidFill>
                <a:effectLst/>
                <a:uLnTx/>
                <a:uFillTx/>
                <a:latin typeface="+mn-lt"/>
                <a:ea typeface="+mn-ea"/>
                <a:cs typeface="Times New Roman" pitchFamily="18" charset="0"/>
              </a:rPr>
              <a:t> (</a:t>
            </a:r>
            <a:r>
              <a:rPr kumimoji="0" lang="en-US" sz="2400" b="0" i="0" u="none" strike="noStrike" kern="1200" cap="none" spc="0" normalizeH="0" baseline="0" noProof="0" dirty="0" err="1" smtClean="0">
                <a:ln>
                  <a:noFill/>
                </a:ln>
                <a:solidFill>
                  <a:schemeClr val="tx1"/>
                </a:solidFill>
                <a:effectLst/>
                <a:uLnTx/>
                <a:uFillTx/>
                <a:latin typeface="+mn-lt"/>
                <a:ea typeface="+mn-ea"/>
                <a:cs typeface="Times New Roman" pitchFamily="18" charset="0"/>
              </a:rPr>
              <a:t>Gluconeogenesis</a:t>
            </a:r>
            <a:r>
              <a:rPr kumimoji="0" lang="en-US" sz="2400" b="0" i="0" u="none" strike="noStrike" kern="1200" cap="none" spc="0" normalizeH="0" baseline="0" noProof="0" dirty="0" smtClean="0">
                <a:ln>
                  <a:noFill/>
                </a:ln>
                <a:solidFill>
                  <a:schemeClr val="tx1"/>
                </a:solidFill>
                <a:effectLst/>
                <a:uLnTx/>
                <a:uFillTx/>
                <a:latin typeface="+mn-lt"/>
                <a:ea typeface="+mn-ea"/>
                <a:cs typeface="Times New Roman" pitchFamily="18" charset="0"/>
              </a:rPr>
              <a:t>) catalyzes:   </a:t>
            </a:r>
          </a:p>
          <a:p>
            <a:pPr marL="0" marR="0" lvl="0" indent="0" algn="ctr" defTabSz="914400" rtl="0" eaLnBrk="1" fontAlgn="auto" latinLnBrk="0" hangingPunct="1">
              <a:lnSpc>
                <a:spcPct val="100000"/>
              </a:lnSpc>
              <a:spcBef>
                <a:spcPct val="0"/>
              </a:spcBef>
              <a:spcAft>
                <a:spcPct val="20000"/>
              </a:spcAft>
              <a:buClrTx/>
              <a:buSzTx/>
              <a:buFontTx/>
              <a:buNone/>
              <a:tabLst>
                <a:tab pos="685800" algn="l"/>
              </a:tabLst>
              <a:defRPr/>
            </a:pPr>
            <a:r>
              <a:rPr kumimoji="0" lang="en-US" sz="2400" b="1" i="0" u="none" strike="noStrike" kern="1200" cap="none" spc="0" normalizeH="0" baseline="0" noProof="0" dirty="0" smtClean="0">
                <a:ln>
                  <a:noFill/>
                </a:ln>
                <a:solidFill>
                  <a:srgbClr val="000080"/>
                </a:solidFill>
                <a:effectLst/>
                <a:uLnTx/>
                <a:uFillTx/>
                <a:latin typeface="+mn-lt"/>
                <a:ea typeface="+mn-ea"/>
                <a:cs typeface="Times New Roman" pitchFamily="18" charset="0"/>
              </a:rPr>
              <a:t>	glucose-6-phosphate + H</a:t>
            </a:r>
            <a:r>
              <a:rPr kumimoji="0" lang="en-US" sz="2400" b="1" i="0" u="none" strike="noStrike" kern="1200" cap="none" spc="0" normalizeH="0" baseline="-30000" noProof="0" dirty="0" smtClean="0">
                <a:ln>
                  <a:noFill/>
                </a:ln>
                <a:solidFill>
                  <a:srgbClr val="000080"/>
                </a:solidFill>
                <a:effectLst/>
                <a:uLnTx/>
                <a:uFillTx/>
                <a:latin typeface="+mn-lt"/>
                <a:ea typeface="+mn-ea"/>
                <a:cs typeface="Times New Roman" pitchFamily="18" charset="0"/>
              </a:rPr>
              <a:t>2</a:t>
            </a:r>
            <a:r>
              <a:rPr kumimoji="0" lang="en-US" sz="2400" b="1" i="0" u="none" strike="noStrike" kern="1200" cap="none" spc="0" normalizeH="0" baseline="0" noProof="0" dirty="0" smtClean="0">
                <a:ln>
                  <a:noFill/>
                </a:ln>
                <a:solidFill>
                  <a:srgbClr val="000080"/>
                </a:solidFill>
                <a:effectLst/>
                <a:uLnTx/>
                <a:uFillTx/>
                <a:latin typeface="+mn-lt"/>
                <a:ea typeface="+mn-ea"/>
                <a:cs typeface="Times New Roman" pitchFamily="18" charset="0"/>
              </a:rPr>
              <a:t>O  </a:t>
            </a:r>
            <a:r>
              <a:rPr kumimoji="0" lang="en-US" sz="2400" b="1" i="0" u="none" strike="noStrike" kern="1200" cap="none" spc="0" normalizeH="0" baseline="0" noProof="0" dirty="0" smtClean="0">
                <a:ln>
                  <a:noFill/>
                </a:ln>
                <a:solidFill>
                  <a:srgbClr val="FF0000"/>
                </a:solidFill>
                <a:effectLst/>
                <a:uLnTx/>
                <a:uFillTx/>
                <a:latin typeface="+mn-lt"/>
                <a:ea typeface="+mn-ea"/>
                <a:cs typeface="Times New Roman" pitchFamily="18" charset="0"/>
                <a:sym typeface="Wingdings" pitchFamily="2" charset="2"/>
              </a:rPr>
              <a:t></a:t>
            </a:r>
            <a:r>
              <a:rPr kumimoji="0" lang="en-US" sz="2400" b="1" i="0" u="none" strike="noStrike" kern="1200" cap="none" spc="0" normalizeH="0" baseline="0" noProof="0" dirty="0" smtClean="0">
                <a:ln>
                  <a:noFill/>
                </a:ln>
                <a:solidFill>
                  <a:srgbClr val="000080"/>
                </a:solidFill>
                <a:effectLst/>
                <a:uLnTx/>
                <a:uFillTx/>
                <a:latin typeface="+mn-lt"/>
                <a:ea typeface="+mn-ea"/>
                <a:cs typeface="Times New Roman" pitchFamily="18" charset="0"/>
              </a:rPr>
              <a:t>  glucose + P</a:t>
            </a:r>
            <a:r>
              <a:rPr kumimoji="0" lang="en-US" sz="2400" b="1" i="0" u="none" strike="noStrike" kern="1200" cap="none" spc="0" normalizeH="0" baseline="-30000" noProof="0" dirty="0" smtClean="0">
                <a:ln>
                  <a:noFill/>
                </a:ln>
                <a:solidFill>
                  <a:srgbClr val="000080"/>
                </a:solidFill>
                <a:effectLst/>
                <a:uLnTx/>
                <a:uFillTx/>
                <a:latin typeface="+mn-lt"/>
                <a:ea typeface="+mn-ea"/>
                <a:cs typeface="Times New Roman" pitchFamily="18" charset="0"/>
              </a:rPr>
              <a:t>i</a:t>
            </a:r>
            <a:r>
              <a:rPr kumimoji="0" lang="en-US" sz="2400" b="1" i="0" u="none" strike="noStrike" kern="1200" cap="none" spc="0" normalizeH="0" noProof="0" dirty="0" smtClean="0">
                <a:ln>
                  <a:noFill/>
                </a:ln>
                <a:solidFill>
                  <a:srgbClr val="000080"/>
                </a:solidFill>
                <a:effectLst/>
                <a:uLnTx/>
                <a:uFillTx/>
                <a:latin typeface="+mn-lt"/>
                <a:ea typeface="+mn-ea"/>
                <a:cs typeface="Times New Roman" pitchFamily="18" charset="0"/>
              </a:rPr>
              <a:t> </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p:cNvSpPr txBox="1">
            <a:spLocks noChangeArrowheads="1"/>
          </p:cNvSpPr>
          <p:nvPr/>
        </p:nvSpPr>
        <p:spPr>
          <a:xfrm>
            <a:off x="285720" y="476252"/>
            <a:ext cx="8643998" cy="6238896"/>
          </a:xfrm>
          <a:prstGeom prst="rect">
            <a:avLst/>
          </a:prstGeom>
        </p:spPr>
        <p:txBody>
          <a:bodyPr/>
          <a:lstStyle/>
          <a:p>
            <a:pPr marL="0" marR="0" lvl="0" indent="0" algn="just" defTabSz="914400" rtl="0" eaLnBrk="1" fontAlgn="auto" latinLnBrk="0" hangingPunct="1">
              <a:lnSpc>
                <a:spcPct val="100000"/>
              </a:lnSpc>
              <a:spcBef>
                <a:spcPct val="0"/>
              </a:spcBef>
              <a:spcAft>
                <a:spcPct val="60000"/>
              </a:spcAft>
              <a:buClrTx/>
              <a:buSzTx/>
              <a:buFontTx/>
              <a:buNone/>
              <a:tabLst>
                <a:tab pos="685800" algn="l"/>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The </a:t>
            </a:r>
            <a:r>
              <a:rPr kumimoji="0" lang="en-US" sz="2800" b="1" i="0" u="none" strike="noStrike" kern="1200" cap="none" spc="0" normalizeH="0" baseline="0" noProof="0" dirty="0" smtClean="0">
                <a:ln>
                  <a:noFill/>
                </a:ln>
                <a:solidFill>
                  <a:srgbClr val="000099"/>
                </a:solidFill>
                <a:effectLst/>
                <a:uLnTx/>
                <a:uFillTx/>
                <a:latin typeface="+mn-lt"/>
                <a:ea typeface="+mn-ea"/>
                <a:cs typeface="+mn-cs"/>
              </a:rPr>
              <a:t>source of </a:t>
            </a:r>
            <a:r>
              <a:rPr kumimoji="0" lang="en-US" sz="2800" b="1" i="0" u="none" strike="noStrike" kern="1200" cap="none" spc="0" normalizeH="0" baseline="0" noProof="0" dirty="0" err="1" smtClean="0">
                <a:ln>
                  <a:noFill/>
                </a:ln>
                <a:solidFill>
                  <a:srgbClr val="000099"/>
                </a:solidFill>
                <a:effectLst/>
                <a:uLnTx/>
                <a:uFillTx/>
                <a:latin typeface="+mn-lt"/>
                <a:ea typeface="+mn-ea"/>
                <a:cs typeface="+mn-cs"/>
              </a:rPr>
              <a:t>pyruvate</a:t>
            </a:r>
            <a:r>
              <a:rPr kumimoji="0" lang="en-US" sz="2800" b="1" i="0" u="none" strike="noStrike" kern="1200" cap="none" spc="0" normalizeH="0" baseline="0" noProof="0" dirty="0" smtClean="0">
                <a:ln>
                  <a:noFill/>
                </a:ln>
                <a:solidFill>
                  <a:srgbClr val="000099"/>
                </a:solidFill>
                <a:effectLst/>
                <a:uLnTx/>
                <a:uFillTx/>
                <a:latin typeface="+mn-lt"/>
                <a:ea typeface="+mn-ea"/>
                <a:cs typeface="+mn-cs"/>
              </a:rPr>
              <a:t> and </a:t>
            </a:r>
            <a:r>
              <a:rPr kumimoji="0" lang="en-US" sz="2800" b="1" i="0" u="none" strike="noStrike" kern="1200" cap="none" spc="0" normalizeH="0" baseline="0" noProof="0" dirty="0" err="1" smtClean="0">
                <a:ln>
                  <a:noFill/>
                </a:ln>
                <a:solidFill>
                  <a:srgbClr val="000099"/>
                </a:solidFill>
                <a:effectLst/>
                <a:uLnTx/>
                <a:uFillTx/>
                <a:latin typeface="+mn-lt"/>
                <a:ea typeface="+mn-ea"/>
                <a:cs typeface="+mn-cs"/>
              </a:rPr>
              <a:t>oxaloacetate</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for </a:t>
            </a:r>
            <a:r>
              <a:rPr kumimoji="0" lang="en-US" sz="2800" b="0" i="0" u="none" strike="noStrike" kern="1200" cap="none" spc="0" normalizeH="0" baseline="0" noProof="0" dirty="0" err="1" smtClean="0">
                <a:ln>
                  <a:noFill/>
                </a:ln>
                <a:solidFill>
                  <a:schemeClr val="tx1"/>
                </a:solidFill>
                <a:effectLst/>
                <a:uLnTx/>
                <a:uFillTx/>
                <a:latin typeface="+mn-lt"/>
                <a:ea typeface="+mn-ea"/>
                <a:cs typeface="+mn-cs"/>
              </a:rPr>
              <a:t>gluconeogenesis</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during fasting or carbohydrate starvation is mainly </a:t>
            </a:r>
            <a:r>
              <a:rPr kumimoji="0" lang="en-US" sz="2800" b="1" i="0" u="none" strike="noStrike" kern="1200" cap="none" spc="0" normalizeH="0" baseline="0" noProof="0" dirty="0" smtClean="0">
                <a:ln>
                  <a:noFill/>
                </a:ln>
                <a:solidFill>
                  <a:schemeClr val="hlink"/>
                </a:solidFill>
                <a:effectLst/>
                <a:uLnTx/>
                <a:uFillTx/>
                <a:latin typeface="+mn-lt"/>
                <a:ea typeface="+mn-ea"/>
                <a:cs typeface="+mn-cs"/>
              </a:rPr>
              <a:t>amino acid catabolism</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a:t>
            </a:r>
          </a:p>
          <a:p>
            <a:pPr marL="0" marR="0" lvl="0" indent="0" algn="just" defTabSz="914400" rtl="0" eaLnBrk="1" fontAlgn="auto" latinLnBrk="0" hangingPunct="1">
              <a:lnSpc>
                <a:spcPct val="100000"/>
              </a:lnSpc>
              <a:spcBef>
                <a:spcPct val="0"/>
              </a:spcBef>
              <a:spcAft>
                <a:spcPct val="60000"/>
              </a:spcAft>
              <a:buClrTx/>
              <a:buSzTx/>
              <a:buFontTx/>
              <a:buNone/>
              <a:tabLst>
                <a:tab pos="685800" algn="l"/>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Some amino acids are </a:t>
            </a:r>
            <a:r>
              <a:rPr kumimoji="0" lang="en-US" sz="2800" b="0" i="0" u="none" strike="noStrike" kern="1200" cap="none" spc="0" normalizeH="0" baseline="0" noProof="0" dirty="0" err="1" smtClean="0">
                <a:ln>
                  <a:noFill/>
                </a:ln>
                <a:solidFill>
                  <a:schemeClr val="tx1"/>
                </a:solidFill>
                <a:effectLst/>
                <a:uLnTx/>
                <a:uFillTx/>
                <a:latin typeface="+mn-lt"/>
                <a:ea typeface="+mn-ea"/>
                <a:cs typeface="+mn-cs"/>
              </a:rPr>
              <a:t>catabolized</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to </a:t>
            </a:r>
            <a:r>
              <a:rPr kumimoji="0" lang="en-US" sz="2800" b="0" i="0" u="none" strike="noStrike" kern="1200" cap="none" spc="0" normalizeH="0" baseline="0" noProof="0" dirty="0" err="1" smtClean="0">
                <a:ln>
                  <a:noFill/>
                </a:ln>
                <a:solidFill>
                  <a:schemeClr val="tx1"/>
                </a:solidFill>
                <a:effectLst/>
                <a:uLnTx/>
                <a:uFillTx/>
                <a:latin typeface="+mn-lt"/>
                <a:ea typeface="+mn-ea"/>
                <a:cs typeface="+mn-cs"/>
              </a:rPr>
              <a:t>pyruvate</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800" b="0" i="0" u="none" strike="noStrike" kern="1200" cap="none" spc="0" normalizeH="0" baseline="0" noProof="0" dirty="0" err="1" smtClean="0">
                <a:ln>
                  <a:noFill/>
                </a:ln>
                <a:solidFill>
                  <a:schemeClr val="tx1"/>
                </a:solidFill>
                <a:effectLst/>
                <a:uLnTx/>
                <a:uFillTx/>
                <a:latin typeface="+mn-lt"/>
                <a:ea typeface="+mn-ea"/>
                <a:cs typeface="+mn-cs"/>
              </a:rPr>
              <a:t>oxaloacetate</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or precursors of these. </a:t>
            </a:r>
          </a:p>
          <a:p>
            <a:pPr marL="0" marR="0" lvl="0" indent="0" algn="just" defTabSz="914400" rtl="0" eaLnBrk="1" fontAlgn="auto" latinLnBrk="0" hangingPunct="1">
              <a:lnSpc>
                <a:spcPct val="100000"/>
              </a:lnSpc>
              <a:spcBef>
                <a:spcPct val="0"/>
              </a:spcBef>
              <a:spcAft>
                <a:spcPct val="60000"/>
              </a:spcAft>
              <a:buClrTx/>
              <a:buSzTx/>
              <a:buFontTx/>
              <a:buNone/>
              <a:tabLst>
                <a:tab pos="685800" algn="l"/>
              </a:tabLst>
              <a:defRPr/>
            </a:pPr>
            <a:r>
              <a:rPr kumimoji="0" lang="en-US" sz="2800" b="1" i="0" u="none" strike="noStrike" kern="1200" cap="none" spc="0" normalizeH="0" baseline="0" noProof="0" dirty="0" smtClean="0">
                <a:ln>
                  <a:noFill/>
                </a:ln>
                <a:solidFill>
                  <a:srgbClr val="000099"/>
                </a:solidFill>
                <a:effectLst/>
                <a:uLnTx/>
                <a:uFillTx/>
                <a:latin typeface="+mn-lt"/>
                <a:ea typeface="+mn-ea"/>
                <a:cs typeface="+mn-cs"/>
              </a:rPr>
              <a:t>Muscle proteins</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may break down to supply amino acids. These are transported to liver where they are </a:t>
            </a:r>
            <a:r>
              <a:rPr kumimoji="0" lang="en-US" sz="2800" b="0" i="0" u="none" strike="noStrike" kern="1200" cap="none" spc="0" normalizeH="0" baseline="0" noProof="0" dirty="0" err="1" smtClean="0">
                <a:ln>
                  <a:noFill/>
                </a:ln>
                <a:solidFill>
                  <a:schemeClr val="tx1"/>
                </a:solidFill>
                <a:effectLst/>
                <a:uLnTx/>
                <a:uFillTx/>
                <a:latin typeface="+mn-lt"/>
                <a:ea typeface="+mn-ea"/>
                <a:cs typeface="+mn-cs"/>
              </a:rPr>
              <a:t>deaminated</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and converted to </a:t>
            </a:r>
            <a:r>
              <a:rPr kumimoji="0" lang="en-US" sz="2800" b="0" i="0" u="none" strike="noStrike" kern="1200" cap="none" spc="0" normalizeH="0" baseline="0" noProof="0" dirty="0" err="1" smtClean="0">
                <a:ln>
                  <a:noFill/>
                </a:ln>
                <a:solidFill>
                  <a:schemeClr val="tx1"/>
                </a:solidFill>
                <a:effectLst/>
                <a:uLnTx/>
                <a:uFillTx/>
                <a:latin typeface="+mn-lt"/>
                <a:ea typeface="+mn-ea"/>
                <a:cs typeface="+mn-cs"/>
              </a:rPr>
              <a:t>gluconeogenesis</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inputs.  </a:t>
            </a:r>
          </a:p>
          <a:p>
            <a:pPr marL="0" marR="0" lvl="0" indent="0" algn="just" defTabSz="914400" rtl="0" eaLnBrk="1" fontAlgn="auto" latinLnBrk="0" hangingPunct="1">
              <a:lnSpc>
                <a:spcPct val="100000"/>
              </a:lnSpc>
              <a:spcBef>
                <a:spcPct val="0"/>
              </a:spcBef>
              <a:spcAft>
                <a:spcPct val="60000"/>
              </a:spcAft>
              <a:buClrTx/>
              <a:buSzTx/>
              <a:buFontTx/>
              <a:buNone/>
              <a:tabLst>
                <a:tab pos="685800" algn="l"/>
              </a:tabLst>
              <a:defRPr/>
            </a:pPr>
            <a:r>
              <a:rPr kumimoji="0" lang="en-US" sz="2800" b="1" i="0" u="none" strike="noStrike" kern="1200" cap="none" spc="0" normalizeH="0" baseline="0" noProof="0" dirty="0" smtClean="0">
                <a:ln>
                  <a:noFill/>
                </a:ln>
                <a:solidFill>
                  <a:srgbClr val="000099"/>
                </a:solidFill>
                <a:effectLst/>
                <a:uLnTx/>
                <a:uFillTx/>
                <a:latin typeface="+mn-lt"/>
                <a:ea typeface="+mn-ea"/>
                <a:cs typeface="+mn-cs"/>
              </a:rPr>
              <a:t>Glycerol</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derived from hydrolysis of </a:t>
            </a:r>
            <a:r>
              <a:rPr kumimoji="0" lang="en-US" sz="2800" b="0" i="0" u="none" strike="noStrike" kern="1200" cap="none" spc="0" normalizeH="0" baseline="0" noProof="0" dirty="0" err="1" smtClean="0">
                <a:ln>
                  <a:noFill/>
                </a:ln>
                <a:solidFill>
                  <a:schemeClr val="tx1"/>
                </a:solidFill>
                <a:effectLst/>
                <a:uLnTx/>
                <a:uFillTx/>
                <a:latin typeface="+mn-lt"/>
                <a:ea typeface="+mn-ea"/>
                <a:cs typeface="+mn-cs"/>
              </a:rPr>
              <a:t>triacylglycerols</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in fat cells, is also a significant input to </a:t>
            </a:r>
            <a:r>
              <a:rPr kumimoji="0" lang="en-US" sz="2800" b="0" i="0" u="none" strike="noStrike" kern="1200" cap="none" spc="0" normalizeH="0" baseline="0" noProof="0" dirty="0" err="1" smtClean="0">
                <a:ln>
                  <a:noFill/>
                </a:ln>
                <a:solidFill>
                  <a:schemeClr val="tx1"/>
                </a:solidFill>
                <a:effectLst/>
                <a:uLnTx/>
                <a:uFillTx/>
                <a:latin typeface="+mn-lt"/>
                <a:ea typeface="+mn-ea"/>
                <a:cs typeface="+mn-cs"/>
              </a:rPr>
              <a:t>gluconeogenesis</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2262279" y="142852"/>
            <a:ext cx="4667175" cy="523220"/>
          </a:xfrm>
          <a:prstGeom prst="rect">
            <a:avLst/>
          </a:prstGeom>
          <a:noFill/>
        </p:spPr>
        <p:txBody>
          <a:bodyPr wrap="none" rtlCol="0">
            <a:spAutoFit/>
          </a:bodyPr>
          <a:lstStyle/>
          <a:p>
            <a:r>
              <a:rPr lang="en-GB" sz="2800" dirty="0" smtClean="0"/>
              <a:t>Regulation of </a:t>
            </a:r>
            <a:r>
              <a:rPr lang="en-GB" sz="2800" dirty="0" err="1" smtClean="0"/>
              <a:t>Gluconeogenesis</a:t>
            </a:r>
            <a:endParaRPr lang="en-GB" sz="2800" dirty="0"/>
          </a:p>
        </p:txBody>
      </p:sp>
      <p:sp>
        <p:nvSpPr>
          <p:cNvPr id="5" name="Rectangle 1035"/>
          <p:cNvSpPr>
            <a:spLocks noChangeArrowheads="1"/>
          </p:cNvSpPr>
          <p:nvPr/>
        </p:nvSpPr>
        <p:spPr bwMode="auto">
          <a:xfrm>
            <a:off x="233362" y="1000108"/>
            <a:ext cx="3195630" cy="2428892"/>
          </a:xfrm>
          <a:prstGeom prst="rect">
            <a:avLst/>
          </a:prstGeom>
          <a:noFill/>
          <a:ln w="9525">
            <a:noFill/>
            <a:miter lim="800000"/>
            <a:headEnd/>
            <a:tailEnd/>
          </a:ln>
        </p:spPr>
        <p:txBody>
          <a:bodyPr/>
          <a:lstStyle/>
          <a:p>
            <a:pPr algn="just">
              <a:lnSpc>
                <a:spcPct val="95000"/>
              </a:lnSpc>
              <a:spcAft>
                <a:spcPct val="30000"/>
              </a:spcAft>
              <a:tabLst>
                <a:tab pos="457200" algn="l"/>
              </a:tabLst>
            </a:pPr>
            <a:r>
              <a:rPr lang="en-US" b="1" dirty="0" smtClean="0">
                <a:solidFill>
                  <a:srgbClr val="000099"/>
                </a:solidFill>
                <a:cs typeface="Times New Roman" pitchFamily="18" charset="0"/>
              </a:rPr>
              <a:t>1. Pyruvate </a:t>
            </a:r>
            <a:r>
              <a:rPr lang="en-US" b="1" dirty="0" err="1">
                <a:solidFill>
                  <a:srgbClr val="000099"/>
                </a:solidFill>
                <a:cs typeface="Times New Roman" pitchFamily="18" charset="0"/>
              </a:rPr>
              <a:t>Carboxylase</a:t>
            </a:r>
            <a:r>
              <a:rPr lang="en-US" b="1" dirty="0">
                <a:solidFill>
                  <a:srgbClr val="000099"/>
                </a:solidFill>
                <a:cs typeface="Times New Roman" pitchFamily="18" charset="0"/>
              </a:rPr>
              <a:t> </a:t>
            </a:r>
            <a:r>
              <a:rPr lang="en-US" dirty="0">
                <a:cs typeface="Times New Roman" pitchFamily="18" charset="0"/>
              </a:rPr>
              <a:t>(</a:t>
            </a:r>
            <a:r>
              <a:rPr lang="en-US" dirty="0" err="1">
                <a:cs typeface="Times New Roman" pitchFamily="18" charset="0"/>
              </a:rPr>
              <a:t>pyruvate</a:t>
            </a:r>
            <a:r>
              <a:rPr lang="en-US" dirty="0">
                <a:cs typeface="Times New Roman" pitchFamily="18" charset="0"/>
              </a:rPr>
              <a:t> </a:t>
            </a:r>
            <a:r>
              <a:rPr lang="en-US" dirty="0">
                <a:solidFill>
                  <a:schemeClr val="hlink"/>
                </a:solidFill>
                <a:cs typeface="Times New Roman" pitchFamily="18" charset="0"/>
                <a:sym typeface="Wingdings" pitchFamily="2" charset="2"/>
              </a:rPr>
              <a:t></a:t>
            </a:r>
            <a:r>
              <a:rPr lang="en-US" dirty="0">
                <a:cs typeface="Times New Roman" pitchFamily="18" charset="0"/>
                <a:sym typeface="Wingdings" pitchFamily="2" charset="2"/>
              </a:rPr>
              <a:t> </a:t>
            </a:r>
            <a:r>
              <a:rPr lang="en-US" dirty="0" err="1" smtClean="0">
                <a:cs typeface="Times New Roman" pitchFamily="18" charset="0"/>
              </a:rPr>
              <a:t>oxaloactate</a:t>
            </a:r>
            <a:r>
              <a:rPr lang="en-US" dirty="0" smtClean="0">
                <a:cs typeface="Times New Roman" pitchFamily="18" charset="0"/>
              </a:rPr>
              <a:t>) is </a:t>
            </a:r>
            <a:r>
              <a:rPr lang="en-US" dirty="0" err="1" smtClean="0">
                <a:cs typeface="Times New Roman" pitchFamily="18" charset="0"/>
              </a:rPr>
              <a:t>allosterically</a:t>
            </a:r>
            <a:r>
              <a:rPr lang="en-US" dirty="0">
                <a:cs typeface="Times New Roman" pitchFamily="18" charset="0"/>
              </a:rPr>
              <a:t> </a:t>
            </a:r>
            <a:r>
              <a:rPr lang="en-US" b="1" dirty="0" smtClean="0">
                <a:solidFill>
                  <a:srgbClr val="000099"/>
                </a:solidFill>
                <a:cs typeface="Times New Roman" pitchFamily="18" charset="0"/>
              </a:rPr>
              <a:t>activated by: </a:t>
            </a:r>
            <a:r>
              <a:rPr lang="en-US" b="1" dirty="0">
                <a:solidFill>
                  <a:srgbClr val="FF0000"/>
                </a:solidFill>
                <a:cs typeface="Times New Roman" pitchFamily="18" charset="0"/>
              </a:rPr>
              <a:t>acetyl </a:t>
            </a:r>
            <a:r>
              <a:rPr lang="en-US" b="1" dirty="0" err="1">
                <a:solidFill>
                  <a:srgbClr val="FF0000"/>
                </a:solidFill>
                <a:cs typeface="Times New Roman" pitchFamily="18" charset="0"/>
              </a:rPr>
              <a:t>CoA</a:t>
            </a:r>
            <a:r>
              <a:rPr lang="en-US" dirty="0">
                <a:cs typeface="Times New Roman" pitchFamily="18" charset="0"/>
              </a:rPr>
              <a:t>. </a:t>
            </a:r>
          </a:p>
          <a:p>
            <a:pPr algn="just">
              <a:lnSpc>
                <a:spcPct val="95000"/>
              </a:lnSpc>
              <a:spcAft>
                <a:spcPct val="20000"/>
              </a:spcAft>
              <a:tabLst>
                <a:tab pos="457200" algn="l"/>
              </a:tabLst>
            </a:pPr>
            <a:r>
              <a:rPr lang="en-US" dirty="0"/>
              <a:t>[</a:t>
            </a:r>
            <a:r>
              <a:rPr lang="en-US" dirty="0" err="1"/>
              <a:t>Oxaloacetate</a:t>
            </a:r>
            <a:r>
              <a:rPr lang="en-US" dirty="0"/>
              <a:t>] tends to be limiting for Krebs cycle. </a:t>
            </a:r>
            <a:endParaRPr lang="en-US" dirty="0" smtClean="0"/>
          </a:p>
          <a:p>
            <a:pPr algn="just">
              <a:lnSpc>
                <a:spcPct val="95000"/>
              </a:lnSpc>
              <a:spcAft>
                <a:spcPct val="20000"/>
              </a:spcAft>
              <a:tabLst>
                <a:tab pos="457200" algn="l"/>
              </a:tabLst>
            </a:pPr>
            <a:r>
              <a:rPr lang="en-US" b="1" dirty="0" smtClean="0">
                <a:solidFill>
                  <a:srgbClr val="0000FF"/>
                </a:solidFill>
                <a:cs typeface="Times New Roman" pitchFamily="18" charset="0"/>
              </a:rPr>
              <a:t>2. Fructose 1,6 </a:t>
            </a:r>
            <a:r>
              <a:rPr lang="en-US" b="1" dirty="0" err="1" smtClean="0">
                <a:solidFill>
                  <a:srgbClr val="0000FF"/>
                </a:solidFill>
                <a:cs typeface="Times New Roman" pitchFamily="18" charset="0"/>
              </a:rPr>
              <a:t>bisphosphatase</a:t>
            </a:r>
            <a:r>
              <a:rPr lang="en-US" b="1" dirty="0" smtClean="0">
                <a:solidFill>
                  <a:srgbClr val="0000FF"/>
                </a:solidFill>
                <a:cs typeface="Times New Roman" pitchFamily="18" charset="0"/>
              </a:rPr>
              <a:t>:</a:t>
            </a:r>
          </a:p>
          <a:p>
            <a:pPr algn="just">
              <a:lnSpc>
                <a:spcPct val="95000"/>
              </a:lnSpc>
              <a:spcAft>
                <a:spcPct val="20000"/>
              </a:spcAft>
              <a:tabLst>
                <a:tab pos="457200" algn="l"/>
              </a:tabLst>
            </a:pPr>
            <a:r>
              <a:rPr lang="en-US" b="1" dirty="0" smtClean="0">
                <a:solidFill>
                  <a:srgbClr val="FF0000"/>
                </a:solidFill>
                <a:cs typeface="Times New Roman" pitchFamily="18" charset="0"/>
              </a:rPr>
              <a:t>AMP</a:t>
            </a:r>
            <a:r>
              <a:rPr lang="en-US" dirty="0" smtClean="0">
                <a:cs typeface="Times New Roman" pitchFamily="18" charset="0"/>
              </a:rPr>
              <a:t> is its </a:t>
            </a:r>
            <a:r>
              <a:rPr lang="en-US" dirty="0" err="1" smtClean="0">
                <a:cs typeface="Times New Roman" pitchFamily="18" charset="0"/>
              </a:rPr>
              <a:t>allosteric</a:t>
            </a:r>
            <a:r>
              <a:rPr lang="en-US" dirty="0" smtClean="0">
                <a:cs typeface="Times New Roman" pitchFamily="18" charset="0"/>
              </a:rPr>
              <a:t> inhibitor.</a:t>
            </a:r>
            <a:endParaRPr lang="en-US" dirty="0">
              <a:cs typeface="Times New Roman" pitchFamily="18" charset="0"/>
            </a:endParaRPr>
          </a:p>
        </p:txBody>
      </p:sp>
      <p:graphicFrame>
        <p:nvGraphicFramePr>
          <p:cNvPr id="9218" name="Object 6"/>
          <p:cNvGraphicFramePr>
            <a:graphicFrameLocks noChangeAspect="1"/>
          </p:cNvGraphicFramePr>
          <p:nvPr/>
        </p:nvGraphicFramePr>
        <p:xfrm>
          <a:off x="3571868" y="714356"/>
          <a:ext cx="5429288" cy="2643206"/>
        </p:xfrm>
        <a:graphic>
          <a:graphicData uri="http://schemas.openxmlformats.org/presentationml/2006/ole">
            <mc:AlternateContent xmlns:mc="http://schemas.openxmlformats.org/markup-compatibility/2006">
              <mc:Choice xmlns:v="urn:schemas-microsoft-com:vml" Requires="v">
                <p:oleObj spid="_x0000_s9235" r:id="rId3" imgW="2915412" imgH="2229612" progId="Word.Picture.8">
                  <p:embed/>
                </p:oleObj>
              </mc:Choice>
              <mc:Fallback>
                <p:oleObj r:id="rId3" imgW="2915412" imgH="2229612" progId="Word.Picture.8">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1868" y="714356"/>
                        <a:ext cx="5429288" cy="26432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1026"/>
          <p:cNvSpPr txBox="1">
            <a:spLocks noChangeArrowheads="1"/>
          </p:cNvSpPr>
          <p:nvPr/>
        </p:nvSpPr>
        <p:spPr>
          <a:xfrm>
            <a:off x="133380" y="3500438"/>
            <a:ext cx="8724900" cy="1143008"/>
          </a:xfrm>
          <a:prstGeom prst="rect">
            <a:avLst/>
          </a:prstGeom>
        </p:spPr>
        <p:txBody>
          <a:bodyPr/>
          <a:lstStyle/>
          <a:p>
            <a:pPr marL="0" marR="0" lvl="0" indent="0" algn="l" defTabSz="914400" rtl="0" eaLnBrk="1" fontAlgn="auto" latinLnBrk="0" hangingPunct="1">
              <a:lnSpc>
                <a:spcPct val="95000"/>
              </a:lnSpc>
              <a:spcBef>
                <a:spcPct val="0"/>
              </a:spcBef>
              <a:spcAft>
                <a:spcPct val="5000"/>
              </a:spcAft>
              <a:buClrTx/>
              <a:buSzTx/>
              <a:buFont typeface="Wingdings" pitchFamily="2" charset="2"/>
              <a:buChar char="v"/>
              <a:tabLst>
                <a:tab pos="457200" algn="l"/>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Times New Roman" pitchFamily="18" charset="0"/>
              </a:rPr>
              <a:t>When </a:t>
            </a:r>
            <a:r>
              <a:rPr kumimoji="0" lang="en-US" sz="2000" b="0" i="0" u="none" strike="noStrike" kern="1200" cap="none" spc="0" normalizeH="0" baseline="0" noProof="0" dirty="0" err="1" smtClean="0">
                <a:ln>
                  <a:noFill/>
                </a:ln>
                <a:solidFill>
                  <a:schemeClr val="tx1"/>
                </a:solidFill>
                <a:effectLst/>
                <a:uLnTx/>
                <a:uFillTx/>
                <a:latin typeface="+mn-lt"/>
                <a:ea typeface="+mn-ea"/>
                <a:cs typeface="Times New Roman" pitchFamily="18" charset="0"/>
              </a:rPr>
              <a:t>gluconeogenesis</a:t>
            </a:r>
            <a:r>
              <a:rPr kumimoji="0" lang="en-US" sz="2000" b="0" i="0" u="none" strike="noStrike" kern="1200" cap="none" spc="0" normalizeH="0" baseline="0" noProof="0" dirty="0" smtClean="0">
                <a:ln>
                  <a:noFill/>
                </a:ln>
                <a:solidFill>
                  <a:schemeClr val="tx1"/>
                </a:solidFill>
                <a:effectLst/>
                <a:uLnTx/>
                <a:uFillTx/>
                <a:latin typeface="+mn-lt"/>
                <a:ea typeface="+mn-ea"/>
                <a:cs typeface="Times New Roman" pitchFamily="18" charset="0"/>
              </a:rPr>
              <a:t> is active in liver, </a:t>
            </a:r>
            <a:r>
              <a:rPr kumimoji="0" lang="en-US" sz="2000" b="0" i="0" u="none" strike="noStrike" kern="1200" cap="none" spc="0" normalizeH="0" baseline="0" noProof="0" dirty="0" err="1" smtClean="0">
                <a:ln>
                  <a:noFill/>
                </a:ln>
                <a:solidFill>
                  <a:schemeClr val="tx1"/>
                </a:solidFill>
                <a:effectLst/>
                <a:uLnTx/>
                <a:uFillTx/>
                <a:latin typeface="+mn-lt"/>
                <a:ea typeface="+mn-ea"/>
                <a:cs typeface="Times New Roman" pitchFamily="18" charset="0"/>
              </a:rPr>
              <a:t>oxaloacetate</a:t>
            </a:r>
            <a:r>
              <a:rPr kumimoji="0" lang="en-US" sz="2000" b="0" i="0" u="none" strike="noStrike" kern="1200" cap="none" spc="0" normalizeH="0" baseline="0" noProof="0" dirty="0" smtClean="0">
                <a:ln>
                  <a:noFill/>
                </a:ln>
                <a:solidFill>
                  <a:schemeClr val="tx1"/>
                </a:solidFill>
                <a:effectLst/>
                <a:uLnTx/>
                <a:uFillTx/>
                <a:latin typeface="+mn-lt"/>
                <a:ea typeface="+mn-ea"/>
                <a:cs typeface="Times New Roman" pitchFamily="18" charset="0"/>
              </a:rPr>
              <a:t> is diverted to form glucose. </a:t>
            </a:r>
          </a:p>
          <a:p>
            <a:pPr marL="0" marR="0" lvl="0" indent="0" algn="l" defTabSz="914400" rtl="0" eaLnBrk="1" fontAlgn="auto" latinLnBrk="0" hangingPunct="1">
              <a:lnSpc>
                <a:spcPct val="95000"/>
              </a:lnSpc>
              <a:spcBef>
                <a:spcPct val="0"/>
              </a:spcBef>
              <a:spcAft>
                <a:spcPct val="5000"/>
              </a:spcAft>
              <a:buClrTx/>
              <a:buSzTx/>
              <a:buFont typeface="Wingdings" pitchFamily="2" charset="2"/>
              <a:buChar char="v"/>
              <a:tabLst>
                <a:tab pos="457200" algn="l"/>
              </a:tabLst>
              <a:defRPr/>
            </a:pPr>
            <a:r>
              <a:rPr kumimoji="0" lang="en-US" sz="2000" b="0" i="0" u="none" strike="noStrike" kern="1200" cap="none" spc="0" normalizeH="0" baseline="0" noProof="0" dirty="0" err="1" smtClean="0">
                <a:ln>
                  <a:noFill/>
                </a:ln>
                <a:solidFill>
                  <a:schemeClr val="tx1"/>
                </a:solidFill>
                <a:effectLst/>
                <a:uLnTx/>
                <a:uFillTx/>
                <a:latin typeface="+mn-lt"/>
                <a:ea typeface="+mn-ea"/>
                <a:cs typeface="Times New Roman" pitchFamily="18" charset="0"/>
              </a:rPr>
              <a:t>Oxaloacetate</a:t>
            </a:r>
            <a:r>
              <a:rPr kumimoji="0" lang="en-US" sz="2000" b="0" i="0" u="none" strike="noStrike" kern="1200" cap="none" spc="0" normalizeH="0" baseline="0" noProof="0" dirty="0" smtClean="0">
                <a:ln>
                  <a:noFill/>
                </a:ln>
                <a:solidFill>
                  <a:schemeClr val="tx1"/>
                </a:solidFill>
                <a:effectLst/>
                <a:uLnTx/>
                <a:uFillTx/>
                <a:latin typeface="+mn-lt"/>
                <a:ea typeface="+mn-ea"/>
                <a:cs typeface="Times New Roman" pitchFamily="18" charset="0"/>
              </a:rPr>
              <a:t> depletion hinders acetyl </a:t>
            </a:r>
            <a:r>
              <a:rPr kumimoji="0" lang="en-US" sz="2000" b="0" i="0" u="none" strike="noStrike" kern="1200" cap="none" spc="0" normalizeH="0" baseline="0" noProof="0" dirty="0" err="1" smtClean="0">
                <a:ln>
                  <a:noFill/>
                </a:ln>
                <a:solidFill>
                  <a:schemeClr val="tx1"/>
                </a:solidFill>
                <a:effectLst/>
                <a:uLnTx/>
                <a:uFillTx/>
                <a:latin typeface="+mn-lt"/>
                <a:ea typeface="+mn-ea"/>
                <a:cs typeface="Times New Roman" pitchFamily="18" charset="0"/>
              </a:rPr>
              <a:t>CoA</a:t>
            </a:r>
            <a:r>
              <a:rPr kumimoji="0" lang="en-US" sz="2000" b="0" i="0" u="none" strike="noStrike" kern="1200" cap="none" spc="0" normalizeH="0" baseline="0" noProof="0" dirty="0" smtClean="0">
                <a:ln>
                  <a:noFill/>
                </a:ln>
                <a:solidFill>
                  <a:schemeClr val="tx1"/>
                </a:solidFill>
                <a:effectLst/>
                <a:uLnTx/>
                <a:uFillTx/>
                <a:latin typeface="+mn-lt"/>
                <a:ea typeface="+mn-ea"/>
                <a:cs typeface="Times New Roman" pitchFamily="18" charset="0"/>
              </a:rPr>
              <a:t> entry into Krebs Cycle. </a:t>
            </a:r>
          </a:p>
          <a:p>
            <a:pPr marL="0" marR="0" lvl="0" indent="0" algn="l" defTabSz="914400" rtl="0" eaLnBrk="1" fontAlgn="auto" latinLnBrk="0" hangingPunct="1">
              <a:lnSpc>
                <a:spcPct val="95000"/>
              </a:lnSpc>
              <a:spcBef>
                <a:spcPct val="0"/>
              </a:spcBef>
              <a:spcAft>
                <a:spcPct val="5000"/>
              </a:spcAft>
              <a:buClrTx/>
              <a:buSzTx/>
              <a:buFont typeface="Wingdings" pitchFamily="2" charset="2"/>
              <a:buChar char="v"/>
              <a:tabLst>
                <a:tab pos="457200" algn="l"/>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Times New Roman" pitchFamily="18" charset="0"/>
              </a:rPr>
              <a:t>The increase in [acetyl </a:t>
            </a:r>
            <a:r>
              <a:rPr kumimoji="0" lang="en-US" sz="2000" b="0" i="0" u="none" strike="noStrike" kern="1200" cap="none" spc="0" normalizeH="0" baseline="0" noProof="0" dirty="0" err="1" smtClean="0">
                <a:ln>
                  <a:noFill/>
                </a:ln>
                <a:solidFill>
                  <a:schemeClr val="tx1"/>
                </a:solidFill>
                <a:effectLst/>
                <a:uLnTx/>
                <a:uFillTx/>
                <a:latin typeface="+mn-lt"/>
                <a:ea typeface="+mn-ea"/>
                <a:cs typeface="Times New Roman" pitchFamily="18" charset="0"/>
              </a:rPr>
              <a:t>CoA</a:t>
            </a:r>
            <a:r>
              <a:rPr kumimoji="0" lang="en-US" sz="2000" b="0" i="0" u="none" strike="noStrike" kern="1200" cap="none" spc="0" normalizeH="0" baseline="0" noProof="0" dirty="0" smtClean="0">
                <a:ln>
                  <a:noFill/>
                </a:ln>
                <a:solidFill>
                  <a:schemeClr val="tx1"/>
                </a:solidFill>
                <a:effectLst/>
                <a:uLnTx/>
                <a:uFillTx/>
                <a:latin typeface="+mn-lt"/>
                <a:ea typeface="+mn-ea"/>
                <a:cs typeface="Times New Roman" pitchFamily="18" charset="0"/>
              </a:rPr>
              <a:t>] activates Pyruvate </a:t>
            </a:r>
            <a:r>
              <a:rPr kumimoji="0" lang="en-US" sz="2000" b="0" i="0" u="none" strike="noStrike" kern="1200" cap="none" spc="0" normalizeH="0" baseline="0" noProof="0" dirty="0" err="1" smtClean="0">
                <a:ln>
                  <a:noFill/>
                </a:ln>
                <a:solidFill>
                  <a:schemeClr val="tx1"/>
                </a:solidFill>
                <a:effectLst/>
                <a:uLnTx/>
                <a:uFillTx/>
                <a:latin typeface="+mn-lt"/>
                <a:ea typeface="+mn-ea"/>
                <a:cs typeface="Times New Roman" pitchFamily="18" charset="0"/>
              </a:rPr>
              <a:t>Carboxylase</a:t>
            </a:r>
            <a:r>
              <a:rPr kumimoji="0" lang="en-US" sz="2000" b="0" i="0" u="none" strike="noStrike" kern="1200" cap="none" spc="0" normalizeH="0" baseline="0" noProof="0" dirty="0" smtClean="0">
                <a:ln>
                  <a:noFill/>
                </a:ln>
                <a:solidFill>
                  <a:schemeClr val="tx1"/>
                </a:solidFill>
                <a:effectLst/>
                <a:uLnTx/>
                <a:uFillTx/>
                <a:latin typeface="+mn-lt"/>
                <a:ea typeface="+mn-ea"/>
                <a:cs typeface="Times New Roman" pitchFamily="18" charset="0"/>
              </a:rPr>
              <a:t> to make </a:t>
            </a:r>
            <a:r>
              <a:rPr kumimoji="0" lang="en-US" sz="2000" b="0" i="0" u="none" strike="noStrike" kern="1200" cap="none" spc="0" normalizeH="0" baseline="0" noProof="0" dirty="0" err="1" smtClean="0">
                <a:ln>
                  <a:noFill/>
                </a:ln>
                <a:solidFill>
                  <a:schemeClr val="tx1"/>
                </a:solidFill>
                <a:effectLst/>
                <a:uLnTx/>
                <a:uFillTx/>
                <a:latin typeface="+mn-lt"/>
                <a:ea typeface="+mn-ea"/>
                <a:cs typeface="Times New Roman" pitchFamily="18" charset="0"/>
              </a:rPr>
              <a:t>oxaloacetate</a:t>
            </a:r>
            <a:r>
              <a:rPr kumimoji="0" lang="en-US" sz="2000" b="0" i="0" u="none" strike="noStrike" kern="1200" cap="none" spc="0" normalizeH="0" baseline="0" noProof="0" dirty="0" smtClean="0">
                <a:ln>
                  <a:noFill/>
                </a:ln>
                <a:solidFill>
                  <a:schemeClr val="tx1"/>
                </a:solidFill>
                <a:effectLst/>
                <a:uLnTx/>
                <a:uFillTx/>
                <a:latin typeface="+mn-lt"/>
                <a:ea typeface="+mn-ea"/>
                <a:cs typeface="Times New Roman" pitchFamily="18" charset="0"/>
              </a:rPr>
              <a:t>.</a:t>
            </a:r>
          </a:p>
        </p:txBody>
      </p:sp>
      <p:sp>
        <p:nvSpPr>
          <p:cNvPr id="8" name="TextBox 7"/>
          <p:cNvSpPr txBox="1"/>
          <p:nvPr/>
        </p:nvSpPr>
        <p:spPr>
          <a:xfrm>
            <a:off x="285720" y="6215082"/>
            <a:ext cx="7926337" cy="461665"/>
          </a:xfrm>
          <a:prstGeom prst="rect">
            <a:avLst/>
          </a:prstGeom>
          <a:noFill/>
        </p:spPr>
        <p:txBody>
          <a:bodyPr wrap="none" rtlCol="0">
            <a:spAutoFit/>
          </a:bodyPr>
          <a:lstStyle/>
          <a:p>
            <a:r>
              <a:rPr lang="en-GB" sz="2400" b="1" dirty="0" smtClean="0"/>
              <a:t>Note</a:t>
            </a:r>
            <a:r>
              <a:rPr lang="en-GB" sz="2400" dirty="0" smtClean="0"/>
              <a:t>: </a:t>
            </a:r>
            <a:r>
              <a:rPr lang="en-GB" sz="2400" dirty="0" smtClean="0">
                <a:solidFill>
                  <a:srgbClr val="0000FF"/>
                </a:solidFill>
              </a:rPr>
              <a:t>Glycolysis and </a:t>
            </a:r>
            <a:r>
              <a:rPr lang="en-GB" sz="2400" dirty="0" err="1" smtClean="0">
                <a:solidFill>
                  <a:srgbClr val="0000FF"/>
                </a:solidFill>
              </a:rPr>
              <a:t>gluconeogeesis</a:t>
            </a:r>
            <a:r>
              <a:rPr lang="en-GB" sz="2400" dirty="0" smtClean="0">
                <a:solidFill>
                  <a:srgbClr val="0000FF"/>
                </a:solidFill>
              </a:rPr>
              <a:t> are regulated reciprocally</a:t>
            </a:r>
            <a:r>
              <a:rPr lang="en-GB" sz="2400" dirty="0" smtClean="0"/>
              <a:t>.</a:t>
            </a:r>
            <a:endParaRPr lang="en-GB" sz="2400" dirty="0"/>
          </a:p>
        </p:txBody>
      </p:sp>
      <p:sp>
        <p:nvSpPr>
          <p:cNvPr id="9" name="Rectangle 9"/>
          <p:cNvSpPr>
            <a:spLocks noChangeArrowheads="1"/>
          </p:cNvSpPr>
          <p:nvPr/>
        </p:nvSpPr>
        <p:spPr bwMode="auto">
          <a:xfrm>
            <a:off x="5357818" y="4572008"/>
            <a:ext cx="3571900" cy="1571636"/>
          </a:xfrm>
          <a:prstGeom prst="rect">
            <a:avLst/>
          </a:prstGeom>
          <a:noFill/>
          <a:ln w="9525">
            <a:noFill/>
            <a:miter lim="800000"/>
            <a:headEnd/>
            <a:tailEnd/>
          </a:ln>
        </p:spPr>
        <p:txBody>
          <a:bodyPr/>
          <a:lstStyle/>
          <a:p>
            <a:pPr algn="just">
              <a:lnSpc>
                <a:spcPct val="95000"/>
              </a:lnSpc>
              <a:spcAft>
                <a:spcPct val="50000"/>
              </a:spcAft>
              <a:tabLst>
                <a:tab pos="457200" algn="l"/>
              </a:tabLst>
            </a:pPr>
            <a:r>
              <a:rPr lang="en-US" sz="2000" b="1" dirty="0" smtClean="0">
                <a:solidFill>
                  <a:srgbClr val="000099"/>
                </a:solidFill>
                <a:cs typeface="Times New Roman" pitchFamily="18" charset="0"/>
              </a:rPr>
              <a:t>Note: </a:t>
            </a:r>
            <a:r>
              <a:rPr lang="en-US" sz="2000" b="1" dirty="0" err="1" smtClean="0">
                <a:solidFill>
                  <a:srgbClr val="000099"/>
                </a:solidFill>
                <a:cs typeface="Times New Roman" pitchFamily="18" charset="0"/>
              </a:rPr>
              <a:t>Avidin</a:t>
            </a:r>
            <a:r>
              <a:rPr lang="en-US" sz="2000" dirty="0">
                <a:cs typeface="Times New Roman" pitchFamily="18" charset="0"/>
              </a:rPr>
              <a:t>, </a:t>
            </a:r>
            <a:r>
              <a:rPr lang="en-US" sz="2000" dirty="0">
                <a:solidFill>
                  <a:srgbClr val="FF0000"/>
                </a:solidFill>
                <a:cs typeface="Times New Roman" pitchFamily="18" charset="0"/>
              </a:rPr>
              <a:t>a protein in egg </a:t>
            </a:r>
            <a:r>
              <a:rPr lang="en-US" sz="2000" dirty="0" smtClean="0">
                <a:solidFill>
                  <a:srgbClr val="FF0000"/>
                </a:solidFill>
                <a:cs typeface="Times New Roman" pitchFamily="18" charset="0"/>
              </a:rPr>
              <a:t>whites,</a:t>
            </a:r>
            <a:r>
              <a:rPr lang="en-US" sz="2000" b="1" dirty="0" smtClean="0">
                <a:solidFill>
                  <a:srgbClr val="FF0000"/>
                </a:solidFill>
                <a:cs typeface="Times New Roman" pitchFamily="18" charset="0"/>
              </a:rPr>
              <a:t> </a:t>
            </a:r>
            <a:r>
              <a:rPr lang="en-US" sz="2000" dirty="0">
                <a:solidFill>
                  <a:srgbClr val="FF0000"/>
                </a:solidFill>
                <a:cs typeface="Times New Roman" pitchFamily="18" charset="0"/>
              </a:rPr>
              <a:t>tightly binds biotin. </a:t>
            </a:r>
          </a:p>
          <a:p>
            <a:pPr algn="just">
              <a:lnSpc>
                <a:spcPct val="95000"/>
              </a:lnSpc>
              <a:spcAft>
                <a:spcPct val="50000"/>
              </a:spcAft>
              <a:tabLst>
                <a:tab pos="457200" algn="l"/>
              </a:tabLst>
            </a:pPr>
            <a:r>
              <a:rPr lang="en-US" sz="2000" dirty="0">
                <a:solidFill>
                  <a:srgbClr val="FF0000"/>
                </a:solidFill>
                <a:cs typeface="Times New Roman" pitchFamily="18" charset="0"/>
              </a:rPr>
              <a:t>Excess consumption of raw eggs can cause nutritional deficiency of </a:t>
            </a:r>
            <a:r>
              <a:rPr lang="en-US" sz="2000" dirty="0" smtClean="0">
                <a:solidFill>
                  <a:srgbClr val="FF0000"/>
                </a:solidFill>
                <a:cs typeface="Times New Roman" pitchFamily="18" charset="0"/>
              </a:rPr>
              <a:t>biotin.</a:t>
            </a:r>
            <a:r>
              <a:rPr lang="en-US" sz="2000" dirty="0" smtClean="0">
                <a:solidFill>
                  <a:srgbClr val="FF0000"/>
                </a:solidFill>
              </a:rPr>
              <a:t> </a:t>
            </a:r>
            <a:endParaRPr lang="en-US" sz="2000" dirty="0">
              <a:solidFill>
                <a:srgbClr val="FF0000"/>
              </a:solidFill>
              <a:cs typeface="Times New Roman" pitchFamily="18" charset="0"/>
            </a:endParaRPr>
          </a:p>
        </p:txBody>
      </p:sp>
      <p:sp>
        <p:nvSpPr>
          <p:cNvPr id="10" name="TextBox 9"/>
          <p:cNvSpPr txBox="1"/>
          <p:nvPr/>
        </p:nvSpPr>
        <p:spPr>
          <a:xfrm>
            <a:off x="285720" y="571480"/>
            <a:ext cx="2354171" cy="461665"/>
          </a:xfrm>
          <a:prstGeom prst="rect">
            <a:avLst/>
          </a:prstGeom>
          <a:noFill/>
        </p:spPr>
        <p:txBody>
          <a:bodyPr wrap="none" rtlCol="0">
            <a:spAutoFit/>
          </a:bodyPr>
          <a:lstStyle/>
          <a:p>
            <a:r>
              <a:rPr lang="en-GB" sz="2400" b="1" dirty="0" err="1" smtClean="0"/>
              <a:t>Allosteric</a:t>
            </a:r>
            <a:r>
              <a:rPr lang="en-GB" sz="2400" b="1" dirty="0" smtClean="0"/>
              <a:t> control</a:t>
            </a:r>
            <a:endParaRPr lang="en-GB" sz="2400" b="1" dirty="0"/>
          </a:p>
        </p:txBody>
      </p:sp>
      <p:sp>
        <p:nvSpPr>
          <p:cNvPr id="11" name="TextBox 10"/>
          <p:cNvSpPr txBox="1"/>
          <p:nvPr/>
        </p:nvSpPr>
        <p:spPr>
          <a:xfrm>
            <a:off x="232499" y="4786322"/>
            <a:ext cx="4768129" cy="1384995"/>
          </a:xfrm>
          <a:prstGeom prst="rect">
            <a:avLst/>
          </a:prstGeom>
          <a:noFill/>
        </p:spPr>
        <p:txBody>
          <a:bodyPr wrap="square" rtlCol="0">
            <a:spAutoFit/>
          </a:bodyPr>
          <a:lstStyle/>
          <a:p>
            <a:r>
              <a:rPr lang="en-GB" sz="2400" b="1" dirty="0" smtClean="0"/>
              <a:t>Hormonal regulation</a:t>
            </a:r>
          </a:p>
          <a:p>
            <a:pPr>
              <a:buFont typeface="Wingdings" pitchFamily="2" charset="2"/>
              <a:buChar char="Ø"/>
            </a:pPr>
            <a:r>
              <a:rPr lang="en-GB" sz="2000" dirty="0" smtClean="0"/>
              <a:t>Insulin decreases the synthesis of key enzymes of </a:t>
            </a:r>
            <a:r>
              <a:rPr lang="en-GB" sz="2000" dirty="0" err="1" smtClean="0"/>
              <a:t>gluconeogenesis</a:t>
            </a:r>
            <a:r>
              <a:rPr lang="en-GB" sz="2000" dirty="0" smtClean="0"/>
              <a:t>, thus inhibit </a:t>
            </a:r>
            <a:r>
              <a:rPr lang="en-GB" sz="2000" dirty="0" err="1" smtClean="0"/>
              <a:t>gluconeogenesis</a:t>
            </a:r>
            <a:r>
              <a:rPr lang="en-GB" sz="2000" dirty="0" smtClean="0"/>
              <a:t>.</a:t>
            </a:r>
            <a:endParaRPr lang="en-GB" sz="2000"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1027"/>
          <p:cNvSpPr txBox="1">
            <a:spLocks noChangeArrowheads="1"/>
          </p:cNvSpPr>
          <p:nvPr/>
        </p:nvSpPr>
        <p:spPr>
          <a:xfrm>
            <a:off x="304800" y="190500"/>
            <a:ext cx="8610600" cy="6453210"/>
          </a:xfrm>
          <a:prstGeom prst="rect">
            <a:avLst/>
          </a:prstGeom>
        </p:spPr>
        <p:txBody>
          <a:bodyPr/>
          <a:lstStyle/>
          <a:p>
            <a:pPr marL="0" marR="0" lvl="0" indent="0" algn="l" defTabSz="914400" rtl="0" eaLnBrk="1" fontAlgn="auto" latinLnBrk="0" hangingPunct="1">
              <a:lnSpc>
                <a:spcPct val="95000"/>
              </a:lnSpc>
              <a:spcBef>
                <a:spcPct val="0"/>
              </a:spcBef>
              <a:spcAft>
                <a:spcPts val="0"/>
              </a:spcAft>
              <a:buClrTx/>
              <a:buSzTx/>
              <a:buFontTx/>
              <a:buNone/>
              <a:tabLst>
                <a:tab pos="685800" algn="l"/>
              </a:tabLst>
              <a:defRPr/>
            </a:pP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Glycolysis </a:t>
            </a: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&amp;</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 </a:t>
            </a:r>
            <a:r>
              <a:rPr kumimoji="0" lang="en-US" sz="2800" b="1" i="0" u="none" strike="noStrike" kern="1200" cap="none" spc="0" normalizeH="0" baseline="0" noProof="0" dirty="0" err="1" smtClean="0">
                <a:ln>
                  <a:noFill/>
                </a:ln>
                <a:solidFill>
                  <a:srgbClr val="000099"/>
                </a:solidFill>
                <a:effectLst/>
                <a:uLnTx/>
                <a:uFillTx/>
                <a:latin typeface="+mn-lt"/>
                <a:ea typeface="+mn-ea"/>
                <a:cs typeface="Times New Roman" pitchFamily="18" charset="0"/>
              </a:rPr>
              <a:t>Gluconeogenesis</a:t>
            </a:r>
            <a:r>
              <a:rPr lang="en-US" sz="2800" b="1" dirty="0" smtClean="0">
                <a:solidFill>
                  <a:srgbClr val="FF0000"/>
                </a:solidFill>
                <a:cs typeface="Times New Roman" pitchFamily="18" charset="0"/>
              </a:rPr>
              <a:t>:</a:t>
            </a:r>
            <a:r>
              <a:rPr kumimoji="0" lang="en-US" sz="2800" b="1" i="0" u="none" strike="noStrike" kern="1200" cap="none" spc="0" normalizeH="0" baseline="0" noProof="0" dirty="0" smtClean="0">
                <a:ln>
                  <a:noFill/>
                </a:ln>
                <a:solidFill>
                  <a:srgbClr val="FF0000"/>
                </a:solidFill>
                <a:effectLst/>
                <a:uLnTx/>
                <a:uFillTx/>
                <a:latin typeface="+mn-lt"/>
                <a:ea typeface="+mn-ea"/>
                <a:cs typeface="Times New Roman" pitchFamily="18" charset="0"/>
              </a:rPr>
              <a:t> </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both spontaneous</a:t>
            </a: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 </a:t>
            </a:r>
          </a:p>
          <a:p>
            <a:pPr marL="0" marR="0" lvl="0" indent="0" algn="l" defTabSz="914400" rtl="0" eaLnBrk="1" fontAlgn="auto" latinLnBrk="0" hangingPunct="1">
              <a:lnSpc>
                <a:spcPct val="95000"/>
              </a:lnSpc>
              <a:spcBef>
                <a:spcPct val="0"/>
              </a:spcBef>
              <a:spcAft>
                <a:spcPct val="20000"/>
              </a:spcAft>
              <a:buClrTx/>
              <a:buSzTx/>
              <a:buFontTx/>
              <a:buNone/>
              <a:tabLst>
                <a:tab pos="685800" algn="l"/>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If both pathways were simultaneously active in a cell, it would constitute a "</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futile cycle</a:t>
            </a: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 that would waste energy. </a:t>
            </a:r>
          </a:p>
          <a:p>
            <a:pPr marL="0" marR="0" lvl="0" indent="0" algn="l" defTabSz="914400" rtl="0" eaLnBrk="1" fontAlgn="auto" latinLnBrk="0" hangingPunct="1">
              <a:lnSpc>
                <a:spcPct val="100000"/>
              </a:lnSpc>
              <a:spcBef>
                <a:spcPct val="0"/>
              </a:spcBef>
              <a:spcAft>
                <a:spcPct val="5000"/>
              </a:spcAft>
              <a:buClrTx/>
              <a:buSzTx/>
              <a:buFontTx/>
              <a:buNone/>
              <a:tabLst>
                <a:tab pos="685800" algn="l"/>
              </a:tabLst>
              <a:defRPr/>
            </a:pPr>
            <a:r>
              <a:rPr kumimoji="0" lang="en-US" sz="2800" b="1" i="0" u="none" strike="noStrike" kern="1200" cap="none" spc="0" normalizeH="0" baseline="0" noProof="0" dirty="0" smtClean="0">
                <a:ln>
                  <a:noFill/>
                </a:ln>
                <a:solidFill>
                  <a:schemeClr val="tx1"/>
                </a:solidFill>
                <a:effectLst/>
                <a:uLnTx/>
                <a:uFillTx/>
                <a:latin typeface="+mn-lt"/>
                <a:ea typeface="+mn-ea"/>
                <a:cs typeface="Times New Roman" pitchFamily="18" charset="0"/>
              </a:rPr>
              <a:t>Glycolysis:</a:t>
            </a: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   </a:t>
            </a:r>
          </a:p>
          <a:p>
            <a:pPr marL="0" marR="0" lvl="0" indent="0" algn="l" defTabSz="914400" rtl="0" eaLnBrk="1" fontAlgn="auto" latinLnBrk="0" hangingPunct="1">
              <a:lnSpc>
                <a:spcPct val="100000"/>
              </a:lnSpc>
              <a:spcBef>
                <a:spcPct val="0"/>
              </a:spcBef>
              <a:spcAft>
                <a:spcPct val="5000"/>
              </a:spcAft>
              <a:buClrTx/>
              <a:buSzTx/>
              <a:buFontTx/>
              <a:buNone/>
              <a:tabLst>
                <a:tab pos="685800" algn="l"/>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  </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glucose + 2</a:t>
            </a:r>
            <a:r>
              <a:rPr kumimoji="0" lang="en-US" sz="1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 </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NAD</a:t>
            </a:r>
            <a:r>
              <a:rPr kumimoji="0" lang="en-US" sz="2800" b="1" i="0" u="none" strike="noStrike" kern="1200" cap="none" spc="0" normalizeH="0" baseline="30000" noProof="0" dirty="0" smtClean="0">
                <a:ln>
                  <a:noFill/>
                </a:ln>
                <a:solidFill>
                  <a:srgbClr val="000099"/>
                </a:solidFill>
                <a:effectLst/>
                <a:uLnTx/>
                <a:uFillTx/>
                <a:latin typeface="+mn-lt"/>
                <a:ea typeface="+mn-ea"/>
                <a:cs typeface="Times New Roman" pitchFamily="18" charset="0"/>
              </a:rPr>
              <a:t>+</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 + 2</a:t>
            </a:r>
            <a:r>
              <a:rPr kumimoji="0" lang="en-US" sz="1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 </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ADP + 2</a:t>
            </a:r>
            <a:r>
              <a:rPr kumimoji="0" lang="en-US" sz="1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 </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P</a:t>
            </a:r>
            <a:r>
              <a:rPr kumimoji="0" lang="en-US" sz="2800" b="1" i="0" u="none" strike="noStrike" kern="1200" cap="none" spc="0" normalizeH="0" baseline="-30000" noProof="0" dirty="0" smtClean="0">
                <a:ln>
                  <a:noFill/>
                </a:ln>
                <a:solidFill>
                  <a:srgbClr val="000099"/>
                </a:solidFill>
                <a:effectLst/>
                <a:uLnTx/>
                <a:uFillTx/>
                <a:latin typeface="+mn-lt"/>
                <a:ea typeface="+mn-ea"/>
                <a:cs typeface="Times New Roman" pitchFamily="18" charset="0"/>
              </a:rPr>
              <a:t>i</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   </a:t>
            </a:r>
            <a:r>
              <a:rPr kumimoji="0" lang="en-US" sz="2400" b="1" i="0" u="none" strike="noStrike" kern="1200" cap="none" spc="0" normalizeH="0" baseline="0" noProof="0" dirty="0" smtClean="0">
                <a:ln>
                  <a:noFill/>
                </a:ln>
                <a:solidFill>
                  <a:schemeClr val="hlink"/>
                </a:solidFill>
                <a:effectLst/>
                <a:uLnTx/>
                <a:uFillTx/>
                <a:latin typeface="+mn-lt"/>
                <a:ea typeface="+mn-ea"/>
                <a:cs typeface="Times New Roman" pitchFamily="18" charset="0"/>
                <a:sym typeface="Wingdings" pitchFamily="2" charset="2"/>
              </a:rPr>
              <a:t></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 </a:t>
            </a:r>
          </a:p>
          <a:p>
            <a:pPr marL="0" marR="0" lvl="0" indent="0" algn="l" defTabSz="914400" rtl="0" eaLnBrk="1" fontAlgn="auto" latinLnBrk="0" hangingPunct="1">
              <a:lnSpc>
                <a:spcPct val="100000"/>
              </a:lnSpc>
              <a:spcBef>
                <a:spcPct val="0"/>
              </a:spcBef>
              <a:spcAft>
                <a:spcPts val="0"/>
              </a:spcAft>
              <a:buClrTx/>
              <a:buSzTx/>
              <a:buFontTx/>
              <a:buNone/>
              <a:tabLst>
                <a:tab pos="685800" algn="l"/>
              </a:tabLst>
              <a:defRPr/>
            </a:pP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                                         2</a:t>
            </a:r>
            <a:r>
              <a:rPr kumimoji="0" lang="en-US" sz="1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 </a:t>
            </a:r>
            <a:r>
              <a:rPr kumimoji="0" lang="en-US" sz="2800" b="1" i="0" u="none" strike="noStrike" kern="1200" cap="none" spc="0" normalizeH="0" baseline="0" noProof="0" dirty="0" err="1" smtClean="0">
                <a:ln>
                  <a:noFill/>
                </a:ln>
                <a:solidFill>
                  <a:srgbClr val="000099"/>
                </a:solidFill>
                <a:effectLst/>
                <a:uLnTx/>
                <a:uFillTx/>
                <a:latin typeface="+mn-lt"/>
                <a:ea typeface="+mn-ea"/>
                <a:cs typeface="Times New Roman" pitchFamily="18" charset="0"/>
              </a:rPr>
              <a:t>pyruvate</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 + 2</a:t>
            </a:r>
            <a:r>
              <a:rPr kumimoji="0" lang="en-US" sz="1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 </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NADH +  2</a:t>
            </a:r>
            <a:r>
              <a:rPr kumimoji="0" lang="en-US" sz="1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 </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ATP</a:t>
            </a:r>
          </a:p>
          <a:p>
            <a:pPr marL="0" marR="0" lvl="0" indent="0" algn="l" defTabSz="914400" rtl="0" eaLnBrk="1" fontAlgn="auto" latinLnBrk="0" hangingPunct="1">
              <a:lnSpc>
                <a:spcPct val="100000"/>
              </a:lnSpc>
              <a:spcBef>
                <a:spcPct val="0"/>
              </a:spcBef>
              <a:spcAft>
                <a:spcPct val="5000"/>
              </a:spcAft>
              <a:buClrTx/>
              <a:buSzTx/>
              <a:buFontTx/>
              <a:buNone/>
              <a:tabLst>
                <a:tab pos="685800" algn="l"/>
              </a:tabLst>
              <a:defRPr/>
            </a:pPr>
            <a:r>
              <a:rPr kumimoji="0" lang="en-US" sz="2800" b="1" i="0" u="none" strike="noStrike" kern="1200" cap="none" spc="0" normalizeH="0" baseline="0" noProof="0" dirty="0" err="1" smtClean="0">
                <a:ln>
                  <a:noFill/>
                </a:ln>
                <a:solidFill>
                  <a:schemeClr val="tx1"/>
                </a:solidFill>
                <a:effectLst/>
                <a:uLnTx/>
                <a:uFillTx/>
                <a:latin typeface="+mn-lt"/>
                <a:ea typeface="+mn-ea"/>
                <a:cs typeface="Times New Roman" pitchFamily="18" charset="0"/>
              </a:rPr>
              <a:t>Gluconeogenesis</a:t>
            </a:r>
            <a:r>
              <a:rPr kumimoji="0" lang="en-US" sz="2800" b="1" i="0" u="none" strike="noStrike" kern="1200" cap="none" spc="0" normalizeH="0" baseline="0" noProof="0" dirty="0" smtClean="0">
                <a:ln>
                  <a:noFill/>
                </a:ln>
                <a:solidFill>
                  <a:schemeClr val="tx1"/>
                </a:solidFill>
                <a:effectLst/>
                <a:uLnTx/>
                <a:uFillTx/>
                <a:latin typeface="+mn-lt"/>
                <a:ea typeface="+mn-ea"/>
                <a:cs typeface="Times New Roman" pitchFamily="18" charset="0"/>
              </a:rPr>
              <a:t>:</a:t>
            </a: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  </a:t>
            </a:r>
          </a:p>
          <a:p>
            <a:pPr marL="0" marR="0" lvl="0" indent="0" algn="l" defTabSz="914400" rtl="0" eaLnBrk="1" fontAlgn="auto" latinLnBrk="0" hangingPunct="1">
              <a:lnSpc>
                <a:spcPct val="100000"/>
              </a:lnSpc>
              <a:spcBef>
                <a:spcPct val="0"/>
              </a:spcBef>
              <a:spcAft>
                <a:spcPct val="5000"/>
              </a:spcAft>
              <a:buClrTx/>
              <a:buSzTx/>
              <a:buFontTx/>
              <a:buNone/>
              <a:tabLst>
                <a:tab pos="685800" algn="l"/>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  </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2</a:t>
            </a:r>
            <a:r>
              <a:rPr kumimoji="0" lang="en-US" sz="1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 </a:t>
            </a:r>
            <a:r>
              <a:rPr kumimoji="0" lang="en-US" sz="2800" b="1" i="0" u="none" strike="noStrike" kern="1200" cap="none" spc="0" normalizeH="0" baseline="0" noProof="0" dirty="0" err="1" smtClean="0">
                <a:ln>
                  <a:noFill/>
                </a:ln>
                <a:solidFill>
                  <a:srgbClr val="000099"/>
                </a:solidFill>
                <a:effectLst/>
                <a:uLnTx/>
                <a:uFillTx/>
                <a:latin typeface="+mn-lt"/>
                <a:ea typeface="+mn-ea"/>
                <a:cs typeface="Times New Roman" pitchFamily="18" charset="0"/>
              </a:rPr>
              <a:t>pyruvate</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 + 2</a:t>
            </a:r>
            <a:r>
              <a:rPr kumimoji="0" lang="en-US" sz="1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 </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NADH +  </a:t>
            </a:r>
            <a:r>
              <a:rPr kumimoji="0" lang="en-US" sz="900" b="1" i="0" u="none" strike="noStrike" kern="1200" cap="none" spc="0" normalizeH="0" baseline="0" noProof="0" dirty="0" smtClean="0">
                <a:ln>
                  <a:noFill/>
                </a:ln>
                <a:solidFill>
                  <a:srgbClr val="000099"/>
                </a:solidFill>
                <a:effectLst/>
                <a:uLnTx/>
                <a:uFillTx/>
                <a:latin typeface="+mn-lt"/>
                <a:ea typeface="+mn-ea"/>
                <a:cs typeface="Times New Roman" pitchFamily="18" charset="0"/>
              </a:rPr>
              <a:t>  </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4</a:t>
            </a:r>
            <a:r>
              <a:rPr kumimoji="0" lang="en-US" sz="1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 </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ATP + 2</a:t>
            </a:r>
            <a:r>
              <a:rPr kumimoji="0" lang="en-US" sz="1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 </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GTP   </a:t>
            </a:r>
            <a:r>
              <a:rPr kumimoji="0" lang="en-US" sz="2400" b="1" i="0" u="none" strike="noStrike" kern="1200" cap="none" spc="0" normalizeH="0" baseline="0" noProof="0" dirty="0" smtClean="0">
                <a:ln>
                  <a:noFill/>
                </a:ln>
                <a:solidFill>
                  <a:schemeClr val="hlink"/>
                </a:solidFill>
                <a:effectLst/>
                <a:uLnTx/>
                <a:uFillTx/>
                <a:latin typeface="+mn-lt"/>
                <a:ea typeface="+mn-ea"/>
                <a:cs typeface="Times New Roman" pitchFamily="18" charset="0"/>
                <a:sym typeface="Wingdings" pitchFamily="2" charset="2"/>
              </a:rPr>
              <a:t></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 </a:t>
            </a:r>
          </a:p>
          <a:p>
            <a:pPr marL="0" marR="0" lvl="0" indent="0" algn="l" defTabSz="914400" rtl="0" eaLnBrk="1" fontAlgn="auto" latinLnBrk="0" hangingPunct="1">
              <a:lnSpc>
                <a:spcPct val="100000"/>
              </a:lnSpc>
              <a:spcBef>
                <a:spcPct val="0"/>
              </a:spcBef>
              <a:spcAft>
                <a:spcPct val="10000"/>
              </a:spcAft>
              <a:buClrTx/>
              <a:buSzTx/>
              <a:buFontTx/>
              <a:buNone/>
              <a:tabLst>
                <a:tab pos="685800" algn="l"/>
              </a:tabLst>
              <a:defRPr/>
            </a:pP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                        glucose + 2</a:t>
            </a:r>
            <a:r>
              <a:rPr kumimoji="0" lang="en-US" sz="1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 </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NAD</a:t>
            </a:r>
            <a:r>
              <a:rPr kumimoji="0" lang="en-US" sz="2800" b="1" i="0" u="none" strike="noStrike" kern="1200" cap="none" spc="0" normalizeH="0" baseline="30000" noProof="0" dirty="0" smtClean="0">
                <a:ln>
                  <a:noFill/>
                </a:ln>
                <a:solidFill>
                  <a:srgbClr val="000099"/>
                </a:solidFill>
                <a:effectLst/>
                <a:uLnTx/>
                <a:uFillTx/>
                <a:latin typeface="+mn-lt"/>
                <a:ea typeface="+mn-ea"/>
                <a:cs typeface="Times New Roman" pitchFamily="18" charset="0"/>
              </a:rPr>
              <a:t>+</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 + 4</a:t>
            </a:r>
            <a:r>
              <a:rPr kumimoji="0" lang="en-US" sz="1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 </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ADP + 2</a:t>
            </a:r>
            <a:r>
              <a:rPr kumimoji="0" lang="en-US" sz="1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 </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GDP + 6</a:t>
            </a:r>
            <a:r>
              <a:rPr kumimoji="0" lang="en-US" sz="1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 </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P</a:t>
            </a:r>
            <a:r>
              <a:rPr kumimoji="0" lang="en-US" sz="2800" b="1" i="0" u="none" strike="noStrike" kern="1200" cap="none" spc="0" normalizeH="0" baseline="-30000" noProof="0" dirty="0" smtClean="0">
                <a:ln>
                  <a:noFill/>
                </a:ln>
                <a:solidFill>
                  <a:srgbClr val="000099"/>
                </a:solidFill>
                <a:effectLst/>
                <a:uLnTx/>
                <a:uFillTx/>
                <a:latin typeface="+mn-lt"/>
                <a:ea typeface="+mn-ea"/>
                <a:cs typeface="Times New Roman" pitchFamily="18" charset="0"/>
              </a:rPr>
              <a:t>i</a:t>
            </a:r>
            <a:endParaRPr kumimoji="0" lang="en-US" sz="2800" b="1" i="0" u="none" strike="noStrike" kern="1200" cap="none" spc="0" normalizeH="0" baseline="0" noProof="0" dirty="0" smtClean="0">
              <a:ln>
                <a:noFill/>
              </a:ln>
              <a:solidFill>
                <a:schemeClr val="tx1"/>
              </a:solidFill>
              <a:effectLst/>
              <a:uLnTx/>
              <a:uFillTx/>
              <a:latin typeface="+mn-lt"/>
              <a:ea typeface="+mn-ea"/>
              <a:cs typeface="Times New Roman" pitchFamily="18" charset="0"/>
            </a:endParaRPr>
          </a:p>
          <a:p>
            <a:pPr marL="0" marR="0" lvl="0" indent="0" algn="l" defTabSz="914400" rtl="0" eaLnBrk="1" fontAlgn="auto" latinLnBrk="0" hangingPunct="1">
              <a:lnSpc>
                <a:spcPct val="100000"/>
              </a:lnSpc>
              <a:spcBef>
                <a:spcPct val="0"/>
              </a:spcBef>
              <a:spcAft>
                <a:spcPct val="15000"/>
              </a:spcAft>
              <a:buClrTx/>
              <a:buSzTx/>
              <a:buFontTx/>
              <a:buNone/>
              <a:tabLst>
                <a:tab pos="685800" algn="l"/>
              </a:tabLst>
              <a:defRPr/>
            </a:pPr>
            <a:r>
              <a:rPr kumimoji="0" lang="en-US" sz="2800" b="1" i="0" u="none" strike="noStrike" kern="1200" cap="none" spc="0" normalizeH="0" baseline="0" noProof="0" dirty="0" smtClean="0">
                <a:ln>
                  <a:noFill/>
                </a:ln>
                <a:solidFill>
                  <a:srgbClr val="009999"/>
                </a:solidFill>
                <a:effectLst/>
                <a:uLnTx/>
                <a:uFillTx/>
                <a:latin typeface="+mn-lt"/>
                <a:ea typeface="+mn-ea"/>
                <a:cs typeface="Times New Roman" pitchFamily="18" charset="0"/>
              </a:rPr>
              <a:t>Questions:</a:t>
            </a:r>
          </a:p>
          <a:p>
            <a:pPr marL="0" marR="0" lvl="0" indent="0" algn="l" defTabSz="914400" rtl="0" eaLnBrk="1" fontAlgn="auto" latinLnBrk="0" hangingPunct="1">
              <a:lnSpc>
                <a:spcPct val="100000"/>
              </a:lnSpc>
              <a:spcBef>
                <a:spcPct val="0"/>
              </a:spcBef>
              <a:spcAft>
                <a:spcPct val="15000"/>
              </a:spcAft>
              <a:buClrTx/>
              <a:buSzTx/>
              <a:buFontTx/>
              <a:buNone/>
              <a:tabLst>
                <a:tab pos="685800" algn="l"/>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1. </a:t>
            </a:r>
            <a:r>
              <a:rPr kumimoji="0" lang="en-US" sz="2800" b="1" i="0" u="none" strike="noStrike" kern="1200" cap="none" spc="0" normalizeH="0" baseline="0" noProof="0" dirty="0" smtClean="0">
                <a:ln>
                  <a:noFill/>
                </a:ln>
                <a:solidFill>
                  <a:schemeClr val="tx1"/>
                </a:solidFill>
                <a:effectLst/>
                <a:uLnTx/>
                <a:uFillTx/>
                <a:latin typeface="+mn-lt"/>
                <a:ea typeface="+mn-ea"/>
                <a:cs typeface="Times New Roman" pitchFamily="18" charset="0"/>
              </a:rPr>
              <a:t>Glycolysis</a:t>
            </a: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 yields </a:t>
            </a:r>
            <a:r>
              <a:rPr kumimoji="0" lang="en-US" sz="2800" b="1" i="0" u="none" strike="noStrike" kern="1200" cap="none" spc="0" normalizeH="0" baseline="0" noProof="0" dirty="0" smtClean="0">
                <a:ln>
                  <a:noFill/>
                </a:ln>
                <a:solidFill>
                  <a:schemeClr val="tx1"/>
                </a:solidFill>
                <a:effectLst/>
                <a:uLnTx/>
                <a:uFillTx/>
                <a:latin typeface="+mn-lt"/>
                <a:ea typeface="+mn-ea"/>
                <a:cs typeface="Times New Roman" pitchFamily="18" charset="0"/>
              </a:rPr>
              <a:t>how many ~P</a:t>
            </a:r>
            <a:r>
              <a:rPr kumimoji="0" lang="en-US" sz="2800" b="1" i="0" u="none" strike="noStrike" kern="1200" cap="none" spc="0" normalizeH="0" baseline="0" noProof="0" dirty="0" smtClean="0">
                <a:ln>
                  <a:noFill/>
                </a:ln>
                <a:solidFill>
                  <a:schemeClr val="hlink"/>
                </a:solidFill>
                <a:effectLst/>
                <a:uLnTx/>
                <a:uFillTx/>
                <a:latin typeface="+mn-lt"/>
                <a:ea typeface="+mn-ea"/>
                <a:cs typeface="Times New Roman" pitchFamily="18" charset="0"/>
              </a:rPr>
              <a:t> </a:t>
            </a: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  </a:t>
            </a:r>
            <a:r>
              <a:rPr kumimoji="0" lang="en-US" sz="2800" b="0" i="0" u="none" strike="noStrike" kern="1200" cap="none" spc="0" normalizeH="0" baseline="0" noProof="0" dirty="0" smtClean="0">
                <a:ln>
                  <a:noFill/>
                </a:ln>
                <a:solidFill>
                  <a:srgbClr val="FF0000"/>
                </a:solidFill>
                <a:effectLst/>
                <a:uLnTx/>
                <a:uFillTx/>
                <a:latin typeface="+mn-lt"/>
                <a:ea typeface="+mn-ea"/>
                <a:cs typeface="Times New Roman" pitchFamily="18" charset="0"/>
              </a:rPr>
              <a:t>2</a:t>
            </a:r>
            <a:endParaRPr kumimoji="0" lang="en-US" sz="2800" b="1" i="0" u="none" strike="noStrike" kern="1200" cap="none" spc="0" normalizeH="0" baseline="0" noProof="0" dirty="0" smtClean="0">
              <a:ln>
                <a:noFill/>
              </a:ln>
              <a:solidFill>
                <a:srgbClr val="FF0000"/>
              </a:solidFill>
              <a:effectLst/>
              <a:uLnTx/>
              <a:uFillTx/>
              <a:latin typeface="+mn-lt"/>
              <a:ea typeface="+mn-ea"/>
              <a:cs typeface="Times New Roman" pitchFamily="18" charset="0"/>
            </a:endParaRPr>
          </a:p>
          <a:p>
            <a:pPr marL="0" marR="0" lvl="0" indent="0" algn="l" defTabSz="914400" rtl="0" eaLnBrk="1" fontAlgn="auto" latinLnBrk="0" hangingPunct="1">
              <a:lnSpc>
                <a:spcPct val="100000"/>
              </a:lnSpc>
              <a:spcBef>
                <a:spcPct val="0"/>
              </a:spcBef>
              <a:spcAft>
                <a:spcPct val="10000"/>
              </a:spcAft>
              <a:buClrTx/>
              <a:buSzTx/>
              <a:buFontTx/>
              <a:buNone/>
              <a:tabLst>
                <a:tab pos="685800" algn="l"/>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2. </a:t>
            </a:r>
            <a:r>
              <a:rPr kumimoji="0" lang="en-US" sz="2800" b="1" i="0" u="none" strike="noStrike" kern="1200" cap="none" spc="0" normalizeH="0" baseline="0" noProof="0" dirty="0" err="1" smtClean="0">
                <a:ln>
                  <a:noFill/>
                </a:ln>
                <a:solidFill>
                  <a:schemeClr val="tx1"/>
                </a:solidFill>
                <a:effectLst/>
                <a:uLnTx/>
                <a:uFillTx/>
                <a:latin typeface="+mn-lt"/>
                <a:ea typeface="+mn-ea"/>
                <a:cs typeface="Times New Roman" pitchFamily="18" charset="0"/>
              </a:rPr>
              <a:t>Gluconeogenesis</a:t>
            </a: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 expends</a:t>
            </a:r>
            <a:r>
              <a:rPr kumimoji="0" lang="en-US" sz="2800" b="1" i="0" u="none" strike="noStrike" kern="1200" cap="none" spc="0" normalizeH="0" baseline="0" noProof="0" dirty="0" smtClean="0">
                <a:ln>
                  <a:noFill/>
                </a:ln>
                <a:solidFill>
                  <a:schemeClr val="tx1"/>
                </a:solidFill>
                <a:effectLst/>
                <a:uLnTx/>
                <a:uFillTx/>
                <a:latin typeface="+mn-lt"/>
                <a:ea typeface="+mn-ea"/>
                <a:cs typeface="Times New Roman" pitchFamily="18" charset="0"/>
              </a:rPr>
              <a:t> how many ~P</a:t>
            </a: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 ? </a:t>
            </a:r>
            <a:r>
              <a:rPr lang="en-US" sz="2800" dirty="0" smtClean="0">
                <a:solidFill>
                  <a:srgbClr val="FF0000"/>
                </a:solidFill>
                <a:cs typeface="Times New Roman" pitchFamily="18" charset="0"/>
              </a:rPr>
              <a:t>6</a:t>
            </a:r>
            <a:endParaRPr kumimoji="0" lang="en-US" sz="2800" b="1" i="0" u="none" strike="noStrike" kern="1200" cap="none" spc="0" normalizeH="0" baseline="0" noProof="0" dirty="0" smtClean="0">
              <a:ln>
                <a:noFill/>
              </a:ln>
              <a:solidFill>
                <a:srgbClr val="FF0000"/>
              </a:solidFill>
              <a:effectLst/>
              <a:uLnTx/>
              <a:uFillTx/>
              <a:latin typeface="+mn-lt"/>
              <a:ea typeface="+mn-ea"/>
              <a:cs typeface="Times New Roman" pitchFamily="18" charset="0"/>
            </a:endParaRPr>
          </a:p>
          <a:p>
            <a:pPr marL="0" marR="0" lvl="0" indent="0" algn="l" defTabSz="914400" rtl="0" eaLnBrk="1" fontAlgn="auto" latinLnBrk="0" hangingPunct="1">
              <a:lnSpc>
                <a:spcPct val="100000"/>
              </a:lnSpc>
              <a:spcBef>
                <a:spcPct val="0"/>
              </a:spcBef>
              <a:spcAft>
                <a:spcPts val="0"/>
              </a:spcAft>
              <a:buClrTx/>
              <a:buSzTx/>
              <a:buFontTx/>
              <a:buNone/>
              <a:tabLst>
                <a:tab pos="685800" algn="l"/>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3. A </a:t>
            </a:r>
            <a:r>
              <a:rPr kumimoji="0" lang="en-US" sz="2800" b="1" i="0" u="none" strike="noStrike" kern="1200" cap="none" spc="0" normalizeH="0" baseline="0" noProof="0" dirty="0" smtClean="0">
                <a:ln>
                  <a:noFill/>
                </a:ln>
                <a:solidFill>
                  <a:schemeClr val="tx1"/>
                </a:solidFill>
                <a:effectLst/>
                <a:uLnTx/>
                <a:uFillTx/>
                <a:latin typeface="+mn-lt"/>
                <a:ea typeface="+mn-ea"/>
                <a:cs typeface="Times New Roman" pitchFamily="18" charset="0"/>
              </a:rPr>
              <a:t>futile cycle</a:t>
            </a: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 of both pathways would waste </a:t>
            </a:r>
            <a:r>
              <a:rPr kumimoji="0" lang="en-US" sz="2800" b="1" i="0" u="none" strike="noStrike" kern="1200" cap="none" spc="0" normalizeH="0" baseline="0" noProof="0" dirty="0" smtClean="0">
                <a:ln>
                  <a:noFill/>
                </a:ln>
                <a:solidFill>
                  <a:schemeClr val="tx1"/>
                </a:solidFill>
                <a:effectLst/>
                <a:uLnTx/>
                <a:uFillTx/>
                <a:latin typeface="+mn-lt"/>
                <a:ea typeface="+mn-ea"/>
                <a:cs typeface="Times New Roman" pitchFamily="18" charset="0"/>
              </a:rPr>
              <a:t>how many</a:t>
            </a:r>
          </a:p>
          <a:p>
            <a:pPr marL="0" marR="0" lvl="0" indent="0" algn="l" defTabSz="914400" rtl="0" eaLnBrk="1" fontAlgn="auto" latinLnBrk="0" hangingPunct="1">
              <a:lnSpc>
                <a:spcPct val="100000"/>
              </a:lnSpc>
              <a:spcBef>
                <a:spcPct val="0"/>
              </a:spcBef>
              <a:spcAft>
                <a:spcPct val="10000"/>
              </a:spcAft>
              <a:buClrTx/>
              <a:buSzTx/>
              <a:buFontTx/>
              <a:buNone/>
              <a:tabLst>
                <a:tab pos="685800" algn="l"/>
              </a:tabLst>
              <a:defRPr/>
            </a:pPr>
            <a:r>
              <a:rPr kumimoji="0" lang="en-US" sz="2800" b="1" i="0" u="none" strike="noStrike" kern="1200" cap="none" spc="0" normalizeH="0" baseline="0" noProof="0" dirty="0" smtClean="0">
                <a:ln>
                  <a:noFill/>
                </a:ln>
                <a:solidFill>
                  <a:schemeClr val="tx1"/>
                </a:solidFill>
                <a:effectLst/>
                <a:uLnTx/>
                <a:uFillTx/>
                <a:latin typeface="+mn-lt"/>
                <a:ea typeface="+mn-ea"/>
                <a:cs typeface="Times New Roman" pitchFamily="18" charset="0"/>
              </a:rPr>
              <a:t>    ~P per cycle</a:t>
            </a: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 ? </a:t>
            </a:r>
            <a:r>
              <a:rPr kumimoji="0" lang="en-US" sz="2800" b="0" i="0" u="none" strike="noStrike" kern="1200" cap="none" spc="0" normalizeH="0" baseline="0" noProof="0" dirty="0" smtClean="0">
                <a:ln>
                  <a:noFill/>
                </a:ln>
                <a:solidFill>
                  <a:srgbClr val="FF0000"/>
                </a:solidFill>
                <a:effectLst/>
                <a:uLnTx/>
                <a:uFillTx/>
                <a:latin typeface="+mn-lt"/>
                <a:ea typeface="+mn-ea"/>
                <a:cs typeface="Times New Roman" pitchFamily="18" charset="0"/>
              </a:rPr>
              <a:t>4</a:t>
            </a:r>
            <a:endParaRPr kumimoji="0" lang="en-US" sz="2800" b="1" i="0" u="none" strike="noStrike" kern="1200" cap="none" spc="0" normalizeH="0" baseline="0" noProof="0" dirty="0" smtClean="0">
              <a:ln>
                <a:noFill/>
              </a:ln>
              <a:solidFill>
                <a:srgbClr val="FF0000"/>
              </a:solidFill>
              <a:effectLst/>
              <a:uLnTx/>
              <a:uFillTx/>
              <a:latin typeface="+mn-lt"/>
              <a:ea typeface="+mn-ea"/>
              <a:cs typeface="Times New Roman" pitchFamily="18" charset="0"/>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1027"/>
          <p:cNvSpPr txBox="1">
            <a:spLocks noChangeArrowheads="1"/>
          </p:cNvSpPr>
          <p:nvPr/>
        </p:nvSpPr>
        <p:spPr>
          <a:xfrm>
            <a:off x="214282" y="71414"/>
            <a:ext cx="8929718" cy="1671624"/>
          </a:xfrm>
          <a:prstGeom prst="rect">
            <a:avLst/>
          </a:prstGeom>
        </p:spPr>
        <p:txBody>
          <a:bodyPr/>
          <a:lstStyle/>
          <a:p>
            <a:pPr marL="0" marR="0" lvl="0" indent="0" algn="l" defTabSz="914400" rtl="0" eaLnBrk="1" fontAlgn="auto" latinLnBrk="0" hangingPunct="1">
              <a:lnSpc>
                <a:spcPct val="95000"/>
              </a:lnSpc>
              <a:spcBef>
                <a:spcPct val="0"/>
              </a:spcBef>
              <a:spcAft>
                <a:spcPct val="30000"/>
              </a:spcAft>
              <a:buClrTx/>
              <a:buSzTx/>
              <a:buFontTx/>
              <a:buNone/>
              <a:tabLst>
                <a:tab pos="685800" algn="l"/>
              </a:tabLst>
              <a:defRPr/>
            </a:pPr>
            <a:r>
              <a:rPr kumimoji="0" lang="en-US" b="0" i="0" u="none" strike="noStrike" kern="1200" cap="none" spc="0" normalizeH="0" baseline="0" noProof="0" dirty="0" smtClean="0">
                <a:ln>
                  <a:noFill/>
                </a:ln>
                <a:solidFill>
                  <a:schemeClr val="tx1"/>
                </a:solidFill>
                <a:effectLst/>
                <a:uLnTx/>
                <a:uFillTx/>
                <a:latin typeface="+mn-lt"/>
                <a:ea typeface="+mn-ea"/>
                <a:cs typeface="Times New Roman" pitchFamily="18" charset="0"/>
              </a:rPr>
              <a:t>To prevent the waste of a futile cycle, Glycolysis &amp; </a:t>
            </a:r>
            <a:r>
              <a:rPr kumimoji="0" lang="en-US" b="0" i="0" u="none" strike="noStrike" kern="1200" cap="none" spc="0" normalizeH="0" baseline="0" noProof="0" dirty="0" err="1" smtClean="0">
                <a:ln>
                  <a:noFill/>
                </a:ln>
                <a:solidFill>
                  <a:schemeClr val="tx1"/>
                </a:solidFill>
                <a:effectLst/>
                <a:uLnTx/>
                <a:uFillTx/>
                <a:latin typeface="+mn-lt"/>
                <a:ea typeface="+mn-ea"/>
                <a:cs typeface="Times New Roman" pitchFamily="18" charset="0"/>
              </a:rPr>
              <a:t>Gluconeogenesis</a:t>
            </a:r>
            <a:r>
              <a:rPr kumimoji="0" lang="en-US" b="0" i="0" u="none" strike="noStrike" kern="1200" cap="none" spc="0" normalizeH="0" baseline="0" noProof="0" dirty="0" smtClean="0">
                <a:ln>
                  <a:noFill/>
                </a:ln>
                <a:solidFill>
                  <a:schemeClr val="tx1"/>
                </a:solidFill>
                <a:effectLst/>
                <a:uLnTx/>
                <a:uFillTx/>
                <a:latin typeface="+mn-lt"/>
                <a:ea typeface="+mn-ea"/>
                <a:cs typeface="Times New Roman" pitchFamily="18" charset="0"/>
              </a:rPr>
              <a:t> are </a:t>
            </a:r>
            <a:r>
              <a:rPr kumimoji="0" lang="en-US" b="1" i="0" u="none" strike="noStrike" kern="1200" cap="none" spc="0" normalizeH="0" baseline="0" noProof="0" dirty="0" smtClean="0">
                <a:ln>
                  <a:noFill/>
                </a:ln>
                <a:solidFill>
                  <a:srgbClr val="000099"/>
                </a:solidFill>
                <a:effectLst/>
                <a:uLnTx/>
                <a:uFillTx/>
                <a:latin typeface="+mn-lt"/>
                <a:ea typeface="+mn-ea"/>
                <a:cs typeface="Times New Roman" pitchFamily="18" charset="0"/>
              </a:rPr>
              <a:t>reciprocally regulated</a:t>
            </a:r>
            <a:r>
              <a:rPr kumimoji="0" lang="en-US" b="0" i="0" u="none" strike="noStrike" kern="1200" cap="none" spc="0" normalizeH="0" baseline="0" noProof="0" dirty="0" smtClean="0">
                <a:ln>
                  <a:noFill/>
                </a:ln>
                <a:solidFill>
                  <a:schemeClr val="tx1"/>
                </a:solidFill>
                <a:effectLst/>
                <a:uLnTx/>
                <a:uFillTx/>
                <a:latin typeface="+mn-lt"/>
                <a:ea typeface="+mn-ea"/>
                <a:cs typeface="Times New Roman" pitchFamily="18" charset="0"/>
              </a:rPr>
              <a:t>.</a:t>
            </a:r>
          </a:p>
          <a:p>
            <a:pPr marL="0" marR="0" lvl="0" indent="0" algn="l" defTabSz="914400" rtl="0" eaLnBrk="1" fontAlgn="auto" latinLnBrk="0" hangingPunct="1">
              <a:lnSpc>
                <a:spcPct val="95000"/>
              </a:lnSpc>
              <a:spcBef>
                <a:spcPct val="0"/>
              </a:spcBef>
              <a:spcAft>
                <a:spcPct val="20000"/>
              </a:spcAft>
              <a:buClrTx/>
              <a:buSzTx/>
              <a:buFontTx/>
              <a:buNone/>
              <a:tabLst>
                <a:tab pos="685800" algn="l"/>
              </a:tabLst>
              <a:defRPr/>
            </a:pPr>
            <a:r>
              <a:rPr kumimoji="0" lang="en-US" sz="2400" b="1" i="0" u="none" strike="noStrike" kern="1200" cap="none" spc="0" normalizeH="0" baseline="0" noProof="0" dirty="0" smtClean="0">
                <a:ln>
                  <a:noFill/>
                </a:ln>
                <a:solidFill>
                  <a:schemeClr val="hlink"/>
                </a:solidFill>
                <a:effectLst/>
                <a:uLnTx/>
                <a:uFillTx/>
                <a:latin typeface="+mn-lt"/>
                <a:ea typeface="+mn-ea"/>
                <a:cs typeface="Times New Roman" pitchFamily="18" charset="0"/>
              </a:rPr>
              <a:t>Local Control:</a:t>
            </a:r>
            <a:r>
              <a:rPr kumimoji="0" lang="en-US" sz="2400" b="0" i="0" u="none" strike="noStrike" kern="1200" cap="none" spc="0" normalizeH="0" baseline="0" noProof="0" dirty="0" smtClean="0">
                <a:ln>
                  <a:noFill/>
                </a:ln>
                <a:solidFill>
                  <a:schemeClr val="tx1"/>
                </a:solidFill>
                <a:effectLst/>
                <a:uLnTx/>
                <a:uFillTx/>
                <a:latin typeface="+mn-lt"/>
                <a:ea typeface="+mn-ea"/>
                <a:cs typeface="Times New Roman" pitchFamily="18" charset="0"/>
              </a:rPr>
              <a:t> </a:t>
            </a:r>
            <a:r>
              <a:rPr lang="en-US" dirty="0" smtClean="0">
                <a:cs typeface="Times New Roman" pitchFamily="18" charset="0"/>
              </a:rPr>
              <a:t>In</a:t>
            </a:r>
            <a:r>
              <a:rPr kumimoji="0" lang="en-US" b="0" i="0" u="none" strike="noStrike" kern="1200" cap="none" spc="0" normalizeH="0" baseline="0" noProof="0" dirty="0" err="1" smtClean="0">
                <a:ln>
                  <a:noFill/>
                </a:ln>
                <a:solidFill>
                  <a:schemeClr val="tx1"/>
                </a:solidFill>
                <a:effectLst/>
                <a:uLnTx/>
                <a:uFillTx/>
                <a:latin typeface="+mn-lt"/>
                <a:ea typeface="+mn-ea"/>
                <a:cs typeface="Times New Roman" pitchFamily="18" charset="0"/>
              </a:rPr>
              <a:t>cludes</a:t>
            </a:r>
            <a:r>
              <a:rPr kumimoji="0" lang="en-US" b="0" i="0" u="none" strike="noStrike" kern="1200" cap="none" spc="0" normalizeH="0" baseline="0" noProof="0" dirty="0" smtClean="0">
                <a:ln>
                  <a:noFill/>
                </a:ln>
                <a:solidFill>
                  <a:schemeClr val="tx1"/>
                </a:solidFill>
                <a:effectLst/>
                <a:uLnTx/>
                <a:uFillTx/>
                <a:latin typeface="+mn-lt"/>
                <a:ea typeface="+mn-ea"/>
                <a:cs typeface="Times New Roman" pitchFamily="18" charset="0"/>
              </a:rPr>
              <a:t> reciprocal </a:t>
            </a:r>
            <a:r>
              <a:rPr kumimoji="0" lang="en-US" b="0" i="0" u="none" strike="noStrike" kern="1200" cap="none" spc="0" normalizeH="0" baseline="0" noProof="0" dirty="0" err="1" smtClean="0">
                <a:ln>
                  <a:noFill/>
                </a:ln>
                <a:solidFill>
                  <a:schemeClr val="tx1"/>
                </a:solidFill>
                <a:effectLst/>
                <a:uLnTx/>
                <a:uFillTx/>
                <a:latin typeface="+mn-lt"/>
                <a:ea typeface="+mn-ea"/>
                <a:cs typeface="Times New Roman" pitchFamily="18" charset="0"/>
              </a:rPr>
              <a:t>allosteric</a:t>
            </a:r>
            <a:r>
              <a:rPr kumimoji="0" lang="en-US" b="0" i="0" u="none" strike="noStrike" kern="1200" cap="none" spc="0" normalizeH="0" baseline="0" noProof="0" dirty="0" smtClean="0">
                <a:ln>
                  <a:noFill/>
                </a:ln>
                <a:solidFill>
                  <a:schemeClr val="tx1"/>
                </a:solidFill>
                <a:effectLst/>
                <a:uLnTx/>
                <a:uFillTx/>
                <a:latin typeface="+mn-lt"/>
                <a:ea typeface="+mn-ea"/>
                <a:cs typeface="Times New Roman" pitchFamily="18" charset="0"/>
              </a:rPr>
              <a:t> regulation by </a:t>
            </a:r>
            <a:r>
              <a:rPr kumimoji="0" lang="en-US" b="1" i="0" u="none" strike="noStrike" kern="1200" cap="none" spc="0" normalizeH="0" baseline="0" noProof="0" dirty="0" smtClean="0">
                <a:ln>
                  <a:noFill/>
                </a:ln>
                <a:solidFill>
                  <a:srgbClr val="000099"/>
                </a:solidFill>
                <a:effectLst/>
                <a:uLnTx/>
                <a:uFillTx/>
                <a:latin typeface="+mn-lt"/>
                <a:ea typeface="+mn-ea"/>
                <a:cs typeface="Times New Roman" pitchFamily="18" charset="0"/>
              </a:rPr>
              <a:t>adenine nucleotides</a:t>
            </a:r>
            <a:r>
              <a:rPr kumimoji="0" lang="en-US" b="0" i="0" u="none" strike="noStrike" kern="1200" cap="none" spc="0" normalizeH="0" baseline="0" noProof="0" dirty="0" smtClean="0">
                <a:ln>
                  <a:noFill/>
                </a:ln>
                <a:solidFill>
                  <a:schemeClr val="tx1"/>
                </a:solidFill>
                <a:effectLst/>
                <a:uLnTx/>
                <a:uFillTx/>
                <a:latin typeface="+mn-lt"/>
                <a:ea typeface="+mn-ea"/>
                <a:cs typeface="Times New Roman" pitchFamily="18" charset="0"/>
              </a:rPr>
              <a:t>. </a:t>
            </a:r>
          </a:p>
          <a:p>
            <a:pPr marL="457200" marR="0" lvl="1" indent="-342900" algn="l" defTabSz="914400" rtl="0" eaLnBrk="1" fontAlgn="auto" latinLnBrk="0" hangingPunct="1">
              <a:lnSpc>
                <a:spcPct val="95000"/>
              </a:lnSpc>
              <a:spcBef>
                <a:spcPct val="0"/>
              </a:spcBef>
              <a:spcAft>
                <a:spcPct val="10000"/>
              </a:spcAft>
              <a:buClr>
                <a:schemeClr val="hlink"/>
              </a:buClr>
              <a:buSzTx/>
              <a:buFont typeface="Wingdings" pitchFamily="2" charset="2"/>
              <a:buChar char="w"/>
              <a:tabLst>
                <a:tab pos="685800" algn="l"/>
              </a:tabLst>
              <a:defRPr/>
            </a:pPr>
            <a:r>
              <a:rPr kumimoji="0" lang="en-US" b="1" i="0" u="none" strike="noStrike" kern="1200" cap="none" spc="0" normalizeH="0" baseline="0" noProof="0" dirty="0" err="1" smtClean="0">
                <a:ln>
                  <a:noFill/>
                </a:ln>
                <a:solidFill>
                  <a:srgbClr val="000099"/>
                </a:solidFill>
                <a:effectLst/>
                <a:uLnTx/>
                <a:uFillTx/>
                <a:latin typeface="+mn-lt"/>
                <a:ea typeface="+mn-ea"/>
                <a:cs typeface="Times New Roman" pitchFamily="18" charset="0"/>
              </a:rPr>
              <a:t>Phosphofructokinase</a:t>
            </a:r>
            <a:r>
              <a:rPr kumimoji="0" lang="en-US" b="0" i="0" u="none" strike="noStrike" kern="1200" cap="none" spc="0" normalizeH="0" baseline="0" noProof="0" dirty="0" smtClean="0">
                <a:ln>
                  <a:noFill/>
                </a:ln>
                <a:solidFill>
                  <a:schemeClr val="tx1"/>
                </a:solidFill>
                <a:effectLst/>
                <a:uLnTx/>
                <a:uFillTx/>
                <a:latin typeface="+mn-lt"/>
                <a:ea typeface="+mn-ea"/>
                <a:cs typeface="Times New Roman" pitchFamily="18" charset="0"/>
              </a:rPr>
              <a:t> (Glycolysis) is inhibited by ATP and stimulated by AMP.</a:t>
            </a:r>
          </a:p>
          <a:p>
            <a:pPr marL="457200" marR="0" lvl="1" indent="-342900" algn="l" defTabSz="914400" rtl="0" eaLnBrk="1" fontAlgn="auto" latinLnBrk="0" hangingPunct="1">
              <a:lnSpc>
                <a:spcPct val="95000"/>
              </a:lnSpc>
              <a:spcBef>
                <a:spcPct val="0"/>
              </a:spcBef>
              <a:spcAft>
                <a:spcPct val="30000"/>
              </a:spcAft>
              <a:buClr>
                <a:schemeClr val="hlink"/>
              </a:buClr>
              <a:buSzTx/>
              <a:buFont typeface="Wingdings" pitchFamily="2" charset="2"/>
              <a:buChar char="w"/>
              <a:tabLst>
                <a:tab pos="685800" algn="l"/>
              </a:tabLst>
              <a:defRPr/>
            </a:pPr>
            <a:r>
              <a:rPr kumimoji="0" lang="en-US" b="1" i="0" u="none" strike="noStrike" kern="1200" cap="none" spc="0" normalizeH="0" baseline="0" noProof="0" dirty="0" smtClean="0">
                <a:ln>
                  <a:noFill/>
                </a:ln>
                <a:solidFill>
                  <a:srgbClr val="000080"/>
                </a:solidFill>
                <a:effectLst/>
                <a:uLnTx/>
                <a:uFillTx/>
                <a:latin typeface="+mn-lt"/>
                <a:ea typeface="+mn-ea"/>
                <a:cs typeface="Times New Roman" pitchFamily="18" charset="0"/>
              </a:rPr>
              <a:t>Fructose-1,6-bisphosphatase</a:t>
            </a:r>
            <a:r>
              <a:rPr kumimoji="0" lang="en-US" b="0" i="0" u="none" strike="noStrike" kern="1200" cap="none" spc="0" normalizeH="0" baseline="0" noProof="0" dirty="0" smtClean="0">
                <a:ln>
                  <a:noFill/>
                </a:ln>
                <a:solidFill>
                  <a:schemeClr val="tx1"/>
                </a:solidFill>
                <a:effectLst/>
                <a:uLnTx/>
                <a:uFillTx/>
                <a:latin typeface="+mn-lt"/>
                <a:ea typeface="+mn-ea"/>
                <a:cs typeface="Times New Roman" pitchFamily="18" charset="0"/>
              </a:rPr>
              <a:t> (</a:t>
            </a:r>
            <a:r>
              <a:rPr kumimoji="0" lang="en-US" b="0" i="0" u="none" strike="noStrike" kern="1200" cap="none" spc="0" normalizeH="0" baseline="0" noProof="0" dirty="0" err="1" smtClean="0">
                <a:ln>
                  <a:noFill/>
                </a:ln>
                <a:solidFill>
                  <a:schemeClr val="tx1"/>
                </a:solidFill>
                <a:effectLst/>
                <a:uLnTx/>
                <a:uFillTx/>
                <a:latin typeface="+mn-lt"/>
                <a:ea typeface="+mn-ea"/>
                <a:cs typeface="Times New Roman" pitchFamily="18" charset="0"/>
              </a:rPr>
              <a:t>Gluconeogenesis</a:t>
            </a:r>
            <a:r>
              <a:rPr kumimoji="0" lang="en-US" b="0" i="0" u="none" strike="noStrike" kern="1200" cap="none" spc="0" normalizeH="0" baseline="0" noProof="0" dirty="0" smtClean="0">
                <a:ln>
                  <a:noFill/>
                </a:ln>
                <a:solidFill>
                  <a:schemeClr val="tx1"/>
                </a:solidFill>
                <a:effectLst/>
                <a:uLnTx/>
                <a:uFillTx/>
                <a:latin typeface="+mn-lt"/>
                <a:ea typeface="+mn-ea"/>
                <a:cs typeface="Times New Roman" pitchFamily="18" charset="0"/>
              </a:rPr>
              <a:t>) is inhibited by AMP.</a:t>
            </a:r>
          </a:p>
        </p:txBody>
      </p:sp>
      <p:graphicFrame>
        <p:nvGraphicFramePr>
          <p:cNvPr id="10242" name="Object 1031"/>
          <p:cNvGraphicFramePr>
            <a:graphicFrameLocks noChangeAspect="1"/>
          </p:cNvGraphicFramePr>
          <p:nvPr/>
        </p:nvGraphicFramePr>
        <p:xfrm>
          <a:off x="714348" y="1714488"/>
          <a:ext cx="7496175" cy="2095494"/>
        </p:xfrm>
        <a:graphic>
          <a:graphicData uri="http://schemas.openxmlformats.org/presentationml/2006/ole">
            <mc:AlternateContent xmlns:mc="http://schemas.openxmlformats.org/markup-compatibility/2006">
              <mc:Choice xmlns:v="urn:schemas-microsoft-com:vml" Requires="v">
                <p:oleObj spid="_x0000_s10259" name="Picture" r:id="rId3" imgW="3770188" imgH="1484949" progId="Word.Picture.8">
                  <p:embed/>
                </p:oleObj>
              </mc:Choice>
              <mc:Fallback>
                <p:oleObj name="Picture" r:id="rId3" imgW="3770188" imgH="1484949" progId="Word.Picture.8">
                  <p:embed/>
                  <p:pic>
                    <p:nvPicPr>
                      <p:cNvPr id="0" name="Object 10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348" y="1714488"/>
                        <a:ext cx="7496175" cy="20954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2"/>
          <p:cNvSpPr txBox="1">
            <a:spLocks noChangeArrowheads="1"/>
          </p:cNvSpPr>
          <p:nvPr/>
        </p:nvSpPr>
        <p:spPr>
          <a:xfrm>
            <a:off x="214282" y="3857628"/>
            <a:ext cx="8786874" cy="2786082"/>
          </a:xfrm>
          <a:prstGeom prst="rect">
            <a:avLst/>
          </a:prstGeom>
        </p:spPr>
        <p:txBody>
          <a:bodyPr/>
          <a:lstStyle/>
          <a:p>
            <a:pPr marL="0" marR="0" lvl="0" indent="0" algn="l" defTabSz="914400" rtl="0" eaLnBrk="1" fontAlgn="auto" latinLnBrk="0" hangingPunct="1">
              <a:lnSpc>
                <a:spcPct val="95000"/>
              </a:lnSpc>
              <a:spcBef>
                <a:spcPct val="0"/>
              </a:spcBef>
              <a:spcAft>
                <a:spcPct val="25000"/>
              </a:spcAft>
              <a:buClrTx/>
              <a:buSzTx/>
              <a:buFontTx/>
              <a:buNone/>
              <a:tabLst>
                <a:tab pos="685800" algn="l"/>
              </a:tabLst>
              <a:defRPr/>
            </a:pPr>
            <a:r>
              <a:rPr kumimoji="0" lang="en-US" b="0" i="0" u="none" strike="noStrike" kern="1200" cap="none" spc="0" normalizeH="0" baseline="0" noProof="0" dirty="0" smtClean="0">
                <a:ln>
                  <a:noFill/>
                </a:ln>
                <a:solidFill>
                  <a:schemeClr val="tx1"/>
                </a:solidFill>
                <a:effectLst/>
                <a:uLnTx/>
                <a:uFillTx/>
                <a:latin typeface="+mn-lt"/>
                <a:ea typeface="+mn-ea"/>
                <a:cs typeface="Times New Roman" pitchFamily="18" charset="0"/>
              </a:rPr>
              <a:t>The </a:t>
            </a:r>
            <a:r>
              <a:rPr kumimoji="0" lang="en-US" b="1" i="0" u="none" strike="noStrike" kern="1200" cap="none" spc="0" normalizeH="0" baseline="0" noProof="0" dirty="0" smtClean="0">
                <a:ln>
                  <a:noFill/>
                </a:ln>
                <a:solidFill>
                  <a:srgbClr val="000099"/>
                </a:solidFill>
                <a:effectLst/>
                <a:uLnTx/>
                <a:uFillTx/>
                <a:latin typeface="+mn-lt"/>
                <a:ea typeface="+mn-ea"/>
                <a:cs typeface="Times New Roman" pitchFamily="18" charset="0"/>
              </a:rPr>
              <a:t>opposite effects</a:t>
            </a:r>
            <a:r>
              <a:rPr kumimoji="0" lang="en-US" b="0" i="0" u="none" strike="noStrike" kern="1200" cap="none" spc="0" normalizeH="0" baseline="0" noProof="0" dirty="0" smtClean="0">
                <a:ln>
                  <a:noFill/>
                </a:ln>
                <a:solidFill>
                  <a:schemeClr val="tx1"/>
                </a:solidFill>
                <a:effectLst/>
                <a:uLnTx/>
                <a:uFillTx/>
                <a:latin typeface="+mn-lt"/>
                <a:ea typeface="+mn-ea"/>
                <a:cs typeface="Times New Roman" pitchFamily="18" charset="0"/>
              </a:rPr>
              <a:t> </a:t>
            </a:r>
            <a:r>
              <a:rPr kumimoji="0" lang="en-US" b="1" i="0" u="none" strike="noStrike" kern="1200" cap="none" spc="0" normalizeH="0" baseline="0" noProof="0" dirty="0" smtClean="0">
                <a:ln>
                  <a:noFill/>
                </a:ln>
                <a:solidFill>
                  <a:srgbClr val="000099"/>
                </a:solidFill>
                <a:effectLst/>
                <a:uLnTx/>
                <a:uFillTx/>
                <a:latin typeface="+mn-lt"/>
                <a:ea typeface="+mn-ea"/>
                <a:cs typeface="Times New Roman" pitchFamily="18" charset="0"/>
              </a:rPr>
              <a:t>of adenine nucleotides</a:t>
            </a:r>
            <a:r>
              <a:rPr kumimoji="0" lang="en-US" b="0" i="0" u="none" strike="noStrike" kern="1200" cap="none" spc="0" normalizeH="0" baseline="0" noProof="0" dirty="0" smtClean="0">
                <a:ln>
                  <a:noFill/>
                </a:ln>
                <a:solidFill>
                  <a:schemeClr val="tx1"/>
                </a:solidFill>
                <a:effectLst/>
                <a:uLnTx/>
                <a:uFillTx/>
                <a:latin typeface="+mn-lt"/>
                <a:ea typeface="+mn-ea"/>
                <a:cs typeface="Times New Roman" pitchFamily="18" charset="0"/>
              </a:rPr>
              <a:t> on </a:t>
            </a:r>
          </a:p>
          <a:p>
            <a:pPr marL="457200" marR="0" lvl="1" indent="-342900" algn="l" defTabSz="914400" rtl="0" eaLnBrk="1" fontAlgn="auto" latinLnBrk="0" hangingPunct="1">
              <a:lnSpc>
                <a:spcPct val="95000"/>
              </a:lnSpc>
              <a:spcBef>
                <a:spcPct val="0"/>
              </a:spcBef>
              <a:spcAft>
                <a:spcPct val="25000"/>
              </a:spcAft>
              <a:buClr>
                <a:schemeClr val="hlink"/>
              </a:buClr>
              <a:buSzTx/>
              <a:buFont typeface="Wingdings" pitchFamily="2" charset="2"/>
              <a:buChar char="w"/>
              <a:tabLst>
                <a:tab pos="685800" algn="l"/>
              </a:tabLst>
              <a:defRPr/>
            </a:pPr>
            <a:r>
              <a:rPr kumimoji="0" lang="en-US" b="1" i="0" u="none" strike="noStrike" kern="1200" cap="none" spc="0" normalizeH="0" baseline="0" noProof="0" dirty="0" err="1" smtClean="0">
                <a:ln>
                  <a:noFill/>
                </a:ln>
                <a:solidFill>
                  <a:schemeClr val="tx1"/>
                </a:solidFill>
                <a:effectLst/>
                <a:uLnTx/>
                <a:uFillTx/>
                <a:latin typeface="+mn-lt"/>
                <a:ea typeface="+mn-ea"/>
                <a:cs typeface="Times New Roman" pitchFamily="18" charset="0"/>
              </a:rPr>
              <a:t>Phosphofructokinase</a:t>
            </a:r>
            <a:r>
              <a:rPr kumimoji="0" lang="en-US" b="0" i="0" u="none" strike="noStrike" kern="1200" cap="none" spc="0" normalizeH="0" baseline="0" noProof="0" dirty="0" smtClean="0">
                <a:ln>
                  <a:noFill/>
                </a:ln>
                <a:solidFill>
                  <a:schemeClr val="tx1"/>
                </a:solidFill>
                <a:effectLst/>
                <a:uLnTx/>
                <a:uFillTx/>
                <a:latin typeface="+mn-lt"/>
                <a:ea typeface="+mn-ea"/>
                <a:cs typeface="Times New Roman" pitchFamily="18" charset="0"/>
              </a:rPr>
              <a:t> (Glycolysis) </a:t>
            </a:r>
          </a:p>
          <a:p>
            <a:pPr marL="457200" marR="0" lvl="1" indent="-342900" algn="l" defTabSz="914400" rtl="0" eaLnBrk="1" fontAlgn="auto" latinLnBrk="0" hangingPunct="1">
              <a:lnSpc>
                <a:spcPct val="95000"/>
              </a:lnSpc>
              <a:spcBef>
                <a:spcPct val="0"/>
              </a:spcBef>
              <a:spcAft>
                <a:spcPct val="25000"/>
              </a:spcAft>
              <a:buClr>
                <a:schemeClr val="hlink"/>
              </a:buClr>
              <a:buSzTx/>
              <a:buFont typeface="Wingdings" pitchFamily="2" charset="2"/>
              <a:buChar char="w"/>
              <a:tabLst>
                <a:tab pos="685800" algn="l"/>
              </a:tabLst>
              <a:defRPr/>
            </a:pPr>
            <a:r>
              <a:rPr kumimoji="0" lang="en-US" b="1" i="0" u="none" strike="noStrike" kern="1200" cap="none" spc="0" normalizeH="0" baseline="0" noProof="0" dirty="0" smtClean="0">
                <a:ln>
                  <a:noFill/>
                </a:ln>
                <a:solidFill>
                  <a:schemeClr val="tx1"/>
                </a:solidFill>
                <a:effectLst/>
                <a:uLnTx/>
                <a:uFillTx/>
                <a:latin typeface="+mn-lt"/>
                <a:ea typeface="+mn-ea"/>
                <a:cs typeface="Times New Roman" pitchFamily="18" charset="0"/>
              </a:rPr>
              <a:t>Fructose-1,6-bisphosphatase</a:t>
            </a:r>
            <a:r>
              <a:rPr kumimoji="0" lang="en-US" b="0" i="0" u="none" strike="noStrike" kern="1200" cap="none" spc="0" normalizeH="0" baseline="0" noProof="0" dirty="0" smtClean="0">
                <a:ln>
                  <a:noFill/>
                </a:ln>
                <a:solidFill>
                  <a:schemeClr val="tx1"/>
                </a:solidFill>
                <a:effectLst/>
                <a:uLnTx/>
                <a:uFillTx/>
                <a:latin typeface="+mn-lt"/>
                <a:ea typeface="+mn-ea"/>
                <a:cs typeface="Times New Roman" pitchFamily="18" charset="0"/>
              </a:rPr>
              <a:t> (</a:t>
            </a:r>
            <a:r>
              <a:rPr kumimoji="0" lang="en-US" b="0" i="0" u="none" strike="noStrike" kern="1200" cap="none" spc="0" normalizeH="0" baseline="0" noProof="0" dirty="0" err="1" smtClean="0">
                <a:ln>
                  <a:noFill/>
                </a:ln>
                <a:solidFill>
                  <a:schemeClr val="tx1"/>
                </a:solidFill>
                <a:effectLst/>
                <a:uLnTx/>
                <a:uFillTx/>
                <a:latin typeface="+mn-lt"/>
                <a:ea typeface="+mn-ea"/>
                <a:cs typeface="Times New Roman" pitchFamily="18" charset="0"/>
              </a:rPr>
              <a:t>Gluconeogenesis</a:t>
            </a:r>
            <a:r>
              <a:rPr kumimoji="0" lang="en-US" b="0" i="0" u="none" strike="noStrike" kern="1200" cap="none" spc="0" normalizeH="0" baseline="0" noProof="0" dirty="0" smtClean="0">
                <a:ln>
                  <a:noFill/>
                </a:ln>
                <a:solidFill>
                  <a:schemeClr val="tx1"/>
                </a:solidFill>
                <a:effectLst/>
                <a:uLnTx/>
                <a:uFillTx/>
                <a:latin typeface="+mn-lt"/>
                <a:ea typeface="+mn-ea"/>
                <a:cs typeface="Times New Roman" pitchFamily="18" charset="0"/>
              </a:rPr>
              <a:t>)</a:t>
            </a:r>
          </a:p>
          <a:p>
            <a:pPr marL="0" marR="0" lvl="0" indent="0" algn="l" defTabSz="914400" rtl="0" eaLnBrk="1" fontAlgn="auto" latinLnBrk="0" hangingPunct="1">
              <a:lnSpc>
                <a:spcPct val="95000"/>
              </a:lnSpc>
              <a:spcBef>
                <a:spcPct val="0"/>
              </a:spcBef>
              <a:spcAft>
                <a:spcPct val="60000"/>
              </a:spcAft>
              <a:buClrTx/>
              <a:buSzTx/>
              <a:buFontTx/>
              <a:buNone/>
              <a:tabLst>
                <a:tab pos="685800" algn="l"/>
              </a:tabLst>
              <a:defRPr/>
            </a:pPr>
            <a:r>
              <a:rPr kumimoji="0" lang="en-US" b="0" i="0" u="none" strike="noStrike" kern="1200" cap="none" spc="0" normalizeH="0" baseline="0" noProof="0" dirty="0" smtClean="0">
                <a:ln>
                  <a:noFill/>
                </a:ln>
                <a:solidFill>
                  <a:schemeClr val="tx1"/>
                </a:solidFill>
                <a:effectLst/>
                <a:uLnTx/>
                <a:uFillTx/>
                <a:latin typeface="+mn-lt"/>
                <a:ea typeface="+mn-ea"/>
                <a:cs typeface="Times New Roman" pitchFamily="18" charset="0"/>
              </a:rPr>
              <a:t>insures that:</a:t>
            </a:r>
          </a:p>
          <a:p>
            <a:pPr marL="0" marR="0" lvl="0" indent="0" algn="l" defTabSz="914400" rtl="0" eaLnBrk="1" fontAlgn="auto" latinLnBrk="0" hangingPunct="1">
              <a:lnSpc>
                <a:spcPct val="95000"/>
              </a:lnSpc>
              <a:spcBef>
                <a:spcPct val="0"/>
              </a:spcBef>
              <a:spcAft>
                <a:spcPct val="60000"/>
              </a:spcAft>
              <a:buClrTx/>
              <a:buSzTx/>
              <a:buFont typeface="Arial" pitchFamily="34" charset="0"/>
              <a:buChar char="•"/>
              <a:tabLst>
                <a:tab pos="685800" algn="l"/>
              </a:tabLst>
              <a:defRPr/>
            </a:pPr>
            <a:r>
              <a:rPr kumimoji="0" lang="en-US" b="0" i="0" u="none" strike="noStrike" kern="1200" cap="none" spc="0" normalizeH="0" baseline="0" noProof="0" dirty="0" smtClean="0">
                <a:ln>
                  <a:noFill/>
                </a:ln>
                <a:solidFill>
                  <a:schemeClr val="tx1"/>
                </a:solidFill>
                <a:effectLst/>
                <a:uLnTx/>
                <a:uFillTx/>
                <a:latin typeface="+mn-lt"/>
                <a:ea typeface="+mn-ea"/>
                <a:cs typeface="Times New Roman" pitchFamily="18" charset="0"/>
              </a:rPr>
              <a:t> </a:t>
            </a:r>
            <a:r>
              <a:rPr lang="en-US" dirty="0" smtClean="0">
                <a:cs typeface="Times New Roman" pitchFamily="18" charset="0"/>
              </a:rPr>
              <a:t>W</a:t>
            </a:r>
            <a:r>
              <a:rPr kumimoji="0" lang="en-US" b="0" i="0" u="none" strike="noStrike" kern="1200" cap="none" spc="0" normalizeH="0" baseline="0" noProof="0" dirty="0" smtClean="0">
                <a:ln>
                  <a:noFill/>
                </a:ln>
                <a:solidFill>
                  <a:schemeClr val="tx1"/>
                </a:solidFill>
                <a:effectLst/>
                <a:uLnTx/>
                <a:uFillTx/>
                <a:latin typeface="+mn-lt"/>
                <a:ea typeface="+mn-ea"/>
                <a:cs typeface="Times New Roman" pitchFamily="18" charset="0"/>
              </a:rPr>
              <a:t>hen cellular ATP is high (AMP would then be low), glucose is not degraded to make ATP. </a:t>
            </a:r>
          </a:p>
          <a:p>
            <a:pPr marL="0" marR="0" lvl="0" indent="0" algn="l" defTabSz="914400" rtl="0" eaLnBrk="1" fontAlgn="auto" latinLnBrk="0" hangingPunct="1">
              <a:lnSpc>
                <a:spcPct val="95000"/>
              </a:lnSpc>
              <a:spcBef>
                <a:spcPct val="0"/>
              </a:spcBef>
              <a:spcAft>
                <a:spcPct val="50000"/>
              </a:spcAft>
              <a:buClrTx/>
              <a:buSzTx/>
              <a:buFont typeface="Arial" pitchFamily="34" charset="0"/>
              <a:buChar char="•"/>
              <a:tabLst>
                <a:tab pos="685800" algn="l"/>
              </a:tabLst>
              <a:defRPr/>
            </a:pPr>
            <a:r>
              <a:rPr kumimoji="0" lang="en-US" b="0" i="0" u="none" strike="noStrike" kern="1200" cap="none" spc="0" normalizeH="0" baseline="0" noProof="0" dirty="0" smtClean="0">
                <a:ln>
                  <a:noFill/>
                </a:ln>
                <a:solidFill>
                  <a:schemeClr val="tx1"/>
                </a:solidFill>
                <a:effectLst/>
                <a:uLnTx/>
                <a:uFillTx/>
                <a:latin typeface="+mn-lt"/>
                <a:ea typeface="+mn-ea"/>
                <a:cs typeface="+mn-cs"/>
              </a:rPr>
              <a:t>When ATP is low (AMP would then be high), the cell does not expend energy in synthesizing glucose. </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2"/>
          <p:cNvSpPr txBox="1">
            <a:spLocks noChangeArrowheads="1"/>
          </p:cNvSpPr>
          <p:nvPr/>
        </p:nvSpPr>
        <p:spPr>
          <a:xfrm>
            <a:off x="214314" y="142852"/>
            <a:ext cx="8786842" cy="1357322"/>
          </a:xfrm>
          <a:prstGeom prst="rect">
            <a:avLst/>
          </a:prstGeom>
        </p:spPr>
        <p:txBody>
          <a:bodyPr/>
          <a:lstStyle/>
          <a:p>
            <a:pPr marL="0" marR="0" lvl="0" indent="0" algn="just" defTabSz="914400" rtl="0" eaLnBrk="1" fontAlgn="auto" latinLnBrk="0" hangingPunct="1">
              <a:lnSpc>
                <a:spcPct val="95000"/>
              </a:lnSpc>
              <a:spcBef>
                <a:spcPct val="0"/>
              </a:spcBef>
              <a:spcAft>
                <a:spcPct val="50000"/>
              </a:spcAft>
              <a:buClrTx/>
              <a:buSzTx/>
              <a:buFontTx/>
              <a:buNone/>
              <a:tabLst>
                <a:tab pos="685800" algn="l"/>
              </a:tabLst>
              <a:defRPr/>
            </a:pPr>
            <a:r>
              <a:rPr kumimoji="0" lang="en-US" sz="2800" b="1" i="0" u="none" strike="noStrike" kern="1200" cap="none" spc="0" normalizeH="0" baseline="0" noProof="0" dirty="0" smtClean="0">
                <a:ln>
                  <a:noFill/>
                </a:ln>
                <a:solidFill>
                  <a:schemeClr val="hlink"/>
                </a:solidFill>
                <a:effectLst/>
                <a:uLnTx/>
                <a:uFillTx/>
                <a:latin typeface="+mn-lt"/>
                <a:ea typeface="+mn-ea"/>
                <a:cs typeface="+mn-cs"/>
              </a:rPr>
              <a:t>Global Control</a:t>
            </a:r>
            <a:r>
              <a:rPr lang="en-US" sz="2800" dirty="0" smtClean="0"/>
              <a:t>:</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includes reciprocal   effects of a </a:t>
            </a:r>
            <a:r>
              <a:rPr kumimoji="0" lang="en-US" sz="2800" b="1" i="0" u="none" strike="noStrike" kern="1200" cap="none" spc="0" normalizeH="0" baseline="0" noProof="0" dirty="0" smtClean="0">
                <a:ln>
                  <a:noFill/>
                </a:ln>
                <a:solidFill>
                  <a:srgbClr val="000099"/>
                </a:solidFill>
                <a:effectLst/>
                <a:uLnTx/>
                <a:uFillTx/>
                <a:latin typeface="+mn-lt"/>
                <a:ea typeface="+mn-ea"/>
                <a:cs typeface="+mn-cs"/>
              </a:rPr>
              <a:t>cyclic AMP cascade</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triggered by the hormone </a:t>
            </a:r>
            <a:r>
              <a:rPr kumimoji="0" lang="en-US" sz="2800" b="1" i="0" u="none" strike="noStrike" kern="1200" cap="none" spc="0" normalizeH="0" baseline="0" noProof="0" dirty="0" smtClean="0">
                <a:ln>
                  <a:noFill/>
                </a:ln>
                <a:solidFill>
                  <a:schemeClr val="tx1"/>
                </a:solidFill>
                <a:effectLst/>
                <a:uLnTx/>
                <a:uFillTx/>
                <a:latin typeface="+mn-lt"/>
                <a:ea typeface="+mn-ea"/>
                <a:cs typeface="+mn-cs"/>
              </a:rPr>
              <a:t>glucagon</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when blood glucose is low.</a:t>
            </a:r>
          </a:p>
          <a:p>
            <a:pPr marL="0" marR="0" lvl="0" indent="0" algn="just" defTabSz="914400" rtl="0" eaLnBrk="1" fontAlgn="auto" latinLnBrk="0" hangingPunct="1">
              <a:lnSpc>
                <a:spcPct val="95000"/>
              </a:lnSpc>
              <a:spcBef>
                <a:spcPct val="0"/>
              </a:spcBef>
              <a:spcAft>
                <a:spcPct val="30000"/>
              </a:spcAft>
              <a:buClrTx/>
              <a:buSzTx/>
              <a:buFontTx/>
              <a:buNone/>
              <a:tabLst>
                <a:tab pos="685800" algn="l"/>
              </a:tabLst>
              <a:defRPr/>
            </a:pP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p:txBody>
      </p:sp>
      <p:pic>
        <p:nvPicPr>
          <p:cNvPr id="3" name="irc_mi" descr="http://classconnection.s3.amazonaws.com/749/flashcards/2212749/jpg/hormones-1423366F2B66C6104CA.jpg"/>
          <p:cNvPicPr/>
          <p:nvPr/>
        </p:nvPicPr>
        <p:blipFill>
          <a:blip r:embed="rId2">
            <a:lum bright="-20000" contrast="40000"/>
          </a:blip>
          <a:srcRect/>
          <a:stretch>
            <a:fillRect/>
          </a:stretch>
        </p:blipFill>
        <p:spPr bwMode="auto">
          <a:xfrm>
            <a:off x="285720" y="2428868"/>
            <a:ext cx="4000528" cy="3786214"/>
          </a:xfrm>
          <a:prstGeom prst="rect">
            <a:avLst/>
          </a:prstGeom>
          <a:noFill/>
          <a:ln w="9525">
            <a:noFill/>
            <a:miter lim="800000"/>
            <a:headEnd/>
            <a:tailEnd/>
          </a:ln>
        </p:spPr>
      </p:pic>
      <p:pic>
        <p:nvPicPr>
          <p:cNvPr id="5" name="irc_mi" descr="http://joe.endocrinology-journals.org/content/199/1/5/F4.large.jpg"/>
          <p:cNvPicPr/>
          <p:nvPr/>
        </p:nvPicPr>
        <p:blipFill>
          <a:blip r:embed="rId3"/>
          <a:srcRect/>
          <a:stretch>
            <a:fillRect/>
          </a:stretch>
        </p:blipFill>
        <p:spPr bwMode="auto">
          <a:xfrm>
            <a:off x="4500563" y="2000240"/>
            <a:ext cx="4500594" cy="4572032"/>
          </a:xfrm>
          <a:prstGeom prst="rect">
            <a:avLst/>
          </a:prstGeom>
          <a:noFill/>
          <a:ln w="9525">
            <a:noFill/>
            <a:miter lim="800000"/>
            <a:headEnd/>
            <a:tailEnd/>
          </a:ln>
        </p:spPr>
      </p:pic>
      <p:sp>
        <p:nvSpPr>
          <p:cNvPr id="6" name="TextBox 5"/>
          <p:cNvSpPr txBox="1"/>
          <p:nvPr/>
        </p:nvSpPr>
        <p:spPr>
          <a:xfrm>
            <a:off x="142844" y="1773784"/>
            <a:ext cx="4200702" cy="400110"/>
          </a:xfrm>
          <a:prstGeom prst="rect">
            <a:avLst/>
          </a:prstGeom>
          <a:noFill/>
        </p:spPr>
        <p:txBody>
          <a:bodyPr wrap="none" rtlCol="0">
            <a:spAutoFit/>
          </a:bodyPr>
          <a:lstStyle/>
          <a:p>
            <a:r>
              <a:rPr lang="en-GB" sz="2000" b="1" dirty="0" smtClean="0"/>
              <a:t>Activation of Glycogen </a:t>
            </a:r>
            <a:r>
              <a:rPr lang="en-GB" sz="2000" b="1" dirty="0" err="1" smtClean="0"/>
              <a:t>phosphorylase</a:t>
            </a:r>
            <a:endParaRPr lang="en-GB" sz="2000" b="1" dirty="0"/>
          </a:p>
        </p:txBody>
      </p:sp>
      <p:sp>
        <p:nvSpPr>
          <p:cNvPr id="7" name="TextBox 6"/>
          <p:cNvSpPr txBox="1"/>
          <p:nvPr/>
        </p:nvSpPr>
        <p:spPr>
          <a:xfrm>
            <a:off x="5000628" y="1385816"/>
            <a:ext cx="3175869" cy="400110"/>
          </a:xfrm>
          <a:prstGeom prst="rect">
            <a:avLst/>
          </a:prstGeom>
          <a:noFill/>
        </p:spPr>
        <p:txBody>
          <a:bodyPr wrap="none" rtlCol="0">
            <a:spAutoFit/>
          </a:bodyPr>
          <a:lstStyle/>
          <a:p>
            <a:r>
              <a:rPr lang="en-GB" sz="2000" b="1" dirty="0" smtClean="0"/>
              <a:t>Activation of other enzymes</a:t>
            </a:r>
            <a:endParaRPr lang="en-GB" sz="2000" b="1"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2"/>
          <p:cNvSpPr txBox="1">
            <a:spLocks noChangeArrowheads="1"/>
          </p:cNvSpPr>
          <p:nvPr/>
        </p:nvSpPr>
        <p:spPr>
          <a:xfrm>
            <a:off x="285720" y="500042"/>
            <a:ext cx="8643998" cy="6124596"/>
          </a:xfrm>
          <a:prstGeom prst="rect">
            <a:avLst/>
          </a:prstGeom>
        </p:spPr>
        <p:txBody>
          <a:bodyPr/>
          <a:lstStyle/>
          <a:p>
            <a:pPr marL="0" marR="0" lvl="0" indent="0" algn="just" defTabSz="914400" rtl="0" eaLnBrk="1" fontAlgn="auto" latinLnBrk="0" hangingPunct="1">
              <a:lnSpc>
                <a:spcPct val="95000"/>
              </a:lnSpc>
              <a:spcBef>
                <a:spcPct val="0"/>
              </a:spcBef>
              <a:spcAft>
                <a:spcPct val="60000"/>
              </a:spcAft>
              <a:buClrTx/>
              <a:buSzTx/>
              <a:buFontTx/>
              <a:buNone/>
              <a:tabLst>
                <a:tab pos="685800" algn="l"/>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Enzymes relevant to these pathways that are </a:t>
            </a:r>
            <a:r>
              <a:rPr kumimoji="0" lang="en-US" sz="2800" b="1" i="0" u="none" strike="noStrike" kern="1200" cap="none" spc="0" normalizeH="0" baseline="0" noProof="0" dirty="0" err="1" smtClean="0">
                <a:ln>
                  <a:noFill/>
                </a:ln>
                <a:solidFill>
                  <a:srgbClr val="000099"/>
                </a:solidFill>
                <a:effectLst/>
                <a:uLnTx/>
                <a:uFillTx/>
                <a:latin typeface="+mn-lt"/>
                <a:ea typeface="+mn-ea"/>
                <a:cs typeface="+mn-cs"/>
              </a:rPr>
              <a:t>phosphorylated</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by Protein </a:t>
            </a:r>
            <a:r>
              <a:rPr kumimoji="0" lang="en-US" sz="2800" b="0" i="0" u="none" strike="noStrike" kern="1200" cap="none" spc="0" normalizeH="0" baseline="0" noProof="0" dirty="0" err="1" smtClean="0">
                <a:ln>
                  <a:noFill/>
                </a:ln>
                <a:solidFill>
                  <a:schemeClr val="tx1"/>
                </a:solidFill>
                <a:effectLst/>
                <a:uLnTx/>
                <a:uFillTx/>
                <a:latin typeface="+mn-lt"/>
                <a:ea typeface="+mn-ea"/>
                <a:cs typeface="+mn-cs"/>
              </a:rPr>
              <a:t>Kinase</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A include: </a:t>
            </a:r>
          </a:p>
          <a:p>
            <a:pPr marL="571500" marR="0" lvl="1" indent="-400050" algn="just" defTabSz="914400" rtl="0" eaLnBrk="1" fontAlgn="auto" latinLnBrk="0" hangingPunct="1">
              <a:lnSpc>
                <a:spcPct val="95000"/>
              </a:lnSpc>
              <a:spcBef>
                <a:spcPct val="0"/>
              </a:spcBef>
              <a:spcAft>
                <a:spcPct val="50000"/>
              </a:spcAft>
              <a:buClr>
                <a:schemeClr val="hlink"/>
              </a:buClr>
              <a:buSzTx/>
              <a:buFont typeface="Wingdings" pitchFamily="2" charset="2"/>
              <a:buChar char="w"/>
              <a:tabLst>
                <a:tab pos="685800" algn="l"/>
              </a:tabLst>
              <a:defRPr/>
            </a:pPr>
            <a:r>
              <a:rPr kumimoji="0" lang="en-US" sz="2800" b="1" i="0" u="none" strike="noStrike" kern="1200" cap="none" spc="0" normalizeH="0" baseline="0" noProof="0" dirty="0" smtClean="0">
                <a:ln>
                  <a:noFill/>
                </a:ln>
                <a:solidFill>
                  <a:srgbClr val="000099"/>
                </a:solidFill>
                <a:effectLst/>
                <a:uLnTx/>
                <a:uFillTx/>
                <a:latin typeface="+mn-lt"/>
                <a:ea typeface="+mn-ea"/>
                <a:cs typeface="+mn-cs"/>
              </a:rPr>
              <a:t>Pyruvate </a:t>
            </a:r>
            <a:r>
              <a:rPr kumimoji="0" lang="en-US" sz="2800" b="1" i="0" u="none" strike="noStrike" kern="1200" cap="none" spc="0" normalizeH="0" baseline="0" noProof="0" dirty="0" err="1" smtClean="0">
                <a:ln>
                  <a:noFill/>
                </a:ln>
                <a:solidFill>
                  <a:srgbClr val="000099"/>
                </a:solidFill>
                <a:effectLst/>
                <a:uLnTx/>
                <a:uFillTx/>
                <a:latin typeface="+mn-lt"/>
                <a:ea typeface="+mn-ea"/>
                <a:cs typeface="+mn-cs"/>
              </a:rPr>
              <a:t>Kinase</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a glycolysis enzyme that is </a:t>
            </a:r>
            <a:r>
              <a:rPr kumimoji="0" lang="en-US" sz="2800" b="1" i="0" u="none" strike="noStrike" kern="1200" cap="none" spc="0" normalizeH="0" baseline="0" noProof="0" dirty="0" smtClean="0">
                <a:ln>
                  <a:noFill/>
                </a:ln>
                <a:solidFill>
                  <a:srgbClr val="000099"/>
                </a:solidFill>
                <a:effectLst/>
                <a:uLnTx/>
                <a:uFillTx/>
                <a:latin typeface="+mn-lt"/>
                <a:ea typeface="+mn-ea"/>
                <a:cs typeface="+mn-cs"/>
              </a:rPr>
              <a:t>inhibited</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when </a:t>
            </a:r>
            <a:r>
              <a:rPr kumimoji="0" lang="en-US" sz="2800" b="0" i="0" u="none" strike="noStrike" kern="1200" cap="none" spc="0" normalizeH="0" baseline="0" noProof="0" dirty="0" err="1" smtClean="0">
                <a:ln>
                  <a:noFill/>
                </a:ln>
                <a:solidFill>
                  <a:schemeClr val="tx1"/>
                </a:solidFill>
                <a:effectLst/>
                <a:uLnTx/>
                <a:uFillTx/>
                <a:latin typeface="+mn-lt"/>
                <a:ea typeface="+mn-ea"/>
                <a:cs typeface="+mn-cs"/>
              </a:rPr>
              <a:t>phosphorylated</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a:t>
            </a:r>
          </a:p>
          <a:p>
            <a:pPr marL="571500" marR="0" lvl="1" indent="-400050" algn="just" defTabSz="914400" rtl="0" eaLnBrk="1" fontAlgn="auto" latinLnBrk="0" hangingPunct="1">
              <a:lnSpc>
                <a:spcPct val="95000"/>
              </a:lnSpc>
              <a:spcBef>
                <a:spcPct val="0"/>
              </a:spcBef>
              <a:spcAft>
                <a:spcPct val="50000"/>
              </a:spcAft>
              <a:buClr>
                <a:schemeClr val="hlink"/>
              </a:buClr>
              <a:buSzTx/>
              <a:buFont typeface="Wingdings" pitchFamily="2" charset="2"/>
              <a:buChar char="w"/>
              <a:tabLst>
                <a:tab pos="685800" algn="l"/>
              </a:tabLst>
              <a:defRPr/>
            </a:pPr>
            <a:r>
              <a:rPr kumimoji="0" lang="en-US" sz="2800" b="1" i="0" u="none" strike="noStrike" kern="1200" cap="none" spc="0" normalizeH="0" baseline="0" noProof="0" dirty="0" smtClean="0">
                <a:ln>
                  <a:noFill/>
                </a:ln>
                <a:solidFill>
                  <a:srgbClr val="000099"/>
                </a:solidFill>
                <a:effectLst/>
                <a:uLnTx/>
                <a:uFillTx/>
                <a:latin typeface="+mn-lt"/>
                <a:ea typeface="+mn-ea"/>
                <a:cs typeface="+mn-cs"/>
              </a:rPr>
              <a:t>CREB</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800" b="0" i="0" u="none" strike="noStrike" kern="1200" cap="none" spc="0" normalizeH="0" baseline="0" noProof="0" dirty="0" err="1" smtClean="0">
                <a:ln>
                  <a:noFill/>
                </a:ln>
                <a:solidFill>
                  <a:schemeClr val="tx1"/>
                </a:solidFill>
                <a:effectLst/>
                <a:uLnTx/>
                <a:uFillTx/>
                <a:latin typeface="+mn-lt"/>
                <a:ea typeface="+mn-ea"/>
                <a:cs typeface="+mn-cs"/>
              </a:rPr>
              <a:t>cAMP</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response element binding protein) which activates, through other factors, transcription of the gene for </a:t>
            </a:r>
            <a:r>
              <a:rPr kumimoji="0" lang="en-US" sz="2800" b="1" i="0" u="none" strike="noStrike" kern="1200" cap="none" spc="0" normalizeH="0" baseline="0" noProof="0" dirty="0" smtClean="0">
                <a:ln>
                  <a:noFill/>
                </a:ln>
                <a:solidFill>
                  <a:srgbClr val="000099"/>
                </a:solidFill>
                <a:effectLst/>
                <a:uLnTx/>
                <a:uFillTx/>
                <a:latin typeface="+mn-lt"/>
                <a:ea typeface="+mn-ea"/>
                <a:cs typeface="+mn-cs"/>
              </a:rPr>
              <a:t>PEP </a:t>
            </a:r>
            <a:r>
              <a:rPr kumimoji="0" lang="en-US" sz="2800" b="1" i="0" u="none" strike="noStrike" kern="1200" cap="none" spc="0" normalizeH="0" baseline="0" noProof="0" dirty="0" err="1" smtClean="0">
                <a:ln>
                  <a:noFill/>
                </a:ln>
                <a:solidFill>
                  <a:srgbClr val="000099"/>
                </a:solidFill>
                <a:effectLst/>
                <a:uLnTx/>
                <a:uFillTx/>
                <a:latin typeface="+mn-lt"/>
                <a:ea typeface="+mn-ea"/>
                <a:cs typeface="+mn-cs"/>
              </a:rPr>
              <a:t>Carboxykinase</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leading to </a:t>
            </a:r>
            <a:r>
              <a:rPr kumimoji="0" lang="en-US" sz="2800" b="1" i="0" u="none" strike="noStrike" kern="1200" cap="none" spc="0" normalizeH="0" baseline="0" noProof="0" dirty="0" smtClean="0">
                <a:ln>
                  <a:noFill/>
                </a:ln>
                <a:solidFill>
                  <a:srgbClr val="000099"/>
                </a:solidFill>
                <a:effectLst/>
                <a:uLnTx/>
                <a:uFillTx/>
                <a:latin typeface="+mn-lt"/>
                <a:ea typeface="+mn-ea"/>
                <a:cs typeface="+mn-cs"/>
              </a:rPr>
              <a:t>increased</a:t>
            </a:r>
            <a:r>
              <a:rPr kumimoji="0" lang="en-US" sz="2800" b="1" i="0" u="none" strike="noStrike" kern="1200" cap="none" spc="0" normalizeH="0" baseline="0" noProof="0" dirty="0" smtClean="0">
                <a:ln>
                  <a:noFill/>
                </a:ln>
                <a:solidFill>
                  <a:schemeClr val="tx1"/>
                </a:solidFill>
                <a:effectLst/>
                <a:uLnTx/>
                <a:uFillTx/>
                <a:latin typeface="+mn-lt"/>
                <a:ea typeface="+mn-ea"/>
                <a:cs typeface="+mn-cs"/>
              </a:rPr>
              <a:t> </a:t>
            </a:r>
            <a:r>
              <a:rPr kumimoji="0" lang="en-US" sz="2800" b="1" i="0" u="none" strike="noStrike" kern="1200" cap="none" spc="0" normalizeH="0" baseline="0" noProof="0" dirty="0" err="1" smtClean="0">
                <a:ln>
                  <a:noFill/>
                </a:ln>
                <a:solidFill>
                  <a:srgbClr val="000099"/>
                </a:solidFill>
                <a:effectLst/>
                <a:uLnTx/>
                <a:uFillTx/>
                <a:latin typeface="+mn-lt"/>
                <a:ea typeface="+mn-ea"/>
                <a:cs typeface="+mn-cs"/>
              </a:rPr>
              <a:t>gluconeogenesis</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a:t>
            </a:r>
          </a:p>
          <a:p>
            <a:pPr marL="571500" marR="0" lvl="1" indent="-400050" algn="just" defTabSz="914400" rtl="0" eaLnBrk="1" fontAlgn="auto" latinLnBrk="0" hangingPunct="1">
              <a:lnSpc>
                <a:spcPct val="95000"/>
              </a:lnSpc>
              <a:spcBef>
                <a:spcPct val="0"/>
              </a:spcBef>
              <a:spcAft>
                <a:spcPct val="50000"/>
              </a:spcAft>
              <a:buClr>
                <a:schemeClr val="hlink"/>
              </a:buClr>
              <a:buSzTx/>
              <a:buFont typeface="Wingdings" pitchFamily="2" charset="2"/>
              <a:buChar char="w"/>
              <a:tabLst>
                <a:tab pos="685800" algn="l"/>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A </a:t>
            </a:r>
            <a:r>
              <a:rPr kumimoji="0" lang="en-US" sz="2800" b="1" i="0" u="none" strike="noStrike" kern="1200" cap="none" spc="0" normalizeH="0" baseline="0" noProof="0" dirty="0" smtClean="0">
                <a:ln>
                  <a:noFill/>
                </a:ln>
                <a:solidFill>
                  <a:srgbClr val="000099"/>
                </a:solidFill>
                <a:effectLst/>
                <a:uLnTx/>
                <a:uFillTx/>
                <a:latin typeface="+mn-lt"/>
                <a:ea typeface="+mn-ea"/>
                <a:cs typeface="+mn-cs"/>
              </a:rPr>
              <a:t>bi-functional enzyme (PFK-2)</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that makes and degrades an </a:t>
            </a:r>
            <a:r>
              <a:rPr kumimoji="0" lang="en-US" sz="2800" b="0" i="0" u="none" strike="noStrike" kern="1200" cap="none" spc="0" normalizeH="0" baseline="0" noProof="0" dirty="0" err="1" smtClean="0">
                <a:ln>
                  <a:noFill/>
                </a:ln>
                <a:solidFill>
                  <a:schemeClr val="tx1"/>
                </a:solidFill>
                <a:effectLst/>
                <a:uLnTx/>
                <a:uFillTx/>
                <a:latin typeface="+mn-lt"/>
                <a:ea typeface="+mn-ea"/>
                <a:cs typeface="+mn-cs"/>
              </a:rPr>
              <a:t>allosteric</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regulator, </a:t>
            </a:r>
            <a:r>
              <a:rPr kumimoji="0" lang="en-US" sz="2800" b="1" i="0" u="none" strike="noStrike" kern="1200" cap="none" spc="0" normalizeH="0" baseline="0" noProof="0" dirty="0" smtClean="0">
                <a:ln>
                  <a:noFill/>
                </a:ln>
                <a:solidFill>
                  <a:srgbClr val="000099"/>
                </a:solidFill>
                <a:effectLst/>
                <a:uLnTx/>
                <a:uFillTx/>
                <a:latin typeface="+mn-lt"/>
                <a:ea typeface="+mn-ea"/>
                <a:cs typeface="+mn-cs"/>
              </a:rPr>
              <a:t>fructose-2,6-bisphosphate</a:t>
            </a:r>
            <a:r>
              <a:rPr lang="en-US" sz="2800" dirty="0" smtClean="0"/>
              <a:t> (A potent activator of </a:t>
            </a:r>
            <a:r>
              <a:rPr lang="en-US" sz="2800" b="1" dirty="0" smtClean="0"/>
              <a:t>PFK-1</a:t>
            </a:r>
            <a:r>
              <a:rPr lang="en-US" sz="2800" dirty="0" smtClean="0"/>
              <a:t> and an inhibitor of </a:t>
            </a:r>
            <a:r>
              <a:rPr lang="en-US" sz="2800" b="1" dirty="0" smtClean="0"/>
              <a:t>Fructose 1,6 </a:t>
            </a:r>
            <a:r>
              <a:rPr lang="en-US" sz="2800" b="1" dirty="0" err="1" smtClean="0"/>
              <a:t>bisphosphatase</a:t>
            </a:r>
            <a:r>
              <a:rPr lang="en-US" sz="2800" dirty="0" smtClean="0"/>
              <a:t>.</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2"/>
          <p:cNvSpPr txBox="1">
            <a:spLocks noChangeArrowheads="1"/>
          </p:cNvSpPr>
          <p:nvPr/>
        </p:nvSpPr>
        <p:spPr>
          <a:xfrm>
            <a:off x="304800" y="357166"/>
            <a:ext cx="8286750" cy="6076950"/>
          </a:xfrm>
          <a:prstGeom prst="rect">
            <a:avLst/>
          </a:prstGeom>
        </p:spPr>
        <p:txBody>
          <a:bodyPr/>
          <a:lstStyle/>
          <a:p>
            <a:pPr marL="0" marR="0" lvl="0" indent="0" algn="l" defTabSz="914400" rtl="0" eaLnBrk="1" fontAlgn="auto" latinLnBrk="0" hangingPunct="1">
              <a:lnSpc>
                <a:spcPct val="95000"/>
              </a:lnSpc>
              <a:spcBef>
                <a:spcPct val="0"/>
              </a:spcBef>
              <a:spcAft>
                <a:spcPct val="60000"/>
              </a:spcAft>
              <a:buClrTx/>
              <a:buSzTx/>
              <a:buFontTx/>
              <a:buNone/>
              <a:tabLst>
                <a:tab pos="685800" algn="l"/>
              </a:tabLst>
              <a:defRPr/>
            </a:pPr>
            <a:r>
              <a:rPr kumimoji="0" lang="en-US" sz="2800" b="1" i="0" u="none" strike="noStrike" kern="1200" cap="none" spc="0" normalizeH="0" baseline="0" noProof="0" dirty="0" smtClean="0">
                <a:ln>
                  <a:noFill/>
                </a:ln>
                <a:solidFill>
                  <a:schemeClr val="hlink"/>
                </a:solidFill>
                <a:effectLst/>
                <a:uLnTx/>
                <a:uFillTx/>
                <a:latin typeface="+mn-lt"/>
                <a:ea typeface="+mn-ea"/>
                <a:cs typeface="+mn-cs"/>
              </a:rPr>
              <a:t>Reciprocal regulation by fructose-2,6-bisphosphate:</a:t>
            </a:r>
          </a:p>
          <a:p>
            <a:pPr marL="571500" marR="0" lvl="1" indent="-400050" algn="just" defTabSz="914400" rtl="0" eaLnBrk="1" fontAlgn="auto" latinLnBrk="0" hangingPunct="1">
              <a:lnSpc>
                <a:spcPct val="95000"/>
              </a:lnSpc>
              <a:spcBef>
                <a:spcPct val="0"/>
              </a:spcBef>
              <a:spcAft>
                <a:spcPct val="50000"/>
              </a:spcAft>
              <a:buClr>
                <a:schemeClr val="hlink"/>
              </a:buClr>
              <a:buSzTx/>
              <a:buFont typeface="Wingdings" pitchFamily="2" charset="2"/>
              <a:buChar char="w"/>
              <a:tabLst>
                <a:tab pos="685800" algn="l"/>
              </a:tabLst>
              <a:defRPr/>
            </a:pPr>
            <a:r>
              <a:rPr kumimoji="0" lang="en-US" sz="2800" b="1" i="0" u="none" strike="noStrike" kern="1200" cap="none" spc="0" normalizeH="0" baseline="0" noProof="0" dirty="0" smtClean="0">
                <a:ln>
                  <a:noFill/>
                </a:ln>
                <a:solidFill>
                  <a:schemeClr val="tx1"/>
                </a:solidFill>
                <a:effectLst/>
                <a:uLnTx/>
                <a:uFillTx/>
                <a:latin typeface="+mn-lt"/>
                <a:ea typeface="+mn-ea"/>
                <a:cs typeface="+mn-cs"/>
              </a:rPr>
              <a:t>Fructose-2,6-bisphosphate</a:t>
            </a:r>
            <a:r>
              <a:rPr kumimoji="0" lang="en-US" sz="2800" b="1" i="0" u="none" strike="noStrike" kern="1200" cap="none" spc="0" normalizeH="0" baseline="0" noProof="0" dirty="0" smtClean="0">
                <a:ln>
                  <a:noFill/>
                </a:ln>
                <a:solidFill>
                  <a:srgbClr val="000099"/>
                </a:solidFill>
                <a:effectLst/>
                <a:uLnTx/>
                <a:uFillTx/>
                <a:latin typeface="+mn-lt"/>
                <a:ea typeface="+mn-ea"/>
                <a:cs typeface="+mn-cs"/>
              </a:rPr>
              <a:t> stimulates Glycolysis</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a:t>
            </a:r>
          </a:p>
          <a:p>
            <a:pPr marL="571500" marR="0" lvl="1" indent="-400050" algn="just" defTabSz="914400" rtl="0" eaLnBrk="1" fontAlgn="auto" latinLnBrk="0" hangingPunct="1">
              <a:lnSpc>
                <a:spcPct val="95000"/>
              </a:lnSpc>
              <a:spcBef>
                <a:spcPct val="0"/>
              </a:spcBef>
              <a:spcAft>
                <a:spcPct val="50000"/>
              </a:spcAft>
              <a:buClr>
                <a:schemeClr val="hlink"/>
              </a:buClr>
              <a:buSzTx/>
              <a:buFont typeface="Wingdings" pitchFamily="2" charset="2"/>
              <a:buNone/>
              <a:tabLst>
                <a:tab pos="685800" algn="l"/>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	Fructose-2,6-bisphosphate </a:t>
            </a:r>
            <a:r>
              <a:rPr kumimoji="0" lang="en-US" sz="2800" b="0" i="0" u="none" strike="noStrike" kern="1200" cap="none" spc="0" normalizeH="0" baseline="0" noProof="0" dirty="0" err="1" smtClean="0">
                <a:ln>
                  <a:noFill/>
                </a:ln>
                <a:solidFill>
                  <a:schemeClr val="tx1"/>
                </a:solidFill>
                <a:effectLst/>
                <a:uLnTx/>
                <a:uFillTx/>
                <a:latin typeface="+mn-lt"/>
                <a:ea typeface="+mn-ea"/>
                <a:cs typeface="+mn-cs"/>
              </a:rPr>
              <a:t>allosterically</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800" b="1" i="0" u="none" strike="noStrike" kern="1200" cap="none" spc="0" normalizeH="0" baseline="0" noProof="0" dirty="0" smtClean="0">
                <a:ln>
                  <a:noFill/>
                </a:ln>
                <a:solidFill>
                  <a:srgbClr val="000099"/>
                </a:solidFill>
                <a:effectLst/>
                <a:uLnTx/>
                <a:uFillTx/>
                <a:latin typeface="+mn-lt"/>
                <a:ea typeface="+mn-ea"/>
                <a:cs typeface="+mn-cs"/>
              </a:rPr>
              <a:t>activates</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the Glycolysis enzyme </a:t>
            </a:r>
            <a:r>
              <a:rPr kumimoji="0" lang="en-US" sz="2800" b="1" i="0" u="none" strike="noStrike" kern="1200" cap="none" spc="0" normalizeH="0" baseline="0" noProof="0" dirty="0" err="1" smtClean="0">
                <a:ln>
                  <a:noFill/>
                </a:ln>
                <a:solidFill>
                  <a:srgbClr val="000099"/>
                </a:solidFill>
                <a:effectLst/>
                <a:uLnTx/>
                <a:uFillTx/>
                <a:latin typeface="+mn-lt"/>
                <a:ea typeface="+mn-ea"/>
                <a:cs typeface="+mn-cs"/>
              </a:rPr>
              <a:t>Phosphofructokinase</a:t>
            </a:r>
            <a:r>
              <a:rPr kumimoji="0" lang="en-US" sz="2800" b="1" i="0" u="none" strike="noStrike" kern="1200" cap="none" spc="0" normalizeH="0" baseline="0" noProof="0" dirty="0" smtClean="0">
                <a:ln>
                  <a:noFill/>
                </a:ln>
                <a:solidFill>
                  <a:srgbClr val="000099"/>
                </a:solidFill>
                <a:effectLst/>
                <a:uLnTx/>
                <a:uFillTx/>
                <a:latin typeface="+mn-lt"/>
                <a:ea typeface="+mn-ea"/>
                <a:cs typeface="+mn-cs"/>
              </a:rPr>
              <a:t> 1</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a:t>
            </a:r>
          </a:p>
          <a:p>
            <a:pPr marL="571500" marR="0" lvl="1" indent="-400050" algn="just" defTabSz="914400" rtl="0" eaLnBrk="1" fontAlgn="auto" latinLnBrk="0" hangingPunct="1">
              <a:lnSpc>
                <a:spcPct val="95000"/>
              </a:lnSpc>
              <a:spcBef>
                <a:spcPct val="0"/>
              </a:spcBef>
              <a:spcAft>
                <a:spcPct val="60000"/>
              </a:spcAft>
              <a:buClr>
                <a:schemeClr val="hlink"/>
              </a:buClr>
              <a:buSzTx/>
              <a:buFont typeface="Wingdings" pitchFamily="2" charset="2"/>
              <a:buNone/>
              <a:tabLst>
                <a:tab pos="685800" algn="l"/>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	Fructose-2,6-bisphosphate also </a:t>
            </a:r>
            <a:r>
              <a:rPr kumimoji="0" lang="en-US" sz="2800" b="1" i="0" u="none" strike="noStrike" kern="1200" cap="none" spc="0" normalizeH="0" baseline="0" noProof="0" dirty="0" smtClean="0">
                <a:ln>
                  <a:noFill/>
                </a:ln>
                <a:solidFill>
                  <a:srgbClr val="000099"/>
                </a:solidFill>
                <a:effectLst/>
                <a:uLnTx/>
                <a:uFillTx/>
                <a:latin typeface="+mn-lt"/>
                <a:ea typeface="+mn-ea"/>
                <a:cs typeface="+mn-cs"/>
              </a:rPr>
              <a:t>activates       transcription</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of the gene for </a:t>
            </a:r>
            <a:r>
              <a:rPr kumimoji="0" lang="en-US" sz="2800" b="1" i="0" u="none" strike="noStrike" kern="1200" cap="none" spc="0" normalizeH="0" baseline="0" noProof="0" dirty="0" err="1" smtClean="0">
                <a:ln>
                  <a:noFill/>
                </a:ln>
                <a:solidFill>
                  <a:srgbClr val="000099"/>
                </a:solidFill>
                <a:effectLst/>
                <a:uLnTx/>
                <a:uFillTx/>
                <a:latin typeface="+mn-lt"/>
                <a:ea typeface="+mn-ea"/>
                <a:cs typeface="+mn-cs"/>
              </a:rPr>
              <a:t>Glucokinase</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the liver variant of </a:t>
            </a:r>
            <a:r>
              <a:rPr kumimoji="0" lang="en-US" sz="2800" b="0" i="0" u="none" strike="noStrike" kern="1200" cap="none" spc="0" normalizeH="0" baseline="0" noProof="0" dirty="0" err="1" smtClean="0">
                <a:ln>
                  <a:noFill/>
                </a:ln>
                <a:solidFill>
                  <a:schemeClr val="tx1"/>
                </a:solidFill>
                <a:effectLst/>
                <a:uLnTx/>
                <a:uFillTx/>
                <a:latin typeface="+mn-lt"/>
                <a:ea typeface="+mn-ea"/>
                <a:cs typeface="+mn-cs"/>
              </a:rPr>
              <a:t>Hexokinase</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that </a:t>
            </a:r>
            <a:r>
              <a:rPr kumimoji="0" lang="en-US" sz="2800" b="0" i="0" u="none" strike="noStrike" kern="1200" cap="none" spc="0" normalizeH="0" baseline="0" noProof="0" dirty="0" err="1" smtClean="0">
                <a:ln>
                  <a:noFill/>
                </a:ln>
                <a:solidFill>
                  <a:schemeClr val="tx1"/>
                </a:solidFill>
                <a:effectLst/>
                <a:uLnTx/>
                <a:uFillTx/>
                <a:latin typeface="+mn-lt"/>
                <a:ea typeface="+mn-ea"/>
                <a:cs typeface="+mn-cs"/>
              </a:rPr>
              <a:t>phosphorylates</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glucose to glucose-6-phosphate, the input to Glycolysis.</a:t>
            </a:r>
          </a:p>
          <a:p>
            <a:pPr marL="571500" marR="0" lvl="1" indent="-400050" algn="just" defTabSz="914400" rtl="0" eaLnBrk="1" fontAlgn="auto" latinLnBrk="0" hangingPunct="1">
              <a:lnSpc>
                <a:spcPct val="95000"/>
              </a:lnSpc>
              <a:spcBef>
                <a:spcPct val="0"/>
              </a:spcBef>
              <a:spcAft>
                <a:spcPct val="50000"/>
              </a:spcAft>
              <a:buClr>
                <a:schemeClr val="hlink"/>
              </a:buClr>
              <a:buSzTx/>
              <a:buFont typeface="Wingdings" pitchFamily="2" charset="2"/>
              <a:buChar char="w"/>
              <a:tabLst>
                <a:tab pos="685800" algn="l"/>
              </a:tabLst>
              <a:defRPr/>
            </a:pPr>
            <a:r>
              <a:rPr kumimoji="0" lang="en-US" sz="2800" b="1" i="0" u="none" strike="noStrike" kern="1200" cap="none" spc="0" normalizeH="0" baseline="0" noProof="0" dirty="0" smtClean="0">
                <a:ln>
                  <a:noFill/>
                </a:ln>
                <a:solidFill>
                  <a:schemeClr val="tx1"/>
                </a:solidFill>
                <a:effectLst/>
                <a:uLnTx/>
                <a:uFillTx/>
                <a:latin typeface="+mn-lt"/>
                <a:ea typeface="+mn-ea"/>
                <a:cs typeface="+mn-cs"/>
              </a:rPr>
              <a:t>Fructose-2,6-bisphosphate </a:t>
            </a:r>
            <a:r>
              <a:rPr kumimoji="0" lang="en-US" sz="2800" b="0" i="0" u="none" strike="noStrike" kern="1200" cap="none" spc="0" normalizeH="0" baseline="0" noProof="0" dirty="0" err="1" smtClean="0">
                <a:ln>
                  <a:noFill/>
                </a:ln>
                <a:solidFill>
                  <a:schemeClr val="tx1"/>
                </a:solidFill>
                <a:effectLst/>
                <a:uLnTx/>
                <a:uFillTx/>
                <a:latin typeface="+mn-lt"/>
                <a:ea typeface="+mn-ea"/>
                <a:cs typeface="+mn-cs"/>
              </a:rPr>
              <a:t>allosterically</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800" b="1" i="0" u="none" strike="noStrike" kern="1200" cap="none" spc="0" normalizeH="0" baseline="0" noProof="0" dirty="0" smtClean="0">
                <a:ln>
                  <a:noFill/>
                </a:ln>
                <a:solidFill>
                  <a:srgbClr val="000099"/>
                </a:solidFill>
                <a:effectLst/>
                <a:uLnTx/>
                <a:uFillTx/>
                <a:latin typeface="+mn-lt"/>
                <a:ea typeface="+mn-ea"/>
                <a:cs typeface="+mn-cs"/>
              </a:rPr>
              <a:t>inhibits </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the </a:t>
            </a:r>
            <a:r>
              <a:rPr kumimoji="0" lang="en-US" sz="2800" b="1" i="0" u="none" strike="noStrike" kern="1200" cap="none" spc="0" normalizeH="0" baseline="0" noProof="0" dirty="0" err="1" smtClean="0">
                <a:ln>
                  <a:noFill/>
                </a:ln>
                <a:solidFill>
                  <a:srgbClr val="000099"/>
                </a:solidFill>
                <a:effectLst/>
                <a:uLnTx/>
                <a:uFillTx/>
                <a:latin typeface="+mn-lt"/>
                <a:ea typeface="+mn-ea"/>
                <a:cs typeface="+mn-cs"/>
              </a:rPr>
              <a:t>gluconeogenesis</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enzyme </a:t>
            </a:r>
            <a:r>
              <a:rPr kumimoji="0" lang="en-US" sz="2800" b="1" i="0" u="none" strike="noStrike" kern="1200" cap="none" spc="0" normalizeH="0" baseline="0" noProof="0" dirty="0" smtClean="0">
                <a:ln>
                  <a:noFill/>
                </a:ln>
                <a:solidFill>
                  <a:srgbClr val="000099"/>
                </a:solidFill>
                <a:effectLst/>
                <a:uLnTx/>
                <a:uFillTx/>
                <a:latin typeface="+mn-lt"/>
                <a:ea typeface="+mn-ea"/>
                <a:cs typeface="+mn-cs"/>
              </a:rPr>
              <a:t>Fructose-1,6-bisphosphatase</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irc_mi" descr="http://themedicalbiochemistrypage.org/images/pkacamp.jpg"/>
          <p:cNvPicPr/>
          <p:nvPr/>
        </p:nvPicPr>
        <p:blipFill>
          <a:blip r:embed="rId2">
            <a:lum bright="-20000" contrast="40000"/>
          </a:blip>
          <a:srcRect/>
          <a:stretch>
            <a:fillRect/>
          </a:stretch>
        </p:blipFill>
        <p:spPr bwMode="auto">
          <a:xfrm>
            <a:off x="1071538" y="214290"/>
            <a:ext cx="6643734" cy="3429024"/>
          </a:xfrm>
          <a:prstGeom prst="rect">
            <a:avLst/>
          </a:prstGeom>
          <a:noFill/>
          <a:ln w="9525">
            <a:noFill/>
            <a:miter lim="800000"/>
            <a:headEnd/>
            <a:tailEnd/>
          </a:ln>
        </p:spPr>
      </p:pic>
      <p:sp>
        <p:nvSpPr>
          <p:cNvPr id="5" name="Rectangle 2"/>
          <p:cNvSpPr txBox="1">
            <a:spLocks noChangeArrowheads="1"/>
          </p:cNvSpPr>
          <p:nvPr/>
        </p:nvSpPr>
        <p:spPr>
          <a:xfrm>
            <a:off x="285720" y="3714752"/>
            <a:ext cx="8572560" cy="2857520"/>
          </a:xfrm>
          <a:prstGeom prst="rect">
            <a:avLst/>
          </a:prstGeom>
        </p:spPr>
        <p:txBody>
          <a:bodyPr/>
          <a:lstStyle/>
          <a:p>
            <a:pPr marL="0" marR="0" lvl="0" indent="0" algn="just" defTabSz="914400" rtl="0" eaLnBrk="1" fontAlgn="auto" latinLnBrk="0" hangingPunct="1">
              <a:lnSpc>
                <a:spcPct val="95000"/>
              </a:lnSpc>
              <a:spcBef>
                <a:spcPct val="0"/>
              </a:spcBef>
              <a:spcAft>
                <a:spcPct val="30000"/>
              </a:spcAft>
              <a:buClrTx/>
              <a:buSzTx/>
              <a:buFontTx/>
              <a:buNone/>
              <a:tabLst>
                <a:tab pos="685800" algn="l"/>
              </a:tabLst>
              <a:defRPr/>
            </a:pPr>
            <a:r>
              <a:rPr kumimoji="0" lang="en-US" sz="2800" b="1" i="0" u="none" strike="noStrike" kern="1200" cap="none" spc="0" normalizeH="0" baseline="0" noProof="0" dirty="0" smtClean="0">
                <a:ln>
                  <a:noFill/>
                </a:ln>
                <a:solidFill>
                  <a:srgbClr val="000099"/>
                </a:solidFill>
                <a:effectLst/>
                <a:uLnTx/>
                <a:uFillTx/>
                <a:latin typeface="+mn-lt"/>
                <a:ea typeface="+mn-ea"/>
                <a:cs typeface="+mn-cs"/>
              </a:rPr>
              <a:t>Phosphorylation</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of enzymes &amp; regulatory proteins in liver by Protein </a:t>
            </a:r>
            <a:r>
              <a:rPr kumimoji="0" lang="en-US" sz="2800" b="0" i="0" u="none" strike="noStrike" kern="1200" cap="none" spc="0" normalizeH="0" baseline="0" noProof="0" dirty="0" err="1" smtClean="0">
                <a:ln>
                  <a:noFill/>
                </a:ln>
                <a:solidFill>
                  <a:schemeClr val="tx1"/>
                </a:solidFill>
                <a:effectLst/>
                <a:uLnTx/>
                <a:uFillTx/>
                <a:latin typeface="+mn-lt"/>
                <a:ea typeface="+mn-ea"/>
                <a:cs typeface="+mn-cs"/>
              </a:rPr>
              <a:t>Kinase</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A (</a:t>
            </a:r>
            <a:r>
              <a:rPr kumimoji="0" lang="en-US" sz="2800" b="0" i="0" u="none" strike="noStrike" kern="1200" cap="none" spc="0" normalizeH="0" baseline="0" noProof="0" dirty="0" err="1" smtClean="0">
                <a:ln>
                  <a:noFill/>
                </a:ln>
                <a:solidFill>
                  <a:schemeClr val="tx1"/>
                </a:solidFill>
                <a:effectLst/>
                <a:uLnTx/>
                <a:uFillTx/>
                <a:latin typeface="+mn-lt"/>
                <a:ea typeface="+mn-ea"/>
                <a:cs typeface="+mn-cs"/>
              </a:rPr>
              <a:t>cAMP</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Dependent Protein </a:t>
            </a:r>
            <a:r>
              <a:rPr kumimoji="0" lang="en-US" sz="2800" b="0" i="0" u="none" strike="noStrike" kern="1200" cap="none" spc="0" normalizeH="0" baseline="0" noProof="0" dirty="0" err="1" smtClean="0">
                <a:ln>
                  <a:noFill/>
                </a:ln>
                <a:solidFill>
                  <a:schemeClr val="tx1"/>
                </a:solidFill>
                <a:effectLst/>
                <a:uLnTx/>
                <a:uFillTx/>
                <a:latin typeface="+mn-lt"/>
                <a:ea typeface="+mn-ea"/>
                <a:cs typeface="+mn-cs"/>
              </a:rPr>
              <a:t>Kinase</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results in</a:t>
            </a:r>
          </a:p>
          <a:p>
            <a:pPr marL="571500" marR="0" lvl="1" indent="-400050" algn="just" defTabSz="914400" rtl="0" eaLnBrk="1" fontAlgn="auto" latinLnBrk="0" hangingPunct="1">
              <a:lnSpc>
                <a:spcPct val="95000"/>
              </a:lnSpc>
              <a:spcBef>
                <a:spcPct val="0"/>
              </a:spcBef>
              <a:spcAft>
                <a:spcPct val="30000"/>
              </a:spcAft>
              <a:buClr>
                <a:schemeClr val="hlink"/>
              </a:buClr>
              <a:buSzTx/>
              <a:buFont typeface="Wingdings" pitchFamily="2" charset="2"/>
              <a:buChar char="w"/>
              <a:tabLst>
                <a:tab pos="685800" algn="l"/>
              </a:tabLst>
              <a:defRPr/>
            </a:pPr>
            <a:r>
              <a:rPr kumimoji="0" lang="en-US" sz="2800" b="1" i="0" u="none" strike="noStrike" kern="1200" cap="none" spc="0" normalizeH="0" baseline="0" noProof="0" dirty="0" smtClean="0">
                <a:ln>
                  <a:noFill/>
                </a:ln>
                <a:solidFill>
                  <a:srgbClr val="000099"/>
                </a:solidFill>
                <a:effectLst/>
                <a:uLnTx/>
                <a:uFillTx/>
                <a:latin typeface="+mn-lt"/>
                <a:ea typeface="+mn-ea"/>
                <a:cs typeface="+mn-cs"/>
              </a:rPr>
              <a:t>inhibition  of glycolysis</a:t>
            </a:r>
          </a:p>
          <a:p>
            <a:pPr marL="571500" marR="0" lvl="1" indent="-400050" algn="just" defTabSz="914400" rtl="0" eaLnBrk="1" fontAlgn="auto" latinLnBrk="0" hangingPunct="1">
              <a:lnSpc>
                <a:spcPct val="95000"/>
              </a:lnSpc>
              <a:spcBef>
                <a:spcPct val="0"/>
              </a:spcBef>
              <a:spcAft>
                <a:spcPct val="30000"/>
              </a:spcAft>
              <a:buClr>
                <a:schemeClr val="hlink"/>
              </a:buClr>
              <a:buSzTx/>
              <a:buFont typeface="Wingdings" pitchFamily="2" charset="2"/>
              <a:buChar char="w"/>
              <a:tabLst>
                <a:tab pos="685800" algn="l"/>
              </a:tabLst>
              <a:defRPr/>
            </a:pPr>
            <a:r>
              <a:rPr kumimoji="0" lang="en-US" sz="2800" b="1" i="0" u="none" strike="noStrike" kern="1200" cap="none" spc="0" normalizeH="0" baseline="0" noProof="0" dirty="0" smtClean="0">
                <a:ln>
                  <a:noFill/>
                </a:ln>
                <a:solidFill>
                  <a:srgbClr val="000099"/>
                </a:solidFill>
                <a:effectLst/>
                <a:uLnTx/>
                <a:uFillTx/>
                <a:latin typeface="+mn-lt"/>
                <a:ea typeface="+mn-ea"/>
                <a:cs typeface="+mn-cs"/>
              </a:rPr>
              <a:t>stimulation of </a:t>
            </a:r>
            <a:r>
              <a:rPr kumimoji="0" lang="en-US" sz="2800" b="1" i="0" u="none" strike="noStrike" kern="1200" cap="none" spc="0" normalizeH="0" baseline="0" noProof="0" dirty="0" err="1" smtClean="0">
                <a:ln>
                  <a:noFill/>
                </a:ln>
                <a:solidFill>
                  <a:srgbClr val="000099"/>
                </a:solidFill>
                <a:effectLst/>
                <a:uLnTx/>
                <a:uFillTx/>
                <a:latin typeface="+mn-lt"/>
                <a:ea typeface="+mn-ea"/>
                <a:cs typeface="+mn-cs"/>
              </a:rPr>
              <a:t>gluconeogenesis</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a:t>
            </a:r>
          </a:p>
          <a:p>
            <a:pPr marL="0" marR="0" lvl="0" indent="0" algn="just" defTabSz="914400" rtl="0" eaLnBrk="1" fontAlgn="auto" latinLnBrk="0" hangingPunct="1">
              <a:lnSpc>
                <a:spcPct val="95000"/>
              </a:lnSpc>
              <a:spcBef>
                <a:spcPct val="0"/>
              </a:spcBef>
              <a:spcAft>
                <a:spcPct val="40000"/>
              </a:spcAft>
              <a:buClrTx/>
              <a:buSzTx/>
              <a:buFontTx/>
              <a:buNone/>
              <a:tabLst>
                <a:tab pos="685800" algn="l"/>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making glucose available for release to the blood.</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2"/>
          <p:cNvSpPr txBox="1">
            <a:spLocks noChangeArrowheads="1"/>
          </p:cNvSpPr>
          <p:nvPr/>
        </p:nvSpPr>
        <p:spPr>
          <a:xfrm>
            <a:off x="357158" y="1614486"/>
            <a:ext cx="8343900" cy="4100530"/>
          </a:xfrm>
          <a:prstGeom prst="rect">
            <a:avLst/>
          </a:prstGeom>
        </p:spPr>
        <p:txBody>
          <a:bodyPr/>
          <a:lstStyle/>
          <a:p>
            <a:pPr marL="0" marR="0" lvl="0" indent="0" algn="just" defTabSz="914400" rtl="0" eaLnBrk="1" fontAlgn="auto" latinLnBrk="0" hangingPunct="1">
              <a:lnSpc>
                <a:spcPct val="95000"/>
              </a:lnSpc>
              <a:spcBef>
                <a:spcPct val="0"/>
              </a:spcBef>
              <a:spcAft>
                <a:spcPct val="50000"/>
              </a:spcAft>
              <a:buClrTx/>
              <a:buSzTx/>
              <a:buFontTx/>
              <a:buNone/>
              <a:tabLst>
                <a:tab pos="457200" algn="l"/>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The </a:t>
            </a:r>
            <a:r>
              <a:rPr kumimoji="0" lang="en-US" sz="2800" b="1" i="0" u="none" strike="noStrike" kern="1200" cap="none" spc="0" normalizeH="0" baseline="0" noProof="0" dirty="0" smtClean="0">
                <a:ln>
                  <a:noFill/>
                </a:ln>
                <a:solidFill>
                  <a:schemeClr val="hlink"/>
                </a:solidFill>
                <a:effectLst/>
                <a:uLnTx/>
                <a:uFillTx/>
                <a:latin typeface="+mn-lt"/>
                <a:ea typeface="+mn-ea"/>
                <a:cs typeface="Times New Roman" pitchFamily="18" charset="0"/>
              </a:rPr>
              <a:t>Cori Cycle</a:t>
            </a: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 operates during </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exercise</a:t>
            </a: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 </a:t>
            </a:r>
          </a:p>
          <a:p>
            <a:pPr marL="0" marR="0" lvl="0" indent="0" algn="just" defTabSz="914400" rtl="0" eaLnBrk="1" fontAlgn="auto" latinLnBrk="0" hangingPunct="1">
              <a:lnSpc>
                <a:spcPct val="95000"/>
              </a:lnSpc>
              <a:spcBef>
                <a:spcPct val="0"/>
              </a:spcBef>
              <a:spcAft>
                <a:spcPct val="50000"/>
              </a:spcAft>
              <a:buClrTx/>
              <a:buSzTx/>
              <a:buFontTx/>
              <a:buNone/>
              <a:tabLst>
                <a:tab pos="457200" algn="l"/>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For a brief burst of </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ATP</a:t>
            </a: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 utilization, muscle cells utilize </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~P</a:t>
            </a: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 stored as </a:t>
            </a:r>
            <a:r>
              <a:rPr kumimoji="0" lang="en-US" sz="2800" b="1" i="0" u="none" strike="noStrike" kern="1200" cap="none" spc="0" normalizeH="0" baseline="0" noProof="0" dirty="0" err="1" smtClean="0">
                <a:ln>
                  <a:noFill/>
                </a:ln>
                <a:solidFill>
                  <a:srgbClr val="000099"/>
                </a:solidFill>
                <a:effectLst/>
                <a:uLnTx/>
                <a:uFillTx/>
                <a:latin typeface="+mn-lt"/>
                <a:ea typeface="+mn-ea"/>
                <a:cs typeface="Times New Roman" pitchFamily="18" charset="0"/>
              </a:rPr>
              <a:t>phosphocreatine</a:t>
            </a: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 </a:t>
            </a:r>
          </a:p>
          <a:p>
            <a:pPr marL="0" marR="0" lvl="0" indent="0" algn="just" defTabSz="914400" rtl="0" eaLnBrk="1" fontAlgn="auto" latinLnBrk="0" hangingPunct="1">
              <a:lnSpc>
                <a:spcPct val="95000"/>
              </a:lnSpc>
              <a:spcBef>
                <a:spcPct val="0"/>
              </a:spcBef>
              <a:spcAft>
                <a:spcPct val="50000"/>
              </a:spcAft>
              <a:buClrTx/>
              <a:buSzTx/>
              <a:buFontTx/>
              <a:buNone/>
              <a:tabLst>
                <a:tab pos="457200" algn="l"/>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Once </a:t>
            </a:r>
            <a:r>
              <a:rPr kumimoji="0" lang="en-US" sz="2800" b="0" i="0" u="none" strike="noStrike" kern="1200" cap="none" spc="0" normalizeH="0" baseline="0" noProof="0" dirty="0" err="1" smtClean="0">
                <a:ln>
                  <a:noFill/>
                </a:ln>
                <a:solidFill>
                  <a:schemeClr val="tx1"/>
                </a:solidFill>
                <a:effectLst/>
                <a:uLnTx/>
                <a:uFillTx/>
                <a:latin typeface="+mn-lt"/>
                <a:ea typeface="+mn-ea"/>
                <a:cs typeface="Times New Roman" pitchFamily="18" charset="0"/>
              </a:rPr>
              <a:t>phosphocreatine</a:t>
            </a: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 is exhausted, ATP is provided mainly by </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Glycolysis</a:t>
            </a: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 with the input coming from </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glycogen</a:t>
            </a: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 breakdown and from </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glucose uptake</a:t>
            </a: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 from the blood. </a:t>
            </a:r>
          </a:p>
          <a:p>
            <a:pPr marL="0" marR="0" lvl="0" indent="0" algn="l" defTabSz="914400" rtl="0" eaLnBrk="1" fontAlgn="auto" latinLnBrk="0" hangingPunct="1">
              <a:lnSpc>
                <a:spcPct val="95000"/>
              </a:lnSpc>
              <a:spcBef>
                <a:spcPct val="0"/>
              </a:spcBef>
              <a:spcAft>
                <a:spcPct val="50000"/>
              </a:spcAft>
              <a:buClrTx/>
              <a:buSzTx/>
              <a:buFontTx/>
              <a:buNone/>
              <a:tabLst>
                <a:tab pos="457200" algn="l"/>
              </a:tabLst>
              <a:defRPr/>
            </a:pPr>
            <a:endPar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endParaRPr>
          </a:p>
        </p:txBody>
      </p:sp>
      <p:sp>
        <p:nvSpPr>
          <p:cNvPr id="5" name="TextBox 4"/>
          <p:cNvSpPr txBox="1"/>
          <p:nvPr/>
        </p:nvSpPr>
        <p:spPr>
          <a:xfrm>
            <a:off x="2750493" y="857232"/>
            <a:ext cx="2572756" cy="584775"/>
          </a:xfrm>
          <a:prstGeom prst="rect">
            <a:avLst/>
          </a:prstGeom>
          <a:noFill/>
        </p:spPr>
        <p:txBody>
          <a:bodyPr wrap="none" rtlCol="0">
            <a:spAutoFit/>
          </a:bodyPr>
          <a:lstStyle/>
          <a:p>
            <a:r>
              <a:rPr lang="en-GB" sz="3200" b="1" dirty="0" smtClean="0"/>
              <a:t>The </a:t>
            </a:r>
            <a:r>
              <a:rPr lang="en-GB" sz="3200" b="1" dirty="0" err="1" smtClean="0"/>
              <a:t>Cori</a:t>
            </a:r>
            <a:r>
              <a:rPr lang="en-GB" sz="3200" b="1" dirty="0" smtClean="0"/>
              <a:t> Cycle</a:t>
            </a:r>
            <a:endParaRPr lang="en-GB" sz="3200" b="1"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1266" name="Object 11"/>
          <p:cNvGraphicFramePr>
            <a:graphicFrameLocks noChangeAspect="1"/>
          </p:cNvGraphicFramePr>
          <p:nvPr/>
        </p:nvGraphicFramePr>
        <p:xfrm>
          <a:off x="1509713" y="142852"/>
          <a:ext cx="6005512" cy="4164035"/>
        </p:xfrm>
        <a:graphic>
          <a:graphicData uri="http://schemas.openxmlformats.org/presentationml/2006/ole">
            <mc:AlternateContent xmlns:mc="http://schemas.openxmlformats.org/markup-compatibility/2006">
              <mc:Choice xmlns:v="urn:schemas-microsoft-com:vml" Requires="v">
                <p:oleObj spid="_x0000_s11283" r:id="rId3" imgW="2743200" imgH="2001012" progId="Word.Picture.8">
                  <p:embed/>
                </p:oleObj>
              </mc:Choice>
              <mc:Fallback>
                <p:oleObj r:id="rId3" imgW="2743200" imgH="2001012" progId="Word.Picture.8">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9713" y="142852"/>
                        <a:ext cx="6005512" cy="41640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2"/>
          <p:cNvSpPr txBox="1">
            <a:spLocks noChangeArrowheads="1"/>
          </p:cNvSpPr>
          <p:nvPr/>
        </p:nvSpPr>
        <p:spPr>
          <a:xfrm>
            <a:off x="142844" y="4500570"/>
            <a:ext cx="8863014" cy="1885950"/>
          </a:xfrm>
          <a:prstGeom prst="rect">
            <a:avLst/>
          </a:prstGeom>
        </p:spPr>
        <p:txBody>
          <a:bodyPr/>
          <a:lstStyle/>
          <a:p>
            <a:pPr marL="0" marR="0" lvl="0" indent="0" algn="just" defTabSz="914400" rtl="0" eaLnBrk="1" fontAlgn="auto" latinLnBrk="0" hangingPunct="1">
              <a:lnSpc>
                <a:spcPct val="95000"/>
              </a:lnSpc>
              <a:spcBef>
                <a:spcPct val="0"/>
              </a:spcBef>
              <a:spcAft>
                <a:spcPct val="50000"/>
              </a:spcAft>
              <a:buClrTx/>
              <a:buSzTx/>
              <a:buFontTx/>
              <a:buNone/>
              <a:tabLst>
                <a:tab pos="457200" algn="l"/>
              </a:tabLst>
              <a:defRPr/>
            </a:pP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Lactate</a:t>
            </a: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 produced from </a:t>
            </a:r>
            <a:r>
              <a:rPr kumimoji="0" lang="en-US" sz="2800" b="0" i="0" u="none" strike="noStrike" kern="1200" cap="none" spc="0" normalizeH="0" baseline="0" noProof="0" dirty="0" err="1" smtClean="0">
                <a:ln>
                  <a:noFill/>
                </a:ln>
                <a:solidFill>
                  <a:schemeClr val="tx1"/>
                </a:solidFill>
                <a:effectLst/>
                <a:uLnTx/>
                <a:uFillTx/>
                <a:latin typeface="+mn-lt"/>
                <a:ea typeface="+mn-ea"/>
                <a:cs typeface="Times New Roman" pitchFamily="18" charset="0"/>
              </a:rPr>
              <a:t>pyruvate</a:t>
            </a: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 passes via the blood to the </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liver</a:t>
            </a: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 where it may be converted to </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glucose</a:t>
            </a: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 </a:t>
            </a:r>
          </a:p>
          <a:p>
            <a:pPr marL="0" marR="0" lvl="0" indent="0" algn="just" defTabSz="914400" rtl="0" eaLnBrk="1" fontAlgn="auto" latinLnBrk="0" hangingPunct="1">
              <a:lnSpc>
                <a:spcPct val="95000"/>
              </a:lnSpc>
              <a:spcBef>
                <a:spcPct val="0"/>
              </a:spcBef>
              <a:spcAft>
                <a:spcPct val="50000"/>
              </a:spcAft>
              <a:buClrTx/>
              <a:buSzTx/>
              <a:buFontTx/>
              <a:buNone/>
              <a:tabLst>
                <a:tab pos="457200" algn="l"/>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The glucose may travel back to the </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muscle</a:t>
            </a: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 to fuel </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Glycolysis</a:t>
            </a: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 </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2290" name="Object 11"/>
          <p:cNvGraphicFramePr>
            <a:graphicFrameLocks noChangeAspect="1"/>
          </p:cNvGraphicFramePr>
          <p:nvPr/>
        </p:nvGraphicFramePr>
        <p:xfrm>
          <a:off x="1568450" y="122245"/>
          <a:ext cx="6005513" cy="4235449"/>
        </p:xfrm>
        <a:graphic>
          <a:graphicData uri="http://schemas.openxmlformats.org/presentationml/2006/ole">
            <mc:AlternateContent xmlns:mc="http://schemas.openxmlformats.org/markup-compatibility/2006">
              <mc:Choice xmlns:v="urn:schemas-microsoft-com:vml" Requires="v">
                <p:oleObj spid="_x0000_s12307" r:id="rId3" imgW="2743200" imgH="2001012" progId="Word.Picture.8">
                  <p:embed/>
                </p:oleObj>
              </mc:Choice>
              <mc:Fallback>
                <p:oleObj r:id="rId3" imgW="2743200" imgH="2001012" progId="Word.Picture.8">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8450" y="122245"/>
                        <a:ext cx="6005513" cy="423544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2"/>
          <p:cNvSpPr txBox="1">
            <a:spLocks noChangeArrowheads="1"/>
          </p:cNvSpPr>
          <p:nvPr/>
        </p:nvSpPr>
        <p:spPr>
          <a:xfrm>
            <a:off x="214282" y="4419624"/>
            <a:ext cx="8786874" cy="1938334"/>
          </a:xfrm>
          <a:prstGeom prst="rect">
            <a:avLst/>
          </a:prstGeom>
        </p:spPr>
        <p:txBody>
          <a:bodyPr/>
          <a:lstStyle/>
          <a:p>
            <a:pPr marL="0" marR="0" lvl="0" indent="0" algn="just" defTabSz="914400" rtl="0" eaLnBrk="1" fontAlgn="auto" latinLnBrk="0" hangingPunct="1">
              <a:lnSpc>
                <a:spcPct val="95000"/>
              </a:lnSpc>
              <a:spcBef>
                <a:spcPct val="0"/>
              </a:spcBef>
              <a:spcAft>
                <a:spcPct val="25000"/>
              </a:spcAft>
              <a:buClrTx/>
              <a:buSzTx/>
              <a:buFont typeface="Wingdings" pitchFamily="2" charset="2"/>
              <a:buChar char="v"/>
              <a:tabLst>
                <a:tab pos="457200" algn="l"/>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Times New Roman" pitchFamily="18" charset="0"/>
              </a:rPr>
              <a:t>The Cori cycle </a:t>
            </a:r>
            <a:r>
              <a:rPr kumimoji="0" lang="en-US" sz="2400" b="1" i="0" u="none" strike="noStrike" kern="1200" cap="none" spc="0" normalizeH="0" baseline="0" noProof="0" dirty="0" smtClean="0">
                <a:ln>
                  <a:noFill/>
                </a:ln>
                <a:solidFill>
                  <a:schemeClr val="hlink"/>
                </a:solidFill>
                <a:effectLst/>
                <a:uLnTx/>
                <a:uFillTx/>
                <a:latin typeface="+mn-lt"/>
                <a:ea typeface="+mn-ea"/>
                <a:cs typeface="Times New Roman" pitchFamily="18" charset="0"/>
              </a:rPr>
              <a:t>costs 6 ~P</a:t>
            </a:r>
            <a:r>
              <a:rPr kumimoji="0" lang="en-US" sz="2400" b="1" i="0" u="none" strike="noStrike" kern="1200" cap="none" spc="0" normalizeH="0" baseline="0" noProof="0" dirty="0" smtClean="0">
                <a:ln>
                  <a:noFill/>
                </a:ln>
                <a:solidFill>
                  <a:schemeClr val="tx1"/>
                </a:solidFill>
                <a:effectLst/>
                <a:uLnTx/>
                <a:uFillTx/>
                <a:latin typeface="+mn-lt"/>
                <a:ea typeface="+mn-ea"/>
                <a:cs typeface="Times New Roman" pitchFamily="18" charset="0"/>
              </a:rPr>
              <a:t> </a:t>
            </a:r>
            <a:r>
              <a:rPr kumimoji="0" lang="en-US" sz="2400" b="0" i="0" u="none" strike="noStrike" kern="1200" cap="none" spc="0" normalizeH="0" baseline="0" noProof="0" dirty="0" smtClean="0">
                <a:ln>
                  <a:noFill/>
                </a:ln>
                <a:solidFill>
                  <a:schemeClr val="tx1"/>
                </a:solidFill>
                <a:effectLst/>
                <a:uLnTx/>
                <a:uFillTx/>
                <a:latin typeface="+mn-lt"/>
                <a:ea typeface="+mn-ea"/>
                <a:cs typeface="Times New Roman" pitchFamily="18" charset="0"/>
              </a:rPr>
              <a:t>in liver for every </a:t>
            </a:r>
            <a:r>
              <a:rPr kumimoji="0" lang="en-US" sz="2400" b="1" i="0" u="none" strike="noStrike" kern="1200" cap="none" spc="0" normalizeH="0" baseline="0" noProof="0" dirty="0" smtClean="0">
                <a:ln>
                  <a:noFill/>
                </a:ln>
                <a:solidFill>
                  <a:schemeClr val="hlink"/>
                </a:solidFill>
                <a:effectLst/>
                <a:uLnTx/>
                <a:uFillTx/>
                <a:latin typeface="+mn-lt"/>
                <a:ea typeface="+mn-ea"/>
                <a:cs typeface="Times New Roman" pitchFamily="18" charset="0"/>
              </a:rPr>
              <a:t>2 ~P</a:t>
            </a:r>
            <a:r>
              <a:rPr kumimoji="0" lang="en-US" sz="2400" b="0" i="0" u="none" strike="noStrike" kern="1200" cap="none" spc="0" normalizeH="0" baseline="0" noProof="0" dirty="0" smtClean="0">
                <a:ln>
                  <a:noFill/>
                </a:ln>
                <a:solidFill>
                  <a:schemeClr val="tx1"/>
                </a:solidFill>
                <a:effectLst/>
                <a:uLnTx/>
                <a:uFillTx/>
                <a:latin typeface="+mn-lt"/>
                <a:ea typeface="+mn-ea"/>
                <a:cs typeface="Times New Roman" pitchFamily="18" charset="0"/>
              </a:rPr>
              <a:t> made available in muscle. The </a:t>
            </a:r>
            <a:r>
              <a:rPr kumimoji="0" lang="en-US" sz="2400" b="1" i="0" u="none" strike="noStrike" kern="1200" cap="none" spc="0" normalizeH="0" baseline="0" noProof="0" dirty="0" smtClean="0">
                <a:ln>
                  <a:noFill/>
                </a:ln>
                <a:solidFill>
                  <a:schemeClr val="hlink"/>
                </a:solidFill>
                <a:effectLst/>
                <a:uLnTx/>
                <a:uFillTx/>
                <a:latin typeface="+mn-lt"/>
                <a:ea typeface="+mn-ea"/>
                <a:cs typeface="Times New Roman" pitchFamily="18" charset="0"/>
              </a:rPr>
              <a:t>net cost is 4 ~P</a:t>
            </a:r>
            <a:r>
              <a:rPr kumimoji="0" lang="en-US" sz="2400" b="0" i="0" u="none" strike="noStrike" kern="1200" cap="none" spc="0" normalizeH="0" baseline="0" noProof="0" dirty="0" smtClean="0">
                <a:ln>
                  <a:noFill/>
                </a:ln>
                <a:solidFill>
                  <a:schemeClr val="tx1"/>
                </a:solidFill>
                <a:effectLst/>
                <a:uLnTx/>
                <a:uFillTx/>
                <a:latin typeface="+mn-lt"/>
                <a:ea typeface="+mn-ea"/>
                <a:cs typeface="Times New Roman" pitchFamily="18" charset="0"/>
              </a:rPr>
              <a:t>. </a:t>
            </a:r>
          </a:p>
          <a:p>
            <a:pPr marL="0" marR="0" lvl="0" indent="0" algn="just" defTabSz="914400" rtl="0" eaLnBrk="1" fontAlgn="auto" latinLnBrk="0" hangingPunct="1">
              <a:lnSpc>
                <a:spcPct val="95000"/>
              </a:lnSpc>
              <a:spcBef>
                <a:spcPct val="0"/>
              </a:spcBef>
              <a:spcAft>
                <a:spcPct val="25000"/>
              </a:spcAft>
              <a:buClrTx/>
              <a:buSzTx/>
              <a:buFont typeface="Wingdings" pitchFamily="2" charset="2"/>
              <a:buChar char="v"/>
              <a:tabLst>
                <a:tab pos="457200" algn="l"/>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Times New Roman" pitchFamily="18" charset="0"/>
              </a:rPr>
              <a:t>Although costly in ~P bonds, the Cori Cycle allows the organism to accommodate to large fluctuations in energy needs of skeletal muscle between rest and exercise. </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2"/>
          <p:cNvSpPr txBox="1">
            <a:spLocks noChangeArrowheads="1"/>
          </p:cNvSpPr>
          <p:nvPr/>
        </p:nvSpPr>
        <p:spPr>
          <a:xfrm>
            <a:off x="214282" y="1357298"/>
            <a:ext cx="8715436" cy="3143272"/>
          </a:xfrm>
          <a:prstGeom prst="rect">
            <a:avLst/>
          </a:prstGeom>
        </p:spPr>
        <p:txBody>
          <a:bodyPr/>
          <a:lstStyle/>
          <a:p>
            <a:pPr marL="0" marR="0" lvl="0" indent="0" algn="just" defTabSz="914400" rtl="0" eaLnBrk="1" fontAlgn="auto" latinLnBrk="0" hangingPunct="1">
              <a:lnSpc>
                <a:spcPct val="95000"/>
              </a:lnSpc>
              <a:spcBef>
                <a:spcPct val="0"/>
              </a:spcBef>
              <a:spcAft>
                <a:spcPct val="60000"/>
              </a:spcAft>
              <a:buClrTx/>
              <a:buSzTx/>
              <a:buFontTx/>
              <a:buNone/>
              <a:tabLst>
                <a:tab pos="457200" algn="l"/>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The equivalent of the </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Cori Cycle</a:t>
            </a: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 also operates during </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cancer</a:t>
            </a: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 </a:t>
            </a:r>
          </a:p>
          <a:p>
            <a:pPr marL="0" marR="0" lvl="0" indent="0" algn="just" defTabSz="914400" rtl="0" eaLnBrk="1" fontAlgn="auto" latinLnBrk="0" hangingPunct="1">
              <a:lnSpc>
                <a:spcPct val="95000"/>
              </a:lnSpc>
              <a:spcBef>
                <a:spcPct val="0"/>
              </a:spcBef>
              <a:spcAft>
                <a:spcPct val="60000"/>
              </a:spcAft>
              <a:buClrTx/>
              <a:buSzTx/>
              <a:buFontTx/>
              <a:buNone/>
              <a:tabLst>
                <a:tab pos="457200" algn="l"/>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If blood vessel development does not keep pace with growth of a solid tumor, </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decreased O</a:t>
            </a:r>
            <a:r>
              <a:rPr kumimoji="0" lang="en-US" sz="2800" b="1" i="0" u="none" strike="noStrike" kern="1200" cap="none" spc="0" normalizeH="0" baseline="-25000" noProof="0" dirty="0" smtClean="0">
                <a:ln>
                  <a:noFill/>
                </a:ln>
                <a:solidFill>
                  <a:srgbClr val="000099"/>
                </a:solidFill>
                <a:effectLst/>
                <a:uLnTx/>
                <a:uFillTx/>
                <a:latin typeface="+mn-lt"/>
                <a:ea typeface="+mn-ea"/>
                <a:cs typeface="Times New Roman" pitchFamily="18" charset="0"/>
              </a:rPr>
              <a:t>2</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 concentration</a:t>
            </a: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 within the tumor leads to activation of signal processes that result in a shift to </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anaerobic metabolism</a:t>
            </a: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 </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3314" name="Object 12"/>
          <p:cNvGraphicFramePr>
            <a:graphicFrameLocks noChangeAspect="1"/>
          </p:cNvGraphicFramePr>
          <p:nvPr/>
        </p:nvGraphicFramePr>
        <p:xfrm>
          <a:off x="1570038" y="171450"/>
          <a:ext cx="6005512" cy="3876675"/>
        </p:xfrm>
        <a:graphic>
          <a:graphicData uri="http://schemas.openxmlformats.org/presentationml/2006/ole">
            <mc:AlternateContent xmlns:mc="http://schemas.openxmlformats.org/markup-compatibility/2006">
              <mc:Choice xmlns:v="urn:schemas-microsoft-com:vml" Requires="v">
                <p:oleObj spid="_x0000_s13331" name="Picture" r:id="rId3" imgW="2743200" imgH="1769463" progId="Word.Picture.8">
                  <p:embed/>
                </p:oleObj>
              </mc:Choice>
              <mc:Fallback>
                <p:oleObj name="Picture" r:id="rId3" imgW="2743200" imgH="1769463" progId="Word.Picture.8">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0038" y="171450"/>
                        <a:ext cx="6005512" cy="3876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2"/>
          <p:cNvSpPr txBox="1">
            <a:spLocks noChangeArrowheads="1"/>
          </p:cNvSpPr>
          <p:nvPr/>
        </p:nvSpPr>
        <p:spPr>
          <a:xfrm>
            <a:off x="142876" y="4324350"/>
            <a:ext cx="8929718" cy="2247900"/>
          </a:xfrm>
          <a:prstGeom prst="rect">
            <a:avLst/>
          </a:prstGeom>
        </p:spPr>
        <p:txBody>
          <a:bodyPr/>
          <a:lstStyle/>
          <a:p>
            <a:pPr marL="0" marR="0" lvl="0" indent="0" algn="just" defTabSz="914400" rtl="0" eaLnBrk="1" fontAlgn="auto" latinLnBrk="0" hangingPunct="1">
              <a:lnSpc>
                <a:spcPct val="95000"/>
              </a:lnSpc>
              <a:spcBef>
                <a:spcPct val="0"/>
              </a:spcBef>
              <a:spcAft>
                <a:spcPct val="25000"/>
              </a:spcAft>
              <a:buClrTx/>
              <a:buSzTx/>
              <a:buFontTx/>
              <a:buNone/>
              <a:tabLst>
                <a:tab pos="457200" algn="l"/>
              </a:tabLst>
              <a:defRPr/>
            </a:pP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Energy dissipation</a:t>
            </a: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 by the </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Cori Cycle</a:t>
            </a: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 which expends </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6 ~P</a:t>
            </a: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 in liver for every </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2 ~P</a:t>
            </a: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 produced via Glycolysis for utilization within the tumor, is thought to contribute to the </a:t>
            </a:r>
            <a:r>
              <a:rPr kumimoji="0" lang="en-US" sz="2800" b="1" i="0" u="none" strike="noStrike" kern="1200" cap="none" spc="0" normalizeH="0" baseline="0" noProof="0" dirty="0" smtClean="0">
                <a:ln>
                  <a:noFill/>
                </a:ln>
                <a:solidFill>
                  <a:srgbClr val="000099"/>
                </a:solidFill>
                <a:effectLst/>
                <a:uLnTx/>
                <a:uFillTx/>
                <a:latin typeface="+mn-lt"/>
                <a:ea typeface="+mn-ea"/>
                <a:cs typeface="Times New Roman" pitchFamily="18" charset="0"/>
              </a:rPr>
              <a:t>weight loss</a:t>
            </a:r>
            <a:r>
              <a:rPr kumimoji="0" lang="en-US" sz="2800" b="0" i="0" u="none" strike="noStrike" kern="1200" cap="none" spc="0" normalizeH="0" baseline="0" noProof="0" dirty="0" smtClean="0">
                <a:ln>
                  <a:noFill/>
                </a:ln>
                <a:solidFill>
                  <a:schemeClr val="tx1"/>
                </a:solidFill>
                <a:effectLst/>
                <a:uLnTx/>
                <a:uFillTx/>
                <a:latin typeface="+mn-lt"/>
                <a:ea typeface="+mn-ea"/>
                <a:cs typeface="Times New Roman" pitchFamily="18" charset="0"/>
              </a:rPr>
              <a:t> that typically occurs in late-stage cancer even when food intake remains normal.</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6908"/>
          </a:xfrm>
        </p:spPr>
        <p:txBody>
          <a:bodyPr/>
          <a:lstStyle/>
          <a:p>
            <a:r>
              <a:rPr lang="en-GB" dirty="0" smtClean="0"/>
              <a:t>Pentose Phosphate pathway</a:t>
            </a:r>
            <a:endParaRPr lang="en-GB" dirty="0"/>
          </a:p>
        </p:txBody>
      </p:sp>
      <p:sp>
        <p:nvSpPr>
          <p:cNvPr id="4" name="Rectangle 3"/>
          <p:cNvSpPr txBox="1">
            <a:spLocks noChangeArrowheads="1"/>
          </p:cNvSpPr>
          <p:nvPr/>
        </p:nvSpPr>
        <p:spPr>
          <a:xfrm>
            <a:off x="642910" y="1285860"/>
            <a:ext cx="7772400" cy="4357718"/>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Also known as: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Pentose shunt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Hexose</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monophosphate</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shunt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Phosphogluconate</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pathway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v"/>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It occurs in the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cytosol</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8"/>
          <p:cNvPicPr>
            <a:picLocks noChangeAspect="1" noChangeArrowheads="1"/>
          </p:cNvPicPr>
          <p:nvPr/>
        </p:nvPicPr>
        <p:blipFill>
          <a:blip r:embed="rId2"/>
          <a:srcRect/>
          <a:stretch>
            <a:fillRect/>
          </a:stretch>
        </p:blipFill>
        <p:spPr bwMode="auto">
          <a:xfrm>
            <a:off x="460386" y="285728"/>
            <a:ext cx="5683250" cy="6357981"/>
          </a:xfrm>
          <a:prstGeom prst="rect">
            <a:avLst/>
          </a:prstGeom>
          <a:noFill/>
          <a:ln w="9525">
            <a:noFill/>
            <a:miter lim="800000"/>
            <a:headEnd/>
            <a:tailEnd/>
          </a:ln>
        </p:spPr>
      </p:pic>
      <p:sp>
        <p:nvSpPr>
          <p:cNvPr id="5" name="Text Box 9"/>
          <p:cNvSpPr txBox="1">
            <a:spLocks noChangeArrowheads="1"/>
          </p:cNvSpPr>
          <p:nvPr/>
        </p:nvSpPr>
        <p:spPr bwMode="auto">
          <a:xfrm>
            <a:off x="4905404" y="5321319"/>
            <a:ext cx="3810000" cy="822325"/>
          </a:xfrm>
          <a:prstGeom prst="rect">
            <a:avLst/>
          </a:prstGeom>
          <a:noFill/>
          <a:ln w="9525">
            <a:noFill/>
            <a:miter lim="800000"/>
            <a:headEnd/>
            <a:tailEnd/>
          </a:ln>
        </p:spPr>
        <p:txBody>
          <a:bodyPr>
            <a:spAutoFit/>
          </a:bodyPr>
          <a:lstStyle/>
          <a:p>
            <a:r>
              <a:rPr lang="en-US" sz="2400" dirty="0"/>
              <a:t>One fate of G6P is the pentose pathway.</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p:cNvSpPr txBox="1">
            <a:spLocks noChangeArrowheads="1"/>
          </p:cNvSpPr>
          <p:nvPr/>
        </p:nvSpPr>
        <p:spPr>
          <a:xfrm>
            <a:off x="285720" y="1714488"/>
            <a:ext cx="8572560" cy="44958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The pathway yields reducing potential in the form of NADPH to be used in anabolic reactions requiring electrons.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The pathway yields ribose 5-phosphate.</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Nucleotide biosynthesis leading to:</a:t>
            </a: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DNA</a:t>
            </a: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RNA</a:t>
            </a: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Various cofactors (</a:t>
            </a:r>
            <a:r>
              <a:rPr kumimoji="0" lang="en-US" sz="2400" b="0" i="0" u="none" strike="noStrike" kern="1200" cap="none" spc="0" normalizeH="0" baseline="0" noProof="0" dirty="0" err="1" smtClean="0">
                <a:ln>
                  <a:noFill/>
                </a:ln>
                <a:solidFill>
                  <a:schemeClr val="tx1"/>
                </a:solidFill>
                <a:effectLst/>
                <a:uLnTx/>
                <a:uFillTx/>
                <a:latin typeface="+mn-lt"/>
                <a:ea typeface="+mn-ea"/>
                <a:cs typeface="+mn-cs"/>
              </a:rPr>
              <a:t>CoA</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FAD, NAD</a:t>
            </a:r>
            <a:r>
              <a:rPr kumimoji="0" lang="en-US" sz="2400" b="0" i="0" u="none" strike="noStrike" kern="1200" cap="none" spc="0" normalizeH="0" baseline="30000" noProof="0" dirty="0" smtClean="0">
                <a:ln>
                  <a:noFill/>
                </a:ln>
                <a:solidFill>
                  <a:schemeClr val="tx1"/>
                </a:solidFill>
                <a:effectLst/>
                <a:uLnTx/>
                <a:uFillTx/>
                <a:latin typeface="+mn-lt"/>
                <a:ea typeface="+mn-ea"/>
                <a:cs typeface="+mn-cs"/>
              </a:rPr>
              <a:t>+</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/NADP</a:t>
            </a:r>
            <a:r>
              <a:rPr kumimoji="0" lang="en-US" sz="2400" b="0" i="0" u="none" strike="noStrike" kern="1200" cap="none" spc="0" normalizeH="0" baseline="30000" noProof="0" dirty="0" smtClean="0">
                <a:ln>
                  <a:noFill/>
                </a:ln>
                <a:solidFill>
                  <a:schemeClr val="tx1"/>
                </a:solidFill>
                <a:effectLst/>
                <a:uLnTx/>
                <a:uFillTx/>
                <a:latin typeface="+mn-lt"/>
                <a:ea typeface="+mn-ea"/>
                <a:cs typeface="+mn-cs"/>
              </a:rPr>
              <a:t>+</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a:t>
            </a:r>
          </a:p>
        </p:txBody>
      </p:sp>
      <p:sp>
        <p:nvSpPr>
          <p:cNvPr id="5" name="Rectangle 2"/>
          <p:cNvSpPr>
            <a:spLocks noGrp="1" noChangeArrowheads="1"/>
          </p:cNvSpPr>
          <p:nvPr>
            <p:ph type="title"/>
          </p:nvPr>
        </p:nvSpPr>
        <p:spPr>
          <a:xfrm>
            <a:off x="214282" y="304800"/>
            <a:ext cx="8643998" cy="1143000"/>
          </a:xfrm>
        </p:spPr>
        <p:txBody>
          <a:bodyPr>
            <a:normAutofit fontScale="90000"/>
          </a:bodyPr>
          <a:lstStyle/>
          <a:p>
            <a:r>
              <a:rPr lang="en-US" dirty="0" smtClean="0"/>
              <a:t>What does the pentose phosphate pathway achieve?</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srcRect/>
          <a:stretch>
            <a:fillRect/>
          </a:stretch>
        </p:blipFill>
        <p:spPr bwMode="auto">
          <a:xfrm>
            <a:off x="357158" y="428604"/>
            <a:ext cx="8286808" cy="60975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lum bright="-20000" contrast="40000"/>
          </a:blip>
          <a:srcRect/>
          <a:stretch>
            <a:fillRect/>
          </a:stretch>
        </p:blipFill>
        <p:spPr bwMode="auto">
          <a:xfrm>
            <a:off x="322293" y="3030561"/>
            <a:ext cx="8535987" cy="3756025"/>
          </a:xfrm>
          <a:prstGeom prst="rect">
            <a:avLst/>
          </a:prstGeom>
          <a:noFill/>
          <a:ln w="9525">
            <a:noFill/>
            <a:miter lim="800000"/>
            <a:headEnd/>
            <a:tailEnd/>
          </a:ln>
        </p:spPr>
      </p:pic>
      <p:sp>
        <p:nvSpPr>
          <p:cNvPr id="5" name="TextBox 4"/>
          <p:cNvSpPr txBox="1"/>
          <p:nvPr/>
        </p:nvSpPr>
        <p:spPr>
          <a:xfrm>
            <a:off x="841909" y="142852"/>
            <a:ext cx="7373429" cy="523220"/>
          </a:xfrm>
          <a:prstGeom prst="rect">
            <a:avLst/>
          </a:prstGeom>
          <a:noFill/>
        </p:spPr>
        <p:txBody>
          <a:bodyPr wrap="none" rtlCol="0">
            <a:spAutoFit/>
          </a:bodyPr>
          <a:lstStyle/>
          <a:p>
            <a:r>
              <a:rPr lang="en-GB" sz="2800" b="1" dirty="0" smtClean="0"/>
              <a:t>Tissues with active pentose phosphate pathway </a:t>
            </a:r>
            <a:endParaRPr lang="en-GB" sz="2800" b="1" dirty="0"/>
          </a:p>
        </p:txBody>
      </p:sp>
      <p:sp>
        <p:nvSpPr>
          <p:cNvPr id="6" name="TextBox 5"/>
          <p:cNvSpPr txBox="1"/>
          <p:nvPr/>
        </p:nvSpPr>
        <p:spPr>
          <a:xfrm>
            <a:off x="71406" y="585597"/>
            <a:ext cx="9001156" cy="2308324"/>
          </a:xfrm>
          <a:prstGeom prst="rect">
            <a:avLst/>
          </a:prstGeom>
          <a:noFill/>
        </p:spPr>
        <p:txBody>
          <a:bodyPr wrap="square" rtlCol="0">
            <a:spAutoFit/>
          </a:bodyPr>
          <a:lstStyle/>
          <a:p>
            <a:pPr algn="just">
              <a:buFont typeface="Wingdings" pitchFamily="2" charset="2"/>
              <a:buChar char="v"/>
            </a:pPr>
            <a:r>
              <a:rPr lang="en-GB" sz="2400" dirty="0" smtClean="0"/>
              <a:t>Pentose phosphate pathway is especially prominent in tissues actively synthesizing fatty acids and steroids.</a:t>
            </a:r>
          </a:p>
          <a:p>
            <a:pPr algn="just">
              <a:buFont typeface="Wingdings" pitchFamily="2" charset="2"/>
              <a:buChar char="ü"/>
            </a:pPr>
            <a:r>
              <a:rPr lang="en-GB" sz="2400" dirty="0" smtClean="0"/>
              <a:t>These tissues use NADPH to reduce the double bonds and carbonyl groups of intermediates in the synthetic process.</a:t>
            </a:r>
          </a:p>
          <a:p>
            <a:pPr algn="just">
              <a:buFont typeface="Wingdings" pitchFamily="2" charset="2"/>
              <a:buChar char="v"/>
            </a:pPr>
            <a:r>
              <a:rPr lang="en-GB" sz="2400" dirty="0" smtClean="0"/>
              <a:t>PPP is also prominent in growing and regenerating tissues and in </a:t>
            </a:r>
            <a:r>
              <a:rPr lang="en-GB" sz="2400" dirty="0" err="1" smtClean="0"/>
              <a:t>tumors</a:t>
            </a:r>
            <a:r>
              <a:rPr lang="en-GB" sz="2400" dirty="0" smtClean="0"/>
              <a:t>.</a:t>
            </a:r>
            <a:endParaRPr lang="en-GB" sz="2400"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71407" y="-24"/>
            <a:ext cx="4214841" cy="954107"/>
          </a:xfrm>
          <a:prstGeom prst="rect">
            <a:avLst/>
          </a:prstGeom>
          <a:noFill/>
        </p:spPr>
        <p:txBody>
          <a:bodyPr wrap="square" rtlCol="0">
            <a:spAutoFit/>
          </a:bodyPr>
          <a:lstStyle/>
          <a:p>
            <a:r>
              <a:rPr lang="en-GB" sz="2800" b="1" dirty="0" smtClean="0"/>
              <a:t>Reactions of the Pentose Phosphate Pathway</a:t>
            </a:r>
            <a:endParaRPr lang="en-GB" sz="2800" b="1" dirty="0"/>
          </a:p>
        </p:txBody>
      </p:sp>
      <p:sp>
        <p:nvSpPr>
          <p:cNvPr id="5" name="Text Box 3"/>
          <p:cNvSpPr txBox="1">
            <a:spLocks noChangeArrowheads="1"/>
          </p:cNvSpPr>
          <p:nvPr/>
        </p:nvSpPr>
        <p:spPr bwMode="auto">
          <a:xfrm>
            <a:off x="71406" y="898738"/>
            <a:ext cx="5030793" cy="1815882"/>
          </a:xfrm>
          <a:prstGeom prst="rect">
            <a:avLst/>
          </a:prstGeom>
          <a:noFill/>
          <a:ln w="9525">
            <a:noFill/>
            <a:miter lim="800000"/>
            <a:headEnd/>
            <a:tailEnd/>
          </a:ln>
        </p:spPr>
        <p:txBody>
          <a:bodyPr wrap="square">
            <a:spAutoFit/>
          </a:bodyPr>
          <a:lstStyle/>
          <a:p>
            <a:r>
              <a:rPr lang="en-US" sz="2800" dirty="0"/>
              <a:t>The pentose pathway can be divided into two </a:t>
            </a:r>
            <a:r>
              <a:rPr lang="en-US" sz="2800" dirty="0" smtClean="0"/>
              <a:t>phases:</a:t>
            </a:r>
          </a:p>
          <a:p>
            <a:pPr>
              <a:buFont typeface="Wingdings" pitchFamily="2" charset="2"/>
              <a:buChar char="ü"/>
            </a:pPr>
            <a:r>
              <a:rPr lang="en-US" sz="2800" dirty="0" smtClean="0"/>
              <a:t>Oxidative phase.</a:t>
            </a:r>
          </a:p>
          <a:p>
            <a:pPr>
              <a:buFont typeface="Wingdings" pitchFamily="2" charset="2"/>
              <a:buChar char="ü"/>
            </a:pPr>
            <a:r>
              <a:rPr lang="en-US" sz="2800" dirty="0" smtClean="0"/>
              <a:t>Non-oxidative phase.</a:t>
            </a:r>
            <a:endParaRPr lang="en-US" sz="2800" dirty="0"/>
          </a:p>
        </p:txBody>
      </p:sp>
      <p:sp>
        <p:nvSpPr>
          <p:cNvPr id="6" name="TextBox 5"/>
          <p:cNvSpPr txBox="1"/>
          <p:nvPr/>
        </p:nvSpPr>
        <p:spPr>
          <a:xfrm>
            <a:off x="71406" y="2571744"/>
            <a:ext cx="5500726" cy="830997"/>
          </a:xfrm>
          <a:prstGeom prst="rect">
            <a:avLst/>
          </a:prstGeom>
          <a:noFill/>
        </p:spPr>
        <p:txBody>
          <a:bodyPr wrap="square" rtlCol="0">
            <a:spAutoFit/>
          </a:bodyPr>
          <a:lstStyle/>
          <a:p>
            <a:r>
              <a:rPr lang="en-GB" sz="2400" b="1" u="sng" dirty="0" smtClean="0"/>
              <a:t>Oxidative reactions of the pentose phosphate pathway</a:t>
            </a:r>
            <a:endParaRPr lang="en-GB" sz="2400" b="1" u="sng" dirty="0"/>
          </a:p>
        </p:txBody>
      </p:sp>
      <p:grpSp>
        <p:nvGrpSpPr>
          <p:cNvPr id="14" name="Group 13"/>
          <p:cNvGrpSpPr/>
          <p:nvPr/>
        </p:nvGrpSpPr>
        <p:grpSpPr>
          <a:xfrm>
            <a:off x="71406" y="3357562"/>
            <a:ext cx="5000660" cy="3357586"/>
            <a:chOff x="71406" y="3357562"/>
            <a:chExt cx="5000660" cy="3357586"/>
          </a:xfrm>
        </p:grpSpPr>
        <p:sp>
          <p:nvSpPr>
            <p:cNvPr id="8" name="TextBox 7"/>
            <p:cNvSpPr txBox="1"/>
            <p:nvPr/>
          </p:nvSpPr>
          <p:spPr>
            <a:xfrm>
              <a:off x="214282" y="3357562"/>
              <a:ext cx="700063" cy="369332"/>
            </a:xfrm>
            <a:prstGeom prst="rect">
              <a:avLst/>
            </a:prstGeom>
            <a:noFill/>
          </p:spPr>
          <p:txBody>
            <a:bodyPr wrap="none" rtlCol="0">
              <a:spAutoFit/>
            </a:bodyPr>
            <a:lstStyle/>
            <a:p>
              <a:r>
                <a:rPr lang="en-GB" b="1" dirty="0" smtClean="0"/>
                <a:t>Steps</a:t>
              </a:r>
              <a:endParaRPr lang="en-GB" b="1" dirty="0"/>
            </a:p>
          </p:txBody>
        </p:sp>
        <p:sp>
          <p:nvSpPr>
            <p:cNvPr id="9" name="TextBox 8"/>
            <p:cNvSpPr txBox="1"/>
            <p:nvPr/>
          </p:nvSpPr>
          <p:spPr>
            <a:xfrm>
              <a:off x="71407" y="3643314"/>
              <a:ext cx="4929221" cy="646331"/>
            </a:xfrm>
            <a:prstGeom prst="rect">
              <a:avLst/>
            </a:prstGeom>
            <a:noFill/>
          </p:spPr>
          <p:txBody>
            <a:bodyPr wrap="square" rtlCol="0">
              <a:spAutoFit/>
            </a:bodyPr>
            <a:lstStyle/>
            <a:p>
              <a:pPr algn="just"/>
              <a:r>
                <a:rPr lang="en-GB" dirty="0" smtClean="0"/>
                <a:t>1. Dehydrogenation of glucose 6-phosphate by </a:t>
              </a:r>
              <a:r>
                <a:rPr lang="en-GB" b="1" dirty="0" smtClean="0"/>
                <a:t>glucose 6-phosphate DH</a:t>
              </a:r>
              <a:endParaRPr lang="en-GB" b="1" dirty="0"/>
            </a:p>
          </p:txBody>
        </p:sp>
        <p:sp>
          <p:nvSpPr>
            <p:cNvPr id="10" name="TextBox 9"/>
            <p:cNvSpPr txBox="1"/>
            <p:nvPr/>
          </p:nvSpPr>
          <p:spPr>
            <a:xfrm>
              <a:off x="71406" y="4214818"/>
              <a:ext cx="4857784" cy="646331"/>
            </a:xfrm>
            <a:prstGeom prst="rect">
              <a:avLst/>
            </a:prstGeom>
            <a:noFill/>
          </p:spPr>
          <p:txBody>
            <a:bodyPr wrap="square" rtlCol="0">
              <a:spAutoFit/>
            </a:bodyPr>
            <a:lstStyle/>
            <a:p>
              <a:pPr algn="just"/>
              <a:r>
                <a:rPr lang="en-GB" dirty="0" smtClean="0"/>
                <a:t>2. The</a:t>
              </a:r>
              <a:r>
                <a:rPr lang="en-GB" b="1" dirty="0" smtClean="0"/>
                <a:t> </a:t>
              </a:r>
              <a:r>
                <a:rPr lang="en-GB" b="1" dirty="0" err="1" smtClean="0"/>
                <a:t>lactone</a:t>
              </a:r>
              <a:r>
                <a:rPr lang="en-GB" b="1" dirty="0" smtClean="0"/>
                <a:t> </a:t>
              </a:r>
              <a:r>
                <a:rPr lang="en-GB" dirty="0" smtClean="0"/>
                <a:t>is hydrolysed to the free acid; </a:t>
              </a:r>
              <a:r>
                <a:rPr lang="en-GB" b="1" dirty="0" smtClean="0"/>
                <a:t>6-phosphogluconate</a:t>
              </a:r>
              <a:r>
                <a:rPr lang="en-GB" dirty="0" smtClean="0"/>
                <a:t> by a specific</a:t>
              </a:r>
              <a:r>
                <a:rPr lang="en-GB" b="1" dirty="0" smtClean="0"/>
                <a:t> </a:t>
              </a:r>
              <a:r>
                <a:rPr lang="en-GB" b="1" dirty="0" err="1" smtClean="0"/>
                <a:t>lactonase</a:t>
              </a:r>
              <a:endParaRPr lang="en-GB" b="1" dirty="0"/>
            </a:p>
          </p:txBody>
        </p:sp>
        <p:sp>
          <p:nvSpPr>
            <p:cNvPr id="11" name="TextBox 10"/>
            <p:cNvSpPr txBox="1"/>
            <p:nvPr/>
          </p:nvSpPr>
          <p:spPr>
            <a:xfrm>
              <a:off x="71406" y="4863124"/>
              <a:ext cx="5000660" cy="923330"/>
            </a:xfrm>
            <a:prstGeom prst="rect">
              <a:avLst/>
            </a:prstGeom>
            <a:noFill/>
          </p:spPr>
          <p:txBody>
            <a:bodyPr wrap="square" rtlCol="0">
              <a:spAutoFit/>
            </a:bodyPr>
            <a:lstStyle/>
            <a:p>
              <a:pPr algn="just"/>
              <a:r>
                <a:rPr lang="en-GB" dirty="0" smtClean="0"/>
                <a:t>3. Dehydrogenation and </a:t>
              </a:r>
              <a:r>
                <a:rPr lang="en-GB" dirty="0" err="1" smtClean="0"/>
                <a:t>decarboxylation</a:t>
              </a:r>
              <a:r>
                <a:rPr lang="en-GB" dirty="0" smtClean="0"/>
                <a:t> of </a:t>
              </a:r>
              <a:r>
                <a:rPr lang="en-GB" b="1" dirty="0" smtClean="0"/>
                <a:t>6-phosphogluconate</a:t>
              </a:r>
              <a:r>
                <a:rPr lang="en-GB" dirty="0" smtClean="0"/>
                <a:t> by </a:t>
              </a:r>
              <a:r>
                <a:rPr lang="en-GB" b="1" dirty="0" smtClean="0"/>
                <a:t>6-phosphogluconate </a:t>
              </a:r>
              <a:r>
                <a:rPr lang="en-GB" b="1" dirty="0" err="1" smtClean="0"/>
                <a:t>dehydrogenase</a:t>
              </a:r>
              <a:r>
                <a:rPr lang="en-GB" dirty="0" smtClean="0"/>
                <a:t> to </a:t>
              </a:r>
              <a:r>
                <a:rPr lang="en-GB" b="1" dirty="0" err="1" smtClean="0"/>
                <a:t>ribulose</a:t>
              </a:r>
              <a:r>
                <a:rPr lang="en-GB" b="1" dirty="0" smtClean="0"/>
                <a:t> 5-phosphate</a:t>
              </a:r>
              <a:r>
                <a:rPr lang="en-GB" dirty="0" smtClean="0"/>
                <a:t>. </a:t>
              </a:r>
              <a:endParaRPr lang="en-GB" dirty="0"/>
            </a:p>
          </p:txBody>
        </p:sp>
        <p:sp>
          <p:nvSpPr>
            <p:cNvPr id="12" name="TextBox 11"/>
            <p:cNvSpPr txBox="1"/>
            <p:nvPr/>
          </p:nvSpPr>
          <p:spPr>
            <a:xfrm>
              <a:off x="71406" y="5791818"/>
              <a:ext cx="4857784" cy="923330"/>
            </a:xfrm>
            <a:prstGeom prst="rect">
              <a:avLst/>
            </a:prstGeom>
            <a:noFill/>
          </p:spPr>
          <p:txBody>
            <a:bodyPr wrap="square" rtlCol="0">
              <a:spAutoFit/>
            </a:bodyPr>
            <a:lstStyle/>
            <a:p>
              <a:pPr algn="just"/>
              <a:r>
                <a:rPr lang="en-GB" dirty="0" smtClean="0"/>
                <a:t>4. </a:t>
              </a:r>
              <a:r>
                <a:rPr lang="en-GB" b="1" dirty="0" err="1" smtClean="0"/>
                <a:t>Phosphopentose</a:t>
              </a:r>
              <a:r>
                <a:rPr lang="en-GB" b="1" dirty="0" smtClean="0"/>
                <a:t> </a:t>
              </a:r>
              <a:r>
                <a:rPr lang="en-GB" b="1" dirty="0" err="1" smtClean="0"/>
                <a:t>isomerase</a:t>
              </a:r>
              <a:r>
                <a:rPr lang="en-GB" b="1" dirty="0" smtClean="0"/>
                <a:t> </a:t>
              </a:r>
              <a:r>
                <a:rPr lang="en-GB" dirty="0" smtClean="0"/>
                <a:t>converts </a:t>
              </a:r>
              <a:r>
                <a:rPr lang="en-GB" b="1" dirty="0" err="1" smtClean="0"/>
                <a:t>ribulose</a:t>
              </a:r>
              <a:r>
                <a:rPr lang="en-GB" b="1" dirty="0" smtClean="0"/>
                <a:t> 5-phosphate </a:t>
              </a:r>
              <a:r>
                <a:rPr lang="en-GB" dirty="0" smtClean="0"/>
                <a:t>to its </a:t>
              </a:r>
              <a:r>
                <a:rPr lang="en-GB" dirty="0" err="1" smtClean="0"/>
                <a:t>aldolase</a:t>
              </a:r>
              <a:r>
                <a:rPr lang="en-GB" dirty="0" smtClean="0"/>
                <a:t> </a:t>
              </a:r>
              <a:r>
                <a:rPr lang="en-GB" b="1" dirty="0" smtClean="0"/>
                <a:t>isomer ribose 5- phosphate</a:t>
              </a:r>
              <a:r>
                <a:rPr lang="en-GB" dirty="0" smtClean="0"/>
                <a:t>.</a:t>
              </a:r>
              <a:endParaRPr lang="en-GB" dirty="0"/>
            </a:p>
          </p:txBody>
        </p:sp>
      </p:grpSp>
      <p:pic>
        <p:nvPicPr>
          <p:cNvPr id="45058" name="Picture 2"/>
          <p:cNvPicPr>
            <a:picLocks noChangeAspect="1" noChangeArrowheads="1"/>
          </p:cNvPicPr>
          <p:nvPr/>
        </p:nvPicPr>
        <p:blipFill>
          <a:blip r:embed="rId2">
            <a:lum bright="-20000" contrast="40000"/>
          </a:blip>
          <a:srcRect/>
          <a:stretch>
            <a:fillRect/>
          </a:stretch>
        </p:blipFill>
        <p:spPr bwMode="auto">
          <a:xfrm>
            <a:off x="5143504" y="476672"/>
            <a:ext cx="3714776" cy="576064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71406" y="181253"/>
            <a:ext cx="8072494" cy="461665"/>
          </a:xfrm>
          <a:prstGeom prst="rect">
            <a:avLst/>
          </a:prstGeom>
          <a:noFill/>
        </p:spPr>
        <p:txBody>
          <a:bodyPr wrap="square" rtlCol="0">
            <a:spAutoFit/>
          </a:bodyPr>
          <a:lstStyle/>
          <a:p>
            <a:r>
              <a:rPr lang="en-GB" sz="2400" b="1" u="sng" dirty="0" smtClean="0"/>
              <a:t>Non-Oxidative reactions of the pentose phosphate pathway</a:t>
            </a:r>
            <a:endParaRPr lang="en-GB" sz="2400" b="1" u="sng" dirty="0"/>
          </a:p>
        </p:txBody>
      </p:sp>
      <p:sp>
        <p:nvSpPr>
          <p:cNvPr id="5" name="TextBox 4"/>
          <p:cNvSpPr txBox="1"/>
          <p:nvPr/>
        </p:nvSpPr>
        <p:spPr>
          <a:xfrm>
            <a:off x="142844" y="571480"/>
            <a:ext cx="8929719" cy="1200329"/>
          </a:xfrm>
          <a:prstGeom prst="rect">
            <a:avLst/>
          </a:prstGeom>
          <a:noFill/>
        </p:spPr>
        <p:txBody>
          <a:bodyPr wrap="square" rtlCol="0">
            <a:spAutoFit/>
          </a:bodyPr>
          <a:lstStyle/>
          <a:p>
            <a:pPr algn="just">
              <a:buFont typeface="Wingdings" pitchFamily="2" charset="2"/>
              <a:buChar char="v"/>
            </a:pPr>
            <a:r>
              <a:rPr lang="en-GB" sz="2400" dirty="0" smtClean="0"/>
              <a:t>Occurs in tissues that require primarily NADPH.</a:t>
            </a:r>
          </a:p>
          <a:p>
            <a:pPr algn="just">
              <a:buFont typeface="Wingdings" pitchFamily="2" charset="2"/>
              <a:buChar char="v"/>
            </a:pPr>
            <a:r>
              <a:rPr lang="en-GB" sz="2400" dirty="0" smtClean="0"/>
              <a:t> The pentose phosphates produced in the oxidative phase of the pathway are recycled into glucose 6-phosphate. </a:t>
            </a:r>
          </a:p>
        </p:txBody>
      </p:sp>
      <p:sp>
        <p:nvSpPr>
          <p:cNvPr id="6" name="TextBox 5"/>
          <p:cNvSpPr txBox="1"/>
          <p:nvPr/>
        </p:nvSpPr>
        <p:spPr>
          <a:xfrm>
            <a:off x="228599" y="1702346"/>
            <a:ext cx="700063" cy="369332"/>
          </a:xfrm>
          <a:prstGeom prst="rect">
            <a:avLst/>
          </a:prstGeom>
          <a:noFill/>
        </p:spPr>
        <p:txBody>
          <a:bodyPr wrap="none" rtlCol="0">
            <a:spAutoFit/>
          </a:bodyPr>
          <a:lstStyle/>
          <a:p>
            <a:r>
              <a:rPr lang="en-GB" b="1" dirty="0" smtClean="0"/>
              <a:t>Steps</a:t>
            </a:r>
            <a:endParaRPr lang="en-GB" b="1" dirty="0"/>
          </a:p>
        </p:txBody>
      </p:sp>
      <p:sp>
        <p:nvSpPr>
          <p:cNvPr id="7" name="TextBox 6"/>
          <p:cNvSpPr txBox="1"/>
          <p:nvPr/>
        </p:nvSpPr>
        <p:spPr>
          <a:xfrm>
            <a:off x="142844" y="2071678"/>
            <a:ext cx="4929222" cy="1015663"/>
          </a:xfrm>
          <a:prstGeom prst="rect">
            <a:avLst/>
          </a:prstGeom>
          <a:noFill/>
        </p:spPr>
        <p:txBody>
          <a:bodyPr wrap="square" rtlCol="0">
            <a:spAutoFit/>
          </a:bodyPr>
          <a:lstStyle/>
          <a:p>
            <a:r>
              <a:rPr lang="en-GB" sz="2000" dirty="0" smtClean="0"/>
              <a:t>1. In this non-oxidative phase</a:t>
            </a:r>
            <a:r>
              <a:rPr lang="en-GB" sz="2000" b="1" dirty="0" smtClean="0"/>
              <a:t>, </a:t>
            </a:r>
            <a:r>
              <a:rPr lang="en-GB" sz="2000" b="1" dirty="0" err="1" smtClean="0"/>
              <a:t>ribulose</a:t>
            </a:r>
            <a:r>
              <a:rPr lang="en-GB" sz="2000" b="1" dirty="0" smtClean="0"/>
              <a:t> 5-phosphate </a:t>
            </a:r>
            <a:r>
              <a:rPr lang="en-GB" sz="2000" dirty="0" smtClean="0"/>
              <a:t>is first epimerized to </a:t>
            </a:r>
            <a:r>
              <a:rPr lang="en-GB" sz="2000" b="1" dirty="0" err="1" smtClean="0"/>
              <a:t>xylulose</a:t>
            </a:r>
            <a:r>
              <a:rPr lang="en-GB" sz="2000" b="1" dirty="0" smtClean="0"/>
              <a:t> 5-phosphate</a:t>
            </a:r>
            <a:r>
              <a:rPr lang="en-GB" sz="2000" dirty="0" smtClean="0"/>
              <a:t>.</a:t>
            </a:r>
          </a:p>
        </p:txBody>
      </p:sp>
      <p:pic>
        <p:nvPicPr>
          <p:cNvPr id="46082" name="Picture 2"/>
          <p:cNvPicPr>
            <a:picLocks noChangeAspect="1" noChangeArrowheads="1"/>
          </p:cNvPicPr>
          <p:nvPr/>
        </p:nvPicPr>
        <p:blipFill>
          <a:blip r:embed="rId2">
            <a:lum bright="-20000" contrast="40000"/>
          </a:blip>
          <a:srcRect/>
          <a:stretch>
            <a:fillRect/>
          </a:stretch>
        </p:blipFill>
        <p:spPr bwMode="auto">
          <a:xfrm>
            <a:off x="5286380" y="2133603"/>
            <a:ext cx="3714776" cy="2081215"/>
          </a:xfrm>
          <a:prstGeom prst="rect">
            <a:avLst/>
          </a:prstGeom>
          <a:noFill/>
          <a:ln w="9525">
            <a:noFill/>
            <a:miter lim="800000"/>
            <a:headEnd/>
            <a:tailEnd/>
          </a:ln>
          <a:effectLst/>
        </p:spPr>
      </p:pic>
      <p:sp>
        <p:nvSpPr>
          <p:cNvPr id="9" name="TextBox 8"/>
          <p:cNvSpPr txBox="1"/>
          <p:nvPr/>
        </p:nvSpPr>
        <p:spPr>
          <a:xfrm>
            <a:off x="71406" y="3083668"/>
            <a:ext cx="5143536" cy="1631216"/>
          </a:xfrm>
          <a:prstGeom prst="rect">
            <a:avLst/>
          </a:prstGeom>
          <a:noFill/>
        </p:spPr>
        <p:txBody>
          <a:bodyPr wrap="square" rtlCol="0">
            <a:spAutoFit/>
          </a:bodyPr>
          <a:lstStyle/>
          <a:p>
            <a:pPr algn="just"/>
            <a:r>
              <a:rPr lang="en-GB" sz="2000" dirty="0" smtClean="0"/>
              <a:t>In a series of rearrangements of the carbon skeletons </a:t>
            </a:r>
            <a:r>
              <a:rPr lang="en-GB" sz="2000" b="1" dirty="0" smtClean="0"/>
              <a:t>six five-carbon sugar phosphates </a:t>
            </a:r>
            <a:r>
              <a:rPr lang="en-GB" sz="2000" dirty="0" smtClean="0"/>
              <a:t>are converted to </a:t>
            </a:r>
            <a:r>
              <a:rPr lang="en-GB" sz="2000" b="1" dirty="0" smtClean="0"/>
              <a:t>five six-carbon sugar phosphates</a:t>
            </a:r>
            <a:r>
              <a:rPr lang="en-GB" sz="2000" dirty="0" smtClean="0"/>
              <a:t>, completing the cycle, allowing continued production of NADPH.</a:t>
            </a:r>
            <a:endParaRPr lang="en-GB" sz="2000" dirty="0"/>
          </a:p>
        </p:txBody>
      </p:sp>
      <p:sp>
        <p:nvSpPr>
          <p:cNvPr id="10" name="TextBox 9"/>
          <p:cNvSpPr txBox="1"/>
          <p:nvPr/>
        </p:nvSpPr>
        <p:spPr>
          <a:xfrm>
            <a:off x="71406" y="4786322"/>
            <a:ext cx="8929719" cy="830997"/>
          </a:xfrm>
          <a:prstGeom prst="rect">
            <a:avLst/>
          </a:prstGeom>
          <a:noFill/>
        </p:spPr>
        <p:txBody>
          <a:bodyPr wrap="square" rtlCol="0">
            <a:spAutoFit/>
          </a:bodyPr>
          <a:lstStyle/>
          <a:p>
            <a:r>
              <a:rPr lang="en-GB" sz="2400" dirty="0" smtClean="0"/>
              <a:t>Two enzymes unique to the pentose phosphate pathway act in these </a:t>
            </a:r>
            <a:r>
              <a:rPr lang="en-GB" sz="2400" dirty="0" err="1" smtClean="0"/>
              <a:t>interconversions</a:t>
            </a:r>
            <a:r>
              <a:rPr lang="en-GB" sz="2400" dirty="0" smtClean="0"/>
              <a:t> of sugars:  </a:t>
            </a:r>
            <a:r>
              <a:rPr lang="en-GB" sz="2400" b="1" dirty="0" err="1" smtClean="0"/>
              <a:t>transketolase</a:t>
            </a:r>
            <a:r>
              <a:rPr lang="en-GB" sz="2400" dirty="0" smtClean="0"/>
              <a:t> and </a:t>
            </a:r>
            <a:r>
              <a:rPr lang="en-GB" sz="2400" b="1" dirty="0" err="1" smtClean="0"/>
              <a:t>transaldolase</a:t>
            </a:r>
            <a:r>
              <a:rPr lang="en-GB" sz="2400" dirty="0" smtClean="0"/>
              <a:t>.</a:t>
            </a:r>
            <a:endParaRPr lang="en-GB" sz="2400"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p:cNvSpPr/>
          <p:nvPr/>
        </p:nvSpPr>
        <p:spPr>
          <a:xfrm>
            <a:off x="142844" y="142852"/>
            <a:ext cx="8643998" cy="1015663"/>
          </a:xfrm>
          <a:prstGeom prst="rect">
            <a:avLst/>
          </a:prstGeom>
        </p:spPr>
        <p:txBody>
          <a:bodyPr wrap="square">
            <a:spAutoFit/>
          </a:bodyPr>
          <a:lstStyle/>
          <a:p>
            <a:pPr algn="just"/>
            <a:r>
              <a:rPr lang="en-GB" sz="2000" dirty="0" smtClean="0"/>
              <a:t>2</a:t>
            </a:r>
            <a:r>
              <a:rPr lang="en-GB" sz="2000" b="1" dirty="0" smtClean="0"/>
              <a:t>. </a:t>
            </a:r>
            <a:r>
              <a:rPr lang="en-GB" sz="2000" b="1" dirty="0" err="1" smtClean="0"/>
              <a:t>Transketolase</a:t>
            </a:r>
            <a:r>
              <a:rPr lang="en-GB" sz="2000" dirty="0" smtClean="0"/>
              <a:t> transfers C-1 and C-2 of </a:t>
            </a:r>
            <a:r>
              <a:rPr lang="en-GB" sz="2000" dirty="0" err="1" smtClean="0"/>
              <a:t>xylulose</a:t>
            </a:r>
            <a:r>
              <a:rPr lang="en-GB" sz="2000" dirty="0" smtClean="0"/>
              <a:t> 5-phosphate to ribose 5-phosphate, forming the seven-carbon product </a:t>
            </a:r>
            <a:r>
              <a:rPr lang="en-GB" sz="2000" b="1" dirty="0" err="1" smtClean="0"/>
              <a:t>sedoheptulose</a:t>
            </a:r>
            <a:r>
              <a:rPr lang="en-GB" sz="2000" b="1" dirty="0" smtClean="0"/>
              <a:t> 7-phosphate</a:t>
            </a:r>
            <a:r>
              <a:rPr lang="en-GB" sz="2000" dirty="0" smtClean="0"/>
              <a:t> and </a:t>
            </a:r>
            <a:r>
              <a:rPr lang="en-GB" sz="2000" b="1" dirty="0" smtClean="0"/>
              <a:t>glyceraldehyde 3-phosphate</a:t>
            </a:r>
            <a:r>
              <a:rPr lang="en-GB" sz="2000" dirty="0" smtClean="0"/>
              <a:t>.</a:t>
            </a:r>
            <a:endParaRPr lang="en-GB" sz="2000" dirty="0"/>
          </a:p>
        </p:txBody>
      </p:sp>
      <p:pic>
        <p:nvPicPr>
          <p:cNvPr id="47107" name="Picture 3"/>
          <p:cNvPicPr>
            <a:picLocks noChangeAspect="1" noChangeArrowheads="1"/>
          </p:cNvPicPr>
          <p:nvPr/>
        </p:nvPicPr>
        <p:blipFill>
          <a:blip r:embed="rId2">
            <a:lum bright="-20000" contrast="40000"/>
          </a:blip>
          <a:srcRect/>
          <a:stretch>
            <a:fillRect/>
          </a:stretch>
        </p:blipFill>
        <p:spPr bwMode="auto">
          <a:xfrm>
            <a:off x="1071538" y="1142984"/>
            <a:ext cx="7000924" cy="2071702"/>
          </a:xfrm>
          <a:prstGeom prst="rect">
            <a:avLst/>
          </a:prstGeom>
          <a:noFill/>
          <a:ln w="9525">
            <a:noFill/>
            <a:miter lim="800000"/>
            <a:headEnd/>
            <a:tailEnd/>
          </a:ln>
          <a:effectLst/>
        </p:spPr>
      </p:pic>
      <p:sp>
        <p:nvSpPr>
          <p:cNvPr id="8" name="TextBox 7"/>
          <p:cNvSpPr txBox="1"/>
          <p:nvPr/>
        </p:nvSpPr>
        <p:spPr>
          <a:xfrm>
            <a:off x="142844" y="3270593"/>
            <a:ext cx="8715436" cy="1015663"/>
          </a:xfrm>
          <a:prstGeom prst="rect">
            <a:avLst/>
          </a:prstGeom>
          <a:noFill/>
        </p:spPr>
        <p:txBody>
          <a:bodyPr wrap="square" rtlCol="0">
            <a:spAutoFit/>
          </a:bodyPr>
          <a:lstStyle/>
          <a:p>
            <a:pPr algn="just"/>
            <a:r>
              <a:rPr lang="en-GB" b="1" dirty="0" smtClean="0"/>
              <a:t>3. </a:t>
            </a:r>
            <a:r>
              <a:rPr lang="en-GB" sz="2000" b="1" dirty="0" err="1" smtClean="0"/>
              <a:t>Transaldolase</a:t>
            </a:r>
            <a:r>
              <a:rPr lang="en-GB" sz="2000" b="1" dirty="0" smtClean="0"/>
              <a:t> </a:t>
            </a:r>
            <a:r>
              <a:rPr lang="en-GB" sz="2000" dirty="0" smtClean="0"/>
              <a:t>transfers</a:t>
            </a:r>
            <a:r>
              <a:rPr lang="en-GB" sz="2000" b="1" dirty="0" smtClean="0"/>
              <a:t> </a:t>
            </a:r>
            <a:r>
              <a:rPr lang="en-GB" sz="2000" dirty="0" smtClean="0"/>
              <a:t>a three-carbon fragment from </a:t>
            </a:r>
            <a:r>
              <a:rPr lang="en-GB" sz="2000" b="1" dirty="0" err="1" smtClean="0"/>
              <a:t>sedoheptulose</a:t>
            </a:r>
            <a:r>
              <a:rPr lang="en-GB" sz="2000" b="1" dirty="0" smtClean="0"/>
              <a:t> 7-phosphate </a:t>
            </a:r>
            <a:r>
              <a:rPr lang="en-GB" sz="2000" dirty="0" smtClean="0"/>
              <a:t>to </a:t>
            </a:r>
            <a:r>
              <a:rPr lang="en-GB" sz="2000" b="1" dirty="0" smtClean="0"/>
              <a:t>glyceraldehyde 3-phosphate</a:t>
            </a:r>
            <a:r>
              <a:rPr lang="en-GB" sz="2000" dirty="0" smtClean="0"/>
              <a:t>, forming </a:t>
            </a:r>
            <a:r>
              <a:rPr lang="en-GB" sz="2000" b="1" dirty="0" smtClean="0"/>
              <a:t>fructose 6-phosphate </a:t>
            </a:r>
            <a:r>
              <a:rPr lang="en-GB" sz="2000" dirty="0" smtClean="0"/>
              <a:t>and (the </a:t>
            </a:r>
            <a:r>
              <a:rPr lang="en-GB" sz="2000" dirty="0" err="1" smtClean="0"/>
              <a:t>tetrose</a:t>
            </a:r>
            <a:r>
              <a:rPr lang="en-GB" sz="2000" dirty="0" smtClean="0"/>
              <a:t>) </a:t>
            </a:r>
            <a:r>
              <a:rPr lang="en-GB" sz="2000" b="1" dirty="0" err="1" smtClean="0"/>
              <a:t>erythrose</a:t>
            </a:r>
            <a:r>
              <a:rPr lang="en-GB" sz="2000" b="1" dirty="0" smtClean="0"/>
              <a:t> 4-phosphate</a:t>
            </a:r>
            <a:r>
              <a:rPr lang="en-GB" sz="2000" dirty="0" smtClean="0"/>
              <a:t>.</a:t>
            </a:r>
            <a:endParaRPr lang="en-GB" sz="2000" dirty="0"/>
          </a:p>
        </p:txBody>
      </p:sp>
      <p:pic>
        <p:nvPicPr>
          <p:cNvPr id="47108" name="Picture 4"/>
          <p:cNvPicPr>
            <a:picLocks noChangeAspect="1" noChangeArrowheads="1"/>
          </p:cNvPicPr>
          <p:nvPr/>
        </p:nvPicPr>
        <p:blipFill>
          <a:blip r:embed="rId3">
            <a:lum bright="-20000" contrast="40000"/>
          </a:blip>
          <a:srcRect/>
          <a:stretch>
            <a:fillRect/>
          </a:stretch>
        </p:blipFill>
        <p:spPr bwMode="auto">
          <a:xfrm>
            <a:off x="928662" y="4286256"/>
            <a:ext cx="7358114" cy="22955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p:cNvSpPr txBox="1"/>
          <p:nvPr/>
        </p:nvSpPr>
        <p:spPr>
          <a:xfrm>
            <a:off x="142876" y="142852"/>
            <a:ext cx="4071934" cy="1631216"/>
          </a:xfrm>
          <a:prstGeom prst="rect">
            <a:avLst/>
          </a:prstGeom>
          <a:noFill/>
        </p:spPr>
        <p:txBody>
          <a:bodyPr wrap="square" rtlCol="0">
            <a:spAutoFit/>
          </a:bodyPr>
          <a:lstStyle/>
          <a:p>
            <a:r>
              <a:rPr lang="en-GB" sz="2000" dirty="0" smtClean="0"/>
              <a:t>4. </a:t>
            </a:r>
            <a:r>
              <a:rPr lang="en-GB" sz="2000" b="1" dirty="0" err="1" smtClean="0"/>
              <a:t>transketolase</a:t>
            </a:r>
            <a:r>
              <a:rPr lang="en-GB" sz="2000" dirty="0" smtClean="0"/>
              <a:t> acts again, forming </a:t>
            </a:r>
            <a:r>
              <a:rPr lang="en-GB" sz="2000" b="1" dirty="0" smtClean="0"/>
              <a:t>fructose 6-phosphate </a:t>
            </a:r>
            <a:r>
              <a:rPr lang="en-GB" sz="2000" dirty="0" smtClean="0"/>
              <a:t>and </a:t>
            </a:r>
            <a:r>
              <a:rPr lang="en-GB" sz="2000" b="1" dirty="0" smtClean="0"/>
              <a:t>glyceraldehyde 3-phosphate</a:t>
            </a:r>
            <a:r>
              <a:rPr lang="en-GB" sz="2000" dirty="0" smtClean="0"/>
              <a:t> from </a:t>
            </a:r>
            <a:r>
              <a:rPr lang="en-GB" sz="2000" b="1" dirty="0" err="1" smtClean="0"/>
              <a:t>erythrose</a:t>
            </a:r>
            <a:r>
              <a:rPr lang="en-GB" sz="2000" b="1" dirty="0" smtClean="0"/>
              <a:t> 4-phosphate </a:t>
            </a:r>
            <a:r>
              <a:rPr lang="en-GB" sz="2000" dirty="0" smtClean="0"/>
              <a:t>and </a:t>
            </a:r>
            <a:r>
              <a:rPr lang="en-GB" sz="2000" b="1" dirty="0" err="1" smtClean="0"/>
              <a:t>xylulose</a:t>
            </a:r>
            <a:r>
              <a:rPr lang="en-GB" sz="2000" b="1" dirty="0" smtClean="0"/>
              <a:t> 5-phosphate .</a:t>
            </a:r>
            <a:endParaRPr lang="en-GB" sz="2000" b="1" dirty="0"/>
          </a:p>
        </p:txBody>
      </p:sp>
      <p:pic>
        <p:nvPicPr>
          <p:cNvPr id="45058" name="Picture 2"/>
          <p:cNvPicPr>
            <a:picLocks noChangeAspect="1" noChangeArrowheads="1"/>
          </p:cNvPicPr>
          <p:nvPr/>
        </p:nvPicPr>
        <p:blipFill>
          <a:blip r:embed="rId2">
            <a:lum bright="-20000" contrast="40000"/>
          </a:blip>
          <a:srcRect/>
          <a:stretch>
            <a:fillRect/>
          </a:stretch>
        </p:blipFill>
        <p:spPr bwMode="auto">
          <a:xfrm>
            <a:off x="71406" y="1643050"/>
            <a:ext cx="4000528" cy="1928826"/>
          </a:xfrm>
          <a:prstGeom prst="rect">
            <a:avLst/>
          </a:prstGeom>
          <a:noFill/>
          <a:ln w="9525">
            <a:noFill/>
            <a:miter lim="800000"/>
            <a:headEnd/>
            <a:tailEnd/>
          </a:ln>
          <a:effectLst/>
        </p:spPr>
      </p:pic>
      <p:pic>
        <p:nvPicPr>
          <p:cNvPr id="4" name="Picture 5" descr="pentosepath"/>
          <p:cNvPicPr>
            <a:picLocks noChangeAspect="1" noChangeArrowheads="1"/>
          </p:cNvPicPr>
          <p:nvPr/>
        </p:nvPicPr>
        <p:blipFill>
          <a:blip r:embed="rId3"/>
          <a:srcRect/>
          <a:stretch>
            <a:fillRect/>
          </a:stretch>
        </p:blipFill>
        <p:spPr bwMode="auto">
          <a:xfrm>
            <a:off x="4343400" y="142852"/>
            <a:ext cx="4657756" cy="6572296"/>
          </a:xfrm>
          <a:prstGeom prst="rect">
            <a:avLst/>
          </a:prstGeom>
          <a:noFill/>
          <a:ln w="9525">
            <a:noFill/>
            <a:miter lim="800000"/>
            <a:headEnd/>
            <a:tailEnd/>
          </a:ln>
        </p:spPr>
      </p:pic>
      <p:sp>
        <p:nvSpPr>
          <p:cNvPr id="5" name="TextBox 4"/>
          <p:cNvSpPr txBox="1"/>
          <p:nvPr/>
        </p:nvSpPr>
        <p:spPr>
          <a:xfrm>
            <a:off x="142844" y="4160603"/>
            <a:ext cx="4143404" cy="2554545"/>
          </a:xfrm>
          <a:prstGeom prst="rect">
            <a:avLst/>
          </a:prstGeom>
          <a:noFill/>
        </p:spPr>
        <p:txBody>
          <a:bodyPr wrap="square" rtlCol="0">
            <a:spAutoFit/>
          </a:bodyPr>
          <a:lstStyle/>
          <a:p>
            <a:pPr algn="just">
              <a:buFont typeface="Wingdings" pitchFamily="2" charset="2"/>
              <a:buChar char="v"/>
            </a:pPr>
            <a:r>
              <a:rPr lang="en-GB" sz="2000" dirty="0" smtClean="0"/>
              <a:t>The first two steps in the </a:t>
            </a:r>
            <a:r>
              <a:rPr lang="en-GB" sz="2000" b="1" dirty="0" smtClean="0"/>
              <a:t>oxidative pentose</a:t>
            </a:r>
            <a:r>
              <a:rPr lang="en-GB" sz="2000" dirty="0" smtClean="0"/>
              <a:t> phosphate pathway are essentially </a:t>
            </a:r>
            <a:r>
              <a:rPr lang="en-GB" sz="2000" b="1" dirty="0" smtClean="0"/>
              <a:t>irreversible</a:t>
            </a:r>
            <a:r>
              <a:rPr lang="en-GB" sz="2000" dirty="0" smtClean="0"/>
              <a:t> in in the cell.</a:t>
            </a:r>
          </a:p>
          <a:p>
            <a:pPr algn="just">
              <a:buFont typeface="Wingdings" pitchFamily="2" charset="2"/>
              <a:buChar char="v"/>
            </a:pPr>
            <a:r>
              <a:rPr lang="en-GB" sz="2000" dirty="0" smtClean="0"/>
              <a:t>The reactions of the </a:t>
            </a:r>
            <a:r>
              <a:rPr lang="en-GB" sz="2000" b="1" dirty="0" smtClean="0"/>
              <a:t>non-oxidative</a:t>
            </a:r>
            <a:r>
              <a:rPr lang="en-GB" sz="2000" dirty="0" smtClean="0"/>
              <a:t> part  are however readily </a:t>
            </a:r>
            <a:r>
              <a:rPr lang="en-GB" sz="2000" b="1" dirty="0" smtClean="0"/>
              <a:t>reversible</a:t>
            </a:r>
            <a:r>
              <a:rPr lang="en-GB" sz="2000" dirty="0" smtClean="0"/>
              <a:t> and thus provide a means of converting </a:t>
            </a:r>
            <a:r>
              <a:rPr lang="en-GB" sz="2000" b="1" dirty="0" err="1" smtClean="0"/>
              <a:t>hexose</a:t>
            </a:r>
            <a:r>
              <a:rPr lang="en-GB" sz="2000" b="1" dirty="0" smtClean="0"/>
              <a:t> phosphates</a:t>
            </a:r>
            <a:r>
              <a:rPr lang="en-GB" sz="2000" dirty="0" smtClean="0"/>
              <a:t> to </a:t>
            </a:r>
            <a:r>
              <a:rPr lang="en-GB" sz="2000" b="1" dirty="0" smtClean="0"/>
              <a:t>pentose phosphates</a:t>
            </a:r>
            <a:r>
              <a:rPr lang="en-GB" sz="2000" dirty="0" smtClean="0"/>
              <a:t>.</a:t>
            </a:r>
            <a:endParaRPr lang="en-GB" sz="2000" dirty="0"/>
          </a:p>
        </p:txBody>
      </p:sp>
      <p:sp>
        <p:nvSpPr>
          <p:cNvPr id="6" name="TextBox 5"/>
          <p:cNvSpPr txBox="1"/>
          <p:nvPr/>
        </p:nvSpPr>
        <p:spPr>
          <a:xfrm>
            <a:off x="214282" y="3774048"/>
            <a:ext cx="776238" cy="400110"/>
          </a:xfrm>
          <a:prstGeom prst="rect">
            <a:avLst/>
          </a:prstGeom>
          <a:noFill/>
        </p:spPr>
        <p:txBody>
          <a:bodyPr wrap="none" rtlCol="0">
            <a:spAutoFit/>
          </a:bodyPr>
          <a:lstStyle/>
          <a:p>
            <a:r>
              <a:rPr lang="en-GB" sz="2000" b="1" dirty="0" smtClean="0"/>
              <a:t>Note:</a:t>
            </a:r>
            <a:endParaRPr lang="en-GB" sz="2000" b="1"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71407" y="285728"/>
            <a:ext cx="8858312" cy="1631216"/>
          </a:xfrm>
          <a:prstGeom prst="rect">
            <a:avLst/>
          </a:prstGeom>
          <a:noFill/>
        </p:spPr>
        <p:txBody>
          <a:bodyPr wrap="square" rtlCol="0">
            <a:spAutoFit/>
          </a:bodyPr>
          <a:lstStyle/>
          <a:p>
            <a:pPr algn="just">
              <a:buFont typeface="Wingdings" pitchFamily="2" charset="2"/>
              <a:buChar char="v"/>
            </a:pPr>
            <a:r>
              <a:rPr lang="en-GB" sz="2000" dirty="0" smtClean="0"/>
              <a:t>Two molecules </a:t>
            </a:r>
            <a:r>
              <a:rPr lang="en-GB" sz="2000" b="1" dirty="0" smtClean="0"/>
              <a:t>of glyceraldehyde 3-phosphate </a:t>
            </a:r>
            <a:r>
              <a:rPr lang="en-GB" sz="2000" dirty="0" smtClean="0"/>
              <a:t>formed by two iterations of these reactions can be converted to a molecule of </a:t>
            </a:r>
            <a:r>
              <a:rPr lang="en-GB" sz="2000" b="1" dirty="0" smtClean="0"/>
              <a:t>fructose 1,6-bisphosphate </a:t>
            </a:r>
            <a:r>
              <a:rPr lang="en-GB" sz="2000" dirty="0" smtClean="0"/>
              <a:t>as in </a:t>
            </a:r>
            <a:r>
              <a:rPr lang="en-GB" sz="2000" dirty="0" err="1" smtClean="0"/>
              <a:t>gluconeogenesis</a:t>
            </a:r>
            <a:r>
              <a:rPr lang="en-GB" sz="2000" dirty="0" smtClean="0"/>
              <a:t>.</a:t>
            </a:r>
          </a:p>
          <a:p>
            <a:pPr>
              <a:buFont typeface="Wingdings" pitchFamily="2" charset="2"/>
              <a:buChar char="v"/>
            </a:pPr>
            <a:r>
              <a:rPr lang="en-GB" sz="2000" dirty="0" smtClean="0"/>
              <a:t>In a complete cycle</a:t>
            </a:r>
            <a:r>
              <a:rPr lang="en-GB" sz="2000" b="1" dirty="0" smtClean="0"/>
              <a:t>: six pentose phosphates </a:t>
            </a:r>
            <a:r>
              <a:rPr lang="en-GB" sz="2000" dirty="0" smtClean="0"/>
              <a:t>are converted to </a:t>
            </a:r>
            <a:r>
              <a:rPr lang="en-GB" sz="2000" b="1" dirty="0" smtClean="0"/>
              <a:t>five </a:t>
            </a:r>
            <a:r>
              <a:rPr lang="en-GB" sz="2000" b="1" dirty="0" err="1" smtClean="0"/>
              <a:t>hexose</a:t>
            </a:r>
            <a:r>
              <a:rPr lang="en-GB" sz="2000" b="1" dirty="0" smtClean="0"/>
              <a:t> phosphates</a:t>
            </a:r>
            <a:r>
              <a:rPr lang="en-GB" sz="2000" dirty="0" smtClean="0"/>
              <a:t>.</a:t>
            </a:r>
            <a:endParaRPr lang="en-GB" sz="2000" dirty="0"/>
          </a:p>
        </p:txBody>
      </p:sp>
      <p:pic>
        <p:nvPicPr>
          <p:cNvPr id="46082" name="Picture 2"/>
          <p:cNvPicPr>
            <a:picLocks noChangeAspect="1" noChangeArrowheads="1"/>
          </p:cNvPicPr>
          <p:nvPr/>
        </p:nvPicPr>
        <p:blipFill>
          <a:blip r:embed="rId2">
            <a:lum bright="-20000" contrast="40000"/>
          </a:blip>
          <a:srcRect/>
          <a:stretch>
            <a:fillRect/>
          </a:stretch>
        </p:blipFill>
        <p:spPr bwMode="auto">
          <a:xfrm>
            <a:off x="214282" y="2000241"/>
            <a:ext cx="8643998" cy="414340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642910" y="71414"/>
            <a:ext cx="7772400" cy="838200"/>
          </a:xfrm>
        </p:spPr>
        <p:txBody>
          <a:bodyPr>
            <a:normAutofit/>
          </a:bodyPr>
          <a:lstStyle/>
          <a:p>
            <a:r>
              <a:rPr lang="en-US" dirty="0" smtClean="0"/>
              <a:t>Regulation of the Pentose Pathway</a:t>
            </a:r>
          </a:p>
        </p:txBody>
      </p:sp>
      <p:sp>
        <p:nvSpPr>
          <p:cNvPr id="5" name="Rectangle 3"/>
          <p:cNvSpPr txBox="1">
            <a:spLocks noChangeArrowheads="1"/>
          </p:cNvSpPr>
          <p:nvPr/>
        </p:nvSpPr>
        <p:spPr>
          <a:xfrm>
            <a:off x="214282" y="1785926"/>
            <a:ext cx="8501122" cy="4572000"/>
          </a:xfrm>
          <a:prstGeom prst="rect">
            <a:avLst/>
          </a:prstGeom>
        </p:spPr>
        <p:txBody>
          <a:bodyPr vert="horz" lIns="91440" tIns="45720" rIns="91440" bIns="45720" rtlCol="0">
            <a:norm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Glucose 6-phosphate DH is the regulatory enzyme.</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NADPH is a potent competitive inhibitor of the enzyme.</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Usually when the ratio NADPH/NADP</a:t>
            </a:r>
            <a:r>
              <a:rPr kumimoji="0" lang="en-US" sz="3200" b="0" i="0" u="none" strike="noStrike" kern="1200" cap="none" spc="0" normalizeH="0" baseline="30000" noProof="0" dirty="0" smtClean="0">
                <a:ln>
                  <a:noFill/>
                </a:ln>
                <a:solidFill>
                  <a:schemeClr val="tx1"/>
                </a:solidFill>
                <a:effectLst/>
                <a:uLnTx/>
                <a:uFillTx/>
                <a:latin typeface="+mn-lt"/>
                <a:ea typeface="+mn-ea"/>
                <a:cs typeface="+mn-cs"/>
              </a:rPr>
              <a:t>+</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is high so the enzyme is inhibited.</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But, with increased demand for NADPH, the ratio decreases and enzyme activity is stimulated.</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6" name="TextBox 5"/>
          <p:cNvSpPr txBox="1"/>
          <p:nvPr/>
        </p:nvSpPr>
        <p:spPr>
          <a:xfrm>
            <a:off x="2552219" y="928670"/>
            <a:ext cx="3253904" cy="646331"/>
          </a:xfrm>
          <a:prstGeom prst="rect">
            <a:avLst/>
          </a:prstGeom>
          <a:noFill/>
        </p:spPr>
        <p:txBody>
          <a:bodyPr wrap="none" rtlCol="0">
            <a:spAutoFit/>
          </a:bodyPr>
          <a:lstStyle/>
          <a:p>
            <a:r>
              <a:rPr lang="en-GB" sz="3600" b="1" dirty="0" smtClean="0"/>
              <a:t>Oxidative Phase</a:t>
            </a:r>
            <a:endParaRPr lang="en-GB" sz="3600" b="1"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p:cNvSpPr txBox="1">
            <a:spLocks noChangeArrowheads="1"/>
          </p:cNvSpPr>
          <p:nvPr/>
        </p:nvSpPr>
        <p:spPr>
          <a:xfrm>
            <a:off x="609600" y="1357298"/>
            <a:ext cx="7772400" cy="4114800"/>
          </a:xfrm>
          <a:prstGeom prst="rect">
            <a:avLst/>
          </a:prstGeom>
        </p:spPr>
        <p:txBody>
          <a:bodyPr vert="horz" lIns="91440" tIns="45720" rIns="91440" bIns="45720" rtlCol="0">
            <a:norm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The reactions of the non-oxidative portion of the pentose pathway are readily reversible.</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The concentrations of the products and reactants can shift  depending on the metabolic needs of a particular cell or tissue.</a:t>
            </a:r>
          </a:p>
        </p:txBody>
      </p:sp>
      <p:sp>
        <p:nvSpPr>
          <p:cNvPr id="5" name="TextBox 4"/>
          <p:cNvSpPr txBox="1"/>
          <p:nvPr/>
        </p:nvSpPr>
        <p:spPr>
          <a:xfrm>
            <a:off x="2552219" y="500042"/>
            <a:ext cx="4126258" cy="646331"/>
          </a:xfrm>
          <a:prstGeom prst="rect">
            <a:avLst/>
          </a:prstGeom>
          <a:noFill/>
        </p:spPr>
        <p:txBody>
          <a:bodyPr wrap="none" rtlCol="0">
            <a:spAutoFit/>
          </a:bodyPr>
          <a:lstStyle/>
          <a:p>
            <a:r>
              <a:rPr lang="en-GB" sz="3600" b="1" dirty="0" smtClean="0"/>
              <a:t>Non-oxidative Phase</a:t>
            </a:r>
            <a:endParaRPr lang="en-GB" sz="3600" b="1"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71406" y="240549"/>
            <a:ext cx="9001156" cy="830997"/>
          </a:xfrm>
          <a:prstGeom prst="rect">
            <a:avLst/>
          </a:prstGeom>
          <a:noFill/>
        </p:spPr>
        <p:txBody>
          <a:bodyPr wrap="square" rtlCol="0">
            <a:spAutoFit/>
          </a:bodyPr>
          <a:lstStyle/>
          <a:p>
            <a:r>
              <a:rPr lang="en-GB" sz="2400" b="1" dirty="0" smtClean="0"/>
              <a:t>Different scenarios under which the Pentose phosphate pathway is controlled</a:t>
            </a:r>
            <a:r>
              <a:rPr lang="en-GB" sz="2400" dirty="0" smtClean="0"/>
              <a:t>. </a:t>
            </a:r>
            <a:endParaRPr lang="en-GB" sz="2400" dirty="0"/>
          </a:p>
        </p:txBody>
      </p:sp>
      <p:sp>
        <p:nvSpPr>
          <p:cNvPr id="5" name="Text Box 3"/>
          <p:cNvSpPr txBox="1">
            <a:spLocks noChangeArrowheads="1"/>
          </p:cNvSpPr>
          <p:nvPr/>
        </p:nvSpPr>
        <p:spPr bwMode="auto">
          <a:xfrm>
            <a:off x="142844" y="1107688"/>
            <a:ext cx="8572528" cy="892552"/>
          </a:xfrm>
          <a:prstGeom prst="rect">
            <a:avLst/>
          </a:prstGeom>
          <a:noFill/>
          <a:ln w="9525">
            <a:noFill/>
            <a:miter lim="800000"/>
            <a:headEnd/>
            <a:tailEnd/>
          </a:ln>
        </p:spPr>
        <p:txBody>
          <a:bodyPr wrap="square">
            <a:spAutoFit/>
          </a:bodyPr>
          <a:lstStyle/>
          <a:p>
            <a:pPr marL="457200" indent="-457200" algn="ctr">
              <a:spcBef>
                <a:spcPct val="20000"/>
              </a:spcBef>
              <a:buAutoNum type="arabicPeriod"/>
            </a:pPr>
            <a:r>
              <a:rPr lang="en-US" sz="2400" dirty="0" smtClean="0"/>
              <a:t>Rapidly </a:t>
            </a:r>
            <a:r>
              <a:rPr lang="en-US" sz="2400" dirty="0"/>
              <a:t>dividing cells </a:t>
            </a:r>
            <a:r>
              <a:rPr lang="en-US" sz="2800" dirty="0"/>
              <a:t>require</a:t>
            </a:r>
            <a:r>
              <a:rPr lang="en-US" sz="2400" dirty="0"/>
              <a:t> more ribose 5- phosphate than NADPH</a:t>
            </a:r>
            <a:r>
              <a:rPr lang="en-US" sz="2400" dirty="0" smtClean="0"/>
              <a:t>.</a:t>
            </a:r>
          </a:p>
        </p:txBody>
      </p:sp>
      <p:pic>
        <p:nvPicPr>
          <p:cNvPr id="6" name="Picture 2"/>
          <p:cNvPicPr>
            <a:picLocks noChangeAspect="1" noChangeArrowheads="1"/>
          </p:cNvPicPr>
          <p:nvPr/>
        </p:nvPicPr>
        <p:blipFill>
          <a:blip r:embed="rId2"/>
          <a:srcRect/>
          <a:stretch>
            <a:fillRect/>
          </a:stretch>
        </p:blipFill>
        <p:spPr bwMode="auto">
          <a:xfrm>
            <a:off x="428596" y="2000240"/>
            <a:ext cx="8215370" cy="435771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Box 3"/>
          <p:cNvSpPr txBox="1">
            <a:spLocks noChangeArrowheads="1"/>
          </p:cNvSpPr>
          <p:nvPr/>
        </p:nvSpPr>
        <p:spPr bwMode="auto">
          <a:xfrm>
            <a:off x="357158" y="285728"/>
            <a:ext cx="8396318" cy="461665"/>
          </a:xfrm>
          <a:prstGeom prst="rect">
            <a:avLst/>
          </a:prstGeom>
          <a:noFill/>
          <a:ln w="9525">
            <a:noFill/>
            <a:miter lim="800000"/>
            <a:headEnd/>
            <a:tailEnd/>
          </a:ln>
        </p:spPr>
        <p:txBody>
          <a:bodyPr wrap="square">
            <a:spAutoFit/>
          </a:bodyPr>
          <a:lstStyle/>
          <a:p>
            <a:pPr algn="ctr"/>
            <a:r>
              <a:rPr lang="en-US" sz="2400" dirty="0" smtClean="0"/>
              <a:t>2. The </a:t>
            </a:r>
            <a:r>
              <a:rPr lang="en-US" sz="2400" dirty="0"/>
              <a:t>need for NADPH and ribose 5-phosphate is balanced.</a:t>
            </a:r>
          </a:p>
        </p:txBody>
      </p:sp>
      <p:pic>
        <p:nvPicPr>
          <p:cNvPr id="5" name="Picture 2"/>
          <p:cNvPicPr>
            <a:picLocks noChangeAspect="1" noChangeArrowheads="1"/>
          </p:cNvPicPr>
          <p:nvPr/>
        </p:nvPicPr>
        <p:blipFill>
          <a:blip r:embed="rId2"/>
          <a:srcRect/>
          <a:stretch>
            <a:fillRect/>
          </a:stretch>
        </p:blipFill>
        <p:spPr bwMode="auto">
          <a:xfrm>
            <a:off x="322292" y="1000108"/>
            <a:ext cx="8535988" cy="506414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Box 3"/>
          <p:cNvSpPr txBox="1">
            <a:spLocks noChangeArrowheads="1"/>
          </p:cNvSpPr>
          <p:nvPr/>
        </p:nvSpPr>
        <p:spPr bwMode="auto">
          <a:xfrm>
            <a:off x="285721" y="311987"/>
            <a:ext cx="8572560" cy="830997"/>
          </a:xfrm>
          <a:prstGeom prst="rect">
            <a:avLst/>
          </a:prstGeom>
          <a:noFill/>
          <a:ln w="9525">
            <a:noFill/>
            <a:miter lim="800000"/>
            <a:headEnd/>
            <a:tailEnd/>
          </a:ln>
        </p:spPr>
        <p:txBody>
          <a:bodyPr wrap="square">
            <a:spAutoFit/>
          </a:bodyPr>
          <a:lstStyle/>
          <a:p>
            <a:pPr algn="ctr"/>
            <a:r>
              <a:rPr lang="en-US" sz="2400" dirty="0" smtClean="0"/>
              <a:t>3. More </a:t>
            </a:r>
            <a:r>
              <a:rPr lang="en-US" sz="2400" dirty="0"/>
              <a:t>NADPH is needed than ribose 5-phosphate; Fatty acid synthesis in adipose cells.</a:t>
            </a:r>
          </a:p>
        </p:txBody>
      </p:sp>
      <p:pic>
        <p:nvPicPr>
          <p:cNvPr id="5" name="Picture 2"/>
          <p:cNvPicPr>
            <a:picLocks noChangeAspect="1" noChangeArrowheads="1"/>
          </p:cNvPicPr>
          <p:nvPr/>
        </p:nvPicPr>
        <p:blipFill>
          <a:blip r:embed="rId2"/>
          <a:srcRect/>
          <a:stretch>
            <a:fillRect/>
          </a:stretch>
        </p:blipFill>
        <p:spPr bwMode="auto">
          <a:xfrm>
            <a:off x="246092" y="1142984"/>
            <a:ext cx="8612188" cy="521497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Box 3"/>
          <p:cNvSpPr txBox="1">
            <a:spLocks noChangeArrowheads="1"/>
          </p:cNvSpPr>
          <p:nvPr/>
        </p:nvSpPr>
        <p:spPr bwMode="auto">
          <a:xfrm>
            <a:off x="1857356" y="252691"/>
            <a:ext cx="4982454" cy="461665"/>
          </a:xfrm>
          <a:prstGeom prst="rect">
            <a:avLst/>
          </a:prstGeom>
          <a:noFill/>
          <a:ln w="9525">
            <a:noFill/>
            <a:miter lim="800000"/>
            <a:headEnd/>
            <a:tailEnd/>
          </a:ln>
        </p:spPr>
        <p:txBody>
          <a:bodyPr wrap="none">
            <a:spAutoFit/>
          </a:bodyPr>
          <a:lstStyle/>
          <a:p>
            <a:r>
              <a:rPr lang="en-US" sz="2400" dirty="0" smtClean="0"/>
              <a:t>4. The </a:t>
            </a:r>
            <a:r>
              <a:rPr lang="en-US" sz="2400" dirty="0"/>
              <a:t>cell needs both NADPH and </a:t>
            </a:r>
            <a:r>
              <a:rPr lang="en-US" sz="2400" dirty="0" smtClean="0"/>
              <a:t>ATP</a:t>
            </a:r>
          </a:p>
        </p:txBody>
      </p:sp>
      <p:pic>
        <p:nvPicPr>
          <p:cNvPr id="5" name="Picture 2"/>
          <p:cNvPicPr>
            <a:picLocks noChangeAspect="1" noChangeArrowheads="1"/>
          </p:cNvPicPr>
          <p:nvPr/>
        </p:nvPicPr>
        <p:blipFill>
          <a:blip r:embed="rId2"/>
          <a:srcRect/>
          <a:stretch>
            <a:fillRect/>
          </a:stretch>
        </p:blipFill>
        <p:spPr bwMode="auto">
          <a:xfrm>
            <a:off x="785786" y="857232"/>
            <a:ext cx="7500989" cy="529431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405019" y="142852"/>
            <a:ext cx="4772781" cy="461665"/>
          </a:xfrm>
          <a:prstGeom prst="rect">
            <a:avLst/>
          </a:prstGeom>
          <a:noFill/>
        </p:spPr>
        <p:txBody>
          <a:bodyPr wrap="none" rtlCol="0">
            <a:spAutoFit/>
          </a:bodyPr>
          <a:lstStyle/>
          <a:p>
            <a:r>
              <a:rPr lang="en-GB" sz="2400" b="1" dirty="0" smtClean="0"/>
              <a:t>Biological importance of HMP shunt</a:t>
            </a:r>
            <a:endParaRPr lang="en-GB" sz="2400" b="1" dirty="0"/>
          </a:p>
        </p:txBody>
      </p:sp>
      <p:sp>
        <p:nvSpPr>
          <p:cNvPr id="5" name="TextBox 4"/>
          <p:cNvSpPr txBox="1"/>
          <p:nvPr/>
        </p:nvSpPr>
        <p:spPr>
          <a:xfrm>
            <a:off x="168328" y="620610"/>
            <a:ext cx="8975704" cy="2554545"/>
          </a:xfrm>
          <a:prstGeom prst="rect">
            <a:avLst/>
          </a:prstGeom>
          <a:noFill/>
        </p:spPr>
        <p:txBody>
          <a:bodyPr wrap="square" rtlCol="0">
            <a:spAutoFit/>
          </a:bodyPr>
          <a:lstStyle/>
          <a:p>
            <a:r>
              <a:rPr lang="en-GB" sz="2000" b="1" dirty="0" smtClean="0"/>
              <a:t>1.</a:t>
            </a:r>
            <a:r>
              <a:rPr lang="en-GB" sz="2000" dirty="0" smtClean="0"/>
              <a:t> NADPH produced in the shunt is used for </a:t>
            </a:r>
            <a:r>
              <a:rPr lang="en-GB" sz="2000" b="1" dirty="0" smtClean="0"/>
              <a:t>biosynthesis</a:t>
            </a:r>
            <a:r>
              <a:rPr lang="en-GB" sz="2000" dirty="0" smtClean="0"/>
              <a:t> of several important compounds in various organs.</a:t>
            </a:r>
          </a:p>
          <a:p>
            <a:r>
              <a:rPr lang="en-GB" dirty="0" smtClean="0"/>
              <a:t>(</a:t>
            </a:r>
            <a:r>
              <a:rPr lang="en-GB" sz="2000" i="1" dirty="0" smtClean="0"/>
              <a:t>a</a:t>
            </a:r>
            <a:r>
              <a:rPr lang="en-GB" sz="2000" b="1" i="1" dirty="0" smtClean="0"/>
              <a:t>) In the liver</a:t>
            </a:r>
            <a:r>
              <a:rPr lang="en-GB" sz="2000" i="1" dirty="0" smtClean="0"/>
              <a:t>, NADPH is used for fatty acid synthesis, cholesterol synthesis, bile </a:t>
            </a:r>
            <a:r>
              <a:rPr lang="en-GB" sz="2000" dirty="0" smtClean="0"/>
              <a:t>acid synthesis, glutamate synthesis and </a:t>
            </a:r>
            <a:r>
              <a:rPr lang="en-GB" sz="2000" dirty="0" err="1" smtClean="0"/>
              <a:t>cytochrome</a:t>
            </a:r>
            <a:r>
              <a:rPr lang="en-GB" sz="2000" dirty="0" smtClean="0"/>
              <a:t> P450-hydroxylase system.</a:t>
            </a:r>
          </a:p>
          <a:p>
            <a:r>
              <a:rPr lang="en-GB" sz="2000" dirty="0" smtClean="0"/>
              <a:t>(</a:t>
            </a:r>
            <a:r>
              <a:rPr lang="en-GB" sz="2000" i="1" dirty="0" smtClean="0"/>
              <a:t>b) </a:t>
            </a:r>
            <a:r>
              <a:rPr lang="en-GB" sz="2000" b="1" i="1" dirty="0" smtClean="0"/>
              <a:t>In the adrenal </a:t>
            </a:r>
            <a:r>
              <a:rPr lang="en-GB" sz="2000" i="1" dirty="0" smtClean="0"/>
              <a:t>cortex and gonads, NADPH is used for cholesterol and hormone </a:t>
            </a:r>
            <a:r>
              <a:rPr lang="en-GB" sz="2000" dirty="0" smtClean="0"/>
              <a:t>synthesis.</a:t>
            </a:r>
          </a:p>
          <a:p>
            <a:r>
              <a:rPr lang="en-GB" sz="2000" dirty="0" smtClean="0"/>
              <a:t>(</a:t>
            </a:r>
            <a:r>
              <a:rPr lang="en-GB" sz="2000" i="1" dirty="0" smtClean="0"/>
              <a:t>c) </a:t>
            </a:r>
            <a:r>
              <a:rPr lang="en-GB" sz="2000" b="1" i="1" dirty="0" smtClean="0"/>
              <a:t>In the adipose tissue</a:t>
            </a:r>
            <a:r>
              <a:rPr lang="en-GB" sz="2000" i="1" dirty="0" smtClean="0"/>
              <a:t>, NADPH is used for fatty acid synthesis.</a:t>
            </a:r>
          </a:p>
          <a:p>
            <a:r>
              <a:rPr lang="en-GB" sz="2000" dirty="0" smtClean="0"/>
              <a:t>(</a:t>
            </a:r>
            <a:r>
              <a:rPr lang="en-GB" sz="2000" i="1" dirty="0" smtClean="0"/>
              <a:t>d) NADPH is used for formation of </a:t>
            </a:r>
            <a:r>
              <a:rPr lang="en-GB" sz="2000" i="1" dirty="0" err="1" smtClean="0"/>
              <a:t>deoxy</a:t>
            </a:r>
            <a:r>
              <a:rPr lang="en-GB" sz="2000" i="1" dirty="0" smtClean="0"/>
              <a:t> </a:t>
            </a:r>
            <a:r>
              <a:rPr lang="en-GB" sz="2000" i="1" dirty="0" err="1" smtClean="0"/>
              <a:t>ribonucleotides</a:t>
            </a:r>
            <a:r>
              <a:rPr lang="en-GB" sz="2000" i="1" dirty="0" smtClean="0"/>
              <a:t> and </a:t>
            </a:r>
            <a:r>
              <a:rPr lang="en-GB" sz="2000" i="1" dirty="0" err="1" smtClean="0"/>
              <a:t>pyrimidine</a:t>
            </a:r>
            <a:r>
              <a:rPr lang="en-GB" sz="2000" i="1" dirty="0" smtClean="0"/>
              <a:t> nucleotides.</a:t>
            </a:r>
            <a:endParaRPr lang="en-GB" sz="2000" dirty="0"/>
          </a:p>
        </p:txBody>
      </p:sp>
      <p:sp>
        <p:nvSpPr>
          <p:cNvPr id="6" name="TextBox 5"/>
          <p:cNvSpPr txBox="1"/>
          <p:nvPr/>
        </p:nvSpPr>
        <p:spPr>
          <a:xfrm>
            <a:off x="142844" y="3357562"/>
            <a:ext cx="8715436" cy="1323439"/>
          </a:xfrm>
          <a:prstGeom prst="rect">
            <a:avLst/>
          </a:prstGeom>
          <a:noFill/>
        </p:spPr>
        <p:txBody>
          <a:bodyPr wrap="square" rtlCol="0">
            <a:spAutoFit/>
          </a:bodyPr>
          <a:lstStyle/>
          <a:p>
            <a:r>
              <a:rPr lang="en-GB" b="1" dirty="0" smtClean="0"/>
              <a:t>2.</a:t>
            </a:r>
            <a:r>
              <a:rPr lang="en-GB" dirty="0" smtClean="0"/>
              <a:t> </a:t>
            </a:r>
            <a:r>
              <a:rPr lang="en-GB" sz="2000" dirty="0" smtClean="0"/>
              <a:t>In RBC, NADPH produced is used for the formation of </a:t>
            </a:r>
            <a:r>
              <a:rPr lang="en-GB" sz="2000" b="1" dirty="0" smtClean="0"/>
              <a:t>reduced glutathione (GHS)</a:t>
            </a:r>
            <a:r>
              <a:rPr lang="en-GB" sz="2000" dirty="0" smtClean="0"/>
              <a:t>from </a:t>
            </a:r>
            <a:r>
              <a:rPr lang="en-GB" sz="2000" b="1" dirty="0" smtClean="0"/>
              <a:t>oxidized glutathione (GSSG)</a:t>
            </a:r>
            <a:r>
              <a:rPr lang="en-GB" sz="2000" dirty="0" smtClean="0"/>
              <a:t>, catalyzed by </a:t>
            </a:r>
            <a:r>
              <a:rPr lang="en-GB" sz="2000" b="1" dirty="0" smtClean="0"/>
              <a:t>Glutathione </a:t>
            </a:r>
            <a:r>
              <a:rPr lang="en-GB" sz="2000" b="1" dirty="0" err="1" smtClean="0"/>
              <a:t>reductase</a:t>
            </a:r>
            <a:r>
              <a:rPr lang="en-GB" sz="2000" dirty="0" smtClean="0"/>
              <a:t>. </a:t>
            </a:r>
            <a:r>
              <a:rPr lang="en-GB" sz="2000" b="1" dirty="0" smtClean="0"/>
              <a:t>Reduced glutathione </a:t>
            </a:r>
            <a:r>
              <a:rPr lang="en-GB" sz="2000" dirty="0" smtClean="0"/>
              <a:t>is required for removal of H</a:t>
            </a:r>
            <a:r>
              <a:rPr lang="en-GB" sz="2000" baseline="-25000" dirty="0" smtClean="0"/>
              <a:t>2</a:t>
            </a:r>
            <a:r>
              <a:rPr lang="en-GB" sz="2000" dirty="0" smtClean="0"/>
              <a:t>O</a:t>
            </a:r>
            <a:r>
              <a:rPr lang="en-GB" sz="2000" baseline="-25000" dirty="0" smtClean="0"/>
              <a:t>2</a:t>
            </a:r>
            <a:r>
              <a:rPr lang="en-GB" sz="2000" dirty="0" smtClean="0"/>
              <a:t> in </a:t>
            </a:r>
            <a:r>
              <a:rPr lang="en-GB" sz="2000" dirty="0" err="1" smtClean="0"/>
              <a:t>RBCs</a:t>
            </a:r>
            <a:r>
              <a:rPr lang="en-GB" sz="2000" dirty="0" smtClean="0"/>
              <a:t> by the enzyme glutathione peroxidase for maintenance of erythrocyte proteins.</a:t>
            </a:r>
            <a:endParaRPr lang="en-GB" sz="2000" dirty="0"/>
          </a:p>
        </p:txBody>
      </p:sp>
      <p:sp>
        <p:nvSpPr>
          <p:cNvPr id="7" name="Rectangle 3"/>
          <p:cNvSpPr txBox="1">
            <a:spLocks noChangeArrowheads="1"/>
          </p:cNvSpPr>
          <p:nvPr/>
        </p:nvSpPr>
        <p:spPr>
          <a:xfrm>
            <a:off x="800128" y="4786322"/>
            <a:ext cx="7772400" cy="1357322"/>
          </a:xfrm>
          <a:prstGeom prst="rect">
            <a:avLst/>
          </a:prstGeom>
        </p:spPr>
        <p:txBody>
          <a:bodyPr vert="horz" lIns="91440" tIns="45720" rIns="91440" bIns="45720" rtlCol="0">
            <a:normAutofit fontScale="85000" lnSpcReduction="2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What is glutathione?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Why is it important?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How is it related to NADPH?</a:t>
            </a: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descr="glutathione"/>
          <p:cNvPicPr>
            <a:picLocks noChangeAspect="1" noChangeArrowheads="1"/>
          </p:cNvPicPr>
          <p:nvPr/>
        </p:nvPicPr>
        <p:blipFill>
          <a:blip r:embed="rId2"/>
          <a:srcRect/>
          <a:stretch>
            <a:fillRect/>
          </a:stretch>
        </p:blipFill>
        <p:spPr bwMode="auto">
          <a:xfrm>
            <a:off x="5143504" y="520722"/>
            <a:ext cx="3571900" cy="6051550"/>
          </a:xfrm>
          <a:prstGeom prst="rect">
            <a:avLst/>
          </a:prstGeom>
          <a:noFill/>
          <a:ln w="9525">
            <a:noFill/>
            <a:miter lim="800000"/>
            <a:headEnd/>
            <a:tailEnd/>
          </a:ln>
        </p:spPr>
      </p:pic>
      <p:sp>
        <p:nvSpPr>
          <p:cNvPr id="5" name="TextBox 4"/>
          <p:cNvSpPr txBox="1"/>
          <p:nvPr/>
        </p:nvSpPr>
        <p:spPr>
          <a:xfrm>
            <a:off x="6643702" y="5929330"/>
            <a:ext cx="587020" cy="369332"/>
          </a:xfrm>
          <a:prstGeom prst="rect">
            <a:avLst/>
          </a:prstGeom>
          <a:noFill/>
        </p:spPr>
        <p:txBody>
          <a:bodyPr wrap="none" rtlCol="0">
            <a:spAutoFit/>
          </a:bodyPr>
          <a:lstStyle/>
          <a:p>
            <a:r>
              <a:rPr lang="en-GB" b="1" dirty="0" smtClean="0"/>
              <a:t>GSH</a:t>
            </a:r>
            <a:endParaRPr lang="en-GB" b="1" dirty="0"/>
          </a:p>
        </p:txBody>
      </p:sp>
      <p:sp>
        <p:nvSpPr>
          <p:cNvPr id="6" name="Text Box 6"/>
          <p:cNvSpPr txBox="1">
            <a:spLocks noChangeArrowheads="1"/>
          </p:cNvSpPr>
          <p:nvPr/>
        </p:nvSpPr>
        <p:spPr bwMode="auto">
          <a:xfrm>
            <a:off x="357158" y="1014225"/>
            <a:ext cx="4643469" cy="1200329"/>
          </a:xfrm>
          <a:prstGeom prst="rect">
            <a:avLst/>
          </a:prstGeom>
          <a:noFill/>
          <a:ln w="9525">
            <a:noFill/>
            <a:miter lim="800000"/>
            <a:headEnd/>
            <a:tailEnd/>
          </a:ln>
        </p:spPr>
        <p:txBody>
          <a:bodyPr wrap="square">
            <a:spAutoFit/>
          </a:bodyPr>
          <a:lstStyle/>
          <a:p>
            <a:pPr algn="just"/>
            <a:r>
              <a:rPr lang="en-US" sz="2400" dirty="0"/>
              <a:t>Glutathione is a </a:t>
            </a:r>
            <a:r>
              <a:rPr lang="en-US" sz="2400" dirty="0" err="1"/>
              <a:t>tripeptide</a:t>
            </a:r>
            <a:r>
              <a:rPr lang="en-US" sz="2400" dirty="0"/>
              <a:t> composed of glutamate, </a:t>
            </a:r>
            <a:r>
              <a:rPr lang="en-US" sz="2400" dirty="0" err="1"/>
              <a:t>cystein</a:t>
            </a:r>
            <a:r>
              <a:rPr lang="en-US" sz="2400" dirty="0"/>
              <a:t>, </a:t>
            </a:r>
            <a:r>
              <a:rPr lang="en-US" sz="2400" dirty="0" err="1"/>
              <a:t>glycine</a:t>
            </a:r>
            <a:r>
              <a:rPr lang="en-US" sz="2400" dirty="0"/>
              <a:t>.</a:t>
            </a:r>
          </a:p>
        </p:txBody>
      </p:sp>
      <p:sp>
        <p:nvSpPr>
          <p:cNvPr id="7" name="Text Box 7"/>
          <p:cNvSpPr txBox="1">
            <a:spLocks noChangeArrowheads="1"/>
          </p:cNvSpPr>
          <p:nvPr/>
        </p:nvSpPr>
        <p:spPr bwMode="auto">
          <a:xfrm>
            <a:off x="285720" y="2871613"/>
            <a:ext cx="3902075" cy="1200329"/>
          </a:xfrm>
          <a:prstGeom prst="rect">
            <a:avLst/>
          </a:prstGeom>
          <a:noFill/>
          <a:ln w="9525">
            <a:noFill/>
            <a:miter lim="800000"/>
            <a:headEnd/>
            <a:tailEnd/>
          </a:ln>
        </p:spPr>
        <p:txBody>
          <a:bodyPr>
            <a:spAutoFit/>
          </a:bodyPr>
          <a:lstStyle/>
          <a:p>
            <a:pPr algn="just"/>
            <a:r>
              <a:rPr lang="en-US" sz="2400" dirty="0"/>
              <a:t>Reduced glutathione (GSH) maintains the normal reduced state of the cell.</a:t>
            </a:r>
          </a:p>
        </p:txBody>
      </p:sp>
      <p:sp>
        <p:nvSpPr>
          <p:cNvPr id="9" name="TextBox 8"/>
          <p:cNvSpPr txBox="1"/>
          <p:nvPr/>
        </p:nvSpPr>
        <p:spPr>
          <a:xfrm>
            <a:off x="428596" y="285728"/>
            <a:ext cx="3204916" cy="523220"/>
          </a:xfrm>
          <a:prstGeom prst="rect">
            <a:avLst/>
          </a:prstGeom>
          <a:noFill/>
        </p:spPr>
        <p:txBody>
          <a:bodyPr wrap="none" rtlCol="0">
            <a:spAutoFit/>
          </a:bodyPr>
          <a:lstStyle/>
          <a:p>
            <a:pPr lvl="0"/>
            <a:r>
              <a:rPr lang="en-US" sz="2800" dirty="0" smtClean="0"/>
              <a:t>What is glutathione?</a:t>
            </a: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p:cNvSpPr txBox="1">
            <a:spLocks noChangeArrowheads="1"/>
          </p:cNvSpPr>
          <p:nvPr/>
        </p:nvSpPr>
        <p:spPr>
          <a:xfrm>
            <a:off x="142844" y="285728"/>
            <a:ext cx="8858280" cy="3357586"/>
          </a:xfrm>
          <a:prstGeom prst="rect">
            <a:avLst/>
          </a:prstGeom>
        </p:spPr>
        <p:txBody>
          <a:bodyPr vert="horz" lIns="91440" tIns="45720" rIns="91440" bIns="45720" rtlCol="0">
            <a:normAutofit fontScale="92500"/>
          </a:bodyPr>
          <a:lstStyle/>
          <a:p>
            <a:pPr marL="342900" marR="0" lvl="0" indent="-342900" algn="l" defTabSz="914400" rtl="0" eaLnBrk="1" fontAlgn="auto" latinLnBrk="0" hangingPunct="1">
              <a:lnSpc>
                <a:spcPct val="9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The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sulfhydryl</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of GSH is used to reduce peroxides (ROS) formed during oxygen transport.</a:t>
            </a:r>
          </a:p>
          <a:p>
            <a:pPr marL="742950" marR="0" lvl="1" indent="-285750" algn="just"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Reactive oxygen species (ROS) damage macromolecules (DNA, RNA, and protein) and ultimately lead to cell death.</a:t>
            </a:r>
          </a:p>
          <a:p>
            <a:pPr marL="342900" marR="0" lvl="0" indent="-342900" algn="just"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The resulting oxidized form of GSH, two molecules of glutathione are linked by a disulfide bridge (GSSG).</a:t>
            </a:r>
          </a:p>
        </p:txBody>
      </p:sp>
      <p:sp>
        <p:nvSpPr>
          <p:cNvPr id="5" name="TextBox 4"/>
          <p:cNvSpPr txBox="1"/>
          <p:nvPr/>
        </p:nvSpPr>
        <p:spPr>
          <a:xfrm>
            <a:off x="428596" y="285728"/>
            <a:ext cx="3150286" cy="523220"/>
          </a:xfrm>
          <a:prstGeom prst="rect">
            <a:avLst/>
          </a:prstGeom>
          <a:noFill/>
        </p:spPr>
        <p:txBody>
          <a:bodyPr wrap="none" rtlCol="0">
            <a:spAutoFit/>
          </a:bodyPr>
          <a:lstStyle/>
          <a:p>
            <a:pPr marL="342900" lvl="0" indent="-342900">
              <a:spcBef>
                <a:spcPct val="20000"/>
              </a:spcBef>
              <a:defRPr/>
            </a:pPr>
            <a:r>
              <a:rPr lang="en-US" sz="2800" dirty="0" smtClean="0"/>
              <a:t>Why is it important?</a:t>
            </a:r>
          </a:p>
        </p:txBody>
      </p:sp>
      <p:pic>
        <p:nvPicPr>
          <p:cNvPr id="47106" name="Picture 2"/>
          <p:cNvPicPr>
            <a:picLocks noChangeAspect="1" noChangeArrowheads="1"/>
          </p:cNvPicPr>
          <p:nvPr/>
        </p:nvPicPr>
        <p:blipFill>
          <a:blip r:embed="rId2">
            <a:lum bright="-20000" contrast="40000"/>
          </a:blip>
          <a:srcRect/>
          <a:stretch>
            <a:fillRect/>
          </a:stretch>
        </p:blipFill>
        <p:spPr bwMode="auto">
          <a:xfrm>
            <a:off x="285720" y="3643314"/>
            <a:ext cx="8501122" cy="257176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428596" y="285728"/>
            <a:ext cx="4609723" cy="523220"/>
          </a:xfrm>
          <a:prstGeom prst="rect">
            <a:avLst/>
          </a:prstGeom>
          <a:noFill/>
        </p:spPr>
        <p:txBody>
          <a:bodyPr wrap="none" rtlCol="0">
            <a:spAutoFit/>
          </a:bodyPr>
          <a:lstStyle/>
          <a:p>
            <a:pPr marL="342900" lvl="0" indent="-342900">
              <a:spcBef>
                <a:spcPct val="20000"/>
              </a:spcBef>
              <a:buFont typeface="Arial" pitchFamily="34" charset="0"/>
              <a:buChar char="•"/>
              <a:defRPr/>
            </a:pPr>
            <a:r>
              <a:rPr lang="en-US" sz="2800" dirty="0" smtClean="0"/>
              <a:t>How is it related to NADPH?</a:t>
            </a:r>
          </a:p>
        </p:txBody>
      </p:sp>
      <p:pic>
        <p:nvPicPr>
          <p:cNvPr id="5" name="Picture 4" descr="gssgfigure"/>
          <p:cNvPicPr>
            <a:picLocks noChangeAspect="1" noChangeArrowheads="1"/>
          </p:cNvPicPr>
          <p:nvPr/>
        </p:nvPicPr>
        <p:blipFill>
          <a:blip r:embed="rId2"/>
          <a:srcRect/>
          <a:stretch>
            <a:fillRect/>
          </a:stretch>
        </p:blipFill>
        <p:spPr bwMode="auto">
          <a:xfrm>
            <a:off x="4786314" y="785794"/>
            <a:ext cx="4214842" cy="5843606"/>
          </a:xfrm>
          <a:prstGeom prst="rect">
            <a:avLst/>
          </a:prstGeom>
          <a:noFill/>
          <a:ln w="9525">
            <a:noFill/>
            <a:miter lim="800000"/>
            <a:headEnd/>
            <a:tailEnd/>
          </a:ln>
        </p:spPr>
      </p:pic>
      <p:sp>
        <p:nvSpPr>
          <p:cNvPr id="6" name="Text Box 5"/>
          <p:cNvSpPr txBox="1">
            <a:spLocks noChangeArrowheads="1"/>
          </p:cNvSpPr>
          <p:nvPr/>
        </p:nvSpPr>
        <p:spPr bwMode="auto">
          <a:xfrm>
            <a:off x="285720" y="1249151"/>
            <a:ext cx="4333876" cy="3108543"/>
          </a:xfrm>
          <a:prstGeom prst="rect">
            <a:avLst/>
          </a:prstGeom>
          <a:noFill/>
          <a:ln w="9525">
            <a:noFill/>
            <a:miter lim="800000"/>
            <a:headEnd/>
            <a:tailEnd/>
          </a:ln>
        </p:spPr>
        <p:txBody>
          <a:bodyPr wrap="square">
            <a:spAutoFit/>
          </a:bodyPr>
          <a:lstStyle/>
          <a:p>
            <a:pPr algn="just"/>
            <a:r>
              <a:rPr lang="en-US" sz="2800" dirty="0"/>
              <a:t>The enzyme </a:t>
            </a:r>
            <a:r>
              <a:rPr lang="en-US" sz="2800" b="1" dirty="0"/>
              <a:t>glutathione </a:t>
            </a:r>
            <a:r>
              <a:rPr lang="en-US" sz="2800" b="1" dirty="0" err="1"/>
              <a:t>reductase</a:t>
            </a:r>
            <a:r>
              <a:rPr lang="en-US" sz="2800" dirty="0"/>
              <a:t> uses </a:t>
            </a:r>
            <a:r>
              <a:rPr lang="en-US" sz="2800" b="1" dirty="0"/>
              <a:t>NADPH</a:t>
            </a:r>
            <a:r>
              <a:rPr lang="en-US" sz="2800" dirty="0"/>
              <a:t> as a cofactor to reduce </a:t>
            </a:r>
            <a:r>
              <a:rPr lang="en-US" sz="2800" b="1" dirty="0"/>
              <a:t>GSSG</a:t>
            </a:r>
            <a:r>
              <a:rPr lang="en-US" sz="2800" dirty="0"/>
              <a:t> back to two moles of </a:t>
            </a:r>
            <a:r>
              <a:rPr lang="en-US" sz="2800" b="1" dirty="0"/>
              <a:t>GSH</a:t>
            </a:r>
            <a:r>
              <a:rPr lang="en-US" sz="2800" dirty="0"/>
              <a:t>.  Thus, the pentose pathway is linked to the supply of adequate amounts of GSH. </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405019" y="252691"/>
            <a:ext cx="5868081" cy="461665"/>
          </a:xfrm>
          <a:prstGeom prst="rect">
            <a:avLst/>
          </a:prstGeom>
          <a:noFill/>
        </p:spPr>
        <p:txBody>
          <a:bodyPr wrap="none" rtlCol="0">
            <a:spAutoFit/>
          </a:bodyPr>
          <a:lstStyle/>
          <a:p>
            <a:r>
              <a:rPr lang="en-GB" sz="2400" b="1" dirty="0" smtClean="0"/>
              <a:t>Biological importance of HMP shunt cont……</a:t>
            </a:r>
            <a:endParaRPr lang="en-GB" sz="2400" b="1" dirty="0"/>
          </a:p>
        </p:txBody>
      </p:sp>
      <p:grpSp>
        <p:nvGrpSpPr>
          <p:cNvPr id="8" name="Group 7"/>
          <p:cNvGrpSpPr/>
          <p:nvPr/>
        </p:nvGrpSpPr>
        <p:grpSpPr>
          <a:xfrm>
            <a:off x="142844" y="984577"/>
            <a:ext cx="8858312" cy="3230241"/>
            <a:chOff x="71406" y="571480"/>
            <a:chExt cx="8858312" cy="3230241"/>
          </a:xfrm>
        </p:grpSpPr>
        <p:sp>
          <p:nvSpPr>
            <p:cNvPr id="5" name="TextBox 4"/>
            <p:cNvSpPr txBox="1"/>
            <p:nvPr/>
          </p:nvSpPr>
          <p:spPr>
            <a:xfrm>
              <a:off x="71406" y="571480"/>
              <a:ext cx="8858312" cy="1323439"/>
            </a:xfrm>
            <a:prstGeom prst="rect">
              <a:avLst/>
            </a:prstGeom>
            <a:noFill/>
          </p:spPr>
          <p:txBody>
            <a:bodyPr wrap="square" rtlCol="0">
              <a:spAutoFit/>
            </a:bodyPr>
            <a:lstStyle/>
            <a:p>
              <a:r>
                <a:rPr lang="en-GB" sz="2000" b="1" dirty="0" smtClean="0"/>
                <a:t>3. </a:t>
              </a:r>
              <a:r>
                <a:rPr lang="en-GB" sz="2000" dirty="0" smtClean="0"/>
                <a:t>In </a:t>
              </a:r>
              <a:r>
                <a:rPr lang="en-GB" sz="2000" dirty="0" err="1" smtClean="0"/>
                <a:t>neutrophils</a:t>
              </a:r>
              <a:r>
                <a:rPr lang="en-GB" sz="2000" dirty="0" smtClean="0"/>
                <a:t>, NADPH is required for the formation of </a:t>
              </a:r>
              <a:r>
                <a:rPr lang="en-GB" sz="2000" b="1" dirty="0" err="1" smtClean="0"/>
                <a:t>superoxide</a:t>
              </a:r>
              <a:r>
                <a:rPr lang="en-GB" sz="2000" dirty="0" smtClean="0"/>
                <a:t> by </a:t>
              </a:r>
              <a:r>
                <a:rPr lang="en-GB" sz="2000" b="1" dirty="0" smtClean="0"/>
                <a:t>NADPH </a:t>
              </a:r>
              <a:r>
                <a:rPr lang="en-GB" sz="2000" b="1" dirty="0" err="1" smtClean="0"/>
                <a:t>oxidase</a:t>
              </a:r>
              <a:r>
                <a:rPr lang="en-GB" sz="2000" dirty="0" smtClean="0"/>
                <a:t>. </a:t>
              </a:r>
            </a:p>
            <a:p>
              <a:pPr>
                <a:buFont typeface="Wingdings" pitchFamily="2" charset="2"/>
                <a:buChar char="v"/>
              </a:pPr>
              <a:r>
                <a:rPr lang="en-GB" sz="2000" dirty="0" smtClean="0"/>
                <a:t>Respiratory burst of </a:t>
              </a:r>
              <a:r>
                <a:rPr lang="en-GB" sz="2000" dirty="0" err="1" smtClean="0"/>
                <a:t>neutrophils</a:t>
              </a:r>
              <a:r>
                <a:rPr lang="en-GB" sz="2000" dirty="0" smtClean="0"/>
                <a:t> during </a:t>
              </a:r>
              <a:r>
                <a:rPr lang="en-GB" sz="2000" dirty="0" err="1" smtClean="0"/>
                <a:t>phagocytosis</a:t>
              </a:r>
              <a:r>
                <a:rPr lang="en-GB" sz="2000" dirty="0" smtClean="0"/>
                <a:t> involves </a:t>
              </a:r>
              <a:r>
                <a:rPr lang="en-GB" sz="2000" dirty="0" err="1" smtClean="0"/>
                <a:t>superoxide</a:t>
              </a:r>
              <a:r>
                <a:rPr lang="en-GB" sz="2000" dirty="0" smtClean="0"/>
                <a:t> formation.</a:t>
              </a:r>
              <a:endParaRPr lang="en-GB" sz="2000" dirty="0"/>
            </a:p>
          </p:txBody>
        </p:sp>
        <p:sp>
          <p:nvSpPr>
            <p:cNvPr id="6" name="TextBox 5"/>
            <p:cNvSpPr txBox="1"/>
            <p:nvPr/>
          </p:nvSpPr>
          <p:spPr>
            <a:xfrm>
              <a:off x="142844" y="1935296"/>
              <a:ext cx="8715436" cy="707886"/>
            </a:xfrm>
            <a:prstGeom prst="rect">
              <a:avLst/>
            </a:prstGeom>
            <a:noFill/>
          </p:spPr>
          <p:txBody>
            <a:bodyPr wrap="square" rtlCol="0">
              <a:spAutoFit/>
            </a:bodyPr>
            <a:lstStyle/>
            <a:p>
              <a:r>
                <a:rPr lang="en-GB" sz="2000" b="1" dirty="0" smtClean="0"/>
                <a:t>4. </a:t>
              </a:r>
              <a:r>
                <a:rPr lang="en-GB" sz="2000" dirty="0" smtClean="0"/>
                <a:t>Pentoses produced in this pathway are used for nucleic acid synthesis and nucleotide coenzymes like NAD+, FAD and FMN synthesis</a:t>
              </a:r>
              <a:endParaRPr lang="en-GB" sz="2000" dirty="0"/>
            </a:p>
          </p:txBody>
        </p:sp>
        <p:sp>
          <p:nvSpPr>
            <p:cNvPr id="7" name="TextBox 6"/>
            <p:cNvSpPr txBox="1"/>
            <p:nvPr/>
          </p:nvSpPr>
          <p:spPr>
            <a:xfrm>
              <a:off x="142844" y="2786058"/>
              <a:ext cx="8536914" cy="1015663"/>
            </a:xfrm>
            <a:prstGeom prst="rect">
              <a:avLst/>
            </a:prstGeom>
            <a:noFill/>
          </p:spPr>
          <p:txBody>
            <a:bodyPr wrap="square" rtlCol="0">
              <a:spAutoFit/>
            </a:bodyPr>
            <a:lstStyle/>
            <a:p>
              <a:pPr algn="just"/>
              <a:r>
                <a:rPr lang="en-GB" sz="2000" b="1" dirty="0" smtClean="0"/>
                <a:t>5. </a:t>
              </a:r>
              <a:r>
                <a:rPr lang="en-GB" sz="2000" dirty="0" smtClean="0"/>
                <a:t>Non-oxidative phase of the pathway converts pentoses of endogenous or dietary nucleic acids into intermediates of glycolysis where they are, further oxidized to generate energy.</a:t>
              </a:r>
              <a:endParaRPr lang="en-GB" sz="2000" dirty="0"/>
            </a:p>
          </p:txBody>
        </p:sp>
      </p:gr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405019" y="252691"/>
            <a:ext cx="4715009" cy="461665"/>
          </a:xfrm>
          <a:prstGeom prst="rect">
            <a:avLst/>
          </a:prstGeom>
          <a:noFill/>
        </p:spPr>
        <p:txBody>
          <a:bodyPr wrap="none" rtlCol="0">
            <a:spAutoFit/>
          </a:bodyPr>
          <a:lstStyle/>
          <a:p>
            <a:r>
              <a:rPr lang="en-GB" sz="2400" b="1" dirty="0" smtClean="0"/>
              <a:t>Medical implications of HMP shunt</a:t>
            </a:r>
            <a:endParaRPr lang="en-GB" sz="2400" b="1" dirty="0"/>
          </a:p>
        </p:txBody>
      </p:sp>
      <p:sp>
        <p:nvSpPr>
          <p:cNvPr id="5" name="TextBox 4"/>
          <p:cNvSpPr txBox="1"/>
          <p:nvPr/>
        </p:nvSpPr>
        <p:spPr>
          <a:xfrm>
            <a:off x="285720" y="642918"/>
            <a:ext cx="6579750" cy="461665"/>
          </a:xfrm>
          <a:prstGeom prst="rect">
            <a:avLst/>
          </a:prstGeom>
          <a:noFill/>
        </p:spPr>
        <p:txBody>
          <a:bodyPr wrap="none" rtlCol="0">
            <a:spAutoFit/>
          </a:bodyPr>
          <a:lstStyle/>
          <a:p>
            <a:r>
              <a:rPr lang="en-GB" sz="2400" b="1" dirty="0" smtClean="0"/>
              <a:t>1. Glucose-6-phosphate </a:t>
            </a:r>
            <a:r>
              <a:rPr lang="en-GB" sz="2400" b="1" dirty="0" err="1" smtClean="0"/>
              <a:t>dehydrogenase</a:t>
            </a:r>
            <a:r>
              <a:rPr lang="en-GB" sz="2400" b="1" dirty="0" smtClean="0"/>
              <a:t> deficiency</a:t>
            </a:r>
            <a:endParaRPr lang="en-GB" sz="2400" dirty="0"/>
          </a:p>
        </p:txBody>
      </p:sp>
      <p:sp>
        <p:nvSpPr>
          <p:cNvPr id="6" name="TextBox 5"/>
          <p:cNvSpPr txBox="1"/>
          <p:nvPr/>
        </p:nvSpPr>
        <p:spPr>
          <a:xfrm>
            <a:off x="214282" y="1142984"/>
            <a:ext cx="8715436" cy="5447645"/>
          </a:xfrm>
          <a:prstGeom prst="rect">
            <a:avLst/>
          </a:prstGeom>
          <a:noFill/>
        </p:spPr>
        <p:txBody>
          <a:bodyPr wrap="square" rtlCol="0">
            <a:spAutoFit/>
          </a:bodyPr>
          <a:lstStyle/>
          <a:p>
            <a:pPr algn="just">
              <a:lnSpc>
                <a:spcPct val="90000"/>
              </a:lnSpc>
              <a:buFont typeface="Wingdings" pitchFamily="2" charset="2"/>
              <a:buChar char="v"/>
            </a:pPr>
            <a:r>
              <a:rPr lang="en-US" sz="2400" dirty="0" smtClean="0"/>
              <a:t>G6PD deficiency is an inheritable X-linked recessive disorder.</a:t>
            </a:r>
          </a:p>
          <a:p>
            <a:pPr algn="just">
              <a:lnSpc>
                <a:spcPct val="90000"/>
              </a:lnSpc>
              <a:buFont typeface="Wingdings" pitchFamily="2" charset="2"/>
              <a:buChar char="v"/>
            </a:pPr>
            <a:r>
              <a:rPr lang="en-US" sz="2400" dirty="0" smtClean="0"/>
              <a:t>Approximately 10-14% of the male African American population is affected.</a:t>
            </a:r>
          </a:p>
          <a:p>
            <a:pPr algn="just">
              <a:lnSpc>
                <a:spcPct val="90000"/>
              </a:lnSpc>
              <a:buFont typeface="Wingdings" pitchFamily="2" charset="2"/>
              <a:buChar char="v"/>
            </a:pPr>
            <a:r>
              <a:rPr lang="en-US" sz="2400" dirty="0" err="1" smtClean="0"/>
              <a:t>Individules</a:t>
            </a:r>
            <a:r>
              <a:rPr lang="en-US" sz="2400" dirty="0" smtClean="0"/>
              <a:t> with G6PD deficiency can not produce sufficient </a:t>
            </a:r>
            <a:r>
              <a:rPr lang="en-US" sz="2400" b="1" dirty="0" smtClean="0"/>
              <a:t>GSH</a:t>
            </a:r>
            <a:r>
              <a:rPr lang="en-US" sz="2400" dirty="0" smtClean="0"/>
              <a:t> to cope with the </a:t>
            </a:r>
            <a:r>
              <a:rPr lang="en-US" sz="2400" b="1" dirty="0" smtClean="0"/>
              <a:t>ROS</a:t>
            </a:r>
            <a:r>
              <a:rPr lang="en-US" sz="2400" dirty="0" smtClean="0"/>
              <a:t>.</a:t>
            </a:r>
          </a:p>
          <a:p>
            <a:pPr algn="just">
              <a:buFont typeface="Wingdings" pitchFamily="2" charset="2"/>
              <a:buChar char="v"/>
            </a:pPr>
            <a:r>
              <a:rPr lang="en-US" sz="2400" dirty="0" smtClean="0"/>
              <a:t>People with the disorder are not normally anemic and display no evidence of the disease until the red cells are exposed to an oxidant or stress. </a:t>
            </a:r>
          </a:p>
          <a:p>
            <a:pPr algn="just"/>
            <a:r>
              <a:rPr lang="en-US" sz="2400" b="1" dirty="0" smtClean="0"/>
              <a:t>i.e.</a:t>
            </a:r>
            <a:r>
              <a:rPr lang="en-US" sz="2400" dirty="0" smtClean="0"/>
              <a:t> The ingestion of oxidative agents that generate peroxides or reactive oxygen species (ROS).</a:t>
            </a:r>
          </a:p>
          <a:p>
            <a:pPr lvl="1" algn="just">
              <a:buFont typeface="Wingdings" pitchFamily="2" charset="2"/>
              <a:buChar char="Ø"/>
            </a:pPr>
            <a:r>
              <a:rPr lang="en-US" sz="2400" dirty="0" err="1" smtClean="0"/>
              <a:t>Antimalarials</a:t>
            </a:r>
            <a:r>
              <a:rPr lang="en-US" sz="2400" dirty="0" smtClean="0"/>
              <a:t> - </a:t>
            </a:r>
            <a:r>
              <a:rPr lang="en-US" sz="2400" dirty="0" err="1" smtClean="0"/>
              <a:t>pamaquine</a:t>
            </a:r>
            <a:endParaRPr lang="en-US" sz="2400" dirty="0" smtClean="0"/>
          </a:p>
          <a:p>
            <a:pPr lvl="1" algn="just">
              <a:buFont typeface="Wingdings" pitchFamily="2" charset="2"/>
              <a:buChar char="Ø"/>
            </a:pPr>
            <a:r>
              <a:rPr lang="en-US" sz="2400" dirty="0" err="1" smtClean="0"/>
              <a:t>purine</a:t>
            </a:r>
            <a:r>
              <a:rPr lang="en-US" sz="2400" dirty="0" smtClean="0"/>
              <a:t> glycoside from </a:t>
            </a:r>
            <a:r>
              <a:rPr lang="en-US" sz="2400" dirty="0" err="1" smtClean="0"/>
              <a:t>fava</a:t>
            </a:r>
            <a:r>
              <a:rPr lang="en-US" sz="2400" dirty="0" smtClean="0"/>
              <a:t> beans.</a:t>
            </a:r>
          </a:p>
          <a:p>
            <a:pPr lvl="1" algn="just"/>
            <a:endParaRPr lang="en-US" sz="2400" b="1" dirty="0" smtClean="0"/>
          </a:p>
          <a:p>
            <a:pPr lvl="1" algn="just"/>
            <a:r>
              <a:rPr lang="en-US" sz="2400" b="1" dirty="0" smtClean="0"/>
              <a:t>The condition is often clinically seen as black urine under certain conditions.</a:t>
            </a: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p:cNvSpPr txBox="1">
            <a:spLocks noChangeArrowheads="1"/>
          </p:cNvSpPr>
          <p:nvPr/>
        </p:nvSpPr>
        <p:spPr>
          <a:xfrm>
            <a:off x="657252" y="661990"/>
            <a:ext cx="7772400" cy="4767274"/>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a:r>
            <a:br>
              <a:rPr kumimoji="0" lang="en-US" sz="2400" b="0" i="0" u="none" strike="noStrike" kern="1200" cap="none" spc="0" normalizeH="0" baseline="0" noProof="0" dirty="0" smtClean="0">
                <a:ln>
                  <a:noFill/>
                </a:ln>
                <a:solidFill>
                  <a:schemeClr val="tx1"/>
                </a:solidFill>
                <a:effectLst/>
                <a:uLnTx/>
                <a:uFillTx/>
                <a:latin typeface="+mn-lt"/>
                <a:ea typeface="+mn-ea"/>
                <a:cs typeface="+mn-cs"/>
              </a:rPr>
            </a:br>
            <a:r>
              <a:rPr kumimoji="0" lang="en-US" sz="2400" b="1" i="0" u="none" strike="noStrike" kern="1200" cap="none" spc="0" normalizeH="0" baseline="0" noProof="0" dirty="0" smtClean="0">
                <a:ln>
                  <a:noFill/>
                </a:ln>
                <a:solidFill>
                  <a:schemeClr val="tx1"/>
                </a:solidFill>
                <a:effectLst/>
                <a:uLnTx/>
                <a:uFillTx/>
                <a:latin typeface="+mn-lt"/>
                <a:ea typeface="+mn-ea"/>
                <a:cs typeface="+mn-cs"/>
              </a:rPr>
              <a:t>Drugs that can precipitate this reaction:</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err="1" smtClean="0">
                <a:ln>
                  <a:noFill/>
                </a:ln>
                <a:solidFill>
                  <a:schemeClr val="tx1"/>
                </a:solidFill>
                <a:effectLst/>
                <a:uLnTx/>
                <a:uFillTx/>
                <a:latin typeface="+mn-lt"/>
                <a:ea typeface="+mn-ea"/>
                <a:cs typeface="+mn-cs"/>
              </a:rPr>
              <a:t>antimalarial</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agents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sulfonamides (antibiotic)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aspirin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err="1" smtClean="0">
                <a:ln>
                  <a:noFill/>
                </a:ln>
                <a:solidFill>
                  <a:schemeClr val="tx1"/>
                </a:solidFill>
                <a:effectLst/>
                <a:uLnTx/>
                <a:uFillTx/>
                <a:latin typeface="+mn-lt"/>
                <a:ea typeface="+mn-ea"/>
                <a:cs typeface="+mn-cs"/>
              </a:rPr>
              <a:t>nonsteroidal</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400" b="0" i="0" u="none" strike="noStrike" kern="1200" cap="none" spc="0" normalizeH="0" baseline="0" noProof="0" dirty="0" err="1" smtClean="0">
                <a:ln>
                  <a:noFill/>
                </a:ln>
                <a:solidFill>
                  <a:schemeClr val="tx1"/>
                </a:solidFill>
                <a:effectLst/>
                <a:uLnTx/>
                <a:uFillTx/>
                <a:latin typeface="+mn-lt"/>
                <a:ea typeface="+mn-ea"/>
                <a:cs typeface="+mn-cs"/>
              </a:rPr>
              <a:t>antiinflammatory</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drugs (NSAIDs)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err="1" smtClean="0">
                <a:ln>
                  <a:noFill/>
                </a:ln>
                <a:solidFill>
                  <a:schemeClr val="tx1"/>
                </a:solidFill>
                <a:effectLst/>
                <a:uLnTx/>
                <a:uFillTx/>
                <a:latin typeface="+mn-lt"/>
                <a:ea typeface="+mn-ea"/>
                <a:cs typeface="+mn-cs"/>
              </a:rPr>
              <a:t>nitrofurantoin</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err="1" smtClean="0">
                <a:ln>
                  <a:noFill/>
                </a:ln>
                <a:solidFill>
                  <a:schemeClr val="tx1"/>
                </a:solidFill>
                <a:effectLst/>
                <a:uLnTx/>
                <a:uFillTx/>
                <a:latin typeface="+mn-lt"/>
                <a:ea typeface="+mn-ea"/>
                <a:cs typeface="+mn-cs"/>
              </a:rPr>
              <a:t>quinidine</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quinine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exposure to certain chemicals - mothballs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405019" y="395567"/>
            <a:ext cx="5521768" cy="461665"/>
          </a:xfrm>
          <a:prstGeom prst="rect">
            <a:avLst/>
          </a:prstGeom>
          <a:noFill/>
        </p:spPr>
        <p:txBody>
          <a:bodyPr wrap="none" rtlCol="0">
            <a:spAutoFit/>
          </a:bodyPr>
          <a:lstStyle/>
          <a:p>
            <a:r>
              <a:rPr lang="en-GB" sz="2400" b="1" dirty="0" smtClean="0"/>
              <a:t>Medical implications of HMP shunt cont…</a:t>
            </a:r>
            <a:endParaRPr lang="en-GB" sz="2400" b="1" dirty="0"/>
          </a:p>
        </p:txBody>
      </p:sp>
      <p:sp>
        <p:nvSpPr>
          <p:cNvPr id="5" name="TextBox 4"/>
          <p:cNvSpPr txBox="1"/>
          <p:nvPr/>
        </p:nvSpPr>
        <p:spPr>
          <a:xfrm>
            <a:off x="214282" y="1109947"/>
            <a:ext cx="5050422" cy="461665"/>
          </a:xfrm>
          <a:prstGeom prst="rect">
            <a:avLst/>
          </a:prstGeom>
          <a:noFill/>
        </p:spPr>
        <p:txBody>
          <a:bodyPr wrap="none" rtlCol="0">
            <a:spAutoFit/>
          </a:bodyPr>
          <a:lstStyle/>
          <a:p>
            <a:r>
              <a:rPr lang="en-GB" b="1" dirty="0" smtClean="0"/>
              <a:t>2</a:t>
            </a:r>
            <a:r>
              <a:rPr lang="en-GB" sz="2400" b="1" dirty="0" smtClean="0"/>
              <a:t>. </a:t>
            </a:r>
            <a:r>
              <a:rPr lang="en-GB" sz="2400" b="1" dirty="0" err="1" smtClean="0"/>
              <a:t>Wernicke-korsakoff</a:t>
            </a:r>
            <a:r>
              <a:rPr lang="en-GB" sz="2400" b="1" dirty="0" smtClean="0"/>
              <a:t> encephalopathy</a:t>
            </a:r>
            <a:endParaRPr lang="en-GB" sz="2400" dirty="0"/>
          </a:p>
        </p:txBody>
      </p:sp>
      <p:sp>
        <p:nvSpPr>
          <p:cNvPr id="6" name="TextBox 5"/>
          <p:cNvSpPr txBox="1"/>
          <p:nvPr/>
        </p:nvSpPr>
        <p:spPr>
          <a:xfrm>
            <a:off x="200635" y="1894352"/>
            <a:ext cx="8729083" cy="2677656"/>
          </a:xfrm>
          <a:prstGeom prst="rect">
            <a:avLst/>
          </a:prstGeom>
          <a:noFill/>
        </p:spPr>
        <p:txBody>
          <a:bodyPr wrap="square" rtlCol="0">
            <a:spAutoFit/>
          </a:bodyPr>
          <a:lstStyle/>
          <a:p>
            <a:pPr>
              <a:buFont typeface="Wingdings" pitchFamily="2" charset="2"/>
              <a:buChar char="v"/>
            </a:pPr>
            <a:r>
              <a:rPr lang="en-GB" sz="2400" dirty="0" smtClean="0"/>
              <a:t>It is due to defective </a:t>
            </a:r>
            <a:r>
              <a:rPr lang="en-GB" sz="2400" dirty="0" err="1" smtClean="0"/>
              <a:t>trasketolase</a:t>
            </a:r>
            <a:r>
              <a:rPr lang="en-GB" sz="2400" dirty="0" smtClean="0"/>
              <a:t> genes. </a:t>
            </a:r>
          </a:p>
          <a:p>
            <a:pPr>
              <a:buFont typeface="Wingdings" pitchFamily="2" charset="2"/>
              <a:buChar char="v"/>
            </a:pPr>
            <a:r>
              <a:rPr lang="en-GB" sz="2400" dirty="0" err="1" smtClean="0"/>
              <a:t>Transketolase</a:t>
            </a:r>
            <a:r>
              <a:rPr lang="en-GB" sz="2400" dirty="0" smtClean="0"/>
              <a:t> of affected individuals has lower affinity for TPP. </a:t>
            </a:r>
          </a:p>
          <a:p>
            <a:pPr>
              <a:buFont typeface="Wingdings" pitchFamily="2" charset="2"/>
              <a:buChar char="v"/>
            </a:pPr>
            <a:r>
              <a:rPr lang="en-GB" sz="2400" dirty="0" smtClean="0"/>
              <a:t>The characteristic symptoms are abnormal walking and standing, memory loss and partial paralysis. </a:t>
            </a:r>
          </a:p>
          <a:p>
            <a:pPr>
              <a:buFont typeface="Wingdings" pitchFamily="2" charset="2"/>
              <a:buChar char="v"/>
            </a:pPr>
            <a:r>
              <a:rPr lang="en-GB" sz="2400" dirty="0" smtClean="0"/>
              <a:t>The disease manifests only when there is thiamine deficiency.</a:t>
            </a:r>
          </a:p>
          <a:p>
            <a:pPr>
              <a:buFont typeface="Wingdings" pitchFamily="2" charset="2"/>
              <a:buChar char="v"/>
            </a:pPr>
            <a:r>
              <a:rPr lang="en-GB" sz="2400" dirty="0" smtClean="0"/>
              <a:t>The syndrome is more common among alcoholics than in the general population.</a:t>
            </a:r>
            <a:endParaRPr lang="en-GB" sz="2400" dirty="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8130" name="Picture 2"/>
          <p:cNvPicPr>
            <a:picLocks noChangeAspect="1" noChangeArrowheads="1"/>
          </p:cNvPicPr>
          <p:nvPr/>
        </p:nvPicPr>
        <p:blipFill>
          <a:blip r:embed="rId2">
            <a:lum bright="-20000" contrast="40000"/>
          </a:blip>
          <a:srcRect/>
          <a:stretch>
            <a:fillRect/>
          </a:stretch>
        </p:blipFill>
        <p:spPr bwMode="auto">
          <a:xfrm>
            <a:off x="1714480" y="928670"/>
            <a:ext cx="5715039" cy="5500726"/>
          </a:xfrm>
          <a:prstGeom prst="rect">
            <a:avLst/>
          </a:prstGeom>
          <a:noFill/>
          <a:ln w="9525">
            <a:noFill/>
            <a:miter lim="800000"/>
            <a:headEnd/>
            <a:tailEnd/>
          </a:ln>
          <a:effectLst/>
        </p:spPr>
      </p:pic>
      <p:sp>
        <p:nvSpPr>
          <p:cNvPr id="5" name="TextBox 4"/>
          <p:cNvSpPr txBox="1"/>
          <p:nvPr/>
        </p:nvSpPr>
        <p:spPr>
          <a:xfrm>
            <a:off x="1142976" y="214290"/>
            <a:ext cx="6871881" cy="523220"/>
          </a:xfrm>
          <a:prstGeom prst="rect">
            <a:avLst/>
          </a:prstGeom>
          <a:noFill/>
        </p:spPr>
        <p:txBody>
          <a:bodyPr wrap="none" rtlCol="0">
            <a:spAutoFit/>
          </a:bodyPr>
          <a:lstStyle/>
          <a:p>
            <a:r>
              <a:rPr lang="en-GB" sz="2800" b="1" dirty="0" smtClean="0"/>
              <a:t>Summary of the Pentose Phosphate Pathway</a:t>
            </a:r>
            <a:endParaRPr lang="en-GB" sz="2800" b="1" dirty="0"/>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5300" name="Picture 4"/>
          <p:cNvPicPr>
            <a:picLocks noChangeAspect="1" noChangeArrowheads="1"/>
          </p:cNvPicPr>
          <p:nvPr/>
        </p:nvPicPr>
        <p:blipFill>
          <a:blip r:embed="rId2">
            <a:lum bright="-20000" contrast="40000"/>
          </a:blip>
          <a:srcRect/>
          <a:stretch>
            <a:fillRect/>
          </a:stretch>
        </p:blipFill>
        <p:spPr bwMode="auto">
          <a:xfrm>
            <a:off x="5000628" y="71414"/>
            <a:ext cx="4000528" cy="6705620"/>
          </a:xfrm>
          <a:prstGeom prst="rect">
            <a:avLst/>
          </a:prstGeom>
          <a:noFill/>
          <a:ln w="9525">
            <a:noFill/>
            <a:miter lim="800000"/>
            <a:headEnd/>
            <a:tailEnd/>
          </a:ln>
          <a:effectLst/>
        </p:spPr>
      </p:pic>
      <p:sp>
        <p:nvSpPr>
          <p:cNvPr id="7" name="Title 1"/>
          <p:cNvSpPr>
            <a:spLocks noGrp="1"/>
          </p:cNvSpPr>
          <p:nvPr>
            <p:ph type="title"/>
          </p:nvPr>
        </p:nvSpPr>
        <p:spPr>
          <a:xfrm>
            <a:off x="-185742" y="-24"/>
            <a:ext cx="5257808" cy="857248"/>
          </a:xfrm>
        </p:spPr>
        <p:txBody>
          <a:bodyPr/>
          <a:lstStyle/>
          <a:p>
            <a:r>
              <a:rPr lang="en-GB" dirty="0" smtClean="0"/>
              <a:t>The Citric Acid  Cycle</a:t>
            </a:r>
            <a:endParaRPr lang="en-GB" dirty="0"/>
          </a:p>
        </p:txBody>
      </p:sp>
      <p:sp>
        <p:nvSpPr>
          <p:cNvPr id="8" name="TextBox 7"/>
          <p:cNvSpPr txBox="1"/>
          <p:nvPr/>
        </p:nvSpPr>
        <p:spPr>
          <a:xfrm>
            <a:off x="94872" y="730733"/>
            <a:ext cx="2762616" cy="769441"/>
          </a:xfrm>
          <a:prstGeom prst="rect">
            <a:avLst/>
          </a:prstGeom>
          <a:noFill/>
        </p:spPr>
        <p:txBody>
          <a:bodyPr wrap="none" rtlCol="0">
            <a:spAutoFit/>
          </a:bodyPr>
          <a:lstStyle/>
          <a:p>
            <a:r>
              <a:rPr lang="en-GB" sz="2400" b="1" dirty="0" smtClean="0"/>
              <a:t>Cellular Respiration:</a:t>
            </a:r>
          </a:p>
          <a:p>
            <a:r>
              <a:rPr lang="en-GB" sz="2000" b="1" dirty="0" smtClean="0"/>
              <a:t>Occurs in three stages;</a:t>
            </a:r>
            <a:endParaRPr lang="en-GB" sz="2000" b="1" dirty="0"/>
          </a:p>
        </p:txBody>
      </p:sp>
      <p:sp>
        <p:nvSpPr>
          <p:cNvPr id="9" name="TextBox 8"/>
          <p:cNvSpPr txBox="1"/>
          <p:nvPr/>
        </p:nvSpPr>
        <p:spPr>
          <a:xfrm>
            <a:off x="142844" y="1500174"/>
            <a:ext cx="4500594" cy="1477328"/>
          </a:xfrm>
          <a:prstGeom prst="rect">
            <a:avLst/>
          </a:prstGeom>
          <a:noFill/>
        </p:spPr>
        <p:txBody>
          <a:bodyPr wrap="square" rtlCol="0">
            <a:spAutoFit/>
          </a:bodyPr>
          <a:lstStyle/>
          <a:p>
            <a:pPr algn="just"/>
            <a:r>
              <a:rPr lang="en-GB" b="1" dirty="0" smtClean="0"/>
              <a:t>1. </a:t>
            </a:r>
            <a:r>
              <a:rPr lang="en-GB" dirty="0" smtClean="0"/>
              <a:t>Oxidation of organic fuel molecules—glucose, fatty acids, and some amino acids—</a:t>
            </a:r>
          </a:p>
          <a:p>
            <a:pPr algn="just"/>
            <a:r>
              <a:rPr lang="en-GB" dirty="0" smtClean="0"/>
              <a:t>to yield two-carbon fragments in the form of the acetyl group of acetyl-coenzyme A (</a:t>
            </a:r>
            <a:r>
              <a:rPr lang="en-GB" b="1" dirty="0" smtClean="0"/>
              <a:t>acetyl-</a:t>
            </a:r>
            <a:r>
              <a:rPr lang="en-GB" b="1" dirty="0" err="1" smtClean="0"/>
              <a:t>CoA</a:t>
            </a:r>
            <a:r>
              <a:rPr lang="en-GB" dirty="0" smtClean="0"/>
              <a:t>).</a:t>
            </a:r>
            <a:endParaRPr lang="en-GB" dirty="0"/>
          </a:p>
        </p:txBody>
      </p:sp>
      <p:sp>
        <p:nvSpPr>
          <p:cNvPr id="10" name="TextBox 9"/>
          <p:cNvSpPr txBox="1"/>
          <p:nvPr/>
        </p:nvSpPr>
        <p:spPr>
          <a:xfrm>
            <a:off x="71406" y="2928934"/>
            <a:ext cx="4857784" cy="1200329"/>
          </a:xfrm>
          <a:prstGeom prst="rect">
            <a:avLst/>
          </a:prstGeom>
          <a:noFill/>
        </p:spPr>
        <p:txBody>
          <a:bodyPr wrap="square" rtlCol="0">
            <a:spAutoFit/>
          </a:bodyPr>
          <a:lstStyle/>
          <a:p>
            <a:pPr algn="just"/>
            <a:r>
              <a:rPr lang="en-GB" b="1" dirty="0" smtClean="0"/>
              <a:t>2. </a:t>
            </a:r>
            <a:r>
              <a:rPr lang="en-GB" dirty="0" smtClean="0"/>
              <a:t>The acetyl groups are fed into the citric acid</a:t>
            </a:r>
          </a:p>
          <a:p>
            <a:pPr algn="just"/>
            <a:r>
              <a:rPr lang="en-GB" dirty="0" smtClean="0"/>
              <a:t>cycle, which </a:t>
            </a:r>
            <a:r>
              <a:rPr lang="en-GB" dirty="0" err="1" smtClean="0"/>
              <a:t>enzymatically</a:t>
            </a:r>
            <a:r>
              <a:rPr lang="en-GB" dirty="0" smtClean="0"/>
              <a:t> oxidizes them to CO</a:t>
            </a:r>
            <a:r>
              <a:rPr lang="en-GB" baseline="-25000" dirty="0" smtClean="0"/>
              <a:t>2</a:t>
            </a:r>
            <a:r>
              <a:rPr lang="en-GB" dirty="0" smtClean="0"/>
              <a:t>;  conserving energy in form of reduced electron</a:t>
            </a:r>
          </a:p>
          <a:p>
            <a:pPr algn="just"/>
            <a:r>
              <a:rPr lang="en-GB" dirty="0" smtClean="0"/>
              <a:t>carriers </a:t>
            </a:r>
            <a:r>
              <a:rPr lang="en-GB" b="1" dirty="0" smtClean="0"/>
              <a:t>NADH</a:t>
            </a:r>
            <a:r>
              <a:rPr lang="en-GB" dirty="0" smtClean="0"/>
              <a:t> and </a:t>
            </a:r>
            <a:r>
              <a:rPr lang="en-GB" b="1" dirty="0" smtClean="0"/>
              <a:t>FADH</a:t>
            </a:r>
            <a:r>
              <a:rPr lang="en-GB" b="1" baseline="-25000" dirty="0" smtClean="0"/>
              <a:t>2</a:t>
            </a:r>
            <a:r>
              <a:rPr lang="en-GB" dirty="0" smtClean="0"/>
              <a:t>.</a:t>
            </a:r>
            <a:endParaRPr lang="en-GB" dirty="0"/>
          </a:p>
        </p:txBody>
      </p:sp>
      <p:sp>
        <p:nvSpPr>
          <p:cNvPr id="11" name="TextBox 10"/>
          <p:cNvSpPr txBox="1"/>
          <p:nvPr/>
        </p:nvSpPr>
        <p:spPr>
          <a:xfrm>
            <a:off x="71438" y="4286256"/>
            <a:ext cx="4929190" cy="1477328"/>
          </a:xfrm>
          <a:prstGeom prst="rect">
            <a:avLst/>
          </a:prstGeom>
          <a:noFill/>
        </p:spPr>
        <p:txBody>
          <a:bodyPr wrap="square" rtlCol="0">
            <a:spAutoFit/>
          </a:bodyPr>
          <a:lstStyle/>
          <a:p>
            <a:pPr algn="just"/>
            <a:r>
              <a:rPr lang="en-GB" b="1" dirty="0" smtClean="0"/>
              <a:t>3.</a:t>
            </a:r>
            <a:r>
              <a:rPr lang="en-GB" dirty="0" smtClean="0"/>
              <a:t> Oxidation of </a:t>
            </a:r>
            <a:r>
              <a:rPr lang="en-GB" b="1" dirty="0" smtClean="0"/>
              <a:t>NADH</a:t>
            </a:r>
            <a:r>
              <a:rPr lang="en-GB" dirty="0" smtClean="0"/>
              <a:t> and </a:t>
            </a:r>
            <a:r>
              <a:rPr lang="en-GB" b="1" dirty="0" smtClean="0"/>
              <a:t>FADH</a:t>
            </a:r>
            <a:r>
              <a:rPr lang="en-GB" b="1" baseline="-25000" dirty="0" smtClean="0"/>
              <a:t>2</a:t>
            </a:r>
            <a:r>
              <a:rPr lang="en-GB" dirty="0" smtClean="0"/>
              <a:t> and transfer of</a:t>
            </a:r>
          </a:p>
          <a:p>
            <a:pPr algn="just"/>
            <a:r>
              <a:rPr lang="en-GB" dirty="0" smtClean="0"/>
              <a:t>electrons to </a:t>
            </a:r>
            <a:r>
              <a:rPr lang="en-GB" b="1" dirty="0" smtClean="0"/>
              <a:t>O</a:t>
            </a:r>
            <a:r>
              <a:rPr lang="en-GB" b="1" baseline="-25000" dirty="0" smtClean="0"/>
              <a:t>2</a:t>
            </a:r>
            <a:r>
              <a:rPr lang="en-GB" dirty="0" smtClean="0"/>
              <a:t>—the final electron acceptor—via a chain of electron-carrying molecules known as the </a:t>
            </a:r>
            <a:r>
              <a:rPr lang="en-GB" b="1" dirty="0" smtClean="0"/>
              <a:t>respiratory chain</a:t>
            </a:r>
            <a:r>
              <a:rPr lang="en-GB" dirty="0" smtClean="0"/>
              <a:t>; Energy is conserved in the form of ATP (</a:t>
            </a:r>
            <a:r>
              <a:rPr lang="en-GB" b="1" dirty="0" smtClean="0"/>
              <a:t>oxidative </a:t>
            </a:r>
            <a:r>
              <a:rPr lang="en-GB" b="1" dirty="0" err="1" smtClean="0"/>
              <a:t>phosphorylation</a:t>
            </a:r>
            <a:r>
              <a:rPr lang="en-GB" dirty="0" smtClean="0"/>
              <a:t>)</a:t>
            </a:r>
            <a:endParaRPr lang="en-GB" dirty="0"/>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16633"/>
            <a:ext cx="8424936" cy="864095"/>
          </a:xfrm>
        </p:spPr>
        <p:txBody>
          <a:bodyPr>
            <a:normAutofit fontScale="90000"/>
          </a:bodyPr>
          <a:lstStyle/>
          <a:p>
            <a:r>
              <a:rPr lang="en-US" b="1" dirty="0" smtClean="0">
                <a:solidFill>
                  <a:srgbClr val="FF0000"/>
                </a:solidFill>
              </a:rPr>
              <a:t/>
            </a:r>
            <a:br>
              <a:rPr lang="en-US" b="1" dirty="0" smtClean="0">
                <a:solidFill>
                  <a:srgbClr val="FF0000"/>
                </a:solidFill>
              </a:rPr>
            </a:br>
            <a:r>
              <a:rPr lang="en-US" b="1" dirty="0" smtClean="0">
                <a:solidFill>
                  <a:srgbClr val="FF0000"/>
                </a:solidFill>
              </a:rPr>
              <a:t>Enzymatic </a:t>
            </a:r>
            <a:r>
              <a:rPr lang="en-US" b="1" dirty="0">
                <a:solidFill>
                  <a:srgbClr val="FF0000"/>
                </a:solidFill>
              </a:rPr>
              <a:t>conversion of Pyruvate to acetyl CoA</a:t>
            </a:r>
            <a:r>
              <a:rPr lang="en-GB" b="1" i="1" dirty="0">
                <a:solidFill>
                  <a:srgbClr val="FF0000"/>
                </a:solidFill>
              </a:rPr>
              <a:t/>
            </a:r>
            <a:br>
              <a:rPr lang="en-GB" b="1" i="1" dirty="0">
                <a:solidFill>
                  <a:srgbClr val="FF0000"/>
                </a:solidFill>
              </a:rPr>
            </a:br>
            <a:endParaRPr lang="en-GB" dirty="0"/>
          </a:p>
        </p:txBody>
      </p:sp>
      <p:sp>
        <p:nvSpPr>
          <p:cNvPr id="3" name="Content Placeholder 2"/>
          <p:cNvSpPr>
            <a:spLocks noGrp="1"/>
          </p:cNvSpPr>
          <p:nvPr>
            <p:ph idx="1"/>
          </p:nvPr>
        </p:nvSpPr>
        <p:spPr>
          <a:xfrm>
            <a:off x="179512" y="1052736"/>
            <a:ext cx="8784976" cy="5805264"/>
          </a:xfrm>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The fate of pyruvate produced during glycolysis and oxidation of other biofuels depends on the amount of energy in the tissues.</a:t>
            </a:r>
          </a:p>
          <a:p>
            <a:pPr algn="just"/>
            <a:r>
              <a:rPr lang="en-US" dirty="0">
                <a:latin typeface="Times New Roman" panose="02020603050405020304" pitchFamily="18" charset="0"/>
                <a:cs typeface="Times New Roman" panose="02020603050405020304" pitchFamily="18" charset="0"/>
              </a:rPr>
              <a:t> If tissues have adequate energy pyruvate is oxidized through </a:t>
            </a:r>
            <a:r>
              <a:rPr lang="en-US" dirty="0" err="1">
                <a:latin typeface="Times New Roman" panose="02020603050405020304" pitchFamily="18" charset="0"/>
                <a:cs typeface="Times New Roman" panose="02020603050405020304" pitchFamily="18" charset="0"/>
              </a:rPr>
              <a:t>gluconeonegenesis</a:t>
            </a:r>
            <a:r>
              <a:rPr lang="en-US" dirty="0">
                <a:latin typeface="Times New Roman" panose="02020603050405020304" pitchFamily="18" charset="0"/>
                <a:cs typeface="Times New Roman" panose="02020603050405020304" pitchFamily="18" charset="0"/>
              </a:rPr>
              <a:t> to generate glucose which can be converted glycogen for storage.</a:t>
            </a:r>
          </a:p>
          <a:p>
            <a:pPr algn="just"/>
            <a:r>
              <a:rPr lang="en-US" dirty="0">
                <a:latin typeface="Times New Roman" panose="02020603050405020304" pitchFamily="18" charset="0"/>
                <a:cs typeface="Times New Roman" panose="02020603050405020304" pitchFamily="18" charset="0"/>
              </a:rPr>
              <a:t> However, when the energy is low pyruvate is preferentially oxidized to CO</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and H</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O in the TCA cycle, with generation of 15 molecules ATP per pyruvate. </a:t>
            </a:r>
            <a:endParaRPr lang="en-GB"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enzymatic activities of the TCA cycle (and of oxidative phosphorylation) are located in the mitochondrion. </a:t>
            </a:r>
          </a:p>
          <a:p>
            <a:pPr algn="just"/>
            <a:r>
              <a:rPr lang="en-US" dirty="0">
                <a:latin typeface="Times New Roman" panose="02020603050405020304" pitchFamily="18" charset="0"/>
                <a:cs typeface="Times New Roman" panose="02020603050405020304" pitchFamily="18" charset="0"/>
              </a:rPr>
              <a:t>When transported into the mitochondrion, pyruvate encounters two principal metabolizing enzymes: pyruvate carboxylase (a </a:t>
            </a:r>
            <a:r>
              <a:rPr lang="en-US" dirty="0" err="1">
                <a:latin typeface="Times New Roman" panose="02020603050405020304" pitchFamily="18" charset="0"/>
                <a:cs typeface="Times New Roman" panose="02020603050405020304" pitchFamily="18" charset="0"/>
              </a:rPr>
              <a:t>gluconeogenic</a:t>
            </a:r>
            <a:r>
              <a:rPr lang="en-US" dirty="0">
                <a:latin typeface="Times New Roman" panose="02020603050405020304" pitchFamily="18" charset="0"/>
                <a:cs typeface="Times New Roman" panose="02020603050405020304" pitchFamily="18" charset="0"/>
              </a:rPr>
              <a:t> enzyme) and pyruvate dehydrogenase (PDH), the first enzyme of the PDH complex.</a:t>
            </a:r>
          </a:p>
          <a:p>
            <a:pPr algn="just"/>
            <a:r>
              <a:rPr lang="en-US" dirty="0">
                <a:latin typeface="Times New Roman" panose="02020603050405020304" pitchFamily="18" charset="0"/>
                <a:cs typeface="Times New Roman" panose="02020603050405020304" pitchFamily="18" charset="0"/>
              </a:rPr>
              <a:t> The activities of these two enzymes depend on the acylation state </a:t>
            </a:r>
            <a:r>
              <a:rPr lang="en-US" dirty="0" err="1">
                <a:latin typeface="Times New Roman" panose="02020603050405020304" pitchFamily="18" charset="0"/>
                <a:cs typeface="Times New Roman" panose="02020603050405020304" pitchFamily="18" charset="0"/>
              </a:rPr>
              <a:t>state</a:t>
            </a:r>
            <a:r>
              <a:rPr lang="en-US" dirty="0">
                <a:latin typeface="Times New Roman" panose="02020603050405020304" pitchFamily="18" charset="0"/>
                <a:cs typeface="Times New Roman" panose="02020603050405020304" pitchFamily="18" charset="0"/>
              </a:rPr>
              <a:t> of Coenzyme A (CoA). </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9068129"/>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531440"/>
            <a:ext cx="9144000" cy="1457326"/>
          </a:xfrm>
        </p:spPr>
        <p:txBody>
          <a:bodyPr/>
          <a:lstStyle/>
          <a:p>
            <a:r>
              <a:rPr lang="en-GB" dirty="0" smtClean="0">
                <a:solidFill>
                  <a:srgbClr val="FF0000"/>
                </a:solidFill>
              </a:rPr>
              <a:t>CONT</a:t>
            </a:r>
            <a:r>
              <a:rPr lang="en-GB" dirty="0" smtClean="0"/>
              <a:t>’</a:t>
            </a:r>
            <a:endParaRPr lang="en-GB" dirty="0"/>
          </a:p>
        </p:txBody>
      </p:sp>
      <p:sp>
        <p:nvSpPr>
          <p:cNvPr id="3" name="Content Placeholder 2"/>
          <p:cNvSpPr>
            <a:spLocks noGrp="1"/>
          </p:cNvSpPr>
          <p:nvPr>
            <p:ph idx="1"/>
          </p:nvPr>
        </p:nvSpPr>
        <p:spPr>
          <a:xfrm>
            <a:off x="0" y="764704"/>
            <a:ext cx="9043988" cy="5236046"/>
          </a:xfrm>
        </p:spPr>
        <p:txBody>
          <a:bodyPr/>
          <a:lstStyle/>
          <a:p>
            <a:pPr algn="just"/>
            <a:r>
              <a:rPr lang="en-US" sz="2100" dirty="0">
                <a:latin typeface="Times New Roman" panose="02020603050405020304" pitchFamily="18" charset="0"/>
                <a:cs typeface="Times New Roman" panose="02020603050405020304" pitchFamily="18" charset="0"/>
              </a:rPr>
              <a:t>In the presence of CoA, NAD, FAD and TPP pyruvate is converted to acetyl CoA with release CO</a:t>
            </a:r>
            <a:r>
              <a:rPr lang="en-US" sz="2100" baseline="-25000" dirty="0">
                <a:latin typeface="Times New Roman" panose="02020603050405020304" pitchFamily="18" charset="0"/>
                <a:cs typeface="Times New Roman" panose="02020603050405020304" pitchFamily="18" charset="0"/>
              </a:rPr>
              <a:t>2</a:t>
            </a:r>
            <a:r>
              <a:rPr lang="en-US" sz="2100" dirty="0">
                <a:latin typeface="Times New Roman" panose="02020603050405020304" pitchFamily="18" charset="0"/>
                <a:cs typeface="Times New Roman" panose="02020603050405020304" pitchFamily="18" charset="0"/>
              </a:rPr>
              <a:t>.</a:t>
            </a:r>
          </a:p>
          <a:p>
            <a:pPr algn="just"/>
            <a:r>
              <a:rPr lang="en-US" sz="2100" dirty="0">
                <a:latin typeface="Times New Roman" panose="02020603050405020304" pitchFamily="18" charset="0"/>
                <a:cs typeface="Times New Roman" panose="02020603050405020304" pitchFamily="18" charset="0"/>
              </a:rPr>
              <a:t> The acetyl CoA formed enters the TCA cycle as a substrate for energy generation.</a:t>
            </a:r>
          </a:p>
          <a:p>
            <a:pPr algn="just"/>
            <a:r>
              <a:rPr lang="en-US" sz="2100" dirty="0"/>
              <a:t>This reaction is illustrated in the reaction here below. </a:t>
            </a:r>
          </a:p>
          <a:p>
            <a:pPr algn="just"/>
            <a:endParaRPr lang="en-GB" sz="2100" dirty="0">
              <a:latin typeface="Times New Roman" panose="02020603050405020304" pitchFamily="18" charset="0"/>
              <a:cs typeface="Times New Roman" panose="02020603050405020304" pitchFamily="18" charset="0"/>
            </a:endParaRPr>
          </a:p>
          <a:p>
            <a:endParaRPr lang="en-GB" dirty="0"/>
          </a:p>
          <a:p>
            <a:endParaRPr lang="en-GB" dirty="0"/>
          </a:p>
        </p:txBody>
      </p:sp>
      <p:pic>
        <p:nvPicPr>
          <p:cNvPr id="6" name="Picture 5"/>
          <p:cNvPicPr>
            <a:picLocks noChangeAspect="1"/>
          </p:cNvPicPr>
          <p:nvPr/>
        </p:nvPicPr>
        <p:blipFill>
          <a:blip r:embed="rId2"/>
          <a:stretch>
            <a:fillRect/>
          </a:stretch>
        </p:blipFill>
        <p:spPr>
          <a:xfrm>
            <a:off x="899592" y="2943589"/>
            <a:ext cx="6911579" cy="3057161"/>
          </a:xfrm>
          <a:prstGeom prst="rect">
            <a:avLst/>
          </a:prstGeom>
        </p:spPr>
      </p:pic>
    </p:spTree>
    <p:extLst>
      <p:ext uri="{BB962C8B-B14F-4D97-AF65-F5344CB8AC3E}">
        <p14:creationId xmlns:p14="http://schemas.microsoft.com/office/powerpoint/2010/main" val="853033139"/>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52"/>
            <a:ext cx="7972452" cy="857256"/>
          </a:xfrm>
        </p:spPr>
        <p:txBody>
          <a:bodyPr/>
          <a:lstStyle/>
          <a:p>
            <a:r>
              <a:rPr lang="en-GB" dirty="0" smtClean="0"/>
              <a:t> Citric Acid  Cycle</a:t>
            </a:r>
            <a:endParaRPr lang="en-GB" dirty="0"/>
          </a:p>
        </p:txBody>
      </p:sp>
      <p:sp>
        <p:nvSpPr>
          <p:cNvPr id="4" name="Rectangle 4"/>
          <p:cNvSpPr>
            <a:spLocks noChangeArrowheads="1"/>
          </p:cNvSpPr>
          <p:nvPr/>
        </p:nvSpPr>
        <p:spPr bwMode="auto">
          <a:xfrm>
            <a:off x="142844" y="1207814"/>
            <a:ext cx="3571900" cy="1649682"/>
          </a:xfrm>
          <a:prstGeom prst="rect">
            <a:avLst/>
          </a:prstGeom>
          <a:noFill/>
          <a:ln w="9525">
            <a:noFill/>
            <a:miter lim="800000"/>
            <a:headEnd/>
            <a:tailEnd/>
          </a:ln>
        </p:spPr>
        <p:txBody>
          <a:bodyPr wrap="square">
            <a:spAutoFit/>
          </a:bodyPr>
          <a:lstStyle/>
          <a:p>
            <a:r>
              <a:rPr lang="en-US" altLang="en-US" sz="2400" b="1" dirty="0">
                <a:solidFill>
                  <a:srgbClr val="660033"/>
                </a:solidFill>
                <a:latin typeface="Comic Sans MS" pitchFamily="66" charset="0"/>
              </a:rPr>
              <a:t>Names:</a:t>
            </a:r>
          </a:p>
          <a:p>
            <a:pPr>
              <a:lnSpc>
                <a:spcPct val="30000"/>
              </a:lnSpc>
            </a:pPr>
            <a:endParaRPr lang="en-US" altLang="en-US" sz="2400" b="1" dirty="0">
              <a:solidFill>
                <a:srgbClr val="660033"/>
              </a:solidFill>
              <a:latin typeface="Comic Sans MS" pitchFamily="66" charset="0"/>
            </a:endParaRPr>
          </a:p>
          <a:p>
            <a:pPr>
              <a:buFont typeface="Wingdings" pitchFamily="2" charset="2"/>
              <a:buChar char="v"/>
            </a:pPr>
            <a:r>
              <a:rPr lang="en-US" altLang="en-US" sz="2000" b="1" dirty="0">
                <a:solidFill>
                  <a:srgbClr val="FF0000"/>
                </a:solidFill>
                <a:latin typeface="Comic Sans MS" pitchFamily="66" charset="0"/>
              </a:rPr>
              <a:t>The Citric Acid Cycle </a:t>
            </a:r>
          </a:p>
          <a:p>
            <a:pPr>
              <a:lnSpc>
                <a:spcPct val="30000"/>
              </a:lnSpc>
            </a:pPr>
            <a:endParaRPr lang="en-US" altLang="en-US" sz="2000" b="1" dirty="0">
              <a:solidFill>
                <a:srgbClr val="FF0000"/>
              </a:solidFill>
              <a:latin typeface="Comic Sans MS" pitchFamily="66" charset="0"/>
            </a:endParaRPr>
          </a:p>
          <a:p>
            <a:pPr>
              <a:buFont typeface="Wingdings" pitchFamily="2" charset="2"/>
              <a:buChar char="v"/>
            </a:pPr>
            <a:r>
              <a:rPr lang="en-US" altLang="en-US" sz="2000" b="1" dirty="0" err="1">
                <a:solidFill>
                  <a:srgbClr val="FF0000"/>
                </a:solidFill>
                <a:latin typeface="Comic Sans MS" pitchFamily="66" charset="0"/>
              </a:rPr>
              <a:t>Tricarboxylic</a:t>
            </a:r>
            <a:r>
              <a:rPr lang="en-US" altLang="en-US" sz="2000" b="1" dirty="0">
                <a:solidFill>
                  <a:srgbClr val="FF0000"/>
                </a:solidFill>
                <a:latin typeface="Comic Sans MS" pitchFamily="66" charset="0"/>
              </a:rPr>
              <a:t>  Acid Cycle  </a:t>
            </a:r>
          </a:p>
          <a:p>
            <a:pPr>
              <a:lnSpc>
                <a:spcPct val="20000"/>
              </a:lnSpc>
            </a:pPr>
            <a:endParaRPr lang="en-US" altLang="en-US" sz="2000" b="1" dirty="0">
              <a:solidFill>
                <a:srgbClr val="FF0000"/>
              </a:solidFill>
              <a:latin typeface="Comic Sans MS" pitchFamily="66" charset="0"/>
            </a:endParaRPr>
          </a:p>
          <a:p>
            <a:pPr>
              <a:buFont typeface="Wingdings" pitchFamily="2" charset="2"/>
              <a:buChar char="v"/>
            </a:pPr>
            <a:r>
              <a:rPr lang="en-US" altLang="en-US" sz="2000" b="1" dirty="0">
                <a:solidFill>
                  <a:srgbClr val="FF0000"/>
                </a:solidFill>
                <a:latin typeface="Comic Sans MS" pitchFamily="66" charset="0"/>
              </a:rPr>
              <a:t>Krebs Cycle</a:t>
            </a:r>
            <a:endParaRPr lang="en-US" sz="2000" b="1" dirty="0">
              <a:solidFill>
                <a:srgbClr val="FF0000"/>
              </a:solidFill>
              <a:latin typeface="Comic Sans MS" pitchFamily="66" charset="0"/>
            </a:endParaRPr>
          </a:p>
        </p:txBody>
      </p:sp>
      <p:sp>
        <p:nvSpPr>
          <p:cNvPr id="5" name="Rectangle 10"/>
          <p:cNvSpPr>
            <a:spLocks noChangeArrowheads="1"/>
          </p:cNvSpPr>
          <p:nvPr/>
        </p:nvSpPr>
        <p:spPr bwMode="auto">
          <a:xfrm>
            <a:off x="3643306" y="1214422"/>
            <a:ext cx="2928958" cy="2862322"/>
          </a:xfrm>
          <a:prstGeom prst="rect">
            <a:avLst/>
          </a:prstGeom>
          <a:noFill/>
          <a:ln w="9525" algn="ctr">
            <a:noFill/>
            <a:miter lim="800000"/>
            <a:headEnd/>
            <a:tailEnd/>
          </a:ln>
          <a:effectLst/>
        </p:spPr>
        <p:txBody>
          <a:bodyPr wrap="square" anchor="ctr">
            <a:spAutoFit/>
          </a:bodyPr>
          <a:lstStyle/>
          <a:p>
            <a:pPr>
              <a:defRPr/>
            </a:pPr>
            <a:r>
              <a:rPr lang="en-US" sz="1800" b="1" dirty="0">
                <a:solidFill>
                  <a:srgbClr val="660033"/>
                </a:solidFill>
                <a:latin typeface="Arial" charset="0"/>
              </a:rPr>
              <a:t>Hans Adolf Krebs.</a:t>
            </a:r>
            <a:r>
              <a:rPr lang="en-US" sz="1800" dirty="0">
                <a:latin typeface="Arial" charset="0"/>
              </a:rPr>
              <a:t> </a:t>
            </a:r>
            <a:r>
              <a:rPr lang="en-US" sz="1800" i="1" dirty="0"/>
              <a:t>Biochemist; born in Germany. Worked in Britain. His discovery in 1937 of the ‘Krebs cycle’ of chemical reactions was critical to the understanding of cell metabolism and earned him the 1953 Nobel Prize for </a:t>
            </a:r>
            <a:r>
              <a:rPr lang="en-US" sz="1800" i="1" dirty="0">
                <a:effectLst>
                  <a:outerShdw blurRad="38100" dist="38100" dir="2700000" algn="tl">
                    <a:srgbClr val="C0C0C0"/>
                  </a:outerShdw>
                </a:effectLst>
              </a:rPr>
              <a:t>Physiology or Medicine.</a:t>
            </a:r>
            <a:r>
              <a:rPr lang="en-US" sz="1800" dirty="0">
                <a:effectLst>
                  <a:outerShdw blurRad="38100" dist="38100" dir="2700000" algn="tl">
                    <a:srgbClr val="C0C0C0"/>
                  </a:outerShdw>
                </a:effectLst>
                <a:latin typeface="Arial" charset="0"/>
              </a:rPr>
              <a:t> </a:t>
            </a:r>
          </a:p>
        </p:txBody>
      </p:sp>
      <p:pic>
        <p:nvPicPr>
          <p:cNvPr id="6" name="Picture 11" descr="krebs"/>
          <p:cNvPicPr>
            <a:picLocks noChangeAspect="1" noChangeArrowheads="1"/>
          </p:cNvPicPr>
          <p:nvPr/>
        </p:nvPicPr>
        <p:blipFill>
          <a:blip r:embed="rId2"/>
          <a:srcRect/>
          <a:stretch>
            <a:fillRect/>
          </a:stretch>
        </p:blipFill>
        <p:spPr bwMode="auto">
          <a:xfrm>
            <a:off x="6572264" y="1142984"/>
            <a:ext cx="2432050" cy="3429000"/>
          </a:xfrm>
          <a:prstGeom prst="rect">
            <a:avLst/>
          </a:prstGeom>
          <a:noFill/>
          <a:ln w="9525">
            <a:noFill/>
            <a:miter lim="800000"/>
            <a:headEnd/>
            <a:tailEnd/>
          </a:ln>
        </p:spPr>
      </p:pic>
      <p:sp>
        <p:nvSpPr>
          <p:cNvPr id="7" name="Rectangle 8"/>
          <p:cNvSpPr>
            <a:spLocks noChangeArrowheads="1"/>
          </p:cNvSpPr>
          <p:nvPr/>
        </p:nvSpPr>
        <p:spPr bwMode="auto">
          <a:xfrm>
            <a:off x="3286116" y="4500570"/>
            <a:ext cx="2462218" cy="1200329"/>
          </a:xfrm>
          <a:prstGeom prst="rect">
            <a:avLst/>
          </a:prstGeom>
          <a:noFill/>
          <a:ln w="9525">
            <a:noFill/>
            <a:miter lim="800000"/>
            <a:headEnd/>
            <a:tailEnd/>
          </a:ln>
        </p:spPr>
        <p:txBody>
          <a:bodyPr wrap="square" anchor="ctr">
            <a:spAutoFit/>
          </a:bodyPr>
          <a:lstStyle/>
          <a:p>
            <a:r>
              <a:rPr lang="en-US" sz="1800" b="1" dirty="0">
                <a:solidFill>
                  <a:schemeClr val="accent2"/>
                </a:solidFill>
                <a:latin typeface="+mj-lt"/>
              </a:rPr>
              <a:t>In eukaryotes the reactions of the citric acid cycle take place inside mitochondria</a:t>
            </a:r>
          </a:p>
        </p:txBody>
      </p:sp>
      <p:pic>
        <p:nvPicPr>
          <p:cNvPr id="8" name="Picture 7"/>
          <p:cNvPicPr>
            <a:picLocks noChangeAspect="1" noChangeArrowheads="1"/>
          </p:cNvPicPr>
          <p:nvPr/>
        </p:nvPicPr>
        <p:blipFill>
          <a:blip r:embed="rId3"/>
          <a:srcRect/>
          <a:stretch>
            <a:fillRect/>
          </a:stretch>
        </p:blipFill>
        <p:spPr bwMode="auto">
          <a:xfrm>
            <a:off x="101591" y="3594123"/>
            <a:ext cx="3255963" cy="3049587"/>
          </a:xfrm>
          <a:prstGeom prst="rect">
            <a:avLst/>
          </a:prstGeom>
          <a:noFill/>
          <a:ln w="9525">
            <a:noFill/>
            <a:miter lim="800000"/>
            <a:headEnd/>
            <a:tailEnd/>
          </a:ln>
        </p:spPr>
      </p:pic>
      <p:pic>
        <p:nvPicPr>
          <p:cNvPr id="9" name="Picture 6"/>
          <p:cNvPicPr>
            <a:picLocks noChangeAspect="1" noChangeArrowheads="1"/>
          </p:cNvPicPr>
          <p:nvPr/>
        </p:nvPicPr>
        <p:blipFill>
          <a:blip r:embed="rId4" cstate="print"/>
          <a:srcRect/>
          <a:stretch>
            <a:fillRect/>
          </a:stretch>
        </p:blipFill>
        <p:spPr bwMode="auto">
          <a:xfrm>
            <a:off x="5643570" y="4643446"/>
            <a:ext cx="3428992" cy="214311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5"/>
          <p:cNvSpPr>
            <a:spLocks noChangeArrowheads="1"/>
          </p:cNvSpPr>
          <p:nvPr/>
        </p:nvSpPr>
        <p:spPr bwMode="auto">
          <a:xfrm>
            <a:off x="928662" y="63481"/>
            <a:ext cx="7669213" cy="579437"/>
          </a:xfrm>
          <a:prstGeom prst="rect">
            <a:avLst/>
          </a:prstGeom>
          <a:noFill/>
          <a:ln w="9525">
            <a:noFill/>
            <a:miter lim="800000"/>
            <a:headEnd/>
            <a:tailEnd/>
          </a:ln>
        </p:spPr>
        <p:txBody>
          <a:bodyPr wrap="none" anchor="ctr">
            <a:spAutoFit/>
          </a:bodyPr>
          <a:lstStyle/>
          <a:p>
            <a:r>
              <a:rPr lang="en-US" sz="3200" b="1" dirty="0">
                <a:solidFill>
                  <a:srgbClr val="660033"/>
                </a:solidFill>
                <a:latin typeface="Comic Sans MS" pitchFamily="66" charset="0"/>
              </a:rPr>
              <a:t>An Overview of the Citric Acid Cycle</a:t>
            </a:r>
            <a:r>
              <a:rPr lang="en-US" sz="3200" dirty="0">
                <a:solidFill>
                  <a:srgbClr val="660033"/>
                </a:solidFill>
                <a:latin typeface="Comic Sans MS" pitchFamily="66" charset="0"/>
              </a:rPr>
              <a:t> </a:t>
            </a:r>
          </a:p>
        </p:txBody>
      </p:sp>
      <p:sp>
        <p:nvSpPr>
          <p:cNvPr id="5" name="Rectangle 8"/>
          <p:cNvSpPr>
            <a:spLocks noChangeArrowheads="1"/>
          </p:cNvSpPr>
          <p:nvPr/>
        </p:nvSpPr>
        <p:spPr bwMode="auto">
          <a:xfrm>
            <a:off x="152400" y="685800"/>
            <a:ext cx="5105400" cy="6172200"/>
          </a:xfrm>
          <a:prstGeom prst="rect">
            <a:avLst/>
          </a:prstGeom>
          <a:noFill/>
          <a:ln w="9525">
            <a:noFill/>
            <a:miter lim="800000"/>
            <a:headEnd/>
            <a:tailEnd/>
          </a:ln>
        </p:spPr>
        <p:txBody>
          <a:bodyPr wrap="square">
            <a:spAutoFit/>
          </a:bodyPr>
          <a:lstStyle/>
          <a:p>
            <a:pPr>
              <a:spcBef>
                <a:spcPct val="50000"/>
              </a:spcBef>
            </a:pPr>
            <a:r>
              <a:rPr lang="en-US" sz="1800" dirty="0">
                <a:latin typeface="Comic Sans MS" pitchFamily="66" charset="0"/>
              </a:rPr>
              <a:t>A </a:t>
            </a:r>
            <a:r>
              <a:rPr lang="en-US" sz="1800" b="1" dirty="0">
                <a:solidFill>
                  <a:schemeClr val="accent2"/>
                </a:solidFill>
                <a:latin typeface="Comic Sans MS" pitchFamily="66" charset="0"/>
              </a:rPr>
              <a:t>four-carbon</a:t>
            </a:r>
            <a:r>
              <a:rPr lang="en-US" sz="1800" dirty="0">
                <a:latin typeface="Comic Sans MS" pitchFamily="66" charset="0"/>
              </a:rPr>
              <a:t> </a:t>
            </a:r>
            <a:r>
              <a:rPr lang="en-US" sz="1800" b="1" dirty="0" err="1">
                <a:solidFill>
                  <a:schemeClr val="accent2"/>
                </a:solidFill>
                <a:latin typeface="Comic Sans MS" pitchFamily="66" charset="0"/>
              </a:rPr>
              <a:t>oxaloacetate</a:t>
            </a:r>
            <a:r>
              <a:rPr lang="en-US" sz="1800" dirty="0">
                <a:latin typeface="Comic Sans MS" pitchFamily="66" charset="0"/>
              </a:rPr>
              <a:t> condenses with a </a:t>
            </a:r>
            <a:r>
              <a:rPr lang="en-US" sz="1800" b="1" dirty="0">
                <a:solidFill>
                  <a:schemeClr val="accent2"/>
                </a:solidFill>
                <a:latin typeface="Comic Sans MS" pitchFamily="66" charset="0"/>
              </a:rPr>
              <a:t>two-carbon</a:t>
            </a:r>
            <a:r>
              <a:rPr lang="en-US" sz="1800" dirty="0">
                <a:latin typeface="Comic Sans MS" pitchFamily="66" charset="0"/>
              </a:rPr>
              <a:t> </a:t>
            </a:r>
            <a:r>
              <a:rPr lang="en-US" sz="1800" b="1" dirty="0">
                <a:solidFill>
                  <a:schemeClr val="accent2"/>
                </a:solidFill>
                <a:latin typeface="Comic Sans MS" pitchFamily="66" charset="0"/>
              </a:rPr>
              <a:t>acetyl</a:t>
            </a:r>
            <a:r>
              <a:rPr lang="en-US" sz="1800" dirty="0">
                <a:latin typeface="Comic Sans MS" pitchFamily="66" charset="0"/>
              </a:rPr>
              <a:t> unit to yield a </a:t>
            </a:r>
            <a:r>
              <a:rPr lang="en-US" sz="1800" b="1" dirty="0">
                <a:solidFill>
                  <a:schemeClr val="accent2"/>
                </a:solidFill>
                <a:latin typeface="Comic Sans MS" pitchFamily="66" charset="0"/>
              </a:rPr>
              <a:t>six-carbon citrate</a:t>
            </a:r>
            <a:r>
              <a:rPr lang="en-US" sz="1800" dirty="0">
                <a:latin typeface="Comic Sans MS" pitchFamily="66" charset="0"/>
              </a:rPr>
              <a:t>. </a:t>
            </a:r>
          </a:p>
          <a:p>
            <a:pPr>
              <a:spcBef>
                <a:spcPct val="50000"/>
              </a:spcBef>
            </a:pPr>
            <a:r>
              <a:rPr lang="en-US" sz="1800" dirty="0">
                <a:latin typeface="Comic Sans MS" pitchFamily="66" charset="0"/>
              </a:rPr>
              <a:t>An isomer of citrate is </a:t>
            </a:r>
            <a:r>
              <a:rPr lang="en-US" sz="1800" dirty="0" err="1">
                <a:latin typeface="Comic Sans MS" pitchFamily="66" charset="0"/>
              </a:rPr>
              <a:t>oxidatively</a:t>
            </a:r>
            <a:r>
              <a:rPr lang="en-US" sz="1800" dirty="0">
                <a:latin typeface="Comic Sans MS" pitchFamily="66" charset="0"/>
              </a:rPr>
              <a:t> </a:t>
            </a:r>
            <a:r>
              <a:rPr lang="en-US" sz="1800" dirty="0" err="1">
                <a:latin typeface="Comic Sans MS" pitchFamily="66" charset="0"/>
              </a:rPr>
              <a:t>decarboxylated</a:t>
            </a:r>
            <a:r>
              <a:rPr lang="en-US" sz="1800" dirty="0">
                <a:latin typeface="Comic Sans MS" pitchFamily="66" charset="0"/>
              </a:rPr>
              <a:t> </a:t>
            </a:r>
            <a:r>
              <a:rPr lang="en-US" dirty="0" smtClean="0">
                <a:latin typeface="Comic Sans MS" pitchFamily="66" charset="0"/>
              </a:rPr>
              <a:t>to</a:t>
            </a:r>
            <a:r>
              <a:rPr lang="en-US" sz="1800" dirty="0" smtClean="0">
                <a:latin typeface="Comic Sans MS" pitchFamily="66" charset="0"/>
              </a:rPr>
              <a:t> </a:t>
            </a:r>
            <a:r>
              <a:rPr lang="en-US" sz="1800" b="1" dirty="0">
                <a:solidFill>
                  <a:schemeClr val="accent2"/>
                </a:solidFill>
                <a:latin typeface="Comic Sans MS" pitchFamily="66" charset="0"/>
              </a:rPr>
              <a:t>five-carbon </a:t>
            </a:r>
            <a:r>
              <a:rPr lang="en-US" sz="1800" b="1" dirty="0">
                <a:solidFill>
                  <a:schemeClr val="accent2"/>
                </a:solidFill>
                <a:latin typeface="Comic Sans MS" pitchFamily="66" charset="0"/>
                <a:sym typeface="Symbol" pitchFamily="18" charset="2"/>
              </a:rPr>
              <a:t></a:t>
            </a:r>
            <a:r>
              <a:rPr lang="en-US" sz="1800" b="1" dirty="0">
                <a:solidFill>
                  <a:schemeClr val="accent2"/>
                </a:solidFill>
                <a:latin typeface="Comic Sans MS" pitchFamily="66" charset="0"/>
              </a:rPr>
              <a:t>-</a:t>
            </a:r>
            <a:r>
              <a:rPr lang="en-US" sz="1800" b="1" dirty="0" err="1" smtClean="0">
                <a:solidFill>
                  <a:schemeClr val="accent2"/>
                </a:solidFill>
                <a:latin typeface="Comic Sans MS" pitchFamily="66" charset="0"/>
              </a:rPr>
              <a:t>ketoglutarate</a:t>
            </a:r>
            <a:r>
              <a:rPr lang="en-US" sz="1800" dirty="0" smtClean="0">
                <a:latin typeface="Comic Sans MS" pitchFamily="66" charset="0"/>
              </a:rPr>
              <a:t>.</a:t>
            </a:r>
            <a:endParaRPr lang="en-US" sz="1800" dirty="0">
              <a:latin typeface="Comic Sans MS" pitchFamily="66" charset="0"/>
            </a:endParaRPr>
          </a:p>
          <a:p>
            <a:pPr>
              <a:spcBef>
                <a:spcPct val="50000"/>
              </a:spcBef>
            </a:pPr>
            <a:r>
              <a:rPr lang="en-US" sz="1800" b="1" dirty="0">
                <a:solidFill>
                  <a:schemeClr val="accent2"/>
                </a:solidFill>
                <a:latin typeface="Comic Sans MS" pitchFamily="66" charset="0"/>
                <a:sym typeface="Symbol" pitchFamily="18" charset="2"/>
              </a:rPr>
              <a:t></a:t>
            </a:r>
            <a:r>
              <a:rPr lang="en-US" sz="1800" b="1" dirty="0">
                <a:solidFill>
                  <a:schemeClr val="accent2"/>
                </a:solidFill>
                <a:latin typeface="Comic Sans MS" pitchFamily="66" charset="0"/>
              </a:rPr>
              <a:t>-</a:t>
            </a:r>
            <a:r>
              <a:rPr lang="en-US" sz="1800" b="1" dirty="0" err="1">
                <a:solidFill>
                  <a:schemeClr val="accent2"/>
                </a:solidFill>
                <a:latin typeface="Comic Sans MS" pitchFamily="66" charset="0"/>
              </a:rPr>
              <a:t>ketoglutarate</a:t>
            </a:r>
            <a:r>
              <a:rPr lang="en-US" sz="1800" b="1" dirty="0">
                <a:solidFill>
                  <a:schemeClr val="accent2"/>
                </a:solidFill>
                <a:latin typeface="Comic Sans MS" pitchFamily="66" charset="0"/>
              </a:rPr>
              <a:t> </a:t>
            </a:r>
            <a:r>
              <a:rPr lang="en-US" sz="1800" dirty="0">
                <a:latin typeface="Comic Sans MS" pitchFamily="66" charset="0"/>
              </a:rPr>
              <a:t>is </a:t>
            </a:r>
            <a:r>
              <a:rPr lang="en-US" sz="1800" dirty="0" err="1">
                <a:latin typeface="Comic Sans MS" pitchFamily="66" charset="0"/>
              </a:rPr>
              <a:t>oxidatively</a:t>
            </a:r>
            <a:r>
              <a:rPr lang="en-US" sz="1800" dirty="0">
                <a:latin typeface="Comic Sans MS" pitchFamily="66" charset="0"/>
              </a:rPr>
              <a:t> </a:t>
            </a:r>
            <a:r>
              <a:rPr lang="en-US" sz="1800" dirty="0" err="1">
                <a:latin typeface="Comic Sans MS" pitchFamily="66" charset="0"/>
              </a:rPr>
              <a:t>decarboxylated</a:t>
            </a:r>
            <a:r>
              <a:rPr lang="en-US" sz="1800" dirty="0">
                <a:latin typeface="Comic Sans MS" pitchFamily="66" charset="0"/>
              </a:rPr>
              <a:t> to yield a </a:t>
            </a:r>
            <a:r>
              <a:rPr lang="en-US" sz="1800" b="1" dirty="0">
                <a:solidFill>
                  <a:schemeClr val="accent2"/>
                </a:solidFill>
                <a:latin typeface="Comic Sans MS" pitchFamily="66" charset="0"/>
              </a:rPr>
              <a:t>four-carbon </a:t>
            </a:r>
            <a:r>
              <a:rPr lang="en-US" sz="1800" b="1" dirty="0" err="1">
                <a:solidFill>
                  <a:schemeClr val="accent2"/>
                </a:solidFill>
                <a:latin typeface="Comic Sans MS" pitchFamily="66" charset="0"/>
              </a:rPr>
              <a:t>succinate</a:t>
            </a:r>
            <a:r>
              <a:rPr lang="en-US" sz="1800" dirty="0">
                <a:latin typeface="Comic Sans MS" pitchFamily="66" charset="0"/>
              </a:rPr>
              <a:t>.</a:t>
            </a:r>
          </a:p>
          <a:p>
            <a:pPr>
              <a:spcBef>
                <a:spcPct val="50000"/>
              </a:spcBef>
            </a:pPr>
            <a:r>
              <a:rPr lang="en-US" sz="1800" b="1" dirty="0" err="1">
                <a:solidFill>
                  <a:schemeClr val="accent2"/>
                </a:solidFill>
                <a:latin typeface="Comic Sans MS" pitchFamily="66" charset="0"/>
              </a:rPr>
              <a:t>Oxaloacetate</a:t>
            </a:r>
            <a:r>
              <a:rPr lang="en-US" sz="1800" dirty="0">
                <a:latin typeface="Comic Sans MS" pitchFamily="66" charset="0"/>
              </a:rPr>
              <a:t> is then regenerated from </a:t>
            </a:r>
            <a:r>
              <a:rPr lang="en-US" sz="1800" b="1" dirty="0" err="1">
                <a:solidFill>
                  <a:schemeClr val="accent2"/>
                </a:solidFill>
                <a:latin typeface="Comic Sans MS" pitchFamily="66" charset="0"/>
              </a:rPr>
              <a:t>succinate</a:t>
            </a:r>
            <a:r>
              <a:rPr lang="en-US" sz="1800" dirty="0">
                <a:latin typeface="Comic Sans MS" pitchFamily="66" charset="0"/>
              </a:rPr>
              <a:t>. </a:t>
            </a:r>
          </a:p>
          <a:p>
            <a:pPr>
              <a:spcBef>
                <a:spcPct val="50000"/>
              </a:spcBef>
            </a:pPr>
            <a:r>
              <a:rPr lang="en-US" sz="1800" b="1" dirty="0">
                <a:latin typeface="Comic Sans MS" pitchFamily="66" charset="0"/>
              </a:rPr>
              <a:t>Two carbon atoms</a:t>
            </a:r>
            <a:r>
              <a:rPr lang="en-US" sz="1800" dirty="0">
                <a:latin typeface="Comic Sans MS" pitchFamily="66" charset="0"/>
              </a:rPr>
              <a:t> (</a:t>
            </a:r>
            <a:r>
              <a:rPr lang="en-US" sz="1800" b="1" dirty="0">
                <a:solidFill>
                  <a:schemeClr val="accent2"/>
                </a:solidFill>
                <a:latin typeface="Comic Sans MS" pitchFamily="66" charset="0"/>
              </a:rPr>
              <a:t>acetyl </a:t>
            </a:r>
            <a:r>
              <a:rPr lang="en-US" sz="1800" b="1" dirty="0" err="1">
                <a:solidFill>
                  <a:schemeClr val="accent2"/>
                </a:solidFill>
                <a:latin typeface="Comic Sans MS" pitchFamily="66" charset="0"/>
              </a:rPr>
              <a:t>CoA</a:t>
            </a:r>
            <a:r>
              <a:rPr lang="en-US" sz="1800" dirty="0">
                <a:latin typeface="Comic Sans MS" pitchFamily="66" charset="0"/>
              </a:rPr>
              <a:t>) </a:t>
            </a:r>
            <a:r>
              <a:rPr lang="en-US" sz="1800" b="1" dirty="0">
                <a:latin typeface="Comic Sans MS" pitchFamily="66" charset="0"/>
              </a:rPr>
              <a:t>enter the cycle</a:t>
            </a:r>
            <a:r>
              <a:rPr lang="en-US" sz="1800" dirty="0">
                <a:latin typeface="Comic Sans MS" pitchFamily="66" charset="0"/>
              </a:rPr>
              <a:t> and </a:t>
            </a:r>
            <a:r>
              <a:rPr lang="en-US" sz="1800" b="1" dirty="0">
                <a:latin typeface="Comic Sans MS" pitchFamily="66" charset="0"/>
              </a:rPr>
              <a:t>two carbon atoms leave the cycle</a:t>
            </a:r>
            <a:r>
              <a:rPr lang="en-US" sz="1800" dirty="0">
                <a:latin typeface="Comic Sans MS" pitchFamily="66" charset="0"/>
              </a:rPr>
              <a:t> in the form of two molecules of </a:t>
            </a:r>
            <a:r>
              <a:rPr lang="en-US" sz="1800" b="1" dirty="0">
                <a:solidFill>
                  <a:schemeClr val="accent2"/>
                </a:solidFill>
                <a:latin typeface="Comic Sans MS" pitchFamily="66" charset="0"/>
              </a:rPr>
              <a:t>carbon dioxide</a:t>
            </a:r>
            <a:r>
              <a:rPr lang="en-US" sz="1800" dirty="0">
                <a:latin typeface="Comic Sans MS" pitchFamily="66" charset="0"/>
              </a:rPr>
              <a:t>. </a:t>
            </a:r>
          </a:p>
          <a:p>
            <a:pPr>
              <a:spcBef>
                <a:spcPct val="50000"/>
              </a:spcBef>
            </a:pPr>
            <a:r>
              <a:rPr lang="en-US" sz="1800" b="1" dirty="0">
                <a:latin typeface="Comic Sans MS" pitchFamily="66" charset="0"/>
              </a:rPr>
              <a:t>Three hydride ions</a:t>
            </a:r>
            <a:r>
              <a:rPr lang="en-US" sz="1800" dirty="0">
                <a:latin typeface="Comic Sans MS" pitchFamily="66" charset="0"/>
              </a:rPr>
              <a:t> (</a:t>
            </a:r>
            <a:r>
              <a:rPr lang="en-US" sz="1800" b="1" dirty="0">
                <a:solidFill>
                  <a:schemeClr val="accent2"/>
                </a:solidFill>
                <a:latin typeface="Comic Sans MS" pitchFamily="66" charset="0"/>
              </a:rPr>
              <a:t>six electrons</a:t>
            </a:r>
            <a:r>
              <a:rPr lang="en-US" sz="1800" dirty="0">
                <a:latin typeface="Comic Sans MS" pitchFamily="66" charset="0"/>
              </a:rPr>
              <a:t>) are transferred to three molecules of </a:t>
            </a:r>
            <a:r>
              <a:rPr lang="en-US" sz="1800" b="1" dirty="0">
                <a:solidFill>
                  <a:schemeClr val="accent2"/>
                </a:solidFill>
                <a:latin typeface="Comic Sans MS" pitchFamily="66" charset="0"/>
              </a:rPr>
              <a:t>NAD</a:t>
            </a:r>
            <a:r>
              <a:rPr lang="en-US" sz="1800" b="1" baseline="30000" dirty="0">
                <a:solidFill>
                  <a:schemeClr val="accent2"/>
                </a:solidFill>
                <a:latin typeface="Comic Sans MS" pitchFamily="66" charset="0"/>
              </a:rPr>
              <a:t>+</a:t>
            </a:r>
            <a:r>
              <a:rPr lang="en-US" sz="1800" b="1" dirty="0">
                <a:solidFill>
                  <a:schemeClr val="accent2"/>
                </a:solidFill>
                <a:latin typeface="Comic Sans MS" pitchFamily="66" charset="0"/>
              </a:rPr>
              <a:t>,</a:t>
            </a:r>
            <a:r>
              <a:rPr lang="en-US" sz="1800" dirty="0">
                <a:latin typeface="Comic Sans MS" pitchFamily="66" charset="0"/>
              </a:rPr>
              <a:t> </a:t>
            </a:r>
            <a:r>
              <a:rPr lang="en-US" sz="1800" b="1" dirty="0">
                <a:latin typeface="Comic Sans MS" pitchFamily="66" charset="0"/>
              </a:rPr>
              <a:t>one pair of hydrogen atoms</a:t>
            </a:r>
            <a:r>
              <a:rPr lang="en-US" sz="1800" dirty="0">
                <a:latin typeface="Comic Sans MS" pitchFamily="66" charset="0"/>
              </a:rPr>
              <a:t> (</a:t>
            </a:r>
            <a:r>
              <a:rPr lang="en-US" sz="1800" b="1" dirty="0">
                <a:solidFill>
                  <a:schemeClr val="accent2"/>
                </a:solidFill>
                <a:latin typeface="Comic Sans MS" pitchFamily="66" charset="0"/>
              </a:rPr>
              <a:t>two electrons</a:t>
            </a:r>
            <a:r>
              <a:rPr lang="en-US" sz="1800" dirty="0">
                <a:latin typeface="Comic Sans MS" pitchFamily="66" charset="0"/>
              </a:rPr>
              <a:t>) is transferred to one molecule of </a:t>
            </a:r>
            <a:r>
              <a:rPr lang="en-US" sz="1800" b="1" dirty="0">
                <a:solidFill>
                  <a:schemeClr val="accent2"/>
                </a:solidFill>
                <a:latin typeface="Comic Sans MS" pitchFamily="66" charset="0"/>
              </a:rPr>
              <a:t>FAD</a:t>
            </a:r>
            <a:r>
              <a:rPr lang="en-US" sz="1800" dirty="0">
                <a:latin typeface="Comic Sans MS" pitchFamily="66" charset="0"/>
              </a:rPr>
              <a:t>. </a:t>
            </a:r>
          </a:p>
        </p:txBody>
      </p:sp>
      <p:pic>
        <p:nvPicPr>
          <p:cNvPr id="8" name="Picture 4"/>
          <p:cNvPicPr>
            <a:picLocks noChangeAspect="1" noChangeArrowheads="1"/>
          </p:cNvPicPr>
          <p:nvPr/>
        </p:nvPicPr>
        <p:blipFill>
          <a:blip r:embed="rId2" cstate="print"/>
          <a:srcRect/>
          <a:stretch>
            <a:fillRect/>
          </a:stretch>
        </p:blipFill>
        <p:spPr bwMode="auto">
          <a:xfrm>
            <a:off x="5143504" y="1500174"/>
            <a:ext cx="3886200" cy="3124200"/>
          </a:xfrm>
          <a:prstGeom prst="rect">
            <a:avLst/>
          </a:prstGeom>
          <a:noFill/>
          <a:ln w="9525">
            <a:noFill/>
            <a:miter lim="800000"/>
            <a:headEnd/>
            <a:tailEnd/>
          </a:ln>
        </p:spPr>
      </p:pic>
      <p:pic>
        <p:nvPicPr>
          <p:cNvPr id="9" name="Picture 4"/>
          <p:cNvPicPr>
            <a:picLocks noChangeAspect="1" noChangeArrowheads="1"/>
          </p:cNvPicPr>
          <p:nvPr/>
        </p:nvPicPr>
        <p:blipFill>
          <a:blip r:embed="rId3">
            <a:lum bright="-20000" contrast="40000"/>
          </a:blip>
          <a:srcRect/>
          <a:stretch>
            <a:fillRect/>
          </a:stretch>
        </p:blipFill>
        <p:spPr bwMode="auto">
          <a:xfrm>
            <a:off x="6286512" y="852475"/>
            <a:ext cx="1314451" cy="933451"/>
          </a:xfrm>
          <a:prstGeom prst="rect">
            <a:avLst/>
          </a:prstGeom>
          <a:noFill/>
          <a:ln w="9525">
            <a:noFill/>
            <a:miter lim="800000"/>
            <a:headEnd/>
            <a:tailEnd/>
          </a:ln>
          <a:effectLst/>
        </p:spPr>
      </p:pic>
      <p:sp>
        <p:nvSpPr>
          <p:cNvPr id="10" name="Rectangle 9"/>
          <p:cNvSpPr>
            <a:spLocks noChangeArrowheads="1"/>
          </p:cNvSpPr>
          <p:nvPr/>
        </p:nvSpPr>
        <p:spPr bwMode="auto">
          <a:xfrm>
            <a:off x="5000628" y="4929198"/>
            <a:ext cx="4114800" cy="923330"/>
          </a:xfrm>
          <a:prstGeom prst="rect">
            <a:avLst/>
          </a:prstGeom>
          <a:noFill/>
          <a:ln w="9525">
            <a:noFill/>
            <a:miter lim="800000"/>
            <a:headEnd/>
            <a:tailEnd/>
          </a:ln>
        </p:spPr>
        <p:txBody>
          <a:bodyPr wrap="square">
            <a:spAutoFit/>
          </a:bodyPr>
          <a:lstStyle/>
          <a:p>
            <a:pPr algn="just">
              <a:spcBef>
                <a:spcPct val="50000"/>
              </a:spcBef>
            </a:pPr>
            <a:r>
              <a:rPr lang="en-US" sz="1800" b="1" dirty="0">
                <a:solidFill>
                  <a:srgbClr val="0000FF"/>
                </a:solidFill>
                <a:latin typeface="Comic Sans MS" pitchFamily="66" charset="0"/>
              </a:rPr>
              <a:t>The function of the citric acid cycle is the harvesting of high-energy electrons from acetyl </a:t>
            </a:r>
            <a:r>
              <a:rPr lang="en-US" sz="1800" b="1" dirty="0" err="1">
                <a:solidFill>
                  <a:srgbClr val="0000FF"/>
                </a:solidFill>
                <a:latin typeface="Comic Sans MS" pitchFamily="66" charset="0"/>
              </a:rPr>
              <a:t>CoA</a:t>
            </a:r>
            <a:r>
              <a:rPr lang="en-US" sz="1800" b="1" dirty="0">
                <a:solidFill>
                  <a:srgbClr val="0000FF"/>
                </a:solidFill>
                <a:latin typeface="Comic Sans MS" pitchFamily="66" charset="0"/>
              </a:rPr>
              <a:t>. </a:t>
            </a: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5"/>
          <p:cNvSpPr>
            <a:spLocks noChangeArrowheads="1"/>
          </p:cNvSpPr>
          <p:nvPr/>
        </p:nvSpPr>
        <p:spPr bwMode="auto">
          <a:xfrm>
            <a:off x="1039837" y="214290"/>
            <a:ext cx="7032625" cy="579438"/>
          </a:xfrm>
          <a:prstGeom prst="rect">
            <a:avLst/>
          </a:prstGeom>
          <a:noFill/>
          <a:ln w="9525" algn="ctr">
            <a:noFill/>
            <a:miter lim="800000"/>
            <a:headEnd/>
            <a:tailEnd/>
          </a:ln>
        </p:spPr>
        <p:txBody>
          <a:bodyPr wrap="none" anchor="ctr">
            <a:spAutoFit/>
          </a:bodyPr>
          <a:lstStyle/>
          <a:p>
            <a:r>
              <a:rPr lang="en-US" sz="3200" b="1" dirty="0">
                <a:solidFill>
                  <a:srgbClr val="660033"/>
                </a:solidFill>
                <a:latin typeface="Comic Sans MS" pitchFamily="66" charset="0"/>
              </a:rPr>
              <a:t>Functions of the Citric Acid Cycle</a:t>
            </a:r>
            <a:r>
              <a:rPr lang="en-US" sz="3200" dirty="0">
                <a:solidFill>
                  <a:srgbClr val="660033"/>
                </a:solidFill>
                <a:latin typeface="Comic Sans MS" pitchFamily="66" charset="0"/>
              </a:rPr>
              <a:t> </a:t>
            </a:r>
          </a:p>
        </p:txBody>
      </p:sp>
      <p:sp>
        <p:nvSpPr>
          <p:cNvPr id="5" name="Text Box 3"/>
          <p:cNvSpPr txBox="1">
            <a:spLocks noChangeArrowheads="1"/>
          </p:cNvSpPr>
          <p:nvPr/>
        </p:nvSpPr>
        <p:spPr bwMode="auto">
          <a:xfrm>
            <a:off x="357158" y="1285860"/>
            <a:ext cx="8382000" cy="885825"/>
          </a:xfrm>
          <a:prstGeom prst="rect">
            <a:avLst/>
          </a:prstGeom>
          <a:noFill/>
          <a:ln w="9525">
            <a:noFill/>
            <a:miter lim="800000"/>
            <a:headEnd/>
            <a:tailEnd/>
          </a:ln>
        </p:spPr>
        <p:txBody>
          <a:bodyPr>
            <a:spAutoFit/>
          </a:bodyPr>
          <a:lstStyle/>
          <a:p>
            <a:pPr marL="223838" indent="-223838" eaLnBrk="0" hangingPunct="0">
              <a:spcBef>
                <a:spcPct val="50000"/>
              </a:spcBef>
              <a:buFontTx/>
              <a:buChar char="•"/>
            </a:pPr>
            <a:r>
              <a:rPr lang="en-US" altLang="en-US" sz="2600" b="1" dirty="0">
                <a:solidFill>
                  <a:srgbClr val="000066"/>
                </a:solidFill>
                <a:latin typeface="Comic Sans MS" pitchFamily="66" charset="0"/>
              </a:rPr>
              <a:t>Integration of metabolism.</a:t>
            </a:r>
            <a:r>
              <a:rPr lang="en-US" altLang="en-US" sz="2600" dirty="0">
                <a:latin typeface="Comic Sans MS" pitchFamily="66" charset="0"/>
              </a:rPr>
              <a:t> The citric acid cycle is </a:t>
            </a:r>
            <a:r>
              <a:rPr lang="en-US" altLang="en-US" sz="2600" b="1" i="1" dirty="0" err="1">
                <a:solidFill>
                  <a:srgbClr val="000066"/>
                </a:solidFill>
                <a:latin typeface="Comic Sans MS" pitchFamily="66" charset="0"/>
              </a:rPr>
              <a:t>amphibolic</a:t>
            </a:r>
            <a:r>
              <a:rPr lang="en-US" altLang="en-US" sz="2600" dirty="0">
                <a:solidFill>
                  <a:schemeClr val="accent2"/>
                </a:solidFill>
                <a:latin typeface="Comic Sans MS" pitchFamily="66" charset="0"/>
              </a:rPr>
              <a:t> </a:t>
            </a:r>
            <a:r>
              <a:rPr lang="en-US" altLang="en-US" sz="2600" b="1" dirty="0">
                <a:solidFill>
                  <a:srgbClr val="000066"/>
                </a:solidFill>
                <a:latin typeface="Comic Sans MS" pitchFamily="66" charset="0"/>
              </a:rPr>
              <a:t>(both catabolic and anabolic).</a:t>
            </a:r>
            <a:r>
              <a:rPr lang="en-US" altLang="en-US" sz="2600" dirty="0">
                <a:latin typeface="Comic Sans MS" pitchFamily="66" charset="0"/>
              </a:rPr>
              <a:t>                                                                  </a:t>
            </a:r>
          </a:p>
        </p:txBody>
      </p:sp>
      <p:sp>
        <p:nvSpPr>
          <p:cNvPr id="6" name="Rectangle 7"/>
          <p:cNvSpPr>
            <a:spLocks noChangeArrowheads="1"/>
          </p:cNvSpPr>
          <p:nvPr/>
        </p:nvSpPr>
        <p:spPr bwMode="auto">
          <a:xfrm>
            <a:off x="1071538" y="2595565"/>
            <a:ext cx="2759075" cy="1190625"/>
          </a:xfrm>
          <a:prstGeom prst="rect">
            <a:avLst/>
          </a:prstGeom>
          <a:noFill/>
          <a:ln w="9525" algn="ctr">
            <a:noFill/>
            <a:miter lim="800000"/>
            <a:headEnd/>
            <a:tailEnd/>
          </a:ln>
        </p:spPr>
        <p:txBody>
          <a:bodyPr>
            <a:spAutoFit/>
          </a:bodyPr>
          <a:lstStyle/>
          <a:p>
            <a:r>
              <a:rPr lang="en-US" altLang="en-US" sz="1800" dirty="0">
                <a:latin typeface="Comic Sans MS" pitchFamily="66" charset="0"/>
              </a:rPr>
              <a:t>The cycle is involved in the aerobic </a:t>
            </a:r>
            <a:r>
              <a:rPr lang="en-US" altLang="en-US" sz="1800" b="1" dirty="0">
                <a:solidFill>
                  <a:srgbClr val="000066"/>
                </a:solidFill>
                <a:latin typeface="Comic Sans MS" pitchFamily="66" charset="0"/>
              </a:rPr>
              <a:t>catabolism</a:t>
            </a:r>
            <a:r>
              <a:rPr lang="en-US" altLang="en-US" sz="1800" dirty="0">
                <a:latin typeface="Comic Sans MS" pitchFamily="66" charset="0"/>
              </a:rPr>
              <a:t> of carbohydrates, lipids and amino acids.</a:t>
            </a:r>
            <a:endParaRPr lang="en-US" sz="1800" dirty="0">
              <a:latin typeface="Comic Sans MS" pitchFamily="66" charset="0"/>
            </a:endParaRPr>
          </a:p>
        </p:txBody>
      </p:sp>
      <p:sp>
        <p:nvSpPr>
          <p:cNvPr id="7" name="Rectangle 8"/>
          <p:cNvSpPr>
            <a:spLocks noChangeArrowheads="1"/>
          </p:cNvSpPr>
          <p:nvPr/>
        </p:nvSpPr>
        <p:spPr bwMode="auto">
          <a:xfrm>
            <a:off x="4916511" y="2571744"/>
            <a:ext cx="3013075" cy="1190625"/>
          </a:xfrm>
          <a:prstGeom prst="rect">
            <a:avLst/>
          </a:prstGeom>
          <a:noFill/>
          <a:ln w="9525" algn="ctr">
            <a:noFill/>
            <a:miter lim="800000"/>
            <a:headEnd/>
            <a:tailEnd/>
          </a:ln>
        </p:spPr>
        <p:txBody>
          <a:bodyPr>
            <a:spAutoFit/>
          </a:bodyPr>
          <a:lstStyle/>
          <a:p>
            <a:pPr algn="r"/>
            <a:r>
              <a:rPr lang="en-US" altLang="en-US" sz="1800" dirty="0">
                <a:latin typeface="Comic Sans MS" pitchFamily="66" charset="0"/>
              </a:rPr>
              <a:t>Intermediates of the cycle are starting points for many </a:t>
            </a:r>
            <a:r>
              <a:rPr lang="en-US" altLang="en-US" sz="1800" b="1" dirty="0">
                <a:solidFill>
                  <a:srgbClr val="000066"/>
                </a:solidFill>
                <a:latin typeface="Comic Sans MS" pitchFamily="66" charset="0"/>
              </a:rPr>
              <a:t>anabolic</a:t>
            </a:r>
            <a:r>
              <a:rPr lang="en-US" altLang="en-US" sz="1800" dirty="0">
                <a:latin typeface="Comic Sans MS" pitchFamily="66" charset="0"/>
              </a:rPr>
              <a:t> reactions. </a:t>
            </a:r>
          </a:p>
        </p:txBody>
      </p:sp>
      <p:sp>
        <p:nvSpPr>
          <p:cNvPr id="8" name="Rectangle 9"/>
          <p:cNvSpPr>
            <a:spLocks noChangeArrowheads="1"/>
          </p:cNvSpPr>
          <p:nvPr/>
        </p:nvSpPr>
        <p:spPr bwMode="auto">
          <a:xfrm>
            <a:off x="500034" y="4000504"/>
            <a:ext cx="8153400" cy="2076450"/>
          </a:xfrm>
          <a:prstGeom prst="rect">
            <a:avLst/>
          </a:prstGeom>
          <a:noFill/>
          <a:ln w="9525" algn="ctr">
            <a:noFill/>
            <a:miter lim="800000"/>
            <a:headEnd/>
            <a:tailEnd/>
          </a:ln>
        </p:spPr>
        <p:txBody>
          <a:bodyPr>
            <a:spAutoFit/>
          </a:bodyPr>
          <a:lstStyle/>
          <a:p>
            <a:pPr>
              <a:buFontTx/>
              <a:buChar char="•"/>
            </a:pPr>
            <a:r>
              <a:rPr lang="en-US" altLang="en-US" sz="2600" dirty="0">
                <a:latin typeface="Comic Sans MS" pitchFamily="66" charset="0"/>
              </a:rPr>
              <a:t> Yields </a:t>
            </a:r>
            <a:r>
              <a:rPr lang="en-US" altLang="en-US" sz="2600" b="1" dirty="0">
                <a:solidFill>
                  <a:srgbClr val="000066"/>
                </a:solidFill>
                <a:latin typeface="Comic Sans MS" pitchFamily="66" charset="0"/>
              </a:rPr>
              <a:t>energy</a:t>
            </a:r>
            <a:r>
              <a:rPr lang="en-US" altLang="en-US" sz="2600" dirty="0">
                <a:latin typeface="Comic Sans MS" pitchFamily="66" charset="0"/>
              </a:rPr>
              <a:t> in the form of </a:t>
            </a:r>
            <a:r>
              <a:rPr lang="en-US" altLang="en-US" sz="2600" b="1" dirty="0">
                <a:solidFill>
                  <a:srgbClr val="000066"/>
                </a:solidFill>
                <a:latin typeface="Comic Sans MS" pitchFamily="66" charset="0"/>
              </a:rPr>
              <a:t>GTP (ATP).</a:t>
            </a:r>
          </a:p>
          <a:p>
            <a:endParaRPr lang="en-US" altLang="en-US" sz="2600" b="1" dirty="0">
              <a:solidFill>
                <a:srgbClr val="000066"/>
              </a:solidFill>
              <a:latin typeface="Comic Sans MS" pitchFamily="66" charset="0"/>
            </a:endParaRPr>
          </a:p>
          <a:p>
            <a:pPr>
              <a:buFontTx/>
              <a:buChar char="•"/>
            </a:pPr>
            <a:r>
              <a:rPr lang="en-US" sz="2600" b="1" dirty="0">
                <a:solidFill>
                  <a:srgbClr val="000066"/>
                </a:solidFill>
                <a:latin typeface="Comic Sans MS" pitchFamily="66" charset="0"/>
              </a:rPr>
              <a:t> </a:t>
            </a:r>
            <a:r>
              <a:rPr lang="en-US" altLang="en-US" sz="2600" dirty="0">
                <a:latin typeface="Comic Sans MS" pitchFamily="66" charset="0"/>
              </a:rPr>
              <a:t>Yields </a:t>
            </a:r>
            <a:r>
              <a:rPr lang="en-US" sz="2600" b="1" dirty="0">
                <a:solidFill>
                  <a:srgbClr val="000066"/>
                </a:solidFill>
                <a:latin typeface="Comic Sans MS" pitchFamily="66" charset="0"/>
              </a:rPr>
              <a:t>reducing power </a:t>
            </a:r>
            <a:r>
              <a:rPr lang="en-US" sz="2600" dirty="0">
                <a:latin typeface="Comic Sans MS" pitchFamily="66" charset="0"/>
              </a:rPr>
              <a:t>in the form of </a:t>
            </a:r>
            <a:r>
              <a:rPr lang="en-US" sz="2600" b="1" dirty="0">
                <a:solidFill>
                  <a:srgbClr val="000066"/>
                </a:solidFill>
                <a:latin typeface="Comic Sans MS" pitchFamily="66" charset="0"/>
              </a:rPr>
              <a:t>NADH</a:t>
            </a:r>
            <a:r>
              <a:rPr lang="en-US" sz="2600" b="1" baseline="-25000" dirty="0">
                <a:solidFill>
                  <a:srgbClr val="000066"/>
                </a:solidFill>
                <a:latin typeface="Comic Sans MS" pitchFamily="66" charset="0"/>
              </a:rPr>
              <a:t>2</a:t>
            </a:r>
            <a:r>
              <a:rPr lang="en-US" sz="2600" dirty="0">
                <a:latin typeface="Comic Sans MS" pitchFamily="66" charset="0"/>
              </a:rPr>
              <a:t> and </a:t>
            </a:r>
            <a:r>
              <a:rPr lang="en-US" sz="2600" b="1" dirty="0">
                <a:solidFill>
                  <a:srgbClr val="000066"/>
                </a:solidFill>
                <a:latin typeface="Comic Sans MS" pitchFamily="66" charset="0"/>
              </a:rPr>
              <a:t>FADH</a:t>
            </a:r>
            <a:r>
              <a:rPr lang="en-US" sz="2600" b="1" baseline="-25000" dirty="0">
                <a:solidFill>
                  <a:srgbClr val="000066"/>
                </a:solidFill>
                <a:latin typeface="Comic Sans MS" pitchFamily="66" charset="0"/>
              </a:rPr>
              <a:t>2</a:t>
            </a:r>
            <a:r>
              <a:rPr lang="en-US" sz="2600" b="1" dirty="0">
                <a:solidFill>
                  <a:srgbClr val="000066"/>
                </a:solidFill>
                <a:latin typeface="Comic Sans MS" pitchFamily="66" charset="0"/>
              </a:rPr>
              <a:t>.</a:t>
            </a:r>
            <a:endParaRPr lang="en-US" sz="2600" b="1" baseline="-25000" dirty="0">
              <a:solidFill>
                <a:srgbClr val="000066"/>
              </a:solidFill>
              <a:latin typeface="Comic Sans MS" pitchFamily="66" charset="0"/>
            </a:endParaRPr>
          </a:p>
          <a:p>
            <a:pPr>
              <a:buFontTx/>
              <a:buChar char="•"/>
            </a:pPr>
            <a:endParaRPr lang="en-US" sz="2600" b="1" dirty="0">
              <a:solidFill>
                <a:srgbClr val="000066"/>
              </a:solidFill>
              <a:latin typeface="Comic Sans MS" pitchFamily="66" charset="0"/>
            </a:endParaRP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lum bright="-20000" contrast="40000"/>
          </a:blip>
          <a:srcRect/>
          <a:stretch>
            <a:fillRect/>
          </a:stretch>
        </p:blipFill>
        <p:spPr bwMode="auto">
          <a:xfrm>
            <a:off x="185769" y="71414"/>
            <a:ext cx="8886825" cy="6643710"/>
          </a:xfrm>
          <a:prstGeom prst="rect">
            <a:avLst/>
          </a:prstGeom>
          <a:noFill/>
          <a:ln w="9525">
            <a:noFill/>
            <a:miter lim="800000"/>
            <a:headEnd/>
            <a:tailEnd/>
          </a:ln>
          <a:effectLst/>
        </p:spPr>
      </p:pic>
      <p:sp>
        <p:nvSpPr>
          <p:cNvPr id="5" name="TextBox 4"/>
          <p:cNvSpPr txBox="1"/>
          <p:nvPr/>
        </p:nvSpPr>
        <p:spPr>
          <a:xfrm>
            <a:off x="214283" y="97673"/>
            <a:ext cx="2357453" cy="830997"/>
          </a:xfrm>
          <a:prstGeom prst="rect">
            <a:avLst/>
          </a:prstGeom>
          <a:noFill/>
        </p:spPr>
        <p:txBody>
          <a:bodyPr wrap="square" rtlCol="0">
            <a:spAutoFit/>
          </a:bodyPr>
          <a:lstStyle/>
          <a:p>
            <a:r>
              <a:rPr lang="en-GB" sz="2400" b="1" dirty="0" smtClean="0"/>
              <a:t>Reactions of the Citric acid cycle</a:t>
            </a:r>
            <a:endParaRPr lang="en-GB" sz="2400" b="1" dirty="0"/>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12"/>
          <p:cNvSpPr>
            <a:spLocks noChangeArrowheads="1"/>
          </p:cNvSpPr>
          <p:nvPr/>
        </p:nvSpPr>
        <p:spPr bwMode="auto">
          <a:xfrm>
            <a:off x="2514600" y="314325"/>
            <a:ext cx="4332288" cy="579438"/>
          </a:xfrm>
          <a:prstGeom prst="rect">
            <a:avLst/>
          </a:prstGeom>
          <a:noFill/>
          <a:ln w="9525">
            <a:noFill/>
            <a:miter lim="800000"/>
            <a:headEnd/>
            <a:tailEnd/>
          </a:ln>
        </p:spPr>
        <p:txBody>
          <a:bodyPr wrap="none">
            <a:spAutoFit/>
          </a:bodyPr>
          <a:lstStyle/>
          <a:p>
            <a:r>
              <a:rPr lang="en-US" altLang="en-US" sz="3200" b="1" dirty="0">
                <a:solidFill>
                  <a:srgbClr val="660033"/>
                </a:solidFill>
                <a:latin typeface="Comic Sans MS" pitchFamily="66" charset="0"/>
              </a:rPr>
              <a:t>1.  Citrate </a:t>
            </a:r>
            <a:r>
              <a:rPr lang="en-US" altLang="en-US" sz="3200" b="1" dirty="0" err="1">
                <a:solidFill>
                  <a:srgbClr val="660033"/>
                </a:solidFill>
                <a:latin typeface="Comic Sans MS" pitchFamily="66" charset="0"/>
              </a:rPr>
              <a:t>Synthase</a:t>
            </a:r>
            <a:endParaRPr lang="en-US" sz="3200" b="1" dirty="0">
              <a:solidFill>
                <a:srgbClr val="660033"/>
              </a:solidFill>
              <a:latin typeface="Comic Sans MS" pitchFamily="66" charset="0"/>
            </a:endParaRPr>
          </a:p>
        </p:txBody>
      </p:sp>
      <p:sp>
        <p:nvSpPr>
          <p:cNvPr id="5" name="Text Box 13"/>
          <p:cNvSpPr txBox="1">
            <a:spLocks noChangeArrowheads="1"/>
          </p:cNvSpPr>
          <p:nvPr/>
        </p:nvSpPr>
        <p:spPr bwMode="auto">
          <a:xfrm>
            <a:off x="228600" y="928670"/>
            <a:ext cx="8686800" cy="2412968"/>
          </a:xfrm>
          <a:prstGeom prst="rect">
            <a:avLst/>
          </a:prstGeom>
          <a:noFill/>
          <a:ln w="9525">
            <a:noFill/>
            <a:miter lim="800000"/>
            <a:headEnd/>
            <a:tailEnd/>
          </a:ln>
        </p:spPr>
        <p:txBody>
          <a:bodyPr wrap="square">
            <a:spAutoFit/>
          </a:bodyPr>
          <a:lstStyle/>
          <a:p>
            <a:pPr marL="227013" indent="-227013" eaLnBrk="0" hangingPunct="0">
              <a:lnSpc>
                <a:spcPct val="90000"/>
              </a:lnSpc>
              <a:spcBef>
                <a:spcPct val="50000"/>
              </a:spcBef>
              <a:buFontTx/>
              <a:buChar char="•"/>
            </a:pPr>
            <a:r>
              <a:rPr lang="en-US" altLang="en-US" sz="2600" b="1" dirty="0">
                <a:solidFill>
                  <a:schemeClr val="accent2"/>
                </a:solidFill>
                <a:latin typeface="Comic Sans MS" pitchFamily="66" charset="0"/>
              </a:rPr>
              <a:t>Citrate</a:t>
            </a:r>
            <a:r>
              <a:rPr lang="en-US" altLang="en-US" sz="2600" dirty="0">
                <a:latin typeface="Comic Sans MS" pitchFamily="66" charset="0"/>
              </a:rPr>
              <a:t> formed from </a:t>
            </a:r>
            <a:r>
              <a:rPr lang="en-US" altLang="en-US" sz="2600" b="1" dirty="0">
                <a:solidFill>
                  <a:schemeClr val="accent2"/>
                </a:solidFill>
                <a:latin typeface="Comic Sans MS" pitchFamily="66" charset="0"/>
              </a:rPr>
              <a:t>acetyl </a:t>
            </a:r>
            <a:r>
              <a:rPr lang="en-US" altLang="en-US" sz="2600" b="1" dirty="0" err="1">
                <a:solidFill>
                  <a:schemeClr val="accent2"/>
                </a:solidFill>
                <a:latin typeface="Comic Sans MS" pitchFamily="66" charset="0"/>
              </a:rPr>
              <a:t>CoA</a:t>
            </a:r>
            <a:r>
              <a:rPr lang="en-US" altLang="en-US" sz="2600" dirty="0">
                <a:latin typeface="Comic Sans MS" pitchFamily="66" charset="0"/>
              </a:rPr>
              <a:t> and </a:t>
            </a:r>
            <a:r>
              <a:rPr lang="en-US" altLang="en-US" sz="2600" b="1" dirty="0" err="1">
                <a:solidFill>
                  <a:schemeClr val="accent2"/>
                </a:solidFill>
                <a:latin typeface="Comic Sans MS" pitchFamily="66" charset="0"/>
              </a:rPr>
              <a:t>oxaloacetate</a:t>
            </a:r>
            <a:endParaRPr lang="en-US" altLang="en-US" sz="2600" b="1" dirty="0">
              <a:solidFill>
                <a:schemeClr val="accent2"/>
              </a:solidFill>
              <a:latin typeface="Comic Sans MS" pitchFamily="66" charset="0"/>
            </a:endParaRPr>
          </a:p>
          <a:p>
            <a:pPr marL="227013" indent="-227013" eaLnBrk="0" hangingPunct="0">
              <a:lnSpc>
                <a:spcPct val="90000"/>
              </a:lnSpc>
              <a:spcBef>
                <a:spcPct val="50000"/>
              </a:spcBef>
              <a:buFontTx/>
              <a:buChar char="•"/>
            </a:pPr>
            <a:r>
              <a:rPr lang="en-US" altLang="en-US" sz="2600" dirty="0">
                <a:latin typeface="Comic Sans MS" pitchFamily="66" charset="0"/>
              </a:rPr>
              <a:t>Only cycle reaction with C-C bond formation</a:t>
            </a:r>
          </a:p>
          <a:p>
            <a:pPr marL="227013" indent="-227013" eaLnBrk="0" hangingPunct="0">
              <a:spcBef>
                <a:spcPct val="50000"/>
              </a:spcBef>
              <a:buFontTx/>
              <a:buChar char="•"/>
            </a:pPr>
            <a:r>
              <a:rPr lang="en-US" altLang="en-US" sz="2600" dirty="0">
                <a:latin typeface="Comic Sans MS" pitchFamily="66" charset="0"/>
              </a:rPr>
              <a:t>Addition of </a:t>
            </a:r>
            <a:r>
              <a:rPr lang="en-US" altLang="en-US" sz="2600" b="1" dirty="0">
                <a:latin typeface="Comic Sans MS" pitchFamily="66" charset="0"/>
              </a:rPr>
              <a:t>C</a:t>
            </a:r>
            <a:r>
              <a:rPr lang="en-US" altLang="en-US" sz="2600" b="1" baseline="-25000" dirty="0">
                <a:latin typeface="Comic Sans MS" pitchFamily="66" charset="0"/>
              </a:rPr>
              <a:t>2</a:t>
            </a:r>
            <a:r>
              <a:rPr lang="en-US" altLang="en-US" sz="2600" b="1" dirty="0">
                <a:latin typeface="Comic Sans MS" pitchFamily="66" charset="0"/>
              </a:rPr>
              <a:t> unit</a:t>
            </a:r>
            <a:r>
              <a:rPr lang="en-US" altLang="en-US" sz="2600" dirty="0">
                <a:latin typeface="Comic Sans MS" pitchFamily="66" charset="0"/>
              </a:rPr>
              <a:t> (acetyl) to the </a:t>
            </a:r>
            <a:r>
              <a:rPr lang="en-US" altLang="en-US" sz="2600" dirty="0" err="1">
                <a:latin typeface="Comic Sans MS" pitchFamily="66" charset="0"/>
              </a:rPr>
              <a:t>keto</a:t>
            </a:r>
            <a:r>
              <a:rPr lang="en-US" altLang="en-US" sz="2600" dirty="0">
                <a:latin typeface="Comic Sans MS" pitchFamily="66" charset="0"/>
              </a:rPr>
              <a:t> double bond of </a:t>
            </a:r>
            <a:r>
              <a:rPr lang="en-US" altLang="en-US" sz="2600" b="1" dirty="0">
                <a:latin typeface="Comic Sans MS" pitchFamily="66" charset="0"/>
              </a:rPr>
              <a:t>C</a:t>
            </a:r>
            <a:r>
              <a:rPr lang="en-US" altLang="en-US" sz="2600" b="1" baseline="-25000" dirty="0">
                <a:latin typeface="Comic Sans MS" pitchFamily="66" charset="0"/>
              </a:rPr>
              <a:t>4</a:t>
            </a:r>
            <a:r>
              <a:rPr lang="en-US" altLang="en-US" sz="2600" dirty="0">
                <a:latin typeface="Comic Sans MS" pitchFamily="66" charset="0"/>
              </a:rPr>
              <a:t> acid, </a:t>
            </a:r>
            <a:r>
              <a:rPr lang="en-US" altLang="en-US" sz="2600" dirty="0" err="1">
                <a:latin typeface="Comic Sans MS" pitchFamily="66" charset="0"/>
              </a:rPr>
              <a:t>oxaloacetate</a:t>
            </a:r>
            <a:r>
              <a:rPr lang="en-US" altLang="en-US" sz="2600" dirty="0">
                <a:latin typeface="Comic Sans MS" pitchFamily="66" charset="0"/>
              </a:rPr>
              <a:t>, to produce </a:t>
            </a:r>
            <a:r>
              <a:rPr lang="en-US" altLang="en-US" sz="2600" b="1" dirty="0">
                <a:latin typeface="Comic Sans MS" pitchFamily="66" charset="0"/>
              </a:rPr>
              <a:t>C</a:t>
            </a:r>
            <a:r>
              <a:rPr lang="en-US" altLang="en-US" sz="2600" b="1" baseline="-25000" dirty="0">
                <a:latin typeface="Comic Sans MS" pitchFamily="66" charset="0"/>
              </a:rPr>
              <a:t>6</a:t>
            </a:r>
            <a:r>
              <a:rPr lang="en-US" altLang="en-US" sz="2600" dirty="0">
                <a:latin typeface="Comic Sans MS" pitchFamily="66" charset="0"/>
              </a:rPr>
              <a:t> compound, citrate</a:t>
            </a:r>
          </a:p>
        </p:txBody>
      </p:sp>
      <p:grpSp>
        <p:nvGrpSpPr>
          <p:cNvPr id="6" name="Group 15"/>
          <p:cNvGrpSpPr>
            <a:grpSpLocks/>
          </p:cNvGrpSpPr>
          <p:nvPr/>
        </p:nvGrpSpPr>
        <p:grpSpPr bwMode="auto">
          <a:xfrm>
            <a:off x="914400" y="3500438"/>
            <a:ext cx="7015186" cy="2057415"/>
            <a:chOff x="576" y="2304"/>
            <a:chExt cx="4159" cy="1698"/>
          </a:xfrm>
        </p:grpSpPr>
        <p:graphicFrame>
          <p:nvGraphicFramePr>
            <p:cNvPr id="7" name="Object 2"/>
            <p:cNvGraphicFramePr>
              <a:graphicFrameLocks noChangeAspect="1"/>
            </p:cNvGraphicFramePr>
            <p:nvPr/>
          </p:nvGraphicFramePr>
          <p:xfrm>
            <a:off x="576" y="2304"/>
            <a:ext cx="4159" cy="1698"/>
          </p:xfrm>
          <a:graphic>
            <a:graphicData uri="http://schemas.openxmlformats.org/presentationml/2006/ole">
              <mc:AlternateContent xmlns:mc="http://schemas.openxmlformats.org/markup-compatibility/2006">
                <mc:Choice xmlns:v="urn:schemas-microsoft-com:vml" Requires="v">
                  <p:oleObj spid="_x0000_s50196" name="Bitmap Image" r:id="rId3" imgW="6601746" imgH="2695951" progId="PBrush">
                    <p:embed/>
                  </p:oleObj>
                </mc:Choice>
                <mc:Fallback>
                  <p:oleObj name="Bitmap Image" r:id="rId3" imgW="6601746" imgH="2695951" progId="PBrush">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 y="2304"/>
                          <a:ext cx="4159" cy="16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Rectangle 14"/>
            <p:cNvSpPr>
              <a:spLocks noChangeArrowheads="1"/>
            </p:cNvSpPr>
            <p:nvPr/>
          </p:nvSpPr>
          <p:spPr bwMode="auto">
            <a:xfrm>
              <a:off x="2537" y="3027"/>
              <a:ext cx="1164" cy="231"/>
            </a:xfrm>
            <a:prstGeom prst="rect">
              <a:avLst/>
            </a:prstGeom>
            <a:noFill/>
            <a:ln w="9525">
              <a:noFill/>
              <a:miter lim="800000"/>
              <a:headEnd/>
              <a:tailEnd/>
            </a:ln>
          </p:spPr>
          <p:txBody>
            <a:bodyPr wrap="none" anchor="ctr">
              <a:spAutoFit/>
            </a:bodyPr>
            <a:lstStyle/>
            <a:p>
              <a:r>
                <a:rPr lang="en-US" sz="1800" i="1" dirty="0">
                  <a:latin typeface="Arial" charset="0"/>
                </a:rPr>
                <a:t>citrate </a:t>
              </a:r>
              <a:r>
                <a:rPr lang="en-US" sz="1800" i="1" dirty="0" err="1">
                  <a:latin typeface="Arial" charset="0"/>
                </a:rPr>
                <a:t>synthase</a:t>
              </a:r>
              <a:r>
                <a:rPr lang="en-US" sz="1800" dirty="0">
                  <a:latin typeface="Arial" charset="0"/>
                </a:rPr>
                <a:t> </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457200" y="214290"/>
            <a:ext cx="7772400" cy="533400"/>
          </a:xfrm>
        </p:spPr>
        <p:txBody>
          <a:bodyPr>
            <a:normAutofit fontScale="90000"/>
          </a:bodyPr>
          <a:lstStyle/>
          <a:p>
            <a:pPr eaLnBrk="1" hangingPunct="1"/>
            <a:r>
              <a:rPr lang="en-US" altLang="en-US" sz="3200" b="1" dirty="0" smtClean="0">
                <a:solidFill>
                  <a:srgbClr val="660033"/>
                </a:solidFill>
                <a:latin typeface="Comic Sans MS" pitchFamily="66" charset="0"/>
              </a:rPr>
              <a:t>2.  </a:t>
            </a:r>
            <a:r>
              <a:rPr lang="en-US" altLang="en-US" sz="3200" b="1" dirty="0" err="1" smtClean="0">
                <a:solidFill>
                  <a:srgbClr val="660033"/>
                </a:solidFill>
                <a:latin typeface="Comic Sans MS" pitchFamily="66" charset="0"/>
              </a:rPr>
              <a:t>Aconitase</a:t>
            </a:r>
            <a:endParaRPr lang="en-US" altLang="en-US" sz="3200" b="1" dirty="0" smtClean="0">
              <a:solidFill>
                <a:srgbClr val="660033"/>
              </a:solidFill>
              <a:latin typeface="Comic Sans MS" pitchFamily="66" charset="0"/>
            </a:endParaRPr>
          </a:p>
        </p:txBody>
      </p:sp>
      <p:sp>
        <p:nvSpPr>
          <p:cNvPr id="5" name="Text Box 3"/>
          <p:cNvSpPr txBox="1">
            <a:spLocks noChangeArrowheads="1"/>
          </p:cNvSpPr>
          <p:nvPr/>
        </p:nvSpPr>
        <p:spPr bwMode="auto">
          <a:xfrm>
            <a:off x="304800" y="785794"/>
            <a:ext cx="8458200" cy="1878013"/>
          </a:xfrm>
          <a:prstGeom prst="rect">
            <a:avLst/>
          </a:prstGeom>
          <a:noFill/>
          <a:ln w="9525">
            <a:noFill/>
            <a:miter lim="800000"/>
            <a:headEnd/>
            <a:tailEnd/>
          </a:ln>
        </p:spPr>
        <p:txBody>
          <a:bodyPr>
            <a:spAutoFit/>
          </a:bodyPr>
          <a:lstStyle/>
          <a:p>
            <a:pPr marL="233363" indent="-233363" eaLnBrk="0" hangingPunct="0">
              <a:spcBef>
                <a:spcPct val="50000"/>
              </a:spcBef>
              <a:buFontTx/>
              <a:buChar char="•"/>
            </a:pPr>
            <a:r>
              <a:rPr lang="en-US" altLang="en-US" sz="2600" dirty="0">
                <a:latin typeface="Comic Sans MS" pitchFamily="66" charset="0"/>
              </a:rPr>
              <a:t>Elimination of H</a:t>
            </a:r>
            <a:r>
              <a:rPr lang="en-US" altLang="en-US" sz="2600" baseline="-25000" dirty="0">
                <a:latin typeface="Comic Sans MS" pitchFamily="66" charset="0"/>
              </a:rPr>
              <a:t>2</a:t>
            </a:r>
            <a:r>
              <a:rPr lang="en-US" altLang="en-US" sz="2600" dirty="0">
                <a:latin typeface="Comic Sans MS" pitchFamily="66" charset="0"/>
              </a:rPr>
              <a:t>O from citrate to form C=C bond of </a:t>
            </a:r>
            <a:r>
              <a:rPr lang="en-US" altLang="en-US" sz="2600" b="1" i="1" dirty="0" err="1" smtClean="0">
                <a:solidFill>
                  <a:schemeClr val="accent2"/>
                </a:solidFill>
                <a:latin typeface="Comic Sans MS" pitchFamily="66" charset="0"/>
              </a:rPr>
              <a:t>cis</a:t>
            </a:r>
            <a:r>
              <a:rPr lang="en-US" altLang="en-US" sz="2600" b="1" dirty="0" err="1" smtClean="0">
                <a:solidFill>
                  <a:schemeClr val="accent2"/>
                </a:solidFill>
                <a:latin typeface="Comic Sans MS" pitchFamily="66" charset="0"/>
              </a:rPr>
              <a:t>-aconitate</a:t>
            </a:r>
            <a:r>
              <a:rPr lang="en-US" altLang="en-US" sz="2600" b="1" dirty="0" smtClean="0">
                <a:solidFill>
                  <a:schemeClr val="accent2"/>
                </a:solidFill>
                <a:latin typeface="Comic Sans MS" pitchFamily="66" charset="0"/>
              </a:rPr>
              <a:t>.</a:t>
            </a:r>
            <a:endParaRPr lang="en-US" altLang="en-US" sz="2600" b="1" dirty="0">
              <a:solidFill>
                <a:schemeClr val="accent2"/>
              </a:solidFill>
              <a:latin typeface="Comic Sans MS" pitchFamily="66" charset="0"/>
            </a:endParaRPr>
          </a:p>
          <a:p>
            <a:pPr marL="233363" indent="-233363" eaLnBrk="0" hangingPunct="0">
              <a:spcBef>
                <a:spcPct val="50000"/>
              </a:spcBef>
              <a:buFontTx/>
              <a:buChar char="•"/>
            </a:pPr>
            <a:r>
              <a:rPr lang="en-US" altLang="en-US" sz="2600" dirty="0" err="1">
                <a:latin typeface="Comic Sans MS" pitchFamily="66" charset="0"/>
              </a:rPr>
              <a:t>Stereospecific</a:t>
            </a:r>
            <a:r>
              <a:rPr lang="en-US" altLang="en-US" sz="2600" dirty="0">
                <a:latin typeface="Comic Sans MS" pitchFamily="66" charset="0"/>
              </a:rPr>
              <a:t> addition of H</a:t>
            </a:r>
            <a:r>
              <a:rPr lang="en-US" altLang="en-US" sz="2600" baseline="-25000" dirty="0">
                <a:latin typeface="Comic Sans MS" pitchFamily="66" charset="0"/>
              </a:rPr>
              <a:t>2</a:t>
            </a:r>
            <a:r>
              <a:rPr lang="en-US" altLang="en-US" sz="2600" dirty="0">
                <a:latin typeface="Comic Sans MS" pitchFamily="66" charset="0"/>
              </a:rPr>
              <a:t>O to </a:t>
            </a:r>
            <a:r>
              <a:rPr lang="en-US" altLang="en-US" sz="2600" i="1" dirty="0" err="1">
                <a:latin typeface="Comic Sans MS" pitchFamily="66" charset="0"/>
              </a:rPr>
              <a:t>cis</a:t>
            </a:r>
            <a:r>
              <a:rPr lang="en-US" altLang="en-US" sz="2600" dirty="0" err="1">
                <a:latin typeface="Comic Sans MS" pitchFamily="66" charset="0"/>
              </a:rPr>
              <a:t>-aconitate</a:t>
            </a:r>
            <a:r>
              <a:rPr lang="en-US" altLang="en-US" sz="2600" dirty="0">
                <a:latin typeface="Comic Sans MS" pitchFamily="66" charset="0"/>
              </a:rPr>
              <a:t> to form </a:t>
            </a:r>
            <a:r>
              <a:rPr lang="en-US" altLang="en-US" sz="2600" b="1" dirty="0" err="1" smtClean="0">
                <a:solidFill>
                  <a:schemeClr val="accent2"/>
                </a:solidFill>
                <a:latin typeface="Comic Sans MS" pitchFamily="66" charset="0"/>
              </a:rPr>
              <a:t>isocitrate</a:t>
            </a:r>
            <a:r>
              <a:rPr lang="en-US" altLang="en-US" sz="2600" b="1" dirty="0" smtClean="0">
                <a:solidFill>
                  <a:schemeClr val="accent2"/>
                </a:solidFill>
                <a:latin typeface="Comic Sans MS" pitchFamily="66" charset="0"/>
              </a:rPr>
              <a:t>.</a:t>
            </a:r>
            <a:endParaRPr lang="en-US" altLang="en-US" sz="2600" b="1" dirty="0">
              <a:solidFill>
                <a:schemeClr val="accent2"/>
              </a:solidFill>
              <a:latin typeface="Comic Sans MS" pitchFamily="66" charset="0"/>
            </a:endParaRPr>
          </a:p>
        </p:txBody>
      </p:sp>
      <p:grpSp>
        <p:nvGrpSpPr>
          <p:cNvPr id="6" name="Group 12"/>
          <p:cNvGrpSpPr>
            <a:grpSpLocks/>
          </p:cNvGrpSpPr>
          <p:nvPr/>
        </p:nvGrpSpPr>
        <p:grpSpPr bwMode="auto">
          <a:xfrm>
            <a:off x="250854" y="3219468"/>
            <a:ext cx="8535988" cy="2852738"/>
            <a:chOff x="96" y="2208"/>
            <a:chExt cx="5377" cy="1797"/>
          </a:xfrm>
        </p:grpSpPr>
        <p:pic>
          <p:nvPicPr>
            <p:cNvPr id="7" name="Picture 9"/>
            <p:cNvPicPr>
              <a:picLocks noChangeAspect="1" noChangeArrowheads="1"/>
            </p:cNvPicPr>
            <p:nvPr/>
          </p:nvPicPr>
          <p:blipFill>
            <a:blip r:embed="rId2"/>
            <a:srcRect/>
            <a:stretch>
              <a:fillRect/>
            </a:stretch>
          </p:blipFill>
          <p:spPr bwMode="auto">
            <a:xfrm>
              <a:off x="96" y="2208"/>
              <a:ext cx="5377" cy="1797"/>
            </a:xfrm>
            <a:prstGeom prst="rect">
              <a:avLst/>
            </a:prstGeom>
            <a:noFill/>
            <a:ln w="9525">
              <a:noFill/>
              <a:miter lim="800000"/>
              <a:headEnd/>
              <a:tailEnd/>
            </a:ln>
          </p:spPr>
        </p:pic>
        <p:sp>
          <p:nvSpPr>
            <p:cNvPr id="8" name="Rectangle 10"/>
            <p:cNvSpPr>
              <a:spLocks noChangeArrowheads="1"/>
            </p:cNvSpPr>
            <p:nvPr/>
          </p:nvSpPr>
          <p:spPr bwMode="auto">
            <a:xfrm>
              <a:off x="1344" y="3072"/>
              <a:ext cx="772" cy="231"/>
            </a:xfrm>
            <a:prstGeom prst="rect">
              <a:avLst/>
            </a:prstGeom>
            <a:noFill/>
            <a:ln w="9525">
              <a:noFill/>
              <a:miter lim="800000"/>
              <a:headEnd/>
              <a:tailEnd/>
            </a:ln>
          </p:spPr>
          <p:txBody>
            <a:bodyPr wrap="none" anchor="ctr">
              <a:spAutoFit/>
            </a:bodyPr>
            <a:lstStyle/>
            <a:p>
              <a:r>
                <a:rPr lang="en-US" sz="1800" i="1">
                  <a:latin typeface="Arial" charset="0"/>
                </a:rPr>
                <a:t>aconitase</a:t>
              </a:r>
              <a:r>
                <a:rPr lang="en-US" sz="1800">
                  <a:latin typeface="Arial" charset="0"/>
                </a:rPr>
                <a:t> </a:t>
              </a:r>
            </a:p>
          </p:txBody>
        </p:sp>
        <p:sp>
          <p:nvSpPr>
            <p:cNvPr id="9" name="Rectangle 11"/>
            <p:cNvSpPr>
              <a:spLocks noChangeArrowheads="1"/>
            </p:cNvSpPr>
            <p:nvPr/>
          </p:nvSpPr>
          <p:spPr bwMode="auto">
            <a:xfrm>
              <a:off x="3504" y="3072"/>
              <a:ext cx="772" cy="231"/>
            </a:xfrm>
            <a:prstGeom prst="rect">
              <a:avLst/>
            </a:prstGeom>
            <a:noFill/>
            <a:ln w="9525">
              <a:noFill/>
              <a:miter lim="800000"/>
              <a:headEnd/>
              <a:tailEnd/>
            </a:ln>
          </p:spPr>
          <p:txBody>
            <a:bodyPr wrap="none" anchor="ctr">
              <a:spAutoFit/>
            </a:bodyPr>
            <a:lstStyle/>
            <a:p>
              <a:r>
                <a:rPr lang="en-US" sz="1800" i="1">
                  <a:latin typeface="Arial" charset="0"/>
                </a:rPr>
                <a:t>aconitase</a:t>
              </a:r>
              <a:r>
                <a:rPr lang="en-US" sz="1800">
                  <a:latin typeface="Arial" charset="0"/>
                </a:rPr>
                <a:t> </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1202" name="Picture 2"/>
          <p:cNvPicPr>
            <a:picLocks noChangeAspect="1" noChangeArrowheads="1"/>
          </p:cNvPicPr>
          <p:nvPr/>
        </p:nvPicPr>
        <p:blipFill>
          <a:blip r:embed="rId2"/>
          <a:srcRect/>
          <a:stretch>
            <a:fillRect/>
          </a:stretch>
        </p:blipFill>
        <p:spPr bwMode="auto">
          <a:xfrm>
            <a:off x="142845" y="3929066"/>
            <a:ext cx="8858312" cy="2071702"/>
          </a:xfrm>
          <a:prstGeom prst="rect">
            <a:avLst/>
          </a:prstGeom>
          <a:noFill/>
          <a:ln w="9525">
            <a:noFill/>
            <a:miter lim="800000"/>
            <a:headEnd/>
            <a:tailEnd/>
          </a:ln>
          <a:effectLst/>
        </p:spPr>
      </p:pic>
      <p:sp>
        <p:nvSpPr>
          <p:cNvPr id="5" name="Rectangle 2"/>
          <p:cNvSpPr>
            <a:spLocks noGrp="1" noChangeArrowheads="1"/>
          </p:cNvSpPr>
          <p:nvPr>
            <p:ph type="title"/>
          </p:nvPr>
        </p:nvSpPr>
        <p:spPr>
          <a:xfrm>
            <a:off x="571472" y="104756"/>
            <a:ext cx="7772400" cy="609600"/>
          </a:xfrm>
        </p:spPr>
        <p:txBody>
          <a:bodyPr/>
          <a:lstStyle/>
          <a:p>
            <a:pPr eaLnBrk="1" hangingPunct="1"/>
            <a:r>
              <a:rPr lang="en-US" altLang="en-US" sz="3200" b="1" dirty="0" smtClean="0">
                <a:solidFill>
                  <a:srgbClr val="660033"/>
                </a:solidFill>
                <a:latin typeface="Comic Sans MS" pitchFamily="66" charset="0"/>
              </a:rPr>
              <a:t>3.  </a:t>
            </a:r>
            <a:r>
              <a:rPr lang="en-US" altLang="en-US" sz="3200" b="1" dirty="0" err="1" smtClean="0">
                <a:solidFill>
                  <a:srgbClr val="660033"/>
                </a:solidFill>
                <a:latin typeface="Comic Sans MS" pitchFamily="66" charset="0"/>
              </a:rPr>
              <a:t>Isocitrate</a:t>
            </a:r>
            <a:r>
              <a:rPr lang="en-US" altLang="en-US" sz="3200" b="1" dirty="0" smtClean="0">
                <a:solidFill>
                  <a:srgbClr val="660033"/>
                </a:solidFill>
                <a:latin typeface="Comic Sans MS" pitchFamily="66" charset="0"/>
              </a:rPr>
              <a:t> </a:t>
            </a:r>
            <a:r>
              <a:rPr lang="en-US" altLang="en-US" sz="3200" b="1" dirty="0" err="1" smtClean="0">
                <a:solidFill>
                  <a:srgbClr val="660033"/>
                </a:solidFill>
                <a:latin typeface="Comic Sans MS" pitchFamily="66" charset="0"/>
              </a:rPr>
              <a:t>Dehydrogenase</a:t>
            </a:r>
            <a:endParaRPr lang="en-US" altLang="en-US" sz="3200" dirty="0" smtClean="0">
              <a:solidFill>
                <a:srgbClr val="660033"/>
              </a:solidFill>
              <a:latin typeface="Comic Sans MS" pitchFamily="66" charset="0"/>
            </a:endParaRPr>
          </a:p>
        </p:txBody>
      </p:sp>
      <p:sp>
        <p:nvSpPr>
          <p:cNvPr id="6" name="Text Box 3"/>
          <p:cNvSpPr txBox="1">
            <a:spLocks noChangeArrowheads="1"/>
          </p:cNvSpPr>
          <p:nvPr/>
        </p:nvSpPr>
        <p:spPr bwMode="auto">
          <a:xfrm>
            <a:off x="142844" y="812801"/>
            <a:ext cx="8915400" cy="2862322"/>
          </a:xfrm>
          <a:prstGeom prst="rect">
            <a:avLst/>
          </a:prstGeom>
          <a:noFill/>
          <a:ln w="9525">
            <a:noFill/>
            <a:miter lim="800000"/>
            <a:headEnd/>
            <a:tailEnd/>
          </a:ln>
        </p:spPr>
        <p:txBody>
          <a:bodyPr>
            <a:spAutoFit/>
          </a:bodyPr>
          <a:lstStyle/>
          <a:p>
            <a:pPr marL="228600" indent="-228600" eaLnBrk="0" hangingPunct="0">
              <a:spcBef>
                <a:spcPct val="50000"/>
              </a:spcBef>
              <a:buFontTx/>
              <a:buChar char="•"/>
            </a:pPr>
            <a:r>
              <a:rPr lang="en-US" altLang="en-US" sz="2400" dirty="0">
                <a:latin typeface="Comic Sans MS" pitchFamily="66" charset="0"/>
              </a:rPr>
              <a:t>Oxidative </a:t>
            </a:r>
            <a:r>
              <a:rPr lang="en-US" altLang="en-US" sz="2400" dirty="0" err="1">
                <a:latin typeface="Comic Sans MS" pitchFamily="66" charset="0"/>
              </a:rPr>
              <a:t>decarboxylation</a:t>
            </a:r>
            <a:r>
              <a:rPr lang="en-US" altLang="en-US" sz="2400" dirty="0">
                <a:latin typeface="Comic Sans MS" pitchFamily="66" charset="0"/>
              </a:rPr>
              <a:t> of </a:t>
            </a:r>
            <a:r>
              <a:rPr lang="en-US" altLang="en-US" sz="2400" b="1" dirty="0" err="1">
                <a:solidFill>
                  <a:schemeClr val="accent2"/>
                </a:solidFill>
                <a:latin typeface="Comic Sans MS" pitchFamily="66" charset="0"/>
              </a:rPr>
              <a:t>isocitrate</a:t>
            </a:r>
            <a:r>
              <a:rPr lang="en-US" altLang="en-US" sz="2400" dirty="0">
                <a:latin typeface="Comic Sans MS" pitchFamily="66" charset="0"/>
              </a:rPr>
              <a:t> to</a:t>
            </a:r>
            <a:br>
              <a:rPr lang="en-US" altLang="en-US" sz="2400" dirty="0">
                <a:latin typeface="Comic Sans MS" pitchFamily="66" charset="0"/>
              </a:rPr>
            </a:br>
            <a:r>
              <a:rPr lang="en-US" altLang="en-US" sz="2400" b="1" dirty="0">
                <a:solidFill>
                  <a:schemeClr val="accent2"/>
                </a:solidFill>
                <a:latin typeface="Comic Sans MS" pitchFamily="66" charset="0"/>
              </a:rPr>
              <a:t>a-</a:t>
            </a:r>
            <a:r>
              <a:rPr lang="en-US" altLang="en-US" sz="2400" b="1" dirty="0" err="1">
                <a:solidFill>
                  <a:schemeClr val="accent2"/>
                </a:solidFill>
                <a:latin typeface="Comic Sans MS" pitchFamily="66" charset="0"/>
              </a:rPr>
              <a:t>ketoglutarate</a:t>
            </a:r>
            <a:r>
              <a:rPr lang="en-US" altLang="en-US" sz="2400" dirty="0">
                <a:latin typeface="Comic Sans MS" pitchFamily="66" charset="0"/>
              </a:rPr>
              <a:t> (</a:t>
            </a:r>
            <a:r>
              <a:rPr lang="en-US" altLang="en-US" sz="2400" b="1" dirty="0">
                <a:latin typeface="Comic Sans MS" pitchFamily="66" charset="0"/>
              </a:rPr>
              <a:t>a metabolically irreversible reaction</a:t>
            </a:r>
            <a:r>
              <a:rPr lang="en-US" altLang="en-US" sz="2400" dirty="0">
                <a:latin typeface="Comic Sans MS" pitchFamily="66" charset="0"/>
              </a:rPr>
              <a:t>)</a:t>
            </a:r>
          </a:p>
          <a:p>
            <a:pPr marL="228600" indent="-228600" eaLnBrk="0" hangingPunct="0">
              <a:spcBef>
                <a:spcPct val="50000"/>
              </a:spcBef>
              <a:buFontTx/>
              <a:buChar char="•"/>
            </a:pPr>
            <a:r>
              <a:rPr lang="en-US" altLang="en-US" sz="2400" dirty="0">
                <a:latin typeface="Comic Sans MS" pitchFamily="66" charset="0"/>
              </a:rPr>
              <a:t>One of four oxidation-reduction reactions of the cycle</a:t>
            </a:r>
          </a:p>
          <a:p>
            <a:pPr marL="228600" indent="-228600" eaLnBrk="0" hangingPunct="0">
              <a:spcBef>
                <a:spcPct val="50000"/>
              </a:spcBef>
              <a:buFontTx/>
              <a:buChar char="•"/>
            </a:pPr>
            <a:r>
              <a:rPr lang="en-US" altLang="en-US" sz="2400" dirty="0">
                <a:latin typeface="Comic Sans MS" pitchFamily="66" charset="0"/>
              </a:rPr>
              <a:t>Hydride ion from the C-2 of </a:t>
            </a:r>
            <a:r>
              <a:rPr lang="en-US" altLang="en-US" sz="2400" dirty="0" err="1">
                <a:latin typeface="Comic Sans MS" pitchFamily="66" charset="0"/>
              </a:rPr>
              <a:t>isocitrate</a:t>
            </a:r>
            <a:r>
              <a:rPr lang="en-US" altLang="en-US" sz="2400" dirty="0">
                <a:latin typeface="Comic Sans MS" pitchFamily="66" charset="0"/>
              </a:rPr>
              <a:t> is transferred to NAD</a:t>
            </a:r>
            <a:r>
              <a:rPr lang="en-US" altLang="en-US" sz="2400" baseline="30000" dirty="0">
                <a:latin typeface="Comic Sans MS" pitchFamily="66" charset="0"/>
              </a:rPr>
              <a:t>+</a:t>
            </a:r>
            <a:r>
              <a:rPr lang="en-US" altLang="en-US" sz="2400" dirty="0">
                <a:latin typeface="Comic Sans MS" pitchFamily="66" charset="0"/>
              </a:rPr>
              <a:t> to form NADH</a:t>
            </a:r>
          </a:p>
          <a:p>
            <a:pPr marL="228600" indent="-228600" eaLnBrk="0" hangingPunct="0">
              <a:spcBef>
                <a:spcPct val="50000"/>
              </a:spcBef>
              <a:buFontTx/>
              <a:buChar char="•"/>
            </a:pPr>
            <a:r>
              <a:rPr lang="en-US" altLang="en-US" sz="2400" dirty="0">
                <a:latin typeface="Comic Sans MS" pitchFamily="66" charset="0"/>
              </a:rPr>
              <a:t> </a:t>
            </a:r>
            <a:r>
              <a:rPr lang="en-US" altLang="en-US" sz="2400" b="1" dirty="0" err="1">
                <a:solidFill>
                  <a:schemeClr val="accent2"/>
                </a:solidFill>
                <a:latin typeface="Comic Sans MS" pitchFamily="66" charset="0"/>
              </a:rPr>
              <a:t>Oxalosuccinate</a:t>
            </a:r>
            <a:r>
              <a:rPr lang="en-US" altLang="en-US" sz="2400" dirty="0">
                <a:latin typeface="Comic Sans MS" pitchFamily="66" charset="0"/>
              </a:rPr>
              <a:t> is </a:t>
            </a:r>
            <a:r>
              <a:rPr lang="en-US" altLang="en-US" sz="2400" dirty="0" err="1">
                <a:latin typeface="Comic Sans MS" pitchFamily="66" charset="0"/>
              </a:rPr>
              <a:t>decarboxylated</a:t>
            </a:r>
            <a:r>
              <a:rPr lang="en-US" altLang="en-US" sz="2400" dirty="0">
                <a:latin typeface="Comic Sans MS" pitchFamily="66" charset="0"/>
              </a:rPr>
              <a:t> to </a:t>
            </a:r>
            <a:r>
              <a:rPr lang="en-US" altLang="en-US" sz="2400" b="1" dirty="0" smtClean="0">
                <a:solidFill>
                  <a:schemeClr val="accent2"/>
                </a:solidFill>
                <a:latin typeface="Comic Sans MS" pitchFamily="66" charset="0"/>
              </a:rPr>
              <a:t>a-</a:t>
            </a:r>
            <a:r>
              <a:rPr lang="en-US" altLang="en-US" sz="2400" b="1" dirty="0" err="1" smtClean="0">
                <a:solidFill>
                  <a:schemeClr val="accent2"/>
                </a:solidFill>
                <a:latin typeface="Comic Sans MS" pitchFamily="66" charset="0"/>
              </a:rPr>
              <a:t>ketoglutarate</a:t>
            </a:r>
            <a:endParaRPr lang="en-US" altLang="en-US" sz="2400" b="1" dirty="0" smtClean="0">
              <a:solidFill>
                <a:schemeClr val="accent2"/>
              </a:solidFill>
              <a:latin typeface="Comic Sans MS" pitchFamily="66" charset="0"/>
            </a:endParaRP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32" y="149225"/>
            <a:ext cx="9145588" cy="549275"/>
          </a:xfrm>
          <a:prstGeom prst="rect">
            <a:avLst/>
          </a:prstGeom>
          <a:noFill/>
          <a:ln w="9525">
            <a:noFill/>
            <a:miter lim="800000"/>
            <a:headEnd/>
            <a:tailEnd/>
          </a:ln>
        </p:spPr>
        <p:txBody>
          <a:bodyPr wrap="none">
            <a:spAutoFit/>
          </a:bodyPr>
          <a:lstStyle/>
          <a:p>
            <a:r>
              <a:rPr lang="en-US" altLang="en-US" sz="3000" b="1" dirty="0">
                <a:solidFill>
                  <a:srgbClr val="660033"/>
                </a:solidFill>
                <a:latin typeface="Comic Sans MS" pitchFamily="66" charset="0"/>
              </a:rPr>
              <a:t>4. The </a:t>
            </a:r>
            <a:r>
              <a:rPr lang="en-US" altLang="en-US" sz="3000" b="1" dirty="0">
                <a:solidFill>
                  <a:srgbClr val="660033"/>
                </a:solidFill>
                <a:latin typeface="Comic Sans MS" pitchFamily="66" charset="0"/>
                <a:sym typeface="Symbol" pitchFamily="18" charset="2"/>
              </a:rPr>
              <a:t></a:t>
            </a:r>
            <a:r>
              <a:rPr lang="en-US" altLang="en-US" sz="3000" b="1" dirty="0">
                <a:solidFill>
                  <a:srgbClr val="660033"/>
                </a:solidFill>
                <a:latin typeface="Comic Sans MS" pitchFamily="66" charset="0"/>
              </a:rPr>
              <a:t>-</a:t>
            </a:r>
            <a:r>
              <a:rPr lang="en-US" altLang="en-US" sz="3000" b="1" dirty="0" err="1">
                <a:solidFill>
                  <a:srgbClr val="660033"/>
                </a:solidFill>
                <a:latin typeface="Comic Sans MS" pitchFamily="66" charset="0"/>
              </a:rPr>
              <a:t>Ketoglutarate</a:t>
            </a:r>
            <a:r>
              <a:rPr lang="en-US" altLang="en-US" sz="3000" b="1" dirty="0">
                <a:solidFill>
                  <a:srgbClr val="660033"/>
                </a:solidFill>
                <a:latin typeface="Comic Sans MS" pitchFamily="66" charset="0"/>
              </a:rPr>
              <a:t> </a:t>
            </a:r>
            <a:r>
              <a:rPr lang="en-US" altLang="en-US" sz="3000" b="1" dirty="0" err="1">
                <a:solidFill>
                  <a:srgbClr val="660033"/>
                </a:solidFill>
                <a:latin typeface="Comic Sans MS" pitchFamily="66" charset="0"/>
              </a:rPr>
              <a:t>Dehydrogenase</a:t>
            </a:r>
            <a:r>
              <a:rPr lang="en-US" altLang="en-US" sz="3000" b="1" dirty="0">
                <a:solidFill>
                  <a:srgbClr val="660033"/>
                </a:solidFill>
                <a:latin typeface="Comic Sans MS" pitchFamily="66" charset="0"/>
              </a:rPr>
              <a:t> Complex</a:t>
            </a:r>
            <a:endParaRPr lang="en-US" sz="3000" b="1" dirty="0">
              <a:solidFill>
                <a:srgbClr val="660033"/>
              </a:solidFill>
              <a:latin typeface="Comic Sans MS" pitchFamily="66" charset="0"/>
            </a:endParaRPr>
          </a:p>
        </p:txBody>
      </p:sp>
      <p:sp>
        <p:nvSpPr>
          <p:cNvPr id="5" name="Text Box 5"/>
          <p:cNvSpPr txBox="1">
            <a:spLocks noChangeArrowheads="1"/>
          </p:cNvSpPr>
          <p:nvPr/>
        </p:nvSpPr>
        <p:spPr bwMode="auto">
          <a:xfrm>
            <a:off x="71406" y="793750"/>
            <a:ext cx="8982044" cy="2711450"/>
          </a:xfrm>
          <a:prstGeom prst="rect">
            <a:avLst/>
          </a:prstGeom>
          <a:noFill/>
          <a:ln w="9525">
            <a:noFill/>
            <a:miter lim="800000"/>
            <a:headEnd/>
            <a:tailEnd/>
          </a:ln>
        </p:spPr>
        <p:txBody>
          <a:bodyPr wrap="square">
            <a:spAutoFit/>
          </a:bodyPr>
          <a:lstStyle/>
          <a:p>
            <a:pPr marL="228600" indent="-228600" eaLnBrk="0" hangingPunct="0">
              <a:spcBef>
                <a:spcPct val="50000"/>
              </a:spcBef>
              <a:buFontTx/>
              <a:buChar char="•"/>
            </a:pPr>
            <a:r>
              <a:rPr lang="en-US" altLang="en-US" sz="2600" dirty="0">
                <a:latin typeface="Comic Sans MS" pitchFamily="66" charset="0"/>
              </a:rPr>
              <a:t>Similar to </a:t>
            </a:r>
            <a:r>
              <a:rPr lang="en-US" altLang="en-US" sz="2600" dirty="0" err="1">
                <a:latin typeface="Comic Sans MS" pitchFamily="66" charset="0"/>
              </a:rPr>
              <a:t>pyruvate</a:t>
            </a:r>
            <a:r>
              <a:rPr lang="en-US" altLang="en-US" sz="2600" dirty="0">
                <a:latin typeface="Comic Sans MS" pitchFamily="66" charset="0"/>
              </a:rPr>
              <a:t> </a:t>
            </a:r>
            <a:r>
              <a:rPr lang="en-US" altLang="en-US" sz="2600" dirty="0" err="1">
                <a:latin typeface="Comic Sans MS" pitchFamily="66" charset="0"/>
              </a:rPr>
              <a:t>dehydrogenase</a:t>
            </a:r>
            <a:r>
              <a:rPr lang="en-US" altLang="en-US" sz="2600" dirty="0">
                <a:latin typeface="Comic Sans MS" pitchFamily="66" charset="0"/>
              </a:rPr>
              <a:t> complex</a:t>
            </a:r>
          </a:p>
          <a:p>
            <a:pPr marL="228600" indent="-228600" eaLnBrk="0" hangingPunct="0">
              <a:lnSpc>
                <a:spcPct val="60000"/>
              </a:lnSpc>
              <a:spcBef>
                <a:spcPct val="50000"/>
              </a:spcBef>
              <a:buFontTx/>
              <a:buChar char="•"/>
            </a:pPr>
            <a:r>
              <a:rPr lang="en-US" altLang="en-US" sz="2600" dirty="0">
                <a:latin typeface="Comic Sans MS" pitchFamily="66" charset="0"/>
              </a:rPr>
              <a:t>Same coenzymes, identical mechanisms</a:t>
            </a:r>
          </a:p>
          <a:p>
            <a:pPr marL="228600" indent="-228600" eaLnBrk="0" hangingPunct="0">
              <a:spcBef>
                <a:spcPct val="50000"/>
              </a:spcBef>
            </a:pPr>
            <a:r>
              <a:rPr lang="en-US" altLang="en-US" sz="2000" dirty="0">
                <a:latin typeface="Comic Sans MS" pitchFamily="66" charset="0"/>
              </a:rPr>
              <a:t>	</a:t>
            </a:r>
            <a:r>
              <a:rPr lang="en-US" altLang="en-US" sz="2600" dirty="0">
                <a:latin typeface="Comic Sans MS" pitchFamily="66" charset="0"/>
              </a:rPr>
              <a:t>E</a:t>
            </a:r>
            <a:r>
              <a:rPr lang="en-US" altLang="en-US" sz="2600" baseline="-25000" dirty="0">
                <a:latin typeface="Comic Sans MS" pitchFamily="66" charset="0"/>
              </a:rPr>
              <a:t>1</a:t>
            </a:r>
            <a:r>
              <a:rPr lang="en-US" altLang="en-US" sz="2600" dirty="0">
                <a:latin typeface="Comic Sans MS" pitchFamily="66" charset="0"/>
              </a:rPr>
              <a:t> - </a:t>
            </a:r>
            <a:r>
              <a:rPr lang="en-US" altLang="en-US" sz="2600" b="1" i="1" dirty="0">
                <a:solidFill>
                  <a:schemeClr val="accent2"/>
                </a:solidFill>
                <a:latin typeface="Comic Sans MS" pitchFamily="66" charset="0"/>
              </a:rPr>
              <a:t>a-</a:t>
            </a:r>
            <a:r>
              <a:rPr lang="en-US" altLang="en-US" sz="2600" b="1" i="1" dirty="0" err="1">
                <a:solidFill>
                  <a:schemeClr val="accent2"/>
                </a:solidFill>
                <a:latin typeface="Comic Sans MS" pitchFamily="66" charset="0"/>
              </a:rPr>
              <a:t>ketoglutarate</a:t>
            </a:r>
            <a:r>
              <a:rPr lang="en-US" altLang="en-US" sz="2600" b="1" i="1" dirty="0">
                <a:solidFill>
                  <a:schemeClr val="accent2"/>
                </a:solidFill>
                <a:latin typeface="Comic Sans MS" pitchFamily="66" charset="0"/>
              </a:rPr>
              <a:t> </a:t>
            </a:r>
            <a:r>
              <a:rPr lang="en-US" altLang="en-US" sz="2600" b="1" i="1" dirty="0" err="1">
                <a:solidFill>
                  <a:schemeClr val="accent2"/>
                </a:solidFill>
                <a:latin typeface="Comic Sans MS" pitchFamily="66" charset="0"/>
              </a:rPr>
              <a:t>dehydrogenase</a:t>
            </a:r>
            <a:r>
              <a:rPr lang="en-US" altLang="en-US" sz="2600" dirty="0">
                <a:latin typeface="Comic Sans MS" pitchFamily="66" charset="0"/>
              </a:rPr>
              <a:t> (with </a:t>
            </a:r>
            <a:r>
              <a:rPr lang="en-US" altLang="en-US" sz="2600" b="1" dirty="0">
                <a:solidFill>
                  <a:schemeClr val="accent2"/>
                </a:solidFill>
                <a:latin typeface="Comic Sans MS" pitchFamily="66" charset="0"/>
              </a:rPr>
              <a:t>TPP</a:t>
            </a:r>
            <a:r>
              <a:rPr lang="en-US" altLang="en-US" sz="2600" dirty="0">
                <a:latin typeface="Comic Sans MS" pitchFamily="66" charset="0"/>
              </a:rPr>
              <a:t>)              E</a:t>
            </a:r>
            <a:r>
              <a:rPr lang="en-US" altLang="en-US" sz="2600" baseline="-25000" dirty="0">
                <a:latin typeface="Comic Sans MS" pitchFamily="66" charset="0"/>
              </a:rPr>
              <a:t>2</a:t>
            </a:r>
            <a:r>
              <a:rPr lang="en-US" altLang="en-US" sz="2600" dirty="0">
                <a:latin typeface="Comic Sans MS" pitchFamily="66" charset="0"/>
              </a:rPr>
              <a:t> – </a:t>
            </a:r>
            <a:r>
              <a:rPr lang="en-US" altLang="en-US" sz="2600" b="1" i="1" dirty="0" err="1">
                <a:solidFill>
                  <a:schemeClr val="accent2"/>
                </a:solidFill>
                <a:latin typeface="Comic Sans MS" pitchFamily="66" charset="0"/>
              </a:rPr>
              <a:t>dihydrolipoyl</a:t>
            </a:r>
            <a:r>
              <a:rPr lang="en-US" altLang="en-US" sz="2600" b="1" i="1" dirty="0">
                <a:solidFill>
                  <a:schemeClr val="accent2"/>
                </a:solidFill>
                <a:latin typeface="Comic Sans MS" pitchFamily="66" charset="0"/>
              </a:rPr>
              <a:t> </a:t>
            </a:r>
            <a:r>
              <a:rPr lang="en-US" altLang="en-US" sz="2600" b="1" i="1" dirty="0" err="1">
                <a:solidFill>
                  <a:schemeClr val="accent2"/>
                </a:solidFill>
                <a:latin typeface="Comic Sans MS" pitchFamily="66" charset="0"/>
              </a:rPr>
              <a:t>succinyltransferase</a:t>
            </a:r>
            <a:r>
              <a:rPr lang="en-US" altLang="en-US" sz="2600" dirty="0">
                <a:latin typeface="Comic Sans MS" pitchFamily="66" charset="0"/>
              </a:rPr>
              <a:t> (with flexible </a:t>
            </a:r>
            <a:r>
              <a:rPr lang="en-US" altLang="en-US" sz="2600" b="1" dirty="0" err="1">
                <a:solidFill>
                  <a:schemeClr val="accent2"/>
                </a:solidFill>
                <a:latin typeface="Comic Sans MS" pitchFamily="66" charset="0"/>
              </a:rPr>
              <a:t>lipoamide</a:t>
            </a:r>
            <a:r>
              <a:rPr lang="en-US" altLang="en-US" sz="2600" dirty="0">
                <a:latin typeface="Comic Sans MS" pitchFamily="66" charset="0"/>
              </a:rPr>
              <a:t> prosthetic group) 	                                                      E</a:t>
            </a:r>
            <a:r>
              <a:rPr lang="en-US" altLang="en-US" sz="2600" baseline="-25000" dirty="0">
                <a:latin typeface="Comic Sans MS" pitchFamily="66" charset="0"/>
              </a:rPr>
              <a:t>3</a:t>
            </a:r>
            <a:r>
              <a:rPr lang="en-US" altLang="en-US" sz="2600" dirty="0">
                <a:latin typeface="Comic Sans MS" pitchFamily="66" charset="0"/>
              </a:rPr>
              <a:t> - </a:t>
            </a:r>
            <a:r>
              <a:rPr lang="en-US" altLang="en-US" sz="2600" b="1" i="1" dirty="0" err="1">
                <a:solidFill>
                  <a:schemeClr val="accent2"/>
                </a:solidFill>
                <a:latin typeface="Comic Sans MS" pitchFamily="66" charset="0"/>
              </a:rPr>
              <a:t>dihydrolipoyl</a:t>
            </a:r>
            <a:r>
              <a:rPr lang="en-US" altLang="en-US" sz="2600" b="1" i="1" dirty="0">
                <a:solidFill>
                  <a:schemeClr val="accent2"/>
                </a:solidFill>
                <a:latin typeface="Comic Sans MS" pitchFamily="66" charset="0"/>
              </a:rPr>
              <a:t> </a:t>
            </a:r>
            <a:r>
              <a:rPr lang="en-US" altLang="en-US" sz="2600" b="1" i="1" dirty="0" err="1">
                <a:solidFill>
                  <a:schemeClr val="accent2"/>
                </a:solidFill>
                <a:latin typeface="Comic Sans MS" pitchFamily="66" charset="0"/>
              </a:rPr>
              <a:t>dehydrogenase</a:t>
            </a:r>
            <a:r>
              <a:rPr lang="en-US" altLang="en-US" sz="2000" dirty="0">
                <a:latin typeface="Comic Sans MS" pitchFamily="66" charset="0"/>
              </a:rPr>
              <a:t> </a:t>
            </a:r>
            <a:r>
              <a:rPr lang="en-US" altLang="en-US" sz="2600" dirty="0">
                <a:latin typeface="Comic Sans MS" pitchFamily="66" charset="0"/>
              </a:rPr>
              <a:t>(with </a:t>
            </a:r>
            <a:r>
              <a:rPr lang="en-US" altLang="en-US" sz="2600" b="1" dirty="0">
                <a:solidFill>
                  <a:schemeClr val="accent2"/>
                </a:solidFill>
                <a:latin typeface="Comic Sans MS" pitchFamily="66" charset="0"/>
              </a:rPr>
              <a:t>FAD</a:t>
            </a:r>
            <a:r>
              <a:rPr lang="en-US" altLang="en-US" sz="2600" dirty="0">
                <a:latin typeface="Comic Sans MS" pitchFamily="66" charset="0"/>
              </a:rPr>
              <a:t>)</a:t>
            </a:r>
            <a:r>
              <a:rPr lang="en-US" altLang="en-US" sz="2000" dirty="0">
                <a:latin typeface="Comic Sans MS" pitchFamily="66" charset="0"/>
              </a:rPr>
              <a:t>     </a:t>
            </a:r>
          </a:p>
        </p:txBody>
      </p:sp>
      <p:grpSp>
        <p:nvGrpSpPr>
          <p:cNvPr id="6" name="Group 12"/>
          <p:cNvGrpSpPr>
            <a:grpSpLocks/>
          </p:cNvGrpSpPr>
          <p:nvPr/>
        </p:nvGrpSpPr>
        <p:grpSpPr bwMode="auto">
          <a:xfrm>
            <a:off x="285720" y="3714752"/>
            <a:ext cx="8535987" cy="2730500"/>
            <a:chOff x="191" y="2496"/>
            <a:chExt cx="5377" cy="1720"/>
          </a:xfrm>
        </p:grpSpPr>
        <p:pic>
          <p:nvPicPr>
            <p:cNvPr id="7" name="Picture 8"/>
            <p:cNvPicPr>
              <a:picLocks noChangeAspect="1" noChangeArrowheads="1"/>
            </p:cNvPicPr>
            <p:nvPr/>
          </p:nvPicPr>
          <p:blipFill>
            <a:blip r:embed="rId2"/>
            <a:srcRect/>
            <a:stretch>
              <a:fillRect/>
            </a:stretch>
          </p:blipFill>
          <p:spPr bwMode="auto">
            <a:xfrm>
              <a:off x="191" y="2496"/>
              <a:ext cx="5377" cy="1720"/>
            </a:xfrm>
            <a:prstGeom prst="rect">
              <a:avLst/>
            </a:prstGeom>
            <a:noFill/>
            <a:ln w="9525">
              <a:noFill/>
              <a:miter lim="800000"/>
              <a:headEnd/>
              <a:tailEnd/>
            </a:ln>
          </p:spPr>
        </p:pic>
        <p:sp>
          <p:nvSpPr>
            <p:cNvPr id="8" name="Rectangle 11"/>
            <p:cNvSpPr>
              <a:spLocks noChangeArrowheads="1"/>
            </p:cNvSpPr>
            <p:nvPr/>
          </p:nvSpPr>
          <p:spPr bwMode="auto">
            <a:xfrm>
              <a:off x="2112" y="3408"/>
              <a:ext cx="1632" cy="442"/>
            </a:xfrm>
            <a:prstGeom prst="rect">
              <a:avLst/>
            </a:prstGeom>
            <a:noFill/>
            <a:ln w="9525">
              <a:noFill/>
              <a:miter lim="800000"/>
              <a:headEnd/>
              <a:tailEnd/>
            </a:ln>
          </p:spPr>
          <p:txBody>
            <a:bodyPr>
              <a:spAutoFit/>
            </a:bodyPr>
            <a:lstStyle/>
            <a:p>
              <a:r>
                <a:rPr lang="en-US" altLang="en-US" sz="2000" i="1">
                  <a:latin typeface="Symbol" pitchFamily="18" charset="2"/>
                </a:rPr>
                <a:t>a</a:t>
              </a:r>
              <a:r>
                <a:rPr lang="en-US" altLang="en-US" sz="2000" i="1">
                  <a:latin typeface="Arial" charset="0"/>
                </a:rPr>
                <a:t>-ketoglutarate dehydrogenase</a:t>
              </a:r>
              <a:endParaRPr lang="en-US" sz="2000" i="1">
                <a:latin typeface="Arial"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457200" y="152400"/>
            <a:ext cx="8229600" cy="615950"/>
          </a:xfrm>
        </p:spPr>
        <p:txBody>
          <a:bodyPr/>
          <a:lstStyle/>
          <a:p>
            <a:pPr eaLnBrk="1" hangingPunct="1"/>
            <a:r>
              <a:rPr lang="en-US" altLang="en-US" sz="3200" b="1" dirty="0" smtClean="0">
                <a:solidFill>
                  <a:srgbClr val="660033"/>
                </a:solidFill>
                <a:latin typeface="Comic Sans MS" pitchFamily="66" charset="0"/>
              </a:rPr>
              <a:t>5.  </a:t>
            </a:r>
            <a:r>
              <a:rPr lang="en-US" altLang="en-US" sz="3200" b="1" dirty="0" err="1" smtClean="0">
                <a:solidFill>
                  <a:srgbClr val="660033"/>
                </a:solidFill>
                <a:latin typeface="Comic Sans MS" pitchFamily="66" charset="0"/>
              </a:rPr>
              <a:t>Succinyl-CoA</a:t>
            </a:r>
            <a:r>
              <a:rPr lang="en-US" altLang="en-US" sz="3200" b="1" dirty="0" smtClean="0">
                <a:solidFill>
                  <a:srgbClr val="660033"/>
                </a:solidFill>
                <a:latin typeface="Comic Sans MS" pitchFamily="66" charset="0"/>
              </a:rPr>
              <a:t> </a:t>
            </a:r>
            <a:r>
              <a:rPr lang="en-US" altLang="en-US" sz="3200" b="1" dirty="0" err="1" smtClean="0">
                <a:solidFill>
                  <a:srgbClr val="660033"/>
                </a:solidFill>
                <a:latin typeface="Comic Sans MS" pitchFamily="66" charset="0"/>
              </a:rPr>
              <a:t>Synthetase</a:t>
            </a:r>
            <a:endParaRPr lang="en-US" altLang="en-US" sz="3200" dirty="0" smtClean="0">
              <a:solidFill>
                <a:srgbClr val="660033"/>
              </a:solidFill>
              <a:latin typeface="Comic Sans MS" pitchFamily="66" charset="0"/>
            </a:endParaRPr>
          </a:p>
        </p:txBody>
      </p:sp>
      <p:sp>
        <p:nvSpPr>
          <p:cNvPr id="5" name="Text Box 3"/>
          <p:cNvSpPr txBox="1">
            <a:spLocks noChangeArrowheads="1"/>
          </p:cNvSpPr>
          <p:nvPr/>
        </p:nvSpPr>
        <p:spPr bwMode="auto">
          <a:xfrm>
            <a:off x="304800" y="762000"/>
            <a:ext cx="8458200" cy="1520825"/>
          </a:xfrm>
          <a:prstGeom prst="rect">
            <a:avLst/>
          </a:prstGeom>
          <a:noFill/>
          <a:ln w="9525">
            <a:noFill/>
            <a:miter lim="800000"/>
            <a:headEnd/>
            <a:tailEnd/>
          </a:ln>
        </p:spPr>
        <p:txBody>
          <a:bodyPr>
            <a:spAutoFit/>
          </a:bodyPr>
          <a:lstStyle/>
          <a:p>
            <a:pPr marL="228600" indent="-228600" eaLnBrk="0" hangingPunct="0">
              <a:lnSpc>
                <a:spcPct val="90000"/>
              </a:lnSpc>
              <a:spcBef>
                <a:spcPct val="50000"/>
              </a:spcBef>
              <a:buFontTx/>
              <a:buChar char="•"/>
            </a:pPr>
            <a:r>
              <a:rPr lang="en-US" altLang="en-US" sz="2600" dirty="0">
                <a:latin typeface="Comic Sans MS" pitchFamily="66" charset="0"/>
              </a:rPr>
              <a:t>Free energy in </a:t>
            </a:r>
            <a:r>
              <a:rPr lang="en-US" altLang="en-US" sz="2600" dirty="0" err="1">
                <a:latin typeface="Comic Sans MS" pitchFamily="66" charset="0"/>
              </a:rPr>
              <a:t>thioester</a:t>
            </a:r>
            <a:r>
              <a:rPr lang="en-US" altLang="en-US" sz="2600" dirty="0">
                <a:latin typeface="Comic Sans MS" pitchFamily="66" charset="0"/>
              </a:rPr>
              <a:t> bond of </a:t>
            </a:r>
            <a:r>
              <a:rPr lang="en-US" altLang="en-US" sz="2600" dirty="0" err="1">
                <a:latin typeface="Comic Sans MS" pitchFamily="66" charset="0"/>
              </a:rPr>
              <a:t>succinyl</a:t>
            </a:r>
            <a:r>
              <a:rPr lang="en-US" altLang="en-US" sz="2600" dirty="0">
                <a:latin typeface="Comic Sans MS" pitchFamily="66" charset="0"/>
              </a:rPr>
              <a:t> </a:t>
            </a:r>
            <a:r>
              <a:rPr lang="en-US" altLang="en-US" sz="2600" dirty="0" err="1">
                <a:latin typeface="Comic Sans MS" pitchFamily="66" charset="0"/>
              </a:rPr>
              <a:t>CoA</a:t>
            </a:r>
            <a:r>
              <a:rPr lang="en-US" altLang="en-US" sz="2600" dirty="0">
                <a:latin typeface="Comic Sans MS" pitchFamily="66" charset="0"/>
              </a:rPr>
              <a:t> is conserved as GTP or ATP in higher animals (or ATP in plants, some bacteria)</a:t>
            </a:r>
          </a:p>
          <a:p>
            <a:pPr marL="228600" indent="-228600" eaLnBrk="0" hangingPunct="0">
              <a:lnSpc>
                <a:spcPct val="40000"/>
              </a:lnSpc>
              <a:spcBef>
                <a:spcPct val="50000"/>
              </a:spcBef>
              <a:buFontTx/>
              <a:buChar char="•"/>
            </a:pPr>
            <a:r>
              <a:rPr lang="en-US" altLang="en-US" sz="2600" b="1" dirty="0">
                <a:solidFill>
                  <a:schemeClr val="accent2"/>
                </a:solidFill>
                <a:latin typeface="Comic Sans MS" pitchFamily="66" charset="0"/>
              </a:rPr>
              <a:t>Substrate level </a:t>
            </a:r>
            <a:r>
              <a:rPr lang="en-US" altLang="en-US" sz="2600" b="1" dirty="0" err="1">
                <a:solidFill>
                  <a:schemeClr val="accent2"/>
                </a:solidFill>
                <a:latin typeface="Comic Sans MS" pitchFamily="66" charset="0"/>
              </a:rPr>
              <a:t>phosphorylation</a:t>
            </a:r>
            <a:r>
              <a:rPr lang="en-US" altLang="en-US" sz="2600" dirty="0">
                <a:latin typeface="Comic Sans MS" pitchFamily="66" charset="0"/>
              </a:rPr>
              <a:t> reaction</a:t>
            </a:r>
          </a:p>
        </p:txBody>
      </p:sp>
      <p:grpSp>
        <p:nvGrpSpPr>
          <p:cNvPr id="6" name="Group 25"/>
          <p:cNvGrpSpPr>
            <a:grpSpLocks/>
          </p:cNvGrpSpPr>
          <p:nvPr/>
        </p:nvGrpSpPr>
        <p:grpSpPr bwMode="auto">
          <a:xfrm>
            <a:off x="242918" y="2428868"/>
            <a:ext cx="8686800" cy="3864359"/>
            <a:chOff x="192" y="1632"/>
            <a:chExt cx="5472" cy="2335"/>
          </a:xfrm>
        </p:grpSpPr>
        <p:grpSp>
          <p:nvGrpSpPr>
            <p:cNvPr id="7" name="Group 23"/>
            <p:cNvGrpSpPr>
              <a:grpSpLocks/>
            </p:cNvGrpSpPr>
            <p:nvPr/>
          </p:nvGrpSpPr>
          <p:grpSpPr bwMode="auto">
            <a:xfrm>
              <a:off x="192" y="1632"/>
              <a:ext cx="5472" cy="2335"/>
              <a:chOff x="192" y="1632"/>
              <a:chExt cx="5472" cy="2335"/>
            </a:xfrm>
          </p:grpSpPr>
          <p:grpSp>
            <p:nvGrpSpPr>
              <p:cNvPr id="9" name="Group 16"/>
              <p:cNvGrpSpPr>
                <a:grpSpLocks/>
              </p:cNvGrpSpPr>
              <p:nvPr/>
            </p:nvGrpSpPr>
            <p:grpSpPr bwMode="auto">
              <a:xfrm>
                <a:off x="192" y="1632"/>
                <a:ext cx="5472" cy="1968"/>
                <a:chOff x="192" y="2064"/>
                <a:chExt cx="5472" cy="2065"/>
              </a:xfrm>
            </p:grpSpPr>
            <p:grpSp>
              <p:nvGrpSpPr>
                <p:cNvPr id="14" name="Group 14"/>
                <p:cNvGrpSpPr>
                  <a:grpSpLocks/>
                </p:cNvGrpSpPr>
                <p:nvPr/>
              </p:nvGrpSpPr>
              <p:grpSpPr bwMode="auto">
                <a:xfrm>
                  <a:off x="192" y="2064"/>
                  <a:ext cx="5472" cy="2065"/>
                  <a:chOff x="192" y="2064"/>
                  <a:chExt cx="5472" cy="2065"/>
                </a:xfrm>
              </p:grpSpPr>
              <p:grpSp>
                <p:nvGrpSpPr>
                  <p:cNvPr id="16" name="Group 15"/>
                  <p:cNvGrpSpPr>
                    <a:grpSpLocks/>
                  </p:cNvGrpSpPr>
                  <p:nvPr/>
                </p:nvGrpSpPr>
                <p:grpSpPr bwMode="auto">
                  <a:xfrm>
                    <a:off x="192" y="2064"/>
                    <a:ext cx="5472" cy="2065"/>
                    <a:chOff x="192" y="2064"/>
                    <a:chExt cx="5472" cy="2065"/>
                  </a:xfrm>
                </p:grpSpPr>
                <p:pic>
                  <p:nvPicPr>
                    <p:cNvPr id="19" name="Picture 6"/>
                    <p:cNvPicPr>
                      <a:picLocks noChangeAspect="1" noChangeArrowheads="1"/>
                    </p:cNvPicPr>
                    <p:nvPr/>
                  </p:nvPicPr>
                  <p:blipFill>
                    <a:blip r:embed="rId2"/>
                    <a:srcRect/>
                    <a:stretch>
                      <a:fillRect/>
                    </a:stretch>
                  </p:blipFill>
                  <p:spPr bwMode="auto">
                    <a:xfrm>
                      <a:off x="192" y="2064"/>
                      <a:ext cx="5472" cy="2065"/>
                    </a:xfrm>
                    <a:prstGeom prst="rect">
                      <a:avLst/>
                    </a:prstGeom>
                    <a:noFill/>
                    <a:ln w="9525">
                      <a:noFill/>
                      <a:miter lim="800000"/>
                      <a:headEnd/>
                      <a:tailEnd/>
                    </a:ln>
                  </p:spPr>
                </p:pic>
                <p:sp>
                  <p:nvSpPr>
                    <p:cNvPr id="20" name="Rectangle 10"/>
                    <p:cNvSpPr>
                      <a:spLocks noChangeArrowheads="1"/>
                    </p:cNvSpPr>
                    <p:nvPr/>
                  </p:nvSpPr>
                  <p:spPr bwMode="auto">
                    <a:xfrm>
                      <a:off x="4368" y="3072"/>
                      <a:ext cx="144" cy="144"/>
                    </a:xfrm>
                    <a:prstGeom prst="rect">
                      <a:avLst/>
                    </a:prstGeom>
                    <a:solidFill>
                      <a:schemeClr val="bg1"/>
                    </a:solidFill>
                    <a:ln w="9525">
                      <a:noFill/>
                      <a:miter lim="800000"/>
                      <a:headEnd/>
                      <a:tailEnd/>
                    </a:ln>
                  </p:spPr>
                  <p:txBody>
                    <a:bodyPr wrap="none" anchor="ctr"/>
                    <a:lstStyle/>
                    <a:p>
                      <a:endParaRPr lang="ru-RU" sz="1800">
                        <a:latin typeface="Arial" charset="0"/>
                      </a:endParaRPr>
                    </a:p>
                  </p:txBody>
                </p:sp>
              </p:grpSp>
              <p:sp>
                <p:nvSpPr>
                  <p:cNvPr id="17" name="Text Box 12"/>
                  <p:cNvSpPr txBox="1">
                    <a:spLocks noChangeArrowheads="1"/>
                  </p:cNvSpPr>
                  <p:nvPr/>
                </p:nvSpPr>
                <p:spPr bwMode="auto">
                  <a:xfrm>
                    <a:off x="4287" y="3010"/>
                    <a:ext cx="432" cy="263"/>
                  </a:xfrm>
                  <a:prstGeom prst="rect">
                    <a:avLst/>
                  </a:prstGeom>
                  <a:noFill/>
                  <a:ln w="9525">
                    <a:noFill/>
                    <a:miter lim="800000"/>
                    <a:headEnd/>
                    <a:tailEnd/>
                  </a:ln>
                </p:spPr>
                <p:txBody>
                  <a:bodyPr>
                    <a:spAutoFit/>
                  </a:bodyPr>
                  <a:lstStyle/>
                  <a:p>
                    <a:pPr>
                      <a:spcBef>
                        <a:spcPct val="50000"/>
                      </a:spcBef>
                    </a:pPr>
                    <a:r>
                      <a:rPr lang="en-US" sz="2000">
                        <a:solidFill>
                          <a:srgbClr val="FF0066"/>
                        </a:solidFill>
                        <a:latin typeface="Arial" charset="0"/>
                      </a:rPr>
                      <a:t>HS-</a:t>
                    </a:r>
                  </a:p>
                </p:txBody>
              </p:sp>
              <p:sp>
                <p:nvSpPr>
                  <p:cNvPr id="18" name="Text Box 13"/>
                  <p:cNvSpPr txBox="1">
                    <a:spLocks noChangeArrowheads="1"/>
                  </p:cNvSpPr>
                  <p:nvPr/>
                </p:nvSpPr>
                <p:spPr bwMode="auto">
                  <a:xfrm>
                    <a:off x="4032" y="3024"/>
                    <a:ext cx="192" cy="262"/>
                  </a:xfrm>
                  <a:prstGeom prst="rect">
                    <a:avLst/>
                  </a:prstGeom>
                  <a:noFill/>
                  <a:ln w="9525">
                    <a:noFill/>
                    <a:miter lim="800000"/>
                    <a:headEnd/>
                    <a:tailEnd/>
                  </a:ln>
                </p:spPr>
                <p:txBody>
                  <a:bodyPr>
                    <a:spAutoFit/>
                  </a:bodyPr>
                  <a:lstStyle/>
                  <a:p>
                    <a:pPr>
                      <a:spcBef>
                        <a:spcPct val="50000"/>
                      </a:spcBef>
                    </a:pPr>
                    <a:r>
                      <a:rPr lang="en-US" sz="2000">
                        <a:latin typeface="Arial" charset="0"/>
                      </a:rPr>
                      <a:t>+</a:t>
                    </a:r>
                  </a:p>
                </p:txBody>
              </p:sp>
            </p:grpSp>
            <p:sp>
              <p:nvSpPr>
                <p:cNvPr id="15" name="Line 15"/>
                <p:cNvSpPr>
                  <a:spLocks noChangeShapeType="1"/>
                </p:cNvSpPr>
                <p:nvPr/>
              </p:nvSpPr>
              <p:spPr bwMode="auto">
                <a:xfrm flipH="1">
                  <a:off x="2880" y="3216"/>
                  <a:ext cx="528" cy="0"/>
                </a:xfrm>
                <a:prstGeom prst="line">
                  <a:avLst/>
                </a:prstGeom>
                <a:noFill/>
                <a:ln w="9525">
                  <a:solidFill>
                    <a:schemeClr val="tx1"/>
                  </a:solidFill>
                  <a:round/>
                  <a:headEnd/>
                  <a:tailEnd type="triangle" w="med" len="med"/>
                </a:ln>
              </p:spPr>
              <p:txBody>
                <a:bodyPr/>
                <a:lstStyle/>
                <a:p>
                  <a:endParaRPr lang="en-GB"/>
                </a:p>
              </p:txBody>
            </p:sp>
          </p:grpSp>
          <p:grpSp>
            <p:nvGrpSpPr>
              <p:cNvPr id="10" name="Group 22"/>
              <p:cNvGrpSpPr>
                <a:grpSpLocks/>
              </p:cNvGrpSpPr>
              <p:nvPr/>
            </p:nvGrpSpPr>
            <p:grpSpPr bwMode="auto">
              <a:xfrm>
                <a:off x="432" y="3744"/>
                <a:ext cx="4848" cy="223"/>
                <a:chOff x="432" y="3744"/>
                <a:chExt cx="4848" cy="223"/>
              </a:xfrm>
            </p:grpSpPr>
            <p:sp>
              <p:nvSpPr>
                <p:cNvPr id="11" name="Text Box 18"/>
                <p:cNvSpPr txBox="1">
                  <a:spLocks noChangeArrowheads="1"/>
                </p:cNvSpPr>
                <p:nvPr/>
              </p:nvSpPr>
              <p:spPr bwMode="auto">
                <a:xfrm>
                  <a:off x="432" y="3744"/>
                  <a:ext cx="4848" cy="223"/>
                </a:xfrm>
                <a:prstGeom prst="rect">
                  <a:avLst/>
                </a:prstGeom>
                <a:noFill/>
                <a:ln w="9525">
                  <a:noFill/>
                  <a:miter lim="800000"/>
                  <a:headEnd/>
                  <a:tailEnd/>
                </a:ln>
              </p:spPr>
              <p:txBody>
                <a:bodyPr>
                  <a:spAutoFit/>
                </a:bodyPr>
                <a:lstStyle/>
                <a:p>
                  <a:pPr>
                    <a:spcBef>
                      <a:spcPct val="50000"/>
                    </a:spcBef>
                  </a:pPr>
                  <a:r>
                    <a:rPr lang="en-US" dirty="0">
                      <a:latin typeface="Arial" charset="0"/>
                    </a:rPr>
                    <a:t>GTP + ADP                     </a:t>
                  </a:r>
                  <a:r>
                    <a:rPr lang="en-US" dirty="0" smtClean="0">
                      <a:latin typeface="Arial" charset="0"/>
                    </a:rPr>
                    <a:t>       GDP </a:t>
                  </a:r>
                  <a:r>
                    <a:rPr lang="en-US" dirty="0">
                      <a:latin typeface="Arial" charset="0"/>
                    </a:rPr>
                    <a:t>+ ATP</a:t>
                  </a:r>
                </a:p>
              </p:txBody>
            </p:sp>
            <p:sp>
              <p:nvSpPr>
                <p:cNvPr id="12" name="Line 19"/>
                <p:cNvSpPr>
                  <a:spLocks noChangeShapeType="1"/>
                </p:cNvSpPr>
                <p:nvPr/>
              </p:nvSpPr>
              <p:spPr bwMode="auto">
                <a:xfrm>
                  <a:off x="1428" y="3870"/>
                  <a:ext cx="816" cy="0"/>
                </a:xfrm>
                <a:prstGeom prst="line">
                  <a:avLst/>
                </a:prstGeom>
                <a:noFill/>
                <a:ln w="9525">
                  <a:solidFill>
                    <a:schemeClr val="tx1"/>
                  </a:solidFill>
                  <a:round/>
                  <a:headEnd/>
                  <a:tailEnd type="triangle" w="med" len="med"/>
                </a:ln>
              </p:spPr>
              <p:txBody>
                <a:bodyPr/>
                <a:lstStyle/>
                <a:p>
                  <a:endParaRPr lang="en-GB"/>
                </a:p>
              </p:txBody>
            </p:sp>
            <p:sp>
              <p:nvSpPr>
                <p:cNvPr id="13" name="Line 20"/>
                <p:cNvSpPr>
                  <a:spLocks noChangeShapeType="1"/>
                </p:cNvSpPr>
                <p:nvPr/>
              </p:nvSpPr>
              <p:spPr bwMode="auto">
                <a:xfrm flipH="1">
                  <a:off x="1428" y="3918"/>
                  <a:ext cx="816" cy="0"/>
                </a:xfrm>
                <a:prstGeom prst="line">
                  <a:avLst/>
                </a:prstGeom>
                <a:noFill/>
                <a:ln w="9525">
                  <a:solidFill>
                    <a:schemeClr val="tx1"/>
                  </a:solidFill>
                  <a:round/>
                  <a:headEnd/>
                  <a:tailEnd type="triangle" w="med" len="med"/>
                </a:ln>
              </p:spPr>
              <p:txBody>
                <a:bodyPr/>
                <a:lstStyle/>
                <a:p>
                  <a:endParaRPr lang="en-GB"/>
                </a:p>
              </p:txBody>
            </p:sp>
          </p:grpSp>
        </p:grpSp>
        <p:sp>
          <p:nvSpPr>
            <p:cNvPr id="8" name="Rectangle 24"/>
            <p:cNvSpPr>
              <a:spLocks noChangeArrowheads="1"/>
            </p:cNvSpPr>
            <p:nvPr/>
          </p:nvSpPr>
          <p:spPr bwMode="auto">
            <a:xfrm>
              <a:off x="2544" y="2764"/>
              <a:ext cx="1056" cy="404"/>
            </a:xfrm>
            <a:prstGeom prst="rect">
              <a:avLst/>
            </a:prstGeom>
            <a:noFill/>
            <a:ln w="9525">
              <a:noFill/>
              <a:miter lim="800000"/>
              <a:headEnd/>
              <a:tailEnd/>
            </a:ln>
          </p:spPr>
          <p:txBody>
            <a:bodyPr>
              <a:spAutoFit/>
            </a:bodyPr>
            <a:lstStyle/>
            <a:p>
              <a:r>
                <a:rPr lang="en-US" altLang="en-US" sz="1800">
                  <a:latin typeface="Arial" charset="0"/>
                </a:rPr>
                <a:t>Succinyl-CoA Synthetase</a:t>
              </a:r>
              <a:endParaRPr lang="en-US" sz="1800">
                <a:latin typeface="Arial"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22"/>
          <p:cNvSpPr>
            <a:spLocks noChangeArrowheads="1"/>
          </p:cNvSpPr>
          <p:nvPr/>
        </p:nvSpPr>
        <p:spPr bwMode="auto">
          <a:xfrm>
            <a:off x="206375" y="115888"/>
            <a:ext cx="8629650" cy="579437"/>
          </a:xfrm>
          <a:prstGeom prst="rect">
            <a:avLst/>
          </a:prstGeom>
          <a:noFill/>
          <a:ln w="9525">
            <a:noFill/>
            <a:miter lim="800000"/>
            <a:headEnd/>
            <a:tailEnd/>
          </a:ln>
        </p:spPr>
        <p:txBody>
          <a:bodyPr wrap="none">
            <a:spAutoFit/>
          </a:bodyPr>
          <a:lstStyle/>
          <a:p>
            <a:r>
              <a:rPr lang="en-US" altLang="en-US" sz="3200" b="1" dirty="0">
                <a:solidFill>
                  <a:srgbClr val="660033"/>
                </a:solidFill>
                <a:latin typeface="Comic Sans MS" pitchFamily="66" charset="0"/>
              </a:rPr>
              <a:t>6.  The </a:t>
            </a:r>
            <a:r>
              <a:rPr lang="en-US" altLang="en-US" sz="3200" b="1" dirty="0" err="1">
                <a:solidFill>
                  <a:srgbClr val="660033"/>
                </a:solidFill>
                <a:latin typeface="Comic Sans MS" pitchFamily="66" charset="0"/>
              </a:rPr>
              <a:t>Succinate</a:t>
            </a:r>
            <a:r>
              <a:rPr lang="en-US" altLang="en-US" sz="3200" b="1" dirty="0">
                <a:solidFill>
                  <a:srgbClr val="660033"/>
                </a:solidFill>
                <a:latin typeface="Comic Sans MS" pitchFamily="66" charset="0"/>
              </a:rPr>
              <a:t> </a:t>
            </a:r>
            <a:r>
              <a:rPr lang="en-US" altLang="en-US" sz="3200" b="1" dirty="0" err="1">
                <a:solidFill>
                  <a:srgbClr val="660033"/>
                </a:solidFill>
                <a:latin typeface="Comic Sans MS" pitchFamily="66" charset="0"/>
              </a:rPr>
              <a:t>Dehydrogenase</a:t>
            </a:r>
            <a:r>
              <a:rPr lang="en-US" altLang="en-US" sz="3200" b="1" dirty="0">
                <a:solidFill>
                  <a:srgbClr val="660033"/>
                </a:solidFill>
                <a:latin typeface="Comic Sans MS" pitchFamily="66" charset="0"/>
              </a:rPr>
              <a:t> Complex</a:t>
            </a:r>
            <a:endParaRPr lang="en-US" sz="3200" b="1" dirty="0">
              <a:solidFill>
                <a:srgbClr val="660033"/>
              </a:solidFill>
              <a:latin typeface="Comic Sans MS" pitchFamily="66" charset="0"/>
            </a:endParaRPr>
          </a:p>
        </p:txBody>
      </p:sp>
      <p:sp>
        <p:nvSpPr>
          <p:cNvPr id="5" name="Text Box 3"/>
          <p:cNvSpPr txBox="1">
            <a:spLocks noChangeArrowheads="1"/>
          </p:cNvSpPr>
          <p:nvPr/>
        </p:nvSpPr>
        <p:spPr bwMode="auto">
          <a:xfrm>
            <a:off x="152400" y="758826"/>
            <a:ext cx="8763000" cy="2741612"/>
          </a:xfrm>
          <a:prstGeom prst="rect">
            <a:avLst/>
          </a:prstGeom>
          <a:noFill/>
          <a:ln w="9525">
            <a:noFill/>
            <a:miter lim="800000"/>
            <a:headEnd/>
            <a:tailEnd/>
          </a:ln>
        </p:spPr>
        <p:txBody>
          <a:bodyPr>
            <a:spAutoFit/>
          </a:bodyPr>
          <a:lstStyle/>
          <a:p>
            <a:pPr marL="228600" indent="-228600" eaLnBrk="0" hangingPunct="0">
              <a:spcBef>
                <a:spcPct val="50000"/>
              </a:spcBef>
              <a:buFontTx/>
              <a:buChar char="•"/>
            </a:pPr>
            <a:r>
              <a:rPr lang="en-US" altLang="en-US" sz="2200" dirty="0">
                <a:latin typeface="Comic Sans MS" pitchFamily="66" charset="0"/>
              </a:rPr>
              <a:t>Complex of </a:t>
            </a:r>
            <a:r>
              <a:rPr lang="en-US" altLang="en-US" sz="2200" b="1" dirty="0">
                <a:latin typeface="Comic Sans MS" pitchFamily="66" charset="0"/>
              </a:rPr>
              <a:t>several polypeptides</a:t>
            </a:r>
            <a:r>
              <a:rPr lang="en-US" altLang="en-US" sz="2200" dirty="0">
                <a:latin typeface="Comic Sans MS" pitchFamily="66" charset="0"/>
              </a:rPr>
              <a:t>, an </a:t>
            </a:r>
            <a:r>
              <a:rPr lang="en-US" altLang="en-US" sz="2200" b="1" dirty="0">
                <a:latin typeface="Comic Sans MS" pitchFamily="66" charset="0"/>
              </a:rPr>
              <a:t>FAD</a:t>
            </a:r>
            <a:r>
              <a:rPr lang="en-US" altLang="en-US" sz="2200" dirty="0">
                <a:latin typeface="Comic Sans MS" pitchFamily="66" charset="0"/>
              </a:rPr>
              <a:t> prosthetic group and </a:t>
            </a:r>
            <a:r>
              <a:rPr lang="en-US" altLang="en-US" sz="2200" b="1" dirty="0">
                <a:latin typeface="Comic Sans MS" pitchFamily="66" charset="0"/>
              </a:rPr>
              <a:t>iron-sulfur clusters</a:t>
            </a:r>
          </a:p>
          <a:p>
            <a:pPr marL="228600" indent="-228600" eaLnBrk="0" hangingPunct="0">
              <a:lnSpc>
                <a:spcPct val="80000"/>
              </a:lnSpc>
              <a:spcBef>
                <a:spcPct val="50000"/>
              </a:spcBef>
              <a:buFontTx/>
              <a:buChar char="•"/>
            </a:pPr>
            <a:r>
              <a:rPr lang="en-US" altLang="en-US" sz="2200" dirty="0">
                <a:latin typeface="Comic Sans MS" pitchFamily="66" charset="0"/>
              </a:rPr>
              <a:t>Embedded </a:t>
            </a:r>
            <a:r>
              <a:rPr lang="en-US" altLang="en-US" sz="2200" b="1" dirty="0">
                <a:latin typeface="Comic Sans MS" pitchFamily="66" charset="0"/>
              </a:rPr>
              <a:t>in the inner mitochondrial membrane</a:t>
            </a:r>
            <a:r>
              <a:rPr lang="en-US" altLang="en-US" sz="2200" dirty="0">
                <a:latin typeface="Comic Sans MS" pitchFamily="66" charset="0"/>
              </a:rPr>
              <a:t> </a:t>
            </a:r>
          </a:p>
          <a:p>
            <a:pPr marL="228600" indent="-228600" eaLnBrk="0" hangingPunct="0">
              <a:lnSpc>
                <a:spcPct val="80000"/>
              </a:lnSpc>
              <a:spcBef>
                <a:spcPct val="50000"/>
              </a:spcBef>
              <a:buFontTx/>
              <a:buChar char="•"/>
            </a:pPr>
            <a:r>
              <a:rPr lang="en-US" altLang="en-US" sz="2200" dirty="0">
                <a:latin typeface="Comic Sans MS" pitchFamily="66" charset="0"/>
              </a:rPr>
              <a:t>Electrons are transferred </a:t>
            </a:r>
            <a:r>
              <a:rPr lang="en-US" altLang="en-US" sz="2200" b="1" dirty="0">
                <a:latin typeface="Comic Sans MS" pitchFamily="66" charset="0"/>
              </a:rPr>
              <a:t>from </a:t>
            </a:r>
            <a:r>
              <a:rPr lang="en-US" altLang="en-US" sz="2200" b="1" dirty="0" err="1">
                <a:latin typeface="Comic Sans MS" pitchFamily="66" charset="0"/>
              </a:rPr>
              <a:t>succinate</a:t>
            </a:r>
            <a:r>
              <a:rPr lang="en-US" altLang="en-US" sz="2200" b="1" dirty="0">
                <a:latin typeface="Comic Sans MS" pitchFamily="66" charset="0"/>
              </a:rPr>
              <a:t> to FAD and then to </a:t>
            </a:r>
            <a:r>
              <a:rPr lang="en-US" altLang="en-US" sz="2200" b="1" dirty="0" err="1">
                <a:latin typeface="Comic Sans MS" pitchFamily="66" charset="0"/>
              </a:rPr>
              <a:t>ubiquinone</a:t>
            </a:r>
            <a:r>
              <a:rPr lang="en-US" altLang="en-US" sz="2200" b="1" dirty="0">
                <a:latin typeface="Comic Sans MS" pitchFamily="66" charset="0"/>
              </a:rPr>
              <a:t> (Q)</a:t>
            </a:r>
            <a:r>
              <a:rPr lang="en-US" altLang="en-US" sz="2200" dirty="0">
                <a:latin typeface="Comic Sans MS" pitchFamily="66" charset="0"/>
              </a:rPr>
              <a:t> in electron transport chain</a:t>
            </a:r>
          </a:p>
          <a:p>
            <a:pPr marL="228600" indent="-228600" eaLnBrk="0" hangingPunct="0">
              <a:spcBef>
                <a:spcPct val="50000"/>
              </a:spcBef>
              <a:buFontTx/>
              <a:buChar char="•"/>
            </a:pPr>
            <a:r>
              <a:rPr lang="en-US" altLang="en-US" sz="2200" dirty="0">
                <a:latin typeface="Comic Sans MS" pitchFamily="66" charset="0"/>
              </a:rPr>
              <a:t>Dehydrogenation is </a:t>
            </a:r>
            <a:r>
              <a:rPr lang="en-US" altLang="en-US" sz="2200" b="1" dirty="0" err="1">
                <a:latin typeface="Comic Sans MS" pitchFamily="66" charset="0"/>
              </a:rPr>
              <a:t>stereospecific</a:t>
            </a:r>
            <a:r>
              <a:rPr lang="en-US" altLang="en-US" sz="2200" dirty="0">
                <a:latin typeface="Comic Sans MS" pitchFamily="66" charset="0"/>
              </a:rPr>
              <a:t>; only the </a:t>
            </a:r>
            <a:r>
              <a:rPr lang="en-US" altLang="en-US" sz="2200" b="1" i="1" dirty="0">
                <a:latin typeface="Comic Sans MS" pitchFamily="66" charset="0"/>
              </a:rPr>
              <a:t>trans</a:t>
            </a:r>
            <a:r>
              <a:rPr lang="en-US" altLang="en-US" sz="2200" b="1" dirty="0">
                <a:latin typeface="Comic Sans MS" pitchFamily="66" charset="0"/>
              </a:rPr>
              <a:t> isomer is formed</a:t>
            </a:r>
            <a:endParaRPr lang="en-US" altLang="en-US" sz="1800" b="1" dirty="0">
              <a:latin typeface="Comic Sans MS" pitchFamily="66" charset="0"/>
            </a:endParaRPr>
          </a:p>
        </p:txBody>
      </p:sp>
      <p:grpSp>
        <p:nvGrpSpPr>
          <p:cNvPr id="6" name="Group 26"/>
          <p:cNvGrpSpPr>
            <a:grpSpLocks/>
          </p:cNvGrpSpPr>
          <p:nvPr/>
        </p:nvGrpSpPr>
        <p:grpSpPr bwMode="auto">
          <a:xfrm>
            <a:off x="1219200" y="3581400"/>
            <a:ext cx="6172200" cy="2924175"/>
            <a:chOff x="768" y="2256"/>
            <a:chExt cx="3888" cy="1842"/>
          </a:xfrm>
        </p:grpSpPr>
        <p:graphicFrame>
          <p:nvGraphicFramePr>
            <p:cNvPr id="7" name="Object 2"/>
            <p:cNvGraphicFramePr>
              <a:graphicFrameLocks noChangeAspect="1"/>
            </p:cNvGraphicFramePr>
            <p:nvPr/>
          </p:nvGraphicFramePr>
          <p:xfrm>
            <a:off x="768" y="2256"/>
            <a:ext cx="3888" cy="1842"/>
          </p:xfrm>
          <a:graphic>
            <a:graphicData uri="http://schemas.openxmlformats.org/presentationml/2006/ole">
              <mc:AlternateContent xmlns:mc="http://schemas.openxmlformats.org/markup-compatibility/2006">
                <mc:Choice xmlns:v="urn:schemas-microsoft-com:vml" Requires="v">
                  <p:oleObj spid="_x0000_s52244" name="Bitmap Image" r:id="rId3" imgW="4029637" imgH="2924583" progId="PBrush">
                    <p:embed/>
                  </p:oleObj>
                </mc:Choice>
                <mc:Fallback>
                  <p:oleObj name="Bitmap Image" r:id="rId3" imgW="4029637" imgH="2924583" progId="PBrush">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8" y="2256"/>
                          <a:ext cx="3888" cy="18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24"/>
            <p:cNvSpPr>
              <a:spLocks noChangeArrowheads="1"/>
            </p:cNvSpPr>
            <p:nvPr/>
          </p:nvSpPr>
          <p:spPr bwMode="auto">
            <a:xfrm>
              <a:off x="1824" y="3120"/>
              <a:ext cx="1296" cy="404"/>
            </a:xfrm>
            <a:prstGeom prst="rect">
              <a:avLst/>
            </a:prstGeom>
            <a:noFill/>
            <a:ln w="9525" algn="ctr">
              <a:noFill/>
              <a:miter lim="800000"/>
              <a:headEnd/>
              <a:tailEnd/>
            </a:ln>
          </p:spPr>
          <p:txBody>
            <a:bodyPr>
              <a:spAutoFit/>
            </a:bodyPr>
            <a:lstStyle/>
            <a:p>
              <a:r>
                <a:rPr lang="en-US" altLang="en-US" sz="1800">
                  <a:solidFill>
                    <a:schemeClr val="tx2"/>
                  </a:solidFill>
                  <a:latin typeface="Arial" charset="0"/>
                </a:rPr>
                <a:t>Succinate Dehydrogenase</a:t>
              </a:r>
              <a:endParaRPr lang="en-US" sz="1800">
                <a:solidFill>
                  <a:schemeClr val="tx2"/>
                </a:solidFill>
                <a:latin typeface="Arial"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642910" y="252394"/>
            <a:ext cx="7340600" cy="533400"/>
          </a:xfrm>
        </p:spPr>
        <p:txBody>
          <a:bodyPr>
            <a:normAutofit fontScale="90000"/>
          </a:bodyPr>
          <a:lstStyle/>
          <a:p>
            <a:pPr eaLnBrk="1" hangingPunct="1"/>
            <a:r>
              <a:rPr lang="en-US" altLang="en-US" sz="3200" b="1" dirty="0" smtClean="0">
                <a:solidFill>
                  <a:srgbClr val="660033"/>
                </a:solidFill>
                <a:latin typeface="Comic Sans MS" pitchFamily="66" charset="0"/>
              </a:rPr>
              <a:t>7.  </a:t>
            </a:r>
            <a:r>
              <a:rPr lang="en-US" altLang="en-US" sz="3200" b="1" dirty="0" err="1" smtClean="0">
                <a:solidFill>
                  <a:srgbClr val="660033"/>
                </a:solidFill>
                <a:latin typeface="Comic Sans MS" pitchFamily="66" charset="0"/>
              </a:rPr>
              <a:t>Fumarase</a:t>
            </a:r>
            <a:endParaRPr lang="en-US" altLang="en-US" sz="3200" dirty="0" smtClean="0">
              <a:solidFill>
                <a:srgbClr val="660033"/>
              </a:solidFill>
              <a:latin typeface="Comic Sans MS" pitchFamily="66" charset="0"/>
            </a:endParaRPr>
          </a:p>
        </p:txBody>
      </p:sp>
      <p:sp>
        <p:nvSpPr>
          <p:cNvPr id="5" name="Text Box 3"/>
          <p:cNvSpPr txBox="1">
            <a:spLocks noChangeArrowheads="1"/>
          </p:cNvSpPr>
          <p:nvPr/>
        </p:nvSpPr>
        <p:spPr bwMode="auto">
          <a:xfrm>
            <a:off x="285720" y="785794"/>
            <a:ext cx="8429684" cy="1481138"/>
          </a:xfrm>
          <a:prstGeom prst="rect">
            <a:avLst/>
          </a:prstGeom>
          <a:noFill/>
          <a:ln w="9525">
            <a:noFill/>
            <a:miter lim="800000"/>
            <a:headEnd/>
            <a:tailEnd/>
          </a:ln>
        </p:spPr>
        <p:txBody>
          <a:bodyPr wrap="square">
            <a:spAutoFit/>
          </a:bodyPr>
          <a:lstStyle/>
          <a:p>
            <a:pPr marL="228600" indent="-228600" algn="just" eaLnBrk="0" hangingPunct="0">
              <a:spcBef>
                <a:spcPct val="50000"/>
              </a:spcBef>
              <a:buFontTx/>
              <a:buChar char="•"/>
            </a:pPr>
            <a:r>
              <a:rPr lang="en-US" altLang="en-US" sz="2600" dirty="0" err="1">
                <a:latin typeface="Comic Sans MS" pitchFamily="66" charset="0"/>
              </a:rPr>
              <a:t>Stereospecific</a:t>
            </a:r>
            <a:r>
              <a:rPr lang="en-US" altLang="en-US" sz="2600" dirty="0">
                <a:latin typeface="Comic Sans MS" pitchFamily="66" charset="0"/>
              </a:rPr>
              <a:t> </a:t>
            </a:r>
            <a:r>
              <a:rPr lang="en-US" altLang="en-US" sz="2600" i="1" dirty="0">
                <a:latin typeface="Comic Sans MS" pitchFamily="66" charset="0"/>
              </a:rPr>
              <a:t>trans </a:t>
            </a:r>
            <a:r>
              <a:rPr lang="en-US" altLang="en-US" sz="2600" dirty="0">
                <a:latin typeface="Comic Sans MS" pitchFamily="66" charset="0"/>
              </a:rPr>
              <a:t>addition of water to the double bond of </a:t>
            </a:r>
            <a:r>
              <a:rPr lang="en-US" altLang="en-US" sz="2600" b="1" dirty="0" err="1">
                <a:solidFill>
                  <a:schemeClr val="accent2"/>
                </a:solidFill>
                <a:latin typeface="Comic Sans MS" pitchFamily="66" charset="0"/>
              </a:rPr>
              <a:t>fumarate</a:t>
            </a:r>
            <a:r>
              <a:rPr lang="en-US" altLang="en-US" sz="2600" dirty="0">
                <a:latin typeface="Comic Sans MS" pitchFamily="66" charset="0"/>
              </a:rPr>
              <a:t> to form </a:t>
            </a:r>
            <a:r>
              <a:rPr lang="en-US" altLang="en-US" sz="2600" b="1" i="1" dirty="0">
                <a:solidFill>
                  <a:schemeClr val="accent2"/>
                </a:solidFill>
                <a:latin typeface="Comic Sans MS" pitchFamily="66" charset="0"/>
              </a:rPr>
              <a:t>L-</a:t>
            </a:r>
            <a:r>
              <a:rPr lang="en-US" altLang="en-US" sz="2600" b="1" dirty="0" err="1">
                <a:solidFill>
                  <a:schemeClr val="accent2"/>
                </a:solidFill>
                <a:latin typeface="Comic Sans MS" pitchFamily="66" charset="0"/>
              </a:rPr>
              <a:t>malate</a:t>
            </a:r>
            <a:endParaRPr lang="en-US" altLang="en-US" sz="2600" b="1" dirty="0">
              <a:solidFill>
                <a:schemeClr val="accent2"/>
              </a:solidFill>
              <a:latin typeface="Comic Sans MS" pitchFamily="66" charset="0"/>
            </a:endParaRPr>
          </a:p>
          <a:p>
            <a:pPr marL="228600" indent="-228600" algn="just" eaLnBrk="0" hangingPunct="0">
              <a:spcBef>
                <a:spcPct val="50000"/>
              </a:spcBef>
              <a:buFontTx/>
              <a:buChar char="•"/>
            </a:pPr>
            <a:r>
              <a:rPr lang="en-US" altLang="en-US" sz="2600" dirty="0">
                <a:latin typeface="Comic Sans MS" pitchFamily="66" charset="0"/>
              </a:rPr>
              <a:t>Only the </a:t>
            </a:r>
            <a:r>
              <a:rPr lang="en-US" altLang="en-US" sz="2600" b="1" dirty="0">
                <a:latin typeface="Comic Sans MS" pitchFamily="66" charset="0"/>
              </a:rPr>
              <a:t>L isomer</a:t>
            </a:r>
            <a:r>
              <a:rPr lang="en-US" altLang="en-US" sz="2600" dirty="0">
                <a:latin typeface="Comic Sans MS" pitchFamily="66" charset="0"/>
              </a:rPr>
              <a:t> of </a:t>
            </a:r>
            <a:r>
              <a:rPr lang="en-US" altLang="en-US" sz="2600" dirty="0" err="1">
                <a:latin typeface="Comic Sans MS" pitchFamily="66" charset="0"/>
              </a:rPr>
              <a:t>malate</a:t>
            </a:r>
            <a:r>
              <a:rPr lang="en-US" altLang="en-US" sz="2600" dirty="0">
                <a:latin typeface="Comic Sans MS" pitchFamily="66" charset="0"/>
              </a:rPr>
              <a:t> is formed</a:t>
            </a:r>
            <a:r>
              <a:rPr lang="en-US" altLang="en-US" sz="1800" dirty="0">
                <a:latin typeface="Comic Sans MS" pitchFamily="66" charset="0"/>
              </a:rPr>
              <a:t> </a:t>
            </a:r>
            <a:r>
              <a:rPr lang="en-US" altLang="en-US" sz="2600" dirty="0">
                <a:latin typeface="Comic Sans MS" pitchFamily="66" charset="0"/>
              </a:rPr>
              <a:t> </a:t>
            </a:r>
          </a:p>
        </p:txBody>
      </p:sp>
      <p:grpSp>
        <p:nvGrpSpPr>
          <p:cNvPr id="6" name="Group 13"/>
          <p:cNvGrpSpPr>
            <a:grpSpLocks/>
          </p:cNvGrpSpPr>
          <p:nvPr/>
        </p:nvGrpSpPr>
        <p:grpSpPr bwMode="auto">
          <a:xfrm>
            <a:off x="1071538" y="2786058"/>
            <a:ext cx="7000924" cy="3243265"/>
            <a:chOff x="1056" y="1968"/>
            <a:chExt cx="3216" cy="1818"/>
          </a:xfrm>
        </p:grpSpPr>
        <p:graphicFrame>
          <p:nvGraphicFramePr>
            <p:cNvPr id="7" name="Object 2"/>
            <p:cNvGraphicFramePr>
              <a:graphicFrameLocks noChangeAspect="1"/>
            </p:cNvGraphicFramePr>
            <p:nvPr/>
          </p:nvGraphicFramePr>
          <p:xfrm>
            <a:off x="1056" y="1968"/>
            <a:ext cx="3216" cy="1818"/>
          </p:xfrm>
          <a:graphic>
            <a:graphicData uri="http://schemas.openxmlformats.org/presentationml/2006/ole">
              <mc:AlternateContent xmlns:mc="http://schemas.openxmlformats.org/markup-compatibility/2006">
                <mc:Choice xmlns:v="urn:schemas-microsoft-com:vml" Requires="v">
                  <p:oleObj spid="_x0000_s53268" name="Bitmap Image" r:id="rId3" imgW="3524742" imgH="2886478" progId="PBrush">
                    <p:embed/>
                  </p:oleObj>
                </mc:Choice>
                <mc:Fallback>
                  <p:oleObj name="Bitmap Image" r:id="rId3" imgW="3524742" imgH="2886478" progId="PBrush">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6" y="1968"/>
                          <a:ext cx="3216" cy="18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12"/>
            <p:cNvSpPr>
              <a:spLocks noChangeArrowheads="1"/>
            </p:cNvSpPr>
            <p:nvPr/>
          </p:nvSpPr>
          <p:spPr bwMode="auto">
            <a:xfrm>
              <a:off x="2448" y="2784"/>
              <a:ext cx="764" cy="231"/>
            </a:xfrm>
            <a:prstGeom prst="rect">
              <a:avLst/>
            </a:prstGeom>
            <a:noFill/>
            <a:ln w="9525" algn="ctr">
              <a:noFill/>
              <a:miter lim="800000"/>
              <a:headEnd/>
              <a:tailEnd/>
            </a:ln>
          </p:spPr>
          <p:txBody>
            <a:bodyPr wrap="none">
              <a:spAutoFit/>
            </a:bodyPr>
            <a:lstStyle/>
            <a:p>
              <a:r>
                <a:rPr lang="en-US" altLang="en-US" sz="1800">
                  <a:latin typeface="Arial" charset="0"/>
                </a:rPr>
                <a:t>Fumarase</a:t>
              </a:r>
              <a:endParaRPr lang="en-US" sz="1800">
                <a:latin typeface="Arial"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785786" y="214290"/>
            <a:ext cx="7772400" cy="533400"/>
          </a:xfrm>
          <a:prstGeom prst="rect">
            <a:avLst/>
          </a:prstGeom>
          <a:noFill/>
          <a:ln w="9525">
            <a:noFill/>
            <a:miter lim="800000"/>
            <a:headEnd/>
            <a:tailEnd/>
          </a:ln>
        </p:spPr>
        <p:txBody>
          <a:bodyPr anchor="ctr"/>
          <a:lstStyle/>
          <a:p>
            <a:r>
              <a:rPr lang="en-US" altLang="en-US" sz="3200" b="1" dirty="0">
                <a:solidFill>
                  <a:srgbClr val="660033"/>
                </a:solidFill>
                <a:latin typeface="Comic Sans MS" pitchFamily="66" charset="0"/>
              </a:rPr>
              <a:t>8.  </a:t>
            </a:r>
            <a:r>
              <a:rPr lang="en-US" altLang="en-US" sz="3200" b="1" dirty="0" err="1">
                <a:solidFill>
                  <a:srgbClr val="660033"/>
                </a:solidFill>
                <a:latin typeface="Comic Sans MS" pitchFamily="66" charset="0"/>
              </a:rPr>
              <a:t>Malate</a:t>
            </a:r>
            <a:r>
              <a:rPr lang="en-US" altLang="en-US" sz="3200" b="1" dirty="0">
                <a:solidFill>
                  <a:srgbClr val="660033"/>
                </a:solidFill>
                <a:latin typeface="Comic Sans MS" pitchFamily="66" charset="0"/>
              </a:rPr>
              <a:t> </a:t>
            </a:r>
            <a:r>
              <a:rPr lang="en-US" altLang="en-US" sz="3200" b="1" dirty="0" err="1">
                <a:solidFill>
                  <a:srgbClr val="660033"/>
                </a:solidFill>
                <a:latin typeface="Comic Sans MS" pitchFamily="66" charset="0"/>
              </a:rPr>
              <a:t>Dehydrogenase</a:t>
            </a:r>
            <a:r>
              <a:rPr lang="en-US" altLang="en-US" sz="3200" dirty="0">
                <a:solidFill>
                  <a:srgbClr val="660033"/>
                </a:solidFill>
                <a:latin typeface="Comic Sans MS" pitchFamily="66" charset="0"/>
              </a:rPr>
              <a:t> </a:t>
            </a:r>
            <a:endParaRPr lang="en-US" altLang="en-US" sz="3200" b="1" dirty="0">
              <a:solidFill>
                <a:srgbClr val="660033"/>
              </a:solidFill>
              <a:latin typeface="Comic Sans MS" pitchFamily="66" charset="0"/>
            </a:endParaRPr>
          </a:p>
        </p:txBody>
      </p:sp>
      <p:sp>
        <p:nvSpPr>
          <p:cNvPr id="5" name="Rectangle 11"/>
          <p:cNvSpPr>
            <a:spLocks noChangeArrowheads="1"/>
          </p:cNvSpPr>
          <p:nvPr/>
        </p:nvSpPr>
        <p:spPr bwMode="auto">
          <a:xfrm>
            <a:off x="536598" y="1082662"/>
            <a:ext cx="7392988" cy="488950"/>
          </a:xfrm>
          <a:prstGeom prst="rect">
            <a:avLst/>
          </a:prstGeom>
          <a:noFill/>
          <a:ln w="9525" algn="ctr">
            <a:noFill/>
            <a:miter lim="800000"/>
            <a:headEnd/>
            <a:tailEnd/>
          </a:ln>
        </p:spPr>
        <p:txBody>
          <a:bodyPr anchor="ctr">
            <a:spAutoFit/>
          </a:bodyPr>
          <a:lstStyle/>
          <a:p>
            <a:pPr algn="just"/>
            <a:r>
              <a:rPr lang="en-US" sz="2600" b="1" dirty="0" err="1">
                <a:solidFill>
                  <a:schemeClr val="accent2"/>
                </a:solidFill>
                <a:latin typeface="Comic Sans MS" pitchFamily="66" charset="0"/>
              </a:rPr>
              <a:t>Malate</a:t>
            </a:r>
            <a:r>
              <a:rPr lang="en-US" sz="2600" dirty="0">
                <a:latin typeface="Comic Sans MS" pitchFamily="66" charset="0"/>
              </a:rPr>
              <a:t> is oxidized to form </a:t>
            </a:r>
            <a:r>
              <a:rPr lang="en-US" sz="2600" b="1" dirty="0" err="1">
                <a:solidFill>
                  <a:schemeClr val="accent2"/>
                </a:solidFill>
                <a:latin typeface="Comic Sans MS" pitchFamily="66" charset="0"/>
              </a:rPr>
              <a:t>oxaloacetate</a:t>
            </a:r>
            <a:r>
              <a:rPr lang="en-US" sz="2600" dirty="0">
                <a:latin typeface="Comic Sans MS" pitchFamily="66" charset="0"/>
              </a:rPr>
              <a:t>. </a:t>
            </a:r>
          </a:p>
        </p:txBody>
      </p:sp>
      <p:grpSp>
        <p:nvGrpSpPr>
          <p:cNvPr id="6" name="Group 10"/>
          <p:cNvGrpSpPr>
            <a:grpSpLocks/>
          </p:cNvGrpSpPr>
          <p:nvPr/>
        </p:nvGrpSpPr>
        <p:grpSpPr bwMode="auto">
          <a:xfrm>
            <a:off x="1600200" y="2514600"/>
            <a:ext cx="5486400" cy="3124200"/>
            <a:chOff x="960" y="1632"/>
            <a:chExt cx="3312" cy="1728"/>
          </a:xfrm>
        </p:grpSpPr>
        <p:graphicFrame>
          <p:nvGraphicFramePr>
            <p:cNvPr id="7" name="Object 2"/>
            <p:cNvGraphicFramePr>
              <a:graphicFrameLocks noChangeAspect="1"/>
            </p:cNvGraphicFramePr>
            <p:nvPr/>
          </p:nvGraphicFramePr>
          <p:xfrm>
            <a:off x="960" y="1632"/>
            <a:ext cx="3312" cy="1728"/>
          </p:xfrm>
          <a:graphic>
            <a:graphicData uri="http://schemas.openxmlformats.org/presentationml/2006/ole">
              <mc:AlternateContent xmlns:mc="http://schemas.openxmlformats.org/markup-compatibility/2006">
                <mc:Choice xmlns:v="urn:schemas-microsoft-com:vml" Requires="v">
                  <p:oleObj spid="_x0000_s54292" name="Bitmap Image" r:id="rId3" imgW="4142857" imgH="2742857" progId="PBrush">
                    <p:embed/>
                  </p:oleObj>
                </mc:Choice>
                <mc:Fallback>
                  <p:oleObj name="Bitmap Image" r:id="rId3" imgW="4142857" imgH="2742857" progId="PBrush">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 y="1632"/>
                          <a:ext cx="3312" cy="17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9"/>
            <p:cNvSpPr>
              <a:spLocks noChangeArrowheads="1"/>
            </p:cNvSpPr>
            <p:nvPr/>
          </p:nvSpPr>
          <p:spPr bwMode="auto">
            <a:xfrm>
              <a:off x="1872" y="2380"/>
              <a:ext cx="1296" cy="355"/>
            </a:xfrm>
            <a:prstGeom prst="rect">
              <a:avLst/>
            </a:prstGeom>
            <a:noFill/>
            <a:ln w="9525" algn="ctr">
              <a:noFill/>
              <a:miter lim="800000"/>
              <a:headEnd/>
              <a:tailEnd/>
            </a:ln>
          </p:spPr>
          <p:txBody>
            <a:bodyPr>
              <a:spAutoFit/>
            </a:bodyPr>
            <a:lstStyle/>
            <a:p>
              <a:r>
                <a:rPr lang="en-US" altLang="en-US" sz="1800">
                  <a:latin typeface="Arial" charset="0"/>
                </a:rPr>
                <a:t>Malate Dehydrogenase</a:t>
              </a:r>
              <a:endParaRPr lang="en-US" sz="1800">
                <a:latin typeface="Arial"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228600" y="152400"/>
            <a:ext cx="8686800" cy="533400"/>
          </a:xfrm>
        </p:spPr>
        <p:txBody>
          <a:bodyPr>
            <a:normAutofit fontScale="90000"/>
          </a:bodyPr>
          <a:lstStyle/>
          <a:p>
            <a:pPr eaLnBrk="1" hangingPunct="1"/>
            <a:r>
              <a:rPr lang="en-US" altLang="en-US" sz="3200" b="1" dirty="0" smtClean="0">
                <a:solidFill>
                  <a:srgbClr val="660033"/>
                </a:solidFill>
                <a:latin typeface="Comic Sans MS" pitchFamily="66" charset="0"/>
              </a:rPr>
              <a:t>Regulation of the Citric Acid Cycle</a:t>
            </a:r>
          </a:p>
        </p:txBody>
      </p:sp>
      <p:sp>
        <p:nvSpPr>
          <p:cNvPr id="5" name="Text Box 3"/>
          <p:cNvSpPr txBox="1">
            <a:spLocks noChangeArrowheads="1"/>
          </p:cNvSpPr>
          <p:nvPr/>
        </p:nvSpPr>
        <p:spPr bwMode="auto">
          <a:xfrm>
            <a:off x="214282" y="836608"/>
            <a:ext cx="8686800" cy="2020888"/>
          </a:xfrm>
          <a:prstGeom prst="rect">
            <a:avLst/>
          </a:prstGeom>
          <a:noFill/>
          <a:ln w="9525">
            <a:noFill/>
            <a:miter lim="800000"/>
            <a:headEnd/>
            <a:tailEnd/>
          </a:ln>
        </p:spPr>
        <p:txBody>
          <a:bodyPr>
            <a:spAutoFit/>
          </a:bodyPr>
          <a:lstStyle/>
          <a:p>
            <a:pPr marL="222250" indent="-222250" eaLnBrk="0" hangingPunct="0">
              <a:spcBef>
                <a:spcPct val="50000"/>
              </a:spcBef>
              <a:buFontTx/>
              <a:buChar char="•"/>
            </a:pPr>
            <a:r>
              <a:rPr lang="en-US" altLang="en-US" sz="2600" b="1" dirty="0">
                <a:solidFill>
                  <a:srgbClr val="000066"/>
                </a:solidFill>
                <a:latin typeface="Comic Sans MS" pitchFamily="66" charset="0"/>
              </a:rPr>
              <a:t>Pathway controlled by:</a:t>
            </a:r>
          </a:p>
          <a:p>
            <a:pPr marL="222250" indent="-222250" eaLnBrk="0" hangingPunct="0">
              <a:lnSpc>
                <a:spcPct val="60000"/>
              </a:lnSpc>
              <a:spcBef>
                <a:spcPct val="50000"/>
              </a:spcBef>
            </a:pPr>
            <a:r>
              <a:rPr lang="en-US" altLang="en-US" sz="2600" dirty="0">
                <a:latin typeface="Comic Sans MS" pitchFamily="66" charset="0"/>
              </a:rPr>
              <a:t> 	</a:t>
            </a:r>
            <a:r>
              <a:rPr lang="en-US" altLang="en-US" dirty="0">
                <a:latin typeface="Comic Sans MS" pitchFamily="66" charset="0"/>
              </a:rPr>
              <a:t>(1) </a:t>
            </a:r>
            <a:r>
              <a:rPr lang="en-US" altLang="en-US" dirty="0" err="1">
                <a:latin typeface="Comic Sans MS" pitchFamily="66" charset="0"/>
              </a:rPr>
              <a:t>Allosteric</a:t>
            </a:r>
            <a:r>
              <a:rPr lang="en-US" altLang="en-US" dirty="0">
                <a:latin typeface="Comic Sans MS" pitchFamily="66" charset="0"/>
              </a:rPr>
              <a:t>  modulators</a:t>
            </a:r>
          </a:p>
          <a:p>
            <a:pPr marL="222250" indent="-222250" eaLnBrk="0" hangingPunct="0">
              <a:lnSpc>
                <a:spcPct val="60000"/>
              </a:lnSpc>
              <a:spcBef>
                <a:spcPct val="50000"/>
              </a:spcBef>
            </a:pPr>
            <a:r>
              <a:rPr lang="en-US" altLang="en-US" dirty="0">
                <a:latin typeface="Comic Sans MS" pitchFamily="66" charset="0"/>
              </a:rPr>
              <a:t>	(2) Covalent modification of cycle enzymes</a:t>
            </a:r>
          </a:p>
          <a:p>
            <a:pPr marL="222250" indent="-222250" eaLnBrk="0" hangingPunct="0">
              <a:lnSpc>
                <a:spcPct val="70000"/>
              </a:lnSpc>
              <a:spcBef>
                <a:spcPct val="50000"/>
              </a:spcBef>
            </a:pPr>
            <a:r>
              <a:rPr lang="en-US" altLang="en-US" dirty="0">
                <a:latin typeface="Comic Sans MS" pitchFamily="66" charset="0"/>
              </a:rPr>
              <a:t>	(3) Supply of acetyl </a:t>
            </a:r>
            <a:r>
              <a:rPr lang="en-US" altLang="en-US" dirty="0" err="1">
                <a:latin typeface="Comic Sans MS" pitchFamily="66" charset="0"/>
              </a:rPr>
              <a:t>CoA</a:t>
            </a:r>
            <a:r>
              <a:rPr lang="en-US" altLang="en-US" dirty="0">
                <a:latin typeface="Comic Sans MS" pitchFamily="66" charset="0"/>
              </a:rPr>
              <a:t> (</a:t>
            </a:r>
            <a:r>
              <a:rPr lang="en-US" altLang="en-US" dirty="0" err="1">
                <a:latin typeface="Comic Sans MS" pitchFamily="66" charset="0"/>
              </a:rPr>
              <a:t>pyruvate</a:t>
            </a:r>
            <a:r>
              <a:rPr lang="en-US" altLang="en-US" dirty="0">
                <a:latin typeface="Comic Sans MS" pitchFamily="66" charset="0"/>
              </a:rPr>
              <a:t> </a:t>
            </a:r>
            <a:r>
              <a:rPr lang="en-US" altLang="en-US" dirty="0" err="1">
                <a:latin typeface="Comic Sans MS" pitchFamily="66" charset="0"/>
              </a:rPr>
              <a:t>dehydrogenase</a:t>
            </a:r>
            <a:r>
              <a:rPr lang="en-US" altLang="en-US" dirty="0">
                <a:latin typeface="Comic Sans MS" pitchFamily="66" charset="0"/>
              </a:rPr>
              <a:t> complex) </a:t>
            </a:r>
          </a:p>
        </p:txBody>
      </p:sp>
      <p:sp>
        <p:nvSpPr>
          <p:cNvPr id="6" name="Text Box 4"/>
          <p:cNvSpPr txBox="1">
            <a:spLocks noChangeArrowheads="1"/>
          </p:cNvSpPr>
          <p:nvPr/>
        </p:nvSpPr>
        <p:spPr bwMode="auto">
          <a:xfrm>
            <a:off x="314356" y="2857496"/>
            <a:ext cx="8686800" cy="3400428"/>
          </a:xfrm>
          <a:prstGeom prst="rect">
            <a:avLst/>
          </a:prstGeom>
          <a:noFill/>
          <a:ln w="9525">
            <a:noFill/>
            <a:miter lim="800000"/>
            <a:headEnd/>
            <a:tailEnd/>
          </a:ln>
        </p:spPr>
        <p:txBody>
          <a:bodyPr wrap="square">
            <a:spAutoFit/>
          </a:bodyPr>
          <a:lstStyle/>
          <a:p>
            <a:pPr>
              <a:spcBef>
                <a:spcPct val="50000"/>
              </a:spcBef>
            </a:pPr>
            <a:r>
              <a:rPr lang="en-US" sz="2600" b="1" dirty="0">
                <a:solidFill>
                  <a:srgbClr val="000066"/>
                </a:solidFill>
                <a:latin typeface="Comic Sans MS" pitchFamily="66" charset="0"/>
              </a:rPr>
              <a:t>Three enzymes have regulatory properties</a:t>
            </a:r>
          </a:p>
          <a:p>
            <a:pPr>
              <a:spcBef>
                <a:spcPct val="50000"/>
              </a:spcBef>
              <a:buFontTx/>
              <a:buChar char="-"/>
            </a:pPr>
            <a:r>
              <a:rPr lang="en-US" sz="2200" b="1" i="1" dirty="0">
                <a:latin typeface="Comic Sans MS" pitchFamily="66" charset="0"/>
              </a:rPr>
              <a:t> </a:t>
            </a:r>
            <a:r>
              <a:rPr lang="en-US" sz="2200" b="1" i="1" dirty="0">
                <a:solidFill>
                  <a:srgbClr val="000066"/>
                </a:solidFill>
                <a:latin typeface="Comic Sans MS" pitchFamily="66" charset="0"/>
              </a:rPr>
              <a:t>citrate </a:t>
            </a:r>
            <a:r>
              <a:rPr lang="en-US" sz="2200" b="1" i="1" dirty="0" err="1">
                <a:solidFill>
                  <a:srgbClr val="000066"/>
                </a:solidFill>
                <a:latin typeface="Comic Sans MS" pitchFamily="66" charset="0"/>
              </a:rPr>
              <a:t>synthase</a:t>
            </a:r>
            <a:r>
              <a:rPr lang="en-US" sz="2200" i="1" dirty="0">
                <a:latin typeface="Comic Sans MS" pitchFamily="66" charset="0"/>
              </a:rPr>
              <a:t> </a:t>
            </a:r>
            <a:r>
              <a:rPr lang="en-US" sz="2200" dirty="0">
                <a:latin typeface="Comic Sans MS" pitchFamily="66" charset="0"/>
              </a:rPr>
              <a:t>(is </a:t>
            </a:r>
            <a:r>
              <a:rPr lang="en-US" sz="2200" dirty="0" err="1">
                <a:latin typeface="Comic Sans MS" pitchFamily="66" charset="0"/>
              </a:rPr>
              <a:t>allosterically</a:t>
            </a:r>
            <a:r>
              <a:rPr lang="en-US" sz="2200" dirty="0">
                <a:latin typeface="Comic Sans MS" pitchFamily="66" charset="0"/>
              </a:rPr>
              <a:t> inhibited by NADH, ATP, </a:t>
            </a:r>
            <a:r>
              <a:rPr lang="en-US" sz="2200" dirty="0" err="1">
                <a:latin typeface="Comic Sans MS" pitchFamily="66" charset="0"/>
              </a:rPr>
              <a:t>succinyl</a:t>
            </a:r>
            <a:r>
              <a:rPr lang="en-US" sz="2200" dirty="0">
                <a:latin typeface="Comic Sans MS" pitchFamily="66" charset="0"/>
              </a:rPr>
              <a:t> </a:t>
            </a:r>
            <a:r>
              <a:rPr lang="en-US" sz="2200" dirty="0" err="1">
                <a:latin typeface="Comic Sans MS" pitchFamily="66" charset="0"/>
              </a:rPr>
              <a:t>CoA</a:t>
            </a:r>
            <a:r>
              <a:rPr lang="en-US" sz="2200" dirty="0">
                <a:latin typeface="Comic Sans MS" pitchFamily="66" charset="0"/>
              </a:rPr>
              <a:t>, citrate – feedback inhibition)</a:t>
            </a:r>
          </a:p>
          <a:p>
            <a:pPr>
              <a:spcBef>
                <a:spcPct val="50000"/>
              </a:spcBef>
              <a:buFontTx/>
              <a:buChar char="-"/>
            </a:pPr>
            <a:r>
              <a:rPr lang="en-US" sz="2200" b="1" i="1" dirty="0">
                <a:latin typeface="Comic Sans MS" pitchFamily="66" charset="0"/>
              </a:rPr>
              <a:t> </a:t>
            </a:r>
            <a:r>
              <a:rPr lang="en-US" sz="2200" b="1" i="1" dirty="0" err="1">
                <a:solidFill>
                  <a:srgbClr val="000066"/>
                </a:solidFill>
                <a:latin typeface="Comic Sans MS" pitchFamily="66" charset="0"/>
              </a:rPr>
              <a:t>isocitrate</a:t>
            </a:r>
            <a:r>
              <a:rPr lang="en-US" sz="2200" b="1" i="1" dirty="0">
                <a:solidFill>
                  <a:srgbClr val="000066"/>
                </a:solidFill>
                <a:latin typeface="Comic Sans MS" pitchFamily="66" charset="0"/>
              </a:rPr>
              <a:t> </a:t>
            </a:r>
            <a:r>
              <a:rPr lang="en-US" sz="2200" b="1" i="1" dirty="0" err="1">
                <a:solidFill>
                  <a:srgbClr val="000066"/>
                </a:solidFill>
                <a:latin typeface="Comic Sans MS" pitchFamily="66" charset="0"/>
              </a:rPr>
              <a:t>dehydrogenase</a:t>
            </a:r>
            <a:r>
              <a:rPr lang="en-US" sz="2200" dirty="0">
                <a:latin typeface="Comic Sans MS" pitchFamily="66" charset="0"/>
              </a:rPr>
              <a:t>                                                        (</a:t>
            </a:r>
            <a:r>
              <a:rPr lang="en-US" sz="2200" dirty="0" err="1">
                <a:latin typeface="Comic Sans MS" pitchFamily="66" charset="0"/>
              </a:rPr>
              <a:t>allosteric</a:t>
            </a:r>
            <a:r>
              <a:rPr lang="en-US" sz="2200" dirty="0">
                <a:latin typeface="Comic Sans MS" pitchFamily="66" charset="0"/>
              </a:rPr>
              <a:t> effectors: (+) ADP; (-) NADH, ATP. Bacterial ICDH can be covalently modified by </a:t>
            </a:r>
            <a:r>
              <a:rPr lang="en-US" altLang="en-US" sz="2200" dirty="0" err="1">
                <a:latin typeface="Comic Sans MS" pitchFamily="66" charset="0"/>
              </a:rPr>
              <a:t>kinase</a:t>
            </a:r>
            <a:r>
              <a:rPr lang="en-US" altLang="en-US" sz="2200" dirty="0">
                <a:latin typeface="Comic Sans MS" pitchFamily="66" charset="0"/>
              </a:rPr>
              <a:t>/phosphatase</a:t>
            </a:r>
            <a:r>
              <a:rPr lang="en-US" sz="2200" dirty="0">
                <a:latin typeface="Comic Sans MS" pitchFamily="66" charset="0"/>
              </a:rPr>
              <a:t>)</a:t>
            </a:r>
          </a:p>
          <a:p>
            <a:pPr>
              <a:spcBef>
                <a:spcPct val="50000"/>
              </a:spcBef>
              <a:buFontTx/>
              <a:buChar char="-"/>
            </a:pPr>
            <a:r>
              <a:rPr lang="en-US" sz="2200" b="1" i="1" dirty="0">
                <a:solidFill>
                  <a:srgbClr val="000066"/>
                </a:solidFill>
                <a:latin typeface="Comic Sans MS" pitchFamily="66" charset="0"/>
                <a:sym typeface="Symbol" pitchFamily="18" charset="2"/>
              </a:rPr>
              <a:t></a:t>
            </a:r>
            <a:r>
              <a:rPr lang="en-US" sz="2200" b="1" i="1" dirty="0">
                <a:solidFill>
                  <a:srgbClr val="000066"/>
                </a:solidFill>
                <a:latin typeface="Comic Sans MS" pitchFamily="66" charset="0"/>
              </a:rPr>
              <a:t>-</a:t>
            </a:r>
            <a:r>
              <a:rPr lang="en-US" sz="2200" b="1" i="1" dirty="0" err="1">
                <a:solidFill>
                  <a:srgbClr val="000066"/>
                </a:solidFill>
                <a:latin typeface="Comic Sans MS" pitchFamily="66" charset="0"/>
              </a:rPr>
              <a:t>ketoglutarate</a:t>
            </a:r>
            <a:r>
              <a:rPr lang="en-US" sz="2200" b="1" i="1" dirty="0">
                <a:solidFill>
                  <a:srgbClr val="000066"/>
                </a:solidFill>
                <a:latin typeface="Comic Sans MS" pitchFamily="66" charset="0"/>
              </a:rPr>
              <a:t> </a:t>
            </a:r>
            <a:r>
              <a:rPr lang="en-US" sz="2200" b="1" i="1" dirty="0" err="1">
                <a:solidFill>
                  <a:srgbClr val="000066"/>
                </a:solidFill>
                <a:latin typeface="Comic Sans MS" pitchFamily="66" charset="0"/>
              </a:rPr>
              <a:t>dehydrogenase</a:t>
            </a:r>
            <a:r>
              <a:rPr lang="en-US" sz="2200" b="1" i="1" dirty="0">
                <a:solidFill>
                  <a:srgbClr val="000066"/>
                </a:solidFill>
                <a:latin typeface="Comic Sans MS" pitchFamily="66" charset="0"/>
              </a:rPr>
              <a:t> complex</a:t>
            </a:r>
            <a:r>
              <a:rPr lang="en-US" sz="2200" dirty="0">
                <a:latin typeface="Comic Sans MS" pitchFamily="66" charset="0"/>
              </a:rPr>
              <a:t> (inhibition by ATP, </a:t>
            </a:r>
            <a:r>
              <a:rPr lang="en-US" sz="2200" dirty="0" err="1">
                <a:latin typeface="Comic Sans MS" pitchFamily="66" charset="0"/>
              </a:rPr>
              <a:t>succinyl</a:t>
            </a:r>
            <a:r>
              <a:rPr lang="en-US" sz="2200" dirty="0">
                <a:latin typeface="Comic Sans MS" pitchFamily="66" charset="0"/>
              </a:rPr>
              <a:t> </a:t>
            </a:r>
            <a:r>
              <a:rPr lang="en-US" sz="2200" dirty="0" err="1">
                <a:latin typeface="Comic Sans MS" pitchFamily="66" charset="0"/>
              </a:rPr>
              <a:t>CoA</a:t>
            </a:r>
            <a:r>
              <a:rPr lang="en-US" sz="2200" dirty="0">
                <a:latin typeface="Comic Sans MS" pitchFamily="66" charset="0"/>
              </a:rPr>
              <a:t> and NADH</a:t>
            </a: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 name="Group 16"/>
          <p:cNvGrpSpPr>
            <a:grpSpLocks/>
          </p:cNvGrpSpPr>
          <p:nvPr/>
        </p:nvGrpSpPr>
        <p:grpSpPr bwMode="auto">
          <a:xfrm>
            <a:off x="214282" y="750910"/>
            <a:ext cx="8715436" cy="5964238"/>
            <a:chOff x="0" y="538"/>
            <a:chExt cx="5760" cy="3757"/>
          </a:xfrm>
        </p:grpSpPr>
        <p:pic>
          <p:nvPicPr>
            <p:cNvPr id="5" name="Picture 7"/>
            <p:cNvPicPr>
              <a:picLocks noChangeAspect="1" noChangeArrowheads="1"/>
            </p:cNvPicPr>
            <p:nvPr/>
          </p:nvPicPr>
          <p:blipFill>
            <a:blip r:embed="rId2"/>
            <a:srcRect/>
            <a:stretch>
              <a:fillRect/>
            </a:stretch>
          </p:blipFill>
          <p:spPr bwMode="auto">
            <a:xfrm>
              <a:off x="0" y="538"/>
              <a:ext cx="5760" cy="3757"/>
            </a:xfrm>
            <a:prstGeom prst="rect">
              <a:avLst/>
            </a:prstGeom>
            <a:noFill/>
            <a:ln w="9525">
              <a:noFill/>
              <a:miter lim="800000"/>
              <a:headEnd/>
              <a:tailEnd/>
            </a:ln>
          </p:spPr>
        </p:pic>
        <p:grpSp>
          <p:nvGrpSpPr>
            <p:cNvPr id="6" name="Group 13"/>
            <p:cNvGrpSpPr>
              <a:grpSpLocks/>
            </p:cNvGrpSpPr>
            <p:nvPr/>
          </p:nvGrpSpPr>
          <p:grpSpPr bwMode="auto">
            <a:xfrm>
              <a:off x="3024" y="1488"/>
              <a:ext cx="1637" cy="404"/>
              <a:chOff x="3691" y="1584"/>
              <a:chExt cx="1637" cy="404"/>
            </a:xfrm>
          </p:grpSpPr>
          <p:grpSp>
            <p:nvGrpSpPr>
              <p:cNvPr id="9" name="Group 12"/>
              <p:cNvGrpSpPr>
                <a:grpSpLocks/>
              </p:cNvGrpSpPr>
              <p:nvPr/>
            </p:nvGrpSpPr>
            <p:grpSpPr bwMode="auto">
              <a:xfrm>
                <a:off x="3696" y="1584"/>
                <a:ext cx="1632" cy="404"/>
                <a:chOff x="3696" y="1584"/>
                <a:chExt cx="1632" cy="404"/>
              </a:xfrm>
            </p:grpSpPr>
            <p:sp>
              <p:nvSpPr>
                <p:cNvPr id="11" name="Rectangle 9"/>
                <p:cNvSpPr>
                  <a:spLocks noChangeArrowheads="1"/>
                </p:cNvSpPr>
                <p:nvPr/>
              </p:nvSpPr>
              <p:spPr bwMode="auto">
                <a:xfrm>
                  <a:off x="3888" y="1584"/>
                  <a:ext cx="1440" cy="404"/>
                </a:xfrm>
                <a:prstGeom prst="rect">
                  <a:avLst/>
                </a:prstGeom>
                <a:noFill/>
                <a:ln w="9525">
                  <a:noFill/>
                  <a:miter lim="800000"/>
                  <a:headEnd/>
                  <a:tailEnd/>
                </a:ln>
              </p:spPr>
              <p:txBody>
                <a:bodyPr>
                  <a:spAutoFit/>
                </a:bodyPr>
                <a:lstStyle/>
                <a:p>
                  <a:r>
                    <a:rPr lang="en-US" sz="1800">
                      <a:solidFill>
                        <a:srgbClr val="FF0066"/>
                      </a:solidFill>
                      <a:latin typeface="Arial" charset="0"/>
                    </a:rPr>
                    <a:t>NADH, ATP, succinyl CoA, citrate</a:t>
                  </a:r>
                </a:p>
              </p:txBody>
            </p:sp>
            <p:sp>
              <p:nvSpPr>
                <p:cNvPr id="12" name="Oval 10"/>
                <p:cNvSpPr>
                  <a:spLocks noChangeArrowheads="1"/>
                </p:cNvSpPr>
                <p:nvPr/>
              </p:nvSpPr>
              <p:spPr bwMode="auto">
                <a:xfrm>
                  <a:off x="3696" y="1680"/>
                  <a:ext cx="144" cy="96"/>
                </a:xfrm>
                <a:prstGeom prst="ellipse">
                  <a:avLst/>
                </a:prstGeom>
                <a:noFill/>
                <a:ln w="9525">
                  <a:solidFill>
                    <a:srgbClr val="FF0066"/>
                  </a:solidFill>
                  <a:round/>
                  <a:headEnd/>
                  <a:tailEnd/>
                </a:ln>
              </p:spPr>
              <p:txBody>
                <a:bodyPr wrap="none" anchor="ctr"/>
                <a:lstStyle/>
                <a:p>
                  <a:endParaRPr lang="ru-RU" sz="1800">
                    <a:latin typeface="Arial" charset="0"/>
                  </a:endParaRPr>
                </a:p>
              </p:txBody>
            </p:sp>
          </p:grpSp>
          <p:sp>
            <p:nvSpPr>
              <p:cNvPr id="10" name="Text Box 11"/>
              <p:cNvSpPr txBox="1">
                <a:spLocks noChangeArrowheads="1"/>
              </p:cNvSpPr>
              <p:nvPr/>
            </p:nvSpPr>
            <p:spPr bwMode="auto">
              <a:xfrm>
                <a:off x="3691" y="1599"/>
                <a:ext cx="144" cy="231"/>
              </a:xfrm>
              <a:prstGeom prst="rect">
                <a:avLst/>
              </a:prstGeom>
              <a:noFill/>
              <a:ln w="9525">
                <a:noFill/>
                <a:miter lim="800000"/>
                <a:headEnd/>
                <a:tailEnd/>
              </a:ln>
            </p:spPr>
            <p:txBody>
              <a:bodyPr>
                <a:spAutoFit/>
              </a:bodyPr>
              <a:lstStyle/>
              <a:p>
                <a:pPr>
                  <a:spcBef>
                    <a:spcPct val="50000"/>
                  </a:spcBef>
                </a:pPr>
                <a:r>
                  <a:rPr lang="en-US" sz="1800">
                    <a:solidFill>
                      <a:srgbClr val="FF0066"/>
                    </a:solidFill>
                    <a:latin typeface="Arial" charset="0"/>
                  </a:rPr>
                  <a:t>-</a:t>
                </a:r>
              </a:p>
            </p:txBody>
          </p:sp>
        </p:grpSp>
        <p:sp>
          <p:nvSpPr>
            <p:cNvPr id="7" name="Line 14"/>
            <p:cNvSpPr>
              <a:spLocks noChangeShapeType="1"/>
            </p:cNvSpPr>
            <p:nvPr/>
          </p:nvSpPr>
          <p:spPr bwMode="auto">
            <a:xfrm flipH="1">
              <a:off x="2928" y="1728"/>
              <a:ext cx="96" cy="192"/>
            </a:xfrm>
            <a:prstGeom prst="line">
              <a:avLst/>
            </a:prstGeom>
            <a:noFill/>
            <a:ln w="28575">
              <a:solidFill>
                <a:srgbClr val="FF0066"/>
              </a:solidFill>
              <a:round/>
              <a:headEnd/>
              <a:tailEnd/>
            </a:ln>
          </p:spPr>
          <p:txBody>
            <a:bodyPr/>
            <a:lstStyle/>
            <a:p>
              <a:endParaRPr lang="en-GB"/>
            </a:p>
          </p:txBody>
        </p:sp>
        <p:sp>
          <p:nvSpPr>
            <p:cNvPr id="8" name="Line 15"/>
            <p:cNvSpPr>
              <a:spLocks noChangeShapeType="1"/>
            </p:cNvSpPr>
            <p:nvPr/>
          </p:nvSpPr>
          <p:spPr bwMode="auto">
            <a:xfrm flipH="1">
              <a:off x="2880" y="1728"/>
              <a:ext cx="96" cy="192"/>
            </a:xfrm>
            <a:prstGeom prst="line">
              <a:avLst/>
            </a:prstGeom>
            <a:noFill/>
            <a:ln w="28575">
              <a:solidFill>
                <a:srgbClr val="FF0066"/>
              </a:solidFill>
              <a:round/>
              <a:headEnd/>
              <a:tailEnd/>
            </a:ln>
          </p:spPr>
          <p:txBody>
            <a:bodyPr/>
            <a:lstStyle/>
            <a:p>
              <a:endParaRPr lang="en-GB"/>
            </a:p>
          </p:txBody>
        </p:sp>
      </p:grpSp>
      <p:sp>
        <p:nvSpPr>
          <p:cNvPr id="13" name="Rectangle 17"/>
          <p:cNvSpPr>
            <a:spLocks noChangeArrowheads="1"/>
          </p:cNvSpPr>
          <p:nvPr/>
        </p:nvSpPr>
        <p:spPr bwMode="auto">
          <a:xfrm>
            <a:off x="993775" y="115888"/>
            <a:ext cx="6929438" cy="579437"/>
          </a:xfrm>
          <a:prstGeom prst="rect">
            <a:avLst/>
          </a:prstGeom>
          <a:noFill/>
          <a:ln w="9525" algn="ctr">
            <a:noFill/>
            <a:miter lim="800000"/>
            <a:headEnd/>
            <a:tailEnd/>
          </a:ln>
        </p:spPr>
        <p:txBody>
          <a:bodyPr wrap="none">
            <a:spAutoFit/>
          </a:bodyPr>
          <a:lstStyle/>
          <a:p>
            <a:r>
              <a:rPr lang="en-US" altLang="en-US" sz="3200" b="1" dirty="0">
                <a:solidFill>
                  <a:srgbClr val="660033"/>
                </a:solidFill>
                <a:latin typeface="Comic Sans MS" pitchFamily="66" charset="0"/>
              </a:rPr>
              <a:t>Regulation of the citric acid cycle</a:t>
            </a:r>
            <a:endParaRPr lang="en-US" sz="3200" b="1" dirty="0">
              <a:solidFill>
                <a:srgbClr val="660033"/>
              </a:solidFill>
              <a:latin typeface="Comic Sans MS" pitchFamily="66" charset="0"/>
            </a:endParaRP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p:cNvSpPr>
            <a:spLocks noChangeArrowheads="1"/>
          </p:cNvSpPr>
          <p:nvPr/>
        </p:nvSpPr>
        <p:spPr bwMode="auto">
          <a:xfrm>
            <a:off x="76200" y="152400"/>
            <a:ext cx="8991600" cy="503238"/>
          </a:xfrm>
          <a:prstGeom prst="rect">
            <a:avLst/>
          </a:prstGeom>
          <a:noFill/>
          <a:ln w="9525">
            <a:noFill/>
            <a:miter lim="800000"/>
            <a:headEnd/>
            <a:tailEnd/>
          </a:ln>
        </p:spPr>
        <p:txBody>
          <a:bodyPr>
            <a:spAutoFit/>
          </a:bodyPr>
          <a:lstStyle/>
          <a:p>
            <a:r>
              <a:rPr lang="en-US" altLang="en-US" sz="2700" b="1" dirty="0">
                <a:solidFill>
                  <a:srgbClr val="660033"/>
                </a:solidFill>
                <a:latin typeface="Comic Sans MS" pitchFamily="66" charset="0"/>
              </a:rPr>
              <a:t>Krebs Cycle is a Source of Biosynthetic Precursors</a:t>
            </a:r>
            <a:endParaRPr lang="en-US" sz="2700" b="1" dirty="0">
              <a:solidFill>
                <a:srgbClr val="660033"/>
              </a:solidFill>
              <a:latin typeface="Comic Sans MS" pitchFamily="66" charset="0"/>
            </a:endParaRPr>
          </a:p>
        </p:txBody>
      </p:sp>
      <p:pic>
        <p:nvPicPr>
          <p:cNvPr id="5" name="Picture 7"/>
          <p:cNvPicPr>
            <a:picLocks noChangeAspect="1" noChangeArrowheads="1"/>
          </p:cNvPicPr>
          <p:nvPr/>
        </p:nvPicPr>
        <p:blipFill>
          <a:blip r:embed="rId2"/>
          <a:srcRect/>
          <a:stretch>
            <a:fillRect/>
          </a:stretch>
        </p:blipFill>
        <p:spPr bwMode="auto">
          <a:xfrm>
            <a:off x="71406" y="714356"/>
            <a:ext cx="8929717" cy="57340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900113" y="76200"/>
            <a:ext cx="7953375" cy="579438"/>
          </a:xfrm>
          <a:prstGeom prst="rect">
            <a:avLst/>
          </a:prstGeom>
          <a:noFill/>
          <a:ln w="9525" algn="ctr">
            <a:noFill/>
            <a:miter lim="800000"/>
            <a:headEnd/>
            <a:tailEnd/>
          </a:ln>
        </p:spPr>
        <p:txBody>
          <a:bodyPr wrap="none" anchor="ctr">
            <a:spAutoFit/>
          </a:bodyPr>
          <a:lstStyle/>
          <a:p>
            <a:r>
              <a:rPr lang="en-US" sz="3200" b="1" dirty="0" err="1">
                <a:solidFill>
                  <a:srgbClr val="660033"/>
                </a:solidFill>
                <a:latin typeface="Comic Sans MS" pitchFamily="66" charset="0"/>
              </a:rPr>
              <a:t>Stoichiometry</a:t>
            </a:r>
            <a:r>
              <a:rPr lang="en-US" sz="3200" b="1" dirty="0">
                <a:solidFill>
                  <a:srgbClr val="660033"/>
                </a:solidFill>
                <a:latin typeface="Comic Sans MS" pitchFamily="66" charset="0"/>
              </a:rPr>
              <a:t> of the Citric Acid Cycle</a:t>
            </a:r>
            <a:r>
              <a:rPr lang="en-US" sz="3200" dirty="0">
                <a:solidFill>
                  <a:srgbClr val="660033"/>
                </a:solidFill>
                <a:latin typeface="Comic Sans MS" pitchFamily="66" charset="0"/>
              </a:rPr>
              <a:t> </a:t>
            </a:r>
          </a:p>
        </p:txBody>
      </p:sp>
      <p:sp>
        <p:nvSpPr>
          <p:cNvPr id="6" name="Rectangle 6"/>
          <p:cNvSpPr>
            <a:spLocks noChangeArrowheads="1"/>
          </p:cNvSpPr>
          <p:nvPr/>
        </p:nvSpPr>
        <p:spPr bwMode="auto">
          <a:xfrm>
            <a:off x="152400" y="685800"/>
            <a:ext cx="3505200" cy="3416320"/>
          </a:xfrm>
          <a:prstGeom prst="rect">
            <a:avLst/>
          </a:prstGeom>
          <a:noFill/>
          <a:ln w="9525" algn="ctr">
            <a:noFill/>
            <a:miter lim="800000"/>
            <a:headEnd/>
            <a:tailEnd/>
          </a:ln>
        </p:spPr>
        <p:txBody>
          <a:bodyPr wrap="square" anchor="ctr">
            <a:spAutoFit/>
          </a:bodyPr>
          <a:lstStyle/>
          <a:p>
            <a:pPr>
              <a:buFont typeface="Wingdings" pitchFamily="2" charset="2"/>
              <a:buChar char="§"/>
            </a:pPr>
            <a:r>
              <a:rPr lang="en-US" sz="1800" dirty="0">
                <a:latin typeface="Comic Sans MS" pitchFamily="66" charset="0"/>
              </a:rPr>
              <a:t> Two carbon atoms enter the cycle in the form of acetyl </a:t>
            </a:r>
            <a:r>
              <a:rPr lang="en-US" sz="1800" dirty="0" err="1">
                <a:latin typeface="Comic Sans MS" pitchFamily="66" charset="0"/>
              </a:rPr>
              <a:t>CoA</a:t>
            </a:r>
            <a:r>
              <a:rPr lang="en-US" sz="1800" dirty="0">
                <a:latin typeface="Comic Sans MS" pitchFamily="66" charset="0"/>
              </a:rPr>
              <a:t>. </a:t>
            </a:r>
          </a:p>
          <a:p>
            <a:pPr>
              <a:buFont typeface="Wingdings" pitchFamily="2" charset="2"/>
              <a:buChar char="§"/>
            </a:pPr>
            <a:r>
              <a:rPr lang="en-US" sz="1800" dirty="0">
                <a:latin typeface="Comic Sans MS" pitchFamily="66" charset="0"/>
              </a:rPr>
              <a:t> Two carbon atoms leave the cycle in the form of CO</a:t>
            </a:r>
            <a:r>
              <a:rPr lang="en-US" sz="1800" baseline="-25000" dirty="0">
                <a:latin typeface="Comic Sans MS" pitchFamily="66" charset="0"/>
              </a:rPr>
              <a:t>2</a:t>
            </a:r>
            <a:r>
              <a:rPr lang="en-US" sz="1800" dirty="0">
                <a:latin typeface="Comic Sans MS" pitchFamily="66" charset="0"/>
              </a:rPr>
              <a:t> .</a:t>
            </a:r>
          </a:p>
          <a:p>
            <a:pPr>
              <a:buFont typeface="Wingdings" pitchFamily="2" charset="2"/>
              <a:buChar char="§"/>
            </a:pPr>
            <a:r>
              <a:rPr lang="en-US" sz="1800" dirty="0">
                <a:latin typeface="Comic Sans MS" pitchFamily="66" charset="0"/>
              </a:rPr>
              <a:t> Four pairs of hydrogen       atoms leave the cycle in four oxidation reactions (three molecules of NAD</a:t>
            </a:r>
            <a:r>
              <a:rPr lang="en-US" sz="1800" baseline="30000" dirty="0">
                <a:latin typeface="Comic Sans MS" pitchFamily="66" charset="0"/>
              </a:rPr>
              <a:t>+</a:t>
            </a:r>
            <a:r>
              <a:rPr lang="en-US" sz="1800" dirty="0">
                <a:latin typeface="Comic Sans MS" pitchFamily="66" charset="0"/>
              </a:rPr>
              <a:t> one molecule of FAD are reduced). </a:t>
            </a:r>
          </a:p>
          <a:p>
            <a:pPr>
              <a:buFont typeface="Wingdings" pitchFamily="2" charset="2"/>
              <a:buChar char="§"/>
            </a:pPr>
            <a:r>
              <a:rPr lang="en-US" sz="1800" dirty="0">
                <a:latin typeface="Comic Sans MS" pitchFamily="66" charset="0"/>
              </a:rPr>
              <a:t> One molecule of GTP,</a:t>
            </a:r>
            <a:br>
              <a:rPr lang="en-US" sz="1800" dirty="0">
                <a:latin typeface="Comic Sans MS" pitchFamily="66" charset="0"/>
              </a:rPr>
            </a:br>
            <a:r>
              <a:rPr lang="en-US" sz="1800" dirty="0">
                <a:latin typeface="Comic Sans MS" pitchFamily="66" charset="0"/>
              </a:rPr>
              <a:t>is formed. </a:t>
            </a:r>
          </a:p>
        </p:txBody>
      </p:sp>
      <p:pic>
        <p:nvPicPr>
          <p:cNvPr id="7" name="Picture 5"/>
          <p:cNvPicPr>
            <a:picLocks noChangeAspect="1" noChangeArrowheads="1"/>
          </p:cNvPicPr>
          <p:nvPr/>
        </p:nvPicPr>
        <p:blipFill>
          <a:blip r:embed="rId2"/>
          <a:srcRect/>
          <a:stretch>
            <a:fillRect/>
          </a:stretch>
        </p:blipFill>
        <p:spPr bwMode="auto">
          <a:xfrm>
            <a:off x="3714744" y="714356"/>
            <a:ext cx="5429256" cy="5786478"/>
          </a:xfrm>
          <a:prstGeom prst="rect">
            <a:avLst/>
          </a:prstGeom>
          <a:noFill/>
          <a:ln w="9525">
            <a:noFill/>
            <a:miter lim="800000"/>
            <a:headEnd/>
            <a:tailEnd/>
          </a:ln>
        </p:spPr>
      </p:pic>
      <p:sp>
        <p:nvSpPr>
          <p:cNvPr id="8" name="Rectangle 8"/>
          <p:cNvSpPr>
            <a:spLocks noChangeArrowheads="1"/>
          </p:cNvSpPr>
          <p:nvPr/>
        </p:nvSpPr>
        <p:spPr bwMode="auto">
          <a:xfrm>
            <a:off x="152400" y="4691063"/>
            <a:ext cx="4419600" cy="2014537"/>
          </a:xfrm>
          <a:prstGeom prst="rect">
            <a:avLst/>
          </a:prstGeom>
          <a:noFill/>
          <a:ln w="9525" algn="ctr">
            <a:noFill/>
            <a:miter lim="800000"/>
            <a:headEnd/>
            <a:tailEnd/>
          </a:ln>
        </p:spPr>
        <p:txBody>
          <a:bodyPr wrap="square" anchor="ctr">
            <a:spAutoFit/>
          </a:bodyPr>
          <a:lstStyle/>
          <a:p>
            <a:pPr>
              <a:buFont typeface="Wingdings" pitchFamily="2" charset="2"/>
              <a:buChar char="§"/>
            </a:pPr>
            <a:r>
              <a:rPr lang="en-US" sz="1800" dirty="0">
                <a:solidFill>
                  <a:schemeClr val="accent2"/>
                </a:solidFill>
                <a:latin typeface="Comic Sans MS" pitchFamily="66" charset="0"/>
              </a:rPr>
              <a:t> 9 ATP </a:t>
            </a:r>
            <a:r>
              <a:rPr lang="en-US" sz="1800" dirty="0" smtClean="0">
                <a:solidFill>
                  <a:schemeClr val="accent2"/>
                </a:solidFill>
                <a:latin typeface="Comic Sans MS" pitchFamily="66" charset="0"/>
              </a:rPr>
              <a:t>(</a:t>
            </a:r>
            <a:r>
              <a:rPr lang="en-US" dirty="0" smtClean="0">
                <a:solidFill>
                  <a:schemeClr val="accent2"/>
                </a:solidFill>
                <a:latin typeface="Comic Sans MS" pitchFamily="66" charset="0"/>
              </a:rPr>
              <a:t>3</a:t>
            </a:r>
            <a:r>
              <a:rPr lang="en-US" sz="1800" dirty="0" smtClean="0">
                <a:solidFill>
                  <a:schemeClr val="accent2"/>
                </a:solidFill>
                <a:latin typeface="Comic Sans MS" pitchFamily="66" charset="0"/>
              </a:rPr>
              <a:t> </a:t>
            </a:r>
            <a:r>
              <a:rPr lang="en-US" sz="1800" dirty="0">
                <a:solidFill>
                  <a:schemeClr val="accent2"/>
                </a:solidFill>
                <a:latin typeface="Comic Sans MS" pitchFamily="66" charset="0"/>
              </a:rPr>
              <a:t>ATP per NADH, and </a:t>
            </a:r>
            <a:r>
              <a:rPr lang="en-US" dirty="0" smtClean="0">
                <a:solidFill>
                  <a:schemeClr val="accent2"/>
                </a:solidFill>
                <a:latin typeface="Comic Sans MS" pitchFamily="66" charset="0"/>
              </a:rPr>
              <a:t>2</a:t>
            </a:r>
            <a:r>
              <a:rPr lang="en-US" sz="1800" dirty="0" smtClean="0">
                <a:solidFill>
                  <a:schemeClr val="accent2"/>
                </a:solidFill>
                <a:latin typeface="Comic Sans MS" pitchFamily="66" charset="0"/>
              </a:rPr>
              <a:t> </a:t>
            </a:r>
            <a:r>
              <a:rPr lang="en-US" sz="1800" dirty="0">
                <a:solidFill>
                  <a:schemeClr val="accent2"/>
                </a:solidFill>
                <a:latin typeface="Comic Sans MS" pitchFamily="66" charset="0"/>
              </a:rPr>
              <a:t>ATP per FADH</a:t>
            </a:r>
            <a:r>
              <a:rPr lang="en-US" sz="1800" baseline="-25000" dirty="0">
                <a:solidFill>
                  <a:schemeClr val="accent2"/>
                </a:solidFill>
                <a:latin typeface="Comic Sans MS" pitchFamily="66" charset="0"/>
              </a:rPr>
              <a:t>2</a:t>
            </a:r>
            <a:r>
              <a:rPr lang="en-US" sz="1800" dirty="0">
                <a:solidFill>
                  <a:schemeClr val="accent2"/>
                </a:solidFill>
                <a:latin typeface="Comic Sans MS" pitchFamily="66" charset="0"/>
              </a:rPr>
              <a:t>)</a:t>
            </a:r>
            <a:r>
              <a:rPr lang="en-US" sz="1800" baseline="-25000" dirty="0">
                <a:solidFill>
                  <a:schemeClr val="accent2"/>
                </a:solidFill>
                <a:latin typeface="Comic Sans MS" pitchFamily="66" charset="0"/>
              </a:rPr>
              <a:t> </a:t>
            </a:r>
            <a:r>
              <a:rPr lang="en-US" sz="1800" dirty="0">
                <a:solidFill>
                  <a:schemeClr val="accent2"/>
                </a:solidFill>
                <a:latin typeface="Comic Sans MS" pitchFamily="66" charset="0"/>
              </a:rPr>
              <a:t>are produced during oxidative </a:t>
            </a:r>
            <a:r>
              <a:rPr lang="en-US" sz="1800" dirty="0" err="1">
                <a:solidFill>
                  <a:schemeClr val="accent2"/>
                </a:solidFill>
                <a:latin typeface="Comic Sans MS" pitchFamily="66" charset="0"/>
              </a:rPr>
              <a:t>phosphorylation</a:t>
            </a:r>
            <a:r>
              <a:rPr lang="en-US" sz="1800" dirty="0">
                <a:solidFill>
                  <a:schemeClr val="accent2"/>
                </a:solidFill>
                <a:latin typeface="Comic Sans MS" pitchFamily="66" charset="0"/>
              </a:rPr>
              <a:t>. </a:t>
            </a:r>
          </a:p>
          <a:p>
            <a:pPr>
              <a:buFont typeface="Wingdings" pitchFamily="2" charset="2"/>
              <a:buChar char="§"/>
            </a:pPr>
            <a:r>
              <a:rPr lang="en-US" sz="1800" dirty="0">
                <a:solidFill>
                  <a:schemeClr val="accent2"/>
                </a:solidFill>
                <a:latin typeface="Comic Sans MS" pitchFamily="66" charset="0"/>
              </a:rPr>
              <a:t> 1 ATP is directly formed in the     citric acid cycle. </a:t>
            </a:r>
          </a:p>
          <a:p>
            <a:pPr>
              <a:buFont typeface="Wingdings" pitchFamily="2" charset="2"/>
              <a:buChar char="§"/>
            </a:pPr>
            <a:r>
              <a:rPr lang="en-US" sz="1800" b="1" dirty="0">
                <a:solidFill>
                  <a:schemeClr val="accent2"/>
                </a:solidFill>
                <a:latin typeface="Comic Sans MS" pitchFamily="66" charset="0"/>
              </a:rPr>
              <a:t> 1 acetyl </a:t>
            </a:r>
            <a:r>
              <a:rPr lang="en-US" sz="1800" b="1" dirty="0" err="1">
                <a:solidFill>
                  <a:schemeClr val="accent2"/>
                </a:solidFill>
                <a:latin typeface="Comic Sans MS" pitchFamily="66" charset="0"/>
              </a:rPr>
              <a:t>CoA</a:t>
            </a:r>
            <a:r>
              <a:rPr lang="en-US" sz="1800" b="1" dirty="0">
                <a:solidFill>
                  <a:schemeClr val="accent2"/>
                </a:solidFill>
                <a:latin typeface="Comic Sans MS" pitchFamily="66" charset="0"/>
              </a:rPr>
              <a:t> generates </a:t>
            </a:r>
            <a:r>
              <a:rPr lang="en-US" sz="1800" b="1">
                <a:solidFill>
                  <a:schemeClr val="accent2"/>
                </a:solidFill>
                <a:latin typeface="Comic Sans MS" pitchFamily="66" charset="0"/>
              </a:rPr>
              <a:t>approximately </a:t>
            </a:r>
            <a:r>
              <a:rPr lang="en-US" sz="1800" b="1" smtClean="0">
                <a:solidFill>
                  <a:schemeClr val="accent2"/>
                </a:solidFill>
                <a:latin typeface="Comic Sans MS" pitchFamily="66" charset="0"/>
              </a:rPr>
              <a:t>12 </a:t>
            </a:r>
            <a:r>
              <a:rPr lang="en-US" sz="1800" b="1" dirty="0">
                <a:solidFill>
                  <a:schemeClr val="accent2"/>
                </a:solidFill>
                <a:latin typeface="Comic Sans MS" pitchFamily="66" charset="0"/>
              </a:rPr>
              <a:t>molecules of ATP.</a:t>
            </a:r>
            <a:r>
              <a:rPr lang="en-US" sz="1800" dirty="0">
                <a:solidFill>
                  <a:schemeClr val="accent2"/>
                </a:solidFill>
                <a:latin typeface="Comic Sans MS" pitchFamily="66" charset="0"/>
              </a:rPr>
              <a:t> </a:t>
            </a: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2"/>
          <p:cNvSpPr txBox="1">
            <a:spLocks noChangeArrowheads="1"/>
          </p:cNvSpPr>
          <p:nvPr/>
        </p:nvSpPr>
        <p:spPr>
          <a:xfrm>
            <a:off x="285720" y="1066800"/>
            <a:ext cx="8572560" cy="5219720"/>
          </a:xfrm>
          <a:prstGeom prst="rect">
            <a:avLst/>
          </a:prstGeom>
        </p:spPr>
        <p:txBody>
          <a:bodyPr vert="horz" lIns="0" tIns="0" rIns="0" bIns="0" rtlCol="0">
            <a:normAutofit fontScale="92500" lnSpcReduction="10000"/>
          </a:bodyPr>
          <a:lstStyle/>
          <a:p>
            <a:pPr marL="0" marR="0" lvl="0" indent="0" algn="l" defTabSz="914400" rtl="0" eaLnBrk="1" fontAlgn="auto" latinLnBrk="0" hangingPunct="1">
              <a:lnSpc>
                <a:spcPct val="95000"/>
              </a:lnSpc>
              <a:spcBef>
                <a:spcPct val="0"/>
              </a:spcBef>
              <a:spcAft>
                <a:spcPts val="0"/>
              </a:spcAft>
              <a:buClrTx/>
              <a:buSzTx/>
              <a:buFontTx/>
              <a:buNone/>
              <a:tabLst/>
              <a:defRPr/>
            </a:pPr>
            <a:r>
              <a:rPr kumimoji="0" lang="en-US" sz="2700" b="0" i="0" u="none" strike="noStrike" kern="1200" cap="none" spc="0" normalizeH="0" baseline="0" noProof="0" dirty="0" smtClean="0">
                <a:ln>
                  <a:noFill/>
                </a:ln>
                <a:solidFill>
                  <a:srgbClr val="A64D79"/>
                </a:solidFill>
                <a:effectLst/>
                <a:uLnTx/>
                <a:uFillTx/>
                <a:latin typeface="Arial" charset="0"/>
                <a:ea typeface="+mn-ea"/>
                <a:cs typeface="+mn-cs"/>
              </a:rPr>
              <a:t>How many energy-producing molecules do we have per 1 glucose molecule?</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a:lnSpc>
                <a:spcPct val="95000"/>
              </a:lnSpc>
              <a:spcBef>
                <a:spcPct val="0"/>
              </a:spcBef>
              <a:defRPr/>
            </a:pPr>
            <a:endParaRPr lang="en-US" sz="2700" u="sng" smtClean="0">
              <a:solidFill>
                <a:srgbClr val="333333"/>
              </a:solidFill>
              <a:latin typeface="Arial" charset="0"/>
            </a:endParaRPr>
          </a:p>
          <a:p>
            <a:pPr>
              <a:lnSpc>
                <a:spcPct val="95000"/>
              </a:lnSpc>
              <a:spcBef>
                <a:spcPct val="0"/>
              </a:spcBef>
              <a:defRPr/>
            </a:pPr>
            <a:r>
              <a:rPr lang="en-US" sz="2700" u="sng" smtClean="0">
                <a:solidFill>
                  <a:srgbClr val="333333"/>
                </a:solidFill>
                <a:latin typeface="Arial" charset="0"/>
              </a:rPr>
              <a:t>Glycolysis:</a:t>
            </a:r>
            <a:r>
              <a:rPr lang="en-US" sz="2700" smtClean="0">
                <a:solidFill>
                  <a:srgbClr val="333333"/>
                </a:solidFill>
                <a:latin typeface="Arial" charset="0"/>
              </a:rPr>
              <a:t> 2 ATP, 2 NADH</a:t>
            </a:r>
            <a:endParaRPr lang="en-US" sz="3200" smtClean="0"/>
          </a:p>
          <a:p>
            <a:pPr marL="0" marR="0" lvl="0" indent="0" algn="l" defTabSz="914400" rtl="0" eaLnBrk="1" fontAlgn="auto" latinLnBrk="0" hangingPunct="1">
              <a:lnSpc>
                <a:spcPct val="95000"/>
              </a:lnSpc>
              <a:spcBef>
                <a:spcPct val="0"/>
              </a:spcBef>
              <a:spcAft>
                <a:spcPts val="0"/>
              </a:spcAft>
              <a:buClrTx/>
              <a:buSzTx/>
              <a:buFontTx/>
              <a:buNone/>
              <a:tabLst/>
              <a:defRPr/>
            </a:pPr>
            <a:endParaRPr kumimoji="0" lang="en-US" sz="2700" b="0" i="0" u="sng" strike="noStrike" kern="1200" cap="none" spc="0" normalizeH="0" baseline="0" noProof="0" dirty="0" smtClean="0">
              <a:ln>
                <a:noFill/>
              </a:ln>
              <a:solidFill>
                <a:srgbClr val="333333"/>
              </a:solidFill>
              <a:effectLst/>
              <a:uLnTx/>
              <a:uFillTx/>
              <a:latin typeface="Arial" charset="0"/>
              <a:ea typeface="+mn-ea"/>
              <a:cs typeface="+mn-cs"/>
            </a:endParaRPr>
          </a:p>
          <a:p>
            <a:pPr marL="0" marR="0" lvl="0" indent="0" algn="l" defTabSz="914400" rtl="0" eaLnBrk="1" fontAlgn="auto" latinLnBrk="0" hangingPunct="1">
              <a:lnSpc>
                <a:spcPct val="95000"/>
              </a:lnSpc>
              <a:spcBef>
                <a:spcPct val="0"/>
              </a:spcBef>
              <a:spcAft>
                <a:spcPts val="0"/>
              </a:spcAft>
              <a:buClrTx/>
              <a:buSzTx/>
              <a:buFontTx/>
              <a:buNone/>
              <a:tabLst/>
              <a:defRPr/>
            </a:pPr>
            <a:r>
              <a:rPr kumimoji="0" lang="en-US" sz="2700" b="0" i="0" u="sng" strike="noStrike" kern="1200" cap="none" spc="0" normalizeH="0" baseline="0" noProof="0" dirty="0" smtClean="0">
                <a:ln>
                  <a:noFill/>
                </a:ln>
                <a:solidFill>
                  <a:srgbClr val="333333"/>
                </a:solidFill>
                <a:effectLst/>
                <a:uLnTx/>
                <a:uFillTx/>
                <a:latin typeface="Arial" charset="0"/>
                <a:ea typeface="+mn-ea"/>
                <a:cs typeface="+mn-cs"/>
              </a:rPr>
              <a:t>Intermediate step: Pyruvate oxidation</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auto" latinLnBrk="0" hangingPunct="1">
              <a:lnSpc>
                <a:spcPct val="95000"/>
              </a:lnSpc>
              <a:spcBef>
                <a:spcPct val="0"/>
              </a:spcBef>
              <a:spcAft>
                <a:spcPts val="0"/>
              </a:spcAft>
              <a:buClrTx/>
              <a:buSzTx/>
              <a:buFontTx/>
              <a:buNone/>
              <a:tabLst/>
              <a:defRPr/>
            </a:pPr>
            <a:r>
              <a:rPr kumimoji="0" lang="en-US" sz="2700" b="0" i="0" u="none" strike="noStrike" kern="1200" cap="none" spc="0" normalizeH="0" baseline="0" noProof="0" dirty="0" smtClean="0">
                <a:ln>
                  <a:noFill/>
                </a:ln>
                <a:solidFill>
                  <a:srgbClr val="333333"/>
                </a:solidFill>
                <a:effectLst/>
                <a:uLnTx/>
                <a:uFillTx/>
                <a:latin typeface="Arial" charset="0"/>
                <a:ea typeface="+mn-ea"/>
                <a:cs typeface="+mn-cs"/>
              </a:rPr>
              <a:t>1 NADH x2= 2 NADH</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auto" latinLnBrk="0" hangingPunct="1">
              <a:lnSpc>
                <a:spcPct val="95000"/>
              </a:lnSpc>
              <a:spcBef>
                <a:spcPct val="0"/>
              </a:spcBef>
              <a:spcAft>
                <a:spcPts val="0"/>
              </a:spcAft>
              <a:buClrTx/>
              <a:buSzTx/>
              <a:buFontTx/>
              <a:buNone/>
              <a:tabLst/>
              <a:defRPr/>
            </a:pPr>
            <a:r>
              <a:rPr kumimoji="0" lang="en-US" sz="2700" b="0" i="0" u="none" strike="noStrike" kern="1200" cap="none" spc="0" normalizeH="0" baseline="0" noProof="0" dirty="0" smtClean="0">
                <a:ln>
                  <a:noFill/>
                </a:ln>
                <a:solidFill>
                  <a:srgbClr val="333333"/>
                </a:solidFill>
                <a:effectLst/>
                <a:uLnTx/>
                <a:uFillTx/>
                <a:latin typeface="Arial" charset="0"/>
                <a:ea typeface="+mn-ea"/>
                <a:cs typeface="+mn-cs"/>
              </a:rPr>
              <a:t> </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auto" latinLnBrk="0" hangingPunct="1">
              <a:lnSpc>
                <a:spcPct val="95000"/>
              </a:lnSpc>
              <a:spcBef>
                <a:spcPct val="0"/>
              </a:spcBef>
              <a:spcAft>
                <a:spcPts val="0"/>
              </a:spcAft>
              <a:buClrTx/>
              <a:buSzTx/>
              <a:buFontTx/>
              <a:buNone/>
              <a:tabLst/>
              <a:defRPr/>
            </a:pPr>
            <a:r>
              <a:rPr kumimoji="0" lang="en-US" sz="2700" b="0" i="0" u="sng" strike="noStrike" kern="1200" cap="none" spc="0" normalizeH="0" baseline="0" noProof="0" dirty="0" smtClean="0">
                <a:ln>
                  <a:noFill/>
                </a:ln>
                <a:solidFill>
                  <a:srgbClr val="333333"/>
                </a:solidFill>
                <a:effectLst/>
                <a:uLnTx/>
                <a:uFillTx/>
                <a:latin typeface="Arial" charset="0"/>
                <a:ea typeface="+mn-ea"/>
                <a:cs typeface="+mn-cs"/>
              </a:rPr>
              <a:t>Krebs Cycle</a:t>
            </a:r>
            <a:r>
              <a:rPr kumimoji="0" lang="en-US" sz="2700" b="0" i="0" u="none" strike="noStrike" kern="1200" cap="none" spc="0" normalizeH="0" baseline="0" noProof="0" dirty="0" smtClean="0">
                <a:ln>
                  <a:noFill/>
                </a:ln>
                <a:solidFill>
                  <a:srgbClr val="333333"/>
                </a:solidFill>
                <a:effectLst/>
                <a:uLnTx/>
                <a:uFillTx/>
                <a:latin typeface="Arial" charset="0"/>
                <a:ea typeface="+mn-ea"/>
                <a:cs typeface="+mn-cs"/>
              </a:rPr>
              <a:t>:  3 NADHx2= 6 NADH</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auto" latinLnBrk="0" hangingPunct="1">
              <a:lnSpc>
                <a:spcPct val="95000"/>
              </a:lnSpc>
              <a:spcBef>
                <a:spcPct val="0"/>
              </a:spcBef>
              <a:spcAft>
                <a:spcPts val="0"/>
              </a:spcAft>
              <a:buClrTx/>
              <a:buSzTx/>
              <a:buFontTx/>
              <a:buNone/>
              <a:tabLst/>
              <a:defRPr/>
            </a:pPr>
            <a:r>
              <a:rPr kumimoji="0" lang="en-US" sz="2700" b="0" i="0" u="none" strike="noStrike" kern="1200" cap="none" spc="0" normalizeH="0" baseline="0" noProof="0" dirty="0" smtClean="0">
                <a:ln>
                  <a:noFill/>
                </a:ln>
                <a:solidFill>
                  <a:srgbClr val="333333"/>
                </a:solidFill>
                <a:effectLst/>
                <a:uLnTx/>
                <a:uFillTx/>
                <a:latin typeface="Arial" charset="0"/>
                <a:ea typeface="+mn-ea"/>
                <a:cs typeface="+mn-cs"/>
              </a:rPr>
              <a:t>1 ATPx2= 2 ATP</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auto" latinLnBrk="0" hangingPunct="1">
              <a:lnSpc>
                <a:spcPct val="95000"/>
              </a:lnSpc>
              <a:spcBef>
                <a:spcPct val="0"/>
              </a:spcBef>
              <a:spcAft>
                <a:spcPts val="0"/>
              </a:spcAft>
              <a:buClrTx/>
              <a:buSzTx/>
              <a:buFontTx/>
              <a:buNone/>
              <a:tabLst/>
              <a:defRPr/>
            </a:pPr>
            <a:r>
              <a:rPr kumimoji="0" lang="en-US" sz="2700" b="0" i="0" u="none" strike="noStrike" kern="1200" cap="none" spc="0" normalizeH="0" baseline="0" noProof="0" dirty="0" smtClean="0">
                <a:ln>
                  <a:noFill/>
                </a:ln>
                <a:solidFill>
                  <a:srgbClr val="333333"/>
                </a:solidFill>
                <a:effectLst/>
                <a:uLnTx/>
                <a:uFillTx/>
                <a:latin typeface="Arial" charset="0"/>
                <a:ea typeface="+mn-ea"/>
                <a:cs typeface="+mn-cs"/>
              </a:rPr>
              <a:t>1 FADH2x2= 2 FADH2</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auto" latinLnBrk="0" hangingPunct="1">
              <a:lnSpc>
                <a:spcPct val="95000"/>
              </a:lnSpc>
              <a:spcBef>
                <a:spcPct val="0"/>
              </a:spcBef>
              <a:spcAft>
                <a:spcPts val="0"/>
              </a:spcAft>
              <a:buClrTx/>
              <a:buSzTx/>
              <a:buFontTx/>
              <a:buNone/>
              <a:tabLst/>
              <a:defRPr/>
            </a:pPr>
            <a:endParaRPr kumimoji="0" lang="en-US" sz="2700" b="0" i="0" u="none" strike="noStrike" kern="1200" cap="none" spc="0" normalizeH="0" baseline="0" noProof="0" dirty="0" smtClean="0">
              <a:ln>
                <a:noFill/>
              </a:ln>
              <a:solidFill>
                <a:srgbClr val="333333"/>
              </a:solidFill>
              <a:effectLst/>
              <a:uLnTx/>
              <a:uFillTx/>
              <a:latin typeface="Arial" charset="0"/>
              <a:ea typeface="+mn-ea"/>
              <a:cs typeface="+mn-cs"/>
            </a:endParaRPr>
          </a:p>
          <a:p>
            <a:pPr marL="0" marR="0" lvl="0" indent="0" algn="l" defTabSz="914400" rtl="0" eaLnBrk="1" fontAlgn="auto" latinLnBrk="0" hangingPunct="1">
              <a:lnSpc>
                <a:spcPct val="95000"/>
              </a:lnSpc>
              <a:spcBef>
                <a:spcPct val="0"/>
              </a:spcBef>
              <a:spcAft>
                <a:spcPts val="0"/>
              </a:spcAft>
              <a:buClrTx/>
              <a:buSzTx/>
              <a:buFontTx/>
              <a:buNone/>
              <a:tabLst/>
              <a:defRPr/>
            </a:pPr>
            <a:endParaRPr kumimoji="0" lang="en-US" sz="2700" b="0" i="0" u="none" strike="noStrike" kern="1200" cap="none" spc="0" normalizeH="0" baseline="0" noProof="0" dirty="0" smtClean="0">
              <a:ln>
                <a:noFill/>
              </a:ln>
              <a:solidFill>
                <a:srgbClr val="333333"/>
              </a:solidFill>
              <a:effectLst/>
              <a:uLnTx/>
              <a:uFillTx/>
              <a:latin typeface="Arial" charset="0"/>
              <a:ea typeface="+mn-ea"/>
              <a:cs typeface="+mn-cs"/>
            </a:endParaRPr>
          </a:p>
          <a:p>
            <a:pPr marL="0" marR="0" lvl="0" indent="0" algn="l" defTabSz="914400" rtl="0" eaLnBrk="1" fontAlgn="auto" latinLnBrk="0" hangingPunct="1">
              <a:lnSpc>
                <a:spcPct val="95000"/>
              </a:lnSpc>
              <a:spcBef>
                <a:spcPct val="0"/>
              </a:spcBef>
              <a:spcAft>
                <a:spcPts val="0"/>
              </a:spcAft>
              <a:buClrTx/>
              <a:buSzTx/>
              <a:buFontTx/>
              <a:buNone/>
              <a:tabLst/>
              <a:defRPr/>
            </a:pPr>
            <a:r>
              <a:rPr kumimoji="0" lang="en-US" sz="2700" b="0" i="0" u="sng" strike="noStrike" kern="1200" cap="none" spc="0" normalizeH="0" baseline="0" noProof="0" dirty="0" smtClean="0">
                <a:ln>
                  <a:noFill/>
                </a:ln>
                <a:solidFill>
                  <a:srgbClr val="333333"/>
                </a:solidFill>
                <a:effectLst/>
                <a:uLnTx/>
                <a:uFillTx/>
                <a:latin typeface="Arial" charset="0"/>
                <a:ea typeface="+mn-ea"/>
                <a:cs typeface="+mn-cs"/>
              </a:rPr>
              <a:t>Total</a:t>
            </a:r>
            <a:r>
              <a:rPr kumimoji="0" lang="en-US" sz="2700" b="0" i="0" u="none" strike="noStrike" kern="1200" cap="none" spc="0" normalizeH="0" baseline="0" noProof="0" dirty="0" smtClean="0">
                <a:ln>
                  <a:noFill/>
                </a:ln>
                <a:solidFill>
                  <a:srgbClr val="333333"/>
                </a:solidFill>
                <a:effectLst/>
                <a:uLnTx/>
                <a:uFillTx/>
                <a:latin typeface="Arial" charset="0"/>
                <a:ea typeface="+mn-ea"/>
                <a:cs typeface="+mn-cs"/>
              </a:rPr>
              <a:t>: 4 ATP, 10 NADH, 2 FADH2 --&gt; forms 38 ATP in the electron transport chain</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auto" latinLnBrk="0" hangingPunct="1">
              <a:lnSpc>
                <a:spcPct val="95000"/>
              </a:lnSpc>
              <a:spcBef>
                <a:spcPct val="0"/>
              </a:spcBef>
              <a:spcAft>
                <a:spcPts val="0"/>
              </a:spcAft>
              <a:buClrTx/>
              <a:buSzTx/>
              <a:buFontTx/>
              <a:buNone/>
              <a:tabLst/>
              <a:defRPr/>
            </a:pPr>
            <a:endParaRPr kumimoji="0" lang="en-US" sz="2700" b="0" i="0" u="none" strike="noStrike" kern="1200" cap="none" spc="0" normalizeH="0" baseline="0" noProof="0" dirty="0" smtClean="0">
              <a:ln>
                <a:noFill/>
              </a:ln>
              <a:solidFill>
                <a:srgbClr val="333333"/>
              </a:solidFill>
              <a:effectLst/>
              <a:uLnTx/>
              <a:uFillTx/>
              <a:latin typeface="Arial" charset="0"/>
              <a:ea typeface="+mn-ea"/>
              <a:cs typeface="+mn-cs"/>
            </a:endParaRPr>
          </a:p>
        </p:txBody>
      </p:sp>
      <p:sp>
        <p:nvSpPr>
          <p:cNvPr id="5" name="Rectangle 1"/>
          <p:cNvSpPr>
            <a:spLocks noGrp="1" noChangeArrowheads="1"/>
          </p:cNvSpPr>
          <p:nvPr>
            <p:ph type="title"/>
          </p:nvPr>
        </p:nvSpPr>
        <p:spPr>
          <a:xfrm>
            <a:off x="176212" y="157146"/>
            <a:ext cx="8610630" cy="914400"/>
          </a:xfrm>
        </p:spPr>
        <p:txBody>
          <a:bodyPr lIns="0" tIns="0" rIns="0" bIns="0" anchor="t"/>
          <a:lstStyle/>
          <a:p>
            <a:pPr eaLnBrk="1" hangingPunct="1">
              <a:lnSpc>
                <a:spcPct val="95000"/>
              </a:lnSpc>
            </a:pPr>
            <a:r>
              <a:rPr lang="en-US" sz="4300" dirty="0" smtClean="0">
                <a:solidFill>
                  <a:srgbClr val="333333"/>
                </a:solidFill>
                <a:latin typeface="Arial" charset="0"/>
              </a:rPr>
              <a:t>Summary of Krebs Cycle</a:t>
            </a: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116633"/>
            <a:ext cx="8064896" cy="936104"/>
          </a:xfrm>
        </p:spPr>
        <p:txBody>
          <a:bodyPr>
            <a:normAutofit/>
          </a:bodyPr>
          <a:lstStyle/>
          <a:p>
            <a:r>
              <a:rPr lang="en-US" b="1" dirty="0">
                <a:solidFill>
                  <a:srgbClr val="FF0000"/>
                </a:solidFill>
              </a:rPr>
              <a:t>The role of vitamins in TCA cycle</a:t>
            </a:r>
            <a:endParaRPr lang="en-GB" dirty="0"/>
          </a:p>
        </p:txBody>
      </p:sp>
      <p:sp>
        <p:nvSpPr>
          <p:cNvPr id="3" name="Content Placeholder 2"/>
          <p:cNvSpPr>
            <a:spLocks noGrp="1"/>
          </p:cNvSpPr>
          <p:nvPr>
            <p:ph idx="1"/>
          </p:nvPr>
        </p:nvSpPr>
        <p:spPr>
          <a:xfrm>
            <a:off x="0" y="836713"/>
            <a:ext cx="9144000" cy="6021288"/>
          </a:xfrm>
        </p:spPr>
        <p:txBody>
          <a:bodyPr>
            <a:normAutofit fontScale="92500" lnSpcReduction="10000"/>
          </a:bodyPr>
          <a:lstStyle/>
          <a:p>
            <a:pPr lvl="0">
              <a:buClr>
                <a:srgbClr val="83992A"/>
              </a:buClr>
            </a:pPr>
            <a:r>
              <a:rPr lang="en-US" sz="2800" dirty="0">
                <a:solidFill>
                  <a:prstClr val="black">
                    <a:lumMod val="85000"/>
                    <a:lumOff val="15000"/>
                  </a:prstClr>
                </a:solidFill>
                <a:latin typeface="Times New Roman" panose="02020603050405020304" pitchFamily="18" charset="0"/>
                <a:cs typeface="Times New Roman" panose="02020603050405020304" pitchFamily="18" charset="0"/>
              </a:rPr>
              <a:t>Vitamins, mainly of the B-group play important roles in TCA cycle. Four of the B vitamins that are essential in the TCA cycle and hence energy-yielding metabolism are:</a:t>
            </a:r>
            <a:endParaRPr lang="en-GB" sz="2800" dirty="0">
              <a:solidFill>
                <a:prstClr val="black">
                  <a:lumMod val="85000"/>
                  <a:lumOff val="15000"/>
                </a:prstClr>
              </a:solidFill>
              <a:latin typeface="Times New Roman" panose="02020603050405020304" pitchFamily="18" charset="0"/>
              <a:cs typeface="Times New Roman" panose="02020603050405020304" pitchFamily="18" charset="0"/>
            </a:endParaRPr>
          </a:p>
          <a:p>
            <a:pPr lvl="0">
              <a:buClr>
                <a:srgbClr val="83992A"/>
              </a:buClr>
            </a:pPr>
            <a:r>
              <a:rPr lang="en-US" sz="2800" b="1" dirty="0">
                <a:solidFill>
                  <a:srgbClr val="0070C0"/>
                </a:solidFill>
                <a:latin typeface="Times New Roman" panose="02020603050405020304" pitchFamily="18" charset="0"/>
                <a:cs typeface="Times New Roman" panose="02020603050405020304" pitchFamily="18" charset="0"/>
              </a:rPr>
              <a:t>Riboflavin</a:t>
            </a:r>
            <a:r>
              <a:rPr lang="en-US" sz="2800" dirty="0">
                <a:solidFill>
                  <a:srgbClr val="0070C0"/>
                </a:solidFill>
                <a:latin typeface="Times New Roman" panose="02020603050405020304" pitchFamily="18" charset="0"/>
                <a:cs typeface="Times New Roman" panose="02020603050405020304" pitchFamily="18" charset="0"/>
              </a:rPr>
              <a:t> </a:t>
            </a:r>
            <a:r>
              <a:rPr lang="en-US" sz="2800" dirty="0">
                <a:solidFill>
                  <a:prstClr val="black">
                    <a:lumMod val="85000"/>
                    <a:lumOff val="15000"/>
                  </a:prstClr>
                </a:solidFill>
                <a:latin typeface="Times New Roman" panose="02020603050405020304" pitchFamily="18" charset="0"/>
                <a:cs typeface="Times New Roman" panose="02020603050405020304" pitchFamily="18" charset="0"/>
              </a:rPr>
              <a:t>in the form of </a:t>
            </a:r>
            <a:r>
              <a:rPr lang="en-US" sz="2800" dirty="0" err="1">
                <a:solidFill>
                  <a:prstClr val="black">
                    <a:lumMod val="85000"/>
                    <a:lumOff val="15000"/>
                  </a:prstClr>
                </a:solidFill>
                <a:latin typeface="Times New Roman" panose="02020603050405020304" pitchFamily="18" charset="0"/>
                <a:cs typeface="Times New Roman" panose="02020603050405020304" pitchFamily="18" charset="0"/>
              </a:rPr>
              <a:t>flavin</a:t>
            </a:r>
            <a:r>
              <a:rPr lang="en-US" sz="2800" dirty="0">
                <a:solidFill>
                  <a:prstClr val="black">
                    <a:lumMod val="85000"/>
                    <a:lumOff val="15000"/>
                  </a:prstClr>
                </a:solidFill>
                <a:latin typeface="Times New Roman" panose="02020603050405020304" pitchFamily="18" charset="0"/>
                <a:cs typeface="Times New Roman" panose="02020603050405020304" pitchFamily="18" charset="0"/>
              </a:rPr>
              <a:t> adenine dinucleotide (FAD), it is a co-factor for succinate dehydrogenase.</a:t>
            </a:r>
            <a:endParaRPr lang="en-GB" sz="2800" dirty="0">
              <a:solidFill>
                <a:prstClr val="black">
                  <a:lumMod val="85000"/>
                  <a:lumOff val="15000"/>
                </a:prstClr>
              </a:solidFill>
              <a:latin typeface="Times New Roman" panose="02020603050405020304" pitchFamily="18" charset="0"/>
              <a:cs typeface="Times New Roman" panose="02020603050405020304" pitchFamily="18" charset="0"/>
            </a:endParaRPr>
          </a:p>
          <a:p>
            <a:pPr lvl="0">
              <a:buClr>
                <a:srgbClr val="83992A"/>
              </a:buClr>
            </a:pPr>
            <a:r>
              <a:rPr lang="en-US" sz="2800" b="1" dirty="0">
                <a:solidFill>
                  <a:srgbClr val="0070C0"/>
                </a:solidFill>
                <a:latin typeface="Times New Roman" panose="02020603050405020304" pitchFamily="18" charset="0"/>
                <a:cs typeface="Times New Roman" panose="02020603050405020304" pitchFamily="18" charset="0"/>
              </a:rPr>
              <a:t>Niacin</a:t>
            </a:r>
            <a:r>
              <a:rPr lang="en-US" sz="2800" dirty="0">
                <a:solidFill>
                  <a:srgbClr val="0070C0"/>
                </a:solidFill>
                <a:latin typeface="Times New Roman" panose="02020603050405020304" pitchFamily="18" charset="0"/>
                <a:cs typeface="Times New Roman" panose="02020603050405020304" pitchFamily="18" charset="0"/>
              </a:rPr>
              <a:t> </a:t>
            </a:r>
            <a:r>
              <a:rPr lang="en-US" sz="2800" dirty="0">
                <a:solidFill>
                  <a:prstClr val="black">
                    <a:lumMod val="85000"/>
                    <a:lumOff val="15000"/>
                  </a:prstClr>
                </a:solidFill>
                <a:latin typeface="Times New Roman" panose="02020603050405020304" pitchFamily="18" charset="0"/>
                <a:cs typeface="Times New Roman" panose="02020603050405020304" pitchFamily="18" charset="0"/>
              </a:rPr>
              <a:t>in the form the form of adenine dinucleotide is the electron acceptor for </a:t>
            </a:r>
            <a:r>
              <a:rPr lang="en-US" sz="2800" dirty="0" err="1">
                <a:solidFill>
                  <a:prstClr val="black">
                    <a:lumMod val="85000"/>
                    <a:lumOff val="15000"/>
                  </a:prstClr>
                </a:solidFill>
                <a:latin typeface="Times New Roman" panose="02020603050405020304" pitchFamily="18" charset="0"/>
                <a:cs typeface="Times New Roman" panose="02020603050405020304" pitchFamily="18" charset="0"/>
              </a:rPr>
              <a:t>isocitrate</a:t>
            </a:r>
            <a:r>
              <a:rPr lang="en-US" sz="2800" dirty="0">
                <a:solidFill>
                  <a:prstClr val="black">
                    <a:lumMod val="85000"/>
                    <a:lumOff val="15000"/>
                  </a:prstClr>
                </a:solidFill>
                <a:latin typeface="Times New Roman" panose="02020603050405020304" pitchFamily="18" charset="0"/>
                <a:cs typeface="Times New Roman" panose="02020603050405020304" pitchFamily="18" charset="0"/>
              </a:rPr>
              <a:t> dehydrogenase, α-</a:t>
            </a:r>
            <a:r>
              <a:rPr lang="en-US" sz="2800" dirty="0" err="1">
                <a:solidFill>
                  <a:prstClr val="black">
                    <a:lumMod val="85000"/>
                    <a:lumOff val="15000"/>
                  </a:prstClr>
                </a:solidFill>
                <a:latin typeface="Times New Roman" panose="02020603050405020304" pitchFamily="18" charset="0"/>
                <a:cs typeface="Times New Roman" panose="02020603050405020304" pitchFamily="18" charset="0"/>
              </a:rPr>
              <a:t>ketoglutarate</a:t>
            </a:r>
            <a:r>
              <a:rPr lang="en-US" sz="2800" dirty="0">
                <a:solidFill>
                  <a:prstClr val="black">
                    <a:lumMod val="85000"/>
                    <a:lumOff val="15000"/>
                  </a:prstClr>
                </a:solidFill>
                <a:latin typeface="Times New Roman" panose="02020603050405020304" pitchFamily="18" charset="0"/>
                <a:cs typeface="Times New Roman" panose="02020603050405020304" pitchFamily="18" charset="0"/>
              </a:rPr>
              <a:t> dehydrogenase, and malate dehydrogenase.</a:t>
            </a:r>
            <a:endParaRPr lang="en-GB" sz="2800" dirty="0">
              <a:solidFill>
                <a:prstClr val="black">
                  <a:lumMod val="85000"/>
                  <a:lumOff val="15000"/>
                </a:prstClr>
              </a:solidFill>
              <a:latin typeface="Times New Roman" panose="02020603050405020304" pitchFamily="18" charset="0"/>
              <a:cs typeface="Times New Roman" panose="02020603050405020304" pitchFamily="18" charset="0"/>
            </a:endParaRPr>
          </a:p>
          <a:p>
            <a:pPr lvl="0">
              <a:buClr>
                <a:srgbClr val="83992A"/>
              </a:buClr>
            </a:pPr>
            <a:r>
              <a:rPr lang="en-US" sz="2800" b="1" dirty="0">
                <a:solidFill>
                  <a:srgbClr val="0070C0"/>
                </a:solidFill>
                <a:latin typeface="Times New Roman" panose="02020603050405020304" pitchFamily="18" charset="0"/>
                <a:cs typeface="Times New Roman" panose="02020603050405020304" pitchFamily="18" charset="0"/>
              </a:rPr>
              <a:t>Thiamine (Vitamin B1)</a:t>
            </a:r>
            <a:r>
              <a:rPr lang="en-US" sz="2800" dirty="0">
                <a:solidFill>
                  <a:srgbClr val="0070C0"/>
                </a:solidFill>
                <a:latin typeface="Times New Roman" panose="02020603050405020304" pitchFamily="18" charset="0"/>
                <a:cs typeface="Times New Roman" panose="02020603050405020304" pitchFamily="18" charset="0"/>
              </a:rPr>
              <a:t> </a:t>
            </a:r>
            <a:r>
              <a:rPr lang="en-US" sz="2800" dirty="0">
                <a:solidFill>
                  <a:prstClr val="black">
                    <a:lumMod val="85000"/>
                    <a:lumOff val="15000"/>
                  </a:prstClr>
                </a:solidFill>
                <a:latin typeface="Times New Roman" panose="02020603050405020304" pitchFamily="18" charset="0"/>
                <a:cs typeface="Times New Roman" panose="02020603050405020304" pitchFamily="18" charset="0"/>
              </a:rPr>
              <a:t>as thiamine </a:t>
            </a:r>
            <a:r>
              <a:rPr lang="en-US" sz="2800" dirty="0" err="1">
                <a:solidFill>
                  <a:prstClr val="black">
                    <a:lumMod val="85000"/>
                    <a:lumOff val="15000"/>
                  </a:prstClr>
                </a:solidFill>
                <a:latin typeface="Times New Roman" panose="02020603050405020304" pitchFamily="18" charset="0"/>
                <a:cs typeface="Times New Roman" panose="02020603050405020304" pitchFamily="18" charset="0"/>
              </a:rPr>
              <a:t>diphosphate</a:t>
            </a:r>
            <a:r>
              <a:rPr lang="en-US" sz="2800" dirty="0">
                <a:solidFill>
                  <a:prstClr val="black">
                    <a:lumMod val="85000"/>
                    <a:lumOff val="15000"/>
                  </a:prstClr>
                </a:solidFill>
                <a:latin typeface="Times New Roman" panose="02020603050405020304" pitchFamily="18" charset="0"/>
                <a:cs typeface="Times New Roman" panose="02020603050405020304" pitchFamily="18" charset="0"/>
              </a:rPr>
              <a:t> is the co-enzyme for decarboxylation in the α-</a:t>
            </a:r>
            <a:r>
              <a:rPr lang="en-US" sz="2800" dirty="0" err="1">
                <a:solidFill>
                  <a:prstClr val="black">
                    <a:lumMod val="85000"/>
                    <a:lumOff val="15000"/>
                  </a:prstClr>
                </a:solidFill>
                <a:latin typeface="Times New Roman" panose="02020603050405020304" pitchFamily="18" charset="0"/>
                <a:cs typeface="Times New Roman" panose="02020603050405020304" pitchFamily="18" charset="0"/>
              </a:rPr>
              <a:t>ketoglutarate</a:t>
            </a:r>
            <a:r>
              <a:rPr lang="en-US" sz="2800" dirty="0">
                <a:solidFill>
                  <a:prstClr val="black">
                    <a:lumMod val="85000"/>
                    <a:lumOff val="15000"/>
                  </a:prstClr>
                </a:solidFill>
                <a:latin typeface="Times New Roman" panose="02020603050405020304" pitchFamily="18" charset="0"/>
                <a:cs typeface="Times New Roman" panose="02020603050405020304" pitchFamily="18" charset="0"/>
              </a:rPr>
              <a:t> dehydrogenase reaction. </a:t>
            </a:r>
            <a:endParaRPr lang="en-GB" sz="2800" dirty="0">
              <a:solidFill>
                <a:prstClr val="black">
                  <a:lumMod val="85000"/>
                  <a:lumOff val="15000"/>
                </a:prstClr>
              </a:solidFill>
              <a:latin typeface="Times New Roman" panose="02020603050405020304" pitchFamily="18" charset="0"/>
              <a:cs typeface="Times New Roman" panose="02020603050405020304" pitchFamily="18" charset="0"/>
            </a:endParaRPr>
          </a:p>
          <a:p>
            <a:pPr lvl="0">
              <a:buClr>
                <a:srgbClr val="83992A"/>
              </a:buClr>
            </a:pPr>
            <a:r>
              <a:rPr lang="en-US" sz="2800" b="1" dirty="0">
                <a:solidFill>
                  <a:srgbClr val="0070C0"/>
                </a:solidFill>
                <a:latin typeface="Times New Roman" panose="02020603050405020304" pitchFamily="18" charset="0"/>
                <a:cs typeface="Times New Roman" panose="02020603050405020304" pitchFamily="18" charset="0"/>
              </a:rPr>
              <a:t>Pantothenic acid </a:t>
            </a:r>
            <a:r>
              <a:rPr lang="en-US" sz="2800" b="1" dirty="0">
                <a:solidFill>
                  <a:prstClr val="black">
                    <a:lumMod val="85000"/>
                    <a:lumOff val="15000"/>
                  </a:prstClr>
                </a:solidFill>
                <a:latin typeface="Times New Roman" panose="02020603050405020304" pitchFamily="18" charset="0"/>
                <a:cs typeface="Times New Roman" panose="02020603050405020304" pitchFamily="18" charset="0"/>
              </a:rPr>
              <a:t>i</a:t>
            </a:r>
            <a:r>
              <a:rPr lang="en-US" sz="2800" dirty="0">
                <a:solidFill>
                  <a:prstClr val="black">
                    <a:lumMod val="85000"/>
                    <a:lumOff val="15000"/>
                  </a:prstClr>
                </a:solidFill>
                <a:latin typeface="Times New Roman" panose="02020603050405020304" pitchFamily="18" charset="0"/>
                <a:cs typeface="Times New Roman" panose="02020603050405020304" pitchFamily="18" charset="0"/>
              </a:rPr>
              <a:t>s a part of coenzyme A, the co-factor attached to "active" carboxylic acid residues such as acetyl-CoA and </a:t>
            </a:r>
            <a:r>
              <a:rPr lang="en-US" sz="2800" dirty="0" err="1">
                <a:solidFill>
                  <a:prstClr val="black">
                    <a:lumMod val="85000"/>
                    <a:lumOff val="15000"/>
                  </a:prstClr>
                </a:solidFill>
                <a:latin typeface="Times New Roman" panose="02020603050405020304" pitchFamily="18" charset="0"/>
                <a:cs typeface="Times New Roman" panose="02020603050405020304" pitchFamily="18" charset="0"/>
              </a:rPr>
              <a:t>succinyl</a:t>
            </a:r>
            <a:r>
              <a:rPr lang="en-US" sz="2800" dirty="0">
                <a:solidFill>
                  <a:prstClr val="black">
                    <a:lumMod val="85000"/>
                    <a:lumOff val="15000"/>
                  </a:prstClr>
                </a:solidFill>
                <a:latin typeface="Times New Roman" panose="02020603050405020304" pitchFamily="18" charset="0"/>
                <a:cs typeface="Times New Roman" panose="02020603050405020304" pitchFamily="18" charset="0"/>
              </a:rPr>
              <a:t>-CoA.</a:t>
            </a:r>
            <a:endParaRPr lang="en-GB" sz="2800" dirty="0">
              <a:solidFill>
                <a:prstClr val="black">
                  <a:lumMod val="85000"/>
                  <a:lumOff val="15000"/>
                </a:prst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914927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7.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1_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1894</TotalTime>
  <Words>6378</Words>
  <Application>Microsoft Macintosh PowerPoint</Application>
  <PresentationFormat>On-screen Show (4:3)</PresentationFormat>
  <Paragraphs>529</Paragraphs>
  <Slides>100</Slides>
  <Notes>0</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3</vt:i4>
      </vt:variant>
      <vt:variant>
        <vt:lpstr>Slide Titles</vt:lpstr>
      </vt:variant>
      <vt:variant>
        <vt:i4>100</vt:i4>
      </vt:variant>
    </vt:vector>
  </HeadingPairs>
  <TitlesOfParts>
    <vt:vector size="111" baseType="lpstr">
      <vt:lpstr>Comic Sans MS</vt:lpstr>
      <vt:lpstr>Garamond</vt:lpstr>
      <vt:lpstr>Symbol</vt:lpstr>
      <vt:lpstr>Times New Roman</vt:lpstr>
      <vt:lpstr>Wingdings</vt:lpstr>
      <vt:lpstr>Arial</vt:lpstr>
      <vt:lpstr>Organic</vt:lpstr>
      <vt:lpstr>1_Organic</vt:lpstr>
      <vt:lpstr>Word.Picture.8</vt:lpstr>
      <vt:lpstr>Picture</vt:lpstr>
      <vt:lpstr>Bitmap Image</vt:lpstr>
      <vt:lpstr>Metabolism Edwin Maiko</vt:lpstr>
      <vt:lpstr>What is Metabolism?</vt:lpstr>
      <vt:lpstr>Carbohydrate Metabolism</vt:lpstr>
      <vt:lpstr>PowerPoint Presentation</vt:lpstr>
      <vt:lpstr>Glycolysis</vt:lpstr>
      <vt:lpstr>Glycolysis cont….</vt:lpstr>
      <vt:lpstr>PowerPoint Presentation</vt:lpstr>
      <vt:lpstr>PowerPoint Presentation</vt:lpstr>
      <vt:lpstr>Regulation of Glycolysis</vt:lpstr>
      <vt:lpstr>Regulation of Glycolysis cont…</vt:lpstr>
      <vt:lpstr>FRUCTOSE METABOLISM</vt:lpstr>
      <vt:lpstr>Reactions of Fructose Metabolism.</vt:lpstr>
      <vt:lpstr>Continuation.</vt:lpstr>
      <vt:lpstr>Illustration of the fructose metabolism pathway</vt:lpstr>
      <vt:lpstr>Sorbitol or Polyol Pathway for Formation of Fructose</vt:lpstr>
      <vt:lpstr>Continuation</vt:lpstr>
      <vt:lpstr>Continuation.</vt:lpstr>
      <vt:lpstr>Continuation</vt:lpstr>
      <vt:lpstr>Inborn errors in fructose metabolism</vt:lpstr>
      <vt:lpstr>2.Hereditary fructose intolerance</vt:lpstr>
      <vt:lpstr> 3.Reduced phosphorylation potential </vt:lpstr>
      <vt:lpstr>GALACTOSE METABOLISM</vt:lpstr>
      <vt:lpstr>Food sources of galactose</vt:lpstr>
      <vt:lpstr>Process of Galactose Metabolism.</vt:lpstr>
      <vt:lpstr>Continuation..</vt:lpstr>
      <vt:lpstr>Continuation…</vt:lpstr>
      <vt:lpstr>Illustration of Leloir pathway(Galactose pathway)</vt:lpstr>
      <vt:lpstr>Metabolic fate of UDP-Galactose </vt:lpstr>
      <vt:lpstr>Interface with Other Pathways-Polyol Pathway</vt:lpstr>
      <vt:lpstr>Continuation..(sorbitol implicating diabetes)</vt:lpstr>
      <vt:lpstr>Continuation….</vt:lpstr>
      <vt:lpstr>Gluconeogenesis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Pentose Phosphate pathway</vt:lpstr>
      <vt:lpstr>PowerPoint Presentation</vt:lpstr>
      <vt:lpstr>What does the pentose phosphate pathway achieve?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Regulation of the Pentose Pathway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Citric Acid  Cycle</vt:lpstr>
      <vt:lpstr> Enzymatic conversion of Pyruvate to acetyl CoA </vt:lpstr>
      <vt:lpstr>CONT’</vt:lpstr>
      <vt:lpstr> Citric Acid  Cycle</vt:lpstr>
      <vt:lpstr>PowerPoint Presentation</vt:lpstr>
      <vt:lpstr>PowerPoint Presentation</vt:lpstr>
      <vt:lpstr>PowerPoint Presentation</vt:lpstr>
      <vt:lpstr>PowerPoint Presentation</vt:lpstr>
      <vt:lpstr>2.  Aconitase</vt:lpstr>
      <vt:lpstr>3.  Isocitrate Dehydrogenase</vt:lpstr>
      <vt:lpstr>PowerPoint Presentation</vt:lpstr>
      <vt:lpstr>5.  Succinyl-CoA Synthetase</vt:lpstr>
      <vt:lpstr>PowerPoint Presentation</vt:lpstr>
      <vt:lpstr>7.  Fumarase</vt:lpstr>
      <vt:lpstr>PowerPoint Presentation</vt:lpstr>
      <vt:lpstr>Regulation of the Citric Acid Cycle</vt:lpstr>
      <vt:lpstr>PowerPoint Presentation</vt:lpstr>
      <vt:lpstr>PowerPoint Presentation</vt:lpstr>
      <vt:lpstr>PowerPoint Presentation</vt:lpstr>
      <vt:lpstr>Summary of Krebs Cycle</vt:lpstr>
      <vt:lpstr>The role of vitamins in TCA cycle</vt:lpstr>
    </vt:vector>
  </TitlesOfParts>
  <Company>Hewlett-Packard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Metabolism</dc:title>
  <dc:creator>Nelson</dc:creator>
  <cp:lastModifiedBy>Microsoft Office User</cp:lastModifiedBy>
  <cp:revision>71</cp:revision>
  <dcterms:created xsi:type="dcterms:W3CDTF">2013-08-04T09:57:36Z</dcterms:created>
  <dcterms:modified xsi:type="dcterms:W3CDTF">2024-11-09T14:18:46Z</dcterms:modified>
</cp:coreProperties>
</file>