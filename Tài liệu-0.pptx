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14.jpg" ContentType="image/jpeg"/>
  <Override PartName="/ppt/media/image15.jpg" ContentType="image/jpe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media/image19.jpg" ContentType="image/jpeg"/>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20.jpg" ContentType="image/jpeg"/>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6" r:id="rId2"/>
    <p:sldId id="393" r:id="rId3"/>
    <p:sldId id="257" r:id="rId4"/>
    <p:sldId id="260" r:id="rId5"/>
    <p:sldId id="261" r:id="rId6"/>
    <p:sldId id="262" r:id="rId7"/>
    <p:sldId id="263" r:id="rId8"/>
    <p:sldId id="264" r:id="rId9"/>
    <p:sldId id="265" r:id="rId10"/>
    <p:sldId id="266" r:id="rId11"/>
    <p:sldId id="267" r:id="rId12"/>
    <p:sldId id="268" r:id="rId13"/>
    <p:sldId id="269" r:id="rId14"/>
    <p:sldId id="270" r:id="rId15"/>
    <p:sldId id="273" r:id="rId16"/>
    <p:sldId id="274" r:id="rId17"/>
    <p:sldId id="278" r:id="rId18"/>
    <p:sldId id="281" r:id="rId19"/>
    <p:sldId id="282" r:id="rId20"/>
    <p:sldId id="283" r:id="rId21"/>
    <p:sldId id="284" r:id="rId22"/>
    <p:sldId id="285" r:id="rId23"/>
    <p:sldId id="286" r:id="rId24"/>
    <p:sldId id="287" r:id="rId25"/>
    <p:sldId id="289" r:id="rId26"/>
    <p:sldId id="291" r:id="rId27"/>
    <p:sldId id="292" r:id="rId28"/>
    <p:sldId id="396" r:id="rId29"/>
    <p:sldId id="397" r:id="rId30"/>
    <p:sldId id="293" r:id="rId31"/>
    <p:sldId id="295" r:id="rId32"/>
    <p:sldId id="398" r:id="rId33"/>
    <p:sldId id="399" r:id="rId34"/>
    <p:sldId id="400" r:id="rId35"/>
    <p:sldId id="401" r:id="rId36"/>
    <p:sldId id="296" r:id="rId37"/>
    <p:sldId id="297" r:id="rId38"/>
    <p:sldId id="298" r:id="rId39"/>
    <p:sldId id="299" r:id="rId40"/>
    <p:sldId id="309" r:id="rId41"/>
    <p:sldId id="304" r:id="rId42"/>
    <p:sldId id="365" r:id="rId43"/>
    <p:sldId id="366" r:id="rId44"/>
    <p:sldId id="367" r:id="rId45"/>
    <p:sldId id="368" r:id="rId46"/>
    <p:sldId id="369" r:id="rId47"/>
    <p:sldId id="370" r:id="rId48"/>
    <p:sldId id="371" r:id="rId49"/>
    <p:sldId id="372" r:id="rId50"/>
    <p:sldId id="373" r:id="rId51"/>
    <p:sldId id="374" r:id="rId52"/>
    <p:sldId id="375" r:id="rId53"/>
    <p:sldId id="376" r:id="rId54"/>
    <p:sldId id="377" r:id="rId55"/>
    <p:sldId id="378" r:id="rId56"/>
    <p:sldId id="379" r:id="rId57"/>
    <p:sldId id="380" r:id="rId58"/>
    <p:sldId id="381" r:id="rId59"/>
    <p:sldId id="382" r:id="rId60"/>
    <p:sldId id="383" r:id="rId61"/>
    <p:sldId id="384" r:id="rId62"/>
    <p:sldId id="385" r:id="rId63"/>
    <p:sldId id="386" r:id="rId64"/>
    <p:sldId id="387" r:id="rId65"/>
    <p:sldId id="388" r:id="rId66"/>
    <p:sldId id="390" r:id="rId67"/>
    <p:sldId id="391" r:id="rId68"/>
    <p:sldId id="392" r:id="rId69"/>
    <p:sldId id="394" r:id="rId70"/>
    <p:sldId id="395"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A2D36C-FE3B-4AF3-85E0-6AEA9ABCAA5A}" type="datetimeFigureOut">
              <a:rPr lang="en-US" smtClean="0"/>
              <a:t>4/15/2021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351FD7-1136-41C1-A9A1-4A56F9CB8F59}" type="slidenum">
              <a:rPr lang="en-US" smtClean="0"/>
              <a:t>‹#›</a:t>
            </a:fld>
            <a:endParaRPr lang="en-US"/>
          </a:p>
        </p:txBody>
      </p:sp>
    </p:spTree>
    <p:extLst>
      <p:ext uri="{BB962C8B-B14F-4D97-AF65-F5344CB8AC3E}">
        <p14:creationId xmlns:p14="http://schemas.microsoft.com/office/powerpoint/2010/main" val="563737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altLang="en-US" dirty="0">
                <a:ea typeface="ＭＳ Ｐゴシック" charset="-128"/>
              </a:rPr>
              <a:t>The specific objective</a:t>
            </a:r>
            <a:r>
              <a:rPr lang="en-US" altLang="en-US" baseline="0" dirty="0">
                <a:ea typeface="ＭＳ Ｐゴシック" charset="-128"/>
              </a:rPr>
              <a:t>s for this first session n motor control theory are to:</a:t>
            </a:r>
          </a:p>
          <a:p>
            <a:pPr marL="171450" indent="-171450">
              <a:buFont typeface="Arial" charset="0"/>
              <a:buChar char="•"/>
            </a:pPr>
            <a:r>
              <a:rPr lang="en-US" altLang="en-US" dirty="0">
                <a:ea typeface="ＭＳ Ｐゴシック" charset="-128"/>
              </a:rPr>
              <a:t>Relate motor control theory to the </a:t>
            </a:r>
            <a:r>
              <a:rPr lang="en-US" altLang="en-US" i="1" dirty="0">
                <a:ea typeface="ＭＳ Ｐゴシック" charset="-128"/>
              </a:rPr>
              <a:t>Movement System</a:t>
            </a:r>
            <a:r>
              <a:rPr lang="en-US" altLang="en-US" dirty="0">
                <a:ea typeface="ＭＳ Ｐゴシック" charset="-128"/>
              </a:rPr>
              <a:t> and ICF model.</a:t>
            </a:r>
            <a:endParaRPr lang="en-US" altLang="en-US" i="1" dirty="0">
              <a:ea typeface="ＭＳ Ｐゴシック" charset="-128"/>
            </a:endParaRPr>
          </a:p>
          <a:p>
            <a:pPr marL="171450" indent="-171450">
              <a:buFont typeface="Arial" charset="0"/>
              <a:buChar char="•"/>
            </a:pPr>
            <a:r>
              <a:rPr lang="en-US" altLang="en-US" dirty="0">
                <a:ea typeface="ＭＳ Ｐゴシック" charset="-128"/>
              </a:rPr>
              <a:t>Discuss fundamental principles of motor control theory in relation to physical therapist practice.</a:t>
            </a:r>
          </a:p>
          <a:p>
            <a:pPr marL="171450" indent="-171450">
              <a:buFont typeface="Arial" charset="0"/>
              <a:buChar char="•"/>
            </a:pPr>
            <a:r>
              <a:rPr lang="en-US" altLang="en-US" dirty="0">
                <a:ea typeface="ＭＳ Ｐゴシック" charset="-128"/>
              </a:rPr>
              <a:t>Compare and contrast the different motor control theories, including the Reflex theory, Hierarchical theory, Motor Program theory, Dynamical Action/System theory, and Ecological theory.</a:t>
            </a:r>
          </a:p>
          <a:p>
            <a:endParaRPr lang="en-US" dirty="0"/>
          </a:p>
        </p:txBody>
      </p:sp>
      <p:sp>
        <p:nvSpPr>
          <p:cNvPr id="4" name="Slide Number Placeholder 3"/>
          <p:cNvSpPr>
            <a:spLocks noGrp="1"/>
          </p:cNvSpPr>
          <p:nvPr>
            <p:ph type="sldNum" sz="quarter" idx="5"/>
          </p:nvPr>
        </p:nvSpPr>
        <p:spPr/>
        <p:txBody>
          <a:bodyPr/>
          <a:lstStyle/>
          <a:p>
            <a:fld id="{EE26490A-AE2F-B048-8292-CA95A41A40BB}" type="slidenum">
              <a:rPr lang="en-US" smtClean="0"/>
              <a:t>42</a:t>
            </a:fld>
            <a:endParaRPr lang="en-US"/>
          </a:p>
        </p:txBody>
      </p:sp>
    </p:spTree>
    <p:extLst>
      <p:ext uri="{BB962C8B-B14F-4D97-AF65-F5344CB8AC3E}">
        <p14:creationId xmlns:p14="http://schemas.microsoft.com/office/powerpoint/2010/main" val="683064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As physical therapists,</a:t>
            </a:r>
            <a:r>
              <a:rPr lang="en-US" baseline="0" dirty="0"/>
              <a:t> we teach people how to learn new movement patterns each and every day.</a:t>
            </a:r>
          </a:p>
          <a:p>
            <a:pPr marL="171450" indent="-171450">
              <a:buFont typeface="Arial" charset="0"/>
              <a:buChar char="•"/>
            </a:pPr>
            <a:r>
              <a:rPr lang="en-US" baseline="0" dirty="0"/>
              <a:t>So we must fully understand the theoretical constructs process and process of motor learning in order optimize the our patient’s goal oriented-outcomes. </a:t>
            </a:r>
          </a:p>
          <a:p>
            <a:pPr marL="171450" indent="-171450">
              <a:buFont typeface="Arial" charset="0"/>
              <a:buChar char="•"/>
            </a:pPr>
            <a:r>
              <a:rPr lang="en-US" baseline="0" dirty="0"/>
              <a:t>So, what is motor learning?</a:t>
            </a:r>
          </a:p>
          <a:p>
            <a:pPr marL="628650" lvl="1" indent="-171450">
              <a:buFont typeface="Arial" charset="0"/>
              <a:buChar char="•"/>
            </a:pPr>
            <a:r>
              <a:rPr lang="en-US" altLang="en-US" dirty="0">
                <a:solidFill>
                  <a:schemeClr val="tx1"/>
                </a:solidFill>
                <a:latin typeface="Calibri" charset="0"/>
                <a:ea typeface="ＭＳ Ｐゴシック" charset="-128"/>
              </a:rPr>
              <a:t>A set on internal </a:t>
            </a:r>
            <a:r>
              <a:rPr lang="en-US" altLang="en-US" u="sng" dirty="0">
                <a:solidFill>
                  <a:schemeClr val="tx1"/>
                </a:solidFill>
                <a:latin typeface="Calibri" charset="0"/>
                <a:ea typeface="ＭＳ Ｐゴシック" charset="-128"/>
              </a:rPr>
              <a:t>Processes</a:t>
            </a:r>
            <a:r>
              <a:rPr lang="en-US" altLang="en-US" dirty="0">
                <a:solidFill>
                  <a:schemeClr val="tx1"/>
                </a:solidFill>
                <a:latin typeface="Calibri" charset="0"/>
                <a:ea typeface="ＭＳ Ｐゴシック" charset="-128"/>
              </a:rPr>
              <a:t> that</a:t>
            </a:r>
            <a:r>
              <a:rPr lang="en-US" altLang="en-US" baseline="0" dirty="0">
                <a:solidFill>
                  <a:schemeClr val="tx1"/>
                </a:solidFill>
                <a:latin typeface="Calibri" charset="0"/>
                <a:ea typeface="ＭＳ Ｐゴシック" charset="-128"/>
              </a:rPr>
              <a:t> </a:t>
            </a:r>
            <a:r>
              <a:rPr lang="en-US" altLang="en-US" dirty="0">
                <a:solidFill>
                  <a:schemeClr val="tx1"/>
                </a:solidFill>
                <a:latin typeface="Calibri" charset="0"/>
                <a:ea typeface="ＭＳ Ｐゴシック" charset="-128"/>
              </a:rPr>
              <a:t>Produces an </a:t>
            </a:r>
            <a:r>
              <a:rPr lang="en-US" altLang="en-US" u="sng" dirty="0">
                <a:solidFill>
                  <a:schemeClr val="tx1"/>
                </a:solidFill>
                <a:latin typeface="Calibri" charset="0"/>
                <a:ea typeface="ＭＳ Ｐゴシック" charset="-128"/>
              </a:rPr>
              <a:t>acquired capability </a:t>
            </a:r>
            <a:r>
              <a:rPr lang="en-US" altLang="en-US" dirty="0">
                <a:solidFill>
                  <a:schemeClr val="tx1"/>
                </a:solidFill>
                <a:latin typeface="Calibri" charset="0"/>
                <a:ea typeface="ＭＳ Ｐゴシック" charset="-128"/>
              </a:rPr>
              <a:t> for movement.</a:t>
            </a:r>
            <a:r>
              <a:rPr lang="en-US" altLang="en-US" baseline="0" dirty="0">
                <a:solidFill>
                  <a:schemeClr val="tx1"/>
                </a:solidFill>
                <a:latin typeface="Calibri" charset="0"/>
                <a:ea typeface="ＭＳ Ｐゴシック" charset="-128"/>
              </a:rPr>
              <a:t> </a:t>
            </a:r>
            <a:endParaRPr lang="en-US" altLang="en-US" dirty="0">
              <a:solidFill>
                <a:schemeClr val="tx1"/>
              </a:solidFill>
              <a:latin typeface="Calibri" charset="0"/>
              <a:ea typeface="ＭＳ Ｐゴシック" charset="-128"/>
            </a:endParaRPr>
          </a:p>
          <a:p>
            <a:pPr marL="628650" lvl="1" indent="-171450">
              <a:buFont typeface="Arial" charset="0"/>
              <a:buChar char="•"/>
            </a:pPr>
            <a:r>
              <a:rPr lang="en-US" altLang="en-US" dirty="0">
                <a:solidFill>
                  <a:schemeClr val="tx1"/>
                </a:solidFill>
                <a:latin typeface="Calibri" charset="0"/>
                <a:ea typeface="ＭＳ Ｐゴシック" charset="-128"/>
              </a:rPr>
              <a:t>Motor learning occurs as a direct result of </a:t>
            </a:r>
            <a:r>
              <a:rPr lang="en-US" altLang="en-US" u="sng" dirty="0">
                <a:solidFill>
                  <a:schemeClr val="tx1"/>
                </a:solidFill>
                <a:latin typeface="Calibri" charset="0"/>
                <a:ea typeface="ＭＳ Ｐゴシック" charset="-128"/>
              </a:rPr>
              <a:t>instruction, practice, and experience</a:t>
            </a:r>
          </a:p>
          <a:p>
            <a:pPr marL="628650" lvl="1" indent="-171450">
              <a:buFont typeface="Arial" charset="0"/>
              <a:buChar char="•"/>
            </a:pPr>
            <a:r>
              <a:rPr lang="en-US" altLang="en-US" u="sng" dirty="0">
                <a:solidFill>
                  <a:schemeClr val="tx1"/>
                </a:solidFill>
                <a:latin typeface="Calibri" charset="0"/>
                <a:ea typeface="ＭＳ Ｐゴシック" charset="-128"/>
              </a:rPr>
              <a:t>However,</a:t>
            </a:r>
            <a:r>
              <a:rPr lang="en-US" altLang="en-US" u="sng" baseline="0" dirty="0">
                <a:solidFill>
                  <a:schemeClr val="tx1"/>
                </a:solidFill>
                <a:latin typeface="Calibri" charset="0"/>
                <a:ea typeface="ＭＳ Ｐゴシック" charset="-128"/>
              </a:rPr>
              <a:t> it </a:t>
            </a:r>
            <a:r>
              <a:rPr lang="en-US" altLang="en-US" u="none" baseline="0" dirty="0">
                <a:solidFill>
                  <a:schemeClr val="tx1"/>
                </a:solidFill>
                <a:latin typeface="Calibri" charset="0"/>
                <a:ea typeface="ＭＳ Ｐゴシック" charset="-128"/>
              </a:rPr>
              <a:t>i</a:t>
            </a:r>
            <a:r>
              <a:rPr lang="en-US" altLang="en-US" dirty="0">
                <a:solidFill>
                  <a:schemeClr val="tx1"/>
                </a:solidFill>
                <a:latin typeface="Calibri" charset="0"/>
                <a:ea typeface="ＭＳ Ｐゴシック" charset="-128"/>
              </a:rPr>
              <a:t>s </a:t>
            </a:r>
            <a:r>
              <a:rPr lang="en-US" altLang="en-US" u="sng" dirty="0">
                <a:solidFill>
                  <a:schemeClr val="tx1"/>
                </a:solidFill>
                <a:latin typeface="Calibri" charset="0"/>
                <a:ea typeface="ＭＳ Ｐゴシック" charset="-128"/>
              </a:rPr>
              <a:t>NOT directly observable,</a:t>
            </a:r>
            <a:r>
              <a:rPr lang="en-US" altLang="en-US" dirty="0">
                <a:solidFill>
                  <a:schemeClr val="tx1"/>
                </a:solidFill>
                <a:latin typeface="Calibri" charset="0"/>
                <a:ea typeface="ＭＳ Ｐゴシック" charset="-128"/>
              </a:rPr>
              <a:t> and therefore is inferred</a:t>
            </a:r>
          </a:p>
          <a:p>
            <a:pPr marL="628650" lvl="1" indent="-171450">
              <a:buFont typeface="Arial" charset="0"/>
              <a:buChar char="•"/>
            </a:pPr>
            <a:r>
              <a:rPr lang="en-US" altLang="en-US" dirty="0">
                <a:solidFill>
                  <a:schemeClr val="tx1"/>
                </a:solidFill>
                <a:latin typeface="Calibri" charset="0"/>
                <a:ea typeface="ＭＳ Ｐゴシック" charset="-128"/>
              </a:rPr>
              <a:t>And</a:t>
            </a:r>
            <a:r>
              <a:rPr lang="en-US" altLang="en-US" baseline="0" dirty="0">
                <a:solidFill>
                  <a:schemeClr val="tx1"/>
                </a:solidFill>
                <a:latin typeface="Calibri" charset="0"/>
                <a:ea typeface="ＭＳ Ｐゴシック" charset="-128"/>
              </a:rPr>
              <a:t> finally, motor learning p</a:t>
            </a:r>
            <a:r>
              <a:rPr lang="en-US" altLang="en-US" dirty="0">
                <a:solidFill>
                  <a:schemeClr val="tx1"/>
                </a:solidFill>
                <a:latin typeface="Calibri" charset="0"/>
                <a:ea typeface="ＭＳ Ｐゴシック" charset="-128"/>
              </a:rPr>
              <a:t>roduces </a:t>
            </a:r>
            <a:r>
              <a:rPr lang="en-US" altLang="en-US" u="sng" dirty="0">
                <a:solidFill>
                  <a:schemeClr val="tx1"/>
                </a:solidFill>
                <a:latin typeface="Calibri" charset="0"/>
                <a:ea typeface="ＭＳ Ｐゴシック" charset="-128"/>
              </a:rPr>
              <a:t>relative permanent changes </a:t>
            </a:r>
            <a:r>
              <a:rPr lang="en-US" altLang="en-US" dirty="0">
                <a:solidFill>
                  <a:schemeClr val="tx1"/>
                </a:solidFill>
                <a:latin typeface="Calibri" charset="0"/>
                <a:ea typeface="ＭＳ Ｐゴシック" charset="-128"/>
              </a:rPr>
              <a:t>in the capability for skilled movement. </a:t>
            </a:r>
          </a:p>
          <a:p>
            <a:pPr marL="171450" indent="-171450">
              <a:buFont typeface="Arial" charset="0"/>
              <a:buChar char="•"/>
            </a:pPr>
            <a:endParaRPr lang="en-US" baseline="0" dirty="0"/>
          </a:p>
          <a:p>
            <a:endParaRPr lang="en-US" dirty="0"/>
          </a:p>
        </p:txBody>
      </p:sp>
      <p:sp>
        <p:nvSpPr>
          <p:cNvPr id="4" name="Slide Number Placeholder 3"/>
          <p:cNvSpPr>
            <a:spLocks noGrp="1"/>
          </p:cNvSpPr>
          <p:nvPr>
            <p:ph type="sldNum" sz="quarter" idx="5"/>
          </p:nvPr>
        </p:nvSpPr>
        <p:spPr/>
        <p:txBody>
          <a:bodyPr/>
          <a:lstStyle/>
          <a:p>
            <a:fld id="{EE26490A-AE2F-B048-8292-CA95A41A40BB}" type="slidenum">
              <a:rPr lang="en-US" smtClean="0"/>
              <a:t>43</a:t>
            </a:fld>
            <a:endParaRPr lang="en-US"/>
          </a:p>
        </p:txBody>
      </p:sp>
    </p:spTree>
    <p:extLst>
      <p:ext uri="{BB962C8B-B14F-4D97-AF65-F5344CB8AC3E}">
        <p14:creationId xmlns:p14="http://schemas.microsoft.com/office/powerpoint/2010/main" val="4193487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While there are many different theories associated with motor learning, I have narrowed the pool down three</a:t>
            </a:r>
            <a:r>
              <a:rPr lang="en-US" baseline="0" dirty="0"/>
              <a:t> of the most widely used theories in clinical practice today.</a:t>
            </a:r>
          </a:p>
          <a:p>
            <a:pPr marL="171450" indent="-171450">
              <a:buFont typeface="Arial" charset="0"/>
              <a:buChar char="•"/>
            </a:pPr>
            <a:r>
              <a:rPr lang="en-US" baseline="0" dirty="0"/>
              <a:t>These include the Fits and Posner 3-stage model, Bernstein's 3 stage model, and Gentile’s 2 stage model. </a:t>
            </a:r>
          </a:p>
          <a:p>
            <a:pPr marL="171450" indent="-171450">
              <a:buFont typeface="Arial" charset="0"/>
              <a:buChar char="•"/>
            </a:pPr>
            <a:r>
              <a:rPr lang="en-US" baseline="0" dirty="0"/>
              <a:t>We will begin with the three stage models. </a:t>
            </a:r>
          </a:p>
          <a:p>
            <a:endParaRPr lang="en-US" dirty="0"/>
          </a:p>
        </p:txBody>
      </p:sp>
      <p:sp>
        <p:nvSpPr>
          <p:cNvPr id="4" name="Slide Number Placeholder 3"/>
          <p:cNvSpPr>
            <a:spLocks noGrp="1"/>
          </p:cNvSpPr>
          <p:nvPr>
            <p:ph type="sldNum" sz="quarter" idx="10"/>
          </p:nvPr>
        </p:nvSpPr>
        <p:spPr/>
        <p:txBody>
          <a:bodyPr/>
          <a:lstStyle/>
          <a:p>
            <a:fld id="{80B5ADB0-1CD6-4F59-A571-7276803D1703}" type="slidenum">
              <a:rPr lang="en-US" smtClean="0"/>
              <a:t>47</a:t>
            </a:fld>
            <a:endParaRPr lang="en-US"/>
          </a:p>
        </p:txBody>
      </p:sp>
    </p:spTree>
    <p:extLst>
      <p:ext uri="{BB962C8B-B14F-4D97-AF65-F5344CB8AC3E}">
        <p14:creationId xmlns:p14="http://schemas.microsoft.com/office/powerpoint/2010/main" val="104340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charset="0"/>
              <a:buNone/>
            </a:pPr>
            <a:r>
              <a:rPr lang="en-US" altLang="en-US" sz="1200" u="sng" dirty="0">
                <a:latin typeface="Times New Roman" charset="0"/>
                <a:ea typeface="Times New Roman" charset="0"/>
                <a:cs typeface="Times New Roman" charset="0"/>
              </a:rPr>
              <a:t>Fitts and Posner</a:t>
            </a:r>
          </a:p>
          <a:p>
            <a:pPr marL="171450" indent="-171450">
              <a:buFont typeface="Arial" charset="0"/>
              <a:buChar char="•"/>
            </a:pPr>
            <a:r>
              <a:rPr lang="en-US" altLang="en-US" sz="1200" u="sng" dirty="0">
                <a:latin typeface="Times New Roman" charset="0"/>
                <a:ea typeface="Times New Roman" charset="0"/>
                <a:cs typeface="Times New Roman" charset="0"/>
              </a:rPr>
              <a:t>Cognitive:</a:t>
            </a:r>
            <a:r>
              <a:rPr lang="en-US" altLang="en-US" sz="1200" dirty="0">
                <a:latin typeface="Times New Roman" charset="0"/>
                <a:ea typeface="Times New Roman" charset="0"/>
                <a:cs typeface="Times New Roman" charset="0"/>
              </a:rPr>
              <a:t> novice focuses on what is to be done in the task. Stage is marked by  errors in performance. Improvement is rapid. This stage requires</a:t>
            </a:r>
            <a:r>
              <a:rPr lang="en-US" altLang="en-US" sz="1200" baseline="0" dirty="0">
                <a:latin typeface="Times New Roman" charset="0"/>
                <a:ea typeface="Times New Roman" charset="0"/>
                <a:cs typeface="Times New Roman" charset="0"/>
              </a:rPr>
              <a:t> a conscious effort with a great deal of attention by the learner.</a:t>
            </a:r>
            <a:endParaRPr lang="en-US" altLang="en-US" sz="1200" u="sng" dirty="0">
              <a:latin typeface="Times New Roman" charset="0"/>
              <a:ea typeface="Times New Roman" charset="0"/>
              <a:cs typeface="Times New Roman" charset="0"/>
            </a:endParaRPr>
          </a:p>
          <a:p>
            <a:pPr marL="171450" indent="-171450">
              <a:buFont typeface="Arial" charset="0"/>
              <a:buChar char="•"/>
            </a:pPr>
            <a:r>
              <a:rPr lang="en-US" altLang="en-US" sz="1200" u="sng" dirty="0">
                <a:latin typeface="Times New Roman" charset="0"/>
                <a:ea typeface="Times New Roman" charset="0"/>
                <a:cs typeface="Times New Roman" charset="0"/>
              </a:rPr>
              <a:t>Associative:</a:t>
            </a:r>
            <a:r>
              <a:rPr lang="en-US" altLang="en-US" sz="1200" dirty="0">
                <a:latin typeface="Times New Roman" charset="0"/>
                <a:ea typeface="Times New Roman" charset="0"/>
                <a:cs typeface="Times New Roman" charset="0"/>
              </a:rPr>
              <a:t> learner has ascertained most effective way of performing task. Starts to make subtle adjustments. Able to identify errors &amp; makes fewer errors. Concentrates on refining skill. Improvement is more gradual.</a:t>
            </a:r>
          </a:p>
          <a:p>
            <a:pPr marL="171450" indent="-171450">
              <a:buFont typeface="Arial" charset="0"/>
              <a:buChar char="•"/>
            </a:pPr>
            <a:r>
              <a:rPr lang="en-US" altLang="en-US" sz="1200" u="sng" dirty="0">
                <a:latin typeface="Times New Roman" charset="0"/>
                <a:ea typeface="Times New Roman" charset="0"/>
                <a:cs typeface="Times New Roman" charset="0"/>
              </a:rPr>
              <a:t>Autonomous:</a:t>
            </a:r>
            <a:r>
              <a:rPr lang="en-US" altLang="en-US" sz="1200" dirty="0">
                <a:latin typeface="Times New Roman" charset="0"/>
                <a:ea typeface="Times New Roman" charset="0"/>
                <a:cs typeface="Times New Roman" charset="0"/>
              </a:rPr>
              <a:t> expert after months-to-years of practice. Performance becomes automatic. No longer have to attend to production of skill; do most things without thinking. Improvement is minimal.</a:t>
            </a:r>
          </a:p>
          <a:p>
            <a:endParaRPr lang="en-US" dirty="0"/>
          </a:p>
        </p:txBody>
      </p:sp>
      <p:sp>
        <p:nvSpPr>
          <p:cNvPr id="4" name="Slide Number Placeholder 3"/>
          <p:cNvSpPr>
            <a:spLocks noGrp="1"/>
          </p:cNvSpPr>
          <p:nvPr>
            <p:ph type="sldNum" sz="quarter" idx="10"/>
          </p:nvPr>
        </p:nvSpPr>
        <p:spPr/>
        <p:txBody>
          <a:bodyPr/>
          <a:lstStyle/>
          <a:p>
            <a:fld id="{80B5ADB0-1CD6-4F59-A571-7276803D1703}" type="slidenum">
              <a:rPr lang="en-US" smtClean="0"/>
              <a:t>48</a:t>
            </a:fld>
            <a:endParaRPr lang="en-US"/>
          </a:p>
        </p:txBody>
      </p:sp>
    </p:spTree>
    <p:extLst>
      <p:ext uri="{BB962C8B-B14F-4D97-AF65-F5344CB8AC3E}">
        <p14:creationId xmlns:p14="http://schemas.microsoft.com/office/powerpoint/2010/main" val="3807477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altLang="en-US" sz="900" dirty="0">
                <a:latin typeface="Times New Roman" charset="0"/>
                <a:ea typeface="Times New Roman" charset="0"/>
                <a:cs typeface="Times New Roman" charset="0"/>
              </a:rPr>
              <a:t>The other 3-stage model is very similar</a:t>
            </a:r>
            <a:r>
              <a:rPr lang="en-US" altLang="en-US" sz="900" baseline="0" dirty="0">
                <a:latin typeface="Times New Roman" charset="0"/>
                <a:ea typeface="Times New Roman" charset="0"/>
                <a:cs typeface="Times New Roman" charset="0"/>
              </a:rPr>
              <a:t> to the Fitts and Posner model, with the exception of terminology.</a:t>
            </a:r>
          </a:p>
          <a:p>
            <a:pPr marL="171450" indent="-171450">
              <a:buFont typeface="Arial" charset="0"/>
              <a:buChar char="•"/>
            </a:pPr>
            <a:endParaRPr lang="en-US" altLang="en-US" sz="900" dirty="0">
              <a:latin typeface="Times New Roman" charset="0"/>
              <a:ea typeface="Times New Roman" charset="0"/>
              <a:cs typeface="Times New Roman" charset="0"/>
            </a:endParaRPr>
          </a:p>
          <a:p>
            <a:pPr eaLnBrk="1" hangingPunct="1"/>
            <a:r>
              <a:rPr lang="en-US" altLang="en-US" sz="900" u="sng" dirty="0">
                <a:latin typeface="Times New Roman" charset="0"/>
                <a:ea typeface="Times New Roman" charset="0"/>
                <a:cs typeface="Times New Roman" charset="0"/>
              </a:rPr>
              <a:t>Bernstein</a:t>
            </a:r>
          </a:p>
          <a:p>
            <a:pPr marL="171450" indent="-171450" eaLnBrk="1" hangingPunct="1">
              <a:buFont typeface="Arial" charset="0"/>
              <a:buChar char="•"/>
            </a:pPr>
            <a:r>
              <a:rPr lang="en-US" altLang="en-US" sz="900" u="none" dirty="0">
                <a:latin typeface="Times New Roman" charset="0"/>
                <a:ea typeface="Times New Roman" charset="0"/>
                <a:cs typeface="Times New Roman" charset="0"/>
              </a:rPr>
              <a:t>The Bernstein model focuses on terminology related to the dynamic action/ systems theory of motor control </a:t>
            </a:r>
            <a:r>
              <a:rPr lang="mr-IN" altLang="en-US" sz="900" u="none" dirty="0">
                <a:latin typeface="Times New Roman" charset="0"/>
                <a:ea typeface="Times New Roman" charset="0"/>
                <a:cs typeface="Times New Roman" charset="0"/>
              </a:rPr>
              <a:t>–</a:t>
            </a:r>
            <a:r>
              <a:rPr lang="en-US" altLang="en-US" sz="900" u="none" dirty="0">
                <a:latin typeface="Times New Roman" charset="0"/>
                <a:ea typeface="Times New Roman" charset="0"/>
                <a:cs typeface="Times New Roman" charset="0"/>
              </a:rPr>
              <a:t> specifically</a:t>
            </a:r>
            <a:r>
              <a:rPr lang="en-US" altLang="en-US" sz="900" u="none" baseline="0" dirty="0">
                <a:latin typeface="Times New Roman" charset="0"/>
                <a:ea typeface="Times New Roman" charset="0"/>
                <a:cs typeface="Times New Roman" charset="0"/>
              </a:rPr>
              <a:t> the term </a:t>
            </a:r>
            <a:r>
              <a:rPr lang="en-US" altLang="en-US" sz="900" b="1" u="none" baseline="0" dirty="0">
                <a:latin typeface="Times New Roman" charset="0"/>
                <a:ea typeface="Times New Roman" charset="0"/>
                <a:cs typeface="Times New Roman" charset="0"/>
              </a:rPr>
              <a:t>degrees of freedom</a:t>
            </a:r>
            <a:r>
              <a:rPr lang="en-US" altLang="en-US" sz="900" u="none" baseline="0" dirty="0">
                <a:latin typeface="Times New Roman" charset="0"/>
                <a:ea typeface="Times New Roman" charset="0"/>
                <a:cs typeface="Times New Roman" charset="0"/>
              </a:rPr>
              <a:t>. </a:t>
            </a:r>
          </a:p>
          <a:p>
            <a:pPr marL="171450" indent="-171450" eaLnBrk="1" hangingPunct="1">
              <a:buFont typeface="Arial" charset="0"/>
              <a:buChar char="•"/>
            </a:pPr>
            <a:r>
              <a:rPr lang="en-US" altLang="en-US" sz="900" u="none" baseline="0" dirty="0">
                <a:latin typeface="Times New Roman" charset="0"/>
                <a:ea typeface="Times New Roman" charset="0"/>
                <a:cs typeface="Times New Roman" charset="0"/>
              </a:rPr>
              <a:t>Recall that in dynamic systems/action theory there are several systems in the person ( </a:t>
            </a:r>
            <a:r>
              <a:rPr lang="en-US" altLang="en-US" sz="900" u="none" baseline="0" dirty="0" err="1">
                <a:latin typeface="Times New Roman" charset="0"/>
                <a:ea typeface="Times New Roman" charset="0"/>
                <a:cs typeface="Times New Roman" charset="0"/>
              </a:rPr>
              <a:t>i.e</a:t>
            </a:r>
            <a:r>
              <a:rPr lang="en-US" altLang="en-US" sz="900" u="none" baseline="0" dirty="0">
                <a:latin typeface="Times New Roman" charset="0"/>
                <a:ea typeface="Times New Roman" charset="0"/>
                <a:cs typeface="Times New Roman" charset="0"/>
              </a:rPr>
              <a:t> body structures and functions of the movement system)- the activity or task, and the environment that interact to control movement. Each and every element of those systems considered to be ONE degree of freedom that must be controlled.</a:t>
            </a:r>
          </a:p>
          <a:p>
            <a:pPr marL="171450" indent="-171450" eaLnBrk="1" hangingPunct="1">
              <a:buFont typeface="Arial" charset="0"/>
              <a:buChar char="•"/>
            </a:pPr>
            <a:r>
              <a:rPr lang="en-US" altLang="en-US" sz="900" dirty="0">
                <a:latin typeface="Times New Roman" charset="0"/>
                <a:ea typeface="Times New Roman" charset="0"/>
                <a:cs typeface="Times New Roman" charset="0"/>
              </a:rPr>
              <a:t>Solving the degrees of freedom problem</a:t>
            </a:r>
            <a:r>
              <a:rPr lang="en-US" altLang="en-US" sz="900" baseline="0" dirty="0">
                <a:latin typeface="Times New Roman" charset="0"/>
                <a:ea typeface="Times New Roman" charset="0"/>
                <a:cs typeface="Times New Roman" charset="0"/>
              </a:rPr>
              <a:t> is Bernstein's goal to </a:t>
            </a:r>
            <a:r>
              <a:rPr lang="en-US" altLang="en-US" sz="900" dirty="0">
                <a:latin typeface="Times New Roman" charset="0"/>
                <a:ea typeface="Times New Roman" charset="0"/>
                <a:cs typeface="Times New Roman" charset="0"/>
              </a:rPr>
              <a:t>figuring out ways in which the parts each system</a:t>
            </a:r>
            <a:r>
              <a:rPr lang="en-US" altLang="en-US" sz="900" baseline="0" dirty="0">
                <a:latin typeface="Times New Roman" charset="0"/>
                <a:ea typeface="Times New Roman" charset="0"/>
                <a:cs typeface="Times New Roman" charset="0"/>
              </a:rPr>
              <a:t> </a:t>
            </a:r>
            <a:r>
              <a:rPr lang="en-US" altLang="en-US" sz="900" dirty="0">
                <a:latin typeface="Times New Roman" charset="0"/>
                <a:ea typeface="Times New Roman" charset="0"/>
                <a:cs typeface="Times New Roman" charset="0"/>
              </a:rPr>
              <a:t>can be organized or controlled to achieve a task or</a:t>
            </a:r>
            <a:r>
              <a:rPr lang="en-US" altLang="en-US" sz="900" baseline="0" dirty="0">
                <a:latin typeface="Times New Roman" charset="0"/>
                <a:ea typeface="Times New Roman" charset="0"/>
                <a:cs typeface="Times New Roman" charset="0"/>
              </a:rPr>
              <a:t> activity.</a:t>
            </a:r>
          </a:p>
          <a:p>
            <a:pPr marL="171450" indent="-171450" eaLnBrk="1" hangingPunct="1">
              <a:buFont typeface="Arial" charset="0"/>
              <a:buChar char="•"/>
            </a:pPr>
            <a:r>
              <a:rPr lang="en-US" altLang="en-US" sz="900" baseline="0" dirty="0">
                <a:latin typeface="Times New Roman" charset="0"/>
                <a:ea typeface="Times New Roman" charset="0"/>
                <a:cs typeface="Times New Roman" charset="0"/>
              </a:rPr>
              <a:t>So, according to Bernstein's motor l</a:t>
            </a:r>
            <a:r>
              <a:rPr lang="en-US" altLang="en-US" sz="900" dirty="0">
                <a:latin typeface="Times New Roman" charset="0"/>
                <a:ea typeface="Times New Roman" charset="0"/>
                <a:cs typeface="Times New Roman" charset="0"/>
              </a:rPr>
              <a:t>earning occurs in 3 stages</a:t>
            </a:r>
          </a:p>
          <a:p>
            <a:pPr marL="628650" lvl="1" indent="-171450" eaLnBrk="1" hangingPunct="1">
              <a:buFont typeface="Arial" charset="0"/>
              <a:buChar char="•"/>
            </a:pPr>
            <a:r>
              <a:rPr lang="en-US" altLang="ja-JP" sz="900" dirty="0">
                <a:latin typeface="Times New Roman" charset="0"/>
                <a:ea typeface="Times New Roman" charset="0"/>
                <a:cs typeface="Times New Roman" charset="0"/>
              </a:rPr>
              <a:t>The</a:t>
            </a:r>
            <a:r>
              <a:rPr lang="en-US" altLang="ja-JP" sz="900" baseline="0" dirty="0">
                <a:latin typeface="Times New Roman" charset="0"/>
                <a:ea typeface="Times New Roman" charset="0"/>
                <a:cs typeface="Times New Roman" charset="0"/>
              </a:rPr>
              <a:t> Novice Stage is when the learner attempts to simplify movement by </a:t>
            </a:r>
            <a:r>
              <a:rPr lang="ja-JP" altLang="en-US" sz="900">
                <a:latin typeface="Times New Roman" charset="0"/>
                <a:ea typeface="Times New Roman" charset="0"/>
                <a:cs typeface="Times New Roman" charset="0"/>
              </a:rPr>
              <a:t>‘</a:t>
            </a:r>
            <a:r>
              <a:rPr lang="en-US" altLang="ja-JP" sz="900" dirty="0">
                <a:latin typeface="Times New Roman" charset="0"/>
                <a:ea typeface="Times New Roman" charset="0"/>
                <a:cs typeface="Times New Roman" charset="0"/>
              </a:rPr>
              <a:t>Freezing</a:t>
            </a:r>
            <a:r>
              <a:rPr lang="ja-JP" altLang="en-US" sz="900">
                <a:latin typeface="Times New Roman" charset="0"/>
                <a:ea typeface="Times New Roman" charset="0"/>
                <a:cs typeface="Times New Roman" charset="0"/>
              </a:rPr>
              <a:t>’</a:t>
            </a:r>
            <a:r>
              <a:rPr lang="en-US" altLang="ja-JP" sz="900" dirty="0">
                <a:latin typeface="Times New Roman" charset="0"/>
                <a:ea typeface="Times New Roman" charset="0"/>
                <a:cs typeface="Times New Roman" charset="0"/>
              </a:rPr>
              <a:t>some of the degrees of freedom.</a:t>
            </a:r>
            <a:r>
              <a:rPr lang="en-US" altLang="ja-JP" sz="900" baseline="0" dirty="0">
                <a:latin typeface="Times New Roman" charset="0"/>
                <a:ea typeface="Times New Roman" charset="0"/>
                <a:cs typeface="Times New Roman" charset="0"/>
              </a:rPr>
              <a:t> </a:t>
            </a:r>
          </a:p>
          <a:p>
            <a:pPr marL="1085850" lvl="2" indent="-171450">
              <a:lnSpc>
                <a:spcPct val="80000"/>
              </a:lnSpc>
              <a:buFont typeface="Arial" charset="0"/>
              <a:buChar char="•"/>
            </a:pPr>
            <a:r>
              <a:rPr lang="en-US" altLang="en-US" sz="900" dirty="0">
                <a:latin typeface="Times New Roman" charset="0"/>
                <a:ea typeface="Times New Roman" charset="0"/>
                <a:cs typeface="Times New Roman" charset="0"/>
              </a:rPr>
              <a:t>Freezing</a:t>
            </a:r>
            <a:r>
              <a:rPr lang="en-US" altLang="en-US" sz="900" baseline="0" dirty="0">
                <a:latin typeface="Times New Roman" charset="0"/>
                <a:ea typeface="Times New Roman" charset="0"/>
                <a:cs typeface="Times New Roman" charset="0"/>
              </a:rPr>
              <a:t> occurs e</a:t>
            </a:r>
            <a:r>
              <a:rPr lang="en-US" altLang="en-US" sz="900" dirty="0">
                <a:latin typeface="Times New Roman" charset="0"/>
                <a:ea typeface="Times New Roman" charset="0"/>
                <a:cs typeface="Times New Roman" charset="0"/>
              </a:rPr>
              <a:t>arly in practice</a:t>
            </a:r>
            <a:r>
              <a:rPr lang="en-US" altLang="en-US" sz="900" baseline="0" dirty="0">
                <a:latin typeface="Times New Roman" charset="0"/>
                <a:ea typeface="Times New Roman" charset="0"/>
                <a:cs typeface="Times New Roman" charset="0"/>
              </a:rPr>
              <a:t> where </a:t>
            </a:r>
            <a:r>
              <a:rPr lang="en-US" altLang="en-US" sz="900" dirty="0">
                <a:latin typeface="Times New Roman" charset="0"/>
                <a:ea typeface="Times New Roman" charset="0"/>
                <a:cs typeface="Times New Roman" charset="0"/>
              </a:rPr>
              <a:t>learner </a:t>
            </a:r>
            <a:r>
              <a:rPr lang="en-US" altLang="en-US" sz="900" u="sng" dirty="0">
                <a:latin typeface="Times New Roman" charset="0"/>
                <a:ea typeface="Times New Roman" charset="0"/>
                <a:cs typeface="Times New Roman" charset="0"/>
              </a:rPr>
              <a:t>holds body more rigid, allows as few as possible parts to move independently</a:t>
            </a:r>
            <a:r>
              <a:rPr lang="en-US" altLang="en-US" sz="900" dirty="0">
                <a:latin typeface="Times New Roman" charset="0"/>
                <a:ea typeface="Times New Roman" charset="0"/>
                <a:cs typeface="Times New Roman" charset="0"/>
              </a:rPr>
              <a:t>.</a:t>
            </a:r>
          </a:p>
          <a:p>
            <a:pPr marL="1085850" lvl="2" indent="-171450">
              <a:lnSpc>
                <a:spcPct val="80000"/>
              </a:lnSpc>
              <a:buFont typeface="Arial" charset="0"/>
              <a:buChar char="•"/>
            </a:pPr>
            <a:r>
              <a:rPr lang="en-US" altLang="en-US" sz="900" dirty="0">
                <a:latin typeface="Times New Roman" charset="0"/>
                <a:ea typeface="Times New Roman" charset="0"/>
                <a:cs typeface="Times New Roman" charset="0"/>
              </a:rPr>
              <a:t>With practice more DF are </a:t>
            </a:r>
            <a:r>
              <a:rPr lang="ja-JP" altLang="en-US" sz="900">
                <a:latin typeface="Times New Roman" charset="0"/>
                <a:ea typeface="Times New Roman" charset="0"/>
                <a:cs typeface="Times New Roman" charset="0"/>
              </a:rPr>
              <a:t>“</a:t>
            </a:r>
            <a:r>
              <a:rPr lang="en-US" altLang="ja-JP" sz="900" dirty="0">
                <a:latin typeface="Times New Roman" charset="0"/>
                <a:ea typeface="Times New Roman" charset="0"/>
                <a:cs typeface="Times New Roman" charset="0"/>
              </a:rPr>
              <a:t>thawed out</a:t>
            </a:r>
            <a:r>
              <a:rPr lang="ja-JP" altLang="en-US" sz="900">
                <a:latin typeface="Times New Roman" charset="0"/>
                <a:ea typeface="Times New Roman" charset="0"/>
                <a:cs typeface="Times New Roman" charset="0"/>
              </a:rPr>
              <a:t>”</a:t>
            </a:r>
            <a:endParaRPr lang="en-US" altLang="ja-JP" sz="900" baseline="0" dirty="0">
              <a:latin typeface="Times New Roman" charset="0"/>
              <a:ea typeface="Times New Roman" charset="0"/>
              <a:cs typeface="Times New Roman" charset="0"/>
            </a:endParaRPr>
          </a:p>
          <a:p>
            <a:pPr marL="1085850" marR="0" lvl="2"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ja-JP" sz="900" baseline="0" dirty="0">
                <a:latin typeface="Times New Roman" charset="0"/>
                <a:ea typeface="Times New Roman" charset="0"/>
                <a:cs typeface="Times New Roman" charset="0"/>
              </a:rPr>
              <a:t>This coincides with Fitts and Posner’s Cognitive Stage where there is an intentional cognitive effort to perform the task, and where there are many errors made in attempting the new task.</a:t>
            </a:r>
          </a:p>
          <a:p>
            <a:pPr marL="1085850" lvl="2" indent="-171450" eaLnBrk="1" hangingPunct="1">
              <a:buFont typeface="Arial" charset="0"/>
              <a:buChar char="•"/>
            </a:pPr>
            <a:r>
              <a:rPr lang="en-US" altLang="ja-JP" sz="900" baseline="0" dirty="0">
                <a:latin typeface="Times New Roman" charset="0"/>
                <a:ea typeface="Times New Roman" charset="0"/>
                <a:cs typeface="Times New Roman" charset="0"/>
              </a:rPr>
              <a:t>An example of this is when you watch a toddler first learning to walk. They look quite still and place their arms in a high guard position so that they do not have to control all of the joints of the LE and trunk.</a:t>
            </a:r>
          </a:p>
          <a:p>
            <a:pPr marL="628650" lvl="1" indent="-171450" eaLnBrk="1" hangingPunct="1">
              <a:buFont typeface="Arial" charset="0"/>
              <a:buChar char="•"/>
            </a:pPr>
            <a:r>
              <a:rPr lang="en-US" altLang="en-US" sz="900" baseline="0" dirty="0">
                <a:latin typeface="Times New Roman" charset="0"/>
                <a:ea typeface="Times New Roman" charset="0"/>
                <a:cs typeface="Times New Roman" charset="0"/>
              </a:rPr>
              <a:t>In the second Stage or Intermediate stage the learner begins to reinstate, release, or reorganize  the degrees of freedom and has more fluidity of the movement pattern. </a:t>
            </a:r>
          </a:p>
          <a:p>
            <a:pPr marL="1085850" lvl="2" indent="-171450" eaLnBrk="1" hangingPunct="1">
              <a:buFont typeface="Arial" charset="0"/>
              <a:buChar char="•"/>
            </a:pPr>
            <a:r>
              <a:rPr lang="en-US" altLang="en-US" sz="900" baseline="0" dirty="0">
                <a:latin typeface="Times New Roman" charset="0"/>
                <a:ea typeface="Times New Roman" charset="0"/>
                <a:cs typeface="Times New Roman" charset="0"/>
              </a:rPr>
              <a:t>This coincides with Fitts and </a:t>
            </a:r>
            <a:r>
              <a:rPr lang="en-US" altLang="en-US" sz="900" baseline="0" dirty="0" err="1">
                <a:latin typeface="Times New Roman" charset="0"/>
                <a:ea typeface="Times New Roman" charset="0"/>
                <a:cs typeface="Times New Roman" charset="0"/>
              </a:rPr>
              <a:t>Posners</a:t>
            </a:r>
            <a:r>
              <a:rPr lang="en-US" altLang="en-US" sz="900" baseline="0" dirty="0">
                <a:latin typeface="Times New Roman" charset="0"/>
                <a:ea typeface="Times New Roman" charset="0"/>
                <a:cs typeface="Times New Roman" charset="0"/>
              </a:rPr>
              <a:t> Associative Stage where the learner begins to explore more effective ways to move and begins to resolve errors that are made during the task.</a:t>
            </a:r>
          </a:p>
          <a:p>
            <a:pPr marL="1085850" lvl="2" indent="-171450" eaLnBrk="1" hangingPunct="1">
              <a:buFont typeface="Arial" charset="0"/>
              <a:buChar char="•"/>
            </a:pPr>
            <a:r>
              <a:rPr lang="en-US" altLang="en-US" sz="900" baseline="0" dirty="0">
                <a:latin typeface="Times New Roman" charset="0"/>
                <a:ea typeface="Times New Roman" charset="0"/>
                <a:cs typeface="Times New Roman" charset="0"/>
              </a:rPr>
              <a:t>In our example of the toddler starting to walk, the arms start to lower to the side and you might start to see a bit more trunk rotation and knee flexion while walking. </a:t>
            </a:r>
          </a:p>
          <a:p>
            <a:pPr marL="628650" lvl="1" indent="-171450" eaLnBrk="1" hangingPunct="1">
              <a:buFont typeface="Arial" charset="0"/>
              <a:buChar char="•"/>
            </a:pPr>
            <a:r>
              <a:rPr lang="en-US" altLang="en-US" sz="900" dirty="0">
                <a:latin typeface="Times New Roman" charset="0"/>
                <a:ea typeface="Times New Roman" charset="0"/>
                <a:cs typeface="Times New Roman" charset="0"/>
              </a:rPr>
              <a:t>In the 3</a:t>
            </a:r>
            <a:r>
              <a:rPr lang="en-US" altLang="en-US" sz="900" baseline="30000" dirty="0">
                <a:latin typeface="Times New Roman" charset="0"/>
                <a:ea typeface="Times New Roman" charset="0"/>
                <a:cs typeface="Times New Roman" charset="0"/>
              </a:rPr>
              <a:t>rd</a:t>
            </a:r>
            <a:r>
              <a:rPr lang="en-US" altLang="en-US" sz="900" dirty="0">
                <a:latin typeface="Times New Roman" charset="0"/>
                <a:ea typeface="Times New Roman" charset="0"/>
                <a:cs typeface="Times New Roman" charset="0"/>
              </a:rPr>
              <a:t> and final stage, the Expert Stage of Motor Learning, the learner continues to release and reorganize</a:t>
            </a:r>
            <a:r>
              <a:rPr lang="en-US" altLang="en-US" sz="900" baseline="0" dirty="0">
                <a:latin typeface="Times New Roman" charset="0"/>
                <a:ea typeface="Times New Roman" charset="0"/>
                <a:cs typeface="Times New Roman" charset="0"/>
              </a:rPr>
              <a:t> all of the degrees of freedom and even acquires some adaptability to varying task demands.</a:t>
            </a:r>
          </a:p>
          <a:p>
            <a:pPr marL="1085850" marR="0" lvl="2"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en-US" sz="900" dirty="0">
                <a:latin typeface="Times New Roman" charset="0"/>
                <a:ea typeface="Times New Roman" charset="0"/>
                <a:cs typeface="Times New Roman" charset="0"/>
              </a:rPr>
              <a:t>Exploiting the degrees</a:t>
            </a:r>
            <a:r>
              <a:rPr lang="en-US" altLang="en-US" sz="900" baseline="0" dirty="0">
                <a:latin typeface="Times New Roman" charset="0"/>
                <a:ea typeface="Times New Roman" charset="0"/>
                <a:cs typeface="Times New Roman" charset="0"/>
              </a:rPr>
              <a:t> of freedom is u</a:t>
            </a:r>
            <a:r>
              <a:rPr lang="en-US" altLang="en-US" sz="900" dirty="0">
                <a:latin typeface="Times New Roman" charset="0"/>
                <a:ea typeface="Times New Roman" charset="0"/>
                <a:cs typeface="Times New Roman" charset="0"/>
              </a:rPr>
              <a:t>sed to reduce energy costs, make movement faster &amp; more forceful</a:t>
            </a:r>
            <a:endParaRPr lang="en-US" altLang="en-US" sz="900" baseline="0" dirty="0">
              <a:latin typeface="Times New Roman" charset="0"/>
              <a:ea typeface="Times New Roman" charset="0"/>
              <a:cs typeface="Times New Roman" charset="0"/>
            </a:endParaRPr>
          </a:p>
          <a:p>
            <a:pPr marL="1085850" lvl="2" indent="-171450" eaLnBrk="1" hangingPunct="1">
              <a:buFont typeface="Arial" charset="0"/>
              <a:buChar char="•"/>
            </a:pPr>
            <a:r>
              <a:rPr lang="en-US" altLang="en-US" sz="900" dirty="0">
                <a:latin typeface="Times New Roman" charset="0"/>
                <a:ea typeface="Times New Roman" charset="0"/>
                <a:cs typeface="Times New Roman" charset="0"/>
              </a:rPr>
              <a:t>This coincides with Fitts and Posner’s Autonomous Stage where the performance</a:t>
            </a:r>
            <a:r>
              <a:rPr lang="en-US" altLang="en-US" sz="900" baseline="0" dirty="0">
                <a:latin typeface="Times New Roman" charset="0"/>
                <a:ea typeface="Times New Roman" charset="0"/>
                <a:cs typeface="Times New Roman" charset="0"/>
              </a:rPr>
              <a:t> of the task has limited if any errors and occurs without conscious effort.</a:t>
            </a:r>
            <a:endParaRPr lang="en-US" altLang="en-US" sz="900" dirty="0">
              <a:latin typeface="Times New Roman" charset="0"/>
              <a:ea typeface="Times New Roman" charset="0"/>
              <a:cs typeface="Times New Roman" charset="0"/>
            </a:endParaRPr>
          </a:p>
          <a:p>
            <a:pPr marL="1085850" lvl="2" indent="-171450" eaLnBrk="1" hangingPunct="1">
              <a:buFont typeface="Arial" charset="0"/>
              <a:buChar char="•"/>
            </a:pPr>
            <a:r>
              <a:rPr lang="en-US" altLang="en-US" sz="900" dirty="0">
                <a:latin typeface="Times New Roman" charset="0"/>
                <a:ea typeface="Times New Roman" charset="0"/>
                <a:cs typeface="Times New Roman" charset="0"/>
              </a:rPr>
              <a:t>In our example of the toddler learning to walk, you will begin to see even more fluidity of movement and success on walking around objects and over different terrains.</a:t>
            </a:r>
          </a:p>
          <a:p>
            <a:endParaRPr lang="en-US" dirty="0"/>
          </a:p>
        </p:txBody>
      </p:sp>
      <p:sp>
        <p:nvSpPr>
          <p:cNvPr id="4" name="Slide Number Placeholder 3"/>
          <p:cNvSpPr>
            <a:spLocks noGrp="1"/>
          </p:cNvSpPr>
          <p:nvPr>
            <p:ph type="sldNum" sz="quarter" idx="10"/>
          </p:nvPr>
        </p:nvSpPr>
        <p:spPr/>
        <p:txBody>
          <a:bodyPr/>
          <a:lstStyle/>
          <a:p>
            <a:fld id="{80B5ADB0-1CD6-4F59-A571-7276803D1703}" type="slidenum">
              <a:rPr lang="en-US" smtClean="0"/>
              <a:t>49</a:t>
            </a:fld>
            <a:endParaRPr lang="en-US"/>
          </a:p>
        </p:txBody>
      </p:sp>
    </p:spTree>
    <p:extLst>
      <p:ext uri="{BB962C8B-B14F-4D97-AF65-F5344CB8AC3E}">
        <p14:creationId xmlns:p14="http://schemas.microsoft.com/office/powerpoint/2010/main" val="896491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charset="0"/>
              <a:buChar char="•"/>
            </a:pPr>
            <a:r>
              <a:rPr lang="en-US" dirty="0"/>
              <a:t>This is another way to look at how motor</a:t>
            </a:r>
            <a:r>
              <a:rPr lang="en-US" baseline="0" dirty="0"/>
              <a:t> learning occurs over the 3 stages., whether it is </a:t>
            </a:r>
            <a:r>
              <a:rPr lang="en-US" baseline="0" dirty="0" err="1"/>
              <a:t>Fitts</a:t>
            </a:r>
            <a:r>
              <a:rPr lang="en-US" baseline="0" dirty="0"/>
              <a:t> and Posner or Bernstein’s model.</a:t>
            </a:r>
          </a:p>
          <a:p>
            <a:pPr marL="228600" indent="-228600">
              <a:buFont typeface="Arial" charset="0"/>
              <a:buChar char="•"/>
            </a:pPr>
            <a:r>
              <a:rPr lang="en-US" baseline="0" dirty="0"/>
              <a:t>On the y-axis we have improvement in the motor task</a:t>
            </a:r>
          </a:p>
          <a:p>
            <a:pPr marL="228600" indent="-228600">
              <a:buFont typeface="Arial" charset="0"/>
              <a:buChar char="•"/>
            </a:pPr>
            <a:r>
              <a:rPr lang="en-US" baseline="0" dirty="0"/>
              <a:t>On the x-axis, we have time. </a:t>
            </a:r>
          </a:p>
          <a:p>
            <a:pPr marL="0" indent="0">
              <a:buFont typeface="Arial" charset="0"/>
              <a:buNone/>
            </a:pPr>
            <a:r>
              <a:rPr lang="en-US" baseline="0" dirty="0"/>
              <a:t>1. Note that in the earlier stages of Cognitive or Novice, the learning curve is rather steep.</a:t>
            </a:r>
          </a:p>
          <a:p>
            <a:pPr marL="0" indent="0">
              <a:buFont typeface="Arial" charset="0"/>
              <a:buNone/>
            </a:pPr>
            <a:r>
              <a:rPr lang="en-US" baseline="0" dirty="0"/>
              <a:t>2. In the middle stages of Associate or Intermediate, learning is still occurring, but begins to flatten relative to the initial stages.</a:t>
            </a:r>
          </a:p>
          <a:p>
            <a:pPr marL="0" indent="0">
              <a:buFont typeface="Arial" charset="0"/>
              <a:buNone/>
            </a:pPr>
            <a:r>
              <a:rPr lang="en-US" baseline="0" dirty="0"/>
              <a:t>3. In the later stages of Autonomous or Expert, the refinement of the task is much more narrowed as the person becomes more skilled at the task, so the learning curves becomes much more flattened. </a:t>
            </a:r>
          </a:p>
          <a:p>
            <a:pPr marL="228600" indent="-228600">
              <a:buFont typeface="Arial" charset="0"/>
              <a:buChar char="•"/>
            </a:pPr>
            <a:endParaRPr lang="en-US" baseline="0" dirty="0"/>
          </a:p>
          <a:p>
            <a:pPr marL="228600" indent="-228600">
              <a:buFont typeface="Arial" charset="0"/>
              <a:buChar char="•"/>
            </a:pPr>
            <a:endParaRPr lang="en-US" dirty="0"/>
          </a:p>
        </p:txBody>
      </p:sp>
      <p:sp>
        <p:nvSpPr>
          <p:cNvPr id="4" name="Slide Number Placeholder 3"/>
          <p:cNvSpPr>
            <a:spLocks noGrp="1"/>
          </p:cNvSpPr>
          <p:nvPr>
            <p:ph type="sldNum" sz="quarter" idx="10"/>
          </p:nvPr>
        </p:nvSpPr>
        <p:spPr/>
        <p:txBody>
          <a:bodyPr/>
          <a:lstStyle/>
          <a:p>
            <a:fld id="{80B5ADB0-1CD6-4F59-A571-7276803D1703}" type="slidenum">
              <a:rPr lang="en-US" smtClean="0"/>
              <a:t>50</a:t>
            </a:fld>
            <a:endParaRPr lang="en-US"/>
          </a:p>
        </p:txBody>
      </p:sp>
    </p:spTree>
    <p:extLst>
      <p:ext uri="{BB962C8B-B14F-4D97-AF65-F5344CB8AC3E}">
        <p14:creationId xmlns:p14="http://schemas.microsoft.com/office/powerpoint/2010/main" val="713029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Slide Image Placeholder 1"/>
          <p:cNvSpPr>
            <a:spLocks noGrp="1" noRot="1" noChangeAspect="1" noTextEdit="1"/>
          </p:cNvSpPr>
          <p:nvPr>
            <p:ph type="sldImg"/>
          </p:nvPr>
        </p:nvSpPr>
        <p:spPr>
          <a:ln/>
        </p:spPr>
      </p:sp>
      <p:sp>
        <p:nvSpPr>
          <p:cNvPr id="13619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marL="171450" indent="-171450" eaLnBrk="1" hangingPunct="1">
              <a:buFont typeface="Arial" charset="0"/>
              <a:buChar char="•"/>
            </a:pPr>
            <a:r>
              <a:rPr lang="en-US" altLang="en-US" dirty="0">
                <a:latin typeface="Arial" charset="0"/>
                <a:ea typeface="ＭＳ Ｐゴシック" charset="-128"/>
              </a:rPr>
              <a:t>Gentile’s 2-stage</a:t>
            </a:r>
            <a:r>
              <a:rPr lang="en-US" altLang="en-US" baseline="0" dirty="0">
                <a:latin typeface="Arial" charset="0"/>
                <a:ea typeface="ＭＳ Ｐゴシック" charset="-128"/>
              </a:rPr>
              <a:t> model of motor learning is also somewhat similar that Fits and Posner and Bernstein.</a:t>
            </a:r>
          </a:p>
          <a:p>
            <a:pPr marL="171450" indent="-171450" eaLnBrk="1" hangingPunct="1">
              <a:buFont typeface="Arial" charset="0"/>
              <a:buChar char="•"/>
            </a:pPr>
            <a:r>
              <a:rPr lang="en-US" altLang="en-US" baseline="0" dirty="0">
                <a:latin typeface="Arial" charset="0"/>
                <a:ea typeface="ＭＳ Ｐゴシック" charset="-128"/>
              </a:rPr>
              <a:t>It also looks somewhat like a 3-stage model with the initial stage of “getting the idea of movement” and 2 later stages, one with more of a fixed movement pattern, and the other later stage accounting for more movement diversification.</a:t>
            </a:r>
          </a:p>
          <a:p>
            <a:pPr marL="171450" indent="-171450" eaLnBrk="1" hangingPunct="1">
              <a:buFont typeface="Arial" charset="0"/>
              <a:buChar char="•"/>
            </a:pPr>
            <a:r>
              <a:rPr lang="en-US" altLang="en-US" baseline="0" dirty="0">
                <a:latin typeface="Arial" charset="0"/>
                <a:ea typeface="ＭＳ Ｐゴシック" charset="-128"/>
              </a:rPr>
              <a:t>This model also explicitly accounts for the environmental influence of movement, unlike the 3-stage models of </a:t>
            </a:r>
            <a:r>
              <a:rPr lang="en-US" altLang="en-US" baseline="0" dirty="0" err="1">
                <a:latin typeface="Arial" charset="0"/>
                <a:ea typeface="ＭＳ Ｐゴシック" charset="-128"/>
              </a:rPr>
              <a:t>Fitts</a:t>
            </a:r>
            <a:r>
              <a:rPr lang="en-US" altLang="en-US" baseline="0" dirty="0">
                <a:latin typeface="Arial" charset="0"/>
                <a:ea typeface="ＭＳ Ｐゴシック" charset="-128"/>
              </a:rPr>
              <a:t> and Posner and Bernstein. </a:t>
            </a:r>
          </a:p>
        </p:txBody>
      </p:sp>
      <p:sp>
        <p:nvSpPr>
          <p:cNvPr id="13619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imes New Roman" charset="0"/>
                <a:ea typeface="ＭＳ Ｐゴシック" charset="-128"/>
              </a:defRPr>
            </a:lvl1pPr>
            <a:lvl2pPr marL="742950" indent="-285750" defTabSz="922338" eaLnBrk="0" hangingPunct="0">
              <a:defRPr sz="2400">
                <a:solidFill>
                  <a:schemeClr val="tx1"/>
                </a:solidFill>
                <a:latin typeface="Times New Roman" charset="0"/>
                <a:ea typeface="ＭＳ Ｐゴシック" charset="-128"/>
              </a:defRPr>
            </a:lvl2pPr>
            <a:lvl3pPr marL="1143000" indent="-228600" defTabSz="922338" eaLnBrk="0" hangingPunct="0">
              <a:defRPr sz="2400">
                <a:solidFill>
                  <a:schemeClr val="tx1"/>
                </a:solidFill>
                <a:latin typeface="Times New Roman" charset="0"/>
                <a:ea typeface="ＭＳ Ｐゴシック" charset="-128"/>
              </a:defRPr>
            </a:lvl3pPr>
            <a:lvl4pPr marL="1600200" indent="-228600" defTabSz="922338" eaLnBrk="0" hangingPunct="0">
              <a:defRPr sz="2400">
                <a:solidFill>
                  <a:schemeClr val="tx1"/>
                </a:solidFill>
                <a:latin typeface="Times New Roman" charset="0"/>
                <a:ea typeface="ＭＳ Ｐゴシック" charset="-128"/>
              </a:defRPr>
            </a:lvl4pPr>
            <a:lvl5pPr marL="2057400" indent="-228600" defTabSz="922338" eaLnBrk="0" hangingPunct="0">
              <a:defRPr sz="2400">
                <a:solidFill>
                  <a:schemeClr val="tx1"/>
                </a:solidFill>
                <a:latin typeface="Times New Roman" charset="0"/>
                <a:ea typeface="ＭＳ Ｐゴシック" charset="-128"/>
              </a:defRPr>
            </a:lvl5pPr>
            <a:lvl6pPr marL="2514600" indent="-228600" defTabSz="922338"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defTabSz="922338"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defTabSz="922338"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defTabSz="922338"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fld id="{71A920A6-1957-3D45-93E9-91521BDE7157}" type="slidenum">
              <a:rPr lang="en-US" altLang="en-US" sz="1200">
                <a:latin typeface="Arial" charset="0"/>
              </a:rPr>
              <a:pPr eaLnBrk="1" hangingPunct="1"/>
              <a:t>51</a:t>
            </a:fld>
            <a:endParaRPr lang="en-US" altLang="en-US" sz="1200">
              <a:latin typeface="Arial" charset="0"/>
            </a:endParaRPr>
          </a:p>
        </p:txBody>
      </p:sp>
    </p:spTree>
    <p:extLst>
      <p:ext uri="{BB962C8B-B14F-4D97-AF65-F5344CB8AC3E}">
        <p14:creationId xmlns:p14="http://schemas.microsoft.com/office/powerpoint/2010/main" val="72313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Slide Image Placeholder 1"/>
          <p:cNvSpPr>
            <a:spLocks noGrp="1" noRot="1" noChangeAspect="1" noTextEdit="1"/>
          </p:cNvSpPr>
          <p:nvPr>
            <p:ph type="sldImg"/>
          </p:nvPr>
        </p:nvSpPr>
        <p:spPr>
          <a:ln/>
        </p:spPr>
      </p:sp>
      <p:sp>
        <p:nvSpPr>
          <p:cNvPr id="13619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marL="171450" indent="-171450" eaLnBrk="1" hangingPunct="1">
              <a:lnSpc>
                <a:spcPct val="90000"/>
              </a:lnSpc>
              <a:buFont typeface="Arial" charset="0"/>
              <a:buChar char="•"/>
            </a:pPr>
            <a:r>
              <a:rPr lang="en-US" altLang="en-US" sz="1000" dirty="0">
                <a:latin typeface="Times New Roman" charset="0"/>
                <a:ea typeface="Times New Roman" charset="0"/>
                <a:cs typeface="Times New Roman" charset="0"/>
              </a:rPr>
              <a:t>Within Gentile's 2-stage model the goal of the learner is the focus of the learning.</a:t>
            </a:r>
            <a:r>
              <a:rPr lang="en-US" altLang="en-US" sz="1000" baseline="0" dirty="0">
                <a:latin typeface="Times New Roman" charset="0"/>
                <a:ea typeface="Times New Roman" charset="0"/>
                <a:cs typeface="Times New Roman" charset="0"/>
              </a:rPr>
              <a:t> </a:t>
            </a:r>
            <a:endParaRPr lang="en-US" altLang="en-US" sz="1000" dirty="0">
              <a:latin typeface="Times New Roman" charset="0"/>
              <a:ea typeface="Times New Roman" charset="0"/>
              <a:cs typeface="Times New Roman" charset="0"/>
            </a:endParaRPr>
          </a:p>
          <a:p>
            <a:pPr marL="171450" indent="-171450">
              <a:buFont typeface="Arial" charset="0"/>
              <a:buChar char="•"/>
            </a:pPr>
            <a:r>
              <a:rPr lang="en-US" altLang="ja-JP" sz="1000" u="sng" dirty="0">
                <a:latin typeface="Times New Roman" charset="0"/>
                <a:ea typeface="Times New Roman" charset="0"/>
                <a:cs typeface="Times New Roman" charset="0"/>
              </a:rPr>
              <a:t>In</a:t>
            </a:r>
            <a:r>
              <a:rPr lang="en-US" altLang="ja-JP" sz="1000" u="sng" baseline="0" dirty="0">
                <a:latin typeface="Times New Roman" charset="0"/>
                <a:ea typeface="Times New Roman" charset="0"/>
                <a:cs typeface="Times New Roman" charset="0"/>
              </a:rPr>
              <a:t> he first stage, </a:t>
            </a:r>
            <a:r>
              <a:rPr lang="ja-JP" altLang="en-US" sz="1000" u="sng">
                <a:latin typeface="Times New Roman" charset="0"/>
                <a:ea typeface="Times New Roman" charset="0"/>
                <a:cs typeface="Times New Roman" charset="0"/>
              </a:rPr>
              <a:t>“</a:t>
            </a:r>
            <a:r>
              <a:rPr lang="en-US" altLang="ja-JP" sz="1000" b="1" u="sng" dirty="0">
                <a:latin typeface="Times New Roman" charset="0"/>
                <a:ea typeface="Times New Roman" charset="0"/>
                <a:cs typeface="Times New Roman" charset="0"/>
              </a:rPr>
              <a:t>Getting the idea</a:t>
            </a:r>
            <a:r>
              <a:rPr lang="ja-JP" altLang="en-US" sz="1000" b="1" u="sng">
                <a:latin typeface="Times New Roman" charset="0"/>
                <a:ea typeface="Times New Roman" charset="0"/>
                <a:cs typeface="Times New Roman" charset="0"/>
              </a:rPr>
              <a:t>”</a:t>
            </a:r>
            <a:r>
              <a:rPr lang="en-US" altLang="ja-JP" sz="1000" b="1" u="sng" dirty="0">
                <a:latin typeface="Times New Roman" charset="0"/>
                <a:ea typeface="Times New Roman" charset="0"/>
                <a:cs typeface="Times New Roman" charset="0"/>
              </a:rPr>
              <a:t> of the movement</a:t>
            </a:r>
          </a:p>
          <a:p>
            <a:pPr marL="628650" lvl="1" indent="-171450">
              <a:buFont typeface="Arial" charset="0"/>
              <a:buChar char="•"/>
            </a:pPr>
            <a:r>
              <a:rPr lang="en-US" altLang="en-US" sz="1000" dirty="0">
                <a:latin typeface="Times New Roman" charset="0"/>
                <a:ea typeface="Times New Roman" charset="0"/>
                <a:cs typeface="Times New Roman" charset="0"/>
              </a:rPr>
              <a:t>The learner starts to understand the general concept of what must be done in order to accomplish the goal of the task.</a:t>
            </a:r>
          </a:p>
          <a:p>
            <a:pPr marL="1371600" lvl="2" indent="-457200">
              <a:buFont typeface="Arial" charset="0"/>
              <a:buChar char="•"/>
            </a:pPr>
            <a:r>
              <a:rPr lang="en-US" altLang="en-US" sz="1000" dirty="0">
                <a:latin typeface="Times New Roman" charset="0"/>
                <a:ea typeface="Times New Roman" charset="0"/>
                <a:cs typeface="Times New Roman" charset="0"/>
              </a:rPr>
              <a:t>Learner must establish and distinguish relevant and non-relevant stimuli or the task; and he</a:t>
            </a:r>
            <a:r>
              <a:rPr lang="en-US" altLang="en-US" sz="1000" baseline="0" dirty="0">
                <a:latin typeface="Times New Roman" charset="0"/>
                <a:ea typeface="Times New Roman" charset="0"/>
                <a:cs typeface="Times New Roman" charset="0"/>
              </a:rPr>
              <a:t> or she </a:t>
            </a:r>
            <a:r>
              <a:rPr lang="en-US" altLang="en-US" sz="1000" dirty="0">
                <a:latin typeface="Times New Roman" charset="0"/>
                <a:ea typeface="Times New Roman" charset="0"/>
                <a:cs typeface="Times New Roman" charset="0"/>
              </a:rPr>
              <a:t>must establish most appropriate movement pattern to effectively attain the goal of the task</a:t>
            </a:r>
          </a:p>
          <a:p>
            <a:pPr marL="0" lvl="0" indent="0">
              <a:buFont typeface="Arial" charset="0"/>
              <a:buNone/>
            </a:pPr>
            <a:r>
              <a:rPr lang="en-US" altLang="en-US" sz="1000" b="1" u="none" dirty="0">
                <a:latin typeface="Times New Roman" charset="0"/>
                <a:ea typeface="Times New Roman" charset="0"/>
                <a:cs typeface="Times New Roman" charset="0"/>
              </a:rPr>
              <a:t>1.  </a:t>
            </a:r>
            <a:r>
              <a:rPr lang="en-US" altLang="en-US" sz="1000" b="1" u="sng" dirty="0">
                <a:latin typeface="Times New Roman" charset="0"/>
                <a:ea typeface="Times New Roman" charset="0"/>
                <a:cs typeface="Times New Roman" charset="0"/>
              </a:rPr>
              <a:t>In</a:t>
            </a:r>
            <a:r>
              <a:rPr lang="en-US" altLang="en-US" sz="1000" b="1" u="sng" baseline="0" dirty="0">
                <a:latin typeface="Times New Roman" charset="0"/>
                <a:ea typeface="Times New Roman" charset="0"/>
                <a:cs typeface="Times New Roman" charset="0"/>
              </a:rPr>
              <a:t> the first part of the </a:t>
            </a:r>
            <a:r>
              <a:rPr lang="en-US" altLang="en-US" sz="1000" b="1" u="sng" dirty="0">
                <a:latin typeface="Times New Roman" charset="0"/>
                <a:ea typeface="Times New Roman" charset="0"/>
                <a:cs typeface="Times New Roman" charset="0"/>
              </a:rPr>
              <a:t>Later Stage: Fixation</a:t>
            </a:r>
            <a:r>
              <a:rPr lang="en-US" altLang="en-US" sz="1000" dirty="0">
                <a:latin typeface="Times New Roman" charset="0"/>
                <a:ea typeface="Times New Roman" charset="0"/>
                <a:cs typeface="Times New Roman" charset="0"/>
              </a:rPr>
              <a:t> (closed skill requirement)</a:t>
            </a:r>
          </a:p>
          <a:p>
            <a:pPr marL="1028700" lvl="2" indent="-342900">
              <a:spcBef>
                <a:spcPts val="1000"/>
              </a:spcBef>
              <a:buFont typeface="Arial" charset="0"/>
              <a:buChar char="•"/>
            </a:pPr>
            <a:r>
              <a:rPr lang="en-US" altLang="en-US" sz="1000" dirty="0">
                <a:latin typeface="Times New Roman" charset="0"/>
                <a:ea typeface="Times New Roman" charset="0"/>
                <a:cs typeface="Times New Roman" charset="0"/>
              </a:rPr>
              <a:t>Learner must develop capability of doing what is needed-regardless of the situation.</a:t>
            </a:r>
          </a:p>
          <a:p>
            <a:pPr marL="1028700" lvl="2" indent="-342900">
              <a:spcBef>
                <a:spcPts val="1000"/>
              </a:spcBef>
              <a:buFont typeface="Arial" charset="0"/>
              <a:buChar char="•"/>
            </a:pPr>
            <a:r>
              <a:rPr lang="en-US" altLang="en-US" sz="1000" dirty="0">
                <a:latin typeface="Times New Roman" charset="0"/>
                <a:ea typeface="Times New Roman" charset="0"/>
                <a:cs typeface="Times New Roman" charset="0"/>
              </a:rPr>
              <a:t>He</a:t>
            </a:r>
            <a:r>
              <a:rPr lang="en-US" altLang="en-US" sz="1000" baseline="0" dirty="0">
                <a:latin typeface="Times New Roman" charset="0"/>
                <a:ea typeface="Times New Roman" charset="0"/>
                <a:cs typeface="Times New Roman" charset="0"/>
              </a:rPr>
              <a:t> or she begins to </a:t>
            </a:r>
            <a:r>
              <a:rPr lang="en-US" altLang="en-US" sz="1000" dirty="0">
                <a:latin typeface="Times New Roman" charset="0"/>
                <a:ea typeface="Times New Roman" charset="0"/>
                <a:cs typeface="Times New Roman" charset="0"/>
              </a:rPr>
              <a:t>adapt</a:t>
            </a:r>
            <a:r>
              <a:rPr lang="en-US" altLang="en-US" sz="1000" baseline="0" dirty="0">
                <a:latin typeface="Times New Roman" charset="0"/>
                <a:ea typeface="Times New Roman" charset="0"/>
                <a:cs typeface="Times New Roman" charset="0"/>
              </a:rPr>
              <a:t> or settle into a new movement pattern to function. This typically occurs in a relatively closed environment where there is no need to be flexible in movement options. </a:t>
            </a:r>
          </a:p>
          <a:p>
            <a:pPr marL="0" lvl="0" indent="-228600">
              <a:spcBef>
                <a:spcPts val="1000"/>
              </a:spcBef>
              <a:buFont typeface="Arial" charset="0"/>
              <a:buNone/>
            </a:pPr>
            <a:r>
              <a:rPr lang="en-US" altLang="en-US" sz="1000" b="0" u="none" baseline="0" dirty="0">
                <a:latin typeface="Times New Roman" charset="0"/>
                <a:ea typeface="Times New Roman" charset="0"/>
                <a:cs typeface="Times New Roman" charset="0"/>
              </a:rPr>
              <a:t>2. </a:t>
            </a:r>
            <a:r>
              <a:rPr lang="en-US" altLang="en-US" sz="1000" b="1" u="sng" dirty="0">
                <a:latin typeface="Times New Roman" charset="0"/>
                <a:ea typeface="Times New Roman" charset="0"/>
                <a:cs typeface="Times New Roman" charset="0"/>
              </a:rPr>
              <a:t>Finally, in the Later Stage: Diversification</a:t>
            </a:r>
            <a:r>
              <a:rPr lang="en-US" altLang="en-US" sz="1000" dirty="0">
                <a:latin typeface="Times New Roman" charset="0"/>
                <a:ea typeface="Times New Roman" charset="0"/>
                <a:cs typeface="Times New Roman" charset="0"/>
              </a:rPr>
              <a:t> (open skill performance)</a:t>
            </a:r>
          </a:p>
          <a:p>
            <a:pPr marL="914400" lvl="1" indent="-457200">
              <a:buFont typeface="Arial" charset="0"/>
              <a:buChar char="•"/>
            </a:pPr>
            <a:r>
              <a:rPr lang="en-US" altLang="en-US" sz="1000" dirty="0">
                <a:latin typeface="Times New Roman" charset="0"/>
                <a:ea typeface="Times New Roman" charset="0"/>
                <a:cs typeface="Times New Roman" charset="0"/>
              </a:rPr>
              <a:t>Learner must develop a larger repertoire of motor patterns in a more dynamic, open environment where</a:t>
            </a:r>
            <a:r>
              <a:rPr lang="en-US" altLang="en-US" sz="1000" baseline="0" dirty="0">
                <a:latin typeface="Times New Roman" charset="0"/>
                <a:ea typeface="Times New Roman" charset="0"/>
                <a:cs typeface="Times New Roman" charset="0"/>
              </a:rPr>
              <a:t> more options for movement success are needed.</a:t>
            </a:r>
            <a:endParaRPr lang="en-US" altLang="en-US" sz="1000" dirty="0">
              <a:latin typeface="Times New Roman" charset="0"/>
              <a:ea typeface="Times New Roman" charset="0"/>
              <a:cs typeface="Times New Roman" charset="0"/>
            </a:endParaRPr>
          </a:p>
        </p:txBody>
      </p:sp>
      <p:sp>
        <p:nvSpPr>
          <p:cNvPr id="13619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imes New Roman" charset="0"/>
                <a:ea typeface="ＭＳ Ｐゴシック" charset="-128"/>
              </a:defRPr>
            </a:lvl1pPr>
            <a:lvl2pPr marL="742950" indent="-285750" defTabSz="922338" eaLnBrk="0" hangingPunct="0">
              <a:defRPr sz="2400">
                <a:solidFill>
                  <a:schemeClr val="tx1"/>
                </a:solidFill>
                <a:latin typeface="Times New Roman" charset="0"/>
                <a:ea typeface="ＭＳ Ｐゴシック" charset="-128"/>
              </a:defRPr>
            </a:lvl2pPr>
            <a:lvl3pPr marL="1143000" indent="-228600" defTabSz="922338" eaLnBrk="0" hangingPunct="0">
              <a:defRPr sz="2400">
                <a:solidFill>
                  <a:schemeClr val="tx1"/>
                </a:solidFill>
                <a:latin typeface="Times New Roman" charset="0"/>
                <a:ea typeface="ＭＳ Ｐゴシック" charset="-128"/>
              </a:defRPr>
            </a:lvl3pPr>
            <a:lvl4pPr marL="1600200" indent="-228600" defTabSz="922338" eaLnBrk="0" hangingPunct="0">
              <a:defRPr sz="2400">
                <a:solidFill>
                  <a:schemeClr val="tx1"/>
                </a:solidFill>
                <a:latin typeface="Times New Roman" charset="0"/>
                <a:ea typeface="ＭＳ Ｐゴシック" charset="-128"/>
              </a:defRPr>
            </a:lvl4pPr>
            <a:lvl5pPr marL="2057400" indent="-228600" defTabSz="922338" eaLnBrk="0" hangingPunct="0">
              <a:defRPr sz="2400">
                <a:solidFill>
                  <a:schemeClr val="tx1"/>
                </a:solidFill>
                <a:latin typeface="Times New Roman" charset="0"/>
                <a:ea typeface="ＭＳ Ｐゴシック" charset="-128"/>
              </a:defRPr>
            </a:lvl5pPr>
            <a:lvl6pPr marL="2514600" indent="-228600" defTabSz="922338"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defTabSz="922338"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defTabSz="922338"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defTabSz="922338"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fld id="{71A920A6-1957-3D45-93E9-91521BDE7157}" type="slidenum">
              <a:rPr lang="en-US" altLang="en-US" sz="1200">
                <a:latin typeface="Arial" charset="0"/>
              </a:rPr>
              <a:pPr eaLnBrk="1" hangingPunct="1"/>
              <a:t>52</a:t>
            </a:fld>
            <a:endParaRPr lang="en-US" altLang="en-US" sz="1200">
              <a:latin typeface="Arial" charset="0"/>
            </a:endParaRPr>
          </a:p>
        </p:txBody>
      </p:sp>
    </p:spTree>
    <p:extLst>
      <p:ext uri="{BB962C8B-B14F-4D97-AF65-F5344CB8AC3E}">
        <p14:creationId xmlns:p14="http://schemas.microsoft.com/office/powerpoint/2010/main" val="1335428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7"/>
          <p:cNvSpPr txBox="1">
            <a:spLocks noGrp="1" noChangeArrowheads="1"/>
          </p:cNvSpPr>
          <p:nvPr/>
        </p:nvSpPr>
        <p:spPr bwMode="auto">
          <a:xfrm>
            <a:off x="3884613" y="8831263"/>
            <a:ext cx="29718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94" tIns="46146" rIns="92294" bIns="46146" anchor="b"/>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r" eaLnBrk="1" hangingPunct="1"/>
            <a:fld id="{72DDFAFD-6886-3C4A-9BCF-6C46DB1F18C2}" type="slidenum">
              <a:rPr lang="en-US" altLang="en-US" sz="1200">
                <a:latin typeface="Arial" charset="0"/>
              </a:rPr>
              <a:pPr algn="r" eaLnBrk="1" hangingPunct="1"/>
              <a:t>53</a:t>
            </a:fld>
            <a:endParaRPr lang="en-US" altLang="en-US" sz="1200">
              <a:latin typeface="Arial" charset="0"/>
            </a:endParaRPr>
          </a:p>
        </p:txBody>
      </p:sp>
      <p:sp>
        <p:nvSpPr>
          <p:cNvPr id="144386" name="Rectangle 2"/>
          <p:cNvSpPr>
            <a:spLocks noGrp="1" noRot="1" noChangeAspect="1" noChangeArrowheads="1" noTextEdit="1"/>
          </p:cNvSpPr>
          <p:nvPr>
            <p:ph type="sldImg"/>
          </p:nvPr>
        </p:nvSpPr>
        <p:spPr>
          <a:xfrm>
            <a:off x="342900" y="703263"/>
            <a:ext cx="6172200" cy="3473450"/>
          </a:xfrm>
          <a:ln w="12700" cap="flat"/>
        </p:spPr>
      </p:sp>
      <p:sp>
        <p:nvSpPr>
          <p:cNvPr id="144387" name="Rectangle 3"/>
          <p:cNvSpPr>
            <a:spLocks noGrp="1" noChangeArrowheads="1"/>
          </p:cNvSpPr>
          <p:nvPr>
            <p:ph type="body" idx="1"/>
          </p:nvPr>
        </p:nvSpPr>
        <p:spPr>
          <a:xfrm>
            <a:off x="914400" y="4416425"/>
            <a:ext cx="502920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lIns="91332" tIns="44865" rIns="91332" bIns="44865"/>
          <a:lstStyle/>
          <a:p>
            <a:pPr marL="171450" indent="-171450" eaLnBrk="1" hangingPunct="1">
              <a:buFont typeface="Arial" charset="0"/>
              <a:buChar char="•"/>
            </a:pPr>
            <a:r>
              <a:rPr lang="en-US" altLang="en-US" dirty="0">
                <a:latin typeface="Arial" charset="0"/>
                <a:ea typeface="ＭＳ Ｐゴシック" charset="-128"/>
              </a:rPr>
              <a:t>Here is an example of Gentile's 2 stage model. </a:t>
            </a:r>
          </a:p>
        </p:txBody>
      </p:sp>
    </p:spTree>
    <p:extLst>
      <p:ext uri="{BB962C8B-B14F-4D97-AF65-F5344CB8AC3E}">
        <p14:creationId xmlns:p14="http://schemas.microsoft.com/office/powerpoint/2010/main" val="86451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B5ADB0-1CD6-4F59-A571-7276803D1703}" type="slidenum">
              <a:rPr lang="en-US" smtClean="0"/>
              <a:t>54</a:t>
            </a:fld>
            <a:endParaRPr lang="en-US"/>
          </a:p>
        </p:txBody>
      </p:sp>
    </p:spTree>
    <p:extLst>
      <p:ext uri="{BB962C8B-B14F-4D97-AF65-F5344CB8AC3E}">
        <p14:creationId xmlns:p14="http://schemas.microsoft.com/office/powerpoint/2010/main" val="1711988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B5ADB0-1CD6-4F59-A571-7276803D1703}" type="slidenum">
              <a:rPr lang="en-US" smtClean="0"/>
              <a:t>55</a:t>
            </a:fld>
            <a:endParaRPr lang="en-US"/>
          </a:p>
        </p:txBody>
      </p:sp>
    </p:spTree>
    <p:extLst>
      <p:ext uri="{BB962C8B-B14F-4D97-AF65-F5344CB8AC3E}">
        <p14:creationId xmlns:p14="http://schemas.microsoft.com/office/powerpoint/2010/main" val="1584872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fld id="{3AC9B191-BCC1-F744-9310-8C323A1FF1C0}" type="slidenum">
              <a:rPr lang="en-US" altLang="en-US" sz="1200">
                <a:latin typeface="Arial" charset="0"/>
              </a:rPr>
              <a:pPr eaLnBrk="1" hangingPunct="1"/>
              <a:t>56</a:t>
            </a:fld>
            <a:endParaRPr lang="en-US" altLang="en-US" sz="1200">
              <a:latin typeface="Arial" charset="0"/>
            </a:endParaRPr>
          </a:p>
        </p:txBody>
      </p:sp>
      <p:sp>
        <p:nvSpPr>
          <p:cNvPr id="39938" name="Rectangle 7"/>
          <p:cNvSpPr txBox="1">
            <a:spLocks noGrp="1" noChangeArrowheads="1"/>
          </p:cNvSpPr>
          <p:nvPr/>
        </p:nvSpPr>
        <p:spPr bwMode="auto">
          <a:xfrm>
            <a:off x="3884613" y="8829675"/>
            <a:ext cx="297180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r" eaLnBrk="1" hangingPunct="1"/>
            <a:fld id="{17D95C0C-C25C-6243-A374-F49EC289F4ED}" type="slidenum">
              <a:rPr lang="en-US" altLang="en-US" sz="1200">
                <a:latin typeface="Arial" charset="0"/>
              </a:rPr>
              <a:pPr algn="r" eaLnBrk="1" hangingPunct="1"/>
              <a:t>56</a:t>
            </a:fld>
            <a:endParaRPr lang="en-US" altLang="en-US" sz="1200">
              <a:latin typeface="Arial"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marL="171450" indent="-171450" eaLnBrk="1" hangingPunct="1">
              <a:buFont typeface="Arial" charset="0"/>
              <a:buChar char="•"/>
            </a:pPr>
            <a:r>
              <a:rPr lang="en-US" altLang="en-US" dirty="0">
                <a:latin typeface="Arial" charset="0"/>
                <a:ea typeface="ＭＳ Ｐゴシック" charset="-128"/>
              </a:rPr>
              <a:t>We know from motor control theory that movement that several factors most likely interact</a:t>
            </a:r>
            <a:r>
              <a:rPr lang="en-US" altLang="en-US" baseline="0" dirty="0">
                <a:latin typeface="Arial" charset="0"/>
                <a:ea typeface="ＭＳ Ｐゴシック" charset="-128"/>
              </a:rPr>
              <a:t> and effect </a:t>
            </a:r>
            <a:r>
              <a:rPr lang="en-US" altLang="en-US" dirty="0">
                <a:latin typeface="Arial" charset="0"/>
                <a:ea typeface="ＭＳ Ｐゴシック" charset="-128"/>
              </a:rPr>
              <a:t>the</a:t>
            </a:r>
            <a:r>
              <a:rPr lang="en-US" altLang="en-US" baseline="0" dirty="0">
                <a:latin typeface="Arial" charset="0"/>
                <a:ea typeface="ＭＳ Ｐゴシック" charset="-128"/>
              </a:rPr>
              <a:t> control of movement:</a:t>
            </a:r>
          </a:p>
          <a:p>
            <a:pPr marL="628650" lvl="1" indent="-171450" eaLnBrk="1" hangingPunct="1">
              <a:buFont typeface="Arial" charset="0"/>
              <a:buChar char="•"/>
            </a:pPr>
            <a:r>
              <a:rPr lang="en-US" altLang="en-US" dirty="0">
                <a:latin typeface="Arial" charset="0"/>
                <a:ea typeface="ＭＳ Ｐゴシック" charset="-128"/>
              </a:rPr>
              <a:t>These factors include</a:t>
            </a:r>
          </a:p>
          <a:p>
            <a:pPr marL="1085850" lvl="2" indent="-171450" eaLnBrk="1" hangingPunct="1">
              <a:buFont typeface="Arial" charset="0"/>
              <a:buChar char="•"/>
            </a:pPr>
            <a:r>
              <a:rPr lang="en-US" altLang="en-US" baseline="0" dirty="0">
                <a:latin typeface="Arial" charset="0"/>
                <a:ea typeface="ＭＳ Ｐゴシック" charset="-128"/>
              </a:rPr>
              <a:t>the Person (body structure/function </a:t>
            </a:r>
            <a:r>
              <a:rPr lang="mr-IN" altLang="en-US" baseline="0" dirty="0">
                <a:latin typeface="Arial" charset="0"/>
                <a:ea typeface="ＭＳ Ｐゴシック" charset="-128"/>
              </a:rPr>
              <a:t>–</a:t>
            </a:r>
            <a:r>
              <a:rPr lang="en-US" altLang="en-US" baseline="0" dirty="0">
                <a:latin typeface="Arial" charset="0"/>
                <a:ea typeface="ＭＳ Ｐゴシック" charset="-128"/>
              </a:rPr>
              <a:t> or movement system as defined by the APTA)</a:t>
            </a:r>
          </a:p>
          <a:p>
            <a:pPr marL="1085850" lvl="2" indent="-171450" eaLnBrk="1" hangingPunct="1">
              <a:buFont typeface="Arial" charset="0"/>
              <a:buChar char="•"/>
            </a:pPr>
            <a:r>
              <a:rPr lang="en-US" altLang="en-US" baseline="0" dirty="0">
                <a:latin typeface="Arial" charset="0"/>
                <a:ea typeface="ＭＳ Ｐゴシック" charset="-128"/>
              </a:rPr>
              <a:t>the Task (Activity), </a:t>
            </a:r>
          </a:p>
          <a:p>
            <a:pPr marL="1085850" lvl="2" indent="-171450" eaLnBrk="1" hangingPunct="1">
              <a:buFont typeface="Arial" charset="0"/>
              <a:buChar char="•"/>
            </a:pPr>
            <a:r>
              <a:rPr lang="en-US" altLang="en-US" baseline="0" dirty="0">
                <a:latin typeface="Arial" charset="0"/>
                <a:ea typeface="ＭＳ Ｐゴシック" charset="-128"/>
              </a:rPr>
              <a:t>and the Environment. </a:t>
            </a:r>
          </a:p>
          <a:p>
            <a:pPr marL="1085850" lvl="2" indent="-171450" eaLnBrk="1" hangingPunct="1">
              <a:buFont typeface="Arial" charset="0"/>
              <a:buChar char="•"/>
            </a:pPr>
            <a:endParaRPr lang="en-US" altLang="en-US" baseline="0" dirty="0">
              <a:latin typeface="Arial" charset="0"/>
              <a:ea typeface="ＭＳ Ｐゴシック" charset="-128"/>
            </a:endParaRPr>
          </a:p>
          <a:p>
            <a:pPr marL="171450" lvl="0" indent="-171450" eaLnBrk="1" hangingPunct="1">
              <a:buFont typeface="Arial" charset="0"/>
              <a:buChar char="•"/>
            </a:pPr>
            <a:r>
              <a:rPr lang="en-US" altLang="en-US" baseline="0" dirty="0">
                <a:latin typeface="Arial" charset="0"/>
                <a:ea typeface="ＭＳ Ｐゴシック" charset="-128"/>
              </a:rPr>
              <a:t>So, we must consider all of these factors elements when we design and implement a plan of care for the patient to PRACTICE and learn new movement patterns in the effort to optimize movement for improved function and participation in society.</a:t>
            </a:r>
          </a:p>
          <a:p>
            <a:pPr marL="171450" indent="-171450" eaLnBrk="1" hangingPunct="1">
              <a:buFont typeface="Arial" charset="0"/>
              <a:buChar char="•"/>
            </a:pPr>
            <a:endParaRPr lang="en-US" altLang="en-US" baseline="0" dirty="0">
              <a:latin typeface="Arial" charset="0"/>
              <a:ea typeface="ＭＳ Ｐゴシック" charset="-128"/>
            </a:endParaRPr>
          </a:p>
          <a:p>
            <a:pPr marL="171450" indent="-171450" eaLnBrk="1" hangingPunct="1">
              <a:buFont typeface="Arial" charset="0"/>
              <a:buChar char="•"/>
            </a:pPr>
            <a:endParaRPr lang="en-US" altLang="en-US" dirty="0">
              <a:latin typeface="Arial" charset="0"/>
              <a:ea typeface="ＭＳ Ｐゴシック" charset="-128"/>
            </a:endParaRPr>
          </a:p>
        </p:txBody>
      </p:sp>
    </p:spTree>
    <p:extLst>
      <p:ext uri="{BB962C8B-B14F-4D97-AF65-F5344CB8AC3E}">
        <p14:creationId xmlns:p14="http://schemas.microsoft.com/office/powerpoint/2010/main" val="1128680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B5ADB0-1CD6-4F59-A571-7276803D1703}" type="slidenum">
              <a:rPr lang="en-US" smtClean="0"/>
              <a:t>57</a:t>
            </a:fld>
            <a:endParaRPr lang="en-US"/>
          </a:p>
        </p:txBody>
      </p:sp>
    </p:spTree>
    <p:extLst>
      <p:ext uri="{BB962C8B-B14F-4D97-AF65-F5344CB8AC3E}">
        <p14:creationId xmlns:p14="http://schemas.microsoft.com/office/powerpoint/2010/main" val="2862961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15975" y="127000"/>
            <a:ext cx="5486400" cy="3086100"/>
          </a:xfrm>
        </p:spPr>
      </p:sp>
      <p:sp>
        <p:nvSpPr>
          <p:cNvPr id="3" name="Notes Placeholder 2"/>
          <p:cNvSpPr>
            <a:spLocks noGrp="1"/>
          </p:cNvSpPr>
          <p:nvPr>
            <p:ph type="body" idx="1"/>
          </p:nvPr>
        </p:nvSpPr>
        <p:spPr>
          <a:xfrm>
            <a:off x="296883" y="3331771"/>
            <a:ext cx="6335485" cy="3600450"/>
          </a:xfrm>
        </p:spPr>
        <p:txBody>
          <a:bodyPr/>
          <a:lstStyle/>
          <a:p>
            <a:pPr marL="1714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en-US" sz="900" dirty="0">
                <a:latin typeface="Times New Roman" charset="0"/>
                <a:ea typeface="Times New Roman" charset="0"/>
                <a:cs typeface="Times New Roman" charset="0"/>
              </a:rPr>
              <a:t>When</a:t>
            </a:r>
            <a:r>
              <a:rPr lang="en-US" altLang="en-US" sz="900" baseline="0" dirty="0">
                <a:latin typeface="Times New Roman" charset="0"/>
                <a:ea typeface="Times New Roman" charset="0"/>
                <a:cs typeface="Times New Roman" charset="0"/>
              </a:rPr>
              <a:t> we think about the PERSON, we need to ask ourselves:</a:t>
            </a:r>
            <a:endParaRPr lang="en-US" altLang="en-US" sz="900" dirty="0">
              <a:latin typeface="Times New Roman" charset="0"/>
              <a:ea typeface="Times New Roman" charset="0"/>
              <a:cs typeface="Times New Roman" charset="0"/>
            </a:endParaRPr>
          </a:p>
          <a:p>
            <a:pPr marL="628650" marR="0" lvl="2"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en-US" sz="900" dirty="0">
                <a:latin typeface="Times New Roman" charset="0"/>
                <a:ea typeface="Times New Roman" charset="0"/>
                <a:cs typeface="Times New Roman" charset="0"/>
              </a:rPr>
              <a:t>What factors influence a person</a:t>
            </a:r>
            <a:r>
              <a:rPr lang="ja-JP" altLang="en-US" sz="900" dirty="0">
                <a:latin typeface="Times New Roman" charset="0"/>
                <a:ea typeface="Times New Roman" charset="0"/>
                <a:cs typeface="Times New Roman" charset="0"/>
              </a:rPr>
              <a:t>’</a:t>
            </a:r>
            <a:r>
              <a:rPr lang="en-US" altLang="ja-JP" sz="900" dirty="0">
                <a:latin typeface="Times New Roman" charset="0"/>
                <a:ea typeface="Times New Roman" charset="0"/>
                <a:cs typeface="Times New Roman" charset="0"/>
              </a:rPr>
              <a:t>s </a:t>
            </a:r>
            <a:r>
              <a:rPr lang="en-US" altLang="ja-JP" sz="900" b="1" i="1" dirty="0">
                <a:latin typeface="Times New Roman" charset="0"/>
                <a:ea typeface="Times New Roman" charset="0"/>
                <a:cs typeface="Times New Roman" charset="0"/>
              </a:rPr>
              <a:t>ability</a:t>
            </a:r>
            <a:r>
              <a:rPr lang="en-US" altLang="ja-JP" sz="900" dirty="0">
                <a:latin typeface="Times New Roman" charset="0"/>
                <a:ea typeface="Times New Roman" charset="0"/>
                <a:cs typeface="Times New Roman" charset="0"/>
              </a:rPr>
              <a:t> to learn a </a:t>
            </a:r>
            <a:r>
              <a:rPr lang="en-US" altLang="ja-JP" sz="900" b="1" dirty="0">
                <a:latin typeface="Times New Roman" charset="0"/>
                <a:ea typeface="Times New Roman" charset="0"/>
                <a:cs typeface="Times New Roman" charset="0"/>
              </a:rPr>
              <a:t>skilled </a:t>
            </a:r>
            <a:r>
              <a:rPr lang="en-US" altLang="ja-JP" sz="900" dirty="0">
                <a:latin typeface="Times New Roman" charset="0"/>
                <a:ea typeface="Times New Roman" charset="0"/>
                <a:cs typeface="Times New Roman" charset="0"/>
              </a:rPr>
              <a:t>motor act?</a:t>
            </a:r>
          </a:p>
          <a:p>
            <a:pPr marL="628650" marR="0" lvl="2"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ja-JP" sz="900" dirty="0">
                <a:latin typeface="Times New Roman" charset="0"/>
                <a:ea typeface="Times New Roman" charset="0"/>
                <a:cs typeface="Times New Roman" charset="0"/>
              </a:rPr>
              <a:t>In</a:t>
            </a:r>
            <a:r>
              <a:rPr lang="en-US" altLang="ja-JP" sz="900" baseline="0" dirty="0">
                <a:latin typeface="Times New Roman" charset="0"/>
                <a:ea typeface="Times New Roman" charset="0"/>
                <a:cs typeface="Times New Roman" charset="0"/>
              </a:rPr>
              <a:t> order to address this question, we must briefly distinguish the terms </a:t>
            </a:r>
            <a:r>
              <a:rPr lang="en-US" altLang="ja-JP" sz="900" b="1" baseline="0" dirty="0">
                <a:latin typeface="Times New Roman" charset="0"/>
                <a:ea typeface="Times New Roman" charset="0"/>
                <a:cs typeface="Times New Roman" charset="0"/>
              </a:rPr>
              <a:t>Ability</a:t>
            </a:r>
            <a:r>
              <a:rPr lang="en-US" altLang="ja-JP" sz="900" baseline="0" dirty="0">
                <a:latin typeface="Times New Roman" charset="0"/>
                <a:ea typeface="Times New Roman" charset="0"/>
                <a:cs typeface="Times New Roman" charset="0"/>
              </a:rPr>
              <a:t> and </a:t>
            </a:r>
            <a:r>
              <a:rPr lang="en-US" altLang="ja-JP" sz="900" b="1" baseline="0" dirty="0">
                <a:latin typeface="Times New Roman" charset="0"/>
                <a:ea typeface="Times New Roman" charset="0"/>
                <a:cs typeface="Times New Roman" charset="0"/>
              </a:rPr>
              <a:t>Skill</a:t>
            </a:r>
            <a:r>
              <a:rPr lang="en-US" altLang="ja-JP" sz="900" b="0" baseline="0" dirty="0">
                <a:latin typeface="Times New Roman" charset="0"/>
                <a:ea typeface="Times New Roman" charset="0"/>
                <a:cs typeface="Times New Roman" charset="0"/>
              </a:rPr>
              <a:t> as they can directly impact how we structure our plan of care for practicing movement activities.</a:t>
            </a:r>
            <a:endParaRPr lang="en-US" altLang="ja-JP" sz="900" dirty="0">
              <a:latin typeface="Times New Roman" charset="0"/>
              <a:ea typeface="Times New Roman" charset="0"/>
              <a:cs typeface="Times New Roman"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ja-JP" sz="900" dirty="0">
                <a:latin typeface="Times New Roman" charset="0"/>
                <a:ea typeface="Times New Roman" charset="0"/>
                <a:cs typeface="Times New Roman" charset="0"/>
              </a:rPr>
              <a:t>We will begin with the term </a:t>
            </a:r>
            <a:r>
              <a:rPr lang="en-US" altLang="ja-JP" sz="900" b="1" dirty="0">
                <a:latin typeface="Times New Roman" charset="0"/>
                <a:ea typeface="Times New Roman" charset="0"/>
                <a:cs typeface="Times New Roman" charset="0"/>
              </a:rPr>
              <a:t>Ability</a:t>
            </a:r>
          </a:p>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n-US" sz="900" u="sng" dirty="0">
                <a:latin typeface="Times New Roman" charset="0"/>
                <a:ea typeface="Times New Roman" charset="0"/>
                <a:cs typeface="Times New Roman" charset="0"/>
              </a:rPr>
              <a:t>Abilities are genetically predetermined characteristics that affect movement performance such as agility, coordination, strength, and flexibility</a:t>
            </a:r>
            <a:r>
              <a:rPr lang="en-US" sz="900" dirty="0">
                <a:latin typeface="Times New Roman" charset="0"/>
                <a:ea typeface="Times New Roman" charset="0"/>
                <a:cs typeface="Times New Roman" charset="0"/>
              </a:rPr>
              <a:t>.</a:t>
            </a:r>
          </a:p>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n-US" sz="900" dirty="0">
                <a:latin typeface="Times New Roman" charset="0"/>
                <a:ea typeface="Times New Roman" charset="0"/>
                <a:cs typeface="Times New Roman" charset="0"/>
              </a:rPr>
              <a:t>Abilities are enduring and as such, difficult to change in adults. </a:t>
            </a:r>
          </a:p>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en-US" sz="900" dirty="0">
                <a:latin typeface="Times New Roman" charset="0"/>
                <a:ea typeface="Times New Roman" charset="0"/>
                <a:cs typeface="Times New Roman" charset="0"/>
              </a:rPr>
              <a:t>Individual</a:t>
            </a:r>
            <a:r>
              <a:rPr lang="ja-JP" altLang="en-US" sz="900" dirty="0">
                <a:latin typeface="Times New Roman" charset="0"/>
                <a:ea typeface="Times New Roman" charset="0"/>
                <a:cs typeface="Times New Roman" charset="0"/>
              </a:rPr>
              <a:t>’</a:t>
            </a:r>
            <a:r>
              <a:rPr lang="en-US" altLang="ja-JP" sz="900" dirty="0">
                <a:latin typeface="Times New Roman" charset="0"/>
                <a:ea typeface="Times New Roman" charset="0"/>
                <a:cs typeface="Times New Roman" charset="0"/>
              </a:rPr>
              <a:t>s differ in their abilities: attitudes, height, body type, cultural background, emotional</a:t>
            </a:r>
            <a:r>
              <a:rPr lang="en-US" altLang="ja-JP" sz="900" baseline="0" dirty="0">
                <a:latin typeface="Times New Roman" charset="0"/>
                <a:ea typeface="Times New Roman" charset="0"/>
                <a:cs typeface="Times New Roman" charset="0"/>
              </a:rPr>
              <a:t> makeup, fitness level, learning style, maturational level, motivational level, social experiences, and movement experiences,</a:t>
            </a:r>
            <a:r>
              <a:rPr lang="en-US" altLang="en-US" sz="900" baseline="0" dirty="0">
                <a:latin typeface="Times New Roman" charset="0"/>
                <a:ea typeface="Times New Roman" charset="0"/>
                <a:cs typeface="Times New Roman" charset="0"/>
              </a:rPr>
              <a:t> </a:t>
            </a:r>
            <a:r>
              <a:rPr lang="en-US" altLang="en-US" sz="900" dirty="0">
                <a:latin typeface="Times New Roman" charset="0"/>
                <a:ea typeface="Times New Roman" charset="0"/>
                <a:cs typeface="Times New Roman" charset="0"/>
              </a:rPr>
              <a:t>reaction time, coordination, limb movement speed, dexterity, steadiness, strength, flexibility, equilibrium, stamina</a:t>
            </a:r>
            <a:endParaRPr lang="en-US" altLang="ja-JP" sz="900" baseline="0" dirty="0">
              <a:latin typeface="Times New Roman" charset="0"/>
              <a:ea typeface="Times New Roman" charset="0"/>
              <a:cs typeface="Times New Roman" charset="0"/>
            </a:endParaRPr>
          </a:p>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n-US" sz="900" dirty="0">
                <a:latin typeface="Times New Roman" charset="0"/>
                <a:ea typeface="Times New Roman" charset="0"/>
                <a:cs typeface="Times New Roman" charset="0"/>
              </a:rPr>
              <a:t>For example, abilities that are required for </a:t>
            </a:r>
          </a:p>
          <a:p>
            <a:pPr marL="1085850" marR="0" lvl="2" indent="-171450" algn="l" defTabSz="914400" rtl="0" eaLnBrk="1" fontAlgn="auto" latinLnBrk="0" hangingPunct="1">
              <a:lnSpc>
                <a:spcPct val="100000"/>
              </a:lnSpc>
              <a:spcBef>
                <a:spcPts val="0"/>
              </a:spcBef>
              <a:spcAft>
                <a:spcPts val="0"/>
              </a:spcAft>
              <a:buClrTx/>
              <a:buSzTx/>
              <a:buFont typeface="Arial" charset="0"/>
              <a:buChar char="•"/>
              <a:tabLst/>
              <a:defRPr/>
            </a:pPr>
            <a:r>
              <a:rPr lang="en-US" sz="900" dirty="0">
                <a:latin typeface="Times New Roman" charset="0"/>
                <a:ea typeface="Times New Roman" charset="0"/>
                <a:cs typeface="Times New Roman" charset="0"/>
              </a:rPr>
              <a:t>a skilled race car driver include rate control, manual dexterity, stamina, control precision, and reaction time; </a:t>
            </a:r>
          </a:p>
          <a:p>
            <a:pPr marL="1085850" marR="0" lvl="2" indent="-171450" algn="l" defTabSz="914400" rtl="0" eaLnBrk="1" fontAlgn="auto" latinLnBrk="0" hangingPunct="1">
              <a:lnSpc>
                <a:spcPct val="100000"/>
              </a:lnSpc>
              <a:spcBef>
                <a:spcPts val="0"/>
              </a:spcBef>
              <a:spcAft>
                <a:spcPts val="0"/>
              </a:spcAft>
              <a:buClrTx/>
              <a:buSzTx/>
              <a:buFont typeface="Arial" charset="0"/>
              <a:buChar char="•"/>
              <a:tabLst/>
              <a:defRPr/>
            </a:pPr>
            <a:r>
              <a:rPr lang="en-US" sz="900" dirty="0">
                <a:latin typeface="Times New Roman" charset="0"/>
                <a:ea typeface="Times New Roman" charset="0"/>
                <a:cs typeface="Times New Roman" charset="0"/>
              </a:rPr>
              <a:t>a typist needs to have abilities in aiming and finger dexterity; </a:t>
            </a:r>
          </a:p>
          <a:p>
            <a:pPr marL="1085850" marR="0" lvl="2" indent="-171450" algn="l" defTabSz="914400" rtl="0" eaLnBrk="1" fontAlgn="auto" latinLnBrk="0" hangingPunct="1">
              <a:lnSpc>
                <a:spcPct val="100000"/>
              </a:lnSpc>
              <a:spcBef>
                <a:spcPts val="0"/>
              </a:spcBef>
              <a:spcAft>
                <a:spcPts val="0"/>
              </a:spcAft>
              <a:buClrTx/>
              <a:buSzTx/>
              <a:buFont typeface="Arial" charset="0"/>
              <a:buChar char="•"/>
              <a:tabLst/>
              <a:defRPr/>
            </a:pPr>
            <a:r>
              <a:rPr lang="en-US" sz="900" dirty="0">
                <a:latin typeface="Times New Roman" charset="0"/>
                <a:ea typeface="Times New Roman" charset="0"/>
                <a:cs typeface="Times New Roman" charset="0"/>
              </a:rPr>
              <a:t>a surgeon requires arm–hand steadiness and multi-limb coordination; </a:t>
            </a:r>
          </a:p>
          <a:p>
            <a:pPr marL="1085850" marR="0" lvl="2" indent="-171450" algn="l" defTabSz="914400" rtl="0" eaLnBrk="1" fontAlgn="auto" latinLnBrk="0" hangingPunct="1">
              <a:lnSpc>
                <a:spcPct val="100000"/>
              </a:lnSpc>
              <a:spcBef>
                <a:spcPts val="0"/>
              </a:spcBef>
              <a:spcAft>
                <a:spcPts val="0"/>
              </a:spcAft>
              <a:buClrTx/>
              <a:buSzTx/>
              <a:buFont typeface="Arial" charset="0"/>
              <a:buChar char="•"/>
              <a:tabLst/>
              <a:defRPr/>
            </a:pPr>
            <a:r>
              <a:rPr lang="en-US" sz="900" dirty="0">
                <a:latin typeface="Times New Roman" charset="0"/>
                <a:ea typeface="Times New Roman" charset="0"/>
                <a:cs typeface="Times New Roman" charset="0"/>
              </a:rPr>
              <a:t>and a figure skater performing the triple axel requires abilities such as explosive strength, dynamic flexibility, gross body coordination, and </a:t>
            </a:r>
            <a:r>
              <a:rPr lang="en-US" sz="900" dirty="0" err="1">
                <a:latin typeface="Times New Roman" charset="0"/>
                <a:ea typeface="Times New Roman" charset="0"/>
                <a:cs typeface="Times New Roman" charset="0"/>
              </a:rPr>
              <a:t>multilimb</a:t>
            </a:r>
            <a:r>
              <a:rPr lang="en-US" sz="900" dirty="0">
                <a:latin typeface="Times New Roman" charset="0"/>
                <a:ea typeface="Times New Roman" charset="0"/>
                <a:cs typeface="Times New Roman" charset="0"/>
              </a:rPr>
              <a:t> coordination</a:t>
            </a:r>
          </a:p>
          <a:p>
            <a:pPr marL="628650" lvl="1" indent="-171450">
              <a:buFont typeface="Arial" charset="0"/>
              <a:buChar char="•"/>
            </a:pPr>
            <a:r>
              <a:rPr lang="en-US" sz="900" dirty="0">
                <a:latin typeface="Times New Roman" charset="0"/>
                <a:ea typeface="Times New Roman" charset="0"/>
                <a:cs typeface="Times New Roman" charset="0"/>
              </a:rPr>
              <a:t>Abilities differ from skills in the sense that skills are learned, (Fleishman, 1964). </a:t>
            </a:r>
          </a:p>
          <a:p>
            <a:pPr marL="1085850" lvl="2" indent="-171450">
              <a:buFont typeface="Arial" charset="0"/>
              <a:buChar char="•"/>
            </a:pPr>
            <a:r>
              <a:rPr lang="en-US" sz="900" u="sng" dirty="0">
                <a:latin typeface="Times New Roman" charset="0"/>
                <a:ea typeface="Times New Roman" charset="0"/>
                <a:cs typeface="Times New Roman" charset="0"/>
              </a:rPr>
              <a:t>Skills are a level of proficiency on a specific motor task, while abilities are part of an individual’s traits that affect her capability to become skillful when learning a new motor task</a:t>
            </a:r>
            <a:r>
              <a:rPr lang="en-US" sz="900" dirty="0">
                <a:latin typeface="Times New Roman" charset="0"/>
                <a:ea typeface="Times New Roman" charset="0"/>
                <a:cs typeface="Times New Roman" charset="0"/>
              </a:rPr>
              <a:t>. </a:t>
            </a:r>
            <a:endParaRPr lang="en-US" altLang="ja-JP" sz="900" dirty="0">
              <a:latin typeface="Times New Roman" charset="0"/>
              <a:ea typeface="Times New Roman" charset="0"/>
              <a:cs typeface="Times New Roman" charset="0"/>
            </a:endParaRPr>
          </a:p>
          <a:p>
            <a:pPr marL="171450" indent="-171450" eaLnBrk="1" hangingPunct="1">
              <a:buFont typeface="Arial" charset="0"/>
              <a:buChar char="•"/>
            </a:pPr>
            <a:r>
              <a:rPr lang="en-US" altLang="en-US" sz="900" dirty="0">
                <a:latin typeface="Times New Roman" charset="0"/>
                <a:ea typeface="Times New Roman" charset="0"/>
                <a:cs typeface="Times New Roman" charset="0"/>
              </a:rPr>
              <a:t>Expect to see differences in people</a:t>
            </a:r>
            <a:r>
              <a:rPr lang="ja-JP" altLang="en-US" sz="900" dirty="0">
                <a:latin typeface="Times New Roman" charset="0"/>
                <a:ea typeface="Times New Roman" charset="0"/>
                <a:cs typeface="Times New Roman" charset="0"/>
              </a:rPr>
              <a:t>’</a:t>
            </a:r>
            <a:r>
              <a:rPr lang="en-US" altLang="ja-JP" sz="900" dirty="0">
                <a:latin typeface="Times New Roman" charset="0"/>
                <a:ea typeface="Times New Roman" charset="0"/>
                <a:cs typeface="Times New Roman" charset="0"/>
              </a:rPr>
              <a:t>s abilities</a:t>
            </a:r>
          </a:p>
          <a:p>
            <a:pPr marL="171450" indent="-171450" eaLnBrk="1" hangingPunct="1">
              <a:buFont typeface="Arial" charset="0"/>
              <a:buChar char="•"/>
            </a:pPr>
            <a:r>
              <a:rPr lang="en-US" altLang="en-US" sz="900" u="sng" dirty="0">
                <a:latin typeface="Times New Roman" charset="0"/>
                <a:ea typeface="Times New Roman" charset="0"/>
                <a:cs typeface="Times New Roman" charset="0"/>
              </a:rPr>
              <a:t>Individual</a:t>
            </a:r>
            <a:r>
              <a:rPr lang="ja-JP" altLang="en-US" sz="900" u="sng" dirty="0">
                <a:latin typeface="Times New Roman" charset="0"/>
                <a:ea typeface="Times New Roman" charset="0"/>
                <a:cs typeface="Times New Roman" charset="0"/>
              </a:rPr>
              <a:t>’</a:t>
            </a:r>
            <a:r>
              <a:rPr lang="en-US" altLang="ja-JP" sz="900" u="sng" dirty="0">
                <a:latin typeface="Times New Roman" charset="0"/>
                <a:ea typeface="Times New Roman" charset="0"/>
                <a:cs typeface="Times New Roman" charset="0"/>
              </a:rPr>
              <a:t>s abilities will facilitate better performance on some tasks more than others</a:t>
            </a:r>
          </a:p>
          <a:p>
            <a:pPr marL="171450" indent="-171450">
              <a:buFont typeface="Arial" charset="0"/>
              <a:buChar char="•"/>
            </a:pPr>
            <a:r>
              <a:rPr lang="en-US" altLang="ja-JP" sz="900" dirty="0">
                <a:latin typeface="Times New Roman" charset="0"/>
                <a:ea typeface="Times New Roman" charset="0"/>
                <a:cs typeface="Times New Roman" charset="0"/>
              </a:rPr>
              <a:t>So when we are trying to teach an</a:t>
            </a:r>
            <a:r>
              <a:rPr lang="en-US" altLang="ja-JP" sz="900" baseline="0" dirty="0">
                <a:latin typeface="Times New Roman" charset="0"/>
                <a:ea typeface="Times New Roman" charset="0"/>
                <a:cs typeface="Times New Roman" charset="0"/>
              </a:rPr>
              <a:t> individual a new task, there are </a:t>
            </a:r>
            <a:r>
              <a:rPr lang="en-US" altLang="ja-JP" sz="900" dirty="0">
                <a:latin typeface="Times New Roman" charset="0"/>
                <a:ea typeface="Times New Roman" charset="0"/>
                <a:cs typeface="Times New Roman" charset="0"/>
              </a:rPr>
              <a:t>a few of the questions that we ask as clinicians</a:t>
            </a:r>
            <a:r>
              <a:rPr lang="en-US" altLang="ja-JP" sz="900" baseline="0" dirty="0">
                <a:latin typeface="Times New Roman" charset="0"/>
                <a:ea typeface="Times New Roman" charset="0"/>
                <a:cs typeface="Times New Roman" charset="0"/>
              </a:rPr>
              <a:t> is:</a:t>
            </a:r>
          </a:p>
          <a:p>
            <a:pPr marL="685800" lvl="1" indent="-228600" eaLnBrk="1" hangingPunct="1">
              <a:spcBef>
                <a:spcPct val="50000"/>
              </a:spcBef>
              <a:buFont typeface="+mj-lt"/>
              <a:buAutoNum type="arabicPeriod"/>
            </a:pPr>
            <a:r>
              <a:rPr lang="en-US" altLang="en-US" sz="900" dirty="0">
                <a:latin typeface="Times New Roman" charset="0"/>
                <a:ea typeface="Times New Roman" charset="0"/>
                <a:cs typeface="Times New Roman" charset="0"/>
              </a:rPr>
              <a:t>Does the person possess the underlying abilities to perform a</a:t>
            </a:r>
            <a:r>
              <a:rPr lang="en-US" altLang="en-US" sz="900" baseline="0" dirty="0">
                <a:latin typeface="Times New Roman" charset="0"/>
                <a:ea typeface="Times New Roman" charset="0"/>
                <a:cs typeface="Times New Roman" charset="0"/>
              </a:rPr>
              <a:t> specific</a:t>
            </a:r>
            <a:r>
              <a:rPr lang="en-US" altLang="en-US" sz="900" dirty="0">
                <a:latin typeface="Times New Roman" charset="0"/>
                <a:ea typeface="Times New Roman" charset="0"/>
                <a:cs typeface="Times New Roman" charset="0"/>
              </a:rPr>
              <a:t> task? If not, how can we modify the task for success?</a:t>
            </a:r>
          </a:p>
          <a:p>
            <a:pPr marL="685800" lvl="1" indent="-228600" eaLnBrk="1" hangingPunct="1">
              <a:spcBef>
                <a:spcPct val="50000"/>
              </a:spcBef>
              <a:buFont typeface="+mj-lt"/>
              <a:buAutoNum type="arabicPeriod"/>
            </a:pPr>
            <a:r>
              <a:rPr lang="en-US" altLang="en-US" sz="900" dirty="0">
                <a:latin typeface="Times New Roman" charset="0"/>
                <a:ea typeface="Times New Roman" charset="0"/>
                <a:cs typeface="Times New Roman" charset="0"/>
              </a:rPr>
              <a:t>Is the task developmentally appropriate? If not, how do we make it appropriate</a:t>
            </a:r>
            <a:r>
              <a:rPr lang="en-US" altLang="en-US" sz="900" baseline="0" dirty="0">
                <a:latin typeface="Times New Roman" charset="0"/>
                <a:ea typeface="Times New Roman" charset="0"/>
                <a:cs typeface="Times New Roman" charset="0"/>
              </a:rPr>
              <a:t> for an individual’s maturational level?</a:t>
            </a:r>
            <a:endParaRPr lang="en-US" altLang="en-US" sz="900" dirty="0">
              <a:latin typeface="Times New Roman" charset="0"/>
              <a:ea typeface="Times New Roman" charset="0"/>
              <a:cs typeface="Times New Roman" charset="0"/>
            </a:endParaRPr>
          </a:p>
          <a:p>
            <a:pPr marL="685800" lvl="1" indent="-228600" eaLnBrk="1" hangingPunct="1">
              <a:spcBef>
                <a:spcPct val="50000"/>
              </a:spcBef>
              <a:buFont typeface="+mj-lt"/>
              <a:buAutoNum type="arabicPeriod"/>
            </a:pPr>
            <a:r>
              <a:rPr lang="en-US" altLang="en-US" sz="900" dirty="0">
                <a:latin typeface="Times New Roman" charset="0"/>
                <a:ea typeface="Times New Roman" charset="0"/>
                <a:cs typeface="Times New Roman" charset="0"/>
              </a:rPr>
              <a:t>Does the individual</a:t>
            </a:r>
            <a:r>
              <a:rPr lang="en-US" altLang="en-US" sz="900" baseline="0" dirty="0">
                <a:latin typeface="Times New Roman" charset="0"/>
                <a:ea typeface="Times New Roman" charset="0"/>
                <a:cs typeface="Times New Roman" charset="0"/>
              </a:rPr>
              <a:t> have </a:t>
            </a:r>
            <a:r>
              <a:rPr lang="en-US" altLang="en-US" sz="900" dirty="0">
                <a:latin typeface="Times New Roman" charset="0"/>
                <a:ea typeface="Times New Roman" charset="0"/>
                <a:cs typeface="Times New Roman" charset="0"/>
              </a:rPr>
              <a:t>previous similar experiences that he or she can draw from? If not, how</a:t>
            </a:r>
            <a:r>
              <a:rPr lang="en-US" altLang="en-US" sz="900" baseline="0" dirty="0">
                <a:latin typeface="Times New Roman" charset="0"/>
                <a:ea typeface="Times New Roman" charset="0"/>
                <a:cs typeface="Times New Roman" charset="0"/>
              </a:rPr>
              <a:t> will you modify the movement activities that are included in the plan of care?</a:t>
            </a:r>
            <a:endParaRPr lang="en-US" altLang="en-US" sz="900" dirty="0">
              <a:latin typeface="Times New Roman" charset="0"/>
              <a:ea typeface="Times New Roman" charset="0"/>
              <a:cs typeface="Times New Roman" charset="0"/>
            </a:endParaRPr>
          </a:p>
          <a:p>
            <a:pPr marL="685800" lvl="1" indent="-228600" eaLnBrk="1" hangingPunct="1">
              <a:spcBef>
                <a:spcPct val="50000"/>
              </a:spcBef>
              <a:buFont typeface="+mj-lt"/>
              <a:buAutoNum type="arabicPeriod"/>
            </a:pPr>
            <a:r>
              <a:rPr lang="en-US" altLang="en-US" sz="900" dirty="0">
                <a:latin typeface="Times New Roman" charset="0"/>
                <a:ea typeface="Times New Roman" charset="0"/>
                <a:cs typeface="Times New Roman" charset="0"/>
              </a:rPr>
              <a:t>Is the person motivated? If not, what will you do as the physical therapist</a:t>
            </a:r>
            <a:r>
              <a:rPr lang="en-US" altLang="en-US" sz="900" baseline="0" dirty="0">
                <a:latin typeface="Times New Roman" charset="0"/>
                <a:ea typeface="Times New Roman" charset="0"/>
                <a:cs typeface="Times New Roman" charset="0"/>
              </a:rPr>
              <a:t> to motivate the individual?</a:t>
            </a:r>
            <a:endParaRPr lang="en-US" altLang="en-US" sz="900" dirty="0">
              <a:latin typeface="Times New Roman" charset="0"/>
              <a:ea typeface="Times New Roman" charset="0"/>
              <a:cs typeface="Times New Roman" charset="0"/>
            </a:endParaRPr>
          </a:p>
          <a:p>
            <a:pPr marL="685800" lvl="1" indent="-228600" eaLnBrk="1" hangingPunct="1">
              <a:spcBef>
                <a:spcPct val="50000"/>
              </a:spcBef>
              <a:buFont typeface="+mj-lt"/>
              <a:buAutoNum type="arabicPeriod"/>
            </a:pPr>
            <a:endParaRPr lang="en-US" altLang="en-US" sz="900" dirty="0">
              <a:latin typeface="Times New Roman" charset="0"/>
              <a:ea typeface="Times New Roman" charset="0"/>
              <a:cs typeface="Times New Roman" charset="0"/>
            </a:endParaRPr>
          </a:p>
          <a:p>
            <a:pPr marL="171450" indent="-171450">
              <a:buFont typeface="Arial" charset="0"/>
              <a:buChar char="•"/>
            </a:pPr>
            <a:r>
              <a:rPr lang="en-US" altLang="ja-JP" sz="900" dirty="0">
                <a:latin typeface="Times New Roman" charset="0"/>
                <a:ea typeface="Times New Roman" charset="0"/>
                <a:cs typeface="Times New Roman" charset="0"/>
              </a:rPr>
              <a:t>And of utmost importance, we</a:t>
            </a:r>
            <a:r>
              <a:rPr lang="en-US" altLang="ja-JP" sz="900" baseline="0" dirty="0">
                <a:latin typeface="Times New Roman" charset="0"/>
                <a:ea typeface="Times New Roman" charset="0"/>
                <a:cs typeface="Times New Roman" charset="0"/>
              </a:rPr>
              <a:t> </a:t>
            </a:r>
            <a:r>
              <a:rPr lang="en-US" altLang="ja-JP" sz="900" dirty="0">
                <a:latin typeface="Times New Roman" charset="0"/>
                <a:ea typeface="Times New Roman" charset="0"/>
                <a:cs typeface="Times New Roman" charset="0"/>
              </a:rPr>
              <a:t>ask ourselves is, “which of the information pieces are the most important to consider</a:t>
            </a:r>
            <a:r>
              <a:rPr lang="en-US" altLang="ja-JP" sz="900" baseline="0" dirty="0">
                <a:latin typeface="Times New Roman" charset="0"/>
                <a:ea typeface="Times New Roman" charset="0"/>
                <a:cs typeface="Times New Roman" charset="0"/>
              </a:rPr>
              <a:t> in our decision making processes when teaching our clients new skills?” </a:t>
            </a:r>
          </a:p>
          <a:p>
            <a:pPr marL="171450" indent="-171450">
              <a:buFont typeface="Arial" charset="0"/>
              <a:buChar char="•"/>
            </a:pPr>
            <a:r>
              <a:rPr lang="en-US" altLang="ja-JP" sz="900" baseline="0" dirty="0">
                <a:latin typeface="Times New Roman" charset="0"/>
                <a:ea typeface="Times New Roman" charset="0"/>
                <a:cs typeface="Times New Roman" charset="0"/>
              </a:rPr>
              <a:t>That is what you will be learning throughout this 2-year curriculum!</a:t>
            </a:r>
            <a:endParaRPr lang="en-US" altLang="ja-JP" sz="900" dirty="0">
              <a:latin typeface="Times New Roman" charset="0"/>
              <a:ea typeface="Times New Roman" charset="0"/>
              <a:cs typeface="Times New Roman" charset="0"/>
            </a:endParaRPr>
          </a:p>
          <a:p>
            <a:pPr marL="0" marR="0" lvl="1" indent="0" algn="l" defTabSz="914400" rtl="0" eaLnBrk="1" fontAlgn="auto" latinLnBrk="0" hangingPunct="1">
              <a:lnSpc>
                <a:spcPct val="100000"/>
              </a:lnSpc>
              <a:spcBef>
                <a:spcPts val="0"/>
              </a:spcBef>
              <a:spcAft>
                <a:spcPts val="0"/>
              </a:spcAft>
              <a:buClrTx/>
              <a:buSzTx/>
              <a:buFontTx/>
              <a:buNone/>
              <a:tabLst/>
              <a:defRPr/>
            </a:pPr>
            <a:endParaRPr lang="en-US" altLang="ja-JP" sz="900" dirty="0">
              <a:latin typeface="Times New Roman" charset="0"/>
              <a:ea typeface="Times New Roman" charset="0"/>
              <a:cs typeface="Times New Roman" charset="0"/>
            </a:endParaRPr>
          </a:p>
          <a:p>
            <a:endParaRPr lang="en-US" sz="900" dirty="0">
              <a:latin typeface="Times New Roman" charset="0"/>
              <a:ea typeface="Times New Roman" charset="0"/>
              <a:cs typeface="Times New Roman" charset="0"/>
            </a:endParaRPr>
          </a:p>
        </p:txBody>
      </p:sp>
      <p:sp>
        <p:nvSpPr>
          <p:cNvPr id="4" name="Slide Number Placeholder 3"/>
          <p:cNvSpPr>
            <a:spLocks noGrp="1"/>
          </p:cNvSpPr>
          <p:nvPr>
            <p:ph type="sldNum" sz="quarter" idx="10"/>
          </p:nvPr>
        </p:nvSpPr>
        <p:spPr/>
        <p:txBody>
          <a:bodyPr/>
          <a:lstStyle/>
          <a:p>
            <a:fld id="{80B5ADB0-1CD6-4F59-A571-7276803D1703}" type="slidenum">
              <a:rPr lang="en-US" smtClean="0"/>
              <a:t>58</a:t>
            </a:fld>
            <a:endParaRPr lang="en-US"/>
          </a:p>
        </p:txBody>
      </p:sp>
    </p:spTree>
    <p:extLst>
      <p:ext uri="{BB962C8B-B14F-4D97-AF65-F5344CB8AC3E}">
        <p14:creationId xmlns:p14="http://schemas.microsoft.com/office/powerpoint/2010/main" val="3088392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B5ADB0-1CD6-4F59-A571-7276803D1703}" type="slidenum">
              <a:rPr lang="en-US" smtClean="0"/>
              <a:t>59</a:t>
            </a:fld>
            <a:endParaRPr lang="en-US"/>
          </a:p>
        </p:txBody>
      </p:sp>
    </p:spTree>
    <p:extLst>
      <p:ext uri="{BB962C8B-B14F-4D97-AF65-F5344CB8AC3E}">
        <p14:creationId xmlns:p14="http://schemas.microsoft.com/office/powerpoint/2010/main" val="1056110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en-US" sz="1000" dirty="0">
                <a:latin typeface="Times New Roman" charset="0"/>
                <a:ea typeface="Times New Roman" charset="0"/>
                <a:cs typeface="Times New Roman" charset="0"/>
              </a:rPr>
              <a:t>There are many ways to categorize tasks….and how we distinguish them is based on the various categorizations for them</a:t>
            </a: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en-US" sz="1000" dirty="0">
                <a:latin typeface="Times New Roman" charset="0"/>
                <a:ea typeface="Times New Roman" charset="0"/>
                <a:cs typeface="Times New Roman" charset="0"/>
              </a:rPr>
              <a:t>So, when I</a:t>
            </a:r>
            <a:r>
              <a:rPr lang="en-US" altLang="en-US" sz="1000" baseline="0" dirty="0">
                <a:latin typeface="Times New Roman" charset="0"/>
                <a:ea typeface="Times New Roman" charset="0"/>
                <a:cs typeface="Times New Roman" charset="0"/>
              </a:rPr>
              <a:t> t</a:t>
            </a:r>
            <a:r>
              <a:rPr lang="en-US" altLang="en-US" sz="1000" dirty="0">
                <a:latin typeface="Times New Roman" charset="0"/>
                <a:ea typeface="Times New Roman" charset="0"/>
                <a:cs typeface="Times New Roman" charset="0"/>
              </a:rPr>
              <a:t>hink about the task, I ask myself several questions:</a:t>
            </a:r>
          </a:p>
          <a:p>
            <a:pPr lvl="1">
              <a:spcBef>
                <a:spcPct val="50000"/>
              </a:spcBef>
              <a:buFont typeface="+mj-lt"/>
              <a:buAutoNum type="arabicPeriod"/>
            </a:pPr>
            <a:r>
              <a:rPr lang="en-US" altLang="en-US" sz="1000" dirty="0">
                <a:latin typeface="Times New Roman" charset="0"/>
                <a:ea typeface="Times New Roman" charset="0"/>
                <a:cs typeface="Times New Roman" charset="0"/>
              </a:rPr>
              <a:t>What are the component elements of the task?</a:t>
            </a:r>
          </a:p>
          <a:p>
            <a:pPr lvl="1">
              <a:spcBef>
                <a:spcPct val="50000"/>
              </a:spcBef>
              <a:buFont typeface="+mj-lt"/>
              <a:buAutoNum type="arabicPeriod"/>
            </a:pPr>
            <a:r>
              <a:rPr lang="en-US" altLang="en-US" sz="1000" dirty="0">
                <a:latin typeface="Times New Roman" charset="0"/>
                <a:ea typeface="Times New Roman" charset="0"/>
                <a:cs typeface="Times New Roman" charset="0"/>
              </a:rPr>
              <a:t>What body movements are required? </a:t>
            </a:r>
          </a:p>
          <a:p>
            <a:pPr lvl="1">
              <a:spcBef>
                <a:spcPct val="50000"/>
              </a:spcBef>
              <a:buFont typeface="+mj-lt"/>
              <a:buAutoNum type="arabicPeriod"/>
            </a:pPr>
            <a:r>
              <a:rPr lang="en-US" altLang="en-US" sz="1000" dirty="0">
                <a:latin typeface="Times New Roman" charset="0"/>
                <a:ea typeface="Times New Roman" charset="0"/>
                <a:cs typeface="Times New Roman" charset="0"/>
              </a:rPr>
              <a:t>How is the task paced? </a:t>
            </a:r>
          </a:p>
          <a:p>
            <a:pPr lvl="1">
              <a:spcBef>
                <a:spcPct val="50000"/>
              </a:spcBef>
              <a:buFont typeface="+mj-lt"/>
              <a:buAutoNum type="arabicPeriod"/>
            </a:pPr>
            <a:r>
              <a:rPr lang="en-US" altLang="en-US" sz="1000" dirty="0">
                <a:latin typeface="Times New Roman" charset="0"/>
                <a:ea typeface="Times New Roman" charset="0"/>
                <a:cs typeface="Times New Roman" charset="0"/>
              </a:rPr>
              <a:t>Is there a high perceptual or cognitive component to the task?</a:t>
            </a:r>
          </a:p>
          <a:p>
            <a:pPr lvl="1">
              <a:spcBef>
                <a:spcPct val="50000"/>
              </a:spcBef>
              <a:buFont typeface="+mj-lt"/>
              <a:buAutoNum type="arabicPeriod"/>
            </a:pPr>
            <a:r>
              <a:rPr lang="en-US" altLang="en-US" sz="1000" dirty="0">
                <a:latin typeface="Times New Roman" charset="0"/>
                <a:ea typeface="Times New Roman" charset="0"/>
                <a:cs typeface="Times New Roman" charset="0"/>
              </a:rPr>
              <a:t>How much precision is needed? Is it gross motor or fine motor?</a:t>
            </a:r>
          </a:p>
          <a:p>
            <a:pPr lvl="1">
              <a:spcBef>
                <a:spcPct val="50000"/>
              </a:spcBef>
              <a:buFont typeface="+mj-lt"/>
              <a:buAutoNum type="arabicPeriod"/>
            </a:pPr>
            <a:r>
              <a:rPr lang="en-US" altLang="en-US" sz="1000" dirty="0">
                <a:latin typeface="Times New Roman" charset="0"/>
                <a:ea typeface="Times New Roman" charset="0"/>
                <a:cs typeface="Times New Roman" charset="0"/>
              </a:rPr>
              <a:t>Is object manipulation required?</a:t>
            </a:r>
          </a:p>
          <a:p>
            <a:pPr lvl="1">
              <a:spcBef>
                <a:spcPct val="50000"/>
              </a:spcBef>
              <a:buFont typeface="+mj-lt"/>
              <a:buAutoNum type="arabicPeriod"/>
            </a:pPr>
            <a:r>
              <a:rPr lang="en-US" altLang="en-US" sz="1000" dirty="0">
                <a:latin typeface="Times New Roman" charset="0"/>
                <a:ea typeface="Times New Roman" charset="0"/>
                <a:cs typeface="Times New Roman" charset="0"/>
              </a:rPr>
              <a:t>Must the task be performed under differing conditions?</a:t>
            </a:r>
          </a:p>
          <a:p>
            <a:pPr lvl="1">
              <a:spcBef>
                <a:spcPct val="50000"/>
              </a:spcBef>
              <a:buFont typeface="+mj-lt"/>
              <a:buAutoNum type="arabicPeriod"/>
            </a:pPr>
            <a:r>
              <a:rPr lang="en-US" altLang="en-US" sz="1000" dirty="0">
                <a:latin typeface="Times New Roman" charset="0"/>
                <a:ea typeface="Times New Roman" charset="0"/>
                <a:cs typeface="Times New Roman" charset="0"/>
              </a:rPr>
              <a:t>How is the task organized?</a:t>
            </a:r>
            <a:r>
              <a:rPr lang="en-US" altLang="en-US" sz="1000" baseline="0" dirty="0">
                <a:latin typeface="Times New Roman" charset="0"/>
                <a:ea typeface="Times New Roman" charset="0"/>
                <a:cs typeface="Times New Roman" charset="0"/>
              </a:rPr>
              <a:t> </a:t>
            </a:r>
          </a:p>
          <a:p>
            <a:pPr marL="1143000" lvl="2" indent="-228600" eaLnBrk="1" hangingPunct="1">
              <a:spcBef>
                <a:spcPct val="50000"/>
              </a:spcBef>
              <a:buFont typeface="+mj-lt"/>
              <a:buAutoNum type="arabicPeriod"/>
            </a:pPr>
            <a:r>
              <a:rPr lang="en-US" altLang="en-US" sz="1000" baseline="0" dirty="0">
                <a:latin typeface="Times New Roman" charset="0"/>
                <a:ea typeface="Times New Roman" charset="0"/>
                <a:cs typeface="Times New Roman" charset="0"/>
              </a:rPr>
              <a:t>Is it a discrete task that requires a single execution of a task, like firing an arrow from a bow?</a:t>
            </a:r>
          </a:p>
          <a:p>
            <a:pPr marL="1143000" lvl="2" indent="-228600" eaLnBrk="1" hangingPunct="1">
              <a:spcBef>
                <a:spcPct val="50000"/>
              </a:spcBef>
              <a:buFont typeface="+mj-lt"/>
              <a:buAutoNum type="arabicPeriod"/>
            </a:pPr>
            <a:r>
              <a:rPr lang="en-US" altLang="en-US" sz="1000" baseline="0" dirty="0">
                <a:latin typeface="Times New Roman" charset="0"/>
                <a:ea typeface="Times New Roman" charset="0"/>
                <a:cs typeface="Times New Roman" charset="0"/>
              </a:rPr>
              <a:t>Is it a serial task that requires a series of movements to complete a task, like performing the Tango?</a:t>
            </a:r>
          </a:p>
          <a:p>
            <a:pPr marL="1143000" lvl="2" indent="-228600" eaLnBrk="1" hangingPunct="1">
              <a:spcBef>
                <a:spcPct val="50000"/>
              </a:spcBef>
              <a:buFont typeface="+mj-lt"/>
              <a:buAutoNum type="arabicPeriod"/>
            </a:pPr>
            <a:r>
              <a:rPr lang="en-US" altLang="en-US" sz="1000" baseline="0" dirty="0">
                <a:latin typeface="Times New Roman" charset="0"/>
                <a:ea typeface="Times New Roman" charset="0"/>
                <a:cs typeface="Times New Roman" charset="0"/>
              </a:rPr>
              <a:t>Is it a continuous task that requires repetitive and rhythmic movement, like walking and running?</a:t>
            </a:r>
            <a:endParaRPr lang="en-US" altLang="en-US" sz="1000" dirty="0">
              <a:latin typeface="Times New Roman" charset="0"/>
              <a:ea typeface="Times New Roman" charset="0"/>
              <a:cs typeface="Times New Roman" charset="0"/>
            </a:endParaRPr>
          </a:p>
          <a:p>
            <a:pPr lvl="1">
              <a:spcBef>
                <a:spcPct val="50000"/>
              </a:spcBef>
              <a:buFont typeface="+mj-lt"/>
              <a:buAutoNum type="arabicPeriod"/>
            </a:pPr>
            <a:endParaRPr lang="en-US" altLang="en-US" sz="1000" dirty="0">
              <a:latin typeface="Times New Roman" charset="0"/>
              <a:ea typeface="Times New Roman" charset="0"/>
              <a:cs typeface="Times New Roman" charset="0"/>
            </a:endParaRP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en-US" sz="1000" dirty="0">
                <a:latin typeface="Times New Roman" charset="0"/>
                <a:ea typeface="Times New Roman" charset="0"/>
                <a:cs typeface="Times New Roman" charset="0"/>
              </a:rPr>
              <a:t>All of these questions must be asked because </a:t>
            </a:r>
            <a:r>
              <a:rPr lang="en-US" altLang="en-US" sz="1000" u="sng" dirty="0">
                <a:latin typeface="Times New Roman" charset="0"/>
                <a:ea typeface="Times New Roman" charset="0"/>
                <a:cs typeface="Times New Roman" charset="0"/>
              </a:rPr>
              <a:t>they impact</a:t>
            </a:r>
            <a:r>
              <a:rPr lang="en-US" altLang="en-US" sz="1000" u="sng" baseline="0" dirty="0">
                <a:latin typeface="Times New Roman" charset="0"/>
                <a:ea typeface="Times New Roman" charset="0"/>
                <a:cs typeface="Times New Roman" charset="0"/>
              </a:rPr>
              <a:t> how your structure the practice for a specific task </a:t>
            </a:r>
            <a:r>
              <a:rPr lang="en-US" altLang="en-US" sz="1000" baseline="0" dirty="0">
                <a:latin typeface="Times New Roman" charset="0"/>
                <a:ea typeface="Times New Roman" charset="0"/>
                <a:cs typeface="Times New Roman" charset="0"/>
              </a:rPr>
              <a:t>with consideration of the person's specific abilities. .</a:t>
            </a:r>
            <a:endParaRPr lang="en-US" altLang="en-US" sz="1000" dirty="0">
              <a:latin typeface="Times New Roman" charset="0"/>
              <a:ea typeface="Times New Roman" charset="0"/>
              <a:cs typeface="Times New Roman" charset="0"/>
            </a:endParaRP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endParaRPr lang="en-US" altLang="en-US" sz="1000" dirty="0">
              <a:latin typeface="Times New Roman" charset="0"/>
              <a:ea typeface="Times New Roman" charset="0"/>
              <a:cs typeface="Times New Roman" charset="0"/>
            </a:endParaRPr>
          </a:p>
          <a:p>
            <a:endParaRPr lang="en-US" sz="1000" dirty="0">
              <a:latin typeface="Times New Roman" charset="0"/>
              <a:ea typeface="Times New Roman" charset="0"/>
              <a:cs typeface="Times New Roman" charset="0"/>
            </a:endParaRPr>
          </a:p>
        </p:txBody>
      </p:sp>
      <p:sp>
        <p:nvSpPr>
          <p:cNvPr id="4" name="Slide Number Placeholder 3"/>
          <p:cNvSpPr>
            <a:spLocks noGrp="1"/>
          </p:cNvSpPr>
          <p:nvPr>
            <p:ph type="sldNum" sz="quarter" idx="10"/>
          </p:nvPr>
        </p:nvSpPr>
        <p:spPr/>
        <p:txBody>
          <a:bodyPr/>
          <a:lstStyle/>
          <a:p>
            <a:fld id="{80B5ADB0-1CD6-4F59-A571-7276803D1703}" type="slidenum">
              <a:rPr lang="en-US" smtClean="0"/>
              <a:t>60</a:t>
            </a:fld>
            <a:endParaRPr lang="en-US"/>
          </a:p>
        </p:txBody>
      </p:sp>
    </p:spTree>
    <p:extLst>
      <p:ext uri="{BB962C8B-B14F-4D97-AF65-F5344CB8AC3E}">
        <p14:creationId xmlns:p14="http://schemas.microsoft.com/office/powerpoint/2010/main" val="22892399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fld id="{E635A3AF-27E4-8043-9155-526231DACAE7}" type="slidenum">
              <a:rPr lang="en-US" altLang="en-US" sz="1200">
                <a:latin typeface="Arial" charset="0"/>
              </a:rPr>
              <a:pPr eaLnBrk="1" hangingPunct="1"/>
              <a:t>61</a:t>
            </a:fld>
            <a:endParaRPr lang="en-US" altLang="en-US" sz="1200">
              <a:latin typeface="Arial" charset="0"/>
            </a:endParaRPr>
          </a:p>
        </p:txBody>
      </p:sp>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marL="171450" marR="0" lvl="0"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en-US" dirty="0">
                <a:latin typeface="Arial" charset="0"/>
                <a:ea typeface="ＭＳ Ｐゴシック" charset="-128"/>
              </a:rPr>
              <a:t>For example, if we simply look at 3 categorizations of</a:t>
            </a:r>
            <a:r>
              <a:rPr lang="en-US" altLang="en-US" baseline="0" dirty="0">
                <a:latin typeface="Arial" charset="0"/>
                <a:ea typeface="ＭＳ Ｐゴシック" charset="-128"/>
              </a:rPr>
              <a:t> task organization, we can see that the structure of practice will be different. </a:t>
            </a:r>
          </a:p>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en-US" dirty="0">
                <a:latin typeface="Arial" charset="0"/>
                <a:ea typeface="ＭＳ Ｐゴシック" charset="-128"/>
              </a:rPr>
              <a:t>A </a:t>
            </a:r>
            <a:r>
              <a:rPr lang="en-US" altLang="en-US" b="1" dirty="0">
                <a:latin typeface="Arial" charset="0"/>
                <a:ea typeface="ＭＳ Ｐゴシック" charset="-128"/>
              </a:rPr>
              <a:t>DISCRETE</a:t>
            </a:r>
            <a:r>
              <a:rPr lang="en-US" altLang="en-US" dirty="0">
                <a:latin typeface="Arial" charset="0"/>
                <a:ea typeface="ＭＳ Ｐゴシック" charset="-128"/>
              </a:rPr>
              <a:t> task is one whose beginning and end points are clearly defined. Ex: golf swing, moving from sit to stand; throwing a horseshoe.  </a:t>
            </a:r>
          </a:p>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en-US" b="1" dirty="0">
                <a:latin typeface="Arial" charset="0"/>
                <a:ea typeface="ＭＳ Ｐゴシック" charset="-128"/>
              </a:rPr>
              <a:t>SERIAL</a:t>
            </a:r>
            <a:r>
              <a:rPr lang="en-US" altLang="en-US" dirty="0">
                <a:latin typeface="Arial" charset="0"/>
                <a:ea typeface="ＭＳ Ｐゴシック" charset="-128"/>
              </a:rPr>
              <a:t> tasks</a:t>
            </a:r>
            <a:r>
              <a:rPr lang="en-US" altLang="en-US" baseline="0" dirty="0">
                <a:latin typeface="Arial" charset="0"/>
                <a:ea typeface="ＭＳ Ｐゴシック" charset="-128"/>
              </a:rPr>
              <a:t> </a:t>
            </a:r>
            <a:r>
              <a:rPr lang="en-US" altLang="en-US" dirty="0">
                <a:latin typeface="Arial" charset="0"/>
                <a:ea typeface="ＭＳ Ｐゴシック" charset="-128"/>
              </a:rPr>
              <a:t>are composed of a number of discrete skills or movements that are linked together to achieve a goal. Ex: ballet, calf roping, figure skating routine. </a:t>
            </a:r>
          </a:p>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en-US" b="1" dirty="0">
                <a:latin typeface="Arial" charset="0"/>
                <a:ea typeface="ＭＳ Ｐゴシック" charset="-128"/>
              </a:rPr>
              <a:t>CONTINUOUS</a:t>
            </a:r>
            <a:r>
              <a:rPr lang="en-US" altLang="en-US" dirty="0">
                <a:latin typeface="Arial" charset="0"/>
                <a:ea typeface="ＭＳ Ｐゴシック" charset="-128"/>
              </a:rPr>
              <a:t> tasks</a:t>
            </a:r>
            <a:r>
              <a:rPr lang="en-US" altLang="en-US" baseline="0" dirty="0">
                <a:latin typeface="Arial" charset="0"/>
                <a:ea typeface="ＭＳ Ｐゴシック" charset="-128"/>
              </a:rPr>
              <a:t> </a:t>
            </a:r>
            <a:r>
              <a:rPr lang="en-US" altLang="en-US" dirty="0">
                <a:latin typeface="Arial" charset="0"/>
                <a:ea typeface="ＭＳ Ｐゴシック" charset="-128"/>
              </a:rPr>
              <a:t>are those whose beginning and ending points are either arbitrary or determined by some environmental factor (such as a finish line) rather than by the task itself. Typically continuous skills are repetitive and rhythmic  and include cycling, skating, rowing, running, locomotion.</a:t>
            </a:r>
          </a:p>
        </p:txBody>
      </p:sp>
      <p:sp>
        <p:nvSpPr>
          <p:cNvPr id="73732" name="Slide Number Placeholder 3"/>
          <p:cNvSpPr txBox="1">
            <a:spLocks noGrp="1"/>
          </p:cNvSpPr>
          <p:nvPr/>
        </p:nvSpPr>
        <p:spPr bwMode="auto">
          <a:xfrm>
            <a:off x="3884613" y="8829675"/>
            <a:ext cx="297180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r" eaLnBrk="1" hangingPunct="1"/>
            <a:fld id="{075F1C22-4B4C-6449-A3A1-2914A50A5C7E}" type="slidenum">
              <a:rPr lang="en-US" altLang="en-US" sz="1200">
                <a:latin typeface="Arial" charset="0"/>
              </a:rPr>
              <a:pPr algn="r" eaLnBrk="1" hangingPunct="1"/>
              <a:t>61</a:t>
            </a:fld>
            <a:endParaRPr lang="en-US" altLang="en-US" sz="1200">
              <a:latin typeface="Arial" charset="0"/>
            </a:endParaRPr>
          </a:p>
        </p:txBody>
      </p:sp>
    </p:spTree>
    <p:extLst>
      <p:ext uri="{BB962C8B-B14F-4D97-AF65-F5344CB8AC3E}">
        <p14:creationId xmlns:p14="http://schemas.microsoft.com/office/powerpoint/2010/main" val="19851970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The third interacting element for movement is the Environment,</a:t>
            </a:r>
            <a:r>
              <a:rPr lang="en-US" baseline="0" dirty="0"/>
              <a:t> which can have a significant impact on the Participation component of the ICF model. </a:t>
            </a:r>
            <a:endParaRPr lang="en-US" dirty="0"/>
          </a:p>
        </p:txBody>
      </p:sp>
      <p:sp>
        <p:nvSpPr>
          <p:cNvPr id="4" name="Slide Number Placeholder 3"/>
          <p:cNvSpPr>
            <a:spLocks noGrp="1"/>
          </p:cNvSpPr>
          <p:nvPr>
            <p:ph type="sldNum" sz="quarter" idx="10"/>
          </p:nvPr>
        </p:nvSpPr>
        <p:spPr/>
        <p:txBody>
          <a:bodyPr/>
          <a:lstStyle/>
          <a:p>
            <a:fld id="{80B5ADB0-1CD6-4F59-A571-7276803D1703}" type="slidenum">
              <a:rPr lang="en-US" smtClean="0"/>
              <a:t>62</a:t>
            </a:fld>
            <a:endParaRPr lang="en-US"/>
          </a:p>
        </p:txBody>
      </p:sp>
    </p:spTree>
    <p:extLst>
      <p:ext uri="{BB962C8B-B14F-4D97-AF65-F5344CB8AC3E}">
        <p14:creationId xmlns:p14="http://schemas.microsoft.com/office/powerpoint/2010/main" val="9481180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 typeface="Arial" charset="0"/>
              <a:buChar char="•"/>
            </a:pPr>
            <a:r>
              <a:rPr lang="en-US" altLang="en-US" sz="1000" dirty="0">
                <a:latin typeface="Arial" charset="0"/>
                <a:ea typeface="ＭＳ Ｐゴシック" charset="-128"/>
              </a:rPr>
              <a:t>Skills are not performed in a vacuum. </a:t>
            </a:r>
          </a:p>
          <a:p>
            <a:pPr marL="171450" indent="-171450" eaLnBrk="1" hangingPunct="1">
              <a:buFont typeface="Arial" charset="0"/>
              <a:buChar char="•"/>
            </a:pPr>
            <a:r>
              <a:rPr lang="en-US" altLang="en-US" sz="1000" dirty="0">
                <a:latin typeface="Arial" charset="0"/>
                <a:ea typeface="ＭＳ Ｐゴシック" charset="-128"/>
              </a:rPr>
              <a:t>To successfully perform a task, the learner must conform his/her movement to the height, size, speed, and trajectory of an object as well as to the location of an intended target. </a:t>
            </a:r>
          </a:p>
          <a:p>
            <a:pPr marL="171450" indent="-171450" eaLnBrk="1" hangingPunct="1">
              <a:buFont typeface="Arial" charset="0"/>
              <a:buChar char="•"/>
            </a:pPr>
            <a:r>
              <a:rPr lang="en-US" altLang="en-US" sz="1000" b="1" dirty="0">
                <a:latin typeface="Arial" charset="0"/>
                <a:ea typeface="ＭＳ Ｐゴシック" charset="-128"/>
              </a:rPr>
              <a:t>A number of environmental factors therefore exist for any given task</a:t>
            </a:r>
            <a:r>
              <a:rPr lang="en-US" altLang="en-US" sz="1000" b="1" baseline="0" dirty="0">
                <a:latin typeface="Arial" charset="0"/>
                <a:ea typeface="ＭＳ Ｐゴシック" charset="-128"/>
              </a:rPr>
              <a:t> </a:t>
            </a:r>
            <a:r>
              <a:rPr lang="en-US" altLang="en-US" sz="1000" b="1" dirty="0">
                <a:latin typeface="Arial" charset="0"/>
                <a:ea typeface="ＭＳ Ｐゴシック" charset="-128"/>
              </a:rPr>
              <a:t>that specify the movement characteristics needed for a successful performance</a:t>
            </a:r>
            <a:r>
              <a:rPr lang="en-US" altLang="en-US" sz="1000" dirty="0">
                <a:latin typeface="Arial" charset="0"/>
                <a:ea typeface="ＭＳ Ｐゴシック" charset="-128"/>
              </a:rPr>
              <a:t>. </a:t>
            </a:r>
          </a:p>
          <a:p>
            <a:pPr marL="171450" indent="-171450" eaLnBrk="1" hangingPunct="1">
              <a:buFont typeface="Arial" charset="0"/>
              <a:buChar char="•"/>
            </a:pPr>
            <a:r>
              <a:rPr lang="en-US" altLang="en-US" sz="1000" dirty="0">
                <a:latin typeface="Arial" charset="0"/>
                <a:ea typeface="ＭＳ Ｐゴシック" charset="-128"/>
              </a:rPr>
              <a:t>These factors are known as regulatory conditions and their determination can be used to differentiate skills. </a:t>
            </a:r>
          </a:p>
          <a:p>
            <a:pPr marL="628650" lvl="1" indent="-171450" eaLnBrk="1" hangingPunct="1">
              <a:buFont typeface="Arial" charset="0"/>
              <a:buChar char="•"/>
            </a:pPr>
            <a:r>
              <a:rPr lang="en-US" altLang="en-US" sz="1000" b="1" dirty="0">
                <a:latin typeface="Arial" charset="0"/>
                <a:ea typeface="ＭＳ Ｐゴシック" charset="-128"/>
              </a:rPr>
              <a:t>The first question of interest when examining the environmental context is the regulatory</a:t>
            </a:r>
            <a:r>
              <a:rPr lang="en-US" altLang="en-US" sz="1000" b="1" baseline="0" dirty="0">
                <a:latin typeface="Arial" charset="0"/>
                <a:ea typeface="ＭＳ Ｐゴシック" charset="-128"/>
              </a:rPr>
              <a:t> and </a:t>
            </a:r>
            <a:r>
              <a:rPr lang="en-US" altLang="en-US" sz="1000" b="1" dirty="0">
                <a:latin typeface="Arial" charset="0"/>
                <a:ea typeface="ＭＳ Ｐゴシック" charset="-128"/>
              </a:rPr>
              <a:t>non-regulatory features.</a:t>
            </a:r>
            <a:r>
              <a:rPr lang="en-US" altLang="en-US" sz="1000" b="1" baseline="0" dirty="0">
                <a:latin typeface="Arial" charset="0"/>
                <a:ea typeface="ＭＳ Ｐゴシック" charset="-128"/>
              </a:rPr>
              <a:t> </a:t>
            </a:r>
            <a:endParaRPr lang="en-US" altLang="en-US" sz="1000" b="1" dirty="0">
              <a:latin typeface="Arial" charset="0"/>
              <a:ea typeface="ＭＳ Ｐゴシック" charset="-128"/>
            </a:endParaRPr>
          </a:p>
          <a:p>
            <a:pPr lvl="2"/>
            <a:r>
              <a:rPr lang="en-US" sz="1000" dirty="0"/>
              <a:t>Regulatory: </a:t>
            </a:r>
          </a:p>
          <a:p>
            <a:pPr lvl="3"/>
            <a:r>
              <a:rPr lang="en-US" sz="1000" dirty="0"/>
              <a:t>Objects/People: Size, shape, weight, location</a:t>
            </a:r>
          </a:p>
          <a:p>
            <a:pPr lvl="3"/>
            <a:r>
              <a:rPr lang="en-US" sz="1000" dirty="0"/>
              <a:t>Support surface</a:t>
            </a:r>
          </a:p>
          <a:p>
            <a:pPr lvl="3"/>
            <a:r>
              <a:rPr lang="en-US" sz="1000" dirty="0"/>
              <a:t>Movement: Predictable/Unpredictable</a:t>
            </a:r>
          </a:p>
          <a:p>
            <a:pPr lvl="2"/>
            <a:r>
              <a:rPr lang="en-US" sz="1000" dirty="0"/>
              <a:t>Non-Regulatory</a:t>
            </a:r>
          </a:p>
          <a:p>
            <a:pPr lvl="3"/>
            <a:r>
              <a:rPr lang="en-US" sz="1000" dirty="0"/>
              <a:t>Background noises and Distractions</a:t>
            </a:r>
            <a:endParaRPr lang="en-US" altLang="en-US" sz="1000" dirty="0">
              <a:latin typeface="Arial" charset="0"/>
              <a:ea typeface="ＭＳ Ｐゴシック" charset="-128"/>
            </a:endParaRPr>
          </a:p>
          <a:p>
            <a:pPr marL="628650" lvl="1" indent="-171450" eaLnBrk="1" hangingPunct="1">
              <a:buFont typeface="Arial" charset="0"/>
              <a:buChar char="•"/>
            </a:pPr>
            <a:r>
              <a:rPr lang="en-US" altLang="en-US" sz="1000" dirty="0">
                <a:latin typeface="Arial" charset="0"/>
                <a:ea typeface="ＭＳ Ｐゴシック" charset="-128"/>
              </a:rPr>
              <a:t>So, based upon these</a:t>
            </a:r>
            <a:r>
              <a:rPr lang="en-US" altLang="en-US" sz="1000" baseline="0" dirty="0">
                <a:latin typeface="Arial" charset="0"/>
                <a:ea typeface="ＭＳ Ｐゴシック" charset="-128"/>
              </a:rPr>
              <a:t> environmental</a:t>
            </a:r>
            <a:r>
              <a:rPr lang="en-US" altLang="en-US" sz="1000" dirty="0">
                <a:latin typeface="Arial" charset="0"/>
                <a:ea typeface="ＭＳ Ｐゴシック" charset="-128"/>
              </a:rPr>
              <a:t> </a:t>
            </a:r>
            <a:r>
              <a:rPr lang="en-US" altLang="en-US" sz="1000" baseline="0" dirty="0">
                <a:latin typeface="Arial" charset="0"/>
                <a:ea typeface="ＭＳ Ｐゴシック" charset="-128"/>
              </a:rPr>
              <a:t> features, </a:t>
            </a:r>
            <a:r>
              <a:rPr lang="en-US" altLang="en-US" sz="1000" dirty="0">
                <a:latin typeface="Arial" charset="0"/>
                <a:ea typeface="ＭＳ Ｐゴシック" charset="-128"/>
              </a:rPr>
              <a:t>When a learner must conform to constraints imposed by the environment, more complex processes must occur to assess the environment and select an appropriate response. </a:t>
            </a:r>
          </a:p>
          <a:p>
            <a:pPr marL="1085850" lvl="2" indent="-171450" eaLnBrk="1" hangingPunct="1">
              <a:buFont typeface="Arial" charset="0"/>
              <a:buChar char="•"/>
            </a:pPr>
            <a:endParaRPr lang="en-US" altLang="en-US" sz="1000" dirty="0">
              <a:latin typeface="Arial" charset="0"/>
              <a:ea typeface="ＭＳ Ｐゴシック" charset="-128"/>
            </a:endParaRPr>
          </a:p>
          <a:p>
            <a:pPr marL="628650" lvl="1" indent="-171450" eaLnBrk="1" hangingPunct="1">
              <a:buFont typeface="Arial" charset="0"/>
              <a:buChar char="•"/>
            </a:pPr>
            <a:r>
              <a:rPr lang="en-US" altLang="en-US" sz="1000" b="1" dirty="0">
                <a:latin typeface="Arial" charset="0"/>
                <a:ea typeface="ＭＳ Ｐゴシック" charset="-128"/>
              </a:rPr>
              <a:t>The second question is whether there is inter-trial response variability– that is, whether the regulatory conditions remain fixed or change with successive performance attempts</a:t>
            </a:r>
            <a:r>
              <a:rPr lang="en-US" altLang="en-US" sz="1000" dirty="0">
                <a:latin typeface="Arial" charset="0"/>
                <a:ea typeface="ＭＳ Ｐゴシック" charset="-128"/>
              </a:rPr>
              <a:t>. </a:t>
            </a:r>
          </a:p>
          <a:p>
            <a:pPr lvl="3"/>
            <a:r>
              <a:rPr lang="en-US" sz="1000" dirty="0"/>
              <a:t>Fixed: Movement is stable and does not require much if any monitoring</a:t>
            </a:r>
          </a:p>
          <a:p>
            <a:pPr lvl="3"/>
            <a:r>
              <a:rPr lang="en-US" sz="1000" dirty="0"/>
              <a:t>Changes: Movement diversifies and requires ongoing monitoring</a:t>
            </a:r>
            <a:endParaRPr lang="en-US" altLang="en-US" sz="1000" dirty="0">
              <a:latin typeface="Arial" charset="0"/>
              <a:ea typeface="ＭＳ Ｐゴシック" charset="-128"/>
            </a:endParaRPr>
          </a:p>
          <a:p>
            <a:pPr eaLnBrk="1" hangingPunct="1"/>
            <a:endParaRPr lang="en-US" altLang="en-US" sz="1000" dirty="0">
              <a:latin typeface="Arial" charset="0"/>
              <a:ea typeface="ＭＳ Ｐゴシック" charset="-128"/>
            </a:endParaRPr>
          </a:p>
          <a:p>
            <a:endParaRPr lang="en-US" sz="1000" dirty="0"/>
          </a:p>
        </p:txBody>
      </p:sp>
      <p:sp>
        <p:nvSpPr>
          <p:cNvPr id="4" name="Slide Number Placeholder 3"/>
          <p:cNvSpPr>
            <a:spLocks noGrp="1"/>
          </p:cNvSpPr>
          <p:nvPr>
            <p:ph type="sldNum" sz="quarter" idx="10"/>
          </p:nvPr>
        </p:nvSpPr>
        <p:spPr/>
        <p:txBody>
          <a:bodyPr/>
          <a:lstStyle/>
          <a:p>
            <a:fld id="{80B5ADB0-1CD6-4F59-A571-7276803D1703}" type="slidenum">
              <a:rPr lang="en-US" smtClean="0"/>
              <a:t>63</a:t>
            </a:fld>
            <a:endParaRPr lang="en-US"/>
          </a:p>
        </p:txBody>
      </p:sp>
    </p:spTree>
    <p:extLst>
      <p:ext uri="{BB962C8B-B14F-4D97-AF65-F5344CB8AC3E}">
        <p14:creationId xmlns:p14="http://schemas.microsoft.com/office/powerpoint/2010/main" val="10306391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fld id="{50410B02-9E1F-8F49-B079-561E94BBDDF5}" type="slidenum">
              <a:rPr lang="en-US" altLang="en-US" sz="1200">
                <a:latin typeface="Arial" charset="0"/>
              </a:rPr>
              <a:pPr eaLnBrk="1" hangingPunct="1"/>
              <a:t>64</a:t>
            </a:fld>
            <a:endParaRPr lang="en-US" altLang="en-US" sz="1200">
              <a:latin typeface="Arial" charset="0"/>
            </a:endParaRPr>
          </a:p>
        </p:txBody>
      </p:sp>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a:xfrm>
            <a:off x="914400" y="4416425"/>
            <a:ext cx="502920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eaLnBrk="1" hangingPunct="1">
              <a:buFont typeface="Arial" charset="0"/>
              <a:buChar char="•"/>
            </a:pPr>
            <a:r>
              <a:rPr lang="en-US" altLang="en-US" sz="1200" dirty="0">
                <a:latin typeface="+mn-lt"/>
                <a:ea typeface="ＭＳ Ｐゴシック" charset="-128"/>
              </a:rPr>
              <a:t>Here is an example of environmental predictability. </a:t>
            </a:r>
          </a:p>
          <a:p>
            <a:pPr marL="171450" indent="-171450" eaLnBrk="1" hangingPunct="1">
              <a:buFont typeface="Arial" charset="0"/>
              <a:buChar char="•"/>
            </a:pPr>
            <a:endParaRPr lang="en-US" altLang="en-US" sz="1200" dirty="0">
              <a:latin typeface="+mn-lt"/>
              <a:ea typeface="ＭＳ Ｐゴシック" charset="-128"/>
            </a:endParaRPr>
          </a:p>
          <a:p>
            <a:pPr marL="171450" indent="-171450" eaLnBrk="1" hangingPunct="1">
              <a:buFont typeface="Arial" charset="0"/>
              <a:buChar char="•"/>
            </a:pPr>
            <a:r>
              <a:rPr lang="en-US" altLang="en-US" sz="1200" dirty="0">
                <a:latin typeface="+mn-lt"/>
                <a:ea typeface="ＭＳ Ｐゴシック" charset="-128"/>
              </a:rPr>
              <a:t>Closed environments are those where the context is stable and predictable . </a:t>
            </a:r>
          </a:p>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en-US" sz="1200" dirty="0">
                <a:latin typeface="+mn-lt"/>
                <a:ea typeface="ＭＳ Ｐゴシック" charset="-128"/>
              </a:rPr>
              <a:t>Stable and predictable. Allows learner to control the situation. Individuals can pre-plan without fear of environmental change. </a:t>
            </a:r>
          </a:p>
          <a:p>
            <a:pPr marL="171450" indent="-171450" eaLnBrk="1" hangingPunct="1">
              <a:buFont typeface="Arial" charset="0"/>
              <a:buChar char="•"/>
            </a:pPr>
            <a:endParaRPr lang="en-US" altLang="en-US" sz="1200" dirty="0">
              <a:latin typeface="+mn-lt"/>
              <a:ea typeface="ＭＳ Ｐゴシック" charset="-128"/>
            </a:endParaRPr>
          </a:p>
          <a:p>
            <a:pPr marL="171450" indent="-171450" eaLnBrk="1" hangingPunct="1">
              <a:buFont typeface="Arial" charset="0"/>
              <a:buChar char="•"/>
            </a:pPr>
            <a:r>
              <a:rPr lang="en-US" altLang="en-US" sz="1200" dirty="0">
                <a:latin typeface="+mn-lt"/>
                <a:ea typeface="ＭＳ Ｐゴシック" charset="-128"/>
              </a:rPr>
              <a:t>Open environments are those that are constantly changing</a:t>
            </a:r>
          </a:p>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en-US" sz="1200" dirty="0">
                <a:latin typeface="+mn-lt"/>
                <a:ea typeface="ＭＳ Ｐゴシック" charset="-128"/>
              </a:rPr>
              <a:t>Unpredictable, ever-changing environment. Requires individual to adjust to environment containing objects that have spatial and/or temporal qualities.</a:t>
            </a:r>
          </a:p>
          <a:p>
            <a:pPr marL="171450" indent="-171450" eaLnBrk="1" hangingPunct="1">
              <a:buFont typeface="Arial" charset="0"/>
              <a:buChar char="•"/>
            </a:pPr>
            <a:endParaRPr lang="en-US" altLang="en-US" dirty="0">
              <a:latin typeface="Arial" charset="0"/>
              <a:ea typeface="ＭＳ Ｐゴシック" charset="-128"/>
            </a:endParaRPr>
          </a:p>
          <a:p>
            <a:pPr marL="171450" indent="-171450" eaLnBrk="1" hangingPunct="1">
              <a:buFont typeface="Arial" charset="0"/>
              <a:buChar char="•"/>
            </a:pPr>
            <a:endParaRPr lang="en-US" altLang="en-US" dirty="0">
              <a:latin typeface="Arial" charset="0"/>
              <a:ea typeface="ＭＳ Ｐゴシック" charset="-128"/>
            </a:endParaRPr>
          </a:p>
        </p:txBody>
      </p:sp>
    </p:spTree>
    <p:extLst>
      <p:ext uri="{BB962C8B-B14F-4D97-AF65-F5344CB8AC3E}">
        <p14:creationId xmlns:p14="http://schemas.microsoft.com/office/powerpoint/2010/main" val="11107207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fld id="{6EB3396B-EEF3-204F-A852-36FD2499307D}" type="slidenum">
              <a:rPr lang="en-US" altLang="en-US" sz="1200">
                <a:latin typeface="Arial" charset="0"/>
              </a:rPr>
              <a:pPr eaLnBrk="1" hangingPunct="1"/>
              <a:t>65</a:t>
            </a:fld>
            <a:endParaRPr lang="en-US" altLang="en-US" sz="1200">
              <a:latin typeface="Arial" charset="0"/>
            </a:endParaRPr>
          </a:p>
        </p:txBody>
      </p:sp>
      <p:sp>
        <p:nvSpPr>
          <p:cNvPr id="98306" name="Rectangle 7"/>
          <p:cNvSpPr txBox="1">
            <a:spLocks noGrp="1" noChangeArrowheads="1"/>
          </p:cNvSpPr>
          <p:nvPr/>
        </p:nvSpPr>
        <p:spPr bwMode="auto">
          <a:xfrm>
            <a:off x="3884613" y="8829675"/>
            <a:ext cx="297180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r" eaLnBrk="1" hangingPunct="1"/>
            <a:fld id="{FF3115C0-8457-CD46-8808-722B9FA81520}" type="slidenum">
              <a:rPr lang="en-US" altLang="en-US" sz="1200">
                <a:latin typeface="Arial" charset="0"/>
              </a:rPr>
              <a:pPr algn="r" eaLnBrk="1" hangingPunct="1"/>
              <a:t>65</a:t>
            </a:fld>
            <a:endParaRPr lang="en-US" altLang="en-US" sz="1200">
              <a:latin typeface="Arial"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marL="171450" indent="-171450" eaLnBrk="1" hangingPunct="1">
              <a:lnSpc>
                <a:spcPct val="80000"/>
              </a:lnSpc>
              <a:buFont typeface="Arial" charset="0"/>
              <a:buChar char="•"/>
            </a:pPr>
            <a:r>
              <a:rPr lang="en-US" altLang="en-US" sz="1000" dirty="0">
                <a:latin typeface="Arial" charset="0"/>
                <a:ea typeface="ＭＳ Ｐゴシック" charset="-128"/>
              </a:rPr>
              <a:t>This is a taxonomy for movement progression developed by Gentile. </a:t>
            </a:r>
          </a:p>
          <a:p>
            <a:pPr marL="171450" indent="-171450" eaLnBrk="1" hangingPunct="1">
              <a:lnSpc>
                <a:spcPct val="80000"/>
              </a:lnSpc>
              <a:buFont typeface="Arial" charset="0"/>
              <a:buChar char="•"/>
            </a:pPr>
            <a:r>
              <a:rPr lang="en-US" altLang="en-US" sz="1000" dirty="0">
                <a:latin typeface="Arial" charset="0"/>
                <a:ea typeface="ＭＳ Ｐゴシック" charset="-128"/>
              </a:rPr>
              <a:t>Although there is no specific reference</a:t>
            </a:r>
            <a:r>
              <a:rPr lang="en-US" altLang="en-US" sz="1000" baseline="0" dirty="0">
                <a:latin typeface="Arial" charset="0"/>
                <a:ea typeface="ＭＳ Ｐゴシック" charset="-128"/>
              </a:rPr>
              <a:t> to body structure/function, they are implied within this model.</a:t>
            </a:r>
          </a:p>
          <a:p>
            <a:pPr marL="171450" indent="-171450" eaLnBrk="1" hangingPunct="1">
              <a:lnSpc>
                <a:spcPct val="80000"/>
              </a:lnSpc>
              <a:buFont typeface="Arial" charset="0"/>
              <a:buChar char="•"/>
            </a:pPr>
            <a:r>
              <a:rPr lang="en-US" altLang="en-US" sz="1000" baseline="0" dirty="0">
                <a:latin typeface="Arial" charset="0"/>
                <a:ea typeface="ＭＳ Ｐゴシック" charset="-128"/>
              </a:rPr>
              <a:t>More explicit are the Environment and the Task that we just discussed. </a:t>
            </a:r>
          </a:p>
          <a:p>
            <a:pPr marL="171450" indent="-171450" eaLnBrk="1" hangingPunct="1">
              <a:lnSpc>
                <a:spcPct val="80000"/>
              </a:lnSpc>
              <a:buFont typeface="Arial" charset="0"/>
              <a:buChar char="•"/>
            </a:pPr>
            <a:r>
              <a:rPr lang="en-US" altLang="en-US" sz="1000" baseline="0" dirty="0">
                <a:latin typeface="Arial" charset="0"/>
                <a:ea typeface="ＭＳ Ｐゴシック" charset="-128"/>
              </a:rPr>
              <a:t>Note that the y-side is the Environment and the x-side is the Task.</a:t>
            </a:r>
          </a:p>
          <a:p>
            <a:pPr marL="171450" indent="-171450" eaLnBrk="1" hangingPunct="1">
              <a:lnSpc>
                <a:spcPct val="80000"/>
              </a:lnSpc>
              <a:buFont typeface="Arial" charset="0"/>
              <a:buChar char="•"/>
            </a:pPr>
            <a:r>
              <a:rPr lang="en-US" altLang="en-US" sz="1000" baseline="0" dirty="0">
                <a:latin typeface="Arial" charset="0"/>
                <a:ea typeface="ＭＳ Ｐゴシック" charset="-128"/>
              </a:rPr>
              <a:t>I like this system because it provide us all, especially novice clinicians and students a structured mechanism to progress practice of a task. </a:t>
            </a:r>
          </a:p>
          <a:p>
            <a:pPr marL="171450" indent="-171450" eaLnBrk="1" hangingPunct="1">
              <a:lnSpc>
                <a:spcPct val="80000"/>
              </a:lnSpc>
              <a:buFont typeface="Arial" charset="0"/>
              <a:buChar char="•"/>
            </a:pPr>
            <a:r>
              <a:rPr lang="en-US" altLang="en-US" sz="1000" baseline="0" dirty="0">
                <a:latin typeface="Arial" charset="0"/>
                <a:ea typeface="ＭＳ Ｐゴシック" charset="-128"/>
              </a:rPr>
              <a:t>Notice how the eventual task of dribbling a ball progresses from the upper left hand corner where the individual is asked to simply maintain standing balance in a closed, quiet environment without any inter-trial variability or object manipulation and progresses through different stages horizontally, vertically, and/or diagonally to get to the ultimate goal of dribbling the ball against a defender in an open environment with distraction, inter-trial variability, body transport, and manipulation requirements for the task. </a:t>
            </a:r>
          </a:p>
          <a:p>
            <a:pPr marL="171450" indent="-171450" eaLnBrk="1" hangingPunct="1">
              <a:lnSpc>
                <a:spcPct val="80000"/>
              </a:lnSpc>
              <a:buFont typeface="Arial" charset="0"/>
              <a:buChar char="•"/>
            </a:pPr>
            <a:endParaRPr lang="en-US" altLang="en-US" sz="1000" baseline="0" dirty="0">
              <a:latin typeface="Arial" charset="0"/>
              <a:ea typeface="ＭＳ Ｐゴシック" charset="-128"/>
            </a:endParaRPr>
          </a:p>
          <a:p>
            <a:pPr marL="171450" indent="-171450" eaLnBrk="1" hangingPunct="1">
              <a:lnSpc>
                <a:spcPct val="80000"/>
              </a:lnSpc>
              <a:buFont typeface="Arial" charset="0"/>
              <a:buChar char="•"/>
            </a:pPr>
            <a:r>
              <a:rPr lang="en-US" altLang="en-US" sz="1000" baseline="0" dirty="0">
                <a:latin typeface="Arial" charset="0"/>
                <a:ea typeface="ＭＳ Ｐゴシック" charset="-128"/>
              </a:rPr>
              <a:t>This process is intuitive for many experienced clinicians and is applied daily in practice, so hang onto this concept. </a:t>
            </a:r>
            <a:endParaRPr lang="en-US" altLang="en-US" sz="1000" dirty="0">
              <a:latin typeface="Arial" charset="0"/>
              <a:ea typeface="ＭＳ Ｐゴシック" charset="-128"/>
            </a:endParaRPr>
          </a:p>
        </p:txBody>
      </p:sp>
    </p:spTree>
    <p:extLst>
      <p:ext uri="{BB962C8B-B14F-4D97-AF65-F5344CB8AC3E}">
        <p14:creationId xmlns:p14="http://schemas.microsoft.com/office/powerpoint/2010/main" val="22220541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xmlns="" id="{7C9DC82C-9954-8446-85C6-74183B3D2A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fld id="{5EECE3A5-BFAC-3C4E-8B97-8C2D0802AED0}" type="slidenum">
              <a:rPr lang="en-US" altLang="en-US" smtClean="0"/>
              <a:pPr/>
              <a:t>66</a:t>
            </a:fld>
            <a:endParaRPr lang="en-US" altLang="en-US"/>
          </a:p>
        </p:txBody>
      </p:sp>
      <p:sp>
        <p:nvSpPr>
          <p:cNvPr id="38914" name="Rectangle 2">
            <a:extLst>
              <a:ext uri="{FF2B5EF4-FFF2-40B4-BE49-F238E27FC236}">
                <a16:creationId xmlns:a16="http://schemas.microsoft.com/office/drawing/2014/main" xmlns="" id="{106962E5-5D02-0643-9F4B-4A1C7450FEB8}"/>
              </a:ext>
            </a:extLst>
          </p:cNvPr>
          <p:cNvSpPr>
            <a:spLocks noGrp="1" noRot="1" noChangeAspect="1" noChangeArrowheads="1" noTextEdit="1"/>
          </p:cNvSpPr>
          <p:nvPr>
            <p:ph type="sldImg"/>
          </p:nvPr>
        </p:nvSpPr>
        <p:spPr>
          <a:solidFill>
            <a:srgbClr val="FFFFFF"/>
          </a:solidFill>
          <a:ln/>
        </p:spPr>
      </p:sp>
      <p:sp>
        <p:nvSpPr>
          <p:cNvPr id="38915" name="Rectangle 3">
            <a:extLst>
              <a:ext uri="{FF2B5EF4-FFF2-40B4-BE49-F238E27FC236}">
                <a16:creationId xmlns:a16="http://schemas.microsoft.com/office/drawing/2014/main" xmlns="" id="{70EBAF30-9325-0345-825E-5DBC877CB0C6}"/>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8439113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fld id="{86FE8FCB-ED9F-CD47-95CB-77315F16485C}" type="slidenum">
              <a:rPr lang="en-US" altLang="en-US" sz="1200">
                <a:latin typeface="Arial" charset="0"/>
              </a:rPr>
              <a:pPr eaLnBrk="1" hangingPunct="1"/>
              <a:t>67</a:t>
            </a:fld>
            <a:endParaRPr lang="en-US" altLang="en-US" sz="1200">
              <a:latin typeface="Arial" charset="0"/>
            </a:endParaRPr>
          </a:p>
        </p:txBody>
      </p:sp>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a:xfrm>
            <a:off x="914400" y="4416425"/>
            <a:ext cx="502920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eaLnBrk="1" hangingPunct="1">
              <a:buFont typeface="Arial" charset="0"/>
              <a:buChar char="•"/>
            </a:pPr>
            <a:endParaRPr lang="en-US" altLang="en-US" dirty="0">
              <a:latin typeface="Arial" charset="0"/>
              <a:ea typeface="ＭＳ Ｐゴシック" charset="-128"/>
            </a:endParaRPr>
          </a:p>
          <a:p>
            <a:pPr marL="171450" indent="-171450" eaLnBrk="1" hangingPunct="1">
              <a:buFont typeface="Arial" charset="0"/>
              <a:buChar char="•"/>
            </a:pPr>
            <a:r>
              <a:rPr lang="en-US" altLang="en-US" dirty="0">
                <a:latin typeface="Arial" charset="0"/>
                <a:ea typeface="ＭＳ Ｐゴシック" charset="-128"/>
              </a:rPr>
              <a:t>The closed/open distinction is important for PTs because instructional goals differ significant for each one. </a:t>
            </a:r>
          </a:p>
          <a:p>
            <a:pPr marL="628650" lvl="1" indent="-171450" eaLnBrk="1" hangingPunct="1">
              <a:buFont typeface="Arial" charset="0"/>
              <a:buChar char="•"/>
            </a:pPr>
            <a:r>
              <a:rPr lang="en-US" altLang="en-US" b="1" dirty="0">
                <a:latin typeface="Arial" charset="0"/>
                <a:ea typeface="ＭＳ Ｐゴシック" charset="-128"/>
              </a:rPr>
              <a:t>For closed skills, consistency is the objective and technique refinement is emphasized</a:t>
            </a:r>
            <a:r>
              <a:rPr lang="en-US" altLang="en-US" dirty="0">
                <a:latin typeface="Arial" charset="0"/>
                <a:ea typeface="ＭＳ Ｐゴシック" charset="-128"/>
              </a:rPr>
              <a:t>. For closed skills performed in a variety of contexts, exposure to those contexts is important. Ex: Bowling- person must learn how to adjust depending on pin placement for any given trial…. But over all, situation is closed. </a:t>
            </a:r>
          </a:p>
          <a:p>
            <a:pPr marL="628650" lvl="1" indent="-171450" eaLnBrk="1" hangingPunct="1">
              <a:buFont typeface="Arial" charset="0"/>
              <a:buChar char="•"/>
            </a:pPr>
            <a:r>
              <a:rPr lang="en-US" altLang="en-US" dirty="0">
                <a:latin typeface="Arial" charset="0"/>
                <a:ea typeface="ＭＳ Ｐゴシック" charset="-128"/>
              </a:rPr>
              <a:t>Open skills, </a:t>
            </a:r>
            <a:r>
              <a:rPr lang="en-US" altLang="en-US" b="1" dirty="0">
                <a:latin typeface="Arial" charset="0"/>
                <a:ea typeface="ＭＳ Ｐゴシック" charset="-128"/>
              </a:rPr>
              <a:t>are performed in complex, unpredictable environments</a:t>
            </a:r>
            <a:r>
              <a:rPr lang="en-US" altLang="en-US" dirty="0">
                <a:latin typeface="Arial" charset="0"/>
                <a:ea typeface="ＭＳ Ｐゴシック" charset="-128"/>
              </a:rPr>
              <a:t>. Successful performance of skills becomes more dependent on learner</a:t>
            </a:r>
            <a:r>
              <a:rPr lang="ja-JP" altLang="en-US" dirty="0">
                <a:latin typeface="Arial" charset="0"/>
                <a:ea typeface="ＭＳ Ｐゴシック" charset="-128"/>
              </a:rPr>
              <a:t>’</a:t>
            </a:r>
            <a:r>
              <a:rPr lang="en-US" altLang="ja-JP" dirty="0">
                <a:latin typeface="Arial" charset="0"/>
                <a:ea typeface="ＭＳ Ｐゴシック" charset="-128"/>
              </a:rPr>
              <a:t>s capability to select the appropriate response in a given situation  than on mastering technique. Practice emphasizes development of capability to respond to ever-changing demands imposed by environment.</a:t>
            </a:r>
          </a:p>
          <a:p>
            <a:pPr eaLnBrk="1" hangingPunct="1"/>
            <a:endParaRPr lang="en-US" altLang="en-US" dirty="0">
              <a:latin typeface="Arial" charset="0"/>
              <a:ea typeface="ＭＳ Ｐゴシック" charset="-128"/>
            </a:endParaRPr>
          </a:p>
          <a:p>
            <a:pPr eaLnBrk="1" hangingPunct="1">
              <a:buFont typeface="Wingdings" charset="2"/>
              <a:buNone/>
            </a:pPr>
            <a:endParaRPr lang="en-US" altLang="en-US" dirty="0">
              <a:latin typeface="Arial" charset="0"/>
              <a:ea typeface="ＭＳ Ｐゴシック" charset="-128"/>
            </a:endParaRP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altLang="en-US" dirty="0">
                <a:latin typeface="Arial" charset="0"/>
                <a:ea typeface="ＭＳ Ｐゴシック" charset="-128"/>
              </a:rPr>
              <a:t>So, in general, Closed environments may be useful for early learning but Open environments are necessarily for learning to apply the learned skill in different environments</a:t>
            </a:r>
          </a:p>
          <a:p>
            <a:pPr eaLnBrk="1" hangingPunct="1"/>
            <a:endParaRPr lang="en-US" altLang="en-US" dirty="0">
              <a:latin typeface="Arial" charset="0"/>
              <a:ea typeface="ＭＳ Ｐゴシック" charset="-128"/>
            </a:endParaRPr>
          </a:p>
        </p:txBody>
      </p:sp>
    </p:spTree>
    <p:extLst>
      <p:ext uri="{BB962C8B-B14F-4D97-AF65-F5344CB8AC3E}">
        <p14:creationId xmlns:p14="http://schemas.microsoft.com/office/powerpoint/2010/main" val="37873250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B5ADB0-1CD6-4F59-A571-7276803D1703}" type="slidenum">
              <a:rPr lang="en-US" smtClean="0"/>
              <a:t>68</a:t>
            </a:fld>
            <a:endParaRPr lang="en-US"/>
          </a:p>
        </p:txBody>
      </p:sp>
    </p:spTree>
    <p:extLst>
      <p:ext uri="{BB962C8B-B14F-4D97-AF65-F5344CB8AC3E}">
        <p14:creationId xmlns:p14="http://schemas.microsoft.com/office/powerpoint/2010/main" val="1866561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A64CDB-2725-45A1-AB0A-6FB8E81302CD}" type="datetimeFigureOut">
              <a:rPr lang="en-US" smtClean="0"/>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D1E86-F476-44D7-A785-5FAF9C7A8A47}" type="slidenum">
              <a:rPr lang="en-US" smtClean="0"/>
              <a:t>‹#›</a:t>
            </a:fld>
            <a:endParaRPr lang="en-US"/>
          </a:p>
        </p:txBody>
      </p:sp>
    </p:spTree>
    <p:extLst>
      <p:ext uri="{BB962C8B-B14F-4D97-AF65-F5344CB8AC3E}">
        <p14:creationId xmlns:p14="http://schemas.microsoft.com/office/powerpoint/2010/main" val="3375303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A64CDB-2725-45A1-AB0A-6FB8E81302CD}" type="datetimeFigureOut">
              <a:rPr lang="en-US" smtClean="0"/>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D1E86-F476-44D7-A785-5FAF9C7A8A47}" type="slidenum">
              <a:rPr lang="en-US" smtClean="0"/>
              <a:t>‹#›</a:t>
            </a:fld>
            <a:endParaRPr lang="en-US"/>
          </a:p>
        </p:txBody>
      </p:sp>
    </p:spTree>
    <p:extLst>
      <p:ext uri="{BB962C8B-B14F-4D97-AF65-F5344CB8AC3E}">
        <p14:creationId xmlns:p14="http://schemas.microsoft.com/office/powerpoint/2010/main" val="4114859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A64CDB-2725-45A1-AB0A-6FB8E81302CD}" type="datetimeFigureOut">
              <a:rPr lang="en-US" smtClean="0"/>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D1E86-F476-44D7-A785-5FAF9C7A8A47}" type="slidenum">
              <a:rPr lang="en-US" smtClean="0"/>
              <a:t>‹#›</a:t>
            </a:fld>
            <a:endParaRPr lang="en-US"/>
          </a:p>
        </p:txBody>
      </p:sp>
    </p:spTree>
    <p:extLst>
      <p:ext uri="{BB962C8B-B14F-4D97-AF65-F5344CB8AC3E}">
        <p14:creationId xmlns:p14="http://schemas.microsoft.com/office/powerpoint/2010/main" val="3086755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2A64CDB-2725-45A1-AB0A-6FB8E81302CD}" type="datetimeFigureOut">
              <a:rPr lang="en-US" smtClean="0"/>
              <a:t>4/15/2021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5D1E86-F476-44D7-A785-5FAF9C7A8A47}" type="slidenum">
              <a:rPr lang="en-US" smtClean="0"/>
              <a:t>‹#›</a:t>
            </a:fld>
            <a:endParaRPr lang="en-US"/>
          </a:p>
        </p:txBody>
      </p:sp>
    </p:spTree>
    <p:extLst>
      <p:ext uri="{BB962C8B-B14F-4D97-AF65-F5344CB8AC3E}">
        <p14:creationId xmlns:p14="http://schemas.microsoft.com/office/powerpoint/2010/main" val="2774341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2A64CDB-2725-45A1-AB0A-6FB8E81302CD}" type="datetimeFigureOut">
              <a:rPr lang="en-US" smtClean="0"/>
              <a:t>4/15/2021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5D1E86-F476-44D7-A785-5FAF9C7A8A47}" type="slidenum">
              <a:rPr lang="en-US" smtClean="0"/>
              <a:t>‹#›</a:t>
            </a:fld>
            <a:endParaRPr lang="en-US"/>
          </a:p>
        </p:txBody>
      </p:sp>
    </p:spTree>
    <p:extLst>
      <p:ext uri="{BB962C8B-B14F-4D97-AF65-F5344CB8AC3E}">
        <p14:creationId xmlns:p14="http://schemas.microsoft.com/office/powerpoint/2010/main" val="1930498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2A64CDB-2725-45A1-AB0A-6FB8E81302CD}" type="datetimeFigureOut">
              <a:rPr lang="en-US" smtClean="0"/>
              <a:t>4/15/2021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5D1E86-F476-44D7-A785-5FAF9C7A8A47}" type="slidenum">
              <a:rPr lang="en-US" smtClean="0"/>
              <a:t>‹#›</a:t>
            </a:fld>
            <a:endParaRPr lang="en-US"/>
          </a:p>
        </p:txBody>
      </p:sp>
    </p:spTree>
    <p:extLst>
      <p:ext uri="{BB962C8B-B14F-4D97-AF65-F5344CB8AC3E}">
        <p14:creationId xmlns:p14="http://schemas.microsoft.com/office/powerpoint/2010/main" val="779556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A64CDB-2725-45A1-AB0A-6FB8E81302CD}" type="datetimeFigureOut">
              <a:rPr lang="en-US" smtClean="0"/>
              <a:t>4/15/2021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5D1E86-F476-44D7-A785-5FAF9C7A8A47}" type="slidenum">
              <a:rPr lang="en-US" smtClean="0"/>
              <a:t>‹#›</a:t>
            </a:fld>
            <a:endParaRPr lang="en-US"/>
          </a:p>
        </p:txBody>
      </p:sp>
    </p:spTree>
    <p:extLst>
      <p:ext uri="{BB962C8B-B14F-4D97-AF65-F5344CB8AC3E}">
        <p14:creationId xmlns:p14="http://schemas.microsoft.com/office/powerpoint/2010/main" val="2331340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A64CDB-2725-45A1-AB0A-6FB8E81302CD}" type="datetimeFigureOut">
              <a:rPr lang="en-US" smtClean="0"/>
              <a:t>4/15/2021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5D1E86-F476-44D7-A785-5FAF9C7A8A47}" type="slidenum">
              <a:rPr lang="en-US" smtClean="0"/>
              <a:t>‹#›</a:t>
            </a:fld>
            <a:endParaRPr lang="en-US"/>
          </a:p>
        </p:txBody>
      </p:sp>
    </p:spTree>
    <p:extLst>
      <p:ext uri="{BB962C8B-B14F-4D97-AF65-F5344CB8AC3E}">
        <p14:creationId xmlns:p14="http://schemas.microsoft.com/office/powerpoint/2010/main" val="1915553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A64CDB-2725-45A1-AB0A-6FB8E81302CD}" type="datetimeFigureOut">
              <a:rPr lang="en-US" smtClean="0"/>
              <a:t>4/15/2021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5D1E86-F476-44D7-A785-5FAF9C7A8A47}" type="slidenum">
              <a:rPr lang="en-US" smtClean="0"/>
              <a:t>‹#›</a:t>
            </a:fld>
            <a:endParaRPr lang="en-US"/>
          </a:p>
        </p:txBody>
      </p:sp>
    </p:spTree>
    <p:extLst>
      <p:ext uri="{BB962C8B-B14F-4D97-AF65-F5344CB8AC3E}">
        <p14:creationId xmlns:p14="http://schemas.microsoft.com/office/powerpoint/2010/main" val="3695052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A64CDB-2725-45A1-AB0A-6FB8E81302CD}" type="datetimeFigureOut">
              <a:rPr lang="en-US" smtClean="0"/>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D1E86-F476-44D7-A785-5FAF9C7A8A47}" type="slidenum">
              <a:rPr lang="en-US" smtClean="0"/>
              <a:t>‹#›</a:t>
            </a:fld>
            <a:endParaRPr lang="en-US"/>
          </a:p>
        </p:txBody>
      </p:sp>
    </p:spTree>
    <p:extLst>
      <p:ext uri="{BB962C8B-B14F-4D97-AF65-F5344CB8AC3E}">
        <p14:creationId xmlns:p14="http://schemas.microsoft.com/office/powerpoint/2010/main" val="313038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A64CDB-2725-45A1-AB0A-6FB8E81302CD}" type="datetimeFigureOut">
              <a:rPr lang="en-US" smtClean="0"/>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D1E86-F476-44D7-A785-5FAF9C7A8A47}" type="slidenum">
              <a:rPr lang="en-US" smtClean="0"/>
              <a:t>‹#›</a:t>
            </a:fld>
            <a:endParaRPr lang="en-US"/>
          </a:p>
        </p:txBody>
      </p:sp>
    </p:spTree>
    <p:extLst>
      <p:ext uri="{BB962C8B-B14F-4D97-AF65-F5344CB8AC3E}">
        <p14:creationId xmlns:p14="http://schemas.microsoft.com/office/powerpoint/2010/main" val="339299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A64CDB-2725-45A1-AB0A-6FB8E81302CD}" type="datetimeFigureOut">
              <a:rPr lang="en-US" smtClean="0"/>
              <a:t>4/15/2021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5D1E86-F476-44D7-A785-5FAF9C7A8A47}" type="slidenum">
              <a:rPr lang="en-US" smtClean="0"/>
              <a:t>‹#›</a:t>
            </a:fld>
            <a:endParaRPr lang="en-US"/>
          </a:p>
        </p:txBody>
      </p:sp>
    </p:spTree>
    <p:extLst>
      <p:ext uri="{BB962C8B-B14F-4D97-AF65-F5344CB8AC3E}">
        <p14:creationId xmlns:p14="http://schemas.microsoft.com/office/powerpoint/2010/main" val="23992682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19.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hyperlink" Target="http://crazy-frankenstein.com/free-wallpapers-files/sport-wallpapers/surfing-wallpapers/awesome-surfing-sport-wallpapers-1024x768.jpg" TargetMode="Externa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22.jpe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5.jpe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jpe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dirty="0" smtClean="0">
                <a:latin typeface="Times New Roman" panose="02020603050405020304" pitchFamily="18" charset="0"/>
                <a:cs typeface="Times New Roman" panose="02020603050405020304" pitchFamily="18" charset="0"/>
              </a:rPr>
              <a:t>NEUROSCIENCE</a:t>
            </a:r>
            <a:endParaRPr lang="en-US" sz="44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t>By E. </a:t>
            </a:r>
            <a:r>
              <a:rPr lang="en-US" dirty="0" err="1" smtClean="0"/>
              <a:t>Nyanumba</a:t>
            </a:r>
            <a:endParaRPr lang="en-US" dirty="0" smtClean="0"/>
          </a:p>
          <a:p>
            <a:r>
              <a:rPr lang="en-US" dirty="0" smtClean="0"/>
              <a:t>B.Sc.. PT, HND Neurorehabilitation, HND Medical Education</a:t>
            </a:r>
            <a:endParaRPr lang="en-US" dirty="0"/>
          </a:p>
        </p:txBody>
      </p:sp>
    </p:spTree>
    <p:extLst>
      <p:ext uri="{BB962C8B-B14F-4D97-AF65-F5344CB8AC3E}">
        <p14:creationId xmlns:p14="http://schemas.microsoft.com/office/powerpoint/2010/main" val="7326114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Lesson one</a:t>
            </a:r>
            <a:endParaRPr lang="en-US" dirty="0"/>
          </a:p>
        </p:txBody>
      </p:sp>
      <p:sp>
        <p:nvSpPr>
          <p:cNvPr id="3" name="Subtitle 2"/>
          <p:cNvSpPr>
            <a:spLocks noGrp="1"/>
          </p:cNvSpPr>
          <p:nvPr>
            <p:ph type="subTitle" idx="1"/>
          </p:nvPr>
        </p:nvSpPr>
        <p:spPr/>
        <p:txBody>
          <a:bodyPr/>
          <a:lstStyle/>
          <a:p>
            <a:r>
              <a:rPr lang="en-GB" dirty="0" smtClean="0"/>
              <a:t>2 hours</a:t>
            </a:r>
            <a:endParaRPr lang="en-US" dirty="0"/>
          </a:p>
        </p:txBody>
      </p:sp>
    </p:spTree>
    <p:extLst>
      <p:ext uri="{BB962C8B-B14F-4D97-AF65-F5344CB8AC3E}">
        <p14:creationId xmlns:p14="http://schemas.microsoft.com/office/powerpoint/2010/main" val="1194107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neuroscience</a:t>
            </a:r>
            <a:r>
              <a:rPr lang="en-US" dirty="0" smtClean="0"/>
              <a:t>. </a:t>
            </a:r>
            <a:endParaRPr lang="en-US" dirty="0"/>
          </a:p>
        </p:txBody>
      </p:sp>
      <p:sp>
        <p:nvSpPr>
          <p:cNvPr id="3" name="Content Placeholder 2"/>
          <p:cNvSpPr>
            <a:spLocks noGrp="1"/>
          </p:cNvSpPr>
          <p:nvPr>
            <p:ph idx="1"/>
          </p:nvPr>
        </p:nvSpPr>
        <p:spPr/>
        <p:txBody>
          <a:bodyPr>
            <a:normAutofit/>
          </a:bodyPr>
          <a:lstStyle/>
          <a:p>
            <a:r>
              <a:rPr lang="en-US" sz="4000" b="1" dirty="0">
                <a:latin typeface="Times New Roman" panose="02020603050405020304" pitchFamily="18" charset="0"/>
                <a:cs typeface="Times New Roman" panose="02020603050405020304" pitchFamily="18" charset="0"/>
              </a:rPr>
              <a:t>Neuroscience</a:t>
            </a:r>
            <a:r>
              <a:rPr lang="en-US" sz="4000" dirty="0">
                <a:latin typeface="Times New Roman" panose="02020603050405020304" pitchFamily="18" charset="0"/>
                <a:cs typeface="Times New Roman" panose="02020603050405020304" pitchFamily="18" charset="0"/>
              </a:rPr>
              <a:t> </a:t>
            </a:r>
            <a:r>
              <a:rPr lang="en-US" sz="4000" dirty="0" smtClean="0">
                <a:latin typeface="Times New Roman" panose="02020603050405020304" pitchFamily="18" charset="0"/>
                <a:cs typeface="Times New Roman" panose="02020603050405020304" pitchFamily="18" charset="0"/>
              </a:rPr>
              <a:t>is </a:t>
            </a:r>
            <a:r>
              <a:rPr lang="en-US" sz="4000" dirty="0">
                <a:latin typeface="Times New Roman" panose="02020603050405020304" pitchFamily="18" charset="0"/>
                <a:cs typeface="Times New Roman" panose="02020603050405020304" pitchFamily="18" charset="0"/>
              </a:rPr>
              <a:t>the scientific study of the nervous system</a:t>
            </a:r>
            <a:r>
              <a:rPr lang="en-US" sz="4000" dirty="0" smtClean="0">
                <a:solidFill>
                  <a:schemeClr val="tx1">
                    <a:lumMod val="95000"/>
                    <a:lumOff val="5000"/>
                  </a:schemeClr>
                </a:solidFill>
                <a:latin typeface="Times New Roman" panose="02020603050405020304" pitchFamily="18" charset="0"/>
                <a:cs typeface="Times New Roman" panose="02020603050405020304" pitchFamily="18" charset="0"/>
              </a:rPr>
              <a:t>.</a:t>
            </a:r>
            <a:r>
              <a:rPr lang="en-US" sz="4000" dirty="0" smtClean="0">
                <a:latin typeface="Times New Roman" panose="02020603050405020304" pitchFamily="18" charset="0"/>
                <a:cs typeface="Times New Roman" panose="02020603050405020304" pitchFamily="18" charset="0"/>
              </a:rPr>
              <a:t> </a:t>
            </a:r>
          </a:p>
          <a:p>
            <a:r>
              <a:rPr lang="en-US" sz="4000" dirty="0" smtClean="0">
                <a:latin typeface="Times New Roman" panose="02020603050405020304" pitchFamily="18" charset="0"/>
                <a:cs typeface="Times New Roman" panose="02020603050405020304" pitchFamily="18" charset="0"/>
              </a:rPr>
              <a:t>It </a:t>
            </a:r>
            <a:r>
              <a:rPr lang="en-US" sz="4000" dirty="0">
                <a:latin typeface="Times New Roman" panose="02020603050405020304" pitchFamily="18" charset="0"/>
                <a:cs typeface="Times New Roman" panose="02020603050405020304" pitchFamily="18" charset="0"/>
              </a:rPr>
              <a:t>is a multidisciplinary branch of </a:t>
            </a:r>
            <a:r>
              <a:rPr lang="en-US" sz="4000" dirty="0" smtClean="0">
                <a:latin typeface="Times New Roman" panose="02020603050405020304" pitchFamily="18" charset="0"/>
                <a:cs typeface="Times New Roman" panose="02020603050405020304" pitchFamily="18" charset="0"/>
              </a:rPr>
              <a:t>biology </a:t>
            </a:r>
            <a:r>
              <a:rPr lang="en-US" sz="4000" dirty="0">
                <a:latin typeface="Times New Roman" panose="02020603050405020304" pitchFamily="18" charset="0"/>
                <a:cs typeface="Times New Roman" panose="02020603050405020304" pitchFamily="18" charset="0"/>
              </a:rPr>
              <a:t>that combines </a:t>
            </a:r>
            <a:r>
              <a:rPr lang="en-US" sz="4000" dirty="0" smtClean="0">
                <a:latin typeface="Times New Roman" panose="02020603050405020304" pitchFamily="18" charset="0"/>
                <a:cs typeface="Times New Roman" panose="02020603050405020304" pitchFamily="18" charset="0"/>
              </a:rPr>
              <a:t>physiology anatomy </a:t>
            </a:r>
            <a:r>
              <a:rPr lang="en-US" sz="4000" dirty="0" err="1" smtClean="0">
                <a:latin typeface="Times New Roman" panose="02020603050405020304" pitchFamily="18" charset="0"/>
                <a:cs typeface="Times New Roman" panose="02020603050405020304" pitchFamily="18" charset="0"/>
              </a:rPr>
              <a:t>etc</a:t>
            </a:r>
            <a:r>
              <a:rPr lang="en-US" sz="4000" dirty="0" smtClean="0">
                <a:latin typeface="Times New Roman" panose="02020603050405020304" pitchFamily="18" charset="0"/>
                <a:cs typeface="Times New Roman" panose="02020603050405020304" pitchFamily="18" charset="0"/>
              </a:rPr>
              <a:t> to </a:t>
            </a:r>
            <a:r>
              <a:rPr lang="en-US" sz="4000" dirty="0">
                <a:latin typeface="Times New Roman" panose="02020603050405020304" pitchFamily="18" charset="0"/>
                <a:cs typeface="Times New Roman" panose="02020603050405020304" pitchFamily="18" charset="0"/>
              </a:rPr>
              <a:t>understand the fundamental and emergent properties of neurons and neural </a:t>
            </a:r>
            <a:r>
              <a:rPr lang="en-US" sz="4000" dirty="0" smtClean="0">
                <a:latin typeface="Times New Roman" panose="02020603050405020304" pitchFamily="18" charset="0"/>
                <a:cs typeface="Times New Roman" panose="02020603050405020304" pitchFamily="18" charset="0"/>
              </a:rPr>
              <a:t>circuits.</a:t>
            </a:r>
            <a:endParaRPr lang="en-US" dirty="0"/>
          </a:p>
        </p:txBody>
      </p:sp>
    </p:spTree>
    <p:extLst>
      <p:ext uri="{BB962C8B-B14F-4D97-AF65-F5344CB8AC3E}">
        <p14:creationId xmlns:p14="http://schemas.microsoft.com/office/powerpoint/2010/main" val="30784967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64711" y="1477010"/>
            <a:ext cx="2883535" cy="1864360"/>
          </a:xfrm>
          <a:prstGeom prst="rect">
            <a:avLst/>
          </a:prstGeom>
        </p:spPr>
        <p:txBody>
          <a:bodyPr vert="horz" wrap="square" lIns="0" tIns="12065" rIns="0" bIns="0" rtlCol="0">
            <a:spAutoFit/>
          </a:bodyPr>
          <a:lstStyle/>
          <a:p>
            <a:pPr marL="524510" marR="5080" indent="-511809">
              <a:lnSpc>
                <a:spcPct val="120700"/>
              </a:lnSpc>
              <a:spcBef>
                <a:spcPts val="95"/>
              </a:spcBef>
            </a:pPr>
            <a:r>
              <a:rPr sz="5000" b="1" spc="-5" dirty="0">
                <a:latin typeface="Book Antiqua"/>
                <a:cs typeface="Book Antiqua"/>
              </a:rPr>
              <a:t>Ov</a:t>
            </a:r>
            <a:r>
              <a:rPr sz="5000" b="1" dirty="0">
                <a:latin typeface="Book Antiqua"/>
                <a:cs typeface="Book Antiqua"/>
              </a:rPr>
              <a:t>e</a:t>
            </a:r>
            <a:r>
              <a:rPr sz="5000" b="1" spc="-5" dirty="0">
                <a:latin typeface="Book Antiqua"/>
                <a:cs typeface="Book Antiqua"/>
              </a:rPr>
              <a:t>rvi</a:t>
            </a:r>
            <a:r>
              <a:rPr sz="5000" b="1" dirty="0">
                <a:latin typeface="Book Antiqua"/>
                <a:cs typeface="Book Antiqua"/>
              </a:rPr>
              <a:t>ew  </a:t>
            </a:r>
            <a:r>
              <a:rPr sz="5000" b="1" spc="-5" dirty="0">
                <a:latin typeface="Book Antiqua"/>
                <a:cs typeface="Book Antiqua"/>
              </a:rPr>
              <a:t>of</a:t>
            </a:r>
            <a:r>
              <a:rPr sz="5000" b="1" spc="-30" dirty="0">
                <a:latin typeface="Book Antiqua"/>
                <a:cs typeface="Book Antiqua"/>
              </a:rPr>
              <a:t> </a:t>
            </a:r>
            <a:r>
              <a:rPr sz="5000" b="1" dirty="0">
                <a:latin typeface="Book Antiqua"/>
                <a:cs typeface="Book Antiqua"/>
              </a:rPr>
              <a:t>the</a:t>
            </a:r>
            <a:endParaRPr sz="5000" dirty="0">
              <a:latin typeface="Book Antiqua"/>
              <a:cs typeface="Book Antiqua"/>
            </a:endParaRPr>
          </a:p>
        </p:txBody>
      </p:sp>
      <p:sp>
        <p:nvSpPr>
          <p:cNvPr id="3" name="object 3"/>
          <p:cNvSpPr txBox="1">
            <a:spLocks noGrp="1"/>
          </p:cNvSpPr>
          <p:nvPr>
            <p:ph type="subTitle" idx="4294967295"/>
          </p:nvPr>
        </p:nvSpPr>
        <p:spPr>
          <a:xfrm>
            <a:off x="3702684" y="3474721"/>
            <a:ext cx="4786630" cy="566822"/>
          </a:xfrm>
          <a:prstGeom prst="rect">
            <a:avLst/>
          </a:prstGeom>
        </p:spPr>
        <p:txBody>
          <a:bodyPr vert="horz" wrap="square" lIns="0" tIns="12700" rIns="0" bIns="0" rtlCol="0">
            <a:spAutoFit/>
          </a:bodyPr>
          <a:lstStyle/>
          <a:p>
            <a:pPr marL="28575">
              <a:lnSpc>
                <a:spcPct val="100000"/>
              </a:lnSpc>
              <a:spcBef>
                <a:spcPts val="100"/>
              </a:spcBef>
            </a:pPr>
            <a:r>
              <a:rPr sz="3600" spc="-5" dirty="0"/>
              <a:t>Nervous</a:t>
            </a:r>
            <a:r>
              <a:rPr sz="3600" spc="-65" dirty="0"/>
              <a:t> </a:t>
            </a:r>
            <a:r>
              <a:rPr sz="3600" spc="-5" dirty="0"/>
              <a:t>System</a:t>
            </a:r>
          </a:p>
        </p:txBody>
      </p:sp>
    </p:spTree>
    <p:extLst>
      <p:ext uri="{BB962C8B-B14F-4D97-AF65-F5344CB8AC3E}">
        <p14:creationId xmlns:p14="http://schemas.microsoft.com/office/powerpoint/2010/main" val="3356558383"/>
      </p:ext>
    </p:extLst>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1660" y="1436581"/>
            <a:ext cx="5920105" cy="2820670"/>
          </a:xfrm>
          <a:prstGeom prst="rect">
            <a:avLst/>
          </a:prstGeom>
        </p:spPr>
        <p:txBody>
          <a:bodyPr vert="horz" wrap="square" lIns="0" tIns="99695" rIns="0" bIns="0" rtlCol="0">
            <a:spAutoFit/>
          </a:bodyPr>
          <a:lstStyle/>
          <a:p>
            <a:pPr marL="381000" indent="-342900">
              <a:spcBef>
                <a:spcPts val="785"/>
              </a:spcBef>
              <a:buChar char="•"/>
              <a:tabLst>
                <a:tab pos="380365" algn="l"/>
                <a:tab pos="381000" algn="l"/>
              </a:tabLst>
            </a:pPr>
            <a:r>
              <a:rPr sz="2800" spc="-10" dirty="0">
                <a:solidFill>
                  <a:srgbClr val="252525"/>
                </a:solidFill>
                <a:latin typeface="Arial"/>
                <a:cs typeface="Arial"/>
              </a:rPr>
              <a:t>organization </a:t>
            </a:r>
            <a:r>
              <a:rPr sz="2800" spc="-5" dirty="0">
                <a:solidFill>
                  <a:srgbClr val="252525"/>
                </a:solidFill>
                <a:latin typeface="Arial"/>
                <a:cs typeface="Arial"/>
              </a:rPr>
              <a:t>of the </a:t>
            </a:r>
            <a:r>
              <a:rPr sz="2800" spc="-10" dirty="0">
                <a:solidFill>
                  <a:srgbClr val="252525"/>
                </a:solidFill>
                <a:latin typeface="Arial"/>
                <a:cs typeface="Arial"/>
              </a:rPr>
              <a:t>nervous</a:t>
            </a:r>
            <a:r>
              <a:rPr sz="2800" spc="-60" dirty="0">
                <a:solidFill>
                  <a:srgbClr val="252525"/>
                </a:solidFill>
                <a:latin typeface="Arial"/>
                <a:cs typeface="Arial"/>
              </a:rPr>
              <a:t> </a:t>
            </a:r>
            <a:r>
              <a:rPr sz="2800" dirty="0">
                <a:solidFill>
                  <a:srgbClr val="252525"/>
                </a:solidFill>
                <a:latin typeface="Arial"/>
                <a:cs typeface="Arial"/>
              </a:rPr>
              <a:t>system</a:t>
            </a:r>
            <a:endParaRPr sz="28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two </a:t>
            </a:r>
            <a:r>
              <a:rPr sz="2400" spc="-10" dirty="0">
                <a:solidFill>
                  <a:srgbClr val="252525"/>
                </a:solidFill>
                <a:latin typeface="Arial"/>
                <a:cs typeface="Arial"/>
              </a:rPr>
              <a:t>major</a:t>
            </a:r>
            <a:r>
              <a:rPr sz="2400" dirty="0">
                <a:solidFill>
                  <a:srgbClr val="252525"/>
                </a:solidFill>
                <a:latin typeface="Arial"/>
                <a:cs typeface="Arial"/>
              </a:rPr>
              <a:t> </a:t>
            </a:r>
            <a:r>
              <a:rPr sz="2400" spc="-5" dirty="0">
                <a:solidFill>
                  <a:srgbClr val="252525"/>
                </a:solidFill>
                <a:latin typeface="Arial"/>
                <a:cs typeface="Arial"/>
              </a:rPr>
              <a:t>divisions</a:t>
            </a:r>
            <a:endParaRPr sz="24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the efferent</a:t>
            </a:r>
            <a:r>
              <a:rPr sz="2400" dirty="0">
                <a:solidFill>
                  <a:srgbClr val="252525"/>
                </a:solidFill>
                <a:latin typeface="Arial"/>
                <a:cs typeface="Arial"/>
              </a:rPr>
              <a:t> </a:t>
            </a:r>
            <a:r>
              <a:rPr sz="2400" spc="-5" dirty="0">
                <a:solidFill>
                  <a:srgbClr val="252525"/>
                </a:solidFill>
                <a:latin typeface="Arial"/>
                <a:cs typeface="Arial"/>
              </a:rPr>
              <a:t>nerves</a:t>
            </a:r>
            <a:endParaRPr sz="2400">
              <a:latin typeface="Arial"/>
              <a:cs typeface="Arial"/>
            </a:endParaRPr>
          </a:p>
          <a:p>
            <a:pPr marL="381000" indent="-342900">
              <a:spcBef>
                <a:spcPts val="700"/>
              </a:spcBef>
              <a:buChar char="•"/>
              <a:tabLst>
                <a:tab pos="380365" algn="l"/>
                <a:tab pos="381000" algn="l"/>
              </a:tabLst>
            </a:pPr>
            <a:r>
              <a:rPr sz="2800" spc="-10" dirty="0">
                <a:solidFill>
                  <a:srgbClr val="252525"/>
                </a:solidFill>
                <a:latin typeface="Arial"/>
                <a:cs typeface="Arial"/>
              </a:rPr>
              <a:t>nervous</a:t>
            </a:r>
            <a:r>
              <a:rPr sz="2800" dirty="0">
                <a:solidFill>
                  <a:srgbClr val="252525"/>
                </a:solidFill>
                <a:latin typeface="Arial"/>
                <a:cs typeface="Arial"/>
              </a:rPr>
              <a:t> </a:t>
            </a:r>
            <a:r>
              <a:rPr sz="2800" spc="-10" dirty="0">
                <a:solidFill>
                  <a:srgbClr val="252525"/>
                </a:solidFill>
                <a:latin typeface="Arial"/>
                <a:cs typeface="Arial"/>
              </a:rPr>
              <a:t>tissues</a:t>
            </a:r>
            <a:endParaRPr sz="2800">
              <a:latin typeface="Arial"/>
              <a:cs typeface="Arial"/>
            </a:endParaRPr>
          </a:p>
          <a:p>
            <a:pPr marL="781050" lvl="1" indent="-285750">
              <a:spcBef>
                <a:spcPts val="600"/>
              </a:spcBef>
              <a:buChar char="–"/>
              <a:tabLst>
                <a:tab pos="781050" algn="l"/>
              </a:tabLst>
            </a:pPr>
            <a:r>
              <a:rPr sz="2400" spc="-10" dirty="0">
                <a:solidFill>
                  <a:srgbClr val="252525"/>
                </a:solidFill>
                <a:latin typeface="Arial"/>
                <a:cs typeface="Arial"/>
              </a:rPr>
              <a:t>neuroglia</a:t>
            </a:r>
            <a:endParaRPr sz="24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neurons</a:t>
            </a:r>
            <a:endParaRPr sz="2400">
              <a:latin typeface="Arial"/>
              <a:cs typeface="Arial"/>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1864360" y="88641"/>
            <a:ext cx="5150485" cy="1367041"/>
          </a:xfrm>
          <a:prstGeom prst="rect">
            <a:avLst/>
          </a:prstGeom>
        </p:spPr>
        <p:txBody>
          <a:bodyPr vert="horz" wrap="square" lIns="0" tIns="12700" rIns="0" bIns="0" rtlCol="0" anchor="ctr">
            <a:spAutoFit/>
          </a:bodyPr>
          <a:lstStyle/>
          <a:p>
            <a:pPr marL="12700">
              <a:lnSpc>
                <a:spcPct val="100000"/>
              </a:lnSpc>
              <a:spcBef>
                <a:spcPts val="100"/>
              </a:spcBef>
            </a:pPr>
            <a:r>
              <a:rPr spc="-5" dirty="0"/>
              <a:t>Nervous </a:t>
            </a:r>
            <a:r>
              <a:rPr dirty="0"/>
              <a:t>System</a:t>
            </a:r>
            <a:r>
              <a:rPr spc="-65" dirty="0"/>
              <a:t> </a:t>
            </a:r>
            <a:r>
              <a:rPr dirty="0"/>
              <a:t>Overview</a:t>
            </a:r>
          </a:p>
        </p:txBody>
      </p:sp>
    </p:spTree>
    <p:extLst>
      <p:ext uri="{BB962C8B-B14F-4D97-AF65-F5344CB8AC3E}">
        <p14:creationId xmlns:p14="http://schemas.microsoft.com/office/powerpoint/2010/main" val="390185427"/>
      </p:ext>
    </p:extLst>
  </p:cSld>
  <p:clrMapOvr>
    <a:masterClrMapping/>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1660" y="1436582"/>
            <a:ext cx="5306695" cy="2670603"/>
          </a:xfrm>
          <a:prstGeom prst="rect">
            <a:avLst/>
          </a:prstGeom>
        </p:spPr>
        <p:txBody>
          <a:bodyPr vert="horz" wrap="square" lIns="0" tIns="99695" rIns="0" bIns="0" rtlCol="0">
            <a:spAutoFit/>
          </a:bodyPr>
          <a:lstStyle/>
          <a:p>
            <a:pPr marL="381000" indent="-342900">
              <a:spcBef>
                <a:spcPts val="785"/>
              </a:spcBef>
              <a:buChar char="•"/>
              <a:tabLst>
                <a:tab pos="380365" algn="l"/>
                <a:tab pos="381000" algn="l"/>
              </a:tabLst>
            </a:pPr>
            <a:r>
              <a:rPr sz="2800" dirty="0">
                <a:solidFill>
                  <a:srgbClr val="252525"/>
                </a:solidFill>
                <a:latin typeface="Arial"/>
                <a:cs typeface="Arial"/>
              </a:rPr>
              <a:t>two </a:t>
            </a:r>
            <a:r>
              <a:rPr sz="2800" spc="-15" dirty="0">
                <a:solidFill>
                  <a:srgbClr val="252525"/>
                </a:solidFill>
                <a:latin typeface="Arial"/>
                <a:cs typeface="Arial"/>
              </a:rPr>
              <a:t>major</a:t>
            </a:r>
            <a:r>
              <a:rPr sz="2800" spc="-20" dirty="0">
                <a:solidFill>
                  <a:srgbClr val="252525"/>
                </a:solidFill>
                <a:latin typeface="Arial"/>
                <a:cs typeface="Arial"/>
              </a:rPr>
              <a:t> </a:t>
            </a:r>
            <a:r>
              <a:rPr sz="2800" spc="-15" dirty="0">
                <a:solidFill>
                  <a:srgbClr val="252525"/>
                </a:solidFill>
                <a:latin typeface="Arial"/>
                <a:cs typeface="Arial"/>
              </a:rPr>
              <a:t>divisions</a:t>
            </a:r>
            <a:endParaRPr sz="28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central nervous </a:t>
            </a:r>
            <a:r>
              <a:rPr sz="2400" spc="5" dirty="0">
                <a:solidFill>
                  <a:srgbClr val="252525"/>
                </a:solidFill>
                <a:latin typeface="Arial"/>
                <a:cs typeface="Arial"/>
              </a:rPr>
              <a:t>system</a:t>
            </a:r>
            <a:r>
              <a:rPr sz="2400" spc="-40" dirty="0">
                <a:solidFill>
                  <a:srgbClr val="252525"/>
                </a:solidFill>
                <a:latin typeface="Arial"/>
                <a:cs typeface="Arial"/>
              </a:rPr>
              <a:t> </a:t>
            </a:r>
            <a:r>
              <a:rPr sz="2400" spc="-15" dirty="0">
                <a:solidFill>
                  <a:srgbClr val="252525"/>
                </a:solidFill>
                <a:latin typeface="Arial"/>
                <a:cs typeface="Arial"/>
              </a:rPr>
              <a:t>(CNS)</a:t>
            </a:r>
            <a:endParaRPr sz="24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peripheral nervous </a:t>
            </a:r>
            <a:r>
              <a:rPr sz="2400" spc="5" dirty="0">
                <a:solidFill>
                  <a:srgbClr val="252525"/>
                </a:solidFill>
                <a:latin typeface="Arial"/>
                <a:cs typeface="Arial"/>
              </a:rPr>
              <a:t>system</a:t>
            </a:r>
            <a:r>
              <a:rPr sz="2400" spc="-40" dirty="0">
                <a:solidFill>
                  <a:srgbClr val="252525"/>
                </a:solidFill>
                <a:latin typeface="Arial"/>
                <a:cs typeface="Arial"/>
              </a:rPr>
              <a:t> </a:t>
            </a:r>
            <a:r>
              <a:rPr sz="2400" spc="-10" dirty="0">
                <a:solidFill>
                  <a:srgbClr val="252525"/>
                </a:solidFill>
                <a:latin typeface="Arial"/>
                <a:cs typeface="Arial"/>
              </a:rPr>
              <a:t>(PNS)</a:t>
            </a:r>
            <a:endParaRPr sz="2400">
              <a:latin typeface="Arial"/>
              <a:cs typeface="Arial"/>
            </a:endParaRPr>
          </a:p>
          <a:p>
            <a:pPr marL="1181100" lvl="2" indent="-228600">
              <a:spcBef>
                <a:spcPts val="550"/>
              </a:spcBef>
              <a:buChar char="•"/>
              <a:tabLst>
                <a:tab pos="1180465" algn="l"/>
                <a:tab pos="1181100" algn="l"/>
              </a:tabLst>
            </a:pPr>
            <a:r>
              <a:rPr sz="2200" dirty="0">
                <a:solidFill>
                  <a:srgbClr val="252525"/>
                </a:solidFill>
                <a:latin typeface="Arial"/>
                <a:cs typeface="Arial"/>
              </a:rPr>
              <a:t>sensory</a:t>
            </a:r>
            <a:r>
              <a:rPr sz="2200" spc="-10" dirty="0">
                <a:solidFill>
                  <a:srgbClr val="252525"/>
                </a:solidFill>
                <a:latin typeface="Arial"/>
                <a:cs typeface="Arial"/>
              </a:rPr>
              <a:t> </a:t>
            </a:r>
            <a:r>
              <a:rPr sz="2200" spc="-5" dirty="0">
                <a:solidFill>
                  <a:srgbClr val="252525"/>
                </a:solidFill>
                <a:latin typeface="Arial"/>
                <a:cs typeface="Arial"/>
              </a:rPr>
              <a:t>receptors</a:t>
            </a:r>
            <a:endParaRPr sz="2200">
              <a:latin typeface="Arial"/>
              <a:cs typeface="Arial"/>
            </a:endParaRPr>
          </a:p>
          <a:p>
            <a:pPr marL="1181100" lvl="2" indent="-228600">
              <a:spcBef>
                <a:spcPts val="550"/>
              </a:spcBef>
              <a:buChar char="•"/>
              <a:tabLst>
                <a:tab pos="1180465" algn="l"/>
                <a:tab pos="1181100" algn="l"/>
              </a:tabLst>
            </a:pPr>
            <a:r>
              <a:rPr sz="2200" spc="-5" dirty="0">
                <a:solidFill>
                  <a:srgbClr val="252525"/>
                </a:solidFill>
                <a:latin typeface="Arial"/>
                <a:cs typeface="Arial"/>
              </a:rPr>
              <a:t>afferent </a:t>
            </a:r>
            <a:r>
              <a:rPr sz="2200" dirty="0">
                <a:solidFill>
                  <a:srgbClr val="252525"/>
                </a:solidFill>
                <a:latin typeface="Arial"/>
                <a:cs typeface="Arial"/>
              </a:rPr>
              <a:t>(sensory)</a:t>
            </a:r>
            <a:r>
              <a:rPr sz="2200" spc="-10" dirty="0">
                <a:solidFill>
                  <a:srgbClr val="252525"/>
                </a:solidFill>
                <a:latin typeface="Arial"/>
                <a:cs typeface="Arial"/>
              </a:rPr>
              <a:t> </a:t>
            </a:r>
            <a:r>
              <a:rPr sz="2200" spc="-5" dirty="0">
                <a:solidFill>
                  <a:srgbClr val="252525"/>
                </a:solidFill>
                <a:latin typeface="Arial"/>
                <a:cs typeface="Arial"/>
              </a:rPr>
              <a:t>nerves</a:t>
            </a:r>
            <a:endParaRPr sz="2200">
              <a:latin typeface="Arial"/>
              <a:cs typeface="Arial"/>
            </a:endParaRPr>
          </a:p>
          <a:p>
            <a:pPr marL="1181100" lvl="2" indent="-228600">
              <a:spcBef>
                <a:spcPts val="550"/>
              </a:spcBef>
              <a:buChar char="•"/>
              <a:tabLst>
                <a:tab pos="1180465" algn="l"/>
                <a:tab pos="1181100" algn="l"/>
              </a:tabLst>
            </a:pPr>
            <a:r>
              <a:rPr sz="2200" spc="-10" dirty="0">
                <a:solidFill>
                  <a:srgbClr val="252525"/>
                </a:solidFill>
                <a:latin typeface="Arial"/>
                <a:cs typeface="Arial"/>
              </a:rPr>
              <a:t>efferent </a:t>
            </a:r>
            <a:r>
              <a:rPr sz="2200" spc="-5" dirty="0">
                <a:solidFill>
                  <a:srgbClr val="252525"/>
                </a:solidFill>
                <a:latin typeface="Arial"/>
                <a:cs typeface="Arial"/>
              </a:rPr>
              <a:t>(motor)</a:t>
            </a:r>
            <a:r>
              <a:rPr sz="2200" spc="-10" dirty="0">
                <a:solidFill>
                  <a:srgbClr val="252525"/>
                </a:solidFill>
                <a:latin typeface="Arial"/>
                <a:cs typeface="Arial"/>
              </a:rPr>
              <a:t> </a:t>
            </a:r>
            <a:r>
              <a:rPr sz="2200" spc="-5" dirty="0">
                <a:solidFill>
                  <a:srgbClr val="252525"/>
                </a:solidFill>
                <a:latin typeface="Arial"/>
                <a:cs typeface="Arial"/>
              </a:rPr>
              <a:t>nerves</a:t>
            </a:r>
            <a:endParaRPr sz="2200">
              <a:latin typeface="Arial"/>
              <a:cs typeface="Arial"/>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1864360" y="88641"/>
            <a:ext cx="7014209" cy="1367041"/>
          </a:xfrm>
          <a:prstGeom prst="rect">
            <a:avLst/>
          </a:prstGeom>
        </p:spPr>
        <p:txBody>
          <a:bodyPr vert="horz" wrap="square" lIns="0" tIns="12700" rIns="0" bIns="0" rtlCol="0" anchor="ctr">
            <a:spAutoFit/>
          </a:bodyPr>
          <a:lstStyle/>
          <a:p>
            <a:pPr marL="12700">
              <a:lnSpc>
                <a:spcPct val="100000"/>
              </a:lnSpc>
              <a:spcBef>
                <a:spcPts val="100"/>
              </a:spcBef>
            </a:pPr>
            <a:r>
              <a:rPr dirty="0"/>
              <a:t>Organization </a:t>
            </a:r>
            <a:r>
              <a:rPr spc="-5" dirty="0"/>
              <a:t>of </a:t>
            </a:r>
            <a:r>
              <a:rPr dirty="0"/>
              <a:t>the </a:t>
            </a:r>
            <a:r>
              <a:rPr spc="-5" dirty="0"/>
              <a:t>Nervous</a:t>
            </a:r>
            <a:r>
              <a:rPr spc="-45" dirty="0"/>
              <a:t> </a:t>
            </a:r>
            <a:r>
              <a:rPr spc="-5" dirty="0"/>
              <a:t>System</a:t>
            </a:r>
          </a:p>
        </p:txBody>
      </p:sp>
    </p:spTree>
    <p:extLst>
      <p:ext uri="{BB962C8B-B14F-4D97-AF65-F5344CB8AC3E}">
        <p14:creationId xmlns:p14="http://schemas.microsoft.com/office/powerpoint/2010/main" val="2724627994"/>
      </p:ext>
    </p:extLst>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64359" y="88641"/>
            <a:ext cx="4123690" cy="1367041"/>
          </a:xfrm>
          <a:prstGeom prst="rect">
            <a:avLst/>
          </a:prstGeom>
        </p:spPr>
        <p:txBody>
          <a:bodyPr vert="horz" wrap="square" lIns="0" tIns="12700" rIns="0" bIns="0" rtlCol="0" anchor="ctr">
            <a:spAutoFit/>
          </a:bodyPr>
          <a:lstStyle/>
          <a:p>
            <a:pPr marL="12700">
              <a:lnSpc>
                <a:spcPct val="100000"/>
              </a:lnSpc>
              <a:spcBef>
                <a:spcPts val="100"/>
              </a:spcBef>
            </a:pPr>
            <a:r>
              <a:rPr spc="-5" dirty="0"/>
              <a:t>Two </a:t>
            </a:r>
            <a:r>
              <a:rPr dirty="0"/>
              <a:t>Major</a:t>
            </a:r>
            <a:r>
              <a:rPr spc="-55" dirty="0"/>
              <a:t> </a:t>
            </a:r>
            <a:r>
              <a:rPr spc="-5" dirty="0"/>
              <a:t>Divisions</a:t>
            </a:r>
          </a:p>
        </p:txBody>
      </p:sp>
      <p:sp>
        <p:nvSpPr>
          <p:cNvPr id="3" name="object 3"/>
          <p:cNvSpPr/>
          <p:nvPr/>
        </p:nvSpPr>
        <p:spPr>
          <a:xfrm>
            <a:off x="1981200" y="1676400"/>
            <a:ext cx="8083550" cy="4572000"/>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Tree>
    <p:extLst>
      <p:ext uri="{BB962C8B-B14F-4D97-AF65-F5344CB8AC3E}">
        <p14:creationId xmlns:p14="http://schemas.microsoft.com/office/powerpoint/2010/main" val="167171163"/>
      </p:ext>
    </p:extLst>
  </p:cSld>
  <p:clrMapOvr>
    <a:masterClrMapping/>
  </p:clrMapOvr>
  <p:transition>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11170" y="1205229"/>
            <a:ext cx="5968365" cy="1854200"/>
          </a:xfrm>
          <a:prstGeom prst="rect">
            <a:avLst/>
          </a:prstGeom>
        </p:spPr>
        <p:txBody>
          <a:bodyPr vert="horz" wrap="square" lIns="0" tIns="12700" rIns="0" bIns="0" rtlCol="0">
            <a:spAutoFit/>
          </a:bodyPr>
          <a:lstStyle/>
          <a:p>
            <a:pPr marL="2149475" marR="5080" indent="-2137410">
              <a:lnSpc>
                <a:spcPct val="120000"/>
              </a:lnSpc>
              <a:spcBef>
                <a:spcPts val="100"/>
              </a:spcBef>
              <a:tabLst>
                <a:tab pos="3274060" algn="l"/>
              </a:tabLst>
            </a:pPr>
            <a:r>
              <a:rPr sz="5000" b="1" spc="-5" dirty="0">
                <a:latin typeface="Book Antiqua"/>
                <a:cs typeface="Book Antiqua"/>
              </a:rPr>
              <a:t>F</a:t>
            </a:r>
            <a:r>
              <a:rPr sz="5000" b="1" dirty="0">
                <a:latin typeface="Book Antiqua"/>
                <a:cs typeface="Book Antiqua"/>
              </a:rPr>
              <a:t>un</a:t>
            </a:r>
            <a:r>
              <a:rPr sz="5000" b="1" spc="-5" dirty="0">
                <a:latin typeface="Book Antiqua"/>
                <a:cs typeface="Book Antiqua"/>
              </a:rPr>
              <a:t>ctio</a:t>
            </a:r>
            <a:r>
              <a:rPr sz="5000" b="1" dirty="0">
                <a:latin typeface="Book Antiqua"/>
                <a:cs typeface="Book Antiqua"/>
              </a:rPr>
              <a:t>n</a:t>
            </a:r>
            <a:r>
              <a:rPr sz="5000" b="1" spc="5" dirty="0">
                <a:latin typeface="Book Antiqua"/>
                <a:cs typeface="Book Antiqua"/>
              </a:rPr>
              <a:t>a</a:t>
            </a:r>
            <a:r>
              <a:rPr sz="5000" b="1" dirty="0">
                <a:latin typeface="Book Antiqua"/>
                <a:cs typeface="Book Antiqua"/>
              </a:rPr>
              <a:t>l	</a:t>
            </a:r>
            <a:r>
              <a:rPr sz="5000" b="1" spc="-5" dirty="0">
                <a:latin typeface="Book Antiqua"/>
                <a:cs typeface="Book Antiqua"/>
              </a:rPr>
              <a:t>An</a:t>
            </a:r>
            <a:r>
              <a:rPr sz="5000" b="1" dirty="0">
                <a:latin typeface="Book Antiqua"/>
                <a:cs typeface="Book Antiqua"/>
              </a:rPr>
              <a:t>at</a:t>
            </a:r>
            <a:r>
              <a:rPr sz="5000" b="1" spc="5" dirty="0">
                <a:latin typeface="Book Antiqua"/>
                <a:cs typeface="Book Antiqua"/>
              </a:rPr>
              <a:t>o</a:t>
            </a:r>
            <a:r>
              <a:rPr sz="5000" b="1" spc="-5" dirty="0">
                <a:latin typeface="Book Antiqua"/>
                <a:cs typeface="Book Antiqua"/>
              </a:rPr>
              <a:t>my  of</a:t>
            </a:r>
            <a:r>
              <a:rPr sz="5000" b="1" spc="-15" dirty="0">
                <a:latin typeface="Book Antiqua"/>
                <a:cs typeface="Book Antiqua"/>
              </a:rPr>
              <a:t> </a:t>
            </a:r>
            <a:r>
              <a:rPr sz="5000" b="1" dirty="0">
                <a:latin typeface="Book Antiqua"/>
                <a:cs typeface="Book Antiqua"/>
              </a:rPr>
              <a:t>the</a:t>
            </a:r>
            <a:endParaRPr sz="5000">
              <a:latin typeface="Book Antiqua"/>
              <a:cs typeface="Book Antiqua"/>
            </a:endParaRPr>
          </a:p>
        </p:txBody>
      </p:sp>
      <p:sp>
        <p:nvSpPr>
          <p:cNvPr id="3" name="object 3"/>
          <p:cNvSpPr txBox="1"/>
          <p:nvPr/>
        </p:nvSpPr>
        <p:spPr>
          <a:xfrm>
            <a:off x="2534919" y="3186429"/>
            <a:ext cx="7080250" cy="787400"/>
          </a:xfrm>
          <a:prstGeom prst="rect">
            <a:avLst/>
          </a:prstGeom>
        </p:spPr>
        <p:txBody>
          <a:bodyPr vert="horz" wrap="square" lIns="0" tIns="12700" rIns="0" bIns="0" rtlCol="0">
            <a:spAutoFit/>
          </a:bodyPr>
          <a:lstStyle/>
          <a:p>
            <a:pPr marL="12700">
              <a:spcBef>
                <a:spcPts val="100"/>
              </a:spcBef>
            </a:pPr>
            <a:r>
              <a:rPr sz="5000" b="1" spc="-5" dirty="0">
                <a:latin typeface="Book Antiqua"/>
                <a:cs typeface="Book Antiqua"/>
              </a:rPr>
              <a:t>Central Nervous</a:t>
            </a:r>
            <a:r>
              <a:rPr sz="5000" b="1" spc="-50" dirty="0">
                <a:latin typeface="Book Antiqua"/>
                <a:cs typeface="Book Antiqua"/>
              </a:rPr>
              <a:t> </a:t>
            </a:r>
            <a:r>
              <a:rPr sz="5000" b="1" spc="-5" dirty="0">
                <a:latin typeface="Book Antiqua"/>
                <a:cs typeface="Book Antiqua"/>
              </a:rPr>
              <a:t>System</a:t>
            </a:r>
            <a:endParaRPr sz="5000">
              <a:latin typeface="Book Antiqua"/>
              <a:cs typeface="Book Antiqua"/>
            </a:endParaRPr>
          </a:p>
        </p:txBody>
      </p:sp>
    </p:spTree>
    <p:extLst>
      <p:ext uri="{BB962C8B-B14F-4D97-AF65-F5344CB8AC3E}">
        <p14:creationId xmlns:p14="http://schemas.microsoft.com/office/powerpoint/2010/main" val="4013482510"/>
      </p:ext>
    </p:extLst>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05170" y="6680867"/>
            <a:ext cx="4693920" cy="128270"/>
          </a:xfrm>
          <a:prstGeom prst="rect">
            <a:avLst/>
          </a:prstGeom>
        </p:spPr>
        <p:txBody>
          <a:bodyPr vert="horz" wrap="square" lIns="0" tIns="0" rIns="0" bIns="0" rtlCol="0">
            <a:spAutoFit/>
          </a:bodyPr>
          <a:lstStyle/>
          <a:p>
            <a:pPr>
              <a:lnSpc>
                <a:spcPts val="994"/>
              </a:lnSpc>
              <a:tabLst>
                <a:tab pos="2019935" algn="l"/>
              </a:tabLst>
            </a:pPr>
            <a:r>
              <a:rPr sz="900" dirty="0">
                <a:latin typeface="Arial"/>
                <a:cs typeface="Arial"/>
              </a:rPr>
              <a:t>© Goodheart-Willcox</a:t>
            </a:r>
            <a:r>
              <a:rPr sz="900" spc="-15" dirty="0">
                <a:latin typeface="Arial"/>
                <a:cs typeface="Arial"/>
              </a:rPr>
              <a:t> </a:t>
            </a:r>
            <a:r>
              <a:rPr sz="900" spc="-5" dirty="0">
                <a:latin typeface="Arial"/>
                <a:cs typeface="Arial"/>
              </a:rPr>
              <a:t>Co.,</a:t>
            </a:r>
            <a:r>
              <a:rPr sz="900" spc="15" dirty="0">
                <a:latin typeface="Arial"/>
                <a:cs typeface="Arial"/>
              </a:rPr>
              <a:t> </a:t>
            </a:r>
            <a:r>
              <a:rPr sz="900" spc="-5" dirty="0">
                <a:latin typeface="Arial"/>
                <a:cs typeface="Arial"/>
              </a:rPr>
              <a:t>Inc.	Permission granted to reproduce for educational</a:t>
            </a:r>
            <a:r>
              <a:rPr sz="900" spc="85" dirty="0">
                <a:latin typeface="Arial"/>
                <a:cs typeface="Arial"/>
              </a:rPr>
              <a:t> </a:t>
            </a:r>
            <a:r>
              <a:rPr sz="900" dirty="0">
                <a:latin typeface="Arial"/>
                <a:cs typeface="Arial"/>
              </a:rPr>
              <a:t>use</a:t>
            </a:r>
            <a:endParaRPr sz="900">
              <a:latin typeface="Arial"/>
              <a:cs typeface="Arial"/>
            </a:endParaRPr>
          </a:p>
        </p:txBody>
      </p:sp>
      <p:sp>
        <p:nvSpPr>
          <p:cNvPr id="3" name="object 3"/>
          <p:cNvSpPr txBox="1"/>
          <p:nvPr/>
        </p:nvSpPr>
        <p:spPr>
          <a:xfrm>
            <a:off x="1907540" y="1399540"/>
            <a:ext cx="3258820" cy="2678430"/>
          </a:xfrm>
          <a:prstGeom prst="rect">
            <a:avLst/>
          </a:prstGeom>
        </p:spPr>
        <p:txBody>
          <a:bodyPr vert="horz" wrap="square" lIns="0" tIns="12700" rIns="0" bIns="0" rtlCol="0">
            <a:spAutoFit/>
          </a:bodyPr>
          <a:lstStyle/>
          <a:p>
            <a:pPr marL="355600" indent="-342900">
              <a:spcBef>
                <a:spcPts val="100"/>
              </a:spcBef>
              <a:buChar char="•"/>
              <a:tabLst>
                <a:tab pos="354965" algn="l"/>
                <a:tab pos="355600" algn="l"/>
              </a:tabLst>
            </a:pPr>
            <a:r>
              <a:rPr sz="2800" spc="-15" dirty="0">
                <a:solidFill>
                  <a:srgbClr val="252525"/>
                </a:solidFill>
                <a:latin typeface="Arial"/>
                <a:cs typeface="Arial"/>
              </a:rPr>
              <a:t>cerebrum</a:t>
            </a:r>
            <a:endParaRPr sz="2800">
              <a:latin typeface="Arial"/>
              <a:cs typeface="Arial"/>
            </a:endParaRPr>
          </a:p>
          <a:p>
            <a:pPr marL="355600" indent="-342900">
              <a:spcBef>
                <a:spcPts val="140"/>
              </a:spcBef>
              <a:buChar char="•"/>
              <a:tabLst>
                <a:tab pos="354965" algn="l"/>
                <a:tab pos="355600" algn="l"/>
              </a:tabLst>
            </a:pPr>
            <a:r>
              <a:rPr sz="2800" spc="-15" dirty="0">
                <a:solidFill>
                  <a:srgbClr val="252525"/>
                </a:solidFill>
                <a:latin typeface="Arial"/>
                <a:cs typeface="Arial"/>
              </a:rPr>
              <a:t>diencephalon</a:t>
            </a:r>
            <a:endParaRPr sz="2800">
              <a:latin typeface="Arial"/>
              <a:cs typeface="Arial"/>
            </a:endParaRPr>
          </a:p>
          <a:p>
            <a:pPr marL="355600" indent="-342900">
              <a:spcBef>
                <a:spcPts val="150"/>
              </a:spcBef>
              <a:buChar char="•"/>
              <a:tabLst>
                <a:tab pos="354965" algn="l"/>
                <a:tab pos="355600" algn="l"/>
              </a:tabLst>
            </a:pPr>
            <a:r>
              <a:rPr sz="2800" spc="-5" dirty="0">
                <a:solidFill>
                  <a:srgbClr val="252525"/>
                </a:solidFill>
                <a:latin typeface="Arial"/>
                <a:cs typeface="Arial"/>
              </a:rPr>
              <a:t>brain</a:t>
            </a:r>
            <a:r>
              <a:rPr sz="2800" spc="-30" dirty="0">
                <a:solidFill>
                  <a:srgbClr val="252525"/>
                </a:solidFill>
                <a:latin typeface="Arial"/>
                <a:cs typeface="Arial"/>
              </a:rPr>
              <a:t> </a:t>
            </a:r>
            <a:r>
              <a:rPr sz="2800" dirty="0">
                <a:solidFill>
                  <a:srgbClr val="252525"/>
                </a:solidFill>
                <a:latin typeface="Arial"/>
                <a:cs typeface="Arial"/>
              </a:rPr>
              <a:t>stem</a:t>
            </a:r>
            <a:endParaRPr sz="2800">
              <a:latin typeface="Arial"/>
              <a:cs typeface="Arial"/>
            </a:endParaRPr>
          </a:p>
          <a:p>
            <a:pPr marL="355600" indent="-342900">
              <a:spcBef>
                <a:spcPts val="150"/>
              </a:spcBef>
              <a:buChar char="•"/>
              <a:tabLst>
                <a:tab pos="354965" algn="l"/>
                <a:tab pos="355600" algn="l"/>
              </a:tabLst>
            </a:pPr>
            <a:r>
              <a:rPr sz="2800" spc="-20" dirty="0">
                <a:solidFill>
                  <a:srgbClr val="252525"/>
                </a:solidFill>
                <a:latin typeface="Arial"/>
                <a:cs typeface="Arial"/>
              </a:rPr>
              <a:t>cerebellum</a:t>
            </a:r>
            <a:endParaRPr sz="2800">
              <a:latin typeface="Arial"/>
              <a:cs typeface="Arial"/>
            </a:endParaRPr>
          </a:p>
          <a:p>
            <a:pPr marL="355600" indent="-342900">
              <a:spcBef>
                <a:spcPts val="140"/>
              </a:spcBef>
              <a:buChar char="•"/>
              <a:tabLst>
                <a:tab pos="354965" algn="l"/>
                <a:tab pos="355600" algn="l"/>
              </a:tabLst>
            </a:pPr>
            <a:r>
              <a:rPr sz="2800" spc="-20" dirty="0">
                <a:solidFill>
                  <a:srgbClr val="252525"/>
                </a:solidFill>
                <a:latin typeface="Arial"/>
                <a:cs typeface="Arial"/>
              </a:rPr>
              <a:t>meninges</a:t>
            </a:r>
            <a:endParaRPr sz="2800">
              <a:latin typeface="Arial"/>
              <a:cs typeface="Arial"/>
            </a:endParaRPr>
          </a:p>
          <a:p>
            <a:pPr marL="355600" indent="-342900">
              <a:spcBef>
                <a:spcPts val="150"/>
              </a:spcBef>
              <a:buChar char="•"/>
              <a:tabLst>
                <a:tab pos="354965" algn="l"/>
                <a:tab pos="355600" algn="l"/>
              </a:tabLst>
            </a:pPr>
            <a:r>
              <a:rPr sz="2800" spc="-10" dirty="0">
                <a:solidFill>
                  <a:srgbClr val="252525"/>
                </a:solidFill>
                <a:latin typeface="Arial"/>
                <a:cs typeface="Arial"/>
              </a:rPr>
              <a:t>blood-brain</a:t>
            </a:r>
            <a:r>
              <a:rPr sz="2800" spc="-70" dirty="0">
                <a:solidFill>
                  <a:srgbClr val="252525"/>
                </a:solidFill>
                <a:latin typeface="Arial"/>
                <a:cs typeface="Arial"/>
              </a:rPr>
              <a:t> </a:t>
            </a:r>
            <a:r>
              <a:rPr sz="2800" spc="-10" dirty="0">
                <a:solidFill>
                  <a:srgbClr val="252525"/>
                </a:solidFill>
                <a:latin typeface="Arial"/>
                <a:cs typeface="Arial"/>
              </a:rPr>
              <a:t>barrier</a:t>
            </a:r>
            <a:endParaRPr sz="2800">
              <a:latin typeface="Arial"/>
              <a:cs typeface="Arial"/>
            </a:endParaRPr>
          </a:p>
        </p:txBody>
      </p:sp>
      <p:sp>
        <p:nvSpPr>
          <p:cNvPr id="4" name="object 4"/>
          <p:cNvSpPr txBox="1">
            <a:spLocks noGrp="1"/>
          </p:cNvSpPr>
          <p:nvPr>
            <p:ph type="title"/>
          </p:nvPr>
        </p:nvSpPr>
        <p:spPr>
          <a:xfrm>
            <a:off x="1864359" y="88641"/>
            <a:ext cx="1922780" cy="1367041"/>
          </a:xfrm>
          <a:prstGeom prst="rect">
            <a:avLst/>
          </a:prstGeom>
        </p:spPr>
        <p:txBody>
          <a:bodyPr vert="horz" wrap="square" lIns="0" tIns="12700" rIns="0" bIns="0" rtlCol="0" anchor="ctr">
            <a:spAutoFit/>
          </a:bodyPr>
          <a:lstStyle/>
          <a:p>
            <a:pPr marL="12700">
              <a:lnSpc>
                <a:spcPct val="100000"/>
              </a:lnSpc>
              <a:spcBef>
                <a:spcPts val="100"/>
              </a:spcBef>
            </a:pPr>
            <a:r>
              <a:rPr spc="-5" dirty="0"/>
              <a:t>The</a:t>
            </a:r>
            <a:r>
              <a:rPr spc="-70" dirty="0"/>
              <a:t> </a:t>
            </a:r>
            <a:r>
              <a:rPr spc="-5" dirty="0"/>
              <a:t>Brain</a:t>
            </a:r>
          </a:p>
        </p:txBody>
      </p:sp>
      <p:sp>
        <p:nvSpPr>
          <p:cNvPr id="5" name="object 5"/>
          <p:cNvSpPr/>
          <p:nvPr/>
        </p:nvSpPr>
        <p:spPr>
          <a:xfrm>
            <a:off x="5334000" y="1066800"/>
            <a:ext cx="5334000" cy="57912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98817077"/>
      </p:ext>
    </p:extLst>
  </p:cSld>
  <p:clrMapOvr>
    <a:masterClrMapping/>
  </p:clrMapOvr>
  <p:transition>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77060" y="3030220"/>
            <a:ext cx="132715" cy="391160"/>
          </a:xfrm>
          <a:prstGeom prst="rect">
            <a:avLst/>
          </a:prstGeom>
        </p:spPr>
        <p:txBody>
          <a:bodyPr vert="horz" wrap="square" lIns="0" tIns="12700" rIns="0" bIns="0" rtlCol="0">
            <a:spAutoFit/>
          </a:bodyPr>
          <a:lstStyle/>
          <a:p>
            <a:pPr marL="12700">
              <a:spcBef>
                <a:spcPts val="100"/>
              </a:spcBef>
            </a:pPr>
            <a:r>
              <a:rPr sz="2400" dirty="0">
                <a:solidFill>
                  <a:srgbClr val="252525"/>
                </a:solidFill>
                <a:latin typeface="Arial"/>
                <a:cs typeface="Arial"/>
              </a:rPr>
              <a:t>•</a:t>
            </a:r>
            <a:endParaRPr sz="2400">
              <a:latin typeface="Arial"/>
              <a:cs typeface="Arial"/>
            </a:endParaRPr>
          </a:p>
        </p:txBody>
      </p:sp>
      <p:sp>
        <p:nvSpPr>
          <p:cNvPr id="3" name="object 3"/>
          <p:cNvSpPr txBox="1"/>
          <p:nvPr/>
        </p:nvSpPr>
        <p:spPr>
          <a:xfrm>
            <a:off x="1877060" y="4870450"/>
            <a:ext cx="132715" cy="906780"/>
          </a:xfrm>
          <a:prstGeom prst="rect">
            <a:avLst/>
          </a:prstGeom>
        </p:spPr>
        <p:txBody>
          <a:bodyPr vert="horz" wrap="square" lIns="0" tIns="87630" rIns="0" bIns="0" rtlCol="0">
            <a:spAutoFit/>
          </a:bodyPr>
          <a:lstStyle/>
          <a:p>
            <a:pPr marL="12700">
              <a:spcBef>
                <a:spcPts val="690"/>
              </a:spcBef>
            </a:pPr>
            <a:r>
              <a:rPr sz="2400" dirty="0">
                <a:solidFill>
                  <a:srgbClr val="252525"/>
                </a:solidFill>
                <a:latin typeface="Arial"/>
                <a:cs typeface="Arial"/>
              </a:rPr>
              <a:t>•</a:t>
            </a:r>
            <a:endParaRPr sz="2400">
              <a:latin typeface="Arial"/>
              <a:cs typeface="Arial"/>
            </a:endParaRPr>
          </a:p>
          <a:p>
            <a:pPr marL="12700">
              <a:spcBef>
                <a:spcPts val="590"/>
              </a:spcBef>
            </a:pPr>
            <a:r>
              <a:rPr sz="2400" dirty="0">
                <a:solidFill>
                  <a:srgbClr val="252525"/>
                </a:solidFill>
                <a:latin typeface="Arial"/>
                <a:cs typeface="Arial"/>
              </a:rPr>
              <a:t>•</a:t>
            </a:r>
            <a:endParaRPr sz="2400">
              <a:latin typeface="Arial"/>
              <a:cs typeface="Arial"/>
            </a:endParaRPr>
          </a:p>
        </p:txBody>
      </p:sp>
      <p:sp>
        <p:nvSpPr>
          <p:cNvPr id="4" name="object 4"/>
          <p:cNvSpPr txBox="1">
            <a:spLocks noGrp="1"/>
          </p:cNvSpPr>
          <p:nvPr>
            <p:ph type="body" idx="1"/>
          </p:nvPr>
        </p:nvSpPr>
        <p:spPr>
          <a:xfrm>
            <a:off x="2362200" y="1825626"/>
            <a:ext cx="10515600" cy="4585871"/>
          </a:xfrm>
          <a:prstGeom prst="rect">
            <a:avLst/>
          </a:prstGeom>
        </p:spPr>
        <p:txBody>
          <a:bodyPr vert="horz" wrap="square" lIns="0" tIns="88900" rIns="0" bIns="0" rtlCol="0">
            <a:spAutoFit/>
          </a:bodyPr>
          <a:lstStyle/>
          <a:p>
            <a:pPr marL="381000" indent="-342900">
              <a:lnSpc>
                <a:spcPct val="100000"/>
              </a:lnSpc>
              <a:spcBef>
                <a:spcPts val="700"/>
              </a:spcBef>
              <a:tabLst>
                <a:tab pos="380365" algn="l"/>
                <a:tab pos="381000" algn="l"/>
              </a:tabLst>
            </a:pPr>
            <a:r>
              <a:rPr sz="2400" spc="-5" dirty="0"/>
              <a:t>cerebral</a:t>
            </a:r>
            <a:r>
              <a:rPr sz="2400" spc="-10" dirty="0"/>
              <a:t> </a:t>
            </a:r>
            <a:r>
              <a:rPr sz="2400" spc="-5" dirty="0"/>
              <a:t>cortex</a:t>
            </a:r>
            <a:endParaRPr sz="2400"/>
          </a:p>
          <a:p>
            <a:pPr marL="781050" lvl="1" indent="-285750">
              <a:lnSpc>
                <a:spcPct val="100000"/>
              </a:lnSpc>
              <a:buChar char="–"/>
              <a:tabLst>
                <a:tab pos="780415" algn="l"/>
                <a:tab pos="781050" algn="l"/>
              </a:tabLst>
            </a:pPr>
            <a:r>
              <a:rPr sz="2000" spc="-5" dirty="0">
                <a:solidFill>
                  <a:srgbClr val="252525"/>
                </a:solidFill>
                <a:latin typeface="Arial"/>
                <a:cs typeface="Arial"/>
              </a:rPr>
              <a:t>gyrus</a:t>
            </a:r>
            <a:endParaRPr sz="2000">
              <a:latin typeface="Arial"/>
              <a:cs typeface="Arial"/>
            </a:endParaRPr>
          </a:p>
          <a:p>
            <a:pPr marL="781050" lvl="1" indent="-285750">
              <a:lnSpc>
                <a:spcPct val="100000"/>
              </a:lnSpc>
              <a:buChar char="–"/>
              <a:tabLst>
                <a:tab pos="780415" algn="l"/>
                <a:tab pos="781050" algn="l"/>
              </a:tabLst>
            </a:pPr>
            <a:r>
              <a:rPr sz="2000" spc="-5" dirty="0">
                <a:solidFill>
                  <a:srgbClr val="252525"/>
                </a:solidFill>
                <a:latin typeface="Arial"/>
                <a:cs typeface="Arial"/>
              </a:rPr>
              <a:t>sulcus</a:t>
            </a:r>
            <a:endParaRPr sz="2000">
              <a:latin typeface="Arial"/>
              <a:cs typeface="Arial"/>
            </a:endParaRPr>
          </a:p>
          <a:p>
            <a:pPr marL="781050" lvl="1" indent="-285750">
              <a:lnSpc>
                <a:spcPct val="100000"/>
              </a:lnSpc>
              <a:buChar char="–"/>
              <a:tabLst>
                <a:tab pos="780415" algn="l"/>
                <a:tab pos="781050" algn="l"/>
              </a:tabLst>
            </a:pPr>
            <a:r>
              <a:rPr sz="2000" spc="-10" dirty="0">
                <a:solidFill>
                  <a:srgbClr val="252525"/>
                </a:solidFill>
                <a:latin typeface="Arial"/>
                <a:cs typeface="Arial"/>
              </a:rPr>
              <a:t>fissure</a:t>
            </a:r>
            <a:endParaRPr sz="2000">
              <a:latin typeface="Arial"/>
              <a:cs typeface="Arial"/>
            </a:endParaRPr>
          </a:p>
          <a:p>
            <a:pPr marL="380365">
              <a:lnSpc>
                <a:spcPct val="100000"/>
              </a:lnSpc>
              <a:spcBef>
                <a:spcPts val="590"/>
              </a:spcBef>
            </a:pPr>
            <a:r>
              <a:rPr spc="-5" dirty="0"/>
              <a:t>lobes</a:t>
            </a:r>
          </a:p>
          <a:p>
            <a:pPr marL="781050" lvl="1" indent="-285750">
              <a:lnSpc>
                <a:spcPct val="100000"/>
              </a:lnSpc>
              <a:buChar char="–"/>
              <a:tabLst>
                <a:tab pos="780415" algn="l"/>
                <a:tab pos="781050" algn="l"/>
              </a:tabLst>
            </a:pPr>
            <a:r>
              <a:rPr sz="2000" spc="-5" dirty="0">
                <a:solidFill>
                  <a:srgbClr val="252525"/>
                </a:solidFill>
                <a:latin typeface="Arial"/>
                <a:cs typeface="Arial"/>
              </a:rPr>
              <a:t>frontal</a:t>
            </a:r>
            <a:endParaRPr sz="2000">
              <a:latin typeface="Arial"/>
              <a:cs typeface="Arial"/>
            </a:endParaRPr>
          </a:p>
          <a:p>
            <a:pPr marL="781050" lvl="1" indent="-285750">
              <a:lnSpc>
                <a:spcPct val="100000"/>
              </a:lnSpc>
              <a:buChar char="–"/>
              <a:tabLst>
                <a:tab pos="780415" algn="l"/>
                <a:tab pos="781050" algn="l"/>
              </a:tabLst>
            </a:pPr>
            <a:r>
              <a:rPr sz="2000" spc="-5" dirty="0">
                <a:solidFill>
                  <a:srgbClr val="252525"/>
                </a:solidFill>
                <a:latin typeface="Arial"/>
                <a:cs typeface="Arial"/>
              </a:rPr>
              <a:t>parietal</a:t>
            </a:r>
            <a:endParaRPr sz="2000">
              <a:latin typeface="Arial"/>
              <a:cs typeface="Arial"/>
            </a:endParaRPr>
          </a:p>
          <a:p>
            <a:pPr marL="781050" lvl="1" indent="-285750">
              <a:lnSpc>
                <a:spcPct val="100000"/>
              </a:lnSpc>
              <a:buChar char="–"/>
              <a:tabLst>
                <a:tab pos="780415" algn="l"/>
                <a:tab pos="781050" algn="l"/>
              </a:tabLst>
            </a:pPr>
            <a:r>
              <a:rPr sz="2000" spc="-5" dirty="0">
                <a:solidFill>
                  <a:srgbClr val="252525"/>
                </a:solidFill>
                <a:latin typeface="Arial"/>
                <a:cs typeface="Arial"/>
              </a:rPr>
              <a:t>occipital</a:t>
            </a:r>
            <a:endParaRPr sz="2000">
              <a:latin typeface="Arial"/>
              <a:cs typeface="Arial"/>
            </a:endParaRPr>
          </a:p>
          <a:p>
            <a:pPr marL="781050" lvl="1" indent="-285750">
              <a:lnSpc>
                <a:spcPct val="100000"/>
              </a:lnSpc>
              <a:buChar char="–"/>
              <a:tabLst>
                <a:tab pos="780415" algn="l"/>
                <a:tab pos="781050" algn="l"/>
              </a:tabLst>
            </a:pPr>
            <a:r>
              <a:rPr sz="2000" spc="-5" dirty="0">
                <a:solidFill>
                  <a:srgbClr val="252525"/>
                </a:solidFill>
                <a:latin typeface="Arial"/>
                <a:cs typeface="Arial"/>
              </a:rPr>
              <a:t>temporal</a:t>
            </a:r>
            <a:endParaRPr sz="2000">
              <a:latin typeface="Arial"/>
              <a:cs typeface="Arial"/>
            </a:endParaRPr>
          </a:p>
          <a:p>
            <a:pPr marL="380365">
              <a:lnSpc>
                <a:spcPct val="100000"/>
              </a:lnSpc>
              <a:spcBef>
                <a:spcPts val="600"/>
              </a:spcBef>
            </a:pPr>
            <a:r>
              <a:rPr spc="-5" dirty="0"/>
              <a:t>primary motor</a:t>
            </a:r>
            <a:r>
              <a:rPr spc="25" dirty="0"/>
              <a:t> </a:t>
            </a:r>
            <a:r>
              <a:rPr spc="-5" dirty="0"/>
              <a:t>cortex</a:t>
            </a:r>
          </a:p>
          <a:p>
            <a:pPr marL="380365">
              <a:lnSpc>
                <a:spcPct val="100000"/>
              </a:lnSpc>
              <a:spcBef>
                <a:spcPts val="600"/>
              </a:spcBef>
            </a:pPr>
            <a:r>
              <a:rPr spc="-5" dirty="0"/>
              <a:t>primary somatic </a:t>
            </a:r>
            <a:r>
              <a:rPr dirty="0"/>
              <a:t>sensory</a:t>
            </a:r>
            <a:r>
              <a:rPr spc="35" dirty="0"/>
              <a:t> </a:t>
            </a:r>
            <a:r>
              <a:rPr spc="-5" dirty="0"/>
              <a:t>cortex</a:t>
            </a:r>
          </a:p>
        </p:txBody>
      </p:sp>
      <p:sp>
        <p:nvSpPr>
          <p:cNvPr id="5" name="object 5"/>
          <p:cNvSpPr txBox="1">
            <a:spLocks noGrp="1"/>
          </p:cNvSpPr>
          <p:nvPr>
            <p:ph type="title"/>
          </p:nvPr>
        </p:nvSpPr>
        <p:spPr>
          <a:xfrm>
            <a:off x="1864360" y="427195"/>
            <a:ext cx="2939460" cy="689932"/>
          </a:xfrm>
          <a:prstGeom prst="rect">
            <a:avLst/>
          </a:prstGeom>
        </p:spPr>
        <p:txBody>
          <a:bodyPr vert="horz" wrap="square" lIns="0" tIns="12700" rIns="0" bIns="0" rtlCol="0" anchor="ctr">
            <a:spAutoFit/>
          </a:bodyPr>
          <a:lstStyle/>
          <a:p>
            <a:pPr marL="12700">
              <a:lnSpc>
                <a:spcPct val="100000"/>
              </a:lnSpc>
              <a:spcBef>
                <a:spcPts val="100"/>
              </a:spcBef>
            </a:pPr>
            <a:r>
              <a:rPr spc="-5" dirty="0" smtClean="0"/>
              <a:t>Cerebr</a:t>
            </a:r>
            <a:r>
              <a:rPr lang="en-US" spc="-5" dirty="0" smtClean="0"/>
              <a:t>u</a:t>
            </a:r>
            <a:r>
              <a:rPr spc="-5" dirty="0" smtClean="0"/>
              <a:t>m</a:t>
            </a:r>
            <a:endParaRPr spc="-5" dirty="0"/>
          </a:p>
        </p:txBody>
      </p:sp>
      <p:sp>
        <p:nvSpPr>
          <p:cNvPr id="6" name="object 6"/>
          <p:cNvSpPr/>
          <p:nvPr/>
        </p:nvSpPr>
        <p:spPr>
          <a:xfrm>
            <a:off x="4495800" y="1447800"/>
            <a:ext cx="6172200" cy="3505200"/>
          </a:xfrm>
          <a:prstGeom prst="rect">
            <a:avLst/>
          </a:prstGeom>
          <a:blipFill>
            <a:blip r:embed="rId2" cstate="print"/>
            <a:stretch>
              <a:fillRect/>
            </a:stretch>
          </a:blipFill>
        </p:spPr>
        <p:txBody>
          <a:bodyPr wrap="square" lIns="0" tIns="0" rIns="0" bIns="0" rtlCol="0"/>
          <a:lstStyle/>
          <a:p>
            <a:endParaRPr/>
          </a:p>
        </p:txBody>
      </p:sp>
      <p:sp>
        <p:nvSpPr>
          <p:cNvPr id="7" name="object 7"/>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8" name="object 8"/>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Tree>
    <p:extLst>
      <p:ext uri="{BB962C8B-B14F-4D97-AF65-F5344CB8AC3E}">
        <p14:creationId xmlns:p14="http://schemas.microsoft.com/office/powerpoint/2010/main" val="1088896815"/>
      </p:ext>
    </p:extLst>
  </p:cSld>
  <p:clrMapOvr>
    <a:masterClrMapping/>
  </p:clrMapOvr>
  <p:transition>
    <p:dissolv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64360" y="88641"/>
            <a:ext cx="1958975" cy="1367041"/>
          </a:xfrm>
          <a:prstGeom prst="rect">
            <a:avLst/>
          </a:prstGeom>
        </p:spPr>
        <p:txBody>
          <a:bodyPr vert="horz" wrap="square" lIns="0" tIns="12700" rIns="0" bIns="0" rtlCol="0" anchor="ctr">
            <a:spAutoFit/>
          </a:bodyPr>
          <a:lstStyle/>
          <a:p>
            <a:pPr marL="12700">
              <a:lnSpc>
                <a:spcPct val="100000"/>
              </a:lnSpc>
              <a:spcBef>
                <a:spcPts val="100"/>
              </a:spcBef>
            </a:pPr>
            <a:r>
              <a:rPr spc="-5" dirty="0"/>
              <a:t>Cerebrum</a:t>
            </a:r>
          </a:p>
        </p:txBody>
      </p:sp>
      <p:sp>
        <p:nvSpPr>
          <p:cNvPr id="3" name="object 3"/>
          <p:cNvSpPr/>
          <p:nvPr/>
        </p:nvSpPr>
        <p:spPr>
          <a:xfrm>
            <a:off x="2362200" y="1828800"/>
            <a:ext cx="7125970" cy="4800600"/>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Tree>
    <p:extLst>
      <p:ext uri="{BB962C8B-B14F-4D97-AF65-F5344CB8AC3E}">
        <p14:creationId xmlns:p14="http://schemas.microsoft.com/office/powerpoint/2010/main" val="959785907"/>
      </p:ext>
    </p:extLst>
  </p:cSld>
  <p:clrMapOvr>
    <a:masterClrMapping/>
  </p:clrMapOvr>
  <p:transition>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05170" y="6680867"/>
            <a:ext cx="4693920" cy="128270"/>
          </a:xfrm>
          <a:prstGeom prst="rect">
            <a:avLst/>
          </a:prstGeom>
        </p:spPr>
        <p:txBody>
          <a:bodyPr vert="horz" wrap="square" lIns="0" tIns="0" rIns="0" bIns="0" rtlCol="0">
            <a:spAutoFit/>
          </a:bodyPr>
          <a:lstStyle/>
          <a:p>
            <a:pPr>
              <a:lnSpc>
                <a:spcPts val="994"/>
              </a:lnSpc>
              <a:tabLst>
                <a:tab pos="2019935" algn="l"/>
              </a:tabLst>
            </a:pPr>
            <a:r>
              <a:rPr sz="900" dirty="0">
                <a:latin typeface="Arial"/>
                <a:cs typeface="Arial"/>
              </a:rPr>
              <a:t>© Goodheart-Willcox</a:t>
            </a:r>
            <a:r>
              <a:rPr sz="900" spc="-15" dirty="0">
                <a:latin typeface="Arial"/>
                <a:cs typeface="Arial"/>
              </a:rPr>
              <a:t> </a:t>
            </a:r>
            <a:r>
              <a:rPr sz="900" spc="-5" dirty="0">
                <a:latin typeface="Arial"/>
                <a:cs typeface="Arial"/>
              </a:rPr>
              <a:t>Co.,</a:t>
            </a:r>
            <a:r>
              <a:rPr sz="900" spc="15" dirty="0">
                <a:latin typeface="Arial"/>
                <a:cs typeface="Arial"/>
              </a:rPr>
              <a:t> </a:t>
            </a:r>
            <a:r>
              <a:rPr sz="900" spc="-5" dirty="0">
                <a:latin typeface="Arial"/>
                <a:cs typeface="Arial"/>
              </a:rPr>
              <a:t>Inc.	Permission granted to reproduce for educational</a:t>
            </a:r>
            <a:r>
              <a:rPr sz="900" spc="85" dirty="0">
                <a:latin typeface="Arial"/>
                <a:cs typeface="Arial"/>
              </a:rPr>
              <a:t> </a:t>
            </a:r>
            <a:r>
              <a:rPr sz="900" dirty="0">
                <a:latin typeface="Arial"/>
                <a:cs typeface="Arial"/>
              </a:rPr>
              <a:t>use</a:t>
            </a:r>
            <a:endParaRPr sz="900">
              <a:latin typeface="Arial"/>
              <a:cs typeface="Arial"/>
            </a:endParaRPr>
          </a:p>
        </p:txBody>
      </p:sp>
      <p:sp>
        <p:nvSpPr>
          <p:cNvPr id="3" name="object 3"/>
          <p:cNvSpPr txBox="1"/>
          <p:nvPr/>
        </p:nvSpPr>
        <p:spPr>
          <a:xfrm>
            <a:off x="1877060" y="1442720"/>
            <a:ext cx="2573655" cy="4458970"/>
          </a:xfrm>
          <a:prstGeom prst="rect">
            <a:avLst/>
          </a:prstGeom>
        </p:spPr>
        <p:txBody>
          <a:bodyPr vert="horz" wrap="square" lIns="0" tIns="12700" rIns="0" bIns="0" rtlCol="0">
            <a:spAutoFit/>
          </a:bodyPr>
          <a:lstStyle/>
          <a:p>
            <a:pPr marL="12700">
              <a:spcBef>
                <a:spcPts val="100"/>
              </a:spcBef>
            </a:pPr>
            <a:r>
              <a:rPr sz="2800" spc="-15" dirty="0">
                <a:solidFill>
                  <a:srgbClr val="252525"/>
                </a:solidFill>
                <a:latin typeface="Arial"/>
                <a:cs typeface="Arial"/>
              </a:rPr>
              <a:t>Diencephalon</a:t>
            </a:r>
            <a:endParaRPr sz="2800">
              <a:latin typeface="Arial"/>
              <a:cs typeface="Arial"/>
            </a:endParaRPr>
          </a:p>
          <a:p>
            <a:pPr marL="355600" indent="-342900">
              <a:spcBef>
                <a:spcPts val="140"/>
              </a:spcBef>
              <a:buChar char="•"/>
              <a:tabLst>
                <a:tab pos="354965" algn="l"/>
                <a:tab pos="355600" algn="l"/>
              </a:tabLst>
            </a:pPr>
            <a:r>
              <a:rPr sz="2800" spc="-15" dirty="0">
                <a:solidFill>
                  <a:srgbClr val="252525"/>
                </a:solidFill>
                <a:latin typeface="Arial"/>
                <a:cs typeface="Arial"/>
              </a:rPr>
              <a:t>thalamus</a:t>
            </a:r>
            <a:endParaRPr sz="2800">
              <a:latin typeface="Arial"/>
              <a:cs typeface="Arial"/>
            </a:endParaRPr>
          </a:p>
          <a:p>
            <a:pPr marL="355600" indent="-342900">
              <a:spcBef>
                <a:spcPts val="150"/>
              </a:spcBef>
              <a:buChar char="•"/>
              <a:tabLst>
                <a:tab pos="354965" algn="l"/>
                <a:tab pos="355600" algn="l"/>
              </a:tabLst>
            </a:pPr>
            <a:r>
              <a:rPr sz="2800" spc="-10" dirty="0">
                <a:solidFill>
                  <a:srgbClr val="252525"/>
                </a:solidFill>
                <a:latin typeface="Arial"/>
                <a:cs typeface="Arial"/>
              </a:rPr>
              <a:t>hypothalamus</a:t>
            </a:r>
            <a:endParaRPr sz="2800">
              <a:latin typeface="Arial"/>
              <a:cs typeface="Arial"/>
            </a:endParaRPr>
          </a:p>
          <a:p>
            <a:pPr marL="355600" indent="-342900">
              <a:spcBef>
                <a:spcPts val="140"/>
              </a:spcBef>
              <a:buChar char="•"/>
              <a:tabLst>
                <a:tab pos="354965" algn="l"/>
                <a:tab pos="355600" algn="l"/>
              </a:tabLst>
            </a:pPr>
            <a:r>
              <a:rPr sz="2800" spc="-15" dirty="0">
                <a:solidFill>
                  <a:srgbClr val="252525"/>
                </a:solidFill>
                <a:latin typeface="Arial"/>
                <a:cs typeface="Arial"/>
              </a:rPr>
              <a:t>epithalamus</a:t>
            </a:r>
            <a:endParaRPr sz="2800">
              <a:latin typeface="Arial"/>
              <a:cs typeface="Arial"/>
            </a:endParaRPr>
          </a:p>
          <a:p>
            <a:pPr>
              <a:spcBef>
                <a:spcPts val="35"/>
              </a:spcBef>
              <a:buClr>
                <a:srgbClr val="252525"/>
              </a:buClr>
              <a:buFont typeface="Arial"/>
              <a:buChar char="•"/>
            </a:pPr>
            <a:endParaRPr sz="3150">
              <a:latin typeface="Times New Roman"/>
              <a:cs typeface="Times New Roman"/>
            </a:endParaRPr>
          </a:p>
          <a:p>
            <a:pPr marL="12700"/>
            <a:r>
              <a:rPr sz="2800" spc="-10" dirty="0">
                <a:solidFill>
                  <a:srgbClr val="252525"/>
                </a:solidFill>
                <a:latin typeface="Arial"/>
                <a:cs typeface="Arial"/>
              </a:rPr>
              <a:t>Brain </a:t>
            </a:r>
            <a:r>
              <a:rPr sz="2800" spc="-20" dirty="0">
                <a:solidFill>
                  <a:srgbClr val="252525"/>
                </a:solidFill>
                <a:latin typeface="Arial"/>
                <a:cs typeface="Arial"/>
              </a:rPr>
              <a:t>Stem</a:t>
            </a:r>
            <a:endParaRPr sz="2800">
              <a:latin typeface="Arial"/>
              <a:cs typeface="Arial"/>
            </a:endParaRPr>
          </a:p>
          <a:p>
            <a:pPr marL="355600" indent="-342900">
              <a:spcBef>
                <a:spcPts val="140"/>
              </a:spcBef>
              <a:buChar char="•"/>
              <a:tabLst>
                <a:tab pos="354965" algn="l"/>
                <a:tab pos="355600" algn="l"/>
              </a:tabLst>
            </a:pPr>
            <a:r>
              <a:rPr sz="2800" spc="-15" dirty="0">
                <a:solidFill>
                  <a:srgbClr val="252525"/>
                </a:solidFill>
                <a:latin typeface="Arial"/>
                <a:cs typeface="Arial"/>
              </a:rPr>
              <a:t>midbrain</a:t>
            </a:r>
            <a:endParaRPr sz="2800">
              <a:latin typeface="Arial"/>
              <a:cs typeface="Arial"/>
            </a:endParaRPr>
          </a:p>
          <a:p>
            <a:pPr marL="355600" indent="-342900">
              <a:spcBef>
                <a:spcPts val="150"/>
              </a:spcBef>
              <a:buChar char="•"/>
              <a:tabLst>
                <a:tab pos="354965" algn="l"/>
                <a:tab pos="355600" algn="l"/>
              </a:tabLst>
            </a:pPr>
            <a:r>
              <a:rPr sz="2800" spc="-5" dirty="0">
                <a:solidFill>
                  <a:srgbClr val="252525"/>
                </a:solidFill>
                <a:latin typeface="Arial"/>
                <a:cs typeface="Arial"/>
              </a:rPr>
              <a:t>pons</a:t>
            </a:r>
            <a:endParaRPr sz="2800">
              <a:latin typeface="Arial"/>
              <a:cs typeface="Arial"/>
            </a:endParaRPr>
          </a:p>
          <a:p>
            <a:pPr marL="12700" marR="980440">
              <a:lnSpc>
                <a:spcPct val="104200"/>
              </a:lnSpc>
              <a:spcBef>
                <a:spcPts val="10"/>
              </a:spcBef>
              <a:buChar char="•"/>
              <a:tabLst>
                <a:tab pos="354965" algn="l"/>
                <a:tab pos="355600" algn="l"/>
              </a:tabLst>
            </a:pPr>
            <a:r>
              <a:rPr sz="2800" spc="-35" dirty="0">
                <a:solidFill>
                  <a:srgbClr val="252525"/>
                </a:solidFill>
                <a:latin typeface="Arial"/>
                <a:cs typeface="Arial"/>
              </a:rPr>
              <a:t>m</a:t>
            </a:r>
            <a:r>
              <a:rPr sz="2800" spc="-20" dirty="0">
                <a:solidFill>
                  <a:srgbClr val="252525"/>
                </a:solidFill>
                <a:latin typeface="Arial"/>
                <a:cs typeface="Arial"/>
              </a:rPr>
              <a:t>e</a:t>
            </a:r>
            <a:r>
              <a:rPr sz="2800" spc="-10" dirty="0">
                <a:solidFill>
                  <a:srgbClr val="252525"/>
                </a:solidFill>
                <a:latin typeface="Arial"/>
                <a:cs typeface="Arial"/>
              </a:rPr>
              <a:t>d</a:t>
            </a:r>
            <a:r>
              <a:rPr sz="2800" spc="-30" dirty="0">
                <a:solidFill>
                  <a:srgbClr val="252525"/>
                </a:solidFill>
                <a:latin typeface="Arial"/>
                <a:cs typeface="Arial"/>
              </a:rPr>
              <a:t>u</a:t>
            </a:r>
            <a:r>
              <a:rPr sz="2800" spc="-25" dirty="0">
                <a:solidFill>
                  <a:srgbClr val="252525"/>
                </a:solidFill>
                <a:latin typeface="Arial"/>
                <a:cs typeface="Arial"/>
              </a:rPr>
              <a:t>ll</a:t>
            </a:r>
            <a:r>
              <a:rPr sz="2800" dirty="0">
                <a:solidFill>
                  <a:srgbClr val="252525"/>
                </a:solidFill>
                <a:latin typeface="Arial"/>
                <a:cs typeface="Arial"/>
              </a:rPr>
              <a:t>a  </a:t>
            </a:r>
            <a:r>
              <a:rPr sz="2800" spc="-10" dirty="0">
                <a:solidFill>
                  <a:srgbClr val="252525"/>
                </a:solidFill>
                <a:latin typeface="Arial"/>
                <a:cs typeface="Arial"/>
              </a:rPr>
              <a:t>oblongata</a:t>
            </a:r>
            <a:endParaRPr sz="2800">
              <a:latin typeface="Arial"/>
              <a:cs typeface="Arial"/>
            </a:endParaRPr>
          </a:p>
        </p:txBody>
      </p:sp>
      <p:sp>
        <p:nvSpPr>
          <p:cNvPr id="4" name="object 4"/>
          <p:cNvSpPr txBox="1">
            <a:spLocks noGrp="1"/>
          </p:cNvSpPr>
          <p:nvPr>
            <p:ph type="title"/>
          </p:nvPr>
        </p:nvSpPr>
        <p:spPr>
          <a:xfrm>
            <a:off x="1864360" y="88641"/>
            <a:ext cx="5789295" cy="1367041"/>
          </a:xfrm>
          <a:prstGeom prst="rect">
            <a:avLst/>
          </a:prstGeom>
        </p:spPr>
        <p:txBody>
          <a:bodyPr vert="horz" wrap="square" lIns="0" tIns="12700" rIns="0" bIns="0" rtlCol="0" anchor="ctr">
            <a:spAutoFit/>
          </a:bodyPr>
          <a:lstStyle/>
          <a:p>
            <a:pPr marL="12700">
              <a:lnSpc>
                <a:spcPct val="100000"/>
              </a:lnSpc>
              <a:spcBef>
                <a:spcPts val="100"/>
              </a:spcBef>
            </a:pPr>
            <a:r>
              <a:rPr spc="-5" dirty="0"/>
              <a:t>Brain </a:t>
            </a:r>
            <a:r>
              <a:rPr dirty="0"/>
              <a:t>Stem </a:t>
            </a:r>
            <a:r>
              <a:rPr spc="-5" dirty="0"/>
              <a:t>and</a:t>
            </a:r>
            <a:r>
              <a:rPr spc="-25" dirty="0"/>
              <a:t> </a:t>
            </a:r>
            <a:r>
              <a:rPr spc="-5" dirty="0"/>
              <a:t>Diencephalon</a:t>
            </a:r>
          </a:p>
        </p:txBody>
      </p:sp>
      <p:sp>
        <p:nvSpPr>
          <p:cNvPr id="5" name="object 5"/>
          <p:cNvSpPr/>
          <p:nvPr/>
        </p:nvSpPr>
        <p:spPr>
          <a:xfrm>
            <a:off x="4648200" y="1600200"/>
            <a:ext cx="6019800" cy="52578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439671207"/>
      </p:ext>
    </p:extLst>
  </p:cSld>
  <p:clrMapOvr>
    <a:masterClrMapping/>
  </p:clrMapOvr>
  <p:transition>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77059" y="1442721"/>
            <a:ext cx="3258820" cy="896619"/>
          </a:xfrm>
          <a:prstGeom prst="rect">
            <a:avLst/>
          </a:prstGeom>
        </p:spPr>
        <p:txBody>
          <a:bodyPr vert="horz" wrap="square" lIns="0" tIns="12700" rIns="0" bIns="0" rtlCol="0">
            <a:spAutoFit/>
          </a:bodyPr>
          <a:lstStyle/>
          <a:p>
            <a:pPr marL="355600" indent="-342900">
              <a:spcBef>
                <a:spcPts val="100"/>
              </a:spcBef>
              <a:buChar char="•"/>
              <a:tabLst>
                <a:tab pos="354965" algn="l"/>
                <a:tab pos="355600" algn="l"/>
              </a:tabLst>
            </a:pPr>
            <a:r>
              <a:rPr sz="2800" spc="-20" dirty="0">
                <a:solidFill>
                  <a:srgbClr val="252525"/>
                </a:solidFill>
                <a:latin typeface="Arial"/>
                <a:cs typeface="Arial"/>
              </a:rPr>
              <a:t>cerebellum</a:t>
            </a:r>
            <a:endParaRPr sz="2800">
              <a:latin typeface="Arial"/>
              <a:cs typeface="Arial"/>
            </a:endParaRPr>
          </a:p>
          <a:p>
            <a:pPr marL="355600" indent="-342900">
              <a:spcBef>
                <a:spcPts val="140"/>
              </a:spcBef>
              <a:buChar char="•"/>
              <a:tabLst>
                <a:tab pos="354965" algn="l"/>
                <a:tab pos="355600" algn="l"/>
              </a:tabLst>
            </a:pPr>
            <a:r>
              <a:rPr sz="2800" spc="-10" dirty="0">
                <a:solidFill>
                  <a:srgbClr val="252525"/>
                </a:solidFill>
                <a:latin typeface="Arial"/>
                <a:cs typeface="Arial"/>
              </a:rPr>
              <a:t>blood-brain</a:t>
            </a:r>
            <a:r>
              <a:rPr sz="2800" spc="-70" dirty="0">
                <a:solidFill>
                  <a:srgbClr val="252525"/>
                </a:solidFill>
                <a:latin typeface="Arial"/>
                <a:cs typeface="Arial"/>
              </a:rPr>
              <a:t> </a:t>
            </a:r>
            <a:r>
              <a:rPr sz="2800" spc="-10" dirty="0">
                <a:solidFill>
                  <a:srgbClr val="252525"/>
                </a:solidFill>
                <a:latin typeface="Arial"/>
                <a:cs typeface="Arial"/>
              </a:rPr>
              <a:t>barrier</a:t>
            </a:r>
            <a:endParaRPr sz="2800">
              <a:latin typeface="Arial"/>
              <a:cs typeface="Arial"/>
            </a:endParaRPr>
          </a:p>
        </p:txBody>
      </p:sp>
      <p:sp>
        <p:nvSpPr>
          <p:cNvPr id="5" name="object 5"/>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6" name="object 6"/>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1864359" y="88641"/>
            <a:ext cx="1922780" cy="1367041"/>
          </a:xfrm>
          <a:prstGeom prst="rect">
            <a:avLst/>
          </a:prstGeom>
        </p:spPr>
        <p:txBody>
          <a:bodyPr vert="horz" wrap="square" lIns="0" tIns="12700" rIns="0" bIns="0" rtlCol="0" anchor="ctr">
            <a:spAutoFit/>
          </a:bodyPr>
          <a:lstStyle/>
          <a:p>
            <a:pPr marL="12700">
              <a:lnSpc>
                <a:spcPct val="100000"/>
              </a:lnSpc>
              <a:spcBef>
                <a:spcPts val="100"/>
              </a:spcBef>
            </a:pPr>
            <a:r>
              <a:rPr spc="-5" dirty="0"/>
              <a:t>The</a:t>
            </a:r>
            <a:r>
              <a:rPr spc="-70" dirty="0"/>
              <a:t> </a:t>
            </a:r>
            <a:r>
              <a:rPr spc="-5" dirty="0"/>
              <a:t>Brain</a:t>
            </a:r>
          </a:p>
        </p:txBody>
      </p:sp>
      <p:sp>
        <p:nvSpPr>
          <p:cNvPr id="4" name="object 4"/>
          <p:cNvSpPr txBox="1"/>
          <p:nvPr/>
        </p:nvSpPr>
        <p:spPr>
          <a:xfrm>
            <a:off x="5690870" y="1469390"/>
            <a:ext cx="3017520" cy="1865630"/>
          </a:xfrm>
          <a:prstGeom prst="rect">
            <a:avLst/>
          </a:prstGeom>
        </p:spPr>
        <p:txBody>
          <a:bodyPr vert="horz" wrap="square" lIns="0" tIns="101600" rIns="0" bIns="0" rtlCol="0">
            <a:spAutoFit/>
          </a:bodyPr>
          <a:lstStyle/>
          <a:p>
            <a:pPr marL="381000" indent="-342900">
              <a:spcBef>
                <a:spcPts val="800"/>
              </a:spcBef>
              <a:buChar char="•"/>
              <a:tabLst>
                <a:tab pos="380365" algn="l"/>
                <a:tab pos="381000" algn="l"/>
              </a:tabLst>
            </a:pPr>
            <a:r>
              <a:rPr sz="2800" spc="-20" dirty="0">
                <a:solidFill>
                  <a:srgbClr val="252525"/>
                </a:solidFill>
                <a:latin typeface="Arial"/>
                <a:cs typeface="Arial"/>
              </a:rPr>
              <a:t>meninges</a:t>
            </a:r>
            <a:endParaRPr sz="28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dura</a:t>
            </a:r>
            <a:r>
              <a:rPr sz="2400" spc="-90" dirty="0">
                <a:solidFill>
                  <a:srgbClr val="252525"/>
                </a:solidFill>
                <a:latin typeface="Arial"/>
                <a:cs typeface="Arial"/>
              </a:rPr>
              <a:t> </a:t>
            </a:r>
            <a:r>
              <a:rPr sz="2400" spc="-5" dirty="0">
                <a:solidFill>
                  <a:srgbClr val="252525"/>
                </a:solidFill>
                <a:latin typeface="Arial"/>
                <a:cs typeface="Arial"/>
              </a:rPr>
              <a:t>mater</a:t>
            </a:r>
            <a:endParaRPr sz="24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arachnoid</a:t>
            </a:r>
            <a:r>
              <a:rPr sz="2400" spc="-75" dirty="0">
                <a:solidFill>
                  <a:srgbClr val="252525"/>
                </a:solidFill>
                <a:latin typeface="Arial"/>
                <a:cs typeface="Arial"/>
              </a:rPr>
              <a:t> </a:t>
            </a:r>
            <a:r>
              <a:rPr sz="2400" spc="-5" dirty="0">
                <a:solidFill>
                  <a:srgbClr val="252525"/>
                </a:solidFill>
                <a:latin typeface="Arial"/>
                <a:cs typeface="Arial"/>
              </a:rPr>
              <a:t>mater</a:t>
            </a:r>
            <a:endParaRPr sz="24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pia</a:t>
            </a:r>
            <a:r>
              <a:rPr sz="2400" spc="-15" dirty="0">
                <a:solidFill>
                  <a:srgbClr val="252525"/>
                </a:solidFill>
                <a:latin typeface="Arial"/>
                <a:cs typeface="Arial"/>
              </a:rPr>
              <a:t> </a:t>
            </a:r>
            <a:r>
              <a:rPr sz="2400" spc="-5" dirty="0">
                <a:solidFill>
                  <a:srgbClr val="252525"/>
                </a:solidFill>
                <a:latin typeface="Arial"/>
                <a:cs typeface="Arial"/>
              </a:rPr>
              <a:t>mater</a:t>
            </a:r>
            <a:endParaRPr sz="2400">
              <a:latin typeface="Arial"/>
              <a:cs typeface="Arial"/>
            </a:endParaRPr>
          </a:p>
        </p:txBody>
      </p:sp>
    </p:spTree>
    <p:extLst>
      <p:ext uri="{BB962C8B-B14F-4D97-AF65-F5344CB8AC3E}">
        <p14:creationId xmlns:p14="http://schemas.microsoft.com/office/powerpoint/2010/main" val="3838655028"/>
      </p:ext>
    </p:extLst>
  </p:cSld>
  <p:clrMapOvr>
    <a:masterClrMapping/>
  </p:clrMapOvr>
  <p:transition>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64360" y="88641"/>
            <a:ext cx="2342515" cy="1367041"/>
          </a:xfrm>
          <a:prstGeom prst="rect">
            <a:avLst/>
          </a:prstGeom>
        </p:spPr>
        <p:txBody>
          <a:bodyPr vert="horz" wrap="square" lIns="0" tIns="12700" rIns="0" bIns="0" rtlCol="0" anchor="ctr">
            <a:spAutoFit/>
          </a:bodyPr>
          <a:lstStyle/>
          <a:p>
            <a:pPr marL="12700">
              <a:lnSpc>
                <a:spcPct val="100000"/>
              </a:lnSpc>
              <a:spcBef>
                <a:spcPts val="100"/>
              </a:spcBef>
            </a:pPr>
            <a:r>
              <a:rPr spc="-5" dirty="0"/>
              <a:t>Spinal</a:t>
            </a:r>
            <a:r>
              <a:rPr spc="-55" dirty="0"/>
              <a:t> </a:t>
            </a:r>
            <a:r>
              <a:rPr spc="-5" dirty="0"/>
              <a:t>Cord</a:t>
            </a:r>
          </a:p>
        </p:txBody>
      </p:sp>
      <p:sp>
        <p:nvSpPr>
          <p:cNvPr id="3" name="object 3"/>
          <p:cNvSpPr/>
          <p:nvPr/>
        </p:nvSpPr>
        <p:spPr>
          <a:xfrm>
            <a:off x="2667000" y="1600200"/>
            <a:ext cx="6602730" cy="4495800"/>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Tree>
    <p:extLst>
      <p:ext uri="{BB962C8B-B14F-4D97-AF65-F5344CB8AC3E}">
        <p14:creationId xmlns:p14="http://schemas.microsoft.com/office/powerpoint/2010/main" val="148539667"/>
      </p:ext>
    </p:extLst>
  </p:cSld>
  <p:clrMapOvr>
    <a:masterClrMapping/>
  </p:clrMapOvr>
  <p:transition>
    <p:dissolv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64360" y="1436370"/>
            <a:ext cx="5645785" cy="2085339"/>
          </a:xfrm>
          <a:prstGeom prst="rect">
            <a:avLst/>
          </a:prstGeom>
        </p:spPr>
        <p:txBody>
          <a:bodyPr vert="horz" wrap="square" lIns="0" tIns="100330" rIns="0" bIns="0" rtlCol="0">
            <a:spAutoFit/>
          </a:bodyPr>
          <a:lstStyle/>
          <a:p>
            <a:pPr marL="368300" indent="-342900">
              <a:spcBef>
                <a:spcPts val="790"/>
              </a:spcBef>
              <a:buChar char="•"/>
              <a:tabLst>
                <a:tab pos="367665" algn="l"/>
                <a:tab pos="368300" algn="l"/>
              </a:tabLst>
            </a:pPr>
            <a:r>
              <a:rPr sz="2800" spc="-10" dirty="0">
                <a:solidFill>
                  <a:srgbClr val="252525"/>
                </a:solidFill>
                <a:latin typeface="Arial"/>
                <a:cs typeface="Arial"/>
              </a:rPr>
              <a:t>nerve</a:t>
            </a:r>
            <a:r>
              <a:rPr sz="2800" spc="-25" dirty="0">
                <a:solidFill>
                  <a:srgbClr val="252525"/>
                </a:solidFill>
                <a:latin typeface="Arial"/>
                <a:cs typeface="Arial"/>
              </a:rPr>
              <a:t> </a:t>
            </a:r>
            <a:r>
              <a:rPr sz="2800" spc="-5" dirty="0">
                <a:solidFill>
                  <a:srgbClr val="252525"/>
                </a:solidFill>
                <a:latin typeface="Arial"/>
                <a:cs typeface="Arial"/>
              </a:rPr>
              <a:t>structure</a:t>
            </a:r>
            <a:endParaRPr sz="2800">
              <a:latin typeface="Arial"/>
              <a:cs typeface="Arial"/>
            </a:endParaRPr>
          </a:p>
          <a:p>
            <a:pPr marL="368300" indent="-342900">
              <a:spcBef>
                <a:spcPts val="690"/>
              </a:spcBef>
              <a:buChar char="•"/>
              <a:tabLst>
                <a:tab pos="367665" algn="l"/>
                <a:tab pos="368300" algn="l"/>
              </a:tabLst>
            </a:pPr>
            <a:r>
              <a:rPr sz="2800" spc="-10" dirty="0">
                <a:solidFill>
                  <a:srgbClr val="252525"/>
                </a:solidFill>
                <a:latin typeface="Arial"/>
                <a:cs typeface="Arial"/>
              </a:rPr>
              <a:t>cranial</a:t>
            </a:r>
            <a:r>
              <a:rPr sz="2800" spc="-30" dirty="0">
                <a:solidFill>
                  <a:srgbClr val="252525"/>
                </a:solidFill>
                <a:latin typeface="Arial"/>
                <a:cs typeface="Arial"/>
              </a:rPr>
              <a:t> </a:t>
            </a:r>
            <a:r>
              <a:rPr sz="2800" spc="-15" dirty="0">
                <a:solidFill>
                  <a:srgbClr val="252525"/>
                </a:solidFill>
                <a:latin typeface="Arial"/>
                <a:cs typeface="Arial"/>
              </a:rPr>
              <a:t>nerves</a:t>
            </a:r>
            <a:endParaRPr sz="2800">
              <a:latin typeface="Arial"/>
              <a:cs typeface="Arial"/>
            </a:endParaRPr>
          </a:p>
          <a:p>
            <a:pPr marL="368300" indent="-342900">
              <a:spcBef>
                <a:spcPts val="700"/>
              </a:spcBef>
              <a:buChar char="•"/>
              <a:tabLst>
                <a:tab pos="367665" algn="l"/>
                <a:tab pos="368300" algn="l"/>
              </a:tabLst>
            </a:pPr>
            <a:r>
              <a:rPr sz="2800" spc="-5" dirty="0">
                <a:solidFill>
                  <a:srgbClr val="252525"/>
                </a:solidFill>
                <a:latin typeface="Arial"/>
                <a:cs typeface="Arial"/>
              </a:rPr>
              <a:t>spinal </a:t>
            </a:r>
            <a:r>
              <a:rPr sz="2800" spc="-10" dirty="0">
                <a:solidFill>
                  <a:srgbClr val="252525"/>
                </a:solidFill>
                <a:latin typeface="Arial"/>
                <a:cs typeface="Arial"/>
              </a:rPr>
              <a:t>nerves </a:t>
            </a:r>
            <a:r>
              <a:rPr sz="2800" spc="-5" dirty="0">
                <a:solidFill>
                  <a:srgbClr val="252525"/>
                </a:solidFill>
                <a:latin typeface="Arial"/>
                <a:cs typeface="Arial"/>
              </a:rPr>
              <a:t>and </a:t>
            </a:r>
            <a:r>
              <a:rPr sz="2800" spc="-10" dirty="0">
                <a:solidFill>
                  <a:srgbClr val="252525"/>
                </a:solidFill>
                <a:latin typeface="Arial"/>
                <a:cs typeface="Arial"/>
              </a:rPr>
              <a:t>nerve</a:t>
            </a:r>
            <a:r>
              <a:rPr sz="2800" spc="-105" dirty="0">
                <a:solidFill>
                  <a:srgbClr val="252525"/>
                </a:solidFill>
                <a:latin typeface="Arial"/>
                <a:cs typeface="Arial"/>
              </a:rPr>
              <a:t> </a:t>
            </a:r>
            <a:r>
              <a:rPr sz="2800" spc="-10" dirty="0">
                <a:solidFill>
                  <a:srgbClr val="252525"/>
                </a:solidFill>
                <a:latin typeface="Arial"/>
                <a:cs typeface="Arial"/>
              </a:rPr>
              <a:t>plexuses</a:t>
            </a:r>
            <a:endParaRPr sz="2800">
              <a:latin typeface="Arial"/>
              <a:cs typeface="Arial"/>
            </a:endParaRPr>
          </a:p>
          <a:p>
            <a:pPr marL="368300" indent="-342900">
              <a:spcBef>
                <a:spcPts val="700"/>
              </a:spcBef>
              <a:buChar char="•"/>
              <a:tabLst>
                <a:tab pos="367665" algn="l"/>
                <a:tab pos="368300" algn="l"/>
              </a:tabLst>
            </a:pPr>
            <a:r>
              <a:rPr sz="2800" spc="-15" dirty="0">
                <a:solidFill>
                  <a:srgbClr val="252525"/>
                </a:solidFill>
                <a:latin typeface="Arial"/>
                <a:cs typeface="Arial"/>
              </a:rPr>
              <a:t>autonomic nervous</a:t>
            </a:r>
            <a:r>
              <a:rPr sz="2800" spc="25" dirty="0">
                <a:solidFill>
                  <a:srgbClr val="252525"/>
                </a:solidFill>
                <a:latin typeface="Arial"/>
                <a:cs typeface="Arial"/>
              </a:rPr>
              <a:t> </a:t>
            </a:r>
            <a:r>
              <a:rPr sz="2800" dirty="0">
                <a:solidFill>
                  <a:srgbClr val="252525"/>
                </a:solidFill>
                <a:latin typeface="Arial"/>
                <a:cs typeface="Arial"/>
              </a:rPr>
              <a:t>system</a:t>
            </a:r>
            <a:endParaRPr sz="2800">
              <a:latin typeface="Arial"/>
              <a:cs typeface="Arial"/>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2362200" y="499556"/>
            <a:ext cx="10515600" cy="1056700"/>
          </a:xfrm>
          <a:prstGeom prst="rect">
            <a:avLst/>
          </a:prstGeom>
        </p:spPr>
        <p:txBody>
          <a:bodyPr vert="horz" wrap="square" lIns="0" tIns="30480" rIns="0" bIns="0" rtlCol="0" anchor="ctr">
            <a:spAutoFit/>
          </a:bodyPr>
          <a:lstStyle/>
          <a:p>
            <a:pPr marL="12700" marR="5080">
              <a:lnSpc>
                <a:spcPts val="3950"/>
              </a:lnSpc>
              <a:spcBef>
                <a:spcPts val="240"/>
              </a:spcBef>
            </a:pPr>
            <a:r>
              <a:rPr spc="-5" dirty="0"/>
              <a:t>Functional </a:t>
            </a:r>
            <a:r>
              <a:rPr dirty="0"/>
              <a:t>Anatomy </a:t>
            </a:r>
            <a:r>
              <a:rPr spc="-5" dirty="0"/>
              <a:t>of </a:t>
            </a:r>
            <a:r>
              <a:rPr dirty="0"/>
              <a:t>the Peripheral  </a:t>
            </a:r>
            <a:r>
              <a:rPr spc="-5" dirty="0"/>
              <a:t>Nervous</a:t>
            </a:r>
            <a:r>
              <a:rPr spc="-10" dirty="0"/>
              <a:t> </a:t>
            </a:r>
            <a:r>
              <a:rPr dirty="0"/>
              <a:t>System</a:t>
            </a:r>
          </a:p>
        </p:txBody>
      </p:sp>
    </p:spTree>
    <p:extLst>
      <p:ext uri="{BB962C8B-B14F-4D97-AF65-F5344CB8AC3E}">
        <p14:creationId xmlns:p14="http://schemas.microsoft.com/office/powerpoint/2010/main" val="2620182847"/>
      </p:ext>
    </p:extLst>
  </p:cSld>
  <p:clrMapOvr>
    <a:masterClrMapping/>
  </p:clrMapOvr>
  <p:transition>
    <p:dissolv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1659" y="1436581"/>
            <a:ext cx="3136900" cy="2894330"/>
          </a:xfrm>
          <a:prstGeom prst="rect">
            <a:avLst/>
          </a:prstGeom>
        </p:spPr>
        <p:txBody>
          <a:bodyPr vert="horz" wrap="square" lIns="0" tIns="99695" rIns="0" bIns="0" rtlCol="0">
            <a:spAutoFit/>
          </a:bodyPr>
          <a:lstStyle/>
          <a:p>
            <a:pPr marL="381000" indent="-342900">
              <a:spcBef>
                <a:spcPts val="785"/>
              </a:spcBef>
              <a:buChar char="•"/>
              <a:tabLst>
                <a:tab pos="380365" algn="l"/>
                <a:tab pos="381000" algn="l"/>
              </a:tabLst>
            </a:pPr>
            <a:r>
              <a:rPr sz="2800" spc="-20" dirty="0">
                <a:solidFill>
                  <a:srgbClr val="252525"/>
                </a:solidFill>
                <a:latin typeface="Arial"/>
                <a:cs typeface="Arial"/>
              </a:rPr>
              <a:t>endoneurium</a:t>
            </a:r>
            <a:endParaRPr sz="28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covers </a:t>
            </a:r>
            <a:r>
              <a:rPr sz="2400" dirty="0">
                <a:solidFill>
                  <a:srgbClr val="252525"/>
                </a:solidFill>
                <a:latin typeface="Arial"/>
                <a:cs typeface="Arial"/>
              </a:rPr>
              <a:t>axons</a:t>
            </a:r>
            <a:endParaRPr sz="2400">
              <a:latin typeface="Arial"/>
              <a:cs typeface="Arial"/>
            </a:endParaRPr>
          </a:p>
          <a:p>
            <a:pPr marL="381000" indent="-342900">
              <a:spcBef>
                <a:spcPts val="700"/>
              </a:spcBef>
              <a:buChar char="•"/>
              <a:tabLst>
                <a:tab pos="380365" algn="l"/>
                <a:tab pos="381000" algn="l"/>
              </a:tabLst>
            </a:pPr>
            <a:r>
              <a:rPr sz="2800" spc="-15" dirty="0">
                <a:solidFill>
                  <a:srgbClr val="252525"/>
                </a:solidFill>
                <a:latin typeface="Arial"/>
                <a:cs typeface="Arial"/>
              </a:rPr>
              <a:t>perineurium</a:t>
            </a:r>
            <a:endParaRPr sz="28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bundles</a:t>
            </a:r>
            <a:r>
              <a:rPr sz="2400" spc="-50" dirty="0">
                <a:solidFill>
                  <a:srgbClr val="252525"/>
                </a:solidFill>
                <a:latin typeface="Arial"/>
                <a:cs typeface="Arial"/>
              </a:rPr>
              <a:t> </a:t>
            </a:r>
            <a:r>
              <a:rPr sz="2400" spc="-5" dirty="0">
                <a:solidFill>
                  <a:srgbClr val="252525"/>
                </a:solidFill>
                <a:latin typeface="Arial"/>
                <a:cs typeface="Arial"/>
              </a:rPr>
              <a:t>fascicles</a:t>
            </a:r>
            <a:endParaRPr sz="2400">
              <a:latin typeface="Arial"/>
              <a:cs typeface="Arial"/>
            </a:endParaRPr>
          </a:p>
          <a:p>
            <a:pPr marL="381000" indent="-342900">
              <a:spcBef>
                <a:spcPts val="700"/>
              </a:spcBef>
              <a:buChar char="•"/>
              <a:tabLst>
                <a:tab pos="380365" algn="l"/>
                <a:tab pos="381000" algn="l"/>
              </a:tabLst>
            </a:pPr>
            <a:r>
              <a:rPr sz="2800" spc="-20" dirty="0">
                <a:solidFill>
                  <a:srgbClr val="252525"/>
                </a:solidFill>
                <a:latin typeface="Arial"/>
                <a:cs typeface="Arial"/>
              </a:rPr>
              <a:t>epineurium</a:t>
            </a:r>
            <a:endParaRPr sz="2800">
              <a:latin typeface="Arial"/>
              <a:cs typeface="Arial"/>
            </a:endParaRPr>
          </a:p>
          <a:p>
            <a:pPr marL="781050" lvl="1" indent="-285750">
              <a:spcBef>
                <a:spcPts val="590"/>
              </a:spcBef>
              <a:buChar char="–"/>
              <a:tabLst>
                <a:tab pos="781050" algn="l"/>
              </a:tabLst>
            </a:pPr>
            <a:r>
              <a:rPr sz="2400" dirty="0">
                <a:solidFill>
                  <a:srgbClr val="252525"/>
                </a:solidFill>
                <a:latin typeface="Arial"/>
                <a:cs typeface="Arial"/>
              </a:rPr>
              <a:t>wraps</a:t>
            </a:r>
            <a:r>
              <a:rPr sz="2400" spc="-10" dirty="0">
                <a:solidFill>
                  <a:srgbClr val="252525"/>
                </a:solidFill>
                <a:latin typeface="Arial"/>
                <a:cs typeface="Arial"/>
              </a:rPr>
              <a:t> </a:t>
            </a:r>
            <a:r>
              <a:rPr sz="2400" spc="-5" dirty="0">
                <a:solidFill>
                  <a:srgbClr val="252525"/>
                </a:solidFill>
                <a:latin typeface="Arial"/>
                <a:cs typeface="Arial"/>
              </a:rPr>
              <a:t>nerves</a:t>
            </a:r>
            <a:endParaRPr sz="2400">
              <a:latin typeface="Arial"/>
              <a:cs typeface="Arial"/>
            </a:endParaRPr>
          </a:p>
        </p:txBody>
      </p:sp>
      <p:sp>
        <p:nvSpPr>
          <p:cNvPr id="3" name="object 3"/>
          <p:cNvSpPr txBox="1">
            <a:spLocks noGrp="1"/>
          </p:cNvSpPr>
          <p:nvPr>
            <p:ph type="title"/>
          </p:nvPr>
        </p:nvSpPr>
        <p:spPr>
          <a:xfrm>
            <a:off x="1864360" y="88641"/>
            <a:ext cx="3063875" cy="1367041"/>
          </a:xfrm>
          <a:prstGeom prst="rect">
            <a:avLst/>
          </a:prstGeom>
        </p:spPr>
        <p:txBody>
          <a:bodyPr vert="horz" wrap="square" lIns="0" tIns="12700" rIns="0" bIns="0" rtlCol="0" anchor="ctr">
            <a:spAutoFit/>
          </a:bodyPr>
          <a:lstStyle/>
          <a:p>
            <a:pPr marL="12700">
              <a:lnSpc>
                <a:spcPct val="100000"/>
              </a:lnSpc>
              <a:spcBef>
                <a:spcPts val="100"/>
              </a:spcBef>
            </a:pPr>
            <a:r>
              <a:rPr dirty="0"/>
              <a:t>Nerve</a:t>
            </a:r>
            <a:r>
              <a:rPr spc="-60" dirty="0"/>
              <a:t> </a:t>
            </a:r>
            <a:r>
              <a:rPr spc="-5" dirty="0"/>
              <a:t>Structure</a:t>
            </a:r>
          </a:p>
        </p:txBody>
      </p:sp>
      <p:sp>
        <p:nvSpPr>
          <p:cNvPr id="4" name="object 4"/>
          <p:cNvSpPr/>
          <p:nvPr/>
        </p:nvSpPr>
        <p:spPr>
          <a:xfrm>
            <a:off x="5638801" y="1524000"/>
            <a:ext cx="3312159" cy="4757420"/>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6" name="object 6"/>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Tree>
    <p:extLst>
      <p:ext uri="{BB962C8B-B14F-4D97-AF65-F5344CB8AC3E}">
        <p14:creationId xmlns:p14="http://schemas.microsoft.com/office/powerpoint/2010/main" val="214700799"/>
      </p:ext>
    </p:extLst>
  </p:cSld>
  <p:clrMapOvr>
    <a:masterClrMapping/>
  </p:clrMapOvr>
  <p:transition>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77060" y="1442720"/>
            <a:ext cx="6893559" cy="2105660"/>
          </a:xfrm>
          <a:prstGeom prst="rect">
            <a:avLst/>
          </a:prstGeom>
        </p:spPr>
        <p:txBody>
          <a:bodyPr vert="horz" wrap="square" lIns="0" tIns="12700" rIns="0" bIns="0" rtlCol="0">
            <a:spAutoFit/>
          </a:bodyPr>
          <a:lstStyle/>
          <a:p>
            <a:pPr marL="355600" indent="-342900">
              <a:spcBef>
                <a:spcPts val="100"/>
              </a:spcBef>
              <a:buChar char="•"/>
              <a:tabLst>
                <a:tab pos="354965" algn="l"/>
                <a:tab pos="355600" algn="l"/>
              </a:tabLst>
            </a:pPr>
            <a:r>
              <a:rPr sz="2800" spc="-15" dirty="0">
                <a:solidFill>
                  <a:srgbClr val="252525"/>
                </a:solidFill>
                <a:latin typeface="Arial"/>
                <a:cs typeface="Arial"/>
              </a:rPr>
              <a:t>preganglionic </a:t>
            </a:r>
            <a:r>
              <a:rPr sz="2800" spc="-5" dirty="0">
                <a:solidFill>
                  <a:srgbClr val="252525"/>
                </a:solidFill>
                <a:latin typeface="Arial"/>
                <a:cs typeface="Arial"/>
              </a:rPr>
              <a:t>and </a:t>
            </a:r>
            <a:r>
              <a:rPr sz="2800" spc="-10" dirty="0">
                <a:solidFill>
                  <a:srgbClr val="252525"/>
                </a:solidFill>
                <a:latin typeface="Arial"/>
                <a:cs typeface="Arial"/>
              </a:rPr>
              <a:t>postganglionic</a:t>
            </a:r>
            <a:r>
              <a:rPr sz="2800" spc="-40" dirty="0">
                <a:solidFill>
                  <a:srgbClr val="252525"/>
                </a:solidFill>
                <a:latin typeface="Arial"/>
                <a:cs typeface="Arial"/>
              </a:rPr>
              <a:t> </a:t>
            </a:r>
            <a:r>
              <a:rPr sz="2800" spc="-15" dirty="0">
                <a:solidFill>
                  <a:srgbClr val="252525"/>
                </a:solidFill>
                <a:latin typeface="Arial"/>
                <a:cs typeface="Arial"/>
              </a:rPr>
              <a:t>neurons</a:t>
            </a:r>
            <a:endParaRPr sz="2800">
              <a:latin typeface="Arial"/>
              <a:cs typeface="Arial"/>
            </a:endParaRPr>
          </a:p>
          <a:p>
            <a:pPr marL="355600" indent="-342900">
              <a:spcBef>
                <a:spcPts val="140"/>
              </a:spcBef>
              <a:buChar char="•"/>
              <a:tabLst>
                <a:tab pos="354965" algn="l"/>
                <a:tab pos="355600" algn="l"/>
              </a:tabLst>
            </a:pPr>
            <a:r>
              <a:rPr sz="2800" spc="-10" dirty="0">
                <a:solidFill>
                  <a:srgbClr val="252525"/>
                </a:solidFill>
                <a:latin typeface="Arial"/>
                <a:cs typeface="Arial"/>
              </a:rPr>
              <a:t>sympathetic</a:t>
            </a:r>
            <a:r>
              <a:rPr sz="2800" spc="-20" dirty="0">
                <a:solidFill>
                  <a:srgbClr val="252525"/>
                </a:solidFill>
                <a:latin typeface="Arial"/>
                <a:cs typeface="Arial"/>
              </a:rPr>
              <a:t> </a:t>
            </a:r>
            <a:r>
              <a:rPr sz="2800" spc="-10" dirty="0">
                <a:solidFill>
                  <a:srgbClr val="252525"/>
                </a:solidFill>
                <a:latin typeface="Arial"/>
                <a:cs typeface="Arial"/>
              </a:rPr>
              <a:t>nerves</a:t>
            </a:r>
            <a:endParaRPr sz="2800">
              <a:latin typeface="Arial"/>
              <a:cs typeface="Arial"/>
            </a:endParaRPr>
          </a:p>
          <a:p>
            <a:pPr marL="755650" lvl="1" indent="-285750">
              <a:spcBef>
                <a:spcPts val="140"/>
              </a:spcBef>
              <a:buChar char="–"/>
              <a:tabLst>
                <a:tab pos="755650" algn="l"/>
              </a:tabLst>
            </a:pPr>
            <a:r>
              <a:rPr sz="2400" spc="-5" dirty="0">
                <a:solidFill>
                  <a:srgbClr val="252525"/>
                </a:solidFill>
                <a:latin typeface="Arial"/>
                <a:cs typeface="Arial"/>
              </a:rPr>
              <a:t>fight-or-flight</a:t>
            </a:r>
            <a:r>
              <a:rPr sz="2400" dirty="0">
                <a:solidFill>
                  <a:srgbClr val="252525"/>
                </a:solidFill>
                <a:latin typeface="Arial"/>
                <a:cs typeface="Arial"/>
              </a:rPr>
              <a:t> </a:t>
            </a:r>
            <a:r>
              <a:rPr sz="2400" spc="-5" dirty="0">
                <a:solidFill>
                  <a:srgbClr val="252525"/>
                </a:solidFill>
                <a:latin typeface="Arial"/>
                <a:cs typeface="Arial"/>
              </a:rPr>
              <a:t>action</a:t>
            </a:r>
            <a:endParaRPr sz="2400">
              <a:latin typeface="Arial"/>
              <a:cs typeface="Arial"/>
            </a:endParaRPr>
          </a:p>
          <a:p>
            <a:pPr marL="355600" indent="-342900">
              <a:spcBef>
                <a:spcPts val="130"/>
              </a:spcBef>
              <a:buChar char="•"/>
              <a:tabLst>
                <a:tab pos="354965" algn="l"/>
                <a:tab pos="355600" algn="l"/>
              </a:tabLst>
            </a:pPr>
            <a:r>
              <a:rPr sz="2800" spc="-5" dirty="0">
                <a:solidFill>
                  <a:srgbClr val="252525"/>
                </a:solidFill>
                <a:latin typeface="Arial"/>
                <a:cs typeface="Arial"/>
              </a:rPr>
              <a:t>parasympathetic</a:t>
            </a:r>
            <a:r>
              <a:rPr sz="2800" spc="-20" dirty="0">
                <a:solidFill>
                  <a:srgbClr val="252525"/>
                </a:solidFill>
                <a:latin typeface="Arial"/>
                <a:cs typeface="Arial"/>
              </a:rPr>
              <a:t> </a:t>
            </a:r>
            <a:r>
              <a:rPr sz="2800" spc="-10" dirty="0">
                <a:solidFill>
                  <a:srgbClr val="252525"/>
                </a:solidFill>
                <a:latin typeface="Arial"/>
                <a:cs typeface="Arial"/>
              </a:rPr>
              <a:t>nerves</a:t>
            </a:r>
            <a:endParaRPr sz="2800">
              <a:latin typeface="Arial"/>
              <a:cs typeface="Arial"/>
            </a:endParaRPr>
          </a:p>
          <a:p>
            <a:pPr marL="755650" lvl="1" indent="-285750">
              <a:spcBef>
                <a:spcPts val="130"/>
              </a:spcBef>
              <a:buChar char="–"/>
              <a:tabLst>
                <a:tab pos="755650" algn="l"/>
              </a:tabLst>
            </a:pPr>
            <a:r>
              <a:rPr sz="2400" spc="-5" dirty="0">
                <a:solidFill>
                  <a:srgbClr val="252525"/>
                </a:solidFill>
                <a:latin typeface="Arial"/>
                <a:cs typeface="Arial"/>
              </a:rPr>
              <a:t>resting or digesting</a:t>
            </a:r>
            <a:r>
              <a:rPr sz="2400" dirty="0">
                <a:solidFill>
                  <a:srgbClr val="252525"/>
                </a:solidFill>
                <a:latin typeface="Arial"/>
                <a:cs typeface="Arial"/>
              </a:rPr>
              <a:t> </a:t>
            </a:r>
            <a:r>
              <a:rPr sz="2400" spc="-5" dirty="0">
                <a:solidFill>
                  <a:srgbClr val="252525"/>
                </a:solidFill>
                <a:latin typeface="Arial"/>
                <a:cs typeface="Arial"/>
              </a:rPr>
              <a:t>action</a:t>
            </a:r>
            <a:endParaRPr sz="2400">
              <a:latin typeface="Arial"/>
              <a:cs typeface="Arial"/>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1864359" y="88641"/>
            <a:ext cx="5403850" cy="1367041"/>
          </a:xfrm>
          <a:prstGeom prst="rect">
            <a:avLst/>
          </a:prstGeom>
        </p:spPr>
        <p:txBody>
          <a:bodyPr vert="horz" wrap="square" lIns="0" tIns="12700" rIns="0" bIns="0" rtlCol="0" anchor="ctr">
            <a:spAutoFit/>
          </a:bodyPr>
          <a:lstStyle/>
          <a:p>
            <a:pPr marL="12700">
              <a:lnSpc>
                <a:spcPct val="100000"/>
              </a:lnSpc>
              <a:spcBef>
                <a:spcPts val="100"/>
              </a:spcBef>
            </a:pPr>
            <a:r>
              <a:rPr spc="-5" dirty="0"/>
              <a:t>Autonomic Nervous</a:t>
            </a:r>
            <a:r>
              <a:rPr spc="-15" dirty="0"/>
              <a:t> </a:t>
            </a:r>
            <a:r>
              <a:rPr spc="-5" dirty="0"/>
              <a:t>System</a:t>
            </a:r>
          </a:p>
        </p:txBody>
      </p:sp>
    </p:spTree>
    <p:extLst>
      <p:ext uri="{BB962C8B-B14F-4D97-AF65-F5344CB8AC3E}">
        <p14:creationId xmlns:p14="http://schemas.microsoft.com/office/powerpoint/2010/main" val="2667405630"/>
      </p:ext>
    </p:extLst>
  </p:cSld>
  <p:clrMapOvr>
    <a:masterClrMapping/>
  </p:clrMapOvr>
  <p:transition>
    <p:dissolv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1660" y="1436581"/>
            <a:ext cx="4636135" cy="3079750"/>
          </a:xfrm>
          <a:prstGeom prst="rect">
            <a:avLst/>
          </a:prstGeom>
        </p:spPr>
        <p:txBody>
          <a:bodyPr vert="horz" wrap="square" lIns="0" tIns="99695" rIns="0" bIns="0" rtlCol="0">
            <a:spAutoFit/>
          </a:bodyPr>
          <a:lstStyle/>
          <a:p>
            <a:pPr marL="381000" indent="-342900">
              <a:spcBef>
                <a:spcPts val="785"/>
              </a:spcBef>
              <a:buChar char="•"/>
              <a:tabLst>
                <a:tab pos="380365" algn="l"/>
                <a:tab pos="381000" algn="l"/>
              </a:tabLst>
            </a:pPr>
            <a:r>
              <a:rPr sz="2800" spc="-10" dirty="0">
                <a:solidFill>
                  <a:srgbClr val="252525"/>
                </a:solidFill>
                <a:latin typeface="Arial"/>
                <a:cs typeface="Arial"/>
              </a:rPr>
              <a:t>somatic nervous</a:t>
            </a:r>
            <a:r>
              <a:rPr sz="2800" spc="-20" dirty="0">
                <a:solidFill>
                  <a:srgbClr val="252525"/>
                </a:solidFill>
                <a:latin typeface="Arial"/>
                <a:cs typeface="Arial"/>
              </a:rPr>
              <a:t> </a:t>
            </a:r>
            <a:r>
              <a:rPr sz="2800" dirty="0">
                <a:solidFill>
                  <a:srgbClr val="252525"/>
                </a:solidFill>
                <a:latin typeface="Arial"/>
                <a:cs typeface="Arial"/>
              </a:rPr>
              <a:t>system</a:t>
            </a:r>
            <a:endParaRPr sz="28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voluntary</a:t>
            </a:r>
            <a:endParaRPr sz="2400">
              <a:latin typeface="Arial"/>
              <a:cs typeface="Arial"/>
            </a:endParaRPr>
          </a:p>
          <a:p>
            <a:pPr marL="381000" indent="-342900">
              <a:spcBef>
                <a:spcPts val="700"/>
              </a:spcBef>
              <a:buChar char="•"/>
              <a:tabLst>
                <a:tab pos="380365" algn="l"/>
                <a:tab pos="381000" algn="l"/>
              </a:tabLst>
            </a:pPr>
            <a:r>
              <a:rPr sz="2800" spc="-15" dirty="0">
                <a:solidFill>
                  <a:srgbClr val="252525"/>
                </a:solidFill>
                <a:latin typeface="Arial"/>
                <a:cs typeface="Arial"/>
              </a:rPr>
              <a:t>autonomic nervous</a:t>
            </a:r>
            <a:r>
              <a:rPr sz="2800" spc="5" dirty="0">
                <a:solidFill>
                  <a:srgbClr val="252525"/>
                </a:solidFill>
                <a:latin typeface="Arial"/>
                <a:cs typeface="Arial"/>
              </a:rPr>
              <a:t> </a:t>
            </a:r>
            <a:r>
              <a:rPr sz="2800" dirty="0">
                <a:solidFill>
                  <a:srgbClr val="252525"/>
                </a:solidFill>
                <a:latin typeface="Arial"/>
                <a:cs typeface="Arial"/>
              </a:rPr>
              <a:t>system</a:t>
            </a:r>
            <a:endParaRPr sz="28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involuntary</a:t>
            </a:r>
            <a:endParaRPr sz="2400">
              <a:latin typeface="Arial"/>
              <a:cs typeface="Arial"/>
            </a:endParaRPr>
          </a:p>
          <a:p>
            <a:pPr marL="1181100" lvl="2" indent="-228600">
              <a:spcBef>
                <a:spcPts val="550"/>
              </a:spcBef>
              <a:buChar char="•"/>
              <a:tabLst>
                <a:tab pos="1180465" algn="l"/>
                <a:tab pos="1181100" algn="l"/>
              </a:tabLst>
            </a:pPr>
            <a:r>
              <a:rPr sz="2200" spc="-15" dirty="0">
                <a:solidFill>
                  <a:srgbClr val="252525"/>
                </a:solidFill>
                <a:latin typeface="Arial"/>
                <a:cs typeface="Arial"/>
              </a:rPr>
              <a:t>Two</a:t>
            </a:r>
            <a:r>
              <a:rPr sz="2200" spc="-5" dirty="0">
                <a:solidFill>
                  <a:srgbClr val="252525"/>
                </a:solidFill>
                <a:latin typeface="Arial"/>
                <a:cs typeface="Arial"/>
              </a:rPr>
              <a:t> </a:t>
            </a:r>
            <a:r>
              <a:rPr sz="2200" spc="-10" dirty="0">
                <a:solidFill>
                  <a:srgbClr val="252525"/>
                </a:solidFill>
                <a:latin typeface="Arial"/>
                <a:cs typeface="Arial"/>
              </a:rPr>
              <a:t>Divisions</a:t>
            </a:r>
            <a:endParaRPr sz="2200">
              <a:latin typeface="Arial"/>
              <a:cs typeface="Arial"/>
            </a:endParaRPr>
          </a:p>
          <a:p>
            <a:pPr marL="1638300" lvl="3" indent="-228600">
              <a:spcBef>
                <a:spcPts val="500"/>
              </a:spcBef>
              <a:buChar char="–"/>
              <a:tabLst>
                <a:tab pos="1638300" algn="l"/>
              </a:tabLst>
            </a:pPr>
            <a:r>
              <a:rPr sz="2000" spc="-5" dirty="0">
                <a:solidFill>
                  <a:srgbClr val="252525"/>
                </a:solidFill>
                <a:latin typeface="Arial"/>
                <a:cs typeface="Arial"/>
              </a:rPr>
              <a:t>sympathetic</a:t>
            </a:r>
            <a:endParaRPr sz="2000">
              <a:latin typeface="Arial"/>
              <a:cs typeface="Arial"/>
            </a:endParaRPr>
          </a:p>
          <a:p>
            <a:pPr marL="1638300" lvl="3" indent="-228600">
              <a:spcBef>
                <a:spcPts val="500"/>
              </a:spcBef>
              <a:buChar char="–"/>
              <a:tabLst>
                <a:tab pos="1638300" algn="l"/>
              </a:tabLst>
            </a:pPr>
            <a:r>
              <a:rPr sz="2000" spc="-5" dirty="0">
                <a:solidFill>
                  <a:srgbClr val="252525"/>
                </a:solidFill>
                <a:latin typeface="Arial"/>
                <a:cs typeface="Arial"/>
              </a:rPr>
              <a:t>parasympathetic</a:t>
            </a:r>
            <a:endParaRPr sz="2000">
              <a:latin typeface="Arial"/>
              <a:cs typeface="Arial"/>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1864359" y="88641"/>
            <a:ext cx="3892550" cy="1367041"/>
          </a:xfrm>
          <a:prstGeom prst="rect">
            <a:avLst/>
          </a:prstGeom>
        </p:spPr>
        <p:txBody>
          <a:bodyPr vert="horz" wrap="square" lIns="0" tIns="12700" rIns="0" bIns="0" rtlCol="0" anchor="ctr">
            <a:spAutoFit/>
          </a:bodyPr>
          <a:lstStyle/>
          <a:p>
            <a:pPr marL="12700">
              <a:lnSpc>
                <a:spcPct val="100000"/>
              </a:lnSpc>
              <a:spcBef>
                <a:spcPts val="100"/>
              </a:spcBef>
            </a:pPr>
            <a:r>
              <a:rPr spc="-5" dirty="0"/>
              <a:t>The Efferent</a:t>
            </a:r>
            <a:r>
              <a:rPr spc="-55" dirty="0"/>
              <a:t> </a:t>
            </a:r>
            <a:r>
              <a:rPr dirty="0"/>
              <a:t>Nerves</a:t>
            </a:r>
          </a:p>
        </p:txBody>
      </p:sp>
    </p:spTree>
    <p:extLst>
      <p:ext uri="{BB962C8B-B14F-4D97-AF65-F5344CB8AC3E}">
        <p14:creationId xmlns:p14="http://schemas.microsoft.com/office/powerpoint/2010/main" val="1452692716"/>
      </p:ext>
    </p:extLst>
  </p:cSld>
  <p:clrMapOvr>
    <a:masterClrMapping/>
  </p:clrMapOvr>
  <p:transition>
    <p:dissolv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1660" y="1436581"/>
            <a:ext cx="7431405" cy="4512310"/>
          </a:xfrm>
          <a:prstGeom prst="rect">
            <a:avLst/>
          </a:prstGeom>
        </p:spPr>
        <p:txBody>
          <a:bodyPr vert="horz" wrap="square" lIns="0" tIns="99695" rIns="0" bIns="0" rtlCol="0">
            <a:spAutoFit/>
          </a:bodyPr>
          <a:lstStyle/>
          <a:p>
            <a:pPr marL="381000" indent="-342900">
              <a:spcBef>
                <a:spcPts val="785"/>
              </a:spcBef>
              <a:buChar char="•"/>
              <a:tabLst>
                <a:tab pos="380365" algn="l"/>
                <a:tab pos="381000" algn="l"/>
              </a:tabLst>
            </a:pPr>
            <a:r>
              <a:rPr sz="2800" spc="-15" dirty="0">
                <a:solidFill>
                  <a:srgbClr val="252525"/>
                </a:solidFill>
                <a:latin typeface="Arial"/>
                <a:cs typeface="Arial"/>
              </a:rPr>
              <a:t>neuroglia</a:t>
            </a:r>
            <a:endParaRPr sz="28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also known as </a:t>
            </a:r>
            <a:r>
              <a:rPr sz="2400" i="1" spc="-5" dirty="0">
                <a:solidFill>
                  <a:srgbClr val="252525"/>
                </a:solidFill>
                <a:latin typeface="Arial"/>
                <a:cs typeface="Arial"/>
              </a:rPr>
              <a:t>glial</a:t>
            </a:r>
            <a:r>
              <a:rPr sz="2400" i="1" spc="30" dirty="0">
                <a:solidFill>
                  <a:srgbClr val="252525"/>
                </a:solidFill>
                <a:latin typeface="Arial"/>
                <a:cs typeface="Arial"/>
              </a:rPr>
              <a:t> </a:t>
            </a:r>
            <a:r>
              <a:rPr sz="2400" i="1" spc="-5" dirty="0">
                <a:solidFill>
                  <a:srgbClr val="252525"/>
                </a:solidFill>
                <a:latin typeface="Arial"/>
                <a:cs typeface="Arial"/>
              </a:rPr>
              <a:t>cells</a:t>
            </a:r>
            <a:endParaRPr sz="24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support the</a:t>
            </a:r>
            <a:r>
              <a:rPr sz="2400" spc="5" dirty="0">
                <a:solidFill>
                  <a:srgbClr val="252525"/>
                </a:solidFill>
                <a:latin typeface="Arial"/>
                <a:cs typeface="Arial"/>
              </a:rPr>
              <a:t> </a:t>
            </a:r>
            <a:r>
              <a:rPr sz="2400" spc="-5" dirty="0">
                <a:solidFill>
                  <a:srgbClr val="252525"/>
                </a:solidFill>
                <a:latin typeface="Arial"/>
                <a:cs typeface="Arial"/>
              </a:rPr>
              <a:t>neurons</a:t>
            </a:r>
            <a:endParaRPr sz="24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protect the</a:t>
            </a:r>
            <a:r>
              <a:rPr sz="2400" dirty="0">
                <a:solidFill>
                  <a:srgbClr val="252525"/>
                </a:solidFill>
                <a:latin typeface="Arial"/>
                <a:cs typeface="Arial"/>
              </a:rPr>
              <a:t> </a:t>
            </a:r>
            <a:r>
              <a:rPr sz="2400" spc="-5" dirty="0">
                <a:solidFill>
                  <a:srgbClr val="252525"/>
                </a:solidFill>
                <a:latin typeface="Arial"/>
                <a:cs typeface="Arial"/>
              </a:rPr>
              <a:t>neurons</a:t>
            </a:r>
            <a:endParaRPr sz="2400">
              <a:latin typeface="Arial"/>
              <a:cs typeface="Arial"/>
            </a:endParaRPr>
          </a:p>
          <a:p>
            <a:pPr marL="781050" marR="330200" lvl="1" indent="-285750">
              <a:spcBef>
                <a:spcPts val="600"/>
              </a:spcBef>
              <a:buChar char="–"/>
              <a:tabLst>
                <a:tab pos="781050" algn="l"/>
              </a:tabLst>
            </a:pPr>
            <a:r>
              <a:rPr sz="2400" spc="-5" dirty="0">
                <a:solidFill>
                  <a:srgbClr val="252525"/>
                </a:solidFill>
                <a:latin typeface="Arial"/>
                <a:cs typeface="Arial"/>
              </a:rPr>
              <a:t>continue </a:t>
            </a:r>
            <a:r>
              <a:rPr sz="2400" dirty="0">
                <a:solidFill>
                  <a:srgbClr val="252525"/>
                </a:solidFill>
                <a:latin typeface="Arial"/>
                <a:cs typeface="Arial"/>
              </a:rPr>
              <a:t>to </a:t>
            </a:r>
            <a:r>
              <a:rPr sz="2400" spc="-5" dirty="0">
                <a:solidFill>
                  <a:srgbClr val="252525"/>
                </a:solidFill>
                <a:latin typeface="Arial"/>
                <a:cs typeface="Arial"/>
              </a:rPr>
              <a:t>divide through adulthood- potential  consequence is abnormal cell division</a:t>
            </a:r>
            <a:r>
              <a:rPr sz="2400" dirty="0">
                <a:solidFill>
                  <a:srgbClr val="252525"/>
                </a:solidFill>
                <a:latin typeface="Arial"/>
                <a:cs typeface="Arial"/>
              </a:rPr>
              <a:t> </a:t>
            </a:r>
            <a:r>
              <a:rPr sz="2400" spc="-5" dirty="0">
                <a:solidFill>
                  <a:srgbClr val="252525"/>
                </a:solidFill>
                <a:latin typeface="Arial"/>
                <a:cs typeface="Arial"/>
              </a:rPr>
              <a:t>(cancer)</a:t>
            </a:r>
            <a:endParaRPr sz="2400">
              <a:latin typeface="Arial"/>
              <a:cs typeface="Arial"/>
            </a:endParaRPr>
          </a:p>
          <a:p>
            <a:pPr marL="781050" lvl="1" indent="-285750">
              <a:spcBef>
                <a:spcPts val="600"/>
              </a:spcBef>
              <a:buChar char="–"/>
              <a:tabLst>
                <a:tab pos="781050" algn="l"/>
              </a:tabLst>
            </a:pPr>
            <a:r>
              <a:rPr sz="2400" dirty="0">
                <a:solidFill>
                  <a:srgbClr val="252525"/>
                </a:solidFill>
                <a:latin typeface="Arial"/>
                <a:cs typeface="Arial"/>
              </a:rPr>
              <a:t>5 </a:t>
            </a:r>
            <a:r>
              <a:rPr sz="2400" spc="-5" dirty="0">
                <a:solidFill>
                  <a:srgbClr val="252525"/>
                </a:solidFill>
                <a:latin typeface="Arial"/>
                <a:cs typeface="Arial"/>
              </a:rPr>
              <a:t>major </a:t>
            </a:r>
            <a:r>
              <a:rPr sz="2400" dirty="0">
                <a:solidFill>
                  <a:srgbClr val="252525"/>
                </a:solidFill>
                <a:latin typeface="Arial"/>
                <a:cs typeface="Arial"/>
              </a:rPr>
              <a:t>types </a:t>
            </a:r>
            <a:r>
              <a:rPr sz="2400" spc="-5" dirty="0">
                <a:solidFill>
                  <a:srgbClr val="252525"/>
                </a:solidFill>
                <a:latin typeface="Arial"/>
                <a:cs typeface="Arial"/>
              </a:rPr>
              <a:t>of glia cells</a:t>
            </a:r>
            <a:endParaRPr sz="2400">
              <a:latin typeface="Arial"/>
              <a:cs typeface="Arial"/>
            </a:endParaRPr>
          </a:p>
          <a:p>
            <a:pPr marL="381000" indent="-342900">
              <a:spcBef>
                <a:spcPts val="690"/>
              </a:spcBef>
              <a:buChar char="•"/>
              <a:tabLst>
                <a:tab pos="380365" algn="l"/>
                <a:tab pos="381000" algn="l"/>
              </a:tabLst>
            </a:pPr>
            <a:r>
              <a:rPr sz="2800" spc="-15" dirty="0">
                <a:solidFill>
                  <a:srgbClr val="252525"/>
                </a:solidFill>
                <a:latin typeface="Arial"/>
                <a:cs typeface="Arial"/>
              </a:rPr>
              <a:t>neurons</a:t>
            </a:r>
            <a:endParaRPr sz="28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transmit nerve</a:t>
            </a:r>
            <a:r>
              <a:rPr sz="2400" dirty="0">
                <a:solidFill>
                  <a:srgbClr val="252525"/>
                </a:solidFill>
                <a:latin typeface="Arial"/>
                <a:cs typeface="Arial"/>
              </a:rPr>
              <a:t> </a:t>
            </a:r>
            <a:r>
              <a:rPr sz="2400" spc="-5" dirty="0">
                <a:solidFill>
                  <a:srgbClr val="252525"/>
                </a:solidFill>
                <a:latin typeface="Arial"/>
                <a:cs typeface="Arial"/>
              </a:rPr>
              <a:t>impulses</a:t>
            </a:r>
            <a:endParaRPr sz="2400">
              <a:latin typeface="Arial"/>
              <a:cs typeface="Arial"/>
            </a:endParaRPr>
          </a:p>
          <a:p>
            <a:pPr marL="781050" lvl="1" indent="-285750">
              <a:spcBef>
                <a:spcPts val="600"/>
              </a:spcBef>
              <a:buChar char="–"/>
              <a:tabLst>
                <a:tab pos="781050" algn="l"/>
              </a:tabLst>
            </a:pPr>
            <a:r>
              <a:rPr sz="2400" dirty="0">
                <a:solidFill>
                  <a:srgbClr val="252525"/>
                </a:solidFill>
                <a:latin typeface="Arial"/>
                <a:cs typeface="Arial"/>
              </a:rPr>
              <a:t>consist </a:t>
            </a:r>
            <a:r>
              <a:rPr sz="2400" spc="-5" dirty="0">
                <a:solidFill>
                  <a:srgbClr val="252525"/>
                </a:solidFill>
                <a:latin typeface="Arial"/>
                <a:cs typeface="Arial"/>
              </a:rPr>
              <a:t>of </a:t>
            </a:r>
            <a:r>
              <a:rPr sz="2400" dirty="0">
                <a:solidFill>
                  <a:srgbClr val="252525"/>
                </a:solidFill>
                <a:latin typeface="Arial"/>
                <a:cs typeface="Arial"/>
              </a:rPr>
              <a:t>a </a:t>
            </a:r>
            <a:r>
              <a:rPr sz="2400" spc="-5" dirty="0">
                <a:solidFill>
                  <a:srgbClr val="252525"/>
                </a:solidFill>
                <a:latin typeface="Arial"/>
                <a:cs typeface="Arial"/>
              </a:rPr>
              <a:t>cell body and at least two</a:t>
            </a:r>
            <a:r>
              <a:rPr sz="2400" spc="25" dirty="0">
                <a:solidFill>
                  <a:srgbClr val="252525"/>
                </a:solidFill>
                <a:latin typeface="Arial"/>
                <a:cs typeface="Arial"/>
              </a:rPr>
              <a:t> </a:t>
            </a:r>
            <a:r>
              <a:rPr sz="2400" dirty="0">
                <a:solidFill>
                  <a:srgbClr val="252525"/>
                </a:solidFill>
                <a:latin typeface="Arial"/>
                <a:cs typeface="Arial"/>
              </a:rPr>
              <a:t>processes.</a:t>
            </a:r>
            <a:endParaRPr sz="2400">
              <a:latin typeface="Arial"/>
              <a:cs typeface="Arial"/>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1864359" y="88641"/>
            <a:ext cx="3201670" cy="1367041"/>
          </a:xfrm>
          <a:prstGeom prst="rect">
            <a:avLst/>
          </a:prstGeom>
        </p:spPr>
        <p:txBody>
          <a:bodyPr vert="horz" wrap="square" lIns="0" tIns="12700" rIns="0" bIns="0" rtlCol="0" anchor="ctr">
            <a:spAutoFit/>
          </a:bodyPr>
          <a:lstStyle/>
          <a:p>
            <a:pPr marL="12700">
              <a:lnSpc>
                <a:spcPct val="100000"/>
              </a:lnSpc>
              <a:spcBef>
                <a:spcPts val="100"/>
              </a:spcBef>
            </a:pPr>
            <a:r>
              <a:rPr spc="-5" dirty="0"/>
              <a:t>Nervous</a:t>
            </a:r>
            <a:r>
              <a:rPr spc="-55" dirty="0"/>
              <a:t> </a:t>
            </a:r>
            <a:r>
              <a:rPr spc="-5" dirty="0"/>
              <a:t>Tissues</a:t>
            </a:r>
          </a:p>
        </p:txBody>
      </p:sp>
    </p:spTree>
    <p:extLst>
      <p:ext uri="{BB962C8B-B14F-4D97-AF65-F5344CB8AC3E}">
        <p14:creationId xmlns:p14="http://schemas.microsoft.com/office/powerpoint/2010/main" val="432567397"/>
      </p:ext>
    </p:extLst>
  </p:cSld>
  <p:clrMapOvr>
    <a:masterClrMapping/>
  </p:clrMapOvr>
  <p:transition>
    <p:dissolv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48200" y="1981200"/>
            <a:ext cx="5657850" cy="4433570"/>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755140" y="1475741"/>
            <a:ext cx="4017010" cy="1977389"/>
          </a:xfrm>
          <a:prstGeom prst="rect">
            <a:avLst/>
          </a:prstGeom>
        </p:spPr>
        <p:txBody>
          <a:bodyPr vert="horz" wrap="square" lIns="0" tIns="12700" rIns="0" bIns="0" rtlCol="0">
            <a:spAutoFit/>
          </a:bodyPr>
          <a:lstStyle/>
          <a:p>
            <a:pPr marL="354330" indent="-341630">
              <a:spcBef>
                <a:spcPts val="100"/>
              </a:spcBef>
              <a:buChar char="•"/>
              <a:tabLst>
                <a:tab pos="353695" algn="l"/>
                <a:tab pos="354330" algn="l"/>
              </a:tabLst>
            </a:pPr>
            <a:r>
              <a:rPr sz="2800" spc="-5" dirty="0">
                <a:solidFill>
                  <a:srgbClr val="252525"/>
                </a:solidFill>
                <a:latin typeface="Arial"/>
                <a:cs typeface="Arial"/>
              </a:rPr>
              <a:t>central </a:t>
            </a:r>
            <a:r>
              <a:rPr sz="2800" spc="-10" dirty="0">
                <a:solidFill>
                  <a:srgbClr val="252525"/>
                </a:solidFill>
                <a:latin typeface="Arial"/>
                <a:cs typeface="Arial"/>
              </a:rPr>
              <a:t>nervous</a:t>
            </a:r>
            <a:r>
              <a:rPr sz="2800" spc="-80" dirty="0">
                <a:solidFill>
                  <a:srgbClr val="252525"/>
                </a:solidFill>
                <a:latin typeface="Arial"/>
                <a:cs typeface="Arial"/>
              </a:rPr>
              <a:t> </a:t>
            </a:r>
            <a:r>
              <a:rPr sz="2800" dirty="0">
                <a:solidFill>
                  <a:srgbClr val="252525"/>
                </a:solidFill>
                <a:latin typeface="Arial"/>
                <a:cs typeface="Arial"/>
              </a:rPr>
              <a:t>system</a:t>
            </a:r>
            <a:endParaRPr sz="2800">
              <a:latin typeface="Arial"/>
              <a:cs typeface="Arial"/>
            </a:endParaRPr>
          </a:p>
          <a:p>
            <a:pPr marL="754380" lvl="1" indent="-284480">
              <a:spcBef>
                <a:spcPts val="130"/>
              </a:spcBef>
              <a:buChar char="–"/>
              <a:tabLst>
                <a:tab pos="754380" algn="l"/>
              </a:tabLst>
            </a:pPr>
            <a:r>
              <a:rPr sz="2400" dirty="0">
                <a:solidFill>
                  <a:srgbClr val="252525"/>
                </a:solidFill>
                <a:latin typeface="Arial"/>
                <a:cs typeface="Arial"/>
              </a:rPr>
              <a:t>astrocytes</a:t>
            </a:r>
            <a:endParaRPr sz="2400">
              <a:latin typeface="Arial"/>
              <a:cs typeface="Arial"/>
            </a:endParaRPr>
          </a:p>
          <a:p>
            <a:pPr marL="754380" lvl="1" indent="-284480">
              <a:spcBef>
                <a:spcPts val="120"/>
              </a:spcBef>
              <a:buChar char="–"/>
              <a:tabLst>
                <a:tab pos="754380" algn="l"/>
              </a:tabLst>
            </a:pPr>
            <a:r>
              <a:rPr sz="2400" spc="-5" dirty="0">
                <a:solidFill>
                  <a:srgbClr val="252525"/>
                </a:solidFill>
                <a:latin typeface="Arial"/>
                <a:cs typeface="Arial"/>
              </a:rPr>
              <a:t>microglia</a:t>
            </a:r>
            <a:endParaRPr sz="2400">
              <a:latin typeface="Arial"/>
              <a:cs typeface="Arial"/>
            </a:endParaRPr>
          </a:p>
          <a:p>
            <a:pPr marL="754380" lvl="1" indent="-284480">
              <a:spcBef>
                <a:spcPts val="120"/>
              </a:spcBef>
              <a:buChar char="–"/>
              <a:tabLst>
                <a:tab pos="754380" algn="l"/>
              </a:tabLst>
            </a:pPr>
            <a:r>
              <a:rPr sz="2400" spc="-5" dirty="0">
                <a:solidFill>
                  <a:srgbClr val="252525"/>
                </a:solidFill>
                <a:latin typeface="Arial"/>
                <a:cs typeface="Arial"/>
              </a:rPr>
              <a:t>ependymal</a:t>
            </a:r>
            <a:endParaRPr sz="2400">
              <a:latin typeface="Arial"/>
              <a:cs typeface="Arial"/>
            </a:endParaRPr>
          </a:p>
          <a:p>
            <a:pPr marL="754380" lvl="1" indent="-284480">
              <a:spcBef>
                <a:spcPts val="120"/>
              </a:spcBef>
              <a:buChar char="–"/>
              <a:tabLst>
                <a:tab pos="754380" algn="l"/>
              </a:tabLst>
            </a:pPr>
            <a:r>
              <a:rPr sz="2400" spc="-5" dirty="0">
                <a:solidFill>
                  <a:srgbClr val="252525"/>
                </a:solidFill>
                <a:latin typeface="Arial"/>
                <a:cs typeface="Arial"/>
              </a:rPr>
              <a:t>oligodendrocytes</a:t>
            </a:r>
            <a:endParaRPr sz="2400">
              <a:latin typeface="Arial"/>
              <a:cs typeface="Arial"/>
            </a:endParaRPr>
          </a:p>
        </p:txBody>
      </p:sp>
      <p:sp>
        <p:nvSpPr>
          <p:cNvPr id="5" name="object 5"/>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6" name="object 6"/>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4" name="object 4"/>
          <p:cNvSpPr txBox="1">
            <a:spLocks noGrp="1"/>
          </p:cNvSpPr>
          <p:nvPr>
            <p:ph type="title"/>
          </p:nvPr>
        </p:nvSpPr>
        <p:spPr>
          <a:xfrm>
            <a:off x="1864359" y="427195"/>
            <a:ext cx="2514458" cy="689932"/>
          </a:xfrm>
          <a:prstGeom prst="rect">
            <a:avLst/>
          </a:prstGeom>
        </p:spPr>
        <p:txBody>
          <a:bodyPr vert="horz" wrap="square" lIns="0" tIns="12700" rIns="0" bIns="0" rtlCol="0" anchor="ctr">
            <a:spAutoFit/>
          </a:bodyPr>
          <a:lstStyle/>
          <a:p>
            <a:pPr marL="12700">
              <a:lnSpc>
                <a:spcPct val="100000"/>
              </a:lnSpc>
              <a:spcBef>
                <a:spcPts val="100"/>
              </a:spcBef>
            </a:pPr>
            <a:r>
              <a:rPr spc="-5" dirty="0"/>
              <a:t>Neuroglia</a:t>
            </a:r>
          </a:p>
        </p:txBody>
      </p:sp>
    </p:spTree>
    <p:extLst>
      <p:ext uri="{BB962C8B-B14F-4D97-AF65-F5344CB8AC3E}">
        <p14:creationId xmlns:p14="http://schemas.microsoft.com/office/powerpoint/2010/main" val="1895480855"/>
      </p:ext>
    </p:extLst>
  </p:cSld>
  <p:clrMapOvr>
    <a:masterClrMapping/>
  </p:clrMapOvr>
  <p:transition>
    <p:dissolv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1659" y="1436581"/>
            <a:ext cx="4577080" cy="1422400"/>
          </a:xfrm>
          <a:prstGeom prst="rect">
            <a:avLst/>
          </a:prstGeom>
        </p:spPr>
        <p:txBody>
          <a:bodyPr vert="horz" wrap="square" lIns="0" tIns="99695" rIns="0" bIns="0" rtlCol="0">
            <a:spAutoFit/>
          </a:bodyPr>
          <a:lstStyle/>
          <a:p>
            <a:pPr marL="381000" indent="-342900">
              <a:spcBef>
                <a:spcPts val="785"/>
              </a:spcBef>
              <a:buChar char="•"/>
              <a:tabLst>
                <a:tab pos="380365" algn="l"/>
                <a:tab pos="381000" algn="l"/>
              </a:tabLst>
            </a:pPr>
            <a:r>
              <a:rPr sz="2800" spc="-10" dirty="0">
                <a:solidFill>
                  <a:srgbClr val="252525"/>
                </a:solidFill>
                <a:latin typeface="Arial"/>
                <a:cs typeface="Arial"/>
              </a:rPr>
              <a:t>peripheral nervous</a:t>
            </a:r>
            <a:r>
              <a:rPr sz="2800" spc="-60" dirty="0">
                <a:solidFill>
                  <a:srgbClr val="252525"/>
                </a:solidFill>
                <a:latin typeface="Arial"/>
                <a:cs typeface="Arial"/>
              </a:rPr>
              <a:t> </a:t>
            </a:r>
            <a:r>
              <a:rPr sz="2800" dirty="0">
                <a:solidFill>
                  <a:srgbClr val="252525"/>
                </a:solidFill>
                <a:latin typeface="Arial"/>
                <a:cs typeface="Arial"/>
              </a:rPr>
              <a:t>system</a:t>
            </a:r>
            <a:endParaRPr sz="2800">
              <a:latin typeface="Arial"/>
              <a:cs typeface="Arial"/>
            </a:endParaRPr>
          </a:p>
          <a:p>
            <a:pPr marL="781050" lvl="1" indent="-285750">
              <a:spcBef>
                <a:spcPts val="590"/>
              </a:spcBef>
              <a:buChar char="–"/>
              <a:tabLst>
                <a:tab pos="781050" algn="l"/>
              </a:tabLst>
            </a:pPr>
            <a:r>
              <a:rPr sz="2400" spc="-10" dirty="0">
                <a:solidFill>
                  <a:srgbClr val="252525"/>
                </a:solidFill>
                <a:latin typeface="Arial"/>
                <a:cs typeface="Arial"/>
              </a:rPr>
              <a:t>Schwann</a:t>
            </a:r>
            <a:r>
              <a:rPr sz="2400" spc="-5" dirty="0">
                <a:solidFill>
                  <a:srgbClr val="252525"/>
                </a:solidFill>
                <a:latin typeface="Arial"/>
                <a:cs typeface="Arial"/>
              </a:rPr>
              <a:t> cells</a:t>
            </a:r>
            <a:endParaRPr sz="24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satellite cells</a:t>
            </a:r>
            <a:endParaRPr sz="2400">
              <a:latin typeface="Arial"/>
              <a:cs typeface="Arial"/>
            </a:endParaRPr>
          </a:p>
        </p:txBody>
      </p:sp>
      <p:sp>
        <p:nvSpPr>
          <p:cNvPr id="3" name="object 3"/>
          <p:cNvSpPr txBox="1">
            <a:spLocks noGrp="1"/>
          </p:cNvSpPr>
          <p:nvPr>
            <p:ph type="title"/>
          </p:nvPr>
        </p:nvSpPr>
        <p:spPr>
          <a:xfrm>
            <a:off x="1864359" y="88641"/>
            <a:ext cx="1959610" cy="1367041"/>
          </a:xfrm>
          <a:prstGeom prst="rect">
            <a:avLst/>
          </a:prstGeom>
        </p:spPr>
        <p:txBody>
          <a:bodyPr vert="horz" wrap="square" lIns="0" tIns="12700" rIns="0" bIns="0" rtlCol="0" anchor="ctr">
            <a:spAutoFit/>
          </a:bodyPr>
          <a:lstStyle/>
          <a:p>
            <a:pPr marL="12700">
              <a:lnSpc>
                <a:spcPct val="100000"/>
              </a:lnSpc>
              <a:spcBef>
                <a:spcPts val="100"/>
              </a:spcBef>
            </a:pPr>
            <a:r>
              <a:rPr spc="-5" dirty="0"/>
              <a:t>Neuroglia</a:t>
            </a:r>
          </a:p>
        </p:txBody>
      </p:sp>
      <p:sp>
        <p:nvSpPr>
          <p:cNvPr id="4" name="object 4"/>
          <p:cNvSpPr/>
          <p:nvPr/>
        </p:nvSpPr>
        <p:spPr>
          <a:xfrm>
            <a:off x="1905000" y="3429000"/>
            <a:ext cx="8153400" cy="2496820"/>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6" name="object 6"/>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Tree>
    <p:extLst>
      <p:ext uri="{BB962C8B-B14F-4D97-AF65-F5344CB8AC3E}">
        <p14:creationId xmlns:p14="http://schemas.microsoft.com/office/powerpoint/2010/main" val="3638223336"/>
      </p:ext>
    </p:extLst>
  </p:cSld>
  <p:clrMapOvr>
    <a:masterClrMapping/>
  </p:clrMapOvr>
  <p:transition>
    <p:dissolv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77060" y="1442720"/>
            <a:ext cx="5794375" cy="2105660"/>
          </a:xfrm>
          <a:prstGeom prst="rect">
            <a:avLst/>
          </a:prstGeom>
        </p:spPr>
        <p:txBody>
          <a:bodyPr vert="horz" wrap="square" lIns="0" tIns="12700" rIns="0" bIns="0" rtlCol="0">
            <a:spAutoFit/>
          </a:bodyPr>
          <a:lstStyle/>
          <a:p>
            <a:pPr marL="355600" indent="-342900">
              <a:spcBef>
                <a:spcPts val="100"/>
              </a:spcBef>
              <a:buChar char="•"/>
              <a:tabLst>
                <a:tab pos="354965" algn="l"/>
                <a:tab pos="355600" algn="l"/>
              </a:tabLst>
            </a:pPr>
            <a:r>
              <a:rPr sz="2800" spc="-15" dirty="0">
                <a:solidFill>
                  <a:srgbClr val="252525"/>
                </a:solidFill>
                <a:latin typeface="Arial"/>
                <a:cs typeface="Arial"/>
              </a:rPr>
              <a:t>dendrites</a:t>
            </a:r>
            <a:endParaRPr sz="2800">
              <a:latin typeface="Arial"/>
              <a:cs typeface="Arial"/>
            </a:endParaRPr>
          </a:p>
          <a:p>
            <a:pPr marL="755650" lvl="1" indent="-285750">
              <a:spcBef>
                <a:spcPts val="130"/>
              </a:spcBef>
              <a:buChar char="–"/>
              <a:tabLst>
                <a:tab pos="755650" algn="l"/>
              </a:tabLst>
            </a:pPr>
            <a:r>
              <a:rPr sz="2400" spc="-5" dirty="0">
                <a:solidFill>
                  <a:srgbClr val="252525"/>
                </a:solidFill>
                <a:latin typeface="Arial"/>
                <a:cs typeface="Arial"/>
              </a:rPr>
              <a:t>send information </a:t>
            </a:r>
            <a:r>
              <a:rPr sz="2400" dirty="0">
                <a:solidFill>
                  <a:srgbClr val="252525"/>
                </a:solidFill>
                <a:latin typeface="Arial"/>
                <a:cs typeface="Arial"/>
              </a:rPr>
              <a:t>to </a:t>
            </a:r>
            <a:r>
              <a:rPr sz="2400" spc="-5" dirty="0">
                <a:solidFill>
                  <a:srgbClr val="252525"/>
                </a:solidFill>
                <a:latin typeface="Arial"/>
                <a:cs typeface="Arial"/>
              </a:rPr>
              <a:t>cell</a:t>
            </a:r>
            <a:r>
              <a:rPr sz="2400" spc="-15" dirty="0">
                <a:solidFill>
                  <a:srgbClr val="252525"/>
                </a:solidFill>
                <a:latin typeface="Arial"/>
                <a:cs typeface="Arial"/>
              </a:rPr>
              <a:t> </a:t>
            </a:r>
            <a:r>
              <a:rPr sz="2400" spc="-5" dirty="0">
                <a:solidFill>
                  <a:srgbClr val="252525"/>
                </a:solidFill>
                <a:latin typeface="Arial"/>
                <a:cs typeface="Arial"/>
              </a:rPr>
              <a:t>body</a:t>
            </a:r>
            <a:endParaRPr sz="2400">
              <a:latin typeface="Arial"/>
              <a:cs typeface="Arial"/>
            </a:endParaRPr>
          </a:p>
          <a:p>
            <a:pPr marL="355600" indent="-342900">
              <a:spcBef>
                <a:spcPts val="130"/>
              </a:spcBef>
              <a:buChar char="•"/>
              <a:tabLst>
                <a:tab pos="354965" algn="l"/>
                <a:tab pos="355600" algn="l"/>
              </a:tabLst>
            </a:pPr>
            <a:r>
              <a:rPr sz="2800" spc="-15" dirty="0">
                <a:solidFill>
                  <a:srgbClr val="252525"/>
                </a:solidFill>
                <a:latin typeface="Arial"/>
                <a:cs typeface="Arial"/>
              </a:rPr>
              <a:t>cell</a:t>
            </a:r>
            <a:r>
              <a:rPr sz="2800" spc="-30" dirty="0">
                <a:solidFill>
                  <a:srgbClr val="252525"/>
                </a:solidFill>
                <a:latin typeface="Arial"/>
                <a:cs typeface="Arial"/>
              </a:rPr>
              <a:t> </a:t>
            </a:r>
            <a:r>
              <a:rPr sz="2800" spc="-15" dirty="0">
                <a:solidFill>
                  <a:srgbClr val="252525"/>
                </a:solidFill>
                <a:latin typeface="Arial"/>
                <a:cs typeface="Arial"/>
              </a:rPr>
              <a:t>bodies</a:t>
            </a:r>
            <a:endParaRPr sz="2800">
              <a:latin typeface="Arial"/>
              <a:cs typeface="Arial"/>
            </a:endParaRPr>
          </a:p>
          <a:p>
            <a:pPr marL="355600" indent="-342900">
              <a:spcBef>
                <a:spcPts val="150"/>
              </a:spcBef>
              <a:buChar char="•"/>
              <a:tabLst>
                <a:tab pos="354965" algn="l"/>
                <a:tab pos="355600" algn="l"/>
              </a:tabLst>
            </a:pPr>
            <a:r>
              <a:rPr sz="2800" spc="-5" dirty="0">
                <a:solidFill>
                  <a:srgbClr val="252525"/>
                </a:solidFill>
                <a:latin typeface="Arial"/>
                <a:cs typeface="Arial"/>
              </a:rPr>
              <a:t>axons</a:t>
            </a:r>
            <a:endParaRPr sz="2800">
              <a:latin typeface="Arial"/>
              <a:cs typeface="Arial"/>
            </a:endParaRPr>
          </a:p>
          <a:p>
            <a:pPr marL="755650" lvl="1" indent="-285750">
              <a:spcBef>
                <a:spcPts val="130"/>
              </a:spcBef>
              <a:buChar char="–"/>
              <a:tabLst>
                <a:tab pos="755650" algn="l"/>
              </a:tabLst>
            </a:pPr>
            <a:r>
              <a:rPr sz="2400" spc="-5" dirty="0">
                <a:solidFill>
                  <a:srgbClr val="252525"/>
                </a:solidFill>
                <a:latin typeface="Arial"/>
                <a:cs typeface="Arial"/>
              </a:rPr>
              <a:t>send information away from cell</a:t>
            </a:r>
            <a:r>
              <a:rPr sz="2400" spc="-30" dirty="0">
                <a:solidFill>
                  <a:srgbClr val="252525"/>
                </a:solidFill>
                <a:latin typeface="Arial"/>
                <a:cs typeface="Arial"/>
              </a:rPr>
              <a:t> </a:t>
            </a:r>
            <a:r>
              <a:rPr sz="2400" dirty="0">
                <a:solidFill>
                  <a:srgbClr val="252525"/>
                </a:solidFill>
                <a:latin typeface="Arial"/>
                <a:cs typeface="Arial"/>
              </a:rPr>
              <a:t>body</a:t>
            </a:r>
            <a:endParaRPr sz="2400">
              <a:latin typeface="Arial"/>
              <a:cs typeface="Arial"/>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1864360" y="427195"/>
            <a:ext cx="2140970" cy="689932"/>
          </a:xfrm>
          <a:prstGeom prst="rect">
            <a:avLst/>
          </a:prstGeom>
        </p:spPr>
        <p:txBody>
          <a:bodyPr vert="horz" wrap="square" lIns="0" tIns="12700" rIns="0" bIns="0" rtlCol="0" anchor="ctr">
            <a:spAutoFit/>
          </a:bodyPr>
          <a:lstStyle/>
          <a:p>
            <a:pPr marL="12700">
              <a:lnSpc>
                <a:spcPct val="100000"/>
              </a:lnSpc>
              <a:spcBef>
                <a:spcPts val="100"/>
              </a:spcBef>
            </a:pPr>
            <a:r>
              <a:rPr dirty="0"/>
              <a:t>N</a:t>
            </a:r>
            <a:r>
              <a:rPr spc="5" dirty="0"/>
              <a:t>e</a:t>
            </a:r>
            <a:r>
              <a:rPr spc="-10" dirty="0"/>
              <a:t>u</a:t>
            </a:r>
            <a:r>
              <a:rPr dirty="0"/>
              <a:t>ro</a:t>
            </a:r>
            <a:r>
              <a:rPr spc="-10" dirty="0"/>
              <a:t>n</a:t>
            </a:r>
            <a:r>
              <a:rPr dirty="0"/>
              <a:t>s</a:t>
            </a:r>
          </a:p>
        </p:txBody>
      </p:sp>
    </p:spTree>
    <p:extLst>
      <p:ext uri="{BB962C8B-B14F-4D97-AF65-F5344CB8AC3E}">
        <p14:creationId xmlns:p14="http://schemas.microsoft.com/office/powerpoint/2010/main" val="374567125"/>
      </p:ext>
    </p:extLst>
  </p:cSld>
  <p:clrMapOvr>
    <a:masterClrMapping/>
  </p:clrMapOvr>
  <p:transition>
    <p:dissolv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1660" y="1436581"/>
            <a:ext cx="4982845" cy="2894330"/>
          </a:xfrm>
          <a:prstGeom prst="rect">
            <a:avLst/>
          </a:prstGeom>
        </p:spPr>
        <p:txBody>
          <a:bodyPr vert="horz" wrap="square" lIns="0" tIns="99695" rIns="0" bIns="0" rtlCol="0">
            <a:spAutoFit/>
          </a:bodyPr>
          <a:lstStyle/>
          <a:p>
            <a:pPr marL="381000" indent="-342900">
              <a:spcBef>
                <a:spcPts val="785"/>
              </a:spcBef>
              <a:buChar char="•"/>
              <a:tabLst>
                <a:tab pos="380365" algn="l"/>
                <a:tab pos="381000" algn="l"/>
              </a:tabLst>
            </a:pPr>
            <a:r>
              <a:rPr sz="2800" spc="-5" dirty="0">
                <a:solidFill>
                  <a:srgbClr val="252525"/>
                </a:solidFill>
                <a:latin typeface="Arial"/>
                <a:cs typeface="Arial"/>
              </a:rPr>
              <a:t>sensory</a:t>
            </a:r>
            <a:r>
              <a:rPr sz="2800" dirty="0">
                <a:solidFill>
                  <a:srgbClr val="252525"/>
                </a:solidFill>
                <a:latin typeface="Arial"/>
                <a:cs typeface="Arial"/>
              </a:rPr>
              <a:t> </a:t>
            </a:r>
            <a:r>
              <a:rPr sz="2800" spc="-15" dirty="0">
                <a:solidFill>
                  <a:srgbClr val="252525"/>
                </a:solidFill>
                <a:latin typeface="Arial"/>
                <a:cs typeface="Arial"/>
              </a:rPr>
              <a:t>neurons</a:t>
            </a:r>
            <a:endParaRPr sz="28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send impulses toward</a:t>
            </a:r>
            <a:r>
              <a:rPr sz="2400" dirty="0">
                <a:solidFill>
                  <a:srgbClr val="252525"/>
                </a:solidFill>
                <a:latin typeface="Arial"/>
                <a:cs typeface="Arial"/>
              </a:rPr>
              <a:t> </a:t>
            </a:r>
            <a:r>
              <a:rPr sz="2400" spc="-10" dirty="0">
                <a:solidFill>
                  <a:srgbClr val="252525"/>
                </a:solidFill>
                <a:latin typeface="Arial"/>
                <a:cs typeface="Arial"/>
              </a:rPr>
              <a:t>CNS</a:t>
            </a:r>
            <a:endParaRPr sz="2400">
              <a:latin typeface="Arial"/>
              <a:cs typeface="Arial"/>
            </a:endParaRPr>
          </a:p>
          <a:p>
            <a:pPr marL="381000" indent="-342900">
              <a:spcBef>
                <a:spcPts val="700"/>
              </a:spcBef>
              <a:buChar char="•"/>
              <a:tabLst>
                <a:tab pos="380365" algn="l"/>
                <a:tab pos="381000" algn="l"/>
              </a:tabLst>
            </a:pPr>
            <a:r>
              <a:rPr sz="2800" spc="-10" dirty="0">
                <a:solidFill>
                  <a:srgbClr val="252525"/>
                </a:solidFill>
                <a:latin typeface="Arial"/>
                <a:cs typeface="Arial"/>
              </a:rPr>
              <a:t>motor</a:t>
            </a:r>
            <a:r>
              <a:rPr sz="2800" dirty="0">
                <a:solidFill>
                  <a:srgbClr val="252525"/>
                </a:solidFill>
                <a:latin typeface="Arial"/>
                <a:cs typeface="Arial"/>
              </a:rPr>
              <a:t> </a:t>
            </a:r>
            <a:r>
              <a:rPr sz="2800" spc="-15" dirty="0">
                <a:solidFill>
                  <a:srgbClr val="252525"/>
                </a:solidFill>
                <a:latin typeface="Arial"/>
                <a:cs typeface="Arial"/>
              </a:rPr>
              <a:t>neurons</a:t>
            </a:r>
            <a:endParaRPr sz="28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send impulses away from</a:t>
            </a:r>
            <a:r>
              <a:rPr sz="2400" spc="-10" dirty="0">
                <a:solidFill>
                  <a:srgbClr val="252525"/>
                </a:solidFill>
                <a:latin typeface="Arial"/>
                <a:cs typeface="Arial"/>
              </a:rPr>
              <a:t> CNS</a:t>
            </a:r>
            <a:endParaRPr sz="2400">
              <a:latin typeface="Arial"/>
              <a:cs typeface="Arial"/>
            </a:endParaRPr>
          </a:p>
          <a:p>
            <a:pPr marL="381000" indent="-342900">
              <a:spcBef>
                <a:spcPts val="700"/>
              </a:spcBef>
              <a:buChar char="•"/>
              <a:tabLst>
                <a:tab pos="380365" algn="l"/>
                <a:tab pos="381000" algn="l"/>
              </a:tabLst>
            </a:pPr>
            <a:r>
              <a:rPr sz="2800" spc="-15" dirty="0">
                <a:solidFill>
                  <a:srgbClr val="252525"/>
                </a:solidFill>
                <a:latin typeface="Arial"/>
                <a:cs typeface="Arial"/>
              </a:rPr>
              <a:t>Interneurons</a:t>
            </a:r>
            <a:endParaRPr sz="28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bridges between</a:t>
            </a:r>
            <a:r>
              <a:rPr sz="2400" dirty="0">
                <a:solidFill>
                  <a:srgbClr val="252525"/>
                </a:solidFill>
                <a:latin typeface="Arial"/>
                <a:cs typeface="Arial"/>
              </a:rPr>
              <a:t> </a:t>
            </a:r>
            <a:r>
              <a:rPr sz="2400" spc="-5" dirty="0">
                <a:solidFill>
                  <a:srgbClr val="252525"/>
                </a:solidFill>
                <a:latin typeface="Arial"/>
                <a:cs typeface="Arial"/>
              </a:rPr>
              <a:t>neurons</a:t>
            </a:r>
            <a:endParaRPr sz="2400">
              <a:latin typeface="Arial"/>
              <a:cs typeface="Arial"/>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1864359" y="88641"/>
            <a:ext cx="5157470" cy="1367041"/>
          </a:xfrm>
          <a:prstGeom prst="rect">
            <a:avLst/>
          </a:prstGeom>
        </p:spPr>
        <p:txBody>
          <a:bodyPr vert="horz" wrap="square" lIns="0" tIns="12700" rIns="0" bIns="0" rtlCol="0" anchor="ctr">
            <a:spAutoFit/>
          </a:bodyPr>
          <a:lstStyle/>
          <a:p>
            <a:pPr marL="12700">
              <a:lnSpc>
                <a:spcPct val="100000"/>
              </a:lnSpc>
              <a:spcBef>
                <a:spcPts val="100"/>
              </a:spcBef>
            </a:pPr>
            <a:r>
              <a:rPr spc="-5" dirty="0"/>
              <a:t>Neuron Types </a:t>
            </a:r>
            <a:r>
              <a:rPr dirty="0"/>
              <a:t>by</a:t>
            </a:r>
            <a:r>
              <a:rPr spc="-50" dirty="0"/>
              <a:t> </a:t>
            </a:r>
            <a:r>
              <a:rPr spc="-5" dirty="0"/>
              <a:t>Function</a:t>
            </a:r>
          </a:p>
        </p:txBody>
      </p:sp>
    </p:spTree>
    <p:extLst>
      <p:ext uri="{BB962C8B-B14F-4D97-AF65-F5344CB8AC3E}">
        <p14:creationId xmlns:p14="http://schemas.microsoft.com/office/powerpoint/2010/main" val="551384266"/>
      </p:ext>
    </p:extLst>
  </p:cSld>
  <p:clrMapOvr>
    <a:masterClrMapping/>
  </p:clrMapOvr>
  <p:transition>
    <p:dissolv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57400" y="3200400"/>
            <a:ext cx="7885430" cy="3200400"/>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907540" y="1475740"/>
            <a:ext cx="2023110" cy="1445260"/>
          </a:xfrm>
          <a:prstGeom prst="rect">
            <a:avLst/>
          </a:prstGeom>
        </p:spPr>
        <p:txBody>
          <a:bodyPr vert="horz" wrap="square" lIns="0" tIns="12700" rIns="0" bIns="0" rtlCol="0">
            <a:spAutoFit/>
          </a:bodyPr>
          <a:lstStyle/>
          <a:p>
            <a:pPr marL="355600" indent="-342900">
              <a:spcBef>
                <a:spcPts val="100"/>
              </a:spcBef>
              <a:buChar char="•"/>
              <a:tabLst>
                <a:tab pos="354965" algn="l"/>
                <a:tab pos="355600" algn="l"/>
              </a:tabLst>
            </a:pPr>
            <a:r>
              <a:rPr sz="2800" spc="-10" dirty="0">
                <a:solidFill>
                  <a:srgbClr val="252525"/>
                </a:solidFill>
                <a:latin typeface="Arial"/>
                <a:cs typeface="Arial"/>
              </a:rPr>
              <a:t>bipolar</a:t>
            </a:r>
            <a:endParaRPr sz="2800">
              <a:latin typeface="Arial"/>
              <a:cs typeface="Arial"/>
            </a:endParaRPr>
          </a:p>
          <a:p>
            <a:pPr marL="755650" marR="5080" indent="-285750">
              <a:lnSpc>
                <a:spcPct val="83500"/>
              </a:lnSpc>
              <a:spcBef>
                <a:spcPts val="605"/>
              </a:spcBef>
            </a:pPr>
            <a:r>
              <a:rPr sz="2400" dirty="0">
                <a:solidFill>
                  <a:srgbClr val="252525"/>
                </a:solidFill>
                <a:latin typeface="Arial"/>
                <a:cs typeface="Arial"/>
              </a:rPr>
              <a:t>– </a:t>
            </a:r>
            <a:r>
              <a:rPr sz="2400" spc="-5" dirty="0">
                <a:solidFill>
                  <a:srgbClr val="252525"/>
                </a:solidFill>
                <a:latin typeface="Arial"/>
                <a:cs typeface="Arial"/>
              </a:rPr>
              <a:t>one </a:t>
            </a:r>
            <a:r>
              <a:rPr sz="2400" dirty="0">
                <a:solidFill>
                  <a:srgbClr val="252525"/>
                </a:solidFill>
                <a:latin typeface="Arial"/>
                <a:cs typeface="Arial"/>
              </a:rPr>
              <a:t>axon  </a:t>
            </a:r>
            <a:r>
              <a:rPr sz="2400" spc="-5" dirty="0">
                <a:solidFill>
                  <a:srgbClr val="252525"/>
                </a:solidFill>
                <a:latin typeface="Arial"/>
                <a:cs typeface="Arial"/>
              </a:rPr>
              <a:t>and one  dendrite</a:t>
            </a:r>
            <a:endParaRPr sz="2400">
              <a:latin typeface="Arial"/>
              <a:cs typeface="Arial"/>
            </a:endParaRPr>
          </a:p>
        </p:txBody>
      </p:sp>
      <p:sp>
        <p:nvSpPr>
          <p:cNvPr id="7" name="object 7"/>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8" name="object 8"/>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4" name="object 4"/>
          <p:cNvSpPr txBox="1">
            <a:spLocks noGrp="1"/>
          </p:cNvSpPr>
          <p:nvPr>
            <p:ph type="title"/>
          </p:nvPr>
        </p:nvSpPr>
        <p:spPr>
          <a:xfrm>
            <a:off x="1864359" y="88641"/>
            <a:ext cx="3552190" cy="1367041"/>
          </a:xfrm>
          <a:prstGeom prst="rect">
            <a:avLst/>
          </a:prstGeom>
        </p:spPr>
        <p:txBody>
          <a:bodyPr vert="horz" wrap="square" lIns="0" tIns="12700" rIns="0" bIns="0" rtlCol="0" anchor="ctr">
            <a:spAutoFit/>
          </a:bodyPr>
          <a:lstStyle/>
          <a:p>
            <a:pPr marL="12700">
              <a:lnSpc>
                <a:spcPct val="100000"/>
              </a:lnSpc>
              <a:spcBef>
                <a:spcPts val="100"/>
              </a:spcBef>
            </a:pPr>
            <a:r>
              <a:rPr spc="-5" dirty="0"/>
              <a:t>Neuron</a:t>
            </a:r>
            <a:r>
              <a:rPr spc="-50" dirty="0"/>
              <a:t> </a:t>
            </a:r>
            <a:r>
              <a:rPr spc="-5" dirty="0"/>
              <a:t>Structures</a:t>
            </a:r>
          </a:p>
        </p:txBody>
      </p:sp>
      <p:sp>
        <p:nvSpPr>
          <p:cNvPr id="5" name="object 5"/>
          <p:cNvSpPr txBox="1"/>
          <p:nvPr/>
        </p:nvSpPr>
        <p:spPr>
          <a:xfrm>
            <a:off x="7367271" y="1470871"/>
            <a:ext cx="2154555" cy="1711960"/>
          </a:xfrm>
          <a:prstGeom prst="rect">
            <a:avLst/>
          </a:prstGeom>
        </p:spPr>
        <p:txBody>
          <a:bodyPr vert="horz" wrap="square" lIns="0" tIns="99695" rIns="0" bIns="0" rtlCol="0">
            <a:spAutoFit/>
          </a:bodyPr>
          <a:lstStyle/>
          <a:p>
            <a:pPr marL="381000" indent="-342900">
              <a:spcBef>
                <a:spcPts val="785"/>
              </a:spcBef>
              <a:buChar char="•"/>
              <a:tabLst>
                <a:tab pos="380365" algn="l"/>
                <a:tab pos="381000" algn="l"/>
              </a:tabLst>
            </a:pPr>
            <a:r>
              <a:rPr sz="2800" spc="-15" dirty="0">
                <a:solidFill>
                  <a:srgbClr val="252525"/>
                </a:solidFill>
                <a:latin typeface="Arial"/>
                <a:cs typeface="Arial"/>
              </a:rPr>
              <a:t>multipolar</a:t>
            </a:r>
            <a:endParaRPr sz="2800">
              <a:latin typeface="Arial"/>
              <a:cs typeface="Arial"/>
            </a:endParaRPr>
          </a:p>
          <a:p>
            <a:pPr marL="779145" marR="30480" indent="-284480" algn="just">
              <a:spcBef>
                <a:spcPts val="590"/>
              </a:spcBef>
            </a:pPr>
            <a:r>
              <a:rPr sz="3600" baseline="6944" dirty="0">
                <a:solidFill>
                  <a:srgbClr val="252525"/>
                </a:solidFill>
                <a:latin typeface="Arial"/>
                <a:cs typeface="Arial"/>
              </a:rPr>
              <a:t>– </a:t>
            </a:r>
            <a:r>
              <a:rPr sz="2400" spc="-5" dirty="0">
                <a:solidFill>
                  <a:srgbClr val="252525"/>
                </a:solidFill>
                <a:latin typeface="Arial"/>
                <a:cs typeface="Arial"/>
              </a:rPr>
              <a:t>one </a:t>
            </a:r>
            <a:r>
              <a:rPr sz="2400" dirty="0">
                <a:solidFill>
                  <a:srgbClr val="252525"/>
                </a:solidFill>
                <a:latin typeface="Arial"/>
                <a:cs typeface="Arial"/>
              </a:rPr>
              <a:t>axon  </a:t>
            </a:r>
            <a:r>
              <a:rPr sz="2400" spc="-5" dirty="0">
                <a:solidFill>
                  <a:srgbClr val="252525"/>
                </a:solidFill>
                <a:latin typeface="Arial"/>
                <a:cs typeface="Arial"/>
              </a:rPr>
              <a:t>and</a:t>
            </a:r>
            <a:r>
              <a:rPr sz="2400" spc="-85" dirty="0">
                <a:solidFill>
                  <a:srgbClr val="252525"/>
                </a:solidFill>
                <a:latin typeface="Arial"/>
                <a:cs typeface="Arial"/>
              </a:rPr>
              <a:t> </a:t>
            </a:r>
            <a:r>
              <a:rPr sz="2400" spc="-5" dirty="0">
                <a:solidFill>
                  <a:srgbClr val="252525"/>
                </a:solidFill>
                <a:latin typeface="Arial"/>
                <a:cs typeface="Arial"/>
              </a:rPr>
              <a:t>many  dendrites</a:t>
            </a:r>
            <a:endParaRPr sz="2400">
              <a:latin typeface="Arial"/>
              <a:cs typeface="Arial"/>
            </a:endParaRPr>
          </a:p>
        </p:txBody>
      </p:sp>
      <p:sp>
        <p:nvSpPr>
          <p:cNvPr id="6" name="object 6"/>
          <p:cNvSpPr txBox="1"/>
          <p:nvPr/>
        </p:nvSpPr>
        <p:spPr>
          <a:xfrm>
            <a:off x="4547870" y="1470871"/>
            <a:ext cx="2073910" cy="980440"/>
          </a:xfrm>
          <a:prstGeom prst="rect">
            <a:avLst/>
          </a:prstGeom>
        </p:spPr>
        <p:txBody>
          <a:bodyPr vert="horz" wrap="square" lIns="0" tIns="99695" rIns="0" bIns="0" rtlCol="0">
            <a:spAutoFit/>
          </a:bodyPr>
          <a:lstStyle/>
          <a:p>
            <a:pPr marL="381000" indent="-342900">
              <a:spcBef>
                <a:spcPts val="785"/>
              </a:spcBef>
              <a:buChar char="•"/>
              <a:tabLst>
                <a:tab pos="380365" algn="l"/>
                <a:tab pos="381000" algn="l"/>
              </a:tabLst>
            </a:pPr>
            <a:r>
              <a:rPr sz="2800" spc="-15" dirty="0">
                <a:solidFill>
                  <a:srgbClr val="252525"/>
                </a:solidFill>
                <a:latin typeface="Arial"/>
                <a:cs typeface="Arial"/>
              </a:rPr>
              <a:t>unipolar</a:t>
            </a:r>
            <a:endParaRPr sz="2800">
              <a:latin typeface="Arial"/>
              <a:cs typeface="Arial"/>
            </a:endParaRPr>
          </a:p>
          <a:p>
            <a:pPr marL="495300">
              <a:spcBef>
                <a:spcPts val="590"/>
              </a:spcBef>
            </a:pPr>
            <a:r>
              <a:rPr sz="3600" baseline="6944" dirty="0">
                <a:solidFill>
                  <a:srgbClr val="252525"/>
                </a:solidFill>
                <a:latin typeface="Arial"/>
                <a:cs typeface="Arial"/>
              </a:rPr>
              <a:t>– </a:t>
            </a:r>
            <a:r>
              <a:rPr sz="2400" spc="-5" dirty="0">
                <a:solidFill>
                  <a:srgbClr val="252525"/>
                </a:solidFill>
                <a:latin typeface="Arial"/>
                <a:cs typeface="Arial"/>
              </a:rPr>
              <a:t>one</a:t>
            </a:r>
            <a:r>
              <a:rPr sz="2400" spc="155" dirty="0">
                <a:solidFill>
                  <a:srgbClr val="252525"/>
                </a:solidFill>
                <a:latin typeface="Arial"/>
                <a:cs typeface="Arial"/>
              </a:rPr>
              <a:t> </a:t>
            </a:r>
            <a:r>
              <a:rPr sz="2400" dirty="0">
                <a:solidFill>
                  <a:srgbClr val="252525"/>
                </a:solidFill>
                <a:latin typeface="Arial"/>
                <a:cs typeface="Arial"/>
              </a:rPr>
              <a:t>axon</a:t>
            </a:r>
            <a:endParaRPr sz="2400">
              <a:latin typeface="Arial"/>
              <a:cs typeface="Arial"/>
            </a:endParaRPr>
          </a:p>
        </p:txBody>
      </p:sp>
    </p:spTree>
    <p:extLst>
      <p:ext uri="{BB962C8B-B14F-4D97-AF65-F5344CB8AC3E}">
        <p14:creationId xmlns:p14="http://schemas.microsoft.com/office/powerpoint/2010/main" val="3195695380"/>
      </p:ext>
    </p:extLst>
  </p:cSld>
  <p:clrMapOvr>
    <a:masterClrMapping/>
  </p:clrMapOvr>
  <p:transition>
    <p:dissolv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1660" y="1436581"/>
            <a:ext cx="5391785" cy="2894330"/>
          </a:xfrm>
          <a:prstGeom prst="rect">
            <a:avLst/>
          </a:prstGeom>
        </p:spPr>
        <p:txBody>
          <a:bodyPr vert="horz" wrap="square" lIns="0" tIns="99695" rIns="0" bIns="0" rtlCol="0">
            <a:spAutoFit/>
          </a:bodyPr>
          <a:lstStyle/>
          <a:p>
            <a:pPr marL="381000" indent="-342900">
              <a:spcBef>
                <a:spcPts val="785"/>
              </a:spcBef>
              <a:buChar char="•"/>
              <a:tabLst>
                <a:tab pos="380365" algn="l"/>
                <a:tab pos="381000" algn="l"/>
              </a:tabLst>
            </a:pPr>
            <a:r>
              <a:rPr sz="2800" spc="-10" dirty="0">
                <a:solidFill>
                  <a:srgbClr val="252525"/>
                </a:solidFill>
                <a:latin typeface="Arial"/>
                <a:cs typeface="Arial"/>
              </a:rPr>
              <a:t>action</a:t>
            </a:r>
            <a:r>
              <a:rPr sz="2800" spc="-15" dirty="0">
                <a:solidFill>
                  <a:srgbClr val="252525"/>
                </a:solidFill>
                <a:latin typeface="Arial"/>
                <a:cs typeface="Arial"/>
              </a:rPr>
              <a:t> </a:t>
            </a:r>
            <a:r>
              <a:rPr sz="2800" spc="-10" dirty="0">
                <a:solidFill>
                  <a:srgbClr val="252525"/>
                </a:solidFill>
                <a:latin typeface="Arial"/>
                <a:cs typeface="Arial"/>
              </a:rPr>
              <a:t>potentials</a:t>
            </a:r>
            <a:endParaRPr sz="28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change in cell membrane</a:t>
            </a:r>
            <a:r>
              <a:rPr sz="2400" spc="-25" dirty="0">
                <a:solidFill>
                  <a:srgbClr val="252525"/>
                </a:solidFill>
                <a:latin typeface="Arial"/>
                <a:cs typeface="Arial"/>
              </a:rPr>
              <a:t> </a:t>
            </a:r>
            <a:r>
              <a:rPr sz="2400" spc="-5" dirty="0">
                <a:solidFill>
                  <a:srgbClr val="252525"/>
                </a:solidFill>
                <a:latin typeface="Arial"/>
                <a:cs typeface="Arial"/>
              </a:rPr>
              <a:t>charge</a:t>
            </a:r>
            <a:endParaRPr sz="2400">
              <a:latin typeface="Arial"/>
              <a:cs typeface="Arial"/>
            </a:endParaRPr>
          </a:p>
          <a:p>
            <a:pPr marL="381000" indent="-342900">
              <a:spcBef>
                <a:spcPts val="700"/>
              </a:spcBef>
              <a:buChar char="•"/>
              <a:tabLst>
                <a:tab pos="380365" algn="l"/>
                <a:tab pos="381000" algn="l"/>
              </a:tabLst>
            </a:pPr>
            <a:r>
              <a:rPr sz="2800" spc="-15" dirty="0">
                <a:solidFill>
                  <a:srgbClr val="252525"/>
                </a:solidFill>
                <a:latin typeface="Arial"/>
                <a:cs typeface="Arial"/>
              </a:rPr>
              <a:t>impulse</a:t>
            </a:r>
            <a:r>
              <a:rPr sz="2800" spc="-30" dirty="0">
                <a:solidFill>
                  <a:srgbClr val="252525"/>
                </a:solidFill>
                <a:latin typeface="Arial"/>
                <a:cs typeface="Arial"/>
              </a:rPr>
              <a:t> </a:t>
            </a:r>
            <a:r>
              <a:rPr sz="2800" spc="-5" dirty="0">
                <a:solidFill>
                  <a:srgbClr val="252525"/>
                </a:solidFill>
                <a:latin typeface="Arial"/>
                <a:cs typeface="Arial"/>
              </a:rPr>
              <a:t>transmission</a:t>
            </a:r>
            <a:endParaRPr sz="28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charge change travels along</a:t>
            </a:r>
            <a:r>
              <a:rPr sz="2400" spc="-15" dirty="0">
                <a:solidFill>
                  <a:srgbClr val="252525"/>
                </a:solidFill>
                <a:latin typeface="Arial"/>
                <a:cs typeface="Arial"/>
              </a:rPr>
              <a:t> </a:t>
            </a:r>
            <a:r>
              <a:rPr sz="2400" dirty="0">
                <a:solidFill>
                  <a:srgbClr val="252525"/>
                </a:solidFill>
                <a:latin typeface="Arial"/>
                <a:cs typeface="Arial"/>
              </a:rPr>
              <a:t>axon</a:t>
            </a:r>
            <a:endParaRPr sz="2400">
              <a:latin typeface="Arial"/>
              <a:cs typeface="Arial"/>
            </a:endParaRPr>
          </a:p>
          <a:p>
            <a:pPr marL="381000" indent="-342900">
              <a:spcBef>
                <a:spcPts val="700"/>
              </a:spcBef>
              <a:buChar char="•"/>
              <a:tabLst>
                <a:tab pos="380365" algn="l"/>
                <a:tab pos="381000" algn="l"/>
              </a:tabLst>
            </a:pPr>
            <a:r>
              <a:rPr sz="2800" spc="-15" dirty="0">
                <a:solidFill>
                  <a:srgbClr val="252525"/>
                </a:solidFill>
                <a:latin typeface="Arial"/>
                <a:cs typeface="Arial"/>
              </a:rPr>
              <a:t>reflexes</a:t>
            </a:r>
            <a:endParaRPr sz="28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involuntary </a:t>
            </a:r>
            <a:r>
              <a:rPr sz="2400" dirty="0">
                <a:solidFill>
                  <a:srgbClr val="252525"/>
                </a:solidFill>
                <a:latin typeface="Arial"/>
                <a:cs typeface="Arial"/>
              </a:rPr>
              <a:t>response to</a:t>
            </a:r>
            <a:r>
              <a:rPr sz="2400" spc="-25" dirty="0">
                <a:solidFill>
                  <a:srgbClr val="252525"/>
                </a:solidFill>
                <a:latin typeface="Arial"/>
                <a:cs typeface="Arial"/>
              </a:rPr>
              <a:t> </a:t>
            </a:r>
            <a:r>
              <a:rPr sz="2400" spc="-5" dirty="0">
                <a:solidFill>
                  <a:srgbClr val="252525"/>
                </a:solidFill>
                <a:latin typeface="Arial"/>
                <a:cs typeface="Arial"/>
              </a:rPr>
              <a:t>stimulus</a:t>
            </a:r>
            <a:endParaRPr sz="2400">
              <a:latin typeface="Arial"/>
              <a:cs typeface="Arial"/>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1864359" y="88641"/>
            <a:ext cx="6277610" cy="1367041"/>
          </a:xfrm>
          <a:prstGeom prst="rect">
            <a:avLst/>
          </a:prstGeom>
        </p:spPr>
        <p:txBody>
          <a:bodyPr vert="horz" wrap="square" lIns="0" tIns="12700" rIns="0" bIns="0" rtlCol="0" anchor="ctr">
            <a:spAutoFit/>
          </a:bodyPr>
          <a:lstStyle/>
          <a:p>
            <a:pPr marL="12700">
              <a:lnSpc>
                <a:spcPct val="100000"/>
              </a:lnSpc>
              <a:spcBef>
                <a:spcPts val="100"/>
              </a:spcBef>
            </a:pPr>
            <a:r>
              <a:rPr spc="-5" dirty="0"/>
              <a:t>Transmission of </a:t>
            </a:r>
            <a:r>
              <a:rPr dirty="0"/>
              <a:t>Nerve</a:t>
            </a:r>
            <a:r>
              <a:rPr spc="-30" dirty="0"/>
              <a:t> </a:t>
            </a:r>
            <a:r>
              <a:rPr spc="-5" dirty="0"/>
              <a:t>Impulses</a:t>
            </a:r>
          </a:p>
        </p:txBody>
      </p:sp>
    </p:spTree>
    <p:extLst>
      <p:ext uri="{BB962C8B-B14F-4D97-AF65-F5344CB8AC3E}">
        <p14:creationId xmlns:p14="http://schemas.microsoft.com/office/powerpoint/2010/main" val="1661095934"/>
      </p:ext>
    </p:extLst>
  </p:cSld>
  <p:clrMapOvr>
    <a:masterClrMapping/>
  </p:clrMapOvr>
  <p:transition>
    <p:dissolv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1660" y="1436370"/>
            <a:ext cx="3000375" cy="2085339"/>
          </a:xfrm>
          <a:prstGeom prst="rect">
            <a:avLst/>
          </a:prstGeom>
        </p:spPr>
        <p:txBody>
          <a:bodyPr vert="horz" wrap="square" lIns="0" tIns="100330" rIns="0" bIns="0" rtlCol="0">
            <a:spAutoFit/>
          </a:bodyPr>
          <a:lstStyle/>
          <a:p>
            <a:pPr marL="381000" indent="-342900">
              <a:spcBef>
                <a:spcPts val="790"/>
              </a:spcBef>
              <a:buChar char="•"/>
              <a:tabLst>
                <a:tab pos="380365" algn="l"/>
                <a:tab pos="381000" algn="l"/>
              </a:tabLst>
            </a:pPr>
            <a:r>
              <a:rPr sz="2800" spc="-10" dirty="0">
                <a:solidFill>
                  <a:srgbClr val="252525"/>
                </a:solidFill>
                <a:latin typeface="Arial"/>
                <a:cs typeface="Arial"/>
              </a:rPr>
              <a:t>polarized</a:t>
            </a:r>
            <a:endParaRPr sz="2800">
              <a:latin typeface="Arial"/>
              <a:cs typeface="Arial"/>
            </a:endParaRPr>
          </a:p>
          <a:p>
            <a:pPr marL="381000" indent="-342900">
              <a:spcBef>
                <a:spcPts val="690"/>
              </a:spcBef>
              <a:buChar char="•"/>
              <a:tabLst>
                <a:tab pos="380365" algn="l"/>
                <a:tab pos="381000" algn="l"/>
              </a:tabLst>
            </a:pPr>
            <a:r>
              <a:rPr sz="2800" spc="-15" dirty="0">
                <a:solidFill>
                  <a:srgbClr val="252525"/>
                </a:solidFill>
                <a:latin typeface="Arial"/>
                <a:cs typeface="Arial"/>
              </a:rPr>
              <a:t>depolarized</a:t>
            </a:r>
            <a:endParaRPr sz="2800">
              <a:latin typeface="Arial"/>
              <a:cs typeface="Arial"/>
            </a:endParaRPr>
          </a:p>
          <a:p>
            <a:pPr marL="381000" indent="-342900">
              <a:spcBef>
                <a:spcPts val="700"/>
              </a:spcBef>
              <a:buChar char="•"/>
              <a:tabLst>
                <a:tab pos="380365" algn="l"/>
                <a:tab pos="381000" algn="l"/>
              </a:tabLst>
            </a:pPr>
            <a:r>
              <a:rPr sz="2800" spc="-10" dirty="0">
                <a:solidFill>
                  <a:srgbClr val="252525"/>
                </a:solidFill>
                <a:latin typeface="Arial"/>
                <a:cs typeface="Arial"/>
              </a:rPr>
              <a:t>repolarized</a:t>
            </a:r>
            <a:endParaRPr sz="2800">
              <a:latin typeface="Arial"/>
              <a:cs typeface="Arial"/>
            </a:endParaRPr>
          </a:p>
          <a:p>
            <a:pPr marL="381000" indent="-342900">
              <a:spcBef>
                <a:spcPts val="700"/>
              </a:spcBef>
              <a:buChar char="•"/>
              <a:tabLst>
                <a:tab pos="380365" algn="l"/>
                <a:tab pos="381000" algn="l"/>
              </a:tabLst>
            </a:pPr>
            <a:r>
              <a:rPr sz="2800" spc="-10" dirty="0">
                <a:solidFill>
                  <a:srgbClr val="252525"/>
                </a:solidFill>
                <a:latin typeface="Arial"/>
                <a:cs typeface="Arial"/>
              </a:rPr>
              <a:t>refractory</a:t>
            </a:r>
            <a:r>
              <a:rPr sz="2800" spc="-25" dirty="0">
                <a:solidFill>
                  <a:srgbClr val="252525"/>
                </a:solidFill>
                <a:latin typeface="Arial"/>
                <a:cs typeface="Arial"/>
              </a:rPr>
              <a:t> </a:t>
            </a:r>
            <a:r>
              <a:rPr sz="2800" spc="-10" dirty="0">
                <a:solidFill>
                  <a:srgbClr val="252525"/>
                </a:solidFill>
                <a:latin typeface="Arial"/>
                <a:cs typeface="Arial"/>
              </a:rPr>
              <a:t>period</a:t>
            </a:r>
            <a:endParaRPr sz="2800">
              <a:latin typeface="Arial"/>
              <a:cs typeface="Arial"/>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1864360" y="88641"/>
            <a:ext cx="3321685" cy="1367041"/>
          </a:xfrm>
          <a:prstGeom prst="rect">
            <a:avLst/>
          </a:prstGeom>
        </p:spPr>
        <p:txBody>
          <a:bodyPr vert="horz" wrap="square" lIns="0" tIns="12700" rIns="0" bIns="0" rtlCol="0" anchor="ctr">
            <a:spAutoFit/>
          </a:bodyPr>
          <a:lstStyle/>
          <a:p>
            <a:pPr marL="12700">
              <a:lnSpc>
                <a:spcPct val="100000"/>
              </a:lnSpc>
              <a:spcBef>
                <a:spcPts val="100"/>
              </a:spcBef>
            </a:pPr>
            <a:r>
              <a:rPr spc="-5" dirty="0"/>
              <a:t>Action</a:t>
            </a:r>
            <a:r>
              <a:rPr spc="-70" dirty="0"/>
              <a:t> </a:t>
            </a:r>
            <a:r>
              <a:rPr dirty="0"/>
              <a:t>Potentials</a:t>
            </a:r>
          </a:p>
        </p:txBody>
      </p:sp>
    </p:spTree>
    <p:extLst>
      <p:ext uri="{BB962C8B-B14F-4D97-AF65-F5344CB8AC3E}">
        <p14:creationId xmlns:p14="http://schemas.microsoft.com/office/powerpoint/2010/main" val="1195771730"/>
      </p:ext>
    </p:extLst>
  </p:cSld>
  <p:clrMapOvr>
    <a:masterClrMapping/>
  </p:clrMapOvr>
  <p:transition>
    <p:dissolv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19800" y="2284730"/>
            <a:ext cx="3703320" cy="3738879"/>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851660" y="1436369"/>
            <a:ext cx="4408805" cy="2820670"/>
          </a:xfrm>
          <a:prstGeom prst="rect">
            <a:avLst/>
          </a:prstGeom>
        </p:spPr>
        <p:txBody>
          <a:bodyPr vert="horz" wrap="square" lIns="0" tIns="100330" rIns="0" bIns="0" rtlCol="0">
            <a:spAutoFit/>
          </a:bodyPr>
          <a:lstStyle/>
          <a:p>
            <a:pPr marL="381000" indent="-342900">
              <a:spcBef>
                <a:spcPts val="790"/>
              </a:spcBef>
              <a:buChar char="•"/>
              <a:tabLst>
                <a:tab pos="380365" algn="l"/>
                <a:tab pos="381000" algn="l"/>
              </a:tabLst>
            </a:pPr>
            <a:r>
              <a:rPr sz="2800" spc="-5" dirty="0">
                <a:solidFill>
                  <a:srgbClr val="252525"/>
                </a:solidFill>
                <a:latin typeface="Arial"/>
                <a:cs typeface="Arial"/>
              </a:rPr>
              <a:t>saltatory</a:t>
            </a:r>
            <a:r>
              <a:rPr sz="2800" spc="10" dirty="0">
                <a:solidFill>
                  <a:srgbClr val="252525"/>
                </a:solidFill>
                <a:latin typeface="Arial"/>
                <a:cs typeface="Arial"/>
              </a:rPr>
              <a:t> </a:t>
            </a:r>
            <a:r>
              <a:rPr sz="2800" spc="-15" dirty="0">
                <a:solidFill>
                  <a:srgbClr val="252525"/>
                </a:solidFill>
                <a:latin typeface="Arial"/>
                <a:cs typeface="Arial"/>
              </a:rPr>
              <a:t>conduction</a:t>
            </a:r>
            <a:endParaRPr sz="2800">
              <a:latin typeface="Arial"/>
              <a:cs typeface="Arial"/>
            </a:endParaRPr>
          </a:p>
          <a:p>
            <a:pPr marL="381000" indent="-342900">
              <a:spcBef>
                <a:spcPts val="690"/>
              </a:spcBef>
              <a:buChar char="•"/>
              <a:tabLst>
                <a:tab pos="380365" algn="l"/>
                <a:tab pos="381000" algn="l"/>
              </a:tabLst>
            </a:pPr>
            <a:r>
              <a:rPr sz="2800" spc="-10" dirty="0">
                <a:solidFill>
                  <a:srgbClr val="252525"/>
                </a:solidFill>
                <a:latin typeface="Arial"/>
                <a:cs typeface="Arial"/>
              </a:rPr>
              <a:t>transmission </a:t>
            </a:r>
            <a:r>
              <a:rPr sz="2800" dirty="0">
                <a:solidFill>
                  <a:srgbClr val="252525"/>
                </a:solidFill>
                <a:latin typeface="Arial"/>
                <a:cs typeface="Arial"/>
              </a:rPr>
              <a:t>at</a:t>
            </a:r>
            <a:r>
              <a:rPr sz="2800" spc="-35" dirty="0">
                <a:solidFill>
                  <a:srgbClr val="252525"/>
                </a:solidFill>
                <a:latin typeface="Arial"/>
                <a:cs typeface="Arial"/>
              </a:rPr>
              <a:t> </a:t>
            </a:r>
            <a:r>
              <a:rPr sz="2800" dirty="0">
                <a:solidFill>
                  <a:srgbClr val="252525"/>
                </a:solidFill>
                <a:latin typeface="Arial"/>
                <a:cs typeface="Arial"/>
              </a:rPr>
              <a:t>synapses</a:t>
            </a:r>
            <a:endParaRPr sz="28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gap</a:t>
            </a:r>
            <a:r>
              <a:rPr sz="2400" spc="5" dirty="0">
                <a:solidFill>
                  <a:srgbClr val="252525"/>
                </a:solidFill>
                <a:latin typeface="Arial"/>
                <a:cs typeface="Arial"/>
              </a:rPr>
              <a:t> </a:t>
            </a:r>
            <a:r>
              <a:rPr sz="2400" spc="-5" dirty="0">
                <a:solidFill>
                  <a:srgbClr val="252525"/>
                </a:solidFill>
                <a:latin typeface="Arial"/>
                <a:cs typeface="Arial"/>
              </a:rPr>
              <a:t>junctions</a:t>
            </a:r>
            <a:endParaRPr sz="24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neurotransmitter</a:t>
            </a:r>
            <a:endParaRPr sz="2400">
              <a:latin typeface="Arial"/>
              <a:cs typeface="Arial"/>
            </a:endParaRPr>
          </a:p>
          <a:p>
            <a:pPr marL="781050" lvl="1" indent="-285750">
              <a:spcBef>
                <a:spcPts val="600"/>
              </a:spcBef>
              <a:buChar char="–"/>
              <a:tabLst>
                <a:tab pos="781050" algn="l"/>
              </a:tabLst>
            </a:pPr>
            <a:r>
              <a:rPr sz="2400" dirty="0">
                <a:solidFill>
                  <a:srgbClr val="252525"/>
                </a:solidFill>
                <a:latin typeface="Arial"/>
                <a:cs typeface="Arial"/>
              </a:rPr>
              <a:t>excitatory</a:t>
            </a:r>
            <a:r>
              <a:rPr sz="2400" spc="15" dirty="0">
                <a:solidFill>
                  <a:srgbClr val="252525"/>
                </a:solidFill>
                <a:latin typeface="Arial"/>
                <a:cs typeface="Arial"/>
              </a:rPr>
              <a:t> </a:t>
            </a:r>
            <a:r>
              <a:rPr sz="2400" spc="-5" dirty="0">
                <a:solidFill>
                  <a:srgbClr val="252525"/>
                </a:solidFill>
                <a:latin typeface="Arial"/>
                <a:cs typeface="Arial"/>
              </a:rPr>
              <a:t>effect</a:t>
            </a:r>
            <a:endParaRPr sz="24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inhibitory</a:t>
            </a:r>
            <a:r>
              <a:rPr sz="2400" spc="10" dirty="0">
                <a:solidFill>
                  <a:srgbClr val="252525"/>
                </a:solidFill>
                <a:latin typeface="Arial"/>
                <a:cs typeface="Arial"/>
              </a:rPr>
              <a:t> </a:t>
            </a:r>
            <a:r>
              <a:rPr sz="2400" spc="-5" dirty="0">
                <a:solidFill>
                  <a:srgbClr val="252525"/>
                </a:solidFill>
                <a:latin typeface="Arial"/>
                <a:cs typeface="Arial"/>
              </a:rPr>
              <a:t>effect</a:t>
            </a:r>
            <a:endParaRPr sz="2400">
              <a:latin typeface="Arial"/>
              <a:cs typeface="Arial"/>
            </a:endParaRPr>
          </a:p>
        </p:txBody>
      </p:sp>
      <p:sp>
        <p:nvSpPr>
          <p:cNvPr id="5" name="object 5"/>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6" name="object 6"/>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4" name="object 4"/>
          <p:cNvSpPr txBox="1">
            <a:spLocks noGrp="1"/>
          </p:cNvSpPr>
          <p:nvPr>
            <p:ph type="title"/>
          </p:nvPr>
        </p:nvSpPr>
        <p:spPr>
          <a:xfrm>
            <a:off x="1864359" y="88641"/>
            <a:ext cx="4320540" cy="1367041"/>
          </a:xfrm>
          <a:prstGeom prst="rect">
            <a:avLst/>
          </a:prstGeom>
        </p:spPr>
        <p:txBody>
          <a:bodyPr vert="horz" wrap="square" lIns="0" tIns="12700" rIns="0" bIns="0" rtlCol="0" anchor="ctr">
            <a:spAutoFit/>
          </a:bodyPr>
          <a:lstStyle/>
          <a:p>
            <a:pPr marL="12700">
              <a:lnSpc>
                <a:spcPct val="100000"/>
              </a:lnSpc>
              <a:spcBef>
                <a:spcPts val="100"/>
              </a:spcBef>
            </a:pPr>
            <a:r>
              <a:rPr spc="-5" dirty="0"/>
              <a:t>Impulse</a:t>
            </a:r>
            <a:r>
              <a:rPr spc="-35" dirty="0"/>
              <a:t> </a:t>
            </a:r>
            <a:r>
              <a:rPr spc="-5" dirty="0"/>
              <a:t>Transmission</a:t>
            </a:r>
          </a:p>
        </p:txBody>
      </p:sp>
    </p:spTree>
    <p:extLst>
      <p:ext uri="{BB962C8B-B14F-4D97-AF65-F5344CB8AC3E}">
        <p14:creationId xmlns:p14="http://schemas.microsoft.com/office/powerpoint/2010/main" val="103362028"/>
      </p:ext>
    </p:extLst>
  </p:cSld>
  <p:clrMapOvr>
    <a:masterClrMapping/>
  </p:clrMapOvr>
  <p:transition>
    <p:dissolv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 neuron</a:t>
            </a:r>
            <a:endParaRPr lang="en-US" dirty="0"/>
          </a:p>
        </p:txBody>
      </p:sp>
      <p:pic>
        <p:nvPicPr>
          <p:cNvPr id="4" name="Content Placeholder 3"/>
          <p:cNvPicPr>
            <a:picLocks noGrp="1" noChangeAspect="1"/>
          </p:cNvPicPr>
          <p:nvPr>
            <p:ph idx="1"/>
          </p:nvPr>
        </p:nvPicPr>
        <p:blipFill>
          <a:blip r:embed="rId2"/>
          <a:stretch>
            <a:fillRect/>
          </a:stretch>
        </p:blipFill>
        <p:spPr>
          <a:xfrm>
            <a:off x="2226869" y="1825625"/>
            <a:ext cx="7738262" cy="4351338"/>
          </a:xfrm>
          <a:prstGeom prst="rect">
            <a:avLst/>
          </a:prstGeom>
        </p:spPr>
      </p:pic>
    </p:spTree>
    <p:extLst>
      <p:ext uri="{BB962C8B-B14F-4D97-AF65-F5344CB8AC3E}">
        <p14:creationId xmlns:p14="http://schemas.microsoft.com/office/powerpoint/2010/main" val="25422088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Times New Roman" panose="02020603050405020304" pitchFamily="18" charset="0"/>
                <a:cs typeface="Times New Roman" panose="02020603050405020304" pitchFamily="18" charset="0"/>
              </a:rPr>
              <a:t>Classification of nerve injuries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GB" sz="3200" b="1" dirty="0" err="1" smtClean="0">
                <a:latin typeface="Times New Roman" panose="02020603050405020304" pitchFamily="18" charset="0"/>
                <a:cs typeface="Times New Roman" panose="02020603050405020304" pitchFamily="18" charset="0"/>
              </a:rPr>
              <a:t>Neurapraxia</a:t>
            </a:r>
            <a:r>
              <a:rPr lang="en-GB" sz="3200" dirty="0" smtClean="0">
                <a:latin typeface="Times New Roman" panose="02020603050405020304" pitchFamily="18" charset="0"/>
                <a:cs typeface="Times New Roman" panose="02020603050405020304" pitchFamily="18" charset="0"/>
              </a:rPr>
              <a:t> – this is a focal </a:t>
            </a:r>
            <a:r>
              <a:rPr lang="en-GB" sz="3200" dirty="0">
                <a:latin typeface="Times New Roman" panose="02020603050405020304" pitchFamily="18" charset="0"/>
                <a:cs typeface="Times New Roman" panose="02020603050405020304" pitchFamily="18" charset="0"/>
              </a:rPr>
              <a:t>nerve </a:t>
            </a:r>
            <a:r>
              <a:rPr lang="en-GB" sz="3200" dirty="0" smtClean="0">
                <a:latin typeface="Times New Roman" panose="02020603050405020304" pitchFamily="18" charset="0"/>
                <a:cs typeface="Times New Roman" panose="02020603050405020304" pitchFamily="18" charset="0"/>
              </a:rPr>
              <a:t>compression“ nerve </a:t>
            </a:r>
            <a:r>
              <a:rPr lang="en-GB" sz="3200" dirty="0">
                <a:latin typeface="Times New Roman" panose="02020603050405020304" pitchFamily="18" charset="0"/>
                <a:cs typeface="Times New Roman" panose="02020603050405020304" pitchFamily="18" charset="0"/>
              </a:rPr>
              <a:t>contusion or stretch leading to reversible conduction </a:t>
            </a:r>
            <a:r>
              <a:rPr lang="en-GB" sz="3200" dirty="0" smtClean="0">
                <a:latin typeface="Times New Roman" panose="02020603050405020304" pitchFamily="18" charset="0"/>
                <a:cs typeface="Times New Roman" panose="02020603050405020304" pitchFamily="18" charset="0"/>
              </a:rPr>
              <a:t>block.</a:t>
            </a:r>
          </a:p>
          <a:p>
            <a:r>
              <a:rPr lang="en-GB" sz="3200" b="1" dirty="0" err="1" smtClean="0">
                <a:latin typeface="Times New Roman" panose="02020603050405020304" pitchFamily="18" charset="0"/>
                <a:cs typeface="Times New Roman" panose="02020603050405020304" pitchFamily="18" charset="0"/>
              </a:rPr>
              <a:t>Axonotmesis</a:t>
            </a:r>
            <a:r>
              <a:rPr lang="en-GB" sz="3200" dirty="0" smtClean="0">
                <a:latin typeface="Times New Roman" panose="02020603050405020304" pitchFamily="18" charset="0"/>
                <a:cs typeface="Times New Roman" panose="02020603050405020304" pitchFamily="18" charset="0"/>
              </a:rPr>
              <a:t> </a:t>
            </a:r>
            <a:endParaRPr lang="en-GB" sz="3200" dirty="0">
              <a:latin typeface="Times New Roman" panose="02020603050405020304" pitchFamily="18" charset="0"/>
              <a:cs typeface="Times New Roman" panose="02020603050405020304" pitchFamily="18" charset="0"/>
            </a:endParaRPr>
          </a:p>
          <a:p>
            <a:r>
              <a:rPr lang="en-GB" sz="3200" dirty="0" smtClean="0">
                <a:latin typeface="Times New Roman" panose="02020603050405020304" pitchFamily="18" charset="0"/>
                <a:cs typeface="Times New Roman" panose="02020603050405020304" pitchFamily="18" charset="0"/>
              </a:rPr>
              <a:t>incomplete </a:t>
            </a:r>
            <a:r>
              <a:rPr lang="en-GB" sz="3200" dirty="0">
                <a:latin typeface="Times New Roman" panose="02020603050405020304" pitchFamily="18" charset="0"/>
                <a:cs typeface="Times New Roman" panose="02020603050405020304" pitchFamily="18" charset="0"/>
              </a:rPr>
              <a:t>nerve injury </a:t>
            </a:r>
            <a:r>
              <a:rPr lang="en-GB" sz="3200" dirty="0" smtClean="0">
                <a:latin typeface="Times New Roman" panose="02020603050405020304" pitchFamily="18" charset="0"/>
                <a:cs typeface="Times New Roman" panose="02020603050405020304" pitchFamily="18" charset="0"/>
              </a:rPr>
              <a:t>with axon </a:t>
            </a:r>
            <a:r>
              <a:rPr lang="en-GB" sz="3200" dirty="0">
                <a:latin typeface="Times New Roman" panose="02020603050405020304" pitchFamily="18" charset="0"/>
                <a:cs typeface="Times New Roman" panose="02020603050405020304" pitchFamily="18" charset="0"/>
              </a:rPr>
              <a:t>and myelin sheath disruption </a:t>
            </a:r>
            <a:r>
              <a:rPr lang="en-GB" sz="3200" dirty="0" smtClean="0">
                <a:latin typeface="Times New Roman" panose="02020603050405020304" pitchFamily="18" charset="0"/>
                <a:cs typeface="Times New Roman" panose="02020603050405020304" pitchFamily="18" charset="0"/>
              </a:rPr>
              <a:t>but still intact leading </a:t>
            </a:r>
            <a:r>
              <a:rPr lang="en-GB" sz="3200" dirty="0">
                <a:latin typeface="Times New Roman" panose="02020603050405020304" pitchFamily="18" charset="0"/>
                <a:cs typeface="Times New Roman" panose="02020603050405020304" pitchFamily="18" charset="0"/>
              </a:rPr>
              <a:t>to focal conduction </a:t>
            </a:r>
            <a:r>
              <a:rPr lang="en-GB" sz="3200" dirty="0" smtClean="0">
                <a:latin typeface="Times New Roman" panose="02020603050405020304" pitchFamily="18" charset="0"/>
                <a:cs typeface="Times New Roman" panose="02020603050405020304" pitchFamily="18" charset="0"/>
              </a:rPr>
              <a:t>block.</a:t>
            </a:r>
          </a:p>
          <a:p>
            <a:r>
              <a:rPr lang="en-GB" sz="3200" b="1" dirty="0" err="1" smtClean="0">
                <a:latin typeface="Times New Roman" panose="02020603050405020304" pitchFamily="18" charset="0"/>
                <a:cs typeface="Times New Roman" panose="02020603050405020304" pitchFamily="18" charset="0"/>
              </a:rPr>
              <a:t>Neurotmesis</a:t>
            </a:r>
            <a:r>
              <a:rPr lang="en-GB" sz="3200" b="1" dirty="0" smtClean="0">
                <a:latin typeface="Times New Roman" panose="02020603050405020304" pitchFamily="18" charset="0"/>
                <a:cs typeface="Times New Roman" panose="02020603050405020304" pitchFamily="18" charset="0"/>
              </a:rPr>
              <a:t>- </a:t>
            </a:r>
            <a:r>
              <a:rPr lang="en-GB" sz="3200" dirty="0" smtClean="0">
                <a:latin typeface="Times New Roman" panose="02020603050405020304" pitchFamily="18" charset="0"/>
                <a:cs typeface="Times New Roman" panose="02020603050405020304" pitchFamily="18" charset="0"/>
              </a:rPr>
              <a:t>this is a complete </a:t>
            </a:r>
            <a:r>
              <a:rPr lang="en-GB" sz="3200" dirty="0">
                <a:latin typeface="Times New Roman" panose="02020603050405020304" pitchFamily="18" charset="0"/>
                <a:cs typeface="Times New Roman" panose="02020603050405020304" pitchFamily="18" charset="0"/>
              </a:rPr>
              <a:t>nerve </a:t>
            </a:r>
            <a:r>
              <a:rPr lang="en-GB" sz="3200" dirty="0" smtClean="0">
                <a:latin typeface="Times New Roman" panose="02020603050405020304" pitchFamily="18" charset="0"/>
                <a:cs typeface="Times New Roman" panose="02020603050405020304" pitchFamily="18" charset="0"/>
              </a:rPr>
              <a:t>injury </a:t>
            </a:r>
            <a:r>
              <a:rPr lang="en-GB" sz="3200" dirty="0">
                <a:latin typeface="Times New Roman" panose="02020603050405020304" pitchFamily="18" charset="0"/>
                <a:cs typeface="Times New Roman" panose="02020603050405020304" pitchFamily="18" charset="0"/>
              </a:rPr>
              <a:t>with disruption of </a:t>
            </a:r>
            <a:r>
              <a:rPr lang="en-GB" sz="3200" dirty="0" err="1" smtClean="0">
                <a:latin typeface="Times New Roman" panose="02020603050405020304" pitchFamily="18" charset="0"/>
                <a:cs typeface="Times New Roman" panose="02020603050405020304" pitchFamily="18" charset="0"/>
              </a:rPr>
              <a:t>endoneurium</a:t>
            </a:r>
            <a:r>
              <a:rPr lang="en-GB" sz="3200" dirty="0" smtClean="0">
                <a:latin typeface="Times New Roman" panose="02020603050405020304" pitchFamily="18" charset="0"/>
                <a:cs typeface="Times New Roman" panose="02020603050405020304" pitchFamily="18" charset="0"/>
              </a:rPr>
              <a:t>, all </a:t>
            </a:r>
            <a:r>
              <a:rPr lang="en-GB" sz="3200" dirty="0">
                <a:latin typeface="Times New Roman" panose="02020603050405020304" pitchFamily="18" charset="0"/>
                <a:cs typeface="Times New Roman" panose="02020603050405020304" pitchFamily="18" charset="0"/>
              </a:rPr>
              <a:t>connective tissues </a:t>
            </a:r>
            <a:r>
              <a:rPr lang="en-GB" sz="3200" dirty="0" smtClean="0">
                <a:latin typeface="Times New Roman" panose="02020603050405020304" pitchFamily="18" charset="0"/>
                <a:cs typeface="Times New Roman" panose="02020603050405020304" pitchFamily="18" charset="0"/>
              </a:rPr>
              <a:t>disru</a:t>
            </a:r>
            <a:r>
              <a:rPr lang="en-GB" dirty="0" smtClean="0"/>
              <a:t>pted, the axon not intact.</a:t>
            </a:r>
            <a:endParaRPr lang="en-US" dirty="0"/>
          </a:p>
        </p:txBody>
      </p:sp>
    </p:spTree>
    <p:extLst>
      <p:ext uri="{BB962C8B-B14F-4D97-AF65-F5344CB8AC3E}">
        <p14:creationId xmlns:p14="http://schemas.microsoft.com/office/powerpoint/2010/main" val="707786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1659" y="1436581"/>
            <a:ext cx="4794250" cy="1938020"/>
          </a:xfrm>
          <a:prstGeom prst="rect">
            <a:avLst/>
          </a:prstGeom>
        </p:spPr>
        <p:txBody>
          <a:bodyPr vert="horz" wrap="square" lIns="0" tIns="99695" rIns="0" bIns="0" rtlCol="0">
            <a:spAutoFit/>
          </a:bodyPr>
          <a:lstStyle/>
          <a:p>
            <a:pPr marL="381000" indent="-342900">
              <a:spcBef>
                <a:spcPts val="785"/>
              </a:spcBef>
              <a:buChar char="•"/>
              <a:tabLst>
                <a:tab pos="380365" algn="l"/>
                <a:tab pos="381000" algn="l"/>
              </a:tabLst>
            </a:pPr>
            <a:r>
              <a:rPr sz="2800" spc="-10" dirty="0">
                <a:solidFill>
                  <a:srgbClr val="252525"/>
                </a:solidFill>
                <a:latin typeface="Arial"/>
                <a:cs typeface="Arial"/>
              </a:rPr>
              <a:t>somatic</a:t>
            </a:r>
            <a:endParaRPr sz="28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stimulate skeletal</a:t>
            </a:r>
            <a:r>
              <a:rPr sz="2400" spc="-15" dirty="0">
                <a:solidFill>
                  <a:srgbClr val="252525"/>
                </a:solidFill>
                <a:latin typeface="Arial"/>
                <a:cs typeface="Arial"/>
              </a:rPr>
              <a:t> </a:t>
            </a:r>
            <a:r>
              <a:rPr sz="2400" spc="-5" dirty="0">
                <a:solidFill>
                  <a:srgbClr val="252525"/>
                </a:solidFill>
                <a:latin typeface="Arial"/>
                <a:cs typeface="Arial"/>
              </a:rPr>
              <a:t>muscles</a:t>
            </a:r>
            <a:endParaRPr sz="2400">
              <a:latin typeface="Arial"/>
              <a:cs typeface="Arial"/>
            </a:endParaRPr>
          </a:p>
          <a:p>
            <a:pPr marL="381000" indent="-342900">
              <a:spcBef>
                <a:spcPts val="700"/>
              </a:spcBef>
              <a:buChar char="•"/>
              <a:tabLst>
                <a:tab pos="380365" algn="l"/>
                <a:tab pos="381000" algn="l"/>
              </a:tabLst>
            </a:pPr>
            <a:r>
              <a:rPr sz="2800" spc="-15" dirty="0">
                <a:solidFill>
                  <a:srgbClr val="252525"/>
                </a:solidFill>
                <a:latin typeface="Arial"/>
                <a:cs typeface="Arial"/>
              </a:rPr>
              <a:t>autonomic</a:t>
            </a:r>
            <a:endParaRPr sz="28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stimulate involuntary</a:t>
            </a:r>
            <a:r>
              <a:rPr sz="2400" spc="-30" dirty="0">
                <a:solidFill>
                  <a:srgbClr val="252525"/>
                </a:solidFill>
                <a:latin typeface="Arial"/>
                <a:cs typeface="Arial"/>
              </a:rPr>
              <a:t> </a:t>
            </a:r>
            <a:r>
              <a:rPr sz="2400" spc="-5" dirty="0">
                <a:solidFill>
                  <a:srgbClr val="252525"/>
                </a:solidFill>
                <a:latin typeface="Arial"/>
                <a:cs typeface="Arial"/>
              </a:rPr>
              <a:t>muscles</a:t>
            </a:r>
            <a:endParaRPr sz="2400">
              <a:latin typeface="Arial"/>
              <a:cs typeface="Arial"/>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1864359" y="88641"/>
            <a:ext cx="1657350" cy="1367041"/>
          </a:xfrm>
          <a:prstGeom prst="rect">
            <a:avLst/>
          </a:prstGeom>
        </p:spPr>
        <p:txBody>
          <a:bodyPr vert="horz" wrap="square" lIns="0" tIns="12700" rIns="0" bIns="0" rtlCol="0" anchor="ctr">
            <a:spAutoFit/>
          </a:bodyPr>
          <a:lstStyle/>
          <a:p>
            <a:pPr marL="12700">
              <a:lnSpc>
                <a:spcPct val="100000"/>
              </a:lnSpc>
              <a:spcBef>
                <a:spcPts val="100"/>
              </a:spcBef>
            </a:pPr>
            <a:r>
              <a:rPr dirty="0"/>
              <a:t>R</a:t>
            </a:r>
            <a:r>
              <a:rPr spc="5" dirty="0"/>
              <a:t>e</a:t>
            </a:r>
            <a:r>
              <a:rPr spc="-5" dirty="0"/>
              <a:t>f</a:t>
            </a:r>
            <a:r>
              <a:rPr spc="5" dirty="0"/>
              <a:t>l</a:t>
            </a:r>
            <a:r>
              <a:rPr dirty="0"/>
              <a:t>e</a:t>
            </a:r>
            <a:r>
              <a:rPr spc="5" dirty="0"/>
              <a:t>x</a:t>
            </a:r>
            <a:r>
              <a:rPr dirty="0"/>
              <a:t>es</a:t>
            </a:r>
          </a:p>
        </p:txBody>
      </p:sp>
    </p:spTree>
    <p:extLst>
      <p:ext uri="{BB962C8B-B14F-4D97-AF65-F5344CB8AC3E}">
        <p14:creationId xmlns:p14="http://schemas.microsoft.com/office/powerpoint/2010/main" val="643235141"/>
      </p:ext>
    </p:extLst>
  </p:cSld>
  <p:clrMapOvr>
    <a:masterClrMapping/>
  </p:clrMapOvr>
  <p:transition>
    <p:dissolv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721100" y="1096010"/>
            <a:ext cx="4768850" cy="3704590"/>
          </a:xfrm>
          <a:prstGeom prst="rect">
            <a:avLst/>
          </a:prstGeom>
        </p:spPr>
        <p:txBody>
          <a:bodyPr vert="horz" wrap="square" lIns="0" tIns="12065" rIns="0" bIns="0" rtlCol="0">
            <a:spAutoFit/>
          </a:bodyPr>
          <a:lstStyle/>
          <a:p>
            <a:pPr marL="534670" marR="681990" algn="ctr">
              <a:lnSpc>
                <a:spcPct val="120700"/>
              </a:lnSpc>
              <a:spcBef>
                <a:spcPts val="95"/>
              </a:spcBef>
            </a:pPr>
            <a:r>
              <a:rPr sz="5000" b="1" spc="-5" dirty="0">
                <a:latin typeface="Book Antiqua"/>
                <a:cs typeface="Book Antiqua"/>
              </a:rPr>
              <a:t>Injuries</a:t>
            </a:r>
            <a:r>
              <a:rPr sz="5000" b="1" spc="-75" dirty="0">
                <a:latin typeface="Book Antiqua"/>
                <a:cs typeface="Book Antiqua"/>
              </a:rPr>
              <a:t> </a:t>
            </a:r>
            <a:r>
              <a:rPr sz="5000" b="1" dirty="0">
                <a:latin typeface="Book Antiqua"/>
                <a:cs typeface="Book Antiqua"/>
              </a:rPr>
              <a:t>and  </a:t>
            </a:r>
            <a:r>
              <a:rPr sz="5000" b="1" spc="-5" dirty="0">
                <a:latin typeface="Book Antiqua"/>
                <a:cs typeface="Book Antiqua"/>
              </a:rPr>
              <a:t>Disorders  </a:t>
            </a:r>
            <a:r>
              <a:rPr sz="5000" b="1" dirty="0">
                <a:latin typeface="Book Antiqua"/>
                <a:cs typeface="Book Antiqua"/>
              </a:rPr>
              <a:t>of</a:t>
            </a:r>
            <a:r>
              <a:rPr sz="5000" b="1" spc="-25" dirty="0">
                <a:latin typeface="Book Antiqua"/>
                <a:cs typeface="Book Antiqua"/>
              </a:rPr>
              <a:t> </a:t>
            </a:r>
            <a:r>
              <a:rPr sz="5000" b="1" dirty="0">
                <a:latin typeface="Book Antiqua"/>
                <a:cs typeface="Book Antiqua"/>
              </a:rPr>
              <a:t>the</a:t>
            </a:r>
            <a:endParaRPr sz="5000">
              <a:latin typeface="Book Antiqua"/>
              <a:cs typeface="Book Antiqua"/>
            </a:endParaRPr>
          </a:p>
          <a:p>
            <a:pPr algn="ctr">
              <a:spcBef>
                <a:spcPts val="1240"/>
              </a:spcBef>
            </a:pPr>
            <a:r>
              <a:rPr sz="5000" b="1" dirty="0">
                <a:latin typeface="Book Antiqua"/>
                <a:cs typeface="Book Antiqua"/>
              </a:rPr>
              <a:t>Nervous</a:t>
            </a:r>
            <a:r>
              <a:rPr sz="5000" b="1" spc="-90" dirty="0">
                <a:latin typeface="Book Antiqua"/>
                <a:cs typeface="Book Antiqua"/>
              </a:rPr>
              <a:t> </a:t>
            </a:r>
            <a:r>
              <a:rPr sz="5000" b="1" spc="-5" dirty="0">
                <a:latin typeface="Book Antiqua"/>
                <a:cs typeface="Book Antiqua"/>
              </a:rPr>
              <a:t>System</a:t>
            </a:r>
            <a:endParaRPr sz="5000">
              <a:latin typeface="Book Antiqua"/>
              <a:cs typeface="Book Antiqua"/>
            </a:endParaRPr>
          </a:p>
        </p:txBody>
      </p:sp>
    </p:spTree>
    <p:extLst>
      <p:ext uri="{BB962C8B-B14F-4D97-AF65-F5344CB8AC3E}">
        <p14:creationId xmlns:p14="http://schemas.microsoft.com/office/powerpoint/2010/main" val="1950285283"/>
      </p:ext>
    </p:extLst>
  </p:cSld>
  <p:clrMapOvr>
    <a:masterClrMapping/>
  </p:clrMapOvr>
  <p:transition>
    <p:dissolv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Disorders of the nervous</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Disorders of the nervous system may involve the following:</a:t>
            </a:r>
          </a:p>
          <a:p>
            <a:pPr lvl="0"/>
            <a:r>
              <a:rPr lang="en-US" b="1" dirty="0">
                <a:latin typeface="Times New Roman" panose="02020603050405020304" pitchFamily="18" charset="0"/>
                <a:cs typeface="Times New Roman" panose="02020603050405020304" pitchFamily="18" charset="0"/>
              </a:rPr>
              <a:t>Vascular disorders</a:t>
            </a:r>
            <a:r>
              <a:rPr lang="en-US" dirty="0">
                <a:latin typeface="Times New Roman" panose="02020603050405020304" pitchFamily="18" charset="0"/>
                <a:cs typeface="Times New Roman" panose="02020603050405020304" pitchFamily="18" charset="0"/>
              </a:rPr>
              <a:t>, such as stroke, transient ischemic attack (TIA), subarachnoid hemorrhage, subdural hemorrhage and hematoma, and extradural hemorrhage</a:t>
            </a:r>
          </a:p>
          <a:p>
            <a:pPr lvl="0"/>
            <a:r>
              <a:rPr lang="en-US" b="1" dirty="0">
                <a:latin typeface="Times New Roman" panose="02020603050405020304" pitchFamily="18" charset="0"/>
                <a:cs typeface="Times New Roman" panose="02020603050405020304" pitchFamily="18" charset="0"/>
              </a:rPr>
              <a:t>Infections</a:t>
            </a:r>
            <a:r>
              <a:rPr lang="en-US" dirty="0">
                <a:latin typeface="Times New Roman" panose="02020603050405020304" pitchFamily="18" charset="0"/>
                <a:cs typeface="Times New Roman" panose="02020603050405020304" pitchFamily="18" charset="0"/>
              </a:rPr>
              <a:t>, such as meningitis, encephalitis, polio, and epidural abscess</a:t>
            </a:r>
          </a:p>
          <a:p>
            <a:pPr lvl="0"/>
            <a:r>
              <a:rPr lang="en-US" b="1" dirty="0">
                <a:latin typeface="Times New Roman" panose="02020603050405020304" pitchFamily="18" charset="0"/>
                <a:cs typeface="Times New Roman" panose="02020603050405020304" pitchFamily="18" charset="0"/>
              </a:rPr>
              <a:t>Structural disorders</a:t>
            </a:r>
            <a:r>
              <a:rPr lang="en-US" dirty="0">
                <a:latin typeface="Times New Roman" panose="02020603050405020304" pitchFamily="18" charset="0"/>
                <a:cs typeface="Times New Roman" panose="02020603050405020304" pitchFamily="18" charset="0"/>
              </a:rPr>
              <a:t>, such as brain or spinal cord injury, Bell's palsy, cervical </a:t>
            </a:r>
            <a:r>
              <a:rPr lang="en-US" dirty="0" err="1">
                <a:latin typeface="Times New Roman" panose="02020603050405020304" pitchFamily="18" charset="0"/>
                <a:cs typeface="Times New Roman" panose="02020603050405020304" pitchFamily="18" charset="0"/>
              </a:rPr>
              <a:t>spondylosis</a:t>
            </a:r>
            <a:r>
              <a:rPr lang="en-US" dirty="0">
                <a:latin typeface="Times New Roman" panose="02020603050405020304" pitchFamily="18" charset="0"/>
                <a:cs typeface="Times New Roman" panose="02020603050405020304" pitchFamily="18" charset="0"/>
              </a:rPr>
              <a:t>, carpal tunnel syndrome, brain or spinal cord tumors, peripheral neuropathy, and </a:t>
            </a:r>
            <a:r>
              <a:rPr lang="en-US" dirty="0" err="1">
                <a:latin typeface="Times New Roman" panose="02020603050405020304" pitchFamily="18" charset="0"/>
                <a:cs typeface="Times New Roman" panose="02020603050405020304" pitchFamily="18" charset="0"/>
              </a:rPr>
              <a:t>Guillain-Barré</a:t>
            </a:r>
            <a:r>
              <a:rPr lang="en-US" dirty="0">
                <a:latin typeface="Times New Roman" panose="02020603050405020304" pitchFamily="18" charset="0"/>
                <a:cs typeface="Times New Roman" panose="02020603050405020304" pitchFamily="18" charset="0"/>
              </a:rPr>
              <a:t> syndrome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59093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Cont’d</a:t>
            </a:r>
            <a:endParaRPr lang="en-US" dirty="0"/>
          </a:p>
        </p:txBody>
      </p:sp>
      <p:sp>
        <p:nvSpPr>
          <p:cNvPr id="3" name="Content Placeholder 2"/>
          <p:cNvSpPr>
            <a:spLocks noGrp="1"/>
          </p:cNvSpPr>
          <p:nvPr>
            <p:ph idx="1"/>
          </p:nvPr>
        </p:nvSpPr>
        <p:spPr/>
        <p:txBody>
          <a:bodyPr/>
          <a:lstStyle/>
          <a:p>
            <a:pPr marL="0" indent="0">
              <a:buNone/>
            </a:pPr>
            <a:r>
              <a:rPr lang="en-US" dirty="0"/>
              <a:t>•	</a:t>
            </a:r>
            <a:r>
              <a:rPr lang="en-US" sz="4000" dirty="0">
                <a:latin typeface="Times New Roman" panose="02020603050405020304" pitchFamily="18" charset="0"/>
                <a:cs typeface="Times New Roman" panose="02020603050405020304" pitchFamily="18" charset="0"/>
              </a:rPr>
              <a:t>Functional disorders, such as headache, epilepsy, dizziness, and neuralgia</a:t>
            </a:r>
          </a:p>
          <a:p>
            <a:pPr marL="0" indent="0">
              <a:buNone/>
            </a:pPr>
            <a:r>
              <a:rPr lang="en-US" sz="4000" dirty="0">
                <a:latin typeface="Times New Roman" panose="02020603050405020304" pitchFamily="18" charset="0"/>
                <a:cs typeface="Times New Roman" panose="02020603050405020304" pitchFamily="18" charset="0"/>
              </a:rPr>
              <a:t>•	Degeneration, such as Parkinson disease, multiple sclerosis, amyotrophic lateral sclerosis (ALS), Huntington chorea, and Alzheimer disease</a:t>
            </a:r>
          </a:p>
          <a:p>
            <a:endParaRPr lang="en-US" dirty="0"/>
          </a:p>
        </p:txBody>
      </p:sp>
    </p:spTree>
    <p:extLst>
      <p:ext uri="{BB962C8B-B14F-4D97-AF65-F5344CB8AC3E}">
        <p14:creationId xmlns:p14="http://schemas.microsoft.com/office/powerpoint/2010/main" val="27915694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General Signs and symptoms of nervous system disorders</a:t>
            </a:r>
            <a:endParaRPr lang="en-US" dirty="0"/>
          </a:p>
        </p:txBody>
      </p:sp>
      <p:sp>
        <p:nvSpPr>
          <p:cNvPr id="3" name="Content Placeholder 2"/>
          <p:cNvSpPr>
            <a:spLocks noGrp="1"/>
          </p:cNvSpPr>
          <p:nvPr>
            <p:ph idx="1"/>
          </p:nvPr>
        </p:nvSpPr>
        <p:spPr/>
        <p:txBody>
          <a:bodyPr/>
          <a:lstStyle/>
          <a:p>
            <a:r>
              <a:rPr lang="en-GB" dirty="0" smtClean="0"/>
              <a:t>Persistent </a:t>
            </a:r>
            <a:r>
              <a:rPr lang="en-GB" dirty="0"/>
              <a:t>or sudden onset of a headache</a:t>
            </a:r>
          </a:p>
          <a:p>
            <a:r>
              <a:rPr lang="en-GB" dirty="0" smtClean="0"/>
              <a:t>A </a:t>
            </a:r>
            <a:r>
              <a:rPr lang="en-GB" dirty="0"/>
              <a:t>headache that changes or is different</a:t>
            </a:r>
          </a:p>
          <a:p>
            <a:r>
              <a:rPr lang="en-GB" dirty="0" smtClean="0"/>
              <a:t>Loss </a:t>
            </a:r>
            <a:r>
              <a:rPr lang="en-GB" dirty="0"/>
              <a:t>of feeling or tingling</a:t>
            </a:r>
          </a:p>
          <a:p>
            <a:r>
              <a:rPr lang="en-GB" dirty="0" smtClean="0"/>
              <a:t>Weakness </a:t>
            </a:r>
            <a:r>
              <a:rPr lang="en-GB" dirty="0"/>
              <a:t>or loss of muscle strength</a:t>
            </a:r>
          </a:p>
          <a:p>
            <a:r>
              <a:rPr lang="en-GB" dirty="0" smtClean="0"/>
              <a:t>Loss </a:t>
            </a:r>
            <a:r>
              <a:rPr lang="en-GB" dirty="0"/>
              <a:t>of sight or double vision</a:t>
            </a:r>
          </a:p>
          <a:p>
            <a:r>
              <a:rPr lang="en-GB" dirty="0" smtClean="0"/>
              <a:t>Memory </a:t>
            </a:r>
            <a:r>
              <a:rPr lang="en-GB" dirty="0"/>
              <a:t>loss</a:t>
            </a:r>
          </a:p>
          <a:p>
            <a:r>
              <a:rPr lang="en-GB" dirty="0" smtClean="0"/>
              <a:t>Impaired </a:t>
            </a:r>
            <a:r>
              <a:rPr lang="en-GB" dirty="0"/>
              <a:t>mental ability</a:t>
            </a:r>
          </a:p>
          <a:p>
            <a:r>
              <a:rPr lang="en-GB" dirty="0" smtClean="0"/>
              <a:t>Lack </a:t>
            </a:r>
            <a:r>
              <a:rPr lang="en-GB" dirty="0"/>
              <a:t>of coordination</a:t>
            </a:r>
          </a:p>
          <a:p>
            <a:endParaRPr lang="en-US" dirty="0"/>
          </a:p>
        </p:txBody>
      </p:sp>
    </p:spTree>
    <p:extLst>
      <p:ext uri="{BB962C8B-B14F-4D97-AF65-F5344CB8AC3E}">
        <p14:creationId xmlns:p14="http://schemas.microsoft.com/office/powerpoint/2010/main" val="42141295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Cont’d </a:t>
            </a:r>
            <a:endParaRPr lang="en-US" dirty="0"/>
          </a:p>
        </p:txBody>
      </p:sp>
      <p:sp>
        <p:nvSpPr>
          <p:cNvPr id="3" name="Content Placeholder 2"/>
          <p:cNvSpPr>
            <a:spLocks noGrp="1"/>
          </p:cNvSpPr>
          <p:nvPr>
            <p:ph idx="1"/>
          </p:nvPr>
        </p:nvSpPr>
        <p:spPr/>
        <p:txBody>
          <a:bodyPr>
            <a:normAutofit/>
          </a:bodyPr>
          <a:lstStyle/>
          <a:p>
            <a:pPr lvl="0"/>
            <a:r>
              <a:rPr lang="en-US" sz="3600" dirty="0">
                <a:latin typeface="Times New Roman" panose="02020603050405020304" pitchFamily="18" charset="0"/>
                <a:cs typeface="Times New Roman" panose="02020603050405020304" pitchFamily="18" charset="0"/>
              </a:rPr>
              <a:t>Muscle rigidity</a:t>
            </a:r>
          </a:p>
          <a:p>
            <a:pPr lvl="0"/>
            <a:r>
              <a:rPr lang="en-US" sz="3600" dirty="0">
                <a:latin typeface="Times New Roman" panose="02020603050405020304" pitchFamily="18" charset="0"/>
                <a:cs typeface="Times New Roman" panose="02020603050405020304" pitchFamily="18" charset="0"/>
              </a:rPr>
              <a:t>Tremors and seizures</a:t>
            </a:r>
          </a:p>
          <a:p>
            <a:pPr lvl="0"/>
            <a:r>
              <a:rPr lang="en-US" sz="3600" dirty="0">
                <a:latin typeface="Times New Roman" panose="02020603050405020304" pitchFamily="18" charset="0"/>
                <a:cs typeface="Times New Roman" panose="02020603050405020304" pitchFamily="18" charset="0"/>
              </a:rPr>
              <a:t>Back pain which radiates to the feet, toes, or other parts of the body</a:t>
            </a:r>
          </a:p>
          <a:p>
            <a:pPr lvl="0"/>
            <a:r>
              <a:rPr lang="en-US" sz="3600" dirty="0">
                <a:latin typeface="Times New Roman" panose="02020603050405020304" pitchFamily="18" charset="0"/>
                <a:cs typeface="Times New Roman" panose="02020603050405020304" pitchFamily="18" charset="0"/>
              </a:rPr>
              <a:t>Muscle wasting and slurred speech</a:t>
            </a:r>
          </a:p>
          <a:p>
            <a:pPr lvl="0"/>
            <a:r>
              <a:rPr lang="en-US" sz="3600" dirty="0">
                <a:latin typeface="Times New Roman" panose="02020603050405020304" pitchFamily="18" charset="0"/>
                <a:cs typeface="Times New Roman" panose="02020603050405020304" pitchFamily="18" charset="0"/>
              </a:rPr>
              <a:t>New language impairment (expression or comprehension</a:t>
            </a:r>
          </a:p>
          <a:p>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65485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1660" y="1436369"/>
            <a:ext cx="3700145" cy="1569720"/>
          </a:xfrm>
          <a:prstGeom prst="rect">
            <a:avLst/>
          </a:prstGeom>
        </p:spPr>
        <p:txBody>
          <a:bodyPr vert="horz" wrap="square" lIns="0" tIns="100330" rIns="0" bIns="0" rtlCol="0">
            <a:spAutoFit/>
          </a:bodyPr>
          <a:lstStyle/>
          <a:p>
            <a:pPr marL="381000" indent="-342900">
              <a:spcBef>
                <a:spcPts val="790"/>
              </a:spcBef>
              <a:buChar char="•"/>
              <a:tabLst>
                <a:tab pos="380365" algn="l"/>
                <a:tab pos="381000" algn="l"/>
              </a:tabLst>
            </a:pPr>
            <a:r>
              <a:rPr sz="2800" spc="-10" dirty="0">
                <a:solidFill>
                  <a:srgbClr val="252525"/>
                </a:solidFill>
                <a:latin typeface="Arial"/>
                <a:cs typeface="Arial"/>
              </a:rPr>
              <a:t>traumatic </a:t>
            </a:r>
            <a:r>
              <a:rPr sz="2800" spc="-5" dirty="0">
                <a:solidFill>
                  <a:srgbClr val="252525"/>
                </a:solidFill>
                <a:latin typeface="Arial"/>
                <a:cs typeface="Arial"/>
              </a:rPr>
              <a:t>brain</a:t>
            </a:r>
            <a:r>
              <a:rPr sz="2800" spc="-70" dirty="0">
                <a:solidFill>
                  <a:srgbClr val="252525"/>
                </a:solidFill>
                <a:latin typeface="Arial"/>
                <a:cs typeface="Arial"/>
              </a:rPr>
              <a:t> </a:t>
            </a:r>
            <a:r>
              <a:rPr sz="2800" spc="-15" dirty="0">
                <a:solidFill>
                  <a:srgbClr val="252525"/>
                </a:solidFill>
                <a:latin typeface="Arial"/>
                <a:cs typeface="Arial"/>
              </a:rPr>
              <a:t>injury</a:t>
            </a:r>
            <a:endParaRPr sz="2800">
              <a:latin typeface="Arial"/>
              <a:cs typeface="Arial"/>
            </a:endParaRPr>
          </a:p>
          <a:p>
            <a:pPr marL="381000" indent="-342900">
              <a:spcBef>
                <a:spcPts val="690"/>
              </a:spcBef>
              <a:buChar char="•"/>
              <a:tabLst>
                <a:tab pos="380365" algn="l"/>
                <a:tab pos="381000" algn="l"/>
              </a:tabLst>
            </a:pPr>
            <a:r>
              <a:rPr sz="2800" spc="-10" dirty="0">
                <a:solidFill>
                  <a:srgbClr val="252525"/>
                </a:solidFill>
                <a:latin typeface="Arial"/>
                <a:cs typeface="Arial"/>
              </a:rPr>
              <a:t>cerebral</a:t>
            </a:r>
            <a:r>
              <a:rPr sz="2800" spc="-25" dirty="0">
                <a:solidFill>
                  <a:srgbClr val="252525"/>
                </a:solidFill>
                <a:latin typeface="Arial"/>
                <a:cs typeface="Arial"/>
              </a:rPr>
              <a:t> </a:t>
            </a:r>
            <a:r>
              <a:rPr sz="2800" spc="-5" dirty="0">
                <a:solidFill>
                  <a:srgbClr val="252525"/>
                </a:solidFill>
                <a:latin typeface="Arial"/>
                <a:cs typeface="Arial"/>
              </a:rPr>
              <a:t>palsy</a:t>
            </a:r>
            <a:endParaRPr sz="2800">
              <a:latin typeface="Arial"/>
              <a:cs typeface="Arial"/>
            </a:endParaRPr>
          </a:p>
          <a:p>
            <a:pPr marL="381000" indent="-342900">
              <a:spcBef>
                <a:spcPts val="700"/>
              </a:spcBef>
              <a:buChar char="•"/>
              <a:tabLst>
                <a:tab pos="380365" algn="l"/>
                <a:tab pos="381000" algn="l"/>
              </a:tabLst>
            </a:pPr>
            <a:r>
              <a:rPr sz="2800" spc="-5" dirty="0">
                <a:solidFill>
                  <a:srgbClr val="252525"/>
                </a:solidFill>
                <a:latin typeface="Arial"/>
                <a:cs typeface="Arial"/>
              </a:rPr>
              <a:t>spinal cord</a:t>
            </a:r>
            <a:r>
              <a:rPr sz="2800" spc="-55" dirty="0">
                <a:solidFill>
                  <a:srgbClr val="252525"/>
                </a:solidFill>
                <a:latin typeface="Arial"/>
                <a:cs typeface="Arial"/>
              </a:rPr>
              <a:t> </a:t>
            </a:r>
            <a:r>
              <a:rPr sz="2800" spc="-15" dirty="0">
                <a:solidFill>
                  <a:srgbClr val="252525"/>
                </a:solidFill>
                <a:latin typeface="Arial"/>
                <a:cs typeface="Arial"/>
              </a:rPr>
              <a:t>injury</a:t>
            </a:r>
            <a:endParaRPr sz="2800">
              <a:latin typeface="Arial"/>
              <a:cs typeface="Arial"/>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1864360" y="88641"/>
            <a:ext cx="7128509" cy="1367041"/>
          </a:xfrm>
          <a:prstGeom prst="rect">
            <a:avLst/>
          </a:prstGeom>
        </p:spPr>
        <p:txBody>
          <a:bodyPr vert="horz" wrap="square" lIns="0" tIns="12700" rIns="0" bIns="0" rtlCol="0" anchor="ctr">
            <a:spAutoFit/>
          </a:bodyPr>
          <a:lstStyle/>
          <a:p>
            <a:pPr marL="12700">
              <a:lnSpc>
                <a:spcPct val="100000"/>
              </a:lnSpc>
              <a:spcBef>
                <a:spcPts val="100"/>
              </a:spcBef>
            </a:pPr>
            <a:r>
              <a:rPr spc="-5" dirty="0"/>
              <a:t>Injuries </a:t>
            </a:r>
            <a:r>
              <a:rPr dirty="0"/>
              <a:t>to the </a:t>
            </a:r>
            <a:r>
              <a:rPr spc="-5" dirty="0"/>
              <a:t>Brain </a:t>
            </a:r>
            <a:r>
              <a:rPr dirty="0"/>
              <a:t>and </a:t>
            </a:r>
            <a:r>
              <a:rPr spc="-5" dirty="0"/>
              <a:t>Spinal</a:t>
            </a:r>
            <a:r>
              <a:rPr spc="-20" dirty="0"/>
              <a:t> </a:t>
            </a:r>
            <a:r>
              <a:rPr spc="-5" dirty="0"/>
              <a:t>Cord</a:t>
            </a:r>
          </a:p>
        </p:txBody>
      </p:sp>
    </p:spTree>
    <p:extLst>
      <p:ext uri="{BB962C8B-B14F-4D97-AF65-F5344CB8AC3E}">
        <p14:creationId xmlns:p14="http://schemas.microsoft.com/office/powerpoint/2010/main" val="1372190299"/>
      </p:ext>
    </p:extLst>
  </p:cSld>
  <p:clrMapOvr>
    <a:masterClrMapping/>
  </p:clrMapOvr>
  <p:transition>
    <p:dissolv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1659" y="1436581"/>
            <a:ext cx="3860800" cy="1864360"/>
          </a:xfrm>
          <a:prstGeom prst="rect">
            <a:avLst/>
          </a:prstGeom>
        </p:spPr>
        <p:txBody>
          <a:bodyPr vert="horz" wrap="square" lIns="0" tIns="99695" rIns="0" bIns="0" rtlCol="0">
            <a:spAutoFit/>
          </a:bodyPr>
          <a:lstStyle/>
          <a:p>
            <a:pPr marL="381000" indent="-342900">
              <a:spcBef>
                <a:spcPts val="785"/>
              </a:spcBef>
              <a:buChar char="•"/>
              <a:tabLst>
                <a:tab pos="380365" algn="l"/>
                <a:tab pos="381000" algn="l"/>
              </a:tabLst>
            </a:pPr>
            <a:r>
              <a:rPr sz="2800" spc="-15" dirty="0">
                <a:solidFill>
                  <a:srgbClr val="252525"/>
                </a:solidFill>
                <a:latin typeface="Arial"/>
                <a:cs typeface="Arial"/>
              </a:rPr>
              <a:t>violent impact </a:t>
            </a:r>
            <a:r>
              <a:rPr sz="2800" spc="5" dirty="0">
                <a:solidFill>
                  <a:srgbClr val="252525"/>
                </a:solidFill>
                <a:latin typeface="Arial"/>
                <a:cs typeface="Arial"/>
              </a:rPr>
              <a:t>to</a:t>
            </a:r>
            <a:r>
              <a:rPr sz="2800" spc="-30" dirty="0">
                <a:solidFill>
                  <a:srgbClr val="252525"/>
                </a:solidFill>
                <a:latin typeface="Arial"/>
                <a:cs typeface="Arial"/>
              </a:rPr>
              <a:t> </a:t>
            </a:r>
            <a:r>
              <a:rPr sz="2800" spc="-10" dirty="0">
                <a:solidFill>
                  <a:srgbClr val="252525"/>
                </a:solidFill>
                <a:latin typeface="Arial"/>
                <a:cs typeface="Arial"/>
              </a:rPr>
              <a:t>head</a:t>
            </a:r>
            <a:endParaRPr sz="28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mild</a:t>
            </a:r>
            <a:endParaRPr sz="24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moderate</a:t>
            </a:r>
            <a:endParaRPr sz="2400">
              <a:latin typeface="Arial"/>
              <a:cs typeface="Arial"/>
            </a:endParaRPr>
          </a:p>
          <a:p>
            <a:pPr marL="781050" lvl="1" indent="-285750">
              <a:spcBef>
                <a:spcPts val="600"/>
              </a:spcBef>
              <a:buChar char="–"/>
              <a:tabLst>
                <a:tab pos="781050" algn="l"/>
              </a:tabLst>
            </a:pPr>
            <a:r>
              <a:rPr sz="2400" dirty="0">
                <a:solidFill>
                  <a:srgbClr val="252525"/>
                </a:solidFill>
                <a:latin typeface="Arial"/>
                <a:cs typeface="Arial"/>
              </a:rPr>
              <a:t>severe</a:t>
            </a:r>
            <a:endParaRPr sz="2400">
              <a:latin typeface="Arial"/>
              <a:cs typeface="Arial"/>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1864359" y="88641"/>
            <a:ext cx="4450080" cy="1367041"/>
          </a:xfrm>
          <a:prstGeom prst="rect">
            <a:avLst/>
          </a:prstGeom>
        </p:spPr>
        <p:txBody>
          <a:bodyPr vert="horz" wrap="square" lIns="0" tIns="12700" rIns="0" bIns="0" rtlCol="0" anchor="ctr">
            <a:spAutoFit/>
          </a:bodyPr>
          <a:lstStyle/>
          <a:p>
            <a:pPr marL="12700">
              <a:lnSpc>
                <a:spcPct val="100000"/>
              </a:lnSpc>
              <a:spcBef>
                <a:spcPts val="100"/>
              </a:spcBef>
            </a:pPr>
            <a:r>
              <a:rPr spc="-5" dirty="0"/>
              <a:t>Traumatic Brain</a:t>
            </a:r>
            <a:r>
              <a:rPr spc="-15" dirty="0"/>
              <a:t> </a:t>
            </a:r>
            <a:r>
              <a:rPr spc="-5" dirty="0"/>
              <a:t>Injury</a:t>
            </a:r>
          </a:p>
        </p:txBody>
      </p:sp>
    </p:spTree>
    <p:extLst>
      <p:ext uri="{BB962C8B-B14F-4D97-AF65-F5344CB8AC3E}">
        <p14:creationId xmlns:p14="http://schemas.microsoft.com/office/powerpoint/2010/main" val="4255173715"/>
      </p:ext>
    </p:extLst>
  </p:cSld>
  <p:clrMapOvr>
    <a:masterClrMapping/>
  </p:clrMapOvr>
  <p:transition>
    <p:dissolv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1660" y="1436581"/>
            <a:ext cx="4500245" cy="2379980"/>
          </a:xfrm>
          <a:prstGeom prst="rect">
            <a:avLst/>
          </a:prstGeom>
        </p:spPr>
        <p:txBody>
          <a:bodyPr vert="horz" wrap="square" lIns="0" tIns="99695" rIns="0" bIns="0" rtlCol="0">
            <a:spAutoFit/>
          </a:bodyPr>
          <a:lstStyle/>
          <a:p>
            <a:pPr marL="381000" indent="-342900">
              <a:spcBef>
                <a:spcPts val="785"/>
              </a:spcBef>
              <a:buChar char="•"/>
              <a:tabLst>
                <a:tab pos="380365" algn="l"/>
                <a:tab pos="381000" algn="l"/>
              </a:tabLst>
            </a:pPr>
            <a:r>
              <a:rPr sz="2800" spc="-10" dirty="0">
                <a:solidFill>
                  <a:srgbClr val="252525"/>
                </a:solidFill>
                <a:latin typeface="Arial"/>
                <a:cs typeface="Arial"/>
              </a:rPr>
              <a:t>damage </a:t>
            </a:r>
            <a:r>
              <a:rPr sz="2800" dirty="0">
                <a:solidFill>
                  <a:srgbClr val="252525"/>
                </a:solidFill>
                <a:latin typeface="Arial"/>
                <a:cs typeface="Arial"/>
              </a:rPr>
              <a:t>to</a:t>
            </a:r>
            <a:r>
              <a:rPr sz="2800" spc="-40" dirty="0">
                <a:solidFill>
                  <a:srgbClr val="252525"/>
                </a:solidFill>
                <a:latin typeface="Arial"/>
                <a:cs typeface="Arial"/>
              </a:rPr>
              <a:t> </a:t>
            </a:r>
            <a:r>
              <a:rPr sz="2800" spc="-5" dirty="0">
                <a:solidFill>
                  <a:srgbClr val="252525"/>
                </a:solidFill>
                <a:latin typeface="Arial"/>
                <a:cs typeface="Arial"/>
              </a:rPr>
              <a:t>brain</a:t>
            </a:r>
            <a:endParaRPr sz="2800">
              <a:latin typeface="Arial"/>
              <a:cs typeface="Arial"/>
            </a:endParaRPr>
          </a:p>
          <a:p>
            <a:pPr marL="781050" lvl="1" indent="-285750">
              <a:spcBef>
                <a:spcPts val="590"/>
              </a:spcBef>
              <a:buChar char="–"/>
              <a:tabLst>
                <a:tab pos="781050" algn="l"/>
              </a:tabLst>
            </a:pPr>
            <a:r>
              <a:rPr sz="2400" spc="-5" dirty="0">
                <a:solidFill>
                  <a:srgbClr val="252525"/>
                </a:solidFill>
                <a:latin typeface="Arial"/>
                <a:cs typeface="Arial"/>
              </a:rPr>
              <a:t>before</a:t>
            </a:r>
            <a:r>
              <a:rPr sz="2400" spc="-85" dirty="0">
                <a:solidFill>
                  <a:srgbClr val="252525"/>
                </a:solidFill>
                <a:latin typeface="Arial"/>
                <a:cs typeface="Arial"/>
              </a:rPr>
              <a:t> </a:t>
            </a:r>
            <a:r>
              <a:rPr sz="2400" dirty="0">
                <a:solidFill>
                  <a:srgbClr val="252525"/>
                </a:solidFill>
                <a:latin typeface="Arial"/>
                <a:cs typeface="Arial"/>
              </a:rPr>
              <a:t>birth</a:t>
            </a:r>
            <a:endParaRPr sz="24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during</a:t>
            </a:r>
            <a:r>
              <a:rPr sz="2400" spc="-80" dirty="0">
                <a:solidFill>
                  <a:srgbClr val="252525"/>
                </a:solidFill>
                <a:latin typeface="Arial"/>
                <a:cs typeface="Arial"/>
              </a:rPr>
              <a:t> </a:t>
            </a:r>
            <a:r>
              <a:rPr sz="2400" spc="-5" dirty="0">
                <a:solidFill>
                  <a:srgbClr val="252525"/>
                </a:solidFill>
                <a:latin typeface="Arial"/>
                <a:cs typeface="Arial"/>
              </a:rPr>
              <a:t>birth</a:t>
            </a:r>
            <a:endParaRPr sz="2400">
              <a:latin typeface="Arial"/>
              <a:cs typeface="Arial"/>
            </a:endParaRPr>
          </a:p>
          <a:p>
            <a:pPr marL="781050" lvl="1" indent="-285750">
              <a:spcBef>
                <a:spcPts val="600"/>
              </a:spcBef>
              <a:buChar char="–"/>
              <a:tabLst>
                <a:tab pos="781050" algn="l"/>
              </a:tabLst>
            </a:pPr>
            <a:r>
              <a:rPr sz="2400" spc="-5" dirty="0">
                <a:solidFill>
                  <a:srgbClr val="252525"/>
                </a:solidFill>
                <a:latin typeface="Arial"/>
                <a:cs typeface="Arial"/>
              </a:rPr>
              <a:t>during infancy</a:t>
            </a:r>
            <a:endParaRPr sz="2400">
              <a:latin typeface="Arial"/>
              <a:cs typeface="Arial"/>
            </a:endParaRPr>
          </a:p>
          <a:p>
            <a:pPr marL="381000" indent="-342900">
              <a:spcBef>
                <a:spcPts val="700"/>
              </a:spcBef>
              <a:buChar char="•"/>
              <a:tabLst>
                <a:tab pos="380365" algn="l"/>
                <a:tab pos="381000" algn="l"/>
              </a:tabLst>
            </a:pPr>
            <a:r>
              <a:rPr sz="2800" spc="-10" dirty="0">
                <a:solidFill>
                  <a:srgbClr val="252525"/>
                </a:solidFill>
                <a:latin typeface="Arial"/>
                <a:cs typeface="Arial"/>
              </a:rPr>
              <a:t>motor </a:t>
            </a:r>
            <a:r>
              <a:rPr sz="2800" spc="-15" dirty="0">
                <a:solidFill>
                  <a:srgbClr val="252525"/>
                </a:solidFill>
                <a:latin typeface="Arial"/>
                <a:cs typeface="Arial"/>
              </a:rPr>
              <a:t>function</a:t>
            </a:r>
            <a:r>
              <a:rPr sz="2800" spc="-55" dirty="0">
                <a:solidFill>
                  <a:srgbClr val="252525"/>
                </a:solidFill>
                <a:latin typeface="Arial"/>
                <a:cs typeface="Arial"/>
              </a:rPr>
              <a:t> </a:t>
            </a:r>
            <a:r>
              <a:rPr sz="2800" spc="-15" dirty="0">
                <a:solidFill>
                  <a:srgbClr val="252525"/>
                </a:solidFill>
                <a:latin typeface="Arial"/>
                <a:cs typeface="Arial"/>
              </a:rPr>
              <a:t>impairment</a:t>
            </a:r>
            <a:endParaRPr sz="2800">
              <a:latin typeface="Arial"/>
              <a:cs typeface="Arial"/>
            </a:endParaRPr>
          </a:p>
        </p:txBody>
      </p:sp>
      <p:sp>
        <p:nvSpPr>
          <p:cNvPr id="4" name="object 4"/>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5" name="object 5"/>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
        <p:nvSpPr>
          <p:cNvPr id="3" name="object 3"/>
          <p:cNvSpPr txBox="1">
            <a:spLocks noGrp="1"/>
          </p:cNvSpPr>
          <p:nvPr>
            <p:ph type="title"/>
          </p:nvPr>
        </p:nvSpPr>
        <p:spPr>
          <a:xfrm>
            <a:off x="1864359" y="88641"/>
            <a:ext cx="2810510" cy="1367041"/>
          </a:xfrm>
          <a:prstGeom prst="rect">
            <a:avLst/>
          </a:prstGeom>
        </p:spPr>
        <p:txBody>
          <a:bodyPr vert="horz" wrap="square" lIns="0" tIns="12700" rIns="0" bIns="0" rtlCol="0" anchor="ctr">
            <a:spAutoFit/>
          </a:bodyPr>
          <a:lstStyle/>
          <a:p>
            <a:pPr marL="12700">
              <a:lnSpc>
                <a:spcPct val="100000"/>
              </a:lnSpc>
              <a:spcBef>
                <a:spcPts val="100"/>
              </a:spcBef>
            </a:pPr>
            <a:r>
              <a:rPr spc="-5" dirty="0"/>
              <a:t>Cerebral</a:t>
            </a:r>
            <a:r>
              <a:rPr spc="-35" dirty="0"/>
              <a:t> </a:t>
            </a:r>
            <a:r>
              <a:rPr spc="-5" dirty="0"/>
              <a:t>Palsy</a:t>
            </a:r>
          </a:p>
        </p:txBody>
      </p:sp>
    </p:spTree>
    <p:extLst>
      <p:ext uri="{BB962C8B-B14F-4D97-AF65-F5344CB8AC3E}">
        <p14:creationId xmlns:p14="http://schemas.microsoft.com/office/powerpoint/2010/main" val="74948261"/>
      </p:ext>
    </p:extLst>
  </p:cSld>
  <p:clrMapOvr>
    <a:masterClrMapping/>
  </p:clrMapOvr>
  <p:transition>
    <p:dissolv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1659" y="1436370"/>
            <a:ext cx="6240780" cy="2085339"/>
          </a:xfrm>
          <a:prstGeom prst="rect">
            <a:avLst/>
          </a:prstGeom>
        </p:spPr>
        <p:txBody>
          <a:bodyPr vert="horz" wrap="square" lIns="0" tIns="100330" rIns="0" bIns="0" rtlCol="0">
            <a:spAutoFit/>
          </a:bodyPr>
          <a:lstStyle/>
          <a:p>
            <a:pPr marL="381000" indent="-342900">
              <a:spcBef>
                <a:spcPts val="790"/>
              </a:spcBef>
              <a:buChar char="•"/>
              <a:tabLst>
                <a:tab pos="380365" algn="l"/>
                <a:tab pos="381000" algn="l"/>
              </a:tabLst>
            </a:pPr>
            <a:r>
              <a:rPr sz="2800" spc="-45" dirty="0">
                <a:solidFill>
                  <a:srgbClr val="252525"/>
                </a:solidFill>
                <a:latin typeface="Arial"/>
                <a:cs typeface="Arial"/>
              </a:rPr>
              <a:t>C1–C3: </a:t>
            </a:r>
            <a:r>
              <a:rPr sz="2800" spc="-15" dirty="0">
                <a:solidFill>
                  <a:srgbClr val="252525"/>
                </a:solidFill>
                <a:latin typeface="Arial"/>
                <a:cs typeface="Arial"/>
              </a:rPr>
              <a:t>usually</a:t>
            </a:r>
            <a:r>
              <a:rPr sz="2800" spc="70" dirty="0">
                <a:solidFill>
                  <a:srgbClr val="252525"/>
                </a:solidFill>
                <a:latin typeface="Arial"/>
                <a:cs typeface="Arial"/>
              </a:rPr>
              <a:t> </a:t>
            </a:r>
            <a:r>
              <a:rPr sz="2800" spc="-5" dirty="0">
                <a:solidFill>
                  <a:srgbClr val="252525"/>
                </a:solidFill>
                <a:latin typeface="Arial"/>
                <a:cs typeface="Arial"/>
              </a:rPr>
              <a:t>fatal</a:t>
            </a:r>
            <a:endParaRPr sz="2800">
              <a:latin typeface="Arial"/>
              <a:cs typeface="Arial"/>
            </a:endParaRPr>
          </a:p>
          <a:p>
            <a:pPr marL="381000" indent="-342900">
              <a:spcBef>
                <a:spcPts val="690"/>
              </a:spcBef>
              <a:buChar char="•"/>
              <a:tabLst>
                <a:tab pos="380365" algn="l"/>
                <a:tab pos="381000" algn="l"/>
              </a:tabLst>
            </a:pPr>
            <a:r>
              <a:rPr sz="2800" spc="-45" dirty="0">
                <a:solidFill>
                  <a:srgbClr val="252525"/>
                </a:solidFill>
                <a:latin typeface="Arial"/>
                <a:cs typeface="Arial"/>
              </a:rPr>
              <a:t>C1–C4:</a:t>
            </a:r>
            <a:r>
              <a:rPr sz="2800" spc="20" dirty="0">
                <a:solidFill>
                  <a:srgbClr val="252525"/>
                </a:solidFill>
                <a:latin typeface="Arial"/>
                <a:cs typeface="Arial"/>
              </a:rPr>
              <a:t> </a:t>
            </a:r>
            <a:r>
              <a:rPr sz="2800" spc="-15" dirty="0">
                <a:solidFill>
                  <a:srgbClr val="252525"/>
                </a:solidFill>
                <a:latin typeface="Arial"/>
                <a:cs typeface="Arial"/>
              </a:rPr>
              <a:t>quadriplegia</a:t>
            </a:r>
            <a:endParaRPr sz="2800">
              <a:latin typeface="Arial"/>
              <a:cs typeface="Arial"/>
            </a:endParaRPr>
          </a:p>
          <a:p>
            <a:pPr marL="381000" indent="-342900">
              <a:spcBef>
                <a:spcPts val="700"/>
              </a:spcBef>
              <a:buChar char="•"/>
              <a:tabLst>
                <a:tab pos="380365" algn="l"/>
                <a:tab pos="381000" algn="l"/>
              </a:tabLst>
            </a:pPr>
            <a:r>
              <a:rPr sz="2800" spc="-45" dirty="0">
                <a:solidFill>
                  <a:srgbClr val="252525"/>
                </a:solidFill>
                <a:latin typeface="Arial"/>
                <a:cs typeface="Arial"/>
              </a:rPr>
              <a:t>C5–C7: </a:t>
            </a:r>
            <a:r>
              <a:rPr sz="2800" spc="-5" dirty="0">
                <a:solidFill>
                  <a:srgbClr val="252525"/>
                </a:solidFill>
                <a:latin typeface="Arial"/>
                <a:cs typeface="Arial"/>
              </a:rPr>
              <a:t>paralysis of </a:t>
            </a:r>
            <a:r>
              <a:rPr sz="2800" spc="-15" dirty="0">
                <a:solidFill>
                  <a:srgbClr val="252525"/>
                </a:solidFill>
                <a:latin typeface="Arial"/>
                <a:cs typeface="Arial"/>
              </a:rPr>
              <a:t>lower</a:t>
            </a:r>
            <a:r>
              <a:rPr sz="2800" spc="60" dirty="0">
                <a:solidFill>
                  <a:srgbClr val="252525"/>
                </a:solidFill>
                <a:latin typeface="Arial"/>
                <a:cs typeface="Arial"/>
              </a:rPr>
              <a:t> </a:t>
            </a:r>
            <a:r>
              <a:rPr sz="2800" spc="-15" dirty="0">
                <a:solidFill>
                  <a:srgbClr val="252525"/>
                </a:solidFill>
                <a:latin typeface="Arial"/>
                <a:cs typeface="Arial"/>
              </a:rPr>
              <a:t>extremities</a:t>
            </a:r>
            <a:endParaRPr sz="2800">
              <a:latin typeface="Arial"/>
              <a:cs typeface="Arial"/>
            </a:endParaRPr>
          </a:p>
          <a:p>
            <a:pPr marL="381000" indent="-342900">
              <a:spcBef>
                <a:spcPts val="700"/>
              </a:spcBef>
              <a:buChar char="•"/>
              <a:tabLst>
                <a:tab pos="380365" algn="l"/>
                <a:tab pos="381000" algn="l"/>
              </a:tabLst>
            </a:pPr>
            <a:r>
              <a:rPr sz="2800" spc="-35" dirty="0">
                <a:solidFill>
                  <a:srgbClr val="252525"/>
                </a:solidFill>
                <a:latin typeface="Arial"/>
                <a:cs typeface="Arial"/>
              </a:rPr>
              <a:t>T1–L5:</a:t>
            </a:r>
            <a:r>
              <a:rPr sz="2800" spc="10" dirty="0">
                <a:solidFill>
                  <a:srgbClr val="252525"/>
                </a:solidFill>
                <a:latin typeface="Arial"/>
                <a:cs typeface="Arial"/>
              </a:rPr>
              <a:t> </a:t>
            </a:r>
            <a:r>
              <a:rPr sz="2800" spc="-10" dirty="0">
                <a:solidFill>
                  <a:srgbClr val="252525"/>
                </a:solidFill>
                <a:latin typeface="Arial"/>
                <a:cs typeface="Arial"/>
              </a:rPr>
              <a:t>paraplegia</a:t>
            </a:r>
            <a:endParaRPr sz="2800">
              <a:latin typeface="Arial"/>
              <a:cs typeface="Arial"/>
            </a:endParaRPr>
          </a:p>
        </p:txBody>
      </p:sp>
      <p:sp>
        <p:nvSpPr>
          <p:cNvPr id="3" name="object 3"/>
          <p:cNvSpPr txBox="1">
            <a:spLocks noGrp="1"/>
          </p:cNvSpPr>
          <p:nvPr>
            <p:ph type="title"/>
          </p:nvPr>
        </p:nvSpPr>
        <p:spPr>
          <a:xfrm>
            <a:off x="1864359" y="88641"/>
            <a:ext cx="3959860" cy="1367041"/>
          </a:xfrm>
          <a:prstGeom prst="rect">
            <a:avLst/>
          </a:prstGeom>
        </p:spPr>
        <p:txBody>
          <a:bodyPr vert="horz" wrap="square" lIns="0" tIns="12700" rIns="0" bIns="0" rtlCol="0" anchor="ctr">
            <a:spAutoFit/>
          </a:bodyPr>
          <a:lstStyle/>
          <a:p>
            <a:pPr marL="12700">
              <a:lnSpc>
                <a:spcPct val="100000"/>
              </a:lnSpc>
              <a:spcBef>
                <a:spcPts val="100"/>
              </a:spcBef>
            </a:pPr>
            <a:r>
              <a:rPr spc="-5" dirty="0"/>
              <a:t>Spinal Cord</a:t>
            </a:r>
            <a:r>
              <a:rPr spc="-30" dirty="0"/>
              <a:t> </a:t>
            </a:r>
            <a:r>
              <a:rPr spc="-5" dirty="0"/>
              <a:t>Injuries</a:t>
            </a:r>
          </a:p>
        </p:txBody>
      </p:sp>
      <p:sp>
        <p:nvSpPr>
          <p:cNvPr id="4" name="object 4"/>
          <p:cNvSpPr/>
          <p:nvPr/>
        </p:nvSpPr>
        <p:spPr>
          <a:xfrm>
            <a:off x="5562600" y="3276600"/>
            <a:ext cx="4267200" cy="2720340"/>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8307070" y="5977891"/>
            <a:ext cx="1398905" cy="151323"/>
          </a:xfrm>
          <a:prstGeom prst="rect">
            <a:avLst/>
          </a:prstGeom>
        </p:spPr>
        <p:txBody>
          <a:bodyPr vert="horz" wrap="square" lIns="0" tIns="12700" rIns="0" bIns="0" rtlCol="0">
            <a:spAutoFit/>
          </a:bodyPr>
          <a:lstStyle/>
          <a:p>
            <a:pPr marL="12700">
              <a:spcBef>
                <a:spcPts val="100"/>
              </a:spcBef>
            </a:pPr>
            <a:r>
              <a:rPr sz="900" i="1" spc="-5" dirty="0">
                <a:latin typeface="Arial"/>
                <a:cs typeface="Arial"/>
              </a:rPr>
              <a:t>Corepics/Shutterstock.com</a:t>
            </a:r>
            <a:endParaRPr sz="900">
              <a:latin typeface="Arial"/>
              <a:cs typeface="Arial"/>
            </a:endParaRPr>
          </a:p>
        </p:txBody>
      </p:sp>
      <p:sp>
        <p:nvSpPr>
          <p:cNvPr id="6" name="object 6"/>
          <p:cNvSpPr txBox="1">
            <a:spLocks noGrp="1"/>
          </p:cNvSpPr>
          <p:nvPr>
            <p:ph type="ftr" sz="quarter" idx="4294967295"/>
          </p:nvPr>
        </p:nvSpPr>
        <p:spPr>
          <a:xfrm>
            <a:off x="5792470" y="6668168"/>
            <a:ext cx="1549400" cy="555921"/>
          </a:xfrm>
          <a:prstGeom prst="rect">
            <a:avLst/>
          </a:prstGeom>
        </p:spPr>
        <p:txBody>
          <a:bodyPr vert="horz" wrap="square" lIns="0" tIns="1905" rIns="0" bIns="0" rtlCol="0">
            <a:spAutoFit/>
          </a:bodyPr>
          <a:lstStyle/>
          <a:p>
            <a:pPr marL="12700">
              <a:spcBef>
                <a:spcPts val="15"/>
              </a:spcBef>
            </a:pPr>
            <a:r>
              <a:rPr dirty="0"/>
              <a:t>© Goodheart-Willcox </a:t>
            </a:r>
            <a:r>
              <a:rPr spc="-5" dirty="0"/>
              <a:t>Co.,</a:t>
            </a:r>
            <a:r>
              <a:rPr spc="-65" dirty="0"/>
              <a:t> </a:t>
            </a:r>
            <a:r>
              <a:rPr spc="-5" dirty="0"/>
              <a:t>Inc.</a:t>
            </a:r>
          </a:p>
        </p:txBody>
      </p:sp>
      <p:sp>
        <p:nvSpPr>
          <p:cNvPr id="7" name="object 7"/>
          <p:cNvSpPr txBox="1">
            <a:spLocks noGrp="1"/>
          </p:cNvSpPr>
          <p:nvPr>
            <p:ph type="dt" sz="half" idx="4294967295"/>
          </p:nvPr>
        </p:nvSpPr>
        <p:spPr>
          <a:xfrm>
            <a:off x="7813040" y="6668167"/>
            <a:ext cx="2698750" cy="832920"/>
          </a:xfrm>
          <a:prstGeom prst="rect">
            <a:avLst/>
          </a:prstGeom>
        </p:spPr>
        <p:txBody>
          <a:bodyPr vert="horz" wrap="square" lIns="0" tIns="1905" rIns="0" bIns="0" rtlCol="0">
            <a:spAutoFit/>
          </a:bodyPr>
          <a:lstStyle/>
          <a:p>
            <a:pPr marL="12700">
              <a:spcBef>
                <a:spcPts val="15"/>
              </a:spcBef>
            </a:pPr>
            <a:r>
              <a:rPr spc="-5" dirty="0"/>
              <a:t>Permission granted to reproduce for educational</a:t>
            </a:r>
            <a:r>
              <a:rPr spc="80" dirty="0"/>
              <a:t> </a:t>
            </a:r>
            <a:r>
              <a:rPr dirty="0"/>
              <a:t>use</a:t>
            </a:r>
          </a:p>
        </p:txBody>
      </p:sp>
    </p:spTree>
    <p:extLst>
      <p:ext uri="{BB962C8B-B14F-4D97-AF65-F5344CB8AC3E}">
        <p14:creationId xmlns:p14="http://schemas.microsoft.com/office/powerpoint/2010/main" val="2630771381"/>
      </p:ext>
    </p:extLst>
  </p:cSld>
  <p:clrMapOvr>
    <a:masterClrMapping/>
  </p:clrMapOvr>
  <p:transition>
    <p:dissolv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75008" y="210918"/>
            <a:ext cx="9118243" cy="1367041"/>
          </a:xfrm>
          <a:prstGeom prst="rect">
            <a:avLst/>
          </a:prstGeom>
        </p:spPr>
        <p:txBody>
          <a:bodyPr vert="horz" wrap="square" lIns="0" tIns="12700" rIns="0" bIns="0" rtlCol="0" anchor="ctr">
            <a:spAutoFit/>
          </a:bodyPr>
          <a:lstStyle/>
          <a:p>
            <a:pPr marL="12700">
              <a:lnSpc>
                <a:spcPct val="100000"/>
              </a:lnSpc>
              <a:spcBef>
                <a:spcPts val="100"/>
              </a:spcBef>
            </a:pPr>
            <a:r>
              <a:rPr lang="en-US" b="1" spc="-5" dirty="0" smtClean="0">
                <a:latin typeface="Times New Roman" panose="02020603050405020304" pitchFamily="18" charset="0"/>
                <a:cs typeface="Times New Roman" panose="02020603050405020304" pitchFamily="18" charset="0"/>
              </a:rPr>
              <a:t>Theoretical models of motor  learning and control.</a:t>
            </a:r>
            <a:endParaRPr b="1" spc="-5" dirty="0">
              <a:latin typeface="Times New Roman" panose="02020603050405020304" pitchFamily="18" charset="0"/>
              <a:cs typeface="Times New Roman" panose="02020603050405020304" pitchFamily="18" charset="0"/>
            </a:endParaRPr>
          </a:p>
        </p:txBody>
      </p:sp>
      <p:sp>
        <p:nvSpPr>
          <p:cNvPr id="3" name="object 3"/>
          <p:cNvSpPr/>
          <p:nvPr/>
        </p:nvSpPr>
        <p:spPr>
          <a:xfrm>
            <a:off x="1670050" y="6210300"/>
            <a:ext cx="457200" cy="457200"/>
          </a:xfrm>
          <a:custGeom>
            <a:avLst/>
            <a:gdLst/>
            <a:ahLst/>
            <a:cxnLst/>
            <a:rect l="l" t="t" r="r" b="b"/>
            <a:pathLst>
              <a:path w="457200" h="457200">
                <a:moveTo>
                  <a:pt x="228600" y="0"/>
                </a:moveTo>
                <a:lnTo>
                  <a:pt x="181585" y="4509"/>
                </a:lnTo>
                <a:lnTo>
                  <a:pt x="138231" y="17502"/>
                </a:lnTo>
                <a:lnTo>
                  <a:pt x="99342" y="38174"/>
                </a:lnTo>
                <a:lnTo>
                  <a:pt x="65722" y="65722"/>
                </a:lnTo>
                <a:lnTo>
                  <a:pt x="38174" y="99342"/>
                </a:lnTo>
                <a:lnTo>
                  <a:pt x="17502" y="138231"/>
                </a:lnTo>
                <a:lnTo>
                  <a:pt x="4509" y="181585"/>
                </a:lnTo>
                <a:lnTo>
                  <a:pt x="0" y="228600"/>
                </a:lnTo>
                <a:lnTo>
                  <a:pt x="4509" y="275614"/>
                </a:lnTo>
                <a:lnTo>
                  <a:pt x="17502" y="318968"/>
                </a:lnTo>
                <a:lnTo>
                  <a:pt x="38174" y="357857"/>
                </a:lnTo>
                <a:lnTo>
                  <a:pt x="65722" y="391477"/>
                </a:lnTo>
                <a:lnTo>
                  <a:pt x="99342" y="419025"/>
                </a:lnTo>
                <a:lnTo>
                  <a:pt x="138231" y="439697"/>
                </a:lnTo>
                <a:lnTo>
                  <a:pt x="181585" y="452690"/>
                </a:lnTo>
                <a:lnTo>
                  <a:pt x="228600" y="457200"/>
                </a:lnTo>
                <a:lnTo>
                  <a:pt x="275614" y="452690"/>
                </a:lnTo>
                <a:lnTo>
                  <a:pt x="318968" y="439697"/>
                </a:lnTo>
                <a:lnTo>
                  <a:pt x="357857" y="419025"/>
                </a:lnTo>
                <a:lnTo>
                  <a:pt x="391477" y="391477"/>
                </a:lnTo>
                <a:lnTo>
                  <a:pt x="419025" y="357857"/>
                </a:lnTo>
                <a:lnTo>
                  <a:pt x="439697" y="318968"/>
                </a:lnTo>
                <a:lnTo>
                  <a:pt x="452690" y="275614"/>
                </a:lnTo>
                <a:lnTo>
                  <a:pt x="457200" y="228600"/>
                </a:lnTo>
                <a:lnTo>
                  <a:pt x="452690" y="181585"/>
                </a:lnTo>
                <a:lnTo>
                  <a:pt x="439697" y="138231"/>
                </a:lnTo>
                <a:lnTo>
                  <a:pt x="419025" y="99342"/>
                </a:lnTo>
                <a:lnTo>
                  <a:pt x="391477" y="65722"/>
                </a:lnTo>
                <a:lnTo>
                  <a:pt x="357857" y="38174"/>
                </a:lnTo>
                <a:lnTo>
                  <a:pt x="318968" y="17502"/>
                </a:lnTo>
                <a:lnTo>
                  <a:pt x="275614" y="4509"/>
                </a:lnTo>
                <a:lnTo>
                  <a:pt x="228600" y="0"/>
                </a:lnTo>
                <a:close/>
              </a:path>
            </a:pathLst>
          </a:custGeom>
          <a:solidFill>
            <a:srgbClr val="D24716"/>
          </a:solidFill>
        </p:spPr>
        <p:txBody>
          <a:bodyPr wrap="square" lIns="0" tIns="0" rIns="0" bIns="0" rtlCol="0"/>
          <a:lstStyle/>
          <a:p>
            <a:endParaRPr/>
          </a:p>
        </p:txBody>
      </p:sp>
      <p:sp>
        <p:nvSpPr>
          <p:cNvPr id="4" name="object 4"/>
          <p:cNvSpPr txBox="1"/>
          <p:nvPr/>
        </p:nvSpPr>
        <p:spPr>
          <a:xfrm>
            <a:off x="1971041" y="1432559"/>
            <a:ext cx="7719059" cy="4652043"/>
          </a:xfrm>
          <a:prstGeom prst="rect">
            <a:avLst/>
          </a:prstGeom>
        </p:spPr>
        <p:txBody>
          <a:bodyPr vert="horz" wrap="square" lIns="0" tIns="68580" rIns="0" bIns="0" rtlCol="0">
            <a:spAutoFit/>
          </a:bodyPr>
          <a:lstStyle/>
          <a:p>
            <a:pPr marL="297180" marR="511175" indent="-271780">
              <a:lnSpc>
                <a:spcPts val="3450"/>
              </a:lnSpc>
              <a:spcBef>
                <a:spcPts val="540"/>
              </a:spcBef>
            </a:pPr>
            <a:endParaRPr lang="en-US" sz="4050" spc="457" baseline="9259" dirty="0" smtClean="0">
              <a:solidFill>
                <a:srgbClr val="D24716"/>
              </a:solidFill>
              <a:latin typeface="Symbol"/>
              <a:cs typeface="Symbol"/>
            </a:endParaRPr>
          </a:p>
          <a:p>
            <a:pPr marL="297180" marR="511175" indent="-271780">
              <a:lnSpc>
                <a:spcPts val="3450"/>
              </a:lnSpc>
              <a:spcBef>
                <a:spcPts val="540"/>
              </a:spcBef>
            </a:pPr>
            <a:r>
              <a:rPr sz="4050" spc="457" baseline="9259" dirty="0" smtClean="0">
                <a:solidFill>
                  <a:srgbClr val="D24716"/>
                </a:solidFill>
                <a:latin typeface="Symbol"/>
                <a:cs typeface="Symbol"/>
              </a:rPr>
              <a:t></a:t>
            </a:r>
            <a:r>
              <a:rPr sz="3200" spc="305" dirty="0">
                <a:latin typeface="Arial"/>
                <a:cs typeface="Arial"/>
              </a:rPr>
              <a:t>Motor </a:t>
            </a:r>
            <a:r>
              <a:rPr sz="3200" dirty="0">
                <a:latin typeface="Arial"/>
                <a:cs typeface="Arial"/>
              </a:rPr>
              <a:t>learning </a:t>
            </a:r>
            <a:r>
              <a:rPr sz="3200" spc="-5" dirty="0">
                <a:latin typeface="Arial"/>
                <a:cs typeface="Arial"/>
              </a:rPr>
              <a:t>is the </a:t>
            </a:r>
            <a:r>
              <a:rPr sz="3200" dirty="0">
                <a:latin typeface="Arial"/>
                <a:cs typeface="Arial"/>
              </a:rPr>
              <a:t>understanding</a:t>
            </a:r>
            <a:r>
              <a:rPr sz="3200" spc="-385" dirty="0">
                <a:latin typeface="Arial"/>
                <a:cs typeface="Arial"/>
              </a:rPr>
              <a:t> </a:t>
            </a:r>
            <a:r>
              <a:rPr sz="3200" spc="-890" dirty="0">
                <a:latin typeface="Arial"/>
                <a:cs typeface="Arial"/>
              </a:rPr>
              <a:t>of </a:t>
            </a:r>
            <a:r>
              <a:rPr sz="3200" spc="-5" dirty="0" smtClean="0">
                <a:latin typeface="Arial"/>
                <a:cs typeface="Arial"/>
              </a:rPr>
              <a:t>acquisition </a:t>
            </a:r>
            <a:r>
              <a:rPr sz="3200" dirty="0">
                <a:latin typeface="Arial"/>
                <a:cs typeface="Arial"/>
              </a:rPr>
              <a:t>and/or </a:t>
            </a:r>
            <a:r>
              <a:rPr sz="3200" spc="-5" dirty="0">
                <a:latin typeface="Arial"/>
                <a:cs typeface="Arial"/>
              </a:rPr>
              <a:t>modification </a:t>
            </a:r>
            <a:r>
              <a:rPr sz="3200" dirty="0">
                <a:latin typeface="Arial"/>
                <a:cs typeface="Arial"/>
              </a:rPr>
              <a:t>of  movement.</a:t>
            </a:r>
          </a:p>
          <a:p>
            <a:pPr marL="297180" marR="17780" indent="-271780">
              <a:lnSpc>
                <a:spcPct val="89900"/>
              </a:lnSpc>
              <a:spcBef>
                <a:spcPts val="525"/>
              </a:spcBef>
              <a:tabLst>
                <a:tab pos="4570095" algn="l"/>
              </a:tabLst>
            </a:pPr>
            <a:r>
              <a:rPr sz="4050" spc="907" baseline="9259" dirty="0">
                <a:solidFill>
                  <a:srgbClr val="D24716"/>
                </a:solidFill>
                <a:latin typeface="Symbol"/>
                <a:cs typeface="Symbol"/>
              </a:rPr>
              <a:t></a:t>
            </a:r>
            <a:r>
              <a:rPr sz="3200" spc="605" dirty="0">
                <a:latin typeface="Arial"/>
                <a:cs typeface="Arial"/>
              </a:rPr>
              <a:t>As </a:t>
            </a:r>
            <a:r>
              <a:rPr sz="3200" dirty="0">
                <a:latin typeface="Arial"/>
                <a:cs typeface="Arial"/>
              </a:rPr>
              <a:t>applied </a:t>
            </a:r>
            <a:r>
              <a:rPr sz="3200" spc="-5" dirty="0">
                <a:latin typeface="Arial"/>
                <a:cs typeface="Arial"/>
              </a:rPr>
              <a:t>to patients, </a:t>
            </a:r>
            <a:r>
              <a:rPr sz="3200" dirty="0">
                <a:latin typeface="Arial"/>
                <a:cs typeface="Arial"/>
              </a:rPr>
              <a:t>motor learning  involves </a:t>
            </a:r>
            <a:r>
              <a:rPr sz="3200" spc="-5" dirty="0">
                <a:latin typeface="Arial"/>
                <a:cs typeface="Arial"/>
              </a:rPr>
              <a:t>the reacquisition of previously  </a:t>
            </a:r>
            <a:r>
              <a:rPr sz="3200" dirty="0">
                <a:latin typeface="Arial"/>
                <a:cs typeface="Arial"/>
              </a:rPr>
              <a:t>learned </a:t>
            </a:r>
            <a:r>
              <a:rPr sz="3200" spc="5" dirty="0">
                <a:latin typeface="Arial"/>
                <a:cs typeface="Arial"/>
              </a:rPr>
              <a:t>movement </a:t>
            </a:r>
            <a:r>
              <a:rPr sz="3200" dirty="0">
                <a:latin typeface="Arial"/>
                <a:cs typeface="Arial"/>
              </a:rPr>
              <a:t>skills that </a:t>
            </a:r>
            <a:r>
              <a:rPr sz="3200" spc="-5" dirty="0">
                <a:latin typeface="Arial"/>
                <a:cs typeface="Arial"/>
              </a:rPr>
              <a:t>are lost</a:t>
            </a:r>
            <a:r>
              <a:rPr sz="3200" spc="-100" dirty="0">
                <a:latin typeface="Arial"/>
                <a:cs typeface="Arial"/>
              </a:rPr>
              <a:t> </a:t>
            </a:r>
            <a:r>
              <a:rPr sz="3200" dirty="0">
                <a:latin typeface="Arial"/>
                <a:cs typeface="Arial"/>
              </a:rPr>
              <a:t>due  </a:t>
            </a:r>
            <a:r>
              <a:rPr sz="3200" spc="-5" dirty="0">
                <a:latin typeface="Arial"/>
                <a:cs typeface="Arial"/>
              </a:rPr>
              <a:t>to </a:t>
            </a:r>
            <a:r>
              <a:rPr sz="3200" dirty="0">
                <a:latin typeface="Arial"/>
                <a:cs typeface="Arial"/>
              </a:rPr>
              <a:t>pathology </a:t>
            </a:r>
            <a:r>
              <a:rPr sz="3200" spc="-5" dirty="0">
                <a:latin typeface="Arial"/>
                <a:cs typeface="Arial"/>
              </a:rPr>
              <a:t>or </a:t>
            </a:r>
            <a:r>
              <a:rPr sz="3200" dirty="0">
                <a:latin typeface="Arial"/>
                <a:cs typeface="Arial"/>
              </a:rPr>
              <a:t>sensory, </a:t>
            </a:r>
            <a:r>
              <a:rPr sz="3200" spc="-5" dirty="0">
                <a:latin typeface="Arial"/>
                <a:cs typeface="Arial"/>
              </a:rPr>
              <a:t>motor, or  cognitive</a:t>
            </a:r>
            <a:r>
              <a:rPr sz="3200" dirty="0">
                <a:latin typeface="Arial"/>
                <a:cs typeface="Arial"/>
              </a:rPr>
              <a:t> impairments.	</a:t>
            </a:r>
            <a:r>
              <a:rPr sz="3200" spc="-5" dirty="0">
                <a:latin typeface="Arial"/>
                <a:cs typeface="Arial"/>
              </a:rPr>
              <a:t>This </a:t>
            </a:r>
            <a:r>
              <a:rPr sz="3200" dirty="0">
                <a:latin typeface="Arial"/>
                <a:cs typeface="Arial"/>
              </a:rPr>
              <a:t>process </a:t>
            </a:r>
            <a:r>
              <a:rPr sz="3200" spc="-5" dirty="0">
                <a:latin typeface="Arial"/>
                <a:cs typeface="Arial"/>
              </a:rPr>
              <a:t>is  often referred to </a:t>
            </a:r>
            <a:r>
              <a:rPr sz="3200" dirty="0">
                <a:latin typeface="Arial"/>
                <a:cs typeface="Arial"/>
              </a:rPr>
              <a:t>as recovery of</a:t>
            </a:r>
            <a:r>
              <a:rPr sz="3200" spc="65" dirty="0">
                <a:latin typeface="Arial"/>
                <a:cs typeface="Arial"/>
              </a:rPr>
              <a:t> </a:t>
            </a:r>
            <a:r>
              <a:rPr sz="3200" spc="-5" dirty="0">
                <a:latin typeface="Arial"/>
                <a:cs typeface="Arial"/>
              </a:rPr>
              <a:t>function</a:t>
            </a:r>
            <a:r>
              <a:rPr sz="3200" spc="-5" dirty="0">
                <a:solidFill>
                  <a:srgbClr val="FF0000"/>
                </a:solidFill>
                <a:latin typeface="Arial"/>
                <a:cs typeface="Arial"/>
              </a:rPr>
              <a:t>.</a:t>
            </a:r>
            <a:endParaRPr sz="3200" dirty="0">
              <a:latin typeface="Arial"/>
              <a:cs typeface="Arial"/>
            </a:endParaRPr>
          </a:p>
        </p:txBody>
      </p:sp>
      <p:sp>
        <p:nvSpPr>
          <p:cNvPr id="5" name="object 5"/>
          <p:cNvSpPr txBox="1">
            <a:spLocks noGrp="1"/>
          </p:cNvSpPr>
          <p:nvPr>
            <p:ph type="ftr" sz="quarter" idx="4294967295"/>
          </p:nvPr>
        </p:nvSpPr>
        <p:spPr>
          <a:xfrm>
            <a:off x="2515870" y="6325871"/>
            <a:ext cx="1115695" cy="359073"/>
          </a:xfrm>
          <a:prstGeom prst="rect">
            <a:avLst/>
          </a:prstGeom>
        </p:spPr>
        <p:txBody>
          <a:bodyPr vert="horz" wrap="square" lIns="0" tIns="0" rIns="0" bIns="0" rtlCol="0">
            <a:spAutoFit/>
          </a:bodyPr>
          <a:lstStyle/>
          <a:p>
            <a:pPr marL="12700">
              <a:lnSpc>
                <a:spcPts val="1430"/>
              </a:lnSpc>
            </a:pPr>
            <a:r>
              <a:rPr dirty="0"/>
              <a:t>Motor</a:t>
            </a:r>
            <a:r>
              <a:rPr spc="-60" dirty="0"/>
              <a:t> </a:t>
            </a:r>
            <a:r>
              <a:rPr spc="-5" dirty="0"/>
              <a:t>learning</a:t>
            </a:r>
          </a:p>
        </p:txBody>
      </p:sp>
      <p:sp>
        <p:nvSpPr>
          <p:cNvPr id="6" name="object 6"/>
          <p:cNvSpPr txBox="1"/>
          <p:nvPr/>
        </p:nvSpPr>
        <p:spPr>
          <a:xfrm>
            <a:off x="1821180" y="6334366"/>
            <a:ext cx="155575" cy="654025"/>
          </a:xfrm>
          <a:prstGeom prst="rect">
            <a:avLst/>
          </a:prstGeom>
        </p:spPr>
        <p:txBody>
          <a:bodyPr vert="horz" wrap="square" lIns="0" tIns="0" rIns="0" bIns="0" rtlCol="0">
            <a:spAutoFit/>
          </a:bodyPr>
          <a:lstStyle/>
          <a:p>
            <a:pPr marL="25400">
              <a:lnSpc>
                <a:spcPts val="1664"/>
              </a:lnSpc>
            </a:pPr>
            <a:fld id="{81D60167-4931-47E6-BA6A-407CBD079E47}" type="slidenum">
              <a:rPr sz="1400" dirty="0">
                <a:solidFill>
                  <a:srgbClr val="FFFFFF"/>
                </a:solidFill>
                <a:latin typeface="Franklin Gothic Book"/>
                <a:cs typeface="Franklin Gothic Book"/>
              </a:rPr>
              <a:pPr marL="25400">
                <a:lnSpc>
                  <a:spcPts val="1664"/>
                </a:lnSpc>
              </a:pPr>
              <a:t>40</a:t>
            </a:fld>
            <a:endParaRPr sz="1400">
              <a:latin typeface="Franklin Gothic Book"/>
              <a:cs typeface="Franklin Gothic Book"/>
            </a:endParaRPr>
          </a:p>
        </p:txBody>
      </p:sp>
      <p:sp>
        <p:nvSpPr>
          <p:cNvPr id="7" name="object 7"/>
          <p:cNvSpPr txBox="1">
            <a:spLocks noGrp="1"/>
          </p:cNvSpPr>
          <p:nvPr>
            <p:ph type="dt" sz="half" idx="4294967295"/>
          </p:nvPr>
        </p:nvSpPr>
        <p:spPr>
          <a:xfrm>
            <a:off x="9392920" y="6352541"/>
            <a:ext cx="701675" cy="359073"/>
          </a:xfrm>
          <a:prstGeom prst="rect">
            <a:avLst/>
          </a:prstGeom>
        </p:spPr>
        <p:txBody>
          <a:bodyPr vert="horz" wrap="square" lIns="0" tIns="0" rIns="0" bIns="0" rtlCol="0">
            <a:spAutoFit/>
          </a:bodyPr>
          <a:lstStyle/>
          <a:p>
            <a:pPr marL="12700">
              <a:lnSpc>
                <a:spcPts val="1430"/>
              </a:lnSpc>
            </a:pPr>
            <a:r>
              <a:rPr spc="-10" dirty="0"/>
              <a:t>04/11/18</a:t>
            </a:r>
          </a:p>
        </p:txBody>
      </p:sp>
    </p:spTree>
    <p:extLst>
      <p:ext uri="{BB962C8B-B14F-4D97-AF65-F5344CB8AC3E}">
        <p14:creationId xmlns:p14="http://schemas.microsoft.com/office/powerpoint/2010/main" val="8540776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Motor control</a:t>
            </a:r>
            <a:endParaRPr lang="en-US" dirty="0"/>
          </a:p>
        </p:txBody>
      </p:sp>
      <p:sp>
        <p:nvSpPr>
          <p:cNvPr id="3" name="Content Placeholder 2"/>
          <p:cNvSpPr>
            <a:spLocks noGrp="1"/>
          </p:cNvSpPr>
          <p:nvPr>
            <p:ph idx="1"/>
          </p:nvPr>
        </p:nvSpPr>
        <p:spPr/>
        <p:txBody>
          <a:bodyPr>
            <a:normAutofit/>
          </a:bodyPr>
          <a:lstStyle/>
          <a:p>
            <a:r>
              <a:rPr lang="en-US" sz="4000" dirty="0" smtClean="0">
                <a:latin typeface="Times New Roman" panose="02020603050405020304" pitchFamily="18" charset="0"/>
                <a:cs typeface="Times New Roman" panose="02020603050405020304" pitchFamily="18" charset="0"/>
              </a:rPr>
              <a:t>Motor control is how system works. Its all about to activate and coordinate, regulate and direct muscles and limbs involved in the performance of posture or movement.</a:t>
            </a:r>
          </a:p>
          <a:p>
            <a:r>
              <a:rPr lang="en-US" sz="4000" dirty="0" smtClean="0">
                <a:latin typeface="Times New Roman" panose="02020603050405020304" pitchFamily="18" charset="0"/>
                <a:cs typeface="Times New Roman" panose="02020603050405020304" pitchFamily="18" charset="0"/>
              </a:rPr>
              <a:t>Its an interaction of three elements;</a:t>
            </a:r>
          </a:p>
          <a:p>
            <a:r>
              <a:rPr lang="en-US" sz="4000" dirty="0" smtClean="0">
                <a:latin typeface="Times New Roman" panose="02020603050405020304" pitchFamily="18" charset="0"/>
                <a:cs typeface="Times New Roman" panose="02020603050405020304" pitchFamily="18" charset="0"/>
              </a:rPr>
              <a:t>i.e. Task, person and environment. </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29291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2D59AD92-2298-9941-A387-B3B4A58572FF}"/>
              </a:ext>
            </a:extLst>
          </p:cNvPr>
          <p:cNvSpPr/>
          <p:nvPr/>
        </p:nvSpPr>
        <p:spPr>
          <a:xfrm>
            <a:off x="731520" y="640080"/>
            <a:ext cx="10808839" cy="769441"/>
          </a:xfrm>
          <a:prstGeom prst="rect">
            <a:avLst/>
          </a:prstGeom>
        </p:spPr>
        <p:txBody>
          <a:bodyPr wrap="square">
            <a:spAutoFit/>
          </a:bodyPr>
          <a:lstStyle/>
          <a:p>
            <a:r>
              <a:rPr lang="en-US" sz="4400" dirty="0" smtClean="0">
                <a:latin typeface="Times New Roman" panose="02020603050405020304" pitchFamily="18" charset="0"/>
                <a:cs typeface="Times New Roman" panose="02020603050405020304" pitchFamily="18" charset="0"/>
              </a:rPr>
              <a:t>Objectives:</a:t>
            </a:r>
            <a:endParaRPr lang="en-US" sz="44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xmlns="" id="{D39AEA05-9C7F-334C-AC16-B78C4E7D271A}"/>
              </a:ext>
            </a:extLst>
          </p:cNvPr>
          <p:cNvSpPr/>
          <p:nvPr/>
        </p:nvSpPr>
        <p:spPr>
          <a:xfrm>
            <a:off x="731519" y="1556404"/>
            <a:ext cx="10808839" cy="3785652"/>
          </a:xfrm>
          <a:prstGeom prst="rect">
            <a:avLst/>
          </a:prstGeom>
        </p:spPr>
        <p:txBody>
          <a:bodyPr wrap="square">
            <a:spAutoFit/>
          </a:bodyPr>
          <a:lstStyle/>
          <a:p>
            <a:pPr marL="342900" indent="-342900">
              <a:buFont typeface="Arial" panose="020B0604020202020204" pitchFamily="34" charset="0"/>
              <a:buChar char="•"/>
            </a:pPr>
            <a:r>
              <a:rPr lang="en-US" altLang="en-US" sz="4000" dirty="0">
                <a:latin typeface="Times New Roman" panose="02020603050405020304" pitchFamily="18" charset="0"/>
                <a:ea typeface="ＭＳ Ｐゴシック" charset="-128"/>
                <a:cs typeface="Times New Roman" panose="02020603050405020304" pitchFamily="18" charset="0"/>
              </a:rPr>
              <a:t>Review the principles and foundations of motor learning</a:t>
            </a:r>
            <a:r>
              <a:rPr lang="en-US" altLang="en-US" sz="4000" dirty="0" smtClean="0">
                <a:latin typeface="Times New Roman" panose="02020603050405020304" pitchFamily="18" charset="0"/>
                <a:ea typeface="ＭＳ Ｐゴシック" charset="-128"/>
                <a:cs typeface="Times New Roman" panose="02020603050405020304" pitchFamily="18" charset="0"/>
              </a:rPr>
              <a:t>.</a:t>
            </a:r>
            <a:endParaRPr lang="en-US" altLang="en-US" sz="4000" dirty="0">
              <a:latin typeface="Times New Roman" panose="02020603050405020304" pitchFamily="18" charset="0"/>
              <a:ea typeface="ＭＳ Ｐゴシック" charset="-128"/>
              <a:cs typeface="Times New Roman" panose="02020603050405020304" pitchFamily="18" charset="0"/>
            </a:endParaRPr>
          </a:p>
          <a:p>
            <a:pPr marL="342900" indent="-342900">
              <a:buFont typeface="Arial" panose="020B0604020202020204" pitchFamily="34" charset="0"/>
              <a:buChar char="•"/>
            </a:pPr>
            <a:r>
              <a:rPr lang="en-US" altLang="en-US" sz="4000" dirty="0">
                <a:latin typeface="Times New Roman" panose="02020603050405020304" pitchFamily="18" charset="0"/>
                <a:ea typeface="ＭＳ Ｐゴシック" charset="-128"/>
                <a:cs typeface="Times New Roman" panose="02020603050405020304" pitchFamily="18" charset="0"/>
              </a:rPr>
              <a:t>Compare and contrast motor learning theories</a:t>
            </a:r>
            <a:r>
              <a:rPr lang="en-US" altLang="en-US" sz="4000" dirty="0" smtClean="0">
                <a:latin typeface="Times New Roman" panose="02020603050405020304" pitchFamily="18" charset="0"/>
                <a:ea typeface="ＭＳ Ｐゴシック" charset="-128"/>
                <a:cs typeface="Times New Roman" panose="02020603050405020304" pitchFamily="18" charset="0"/>
              </a:rPr>
              <a:t>.</a:t>
            </a:r>
            <a:endParaRPr lang="en-US" altLang="en-US" sz="4000" dirty="0">
              <a:latin typeface="Times New Roman" panose="02020603050405020304" pitchFamily="18" charset="0"/>
              <a:ea typeface="ＭＳ Ｐゴシック" charset="-128"/>
              <a:cs typeface="Times New Roman" panose="02020603050405020304" pitchFamily="18" charset="0"/>
            </a:endParaRPr>
          </a:p>
          <a:p>
            <a:pPr marL="342900" indent="-342900">
              <a:buFont typeface="Arial" panose="020B0604020202020204" pitchFamily="34" charset="0"/>
              <a:buChar char="•"/>
            </a:pPr>
            <a:r>
              <a:rPr lang="en-US" altLang="en-US" sz="4000" dirty="0">
                <a:latin typeface="Times New Roman" panose="02020603050405020304" pitchFamily="18" charset="0"/>
                <a:ea typeface="ＭＳ Ｐゴシック" charset="-128"/>
                <a:cs typeface="Times New Roman" panose="02020603050405020304" pitchFamily="18" charset="0"/>
              </a:rPr>
              <a:t>Discuss </a:t>
            </a:r>
            <a:r>
              <a:rPr lang="en-US" sz="4000" dirty="0">
                <a:latin typeface="Times New Roman" panose="02020603050405020304" pitchFamily="18" charset="0"/>
                <a:cs typeface="Times New Roman" panose="02020603050405020304" pitchFamily="18" charset="0"/>
              </a:rPr>
              <a:t>the interaction of the person, task, and environment within the scope of motor control and motor learning.</a:t>
            </a:r>
          </a:p>
        </p:txBody>
      </p:sp>
    </p:spTree>
    <p:extLst>
      <p:ext uri="{BB962C8B-B14F-4D97-AF65-F5344CB8AC3E}">
        <p14:creationId xmlns:p14="http://schemas.microsoft.com/office/powerpoint/2010/main" val="2944855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2D59AD92-2298-9941-A387-B3B4A58572FF}"/>
              </a:ext>
            </a:extLst>
          </p:cNvPr>
          <p:cNvSpPr/>
          <p:nvPr/>
        </p:nvSpPr>
        <p:spPr>
          <a:xfrm>
            <a:off x="731520" y="640080"/>
            <a:ext cx="10808839" cy="769441"/>
          </a:xfrm>
          <a:prstGeom prst="rect">
            <a:avLst/>
          </a:prstGeom>
        </p:spPr>
        <p:txBody>
          <a:bodyPr wrap="square">
            <a:spAutoFit/>
          </a:bodyPr>
          <a:lstStyle/>
          <a:p>
            <a:r>
              <a:rPr lang="en-US" altLang="en-US" sz="4400" dirty="0">
                <a:latin typeface="Times New Roman" panose="02020603050405020304" pitchFamily="18" charset="0"/>
                <a:ea typeface="ＭＳ Ｐゴシック" charset="-128"/>
                <a:cs typeface="Times New Roman" panose="02020603050405020304" pitchFamily="18" charset="0"/>
              </a:rPr>
              <a:t>Characteristics of motor learning include</a:t>
            </a:r>
            <a:endParaRPr lang="en-US" sz="4400" dirty="0">
              <a:solidFill>
                <a:srgbClr val="FFC000"/>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xmlns="" id="{D39AEA05-9C7F-334C-AC16-B78C4E7D271A}"/>
              </a:ext>
            </a:extLst>
          </p:cNvPr>
          <p:cNvSpPr/>
          <p:nvPr/>
        </p:nvSpPr>
        <p:spPr>
          <a:xfrm>
            <a:off x="731519" y="1556404"/>
            <a:ext cx="10808839" cy="5386090"/>
          </a:xfrm>
          <a:prstGeom prst="rect">
            <a:avLst/>
          </a:prstGeom>
        </p:spPr>
        <p:txBody>
          <a:bodyPr wrap="square">
            <a:spAutoFit/>
          </a:bodyPr>
          <a:lstStyle/>
          <a:p>
            <a:endParaRPr lang="en-US" altLang="en-US" sz="2400" dirty="0">
              <a:latin typeface="Calibri" panose="020F0502020204030204" pitchFamily="34" charset="0"/>
              <a:ea typeface="ＭＳ Ｐゴシック" charset="-128"/>
              <a:cs typeface="Calibri" panose="020F0502020204030204" pitchFamily="34" charset="0"/>
            </a:endParaRPr>
          </a:p>
          <a:p>
            <a:pPr marL="342900" indent="-342900">
              <a:buFont typeface="Arial" panose="020B0604020202020204" pitchFamily="34" charset="0"/>
              <a:buChar char="•"/>
            </a:pPr>
            <a:r>
              <a:rPr lang="en-US" altLang="en-US" sz="4000" dirty="0">
                <a:latin typeface="Times New Roman" panose="02020603050405020304" pitchFamily="18" charset="0"/>
                <a:ea typeface="ＭＳ Ｐゴシック" charset="-128"/>
                <a:cs typeface="Times New Roman" panose="02020603050405020304" pitchFamily="18" charset="0"/>
              </a:rPr>
              <a:t>A set of internal </a:t>
            </a:r>
            <a:r>
              <a:rPr lang="en-US" altLang="en-US" sz="4000" b="1" i="1" dirty="0">
                <a:latin typeface="Times New Roman" panose="02020603050405020304" pitchFamily="18" charset="0"/>
                <a:ea typeface="ＭＳ Ｐゴシック" charset="-128"/>
                <a:cs typeface="Times New Roman" panose="02020603050405020304" pitchFamily="18" charset="0"/>
              </a:rPr>
              <a:t>Processes</a:t>
            </a:r>
            <a:r>
              <a:rPr lang="en-US" altLang="en-US" sz="4000" i="1" dirty="0">
                <a:latin typeface="Times New Roman" panose="02020603050405020304" pitchFamily="18" charset="0"/>
                <a:ea typeface="ＭＳ Ｐゴシック" charset="-128"/>
                <a:cs typeface="Times New Roman" panose="02020603050405020304" pitchFamily="18" charset="0"/>
              </a:rPr>
              <a:t> </a:t>
            </a:r>
            <a:endParaRPr lang="en-US" altLang="en-US" sz="4000" dirty="0">
              <a:latin typeface="Times New Roman" panose="02020603050405020304" pitchFamily="18" charset="0"/>
              <a:ea typeface="ＭＳ Ｐゴシック" charset="-128"/>
              <a:cs typeface="Times New Roman" panose="02020603050405020304" pitchFamily="18" charset="0"/>
            </a:endParaRPr>
          </a:p>
          <a:p>
            <a:pPr marL="342900" indent="-342900">
              <a:buFont typeface="Arial" panose="020B0604020202020204" pitchFamily="34" charset="0"/>
              <a:buChar char="•"/>
            </a:pPr>
            <a:r>
              <a:rPr lang="en-US" altLang="en-US" sz="4000" dirty="0">
                <a:latin typeface="Times New Roman" panose="02020603050405020304" pitchFamily="18" charset="0"/>
                <a:ea typeface="ＭＳ Ｐゴシック" charset="-128"/>
                <a:cs typeface="Times New Roman" panose="02020603050405020304" pitchFamily="18" charset="0"/>
              </a:rPr>
              <a:t>Produces an </a:t>
            </a:r>
            <a:r>
              <a:rPr lang="en-US" altLang="en-US" sz="4000" b="1" i="1" dirty="0">
                <a:latin typeface="Times New Roman" panose="02020603050405020304" pitchFamily="18" charset="0"/>
                <a:ea typeface="ＭＳ Ｐゴシック" charset="-128"/>
                <a:cs typeface="Times New Roman" panose="02020603050405020304" pitchFamily="18" charset="0"/>
              </a:rPr>
              <a:t>acquired capability  </a:t>
            </a:r>
            <a:r>
              <a:rPr lang="en-US" altLang="en-US" sz="4000" dirty="0">
                <a:latin typeface="Times New Roman" panose="02020603050405020304" pitchFamily="18" charset="0"/>
                <a:ea typeface="ＭＳ Ｐゴシック" charset="-128"/>
                <a:cs typeface="Times New Roman" panose="02020603050405020304" pitchFamily="18" charset="0"/>
              </a:rPr>
              <a:t>for </a:t>
            </a:r>
            <a:r>
              <a:rPr lang="en-US" altLang="en-US" sz="4000" dirty="0" smtClean="0">
                <a:latin typeface="Times New Roman" panose="02020603050405020304" pitchFamily="18" charset="0"/>
                <a:ea typeface="ＭＳ Ｐゴシック" charset="-128"/>
                <a:cs typeface="Times New Roman" panose="02020603050405020304" pitchFamily="18" charset="0"/>
              </a:rPr>
              <a:t>movement</a:t>
            </a:r>
            <a:endParaRPr lang="en-US" altLang="en-US" sz="4000" dirty="0">
              <a:latin typeface="Times New Roman" panose="02020603050405020304" pitchFamily="18" charset="0"/>
              <a:ea typeface="ＭＳ Ｐゴシック" charset="-128"/>
              <a:cs typeface="Times New Roman" panose="02020603050405020304" pitchFamily="18" charset="0"/>
            </a:endParaRPr>
          </a:p>
          <a:p>
            <a:pPr marL="342900" indent="-342900">
              <a:buFont typeface="Arial" panose="020B0604020202020204" pitchFamily="34" charset="0"/>
              <a:buChar char="•"/>
            </a:pPr>
            <a:r>
              <a:rPr lang="en-US" altLang="en-US" sz="4000" dirty="0">
                <a:latin typeface="Times New Roman" panose="02020603050405020304" pitchFamily="18" charset="0"/>
                <a:ea typeface="ＭＳ Ｐゴシック" charset="-128"/>
                <a:cs typeface="Times New Roman" panose="02020603050405020304" pitchFamily="18" charset="0"/>
              </a:rPr>
              <a:t>Occurs as a direct result of </a:t>
            </a:r>
            <a:r>
              <a:rPr lang="en-US" altLang="en-US" sz="4000" b="1" i="1" dirty="0">
                <a:latin typeface="Times New Roman" panose="02020603050405020304" pitchFamily="18" charset="0"/>
                <a:ea typeface="ＭＳ Ｐゴシック" charset="-128"/>
                <a:cs typeface="Times New Roman" panose="02020603050405020304" pitchFamily="18" charset="0"/>
              </a:rPr>
              <a:t>instruction, practice, and </a:t>
            </a:r>
            <a:r>
              <a:rPr lang="en-US" altLang="en-US" sz="4000" b="1" i="1" dirty="0" smtClean="0">
                <a:latin typeface="Times New Roman" panose="02020603050405020304" pitchFamily="18" charset="0"/>
                <a:ea typeface="ＭＳ Ｐゴシック" charset="-128"/>
                <a:cs typeface="Times New Roman" panose="02020603050405020304" pitchFamily="18" charset="0"/>
              </a:rPr>
              <a:t>experience</a:t>
            </a:r>
            <a:endParaRPr lang="en-US" altLang="en-US" sz="4000" dirty="0">
              <a:latin typeface="Times New Roman" panose="02020603050405020304" pitchFamily="18" charset="0"/>
              <a:ea typeface="ＭＳ Ｐゴシック" charset="-128"/>
              <a:cs typeface="Times New Roman" panose="02020603050405020304" pitchFamily="18" charset="0"/>
            </a:endParaRPr>
          </a:p>
          <a:p>
            <a:pPr marL="342900" indent="-342900">
              <a:buFont typeface="Arial" panose="020B0604020202020204" pitchFamily="34" charset="0"/>
              <a:buChar char="•"/>
            </a:pPr>
            <a:r>
              <a:rPr lang="en-US" altLang="en-US" sz="4000" dirty="0">
                <a:latin typeface="Times New Roman" panose="02020603050405020304" pitchFamily="18" charset="0"/>
                <a:ea typeface="ＭＳ Ｐゴシック" charset="-128"/>
                <a:cs typeface="Times New Roman" panose="02020603050405020304" pitchFamily="18" charset="0"/>
              </a:rPr>
              <a:t>Is </a:t>
            </a:r>
            <a:r>
              <a:rPr lang="en-US" altLang="en-US" sz="4000" b="1" i="1" dirty="0">
                <a:latin typeface="Times New Roman" panose="02020603050405020304" pitchFamily="18" charset="0"/>
                <a:ea typeface="ＭＳ Ｐゴシック" charset="-128"/>
                <a:cs typeface="Times New Roman" panose="02020603050405020304" pitchFamily="18" charset="0"/>
              </a:rPr>
              <a:t>NOT directly observable</a:t>
            </a:r>
            <a:r>
              <a:rPr lang="en-US" altLang="en-US" sz="4000" u="sng" dirty="0">
                <a:latin typeface="Times New Roman" panose="02020603050405020304" pitchFamily="18" charset="0"/>
                <a:ea typeface="ＭＳ Ｐゴシック" charset="-128"/>
                <a:cs typeface="Times New Roman" panose="02020603050405020304" pitchFamily="18" charset="0"/>
              </a:rPr>
              <a:t>,</a:t>
            </a:r>
            <a:r>
              <a:rPr lang="en-US" altLang="en-US" sz="4000" dirty="0">
                <a:latin typeface="Times New Roman" panose="02020603050405020304" pitchFamily="18" charset="0"/>
                <a:ea typeface="ＭＳ Ｐゴシック" charset="-128"/>
                <a:cs typeface="Times New Roman" panose="02020603050405020304" pitchFamily="18" charset="0"/>
              </a:rPr>
              <a:t> and therefore is </a:t>
            </a:r>
            <a:r>
              <a:rPr lang="en-US" altLang="en-US" sz="4000" dirty="0" smtClean="0">
                <a:latin typeface="Times New Roman" panose="02020603050405020304" pitchFamily="18" charset="0"/>
                <a:ea typeface="ＭＳ Ｐゴシック" charset="-128"/>
                <a:cs typeface="Times New Roman" panose="02020603050405020304" pitchFamily="18" charset="0"/>
              </a:rPr>
              <a:t>inferred</a:t>
            </a:r>
            <a:endParaRPr lang="en-US" altLang="en-US" sz="4000" dirty="0">
              <a:latin typeface="Times New Roman" panose="02020603050405020304" pitchFamily="18" charset="0"/>
              <a:ea typeface="ＭＳ Ｐゴシック" charset="-128"/>
              <a:cs typeface="Times New Roman" panose="02020603050405020304" pitchFamily="18" charset="0"/>
            </a:endParaRPr>
          </a:p>
          <a:p>
            <a:pPr marL="342900" indent="-342900">
              <a:buFont typeface="Arial" panose="020B0604020202020204" pitchFamily="34" charset="0"/>
              <a:buChar char="•"/>
            </a:pPr>
            <a:r>
              <a:rPr lang="en-US" altLang="en-US" sz="4000" dirty="0">
                <a:latin typeface="Times New Roman" panose="02020603050405020304" pitchFamily="18" charset="0"/>
                <a:ea typeface="ＭＳ Ｐゴシック" charset="-128"/>
                <a:cs typeface="Times New Roman" panose="02020603050405020304" pitchFamily="18" charset="0"/>
              </a:rPr>
              <a:t>Produces </a:t>
            </a:r>
            <a:r>
              <a:rPr lang="en-US" altLang="en-US" sz="4000" b="1" i="1" dirty="0">
                <a:latin typeface="Times New Roman" panose="02020603050405020304" pitchFamily="18" charset="0"/>
                <a:ea typeface="ＭＳ Ｐゴシック" charset="-128"/>
                <a:cs typeface="Times New Roman" panose="02020603050405020304" pitchFamily="18" charset="0"/>
              </a:rPr>
              <a:t>relatively permanent changes </a:t>
            </a:r>
            <a:r>
              <a:rPr lang="en-US" altLang="en-US" sz="4000" dirty="0">
                <a:latin typeface="Times New Roman" panose="02020603050405020304" pitchFamily="18" charset="0"/>
                <a:ea typeface="ＭＳ Ｐゴシック" charset="-128"/>
                <a:cs typeface="Times New Roman" panose="02020603050405020304" pitchFamily="18" charset="0"/>
              </a:rPr>
              <a:t>in the capability for skilled movement</a:t>
            </a:r>
            <a:r>
              <a:rPr lang="en-US" altLang="en-US" sz="2400" dirty="0">
                <a:latin typeface="Calibri" charset="0"/>
                <a:ea typeface="ＭＳ Ｐゴシック" charset="-128"/>
              </a:rPr>
              <a:t>.</a:t>
            </a:r>
            <a:endParaRPr lang="en-US" sz="2400" dirty="0">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xmlns="" id="{2B66376B-DFA8-CD4A-A478-9A280E843FCA}"/>
              </a:ext>
            </a:extLst>
          </p:cNvPr>
          <p:cNvSpPr/>
          <p:nvPr/>
        </p:nvSpPr>
        <p:spPr>
          <a:xfrm>
            <a:off x="8365068" y="5655348"/>
            <a:ext cx="3420532" cy="307777"/>
          </a:xfrm>
          <a:prstGeom prst="rect">
            <a:avLst/>
          </a:prstGeom>
        </p:spPr>
        <p:txBody>
          <a:bodyPr wrap="square">
            <a:spAutoFit/>
          </a:bodyPr>
          <a:lstStyle/>
          <a:p>
            <a:pPr>
              <a:spcBef>
                <a:spcPct val="50000"/>
              </a:spcBef>
            </a:pPr>
            <a:r>
              <a:rPr lang="en-US" altLang="ja-JP" sz="1400" dirty="0">
                <a:latin typeface="Calibri" panose="020F0502020204030204" pitchFamily="34" charset="0"/>
                <a:ea typeface="ＭＳ Ｐゴシック" charset="-128"/>
                <a:cs typeface="Calibri" panose="020F0502020204030204" pitchFamily="34" charset="0"/>
              </a:rPr>
              <a:t>(Magill, 2001; Schmidt, 1991; Rose, 1997)</a:t>
            </a:r>
            <a:endParaRPr lang="en-US" alt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556580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761774CD-B9A9-5545-B1EE-5944B67BC0CF}"/>
              </a:ext>
            </a:extLst>
          </p:cNvPr>
          <p:cNvSpPr/>
          <p:nvPr/>
        </p:nvSpPr>
        <p:spPr>
          <a:xfrm>
            <a:off x="731520" y="640080"/>
            <a:ext cx="10808839" cy="707886"/>
          </a:xfrm>
          <a:prstGeom prst="rect">
            <a:avLst/>
          </a:prstGeom>
        </p:spPr>
        <p:txBody>
          <a:bodyPr wrap="square">
            <a:spAutoFit/>
          </a:bodyPr>
          <a:lstStyle/>
          <a:p>
            <a:r>
              <a:rPr lang="en-US" sz="4000" dirty="0">
                <a:latin typeface="Times New Roman" panose="02020603050405020304" pitchFamily="18" charset="0"/>
                <a:cs typeface="Times New Roman" panose="02020603050405020304" pitchFamily="18" charset="0"/>
              </a:rPr>
              <a:t>What is </a:t>
            </a:r>
            <a:r>
              <a:rPr lang="en-US" sz="4000" i="1" dirty="0">
                <a:latin typeface="Times New Roman" panose="02020603050405020304" pitchFamily="18" charset="0"/>
                <a:cs typeface="Times New Roman" panose="02020603050405020304" pitchFamily="18" charset="0"/>
              </a:rPr>
              <a:t>Learning</a:t>
            </a:r>
            <a:r>
              <a:rPr lang="en-US" sz="4000" dirty="0">
                <a:latin typeface="Times New Roman" panose="02020603050405020304" pitchFamily="18" charset="0"/>
                <a:cs typeface="Times New Roman" panose="02020603050405020304" pitchFamily="18" charset="0"/>
              </a:rPr>
              <a:t> vs </a:t>
            </a:r>
            <a:r>
              <a:rPr lang="en-US" sz="4000" i="1" dirty="0">
                <a:latin typeface="Times New Roman" panose="02020603050405020304" pitchFamily="18" charset="0"/>
                <a:cs typeface="Times New Roman" panose="02020603050405020304" pitchFamily="18" charset="0"/>
              </a:rPr>
              <a:t>Performance</a:t>
            </a:r>
            <a:r>
              <a:rPr lang="en-US" sz="4000" dirty="0">
                <a:latin typeface="Times New Roman" panose="02020603050405020304" pitchFamily="18" charset="0"/>
                <a:cs typeface="Times New Roman" panose="02020603050405020304" pitchFamily="18" charset="0"/>
              </a:rPr>
              <a:t>?</a:t>
            </a:r>
          </a:p>
        </p:txBody>
      </p:sp>
      <p:sp>
        <p:nvSpPr>
          <p:cNvPr id="5" name="Rectangle 4">
            <a:extLst>
              <a:ext uri="{FF2B5EF4-FFF2-40B4-BE49-F238E27FC236}">
                <a16:creationId xmlns:a16="http://schemas.microsoft.com/office/drawing/2014/main" xmlns="" id="{5C8AC80B-5654-AC4E-A87F-2FAFA6AC1711}"/>
              </a:ext>
            </a:extLst>
          </p:cNvPr>
          <p:cNvSpPr/>
          <p:nvPr/>
        </p:nvSpPr>
        <p:spPr>
          <a:xfrm>
            <a:off x="731519" y="1556404"/>
            <a:ext cx="10808839" cy="3785652"/>
          </a:xfrm>
          <a:prstGeom prst="rect">
            <a:avLst/>
          </a:prstGeom>
        </p:spPr>
        <p:txBody>
          <a:bodyPr wrap="square">
            <a:spAutoFit/>
          </a:bodyPr>
          <a:lstStyle/>
          <a:p>
            <a:r>
              <a:rPr lang="en-US" altLang="en-US" sz="2400" dirty="0">
                <a:latin typeface="Calibri" charset="0"/>
                <a:ea typeface="ＭＳ Ｐゴシック" charset="-128"/>
              </a:rPr>
              <a:t>5 Characteristics of Learning:</a:t>
            </a:r>
          </a:p>
          <a:p>
            <a:pPr marL="285750" indent="-285750">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Performance</a:t>
            </a:r>
            <a:br>
              <a:rPr lang="en-US" sz="2400" dirty="0">
                <a:latin typeface="Calibri" panose="020F0502020204030204" pitchFamily="34" charset="0"/>
                <a:cs typeface="Calibri" panose="020F0502020204030204" pitchFamily="34" charset="0"/>
              </a:rPr>
            </a:br>
            <a:endParaRPr lang="en-US" sz="24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Consistency</a:t>
            </a:r>
            <a:br>
              <a:rPr lang="en-US" sz="2400" dirty="0">
                <a:latin typeface="Calibri" panose="020F0502020204030204" pitchFamily="34" charset="0"/>
                <a:cs typeface="Calibri" panose="020F0502020204030204" pitchFamily="34" charset="0"/>
              </a:rPr>
            </a:br>
            <a:endParaRPr lang="en-US" sz="24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Persistence</a:t>
            </a:r>
            <a:br>
              <a:rPr lang="en-US" sz="2400" dirty="0">
                <a:latin typeface="Calibri" panose="020F0502020204030204" pitchFamily="34" charset="0"/>
                <a:cs typeface="Calibri" panose="020F0502020204030204" pitchFamily="34" charset="0"/>
              </a:rPr>
            </a:br>
            <a:endParaRPr lang="en-US" sz="24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Stability</a:t>
            </a:r>
            <a:br>
              <a:rPr lang="en-US" sz="2400" dirty="0">
                <a:latin typeface="Calibri" panose="020F0502020204030204" pitchFamily="34" charset="0"/>
                <a:cs typeface="Calibri" panose="020F0502020204030204" pitchFamily="34" charset="0"/>
              </a:rPr>
            </a:br>
            <a:endParaRPr lang="en-US" sz="24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Adaptability</a:t>
            </a:r>
          </a:p>
        </p:txBody>
      </p:sp>
      <p:sp>
        <p:nvSpPr>
          <p:cNvPr id="7" name="TextBox 6">
            <a:extLst>
              <a:ext uri="{FF2B5EF4-FFF2-40B4-BE49-F238E27FC236}">
                <a16:creationId xmlns:a16="http://schemas.microsoft.com/office/drawing/2014/main" xmlns="" id="{4EC65BDA-11E0-9946-A332-71B3F5B1DED9}"/>
              </a:ext>
            </a:extLst>
          </p:cNvPr>
          <p:cNvSpPr txBox="1"/>
          <p:nvPr/>
        </p:nvSpPr>
        <p:spPr>
          <a:xfrm>
            <a:off x="3199427" y="2513827"/>
            <a:ext cx="1321774" cy="830997"/>
          </a:xfrm>
          <a:prstGeom prst="rect">
            <a:avLst/>
          </a:prstGeom>
          <a:noFill/>
          <a:ln>
            <a:solidFill>
              <a:schemeClr val="tx1"/>
            </a:solidFill>
          </a:ln>
        </p:spPr>
        <p:txBody>
          <a:bodyPr wrap="square" rtlCol="0">
            <a:spAutoFit/>
          </a:bodyPr>
          <a:lstStyle/>
          <a:p>
            <a:pPr algn="ctr"/>
            <a:r>
              <a:rPr lang="en-US" sz="2400" i="1" dirty="0">
                <a:latin typeface="Calibri" panose="020F0502020204030204" pitchFamily="34" charset="0"/>
                <a:cs typeface="Calibri" panose="020F0502020204030204" pitchFamily="34" charset="0"/>
              </a:rPr>
              <a:t>Timing</a:t>
            </a:r>
          </a:p>
          <a:p>
            <a:pPr algn="ctr"/>
            <a:r>
              <a:rPr lang="en-US" sz="2400" i="1" dirty="0">
                <a:latin typeface="Calibri" panose="020F0502020204030204" pitchFamily="34" charset="0"/>
                <a:cs typeface="Calibri" panose="020F0502020204030204" pitchFamily="34" charset="0"/>
              </a:rPr>
              <a:t>Accuracy</a:t>
            </a:r>
          </a:p>
        </p:txBody>
      </p:sp>
      <p:cxnSp>
        <p:nvCxnSpPr>
          <p:cNvPr id="8" name="Straight Connector 7">
            <a:extLst>
              <a:ext uri="{FF2B5EF4-FFF2-40B4-BE49-F238E27FC236}">
                <a16:creationId xmlns:a16="http://schemas.microsoft.com/office/drawing/2014/main" xmlns="" id="{F21B8378-D63C-6A43-8033-88C3DDE65A62}"/>
              </a:ext>
            </a:extLst>
          </p:cNvPr>
          <p:cNvCxnSpPr>
            <a:cxnSpLocks/>
            <a:endCxn id="7" idx="1"/>
          </p:cNvCxnSpPr>
          <p:nvPr/>
        </p:nvCxnSpPr>
        <p:spPr>
          <a:xfrm>
            <a:off x="2760133" y="2929326"/>
            <a:ext cx="43929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06086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3CACEC0C-6BF4-644A-95DE-737183858B87}"/>
              </a:ext>
            </a:extLst>
          </p:cNvPr>
          <p:cNvSpPr/>
          <p:nvPr/>
        </p:nvSpPr>
        <p:spPr>
          <a:xfrm>
            <a:off x="731520" y="640080"/>
            <a:ext cx="10808839" cy="584775"/>
          </a:xfrm>
          <a:prstGeom prst="rect">
            <a:avLst/>
          </a:prstGeom>
        </p:spPr>
        <p:txBody>
          <a:bodyPr wrap="square">
            <a:spAutoFit/>
          </a:bodyPr>
          <a:lstStyle/>
          <a:p>
            <a:r>
              <a:rPr lang="en-US" sz="3200" dirty="0">
                <a:solidFill>
                  <a:srgbClr val="FFC000"/>
                </a:solidFill>
                <a:latin typeface="Calibri" panose="020F0502020204030204" pitchFamily="34" charset="0"/>
                <a:cs typeface="Calibri" panose="020F0502020204030204" pitchFamily="34" charset="0"/>
              </a:rPr>
              <a:t>Assessing Motor Learning</a:t>
            </a:r>
            <a:endParaRPr lang="en-US" sz="3200" dirty="0">
              <a:solidFill>
                <a:srgbClr val="FFC000"/>
              </a:solidFill>
            </a:endParaRPr>
          </a:p>
        </p:txBody>
      </p:sp>
      <p:sp>
        <p:nvSpPr>
          <p:cNvPr id="5" name="Rectangle 4">
            <a:extLst>
              <a:ext uri="{FF2B5EF4-FFF2-40B4-BE49-F238E27FC236}">
                <a16:creationId xmlns:a16="http://schemas.microsoft.com/office/drawing/2014/main" xmlns="" id="{06856253-A646-F14F-9CF4-8E173BBC4EBA}"/>
              </a:ext>
            </a:extLst>
          </p:cNvPr>
          <p:cNvSpPr/>
          <p:nvPr/>
        </p:nvSpPr>
        <p:spPr>
          <a:xfrm>
            <a:off x="731520" y="1224855"/>
            <a:ext cx="10808839" cy="4524315"/>
          </a:xfrm>
          <a:prstGeom prst="rect">
            <a:avLst/>
          </a:prstGeom>
        </p:spPr>
        <p:txBody>
          <a:bodyPr wrap="square">
            <a:spAutoFit/>
          </a:bodyPr>
          <a:lstStyle/>
          <a:p>
            <a:pPr marL="342900" indent="-342900">
              <a:buFont typeface="Arial" panose="020B0604020202020204" pitchFamily="34" charset="0"/>
              <a:buChar char="•"/>
            </a:pPr>
            <a:r>
              <a:rPr lang="en-US" altLang="en-US" sz="2400" i="1" dirty="0">
                <a:latin typeface="Calibri" panose="020F0502020204030204" pitchFamily="34" charset="0"/>
                <a:ea typeface="ＭＳ Ｐゴシック" charset="-128"/>
                <a:cs typeface="Calibri" panose="020F0502020204030204" pitchFamily="34" charset="0"/>
              </a:rPr>
              <a:t>Performance </a:t>
            </a:r>
            <a:r>
              <a:rPr lang="en-US" sz="2400" i="1" dirty="0">
                <a:latin typeface="Calibri" panose="020F0502020204030204" pitchFamily="34" charset="0"/>
                <a:cs typeface="Calibri" panose="020F0502020204030204" pitchFamily="34" charset="0"/>
              </a:rPr>
              <a:t>Curves </a:t>
            </a:r>
            <a:r>
              <a:rPr lang="en-US" sz="2400" dirty="0">
                <a:latin typeface="Calibri" panose="020F0502020204030204" pitchFamily="34" charset="0"/>
                <a:cs typeface="Calibri" panose="020F0502020204030204" pitchFamily="34" charset="0"/>
              </a:rPr>
              <a:t>– Records levels of performance over time  </a:t>
            </a:r>
          </a:p>
          <a:p>
            <a:pPr marL="800100" lvl="1"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Graph of outcome measures of performance</a:t>
            </a:r>
          </a:p>
          <a:p>
            <a:pPr marL="1257300" lvl="2" indent="-342900">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Performance measure plotted on vertical axis</a:t>
            </a:r>
          </a:p>
          <a:p>
            <a:pPr marL="1257300" lvl="2" indent="-342900">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Time over which performance is plotted on horizontal axis</a:t>
            </a:r>
          </a:p>
          <a:p>
            <a:pPr marL="800100" lvl="1" indent="-342900">
              <a:buFont typeface="Arial" panose="020B0604020202020204" pitchFamily="34" charset="0"/>
              <a:buChar char="•"/>
              <a:defRPr/>
            </a:pPr>
            <a:endParaRPr lang="en-US" sz="24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defRPr/>
            </a:pPr>
            <a:r>
              <a:rPr lang="en-US" sz="2400" i="1" dirty="0">
                <a:latin typeface="Calibri" panose="020F0502020204030204" pitchFamily="34" charset="0"/>
                <a:cs typeface="Calibri" panose="020F0502020204030204" pitchFamily="34" charset="0"/>
              </a:rPr>
              <a:t>Retention Test </a:t>
            </a:r>
            <a:r>
              <a:rPr lang="en-US" sz="2400" dirty="0">
                <a:latin typeface="Calibri" panose="020F0502020204030204" pitchFamily="34" charset="0"/>
                <a:cs typeface="Calibri" panose="020F0502020204030204" pitchFamily="34" charset="0"/>
              </a:rPr>
              <a:t>– A common measure to assess the performance characteristic of the persistence characteristic of improved performance</a:t>
            </a:r>
          </a:p>
          <a:p>
            <a:pPr marL="342900" indent="-342900">
              <a:buFont typeface="Arial" panose="020B0604020202020204" pitchFamily="34" charset="0"/>
              <a:buChar char="•"/>
              <a:defRPr/>
            </a:pPr>
            <a:endParaRPr lang="en-US" sz="24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defRPr/>
            </a:pPr>
            <a:r>
              <a:rPr lang="en-US" sz="2400" i="1" dirty="0">
                <a:latin typeface="Calibri" panose="020F0502020204030204" pitchFamily="34" charset="0"/>
                <a:cs typeface="Calibri" panose="020F0502020204030204" pitchFamily="34" charset="0"/>
              </a:rPr>
              <a:t>Transfer Test </a:t>
            </a:r>
            <a:r>
              <a:rPr lang="en-US" sz="2400" dirty="0">
                <a:latin typeface="Calibri" panose="020F0502020204030204" pitchFamily="34" charset="0"/>
                <a:cs typeface="Calibri" panose="020F0502020204030204" pitchFamily="34" charset="0"/>
              </a:rPr>
              <a:t>– Assess the performance characteristics of adaptability by performing a practiced skill in:</a:t>
            </a:r>
          </a:p>
          <a:p>
            <a:pPr marL="800100" lvl="1" indent="-342900">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Novel context (feedback and physical environment changes)</a:t>
            </a:r>
          </a:p>
          <a:p>
            <a:pPr marL="800100" lvl="1" indent="-342900">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Novel skill variations (cup or glass, fast or slow, harder or softer)</a:t>
            </a:r>
          </a:p>
        </p:txBody>
      </p:sp>
    </p:spTree>
    <p:extLst>
      <p:ext uri="{BB962C8B-B14F-4D97-AF65-F5344CB8AC3E}">
        <p14:creationId xmlns:p14="http://schemas.microsoft.com/office/powerpoint/2010/main" val="40585202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77CAA55-EE17-5946-AFD1-1F1A2FB92DCB}"/>
              </a:ext>
            </a:extLst>
          </p:cNvPr>
          <p:cNvSpPr/>
          <p:nvPr/>
        </p:nvSpPr>
        <p:spPr>
          <a:xfrm>
            <a:off x="731520" y="640080"/>
            <a:ext cx="10808839" cy="584775"/>
          </a:xfrm>
          <a:prstGeom prst="rect">
            <a:avLst/>
          </a:prstGeom>
        </p:spPr>
        <p:txBody>
          <a:bodyPr wrap="square">
            <a:spAutoFit/>
          </a:bodyPr>
          <a:lstStyle/>
          <a:p>
            <a:r>
              <a:rPr lang="en-US" sz="3200" dirty="0">
                <a:solidFill>
                  <a:srgbClr val="FFC000"/>
                </a:solidFill>
                <a:latin typeface="Calibri" panose="020F0502020204030204" pitchFamily="34" charset="0"/>
                <a:cs typeface="Calibri" panose="020F0502020204030204" pitchFamily="34" charset="0"/>
              </a:rPr>
              <a:t>Motor Learning vs Neuroplasticity… </a:t>
            </a:r>
            <a:r>
              <a:rPr lang="en-US" sz="3200" i="1" dirty="0">
                <a:solidFill>
                  <a:srgbClr val="FFC000"/>
                </a:solidFill>
                <a:latin typeface="Calibri" panose="020F0502020204030204" pitchFamily="34" charset="0"/>
                <a:cs typeface="Calibri" panose="020F0502020204030204" pitchFamily="34" charset="0"/>
              </a:rPr>
              <a:t>What’s the Difference</a:t>
            </a:r>
            <a:r>
              <a:rPr lang="en-US" sz="3200" dirty="0">
                <a:solidFill>
                  <a:srgbClr val="FFC000"/>
                </a:solidFill>
                <a:latin typeface="Calibri" panose="020F0502020204030204" pitchFamily="34" charset="0"/>
                <a:cs typeface="Calibri" panose="020F0502020204030204" pitchFamily="34" charset="0"/>
              </a:rPr>
              <a:t>? </a:t>
            </a:r>
            <a:endParaRPr lang="en-US" sz="3200" dirty="0">
              <a:solidFill>
                <a:srgbClr val="FFC000"/>
              </a:solidFill>
            </a:endParaRPr>
          </a:p>
        </p:txBody>
      </p:sp>
      <p:pic>
        <p:nvPicPr>
          <p:cNvPr id="5" name="Picture 4" descr="pole vault adult.jpg">
            <a:extLst>
              <a:ext uri="{FF2B5EF4-FFF2-40B4-BE49-F238E27FC236}">
                <a16:creationId xmlns:a16="http://schemas.microsoft.com/office/drawing/2014/main" xmlns="" id="{56BFE4FD-DB91-4840-8081-22DB51C3F1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5530" y="1571425"/>
            <a:ext cx="5392350" cy="3033197"/>
          </a:xfrm>
          <a:prstGeom prst="rect">
            <a:avLst/>
          </a:prstGeom>
        </p:spPr>
      </p:pic>
      <p:pic>
        <p:nvPicPr>
          <p:cNvPr id="6" name="Picture 5" descr="DTI brain image.jpg">
            <a:extLst>
              <a:ext uri="{FF2B5EF4-FFF2-40B4-BE49-F238E27FC236}">
                <a16:creationId xmlns:a16="http://schemas.microsoft.com/office/drawing/2014/main" xmlns="" id="{5A5E408E-EFBF-2D45-A034-D4710EBDC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425" y="1571425"/>
            <a:ext cx="4303860" cy="3033196"/>
          </a:xfrm>
          <a:prstGeom prst="rect">
            <a:avLst/>
          </a:prstGeom>
        </p:spPr>
      </p:pic>
      <p:sp>
        <p:nvSpPr>
          <p:cNvPr id="8" name="Rectangle 7">
            <a:extLst>
              <a:ext uri="{FF2B5EF4-FFF2-40B4-BE49-F238E27FC236}">
                <a16:creationId xmlns:a16="http://schemas.microsoft.com/office/drawing/2014/main" xmlns="" id="{3CC09229-4286-4C4C-9E9D-B2F08AB086B5}"/>
              </a:ext>
            </a:extLst>
          </p:cNvPr>
          <p:cNvSpPr/>
          <p:nvPr/>
        </p:nvSpPr>
        <p:spPr>
          <a:xfrm>
            <a:off x="796425" y="4951191"/>
            <a:ext cx="4233334" cy="830997"/>
          </a:xfrm>
          <a:prstGeom prst="rect">
            <a:avLst/>
          </a:prstGeom>
          <a:solidFill>
            <a:schemeClr val="accent6"/>
          </a:solidFill>
          <a:scene3d>
            <a:camera prst="orthographicFront"/>
            <a:lightRig rig="threePt" dir="t"/>
          </a:scene3d>
          <a:sp3d>
            <a:bevelT w="165100" prst="coolSlant"/>
          </a:sp3d>
        </p:spPr>
        <p:txBody>
          <a:bodyPr wrap="square">
            <a:spAutoFit/>
          </a:bodyPr>
          <a:lstStyle/>
          <a:p>
            <a:pPr algn="ctr"/>
            <a:r>
              <a:rPr lang="en-US" sz="2400" dirty="0">
                <a:latin typeface="Calibri" panose="020F0502020204030204" pitchFamily="34" charset="0"/>
                <a:cs typeface="Calibri" panose="020F0502020204030204" pitchFamily="34" charset="0"/>
              </a:rPr>
              <a:t>Neuroplasticity occurs based on experience – good or bad</a:t>
            </a:r>
          </a:p>
        </p:txBody>
      </p:sp>
      <p:sp>
        <p:nvSpPr>
          <p:cNvPr id="9" name="Rectangle 8">
            <a:extLst>
              <a:ext uri="{FF2B5EF4-FFF2-40B4-BE49-F238E27FC236}">
                <a16:creationId xmlns:a16="http://schemas.microsoft.com/office/drawing/2014/main" xmlns="" id="{14F60BE0-8074-5747-9868-BBDAC86E2A76}"/>
              </a:ext>
            </a:extLst>
          </p:cNvPr>
          <p:cNvSpPr/>
          <p:nvPr/>
        </p:nvSpPr>
        <p:spPr>
          <a:xfrm>
            <a:off x="5825530" y="4951191"/>
            <a:ext cx="5392350" cy="830997"/>
          </a:xfrm>
          <a:prstGeom prst="rect">
            <a:avLst/>
          </a:prstGeom>
          <a:solidFill>
            <a:schemeClr val="accent5">
              <a:lumMod val="75000"/>
            </a:schemeClr>
          </a:solidFill>
          <a:scene3d>
            <a:camera prst="orthographicFront"/>
            <a:lightRig rig="threePt" dir="t"/>
          </a:scene3d>
          <a:sp3d>
            <a:bevelT w="165100" prst="coolSlant"/>
          </a:sp3d>
        </p:spPr>
        <p:txBody>
          <a:bodyPr wrap="square">
            <a:spAutoFit/>
          </a:bodyPr>
          <a:lstStyle/>
          <a:p>
            <a:pPr algn="ctr"/>
            <a:r>
              <a:rPr lang="en-US" sz="2400" dirty="0">
                <a:latin typeface="Calibri" panose="020F0502020204030204" pitchFamily="34" charset="0"/>
                <a:cs typeface="Calibri" panose="020F0502020204030204" pitchFamily="34" charset="0"/>
              </a:rPr>
              <a:t>Motor Learning harnesses the power of neuroplasticity to acquire a desired skill</a:t>
            </a:r>
          </a:p>
        </p:txBody>
      </p:sp>
    </p:spTree>
    <p:extLst>
      <p:ext uri="{BB962C8B-B14F-4D97-AF65-F5344CB8AC3E}">
        <p14:creationId xmlns:p14="http://schemas.microsoft.com/office/powerpoint/2010/main" val="40729176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4B2634F4-AACD-184C-92F1-BD32A5582757}"/>
              </a:ext>
            </a:extLst>
          </p:cNvPr>
          <p:cNvSpPr/>
          <p:nvPr/>
        </p:nvSpPr>
        <p:spPr>
          <a:xfrm>
            <a:off x="731520" y="640080"/>
            <a:ext cx="10808839" cy="769441"/>
          </a:xfrm>
          <a:prstGeom prst="rect">
            <a:avLst/>
          </a:prstGeom>
        </p:spPr>
        <p:txBody>
          <a:bodyPr wrap="square">
            <a:spAutoFit/>
          </a:bodyPr>
          <a:lstStyle/>
          <a:p>
            <a:r>
              <a:rPr lang="en-US" sz="4400" dirty="0">
                <a:latin typeface="Times New Roman" panose="02020603050405020304" pitchFamily="18" charset="0"/>
                <a:cs typeface="Times New Roman" panose="02020603050405020304" pitchFamily="18" charset="0"/>
              </a:rPr>
              <a:t>Motor Learning Theories</a:t>
            </a:r>
          </a:p>
        </p:txBody>
      </p:sp>
      <p:sp>
        <p:nvSpPr>
          <p:cNvPr id="7" name="TextBox 6">
            <a:extLst>
              <a:ext uri="{FF2B5EF4-FFF2-40B4-BE49-F238E27FC236}">
                <a16:creationId xmlns:a16="http://schemas.microsoft.com/office/drawing/2014/main" xmlns="" id="{272F4536-C536-5B40-B718-66B7713B26F3}"/>
              </a:ext>
            </a:extLst>
          </p:cNvPr>
          <p:cNvSpPr txBox="1"/>
          <p:nvPr/>
        </p:nvSpPr>
        <p:spPr>
          <a:xfrm>
            <a:off x="731520" y="1828800"/>
            <a:ext cx="5360442" cy="2246769"/>
          </a:xfrm>
          <a:prstGeom prst="rect">
            <a:avLst/>
          </a:prstGeom>
          <a:noFill/>
        </p:spPr>
        <p:txBody>
          <a:bodyPr wrap="none" rtlCol="0">
            <a:spAutoFit/>
          </a:bodyPr>
          <a:lstStyle/>
          <a:p>
            <a:pPr marL="457200"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3-Stage Model:  Fitts and Posner</a:t>
            </a:r>
          </a:p>
          <a:p>
            <a:pPr marL="457200" indent="-457200">
              <a:buFont typeface="Arial" panose="020B0604020202020204" pitchFamily="34" charset="0"/>
              <a:buChar char="•"/>
            </a:pPr>
            <a:endParaRPr lang="en-US" sz="28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3-Stage Model:  Bernstein</a:t>
            </a:r>
          </a:p>
          <a:p>
            <a:pPr marL="457200" indent="-457200">
              <a:buFont typeface="Arial" panose="020B0604020202020204" pitchFamily="34" charset="0"/>
              <a:buChar char="•"/>
            </a:pPr>
            <a:endParaRPr lang="en-US" sz="28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2-Stage Model:  Gentile</a:t>
            </a:r>
          </a:p>
        </p:txBody>
      </p:sp>
    </p:spTree>
    <p:extLst>
      <p:ext uri="{BB962C8B-B14F-4D97-AF65-F5344CB8AC3E}">
        <p14:creationId xmlns:p14="http://schemas.microsoft.com/office/powerpoint/2010/main" val="20596530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4B2634F4-AACD-184C-92F1-BD32A5582757}"/>
              </a:ext>
            </a:extLst>
          </p:cNvPr>
          <p:cNvSpPr/>
          <p:nvPr/>
        </p:nvSpPr>
        <p:spPr>
          <a:xfrm>
            <a:off x="731520" y="640080"/>
            <a:ext cx="10808839" cy="584775"/>
          </a:xfrm>
          <a:prstGeom prst="rect">
            <a:avLst/>
          </a:prstGeom>
        </p:spPr>
        <p:txBody>
          <a:bodyPr wrap="square">
            <a:spAutoFit/>
          </a:bodyPr>
          <a:lstStyle/>
          <a:p>
            <a:r>
              <a:rPr lang="en-US" sz="3200" dirty="0">
                <a:latin typeface="Times New Roman" panose="02020603050405020304" pitchFamily="18" charset="0"/>
                <a:cs typeface="Times New Roman" panose="02020603050405020304" pitchFamily="18" charset="0"/>
              </a:rPr>
              <a:t>3-Stage Models: </a:t>
            </a:r>
            <a:r>
              <a:rPr lang="en-US" sz="3200" dirty="0">
                <a:latin typeface="Calibri" panose="020F0502020204030204" pitchFamily="34" charset="0"/>
                <a:cs typeface="Calibri" panose="020F0502020204030204" pitchFamily="34" charset="0"/>
              </a:rPr>
              <a:t>Fitts and Posner </a:t>
            </a:r>
            <a:endParaRPr lang="en-US" sz="3200" dirty="0"/>
          </a:p>
        </p:txBody>
      </p:sp>
      <p:grpSp>
        <p:nvGrpSpPr>
          <p:cNvPr id="4" name="Group 3">
            <a:extLst>
              <a:ext uri="{FF2B5EF4-FFF2-40B4-BE49-F238E27FC236}">
                <a16:creationId xmlns:a16="http://schemas.microsoft.com/office/drawing/2014/main" xmlns="" id="{E17ACBC1-7437-4A4C-9FC3-8A9C1416BE8E}"/>
              </a:ext>
            </a:extLst>
          </p:cNvPr>
          <p:cNvGrpSpPr/>
          <p:nvPr/>
        </p:nvGrpSpPr>
        <p:grpSpPr>
          <a:xfrm>
            <a:off x="1088968" y="1473199"/>
            <a:ext cx="10093941" cy="1163579"/>
            <a:chOff x="762000" y="1926771"/>
            <a:chExt cx="8469088" cy="1371600"/>
          </a:xfrm>
        </p:grpSpPr>
        <p:sp>
          <p:nvSpPr>
            <p:cNvPr id="5" name="Rectangle 3">
              <a:extLst>
                <a:ext uri="{FF2B5EF4-FFF2-40B4-BE49-F238E27FC236}">
                  <a16:creationId xmlns:a16="http://schemas.microsoft.com/office/drawing/2014/main" xmlns="" id="{D795A301-9C69-634B-A7D8-51FCB227DC22}"/>
                </a:ext>
              </a:extLst>
            </p:cNvPr>
            <p:cNvSpPr>
              <a:spLocks noChangeArrowheads="1"/>
            </p:cNvSpPr>
            <p:nvPr/>
          </p:nvSpPr>
          <p:spPr bwMode="auto">
            <a:xfrm>
              <a:off x="762000" y="1926771"/>
              <a:ext cx="2133600" cy="1371600"/>
            </a:xfrm>
            <a:prstGeom prst="rect">
              <a:avLst/>
            </a:prstGeom>
            <a:solidFill>
              <a:srgbClr val="3DF3FD">
                <a:alpha val="50000"/>
              </a:srgbClr>
            </a:solidFill>
            <a:ln w="12700">
              <a:solidFill>
                <a:schemeClr val="tx1"/>
              </a:solidFill>
              <a:miter lim="800000"/>
              <a:headEnd/>
              <a:tailEnd/>
            </a:ln>
            <a:effectLst/>
            <a:scene3d>
              <a:camera prst="orthographicFront"/>
              <a:lightRig rig="threePt" dir="t"/>
            </a:scene3d>
            <a:sp3d>
              <a:bevelT w="165100" prst="coolSlant"/>
            </a:sp3d>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a:r>
                <a:rPr lang="en-US" altLang="en-US" dirty="0">
                  <a:effectLst>
                    <a:outerShdw blurRad="38100" dist="38100" dir="2700000" algn="tl">
                      <a:srgbClr val="C0C0C0"/>
                    </a:outerShdw>
                  </a:effectLst>
                  <a:latin typeface="Helvetica" charset="0"/>
                </a:rPr>
                <a:t>Cognitive </a:t>
              </a:r>
            </a:p>
            <a:p>
              <a:pPr algn="ctr"/>
              <a:r>
                <a:rPr lang="en-US" altLang="en-US" dirty="0">
                  <a:effectLst>
                    <a:outerShdw blurRad="38100" dist="38100" dir="2700000" algn="tl">
                      <a:srgbClr val="C0C0C0"/>
                    </a:outerShdw>
                  </a:effectLst>
                  <a:latin typeface="Helvetica" charset="0"/>
                </a:rPr>
                <a:t>Stage</a:t>
              </a:r>
            </a:p>
          </p:txBody>
        </p:sp>
        <p:sp>
          <p:nvSpPr>
            <p:cNvPr id="8" name="Rectangle 4">
              <a:extLst>
                <a:ext uri="{FF2B5EF4-FFF2-40B4-BE49-F238E27FC236}">
                  <a16:creationId xmlns:a16="http://schemas.microsoft.com/office/drawing/2014/main" xmlns="" id="{EFF31DFC-894F-CB47-8488-17C739C33C96}"/>
                </a:ext>
              </a:extLst>
            </p:cNvPr>
            <p:cNvSpPr>
              <a:spLocks noChangeArrowheads="1"/>
            </p:cNvSpPr>
            <p:nvPr/>
          </p:nvSpPr>
          <p:spPr bwMode="auto">
            <a:xfrm>
              <a:off x="3929744" y="1926771"/>
              <a:ext cx="2133600" cy="1371600"/>
            </a:xfrm>
            <a:prstGeom prst="rect">
              <a:avLst/>
            </a:prstGeom>
            <a:solidFill>
              <a:srgbClr val="3DF3FD">
                <a:alpha val="50000"/>
              </a:srgbClr>
            </a:solidFill>
            <a:ln w="12700">
              <a:solidFill>
                <a:schemeClr val="tx1"/>
              </a:solidFill>
              <a:miter lim="800000"/>
              <a:headEnd/>
              <a:tailEnd/>
            </a:ln>
            <a:effectLst/>
            <a:scene3d>
              <a:camera prst="orthographicFront"/>
              <a:lightRig rig="threePt" dir="t"/>
            </a:scene3d>
            <a:sp3d>
              <a:bevelT w="165100" prst="coolSlant"/>
            </a:sp3d>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a:r>
                <a:rPr lang="en-US" altLang="en-US" dirty="0">
                  <a:effectLst>
                    <a:outerShdw blurRad="38100" dist="38100" dir="2700000" algn="tl">
                      <a:srgbClr val="C0C0C0"/>
                    </a:outerShdw>
                  </a:effectLst>
                  <a:latin typeface="Helvetica" charset="0"/>
                </a:rPr>
                <a:t>Associative </a:t>
              </a:r>
            </a:p>
            <a:p>
              <a:pPr algn="ctr"/>
              <a:r>
                <a:rPr lang="en-US" altLang="en-US" dirty="0">
                  <a:effectLst>
                    <a:outerShdw blurRad="38100" dist="38100" dir="2700000" algn="tl">
                      <a:srgbClr val="C0C0C0"/>
                    </a:outerShdw>
                  </a:effectLst>
                  <a:latin typeface="Helvetica" charset="0"/>
                </a:rPr>
                <a:t>Stage</a:t>
              </a:r>
            </a:p>
          </p:txBody>
        </p:sp>
        <p:sp>
          <p:nvSpPr>
            <p:cNvPr id="9" name="Rectangle 5">
              <a:extLst>
                <a:ext uri="{FF2B5EF4-FFF2-40B4-BE49-F238E27FC236}">
                  <a16:creationId xmlns:a16="http://schemas.microsoft.com/office/drawing/2014/main" xmlns="" id="{5AC2555B-6E42-BE4F-9B5B-619831262DC4}"/>
                </a:ext>
              </a:extLst>
            </p:cNvPr>
            <p:cNvSpPr>
              <a:spLocks noChangeArrowheads="1"/>
            </p:cNvSpPr>
            <p:nvPr/>
          </p:nvSpPr>
          <p:spPr bwMode="auto">
            <a:xfrm>
              <a:off x="7097488" y="1926771"/>
              <a:ext cx="2133600" cy="1371600"/>
            </a:xfrm>
            <a:prstGeom prst="rect">
              <a:avLst/>
            </a:prstGeom>
            <a:solidFill>
              <a:srgbClr val="3DF3FD">
                <a:alpha val="50000"/>
              </a:srgbClr>
            </a:solidFill>
            <a:ln w="12700">
              <a:solidFill>
                <a:schemeClr val="tx1"/>
              </a:solidFill>
              <a:miter lim="800000"/>
              <a:headEnd/>
              <a:tailEnd/>
            </a:ln>
            <a:effectLst/>
            <a:scene3d>
              <a:camera prst="orthographicFront"/>
              <a:lightRig rig="threePt" dir="t"/>
            </a:scene3d>
            <a:sp3d>
              <a:bevelT w="165100" prst="coolSlant"/>
            </a:sp3d>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a:r>
                <a:rPr lang="en-US" altLang="en-US" dirty="0">
                  <a:effectLst>
                    <a:outerShdw blurRad="38100" dist="38100" dir="2700000" algn="tl">
                      <a:srgbClr val="C0C0C0"/>
                    </a:outerShdw>
                  </a:effectLst>
                  <a:latin typeface="Helvetica" charset="0"/>
                </a:rPr>
                <a:t>Autonomous </a:t>
              </a:r>
            </a:p>
            <a:p>
              <a:pPr algn="ctr"/>
              <a:r>
                <a:rPr lang="en-US" altLang="en-US" dirty="0">
                  <a:effectLst>
                    <a:outerShdw blurRad="38100" dist="38100" dir="2700000" algn="tl">
                      <a:srgbClr val="C0C0C0"/>
                    </a:outerShdw>
                  </a:effectLst>
                  <a:latin typeface="Helvetica" charset="0"/>
                </a:rPr>
                <a:t>Stage</a:t>
              </a:r>
            </a:p>
          </p:txBody>
        </p:sp>
        <p:sp>
          <p:nvSpPr>
            <p:cNvPr id="10" name="AutoShape 6">
              <a:extLst>
                <a:ext uri="{FF2B5EF4-FFF2-40B4-BE49-F238E27FC236}">
                  <a16:creationId xmlns:a16="http://schemas.microsoft.com/office/drawing/2014/main" xmlns="" id="{0F559438-5E44-A74F-ABEE-7B85F154F9C2}"/>
                </a:ext>
              </a:extLst>
            </p:cNvPr>
            <p:cNvSpPr>
              <a:spLocks noChangeArrowheads="1"/>
            </p:cNvSpPr>
            <p:nvPr/>
          </p:nvSpPr>
          <p:spPr bwMode="auto">
            <a:xfrm>
              <a:off x="3124201" y="2422071"/>
              <a:ext cx="609600" cy="457200"/>
            </a:xfrm>
            <a:prstGeom prst="rightArrow">
              <a:avLst>
                <a:gd name="adj1" fmla="val 50000"/>
                <a:gd name="adj2" fmla="val 25000"/>
              </a:avLst>
            </a:prstGeom>
            <a:solidFill>
              <a:srgbClr val="259794"/>
            </a:solidFill>
            <a:ln w="12700">
              <a:solidFill>
                <a:schemeClr val="tx1"/>
              </a:solidFill>
              <a:miter lim="800000"/>
              <a:headEnd/>
              <a:tailEnd/>
            </a:ln>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endParaRPr lang="en-US" altLang="en-US"/>
            </a:p>
          </p:txBody>
        </p:sp>
        <p:sp>
          <p:nvSpPr>
            <p:cNvPr id="11" name="AutoShape 7">
              <a:extLst>
                <a:ext uri="{FF2B5EF4-FFF2-40B4-BE49-F238E27FC236}">
                  <a16:creationId xmlns:a16="http://schemas.microsoft.com/office/drawing/2014/main" xmlns="" id="{BB7C92E2-4FA2-B14D-8B8C-937494E2F6FA}"/>
                </a:ext>
              </a:extLst>
            </p:cNvPr>
            <p:cNvSpPr>
              <a:spLocks noChangeArrowheads="1"/>
            </p:cNvSpPr>
            <p:nvPr/>
          </p:nvSpPr>
          <p:spPr bwMode="auto">
            <a:xfrm>
              <a:off x="6237515" y="2345871"/>
              <a:ext cx="609600" cy="533400"/>
            </a:xfrm>
            <a:prstGeom prst="rightArrow">
              <a:avLst>
                <a:gd name="adj1" fmla="val 50000"/>
                <a:gd name="adj2" fmla="val 25000"/>
              </a:avLst>
            </a:prstGeom>
            <a:solidFill>
              <a:srgbClr val="259794"/>
            </a:solidFill>
            <a:ln w="12700">
              <a:solidFill>
                <a:schemeClr val="tx1"/>
              </a:solidFill>
              <a:miter lim="800000"/>
              <a:headEnd/>
              <a:tailEnd/>
            </a:ln>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endParaRPr lang="en-US" altLang="en-US"/>
            </a:p>
          </p:txBody>
        </p:sp>
      </p:grpSp>
      <p:sp>
        <p:nvSpPr>
          <p:cNvPr id="12" name="Rectangle 11">
            <a:extLst>
              <a:ext uri="{FF2B5EF4-FFF2-40B4-BE49-F238E27FC236}">
                <a16:creationId xmlns:a16="http://schemas.microsoft.com/office/drawing/2014/main" xmlns="" id="{BE2018FB-E19B-A648-9756-6C88B7584726}"/>
              </a:ext>
            </a:extLst>
          </p:cNvPr>
          <p:cNvSpPr/>
          <p:nvPr/>
        </p:nvSpPr>
        <p:spPr>
          <a:xfrm>
            <a:off x="1088968" y="2636778"/>
            <a:ext cx="2556984" cy="1754326"/>
          </a:xfrm>
          <a:prstGeom prst="rect">
            <a:avLst/>
          </a:prstGeom>
        </p:spPr>
        <p:txBody>
          <a:bodyPr wrap="square">
            <a:spAutoFit/>
          </a:bodyPr>
          <a:lstStyle/>
          <a:p>
            <a:pPr marL="182880" indent="-182880">
              <a:buFont typeface="Arial" panose="020B0604020202020204" pitchFamily="34" charset="0"/>
              <a:buChar char="•"/>
            </a:pPr>
            <a:r>
              <a:rPr lang="en-US" altLang="en-US" dirty="0">
                <a:latin typeface="Calibri" panose="020F0502020204030204" pitchFamily="34" charset="0"/>
                <a:ea typeface="ＭＳ Ｐゴシック" charset="-128"/>
                <a:cs typeface="Calibri" panose="020F0502020204030204" pitchFamily="34" charset="0"/>
              </a:rPr>
              <a:t>Learner focuses on what is to be done in the task. </a:t>
            </a:r>
          </a:p>
          <a:p>
            <a:pPr marL="182880" indent="-182880">
              <a:buFont typeface="Arial" panose="020B0604020202020204" pitchFamily="34" charset="0"/>
              <a:buChar char="•"/>
            </a:pPr>
            <a:r>
              <a:rPr lang="en-US" altLang="en-US" dirty="0">
                <a:latin typeface="Calibri" panose="020F0502020204030204" pitchFamily="34" charset="0"/>
                <a:ea typeface="ＭＳ Ｐゴシック" charset="-128"/>
                <a:cs typeface="Calibri" panose="020F0502020204030204" pitchFamily="34" charset="0"/>
              </a:rPr>
              <a:t>Stage is marked by  errors in performance. </a:t>
            </a:r>
          </a:p>
          <a:p>
            <a:pPr marL="182880" indent="-182880">
              <a:buFont typeface="Arial" panose="020B0604020202020204" pitchFamily="34" charset="0"/>
              <a:buChar char="•"/>
            </a:pPr>
            <a:r>
              <a:rPr lang="en-US" altLang="en-US" dirty="0">
                <a:latin typeface="Calibri" panose="020F0502020204030204" pitchFamily="34" charset="0"/>
                <a:ea typeface="ＭＳ Ｐゴシック" charset="-128"/>
                <a:cs typeface="Calibri" panose="020F0502020204030204" pitchFamily="34" charset="0"/>
              </a:rPr>
              <a:t>Improvement is rapid.</a:t>
            </a:r>
            <a:endParaRPr lang="en-US" altLang="en-US" u="sng" dirty="0">
              <a:latin typeface="Calibri" panose="020F0502020204030204" pitchFamily="34" charset="0"/>
              <a:ea typeface="ＭＳ Ｐゴシック" charset="-128"/>
              <a:cs typeface="Calibri" panose="020F0502020204030204" pitchFamily="34" charset="0"/>
            </a:endParaRPr>
          </a:p>
        </p:txBody>
      </p:sp>
      <p:sp>
        <p:nvSpPr>
          <p:cNvPr id="13" name="Rectangle 12">
            <a:extLst>
              <a:ext uri="{FF2B5EF4-FFF2-40B4-BE49-F238E27FC236}">
                <a16:creationId xmlns:a16="http://schemas.microsoft.com/office/drawing/2014/main" xmlns="" id="{73652A99-75C1-5D4F-B5BB-7F1C327FB8DD}"/>
              </a:ext>
            </a:extLst>
          </p:cNvPr>
          <p:cNvSpPr/>
          <p:nvPr/>
        </p:nvSpPr>
        <p:spPr>
          <a:xfrm>
            <a:off x="4850428" y="2636778"/>
            <a:ext cx="2542947" cy="2862322"/>
          </a:xfrm>
          <a:prstGeom prst="rect">
            <a:avLst/>
          </a:prstGeom>
        </p:spPr>
        <p:txBody>
          <a:bodyPr wrap="square">
            <a:spAutoFit/>
          </a:bodyPr>
          <a:lstStyle/>
          <a:p>
            <a:pPr marL="182880" indent="-182880">
              <a:buFont typeface="Arial" panose="020B0604020202020204" pitchFamily="34" charset="0"/>
              <a:buChar char="•"/>
            </a:pPr>
            <a:r>
              <a:rPr lang="en-US" altLang="en-US" dirty="0">
                <a:latin typeface="Calibri" panose="020F0502020204030204" pitchFamily="34" charset="0"/>
                <a:ea typeface="ＭＳ Ｐゴシック" charset="-128"/>
                <a:cs typeface="Calibri" panose="020F0502020204030204" pitchFamily="34" charset="0"/>
              </a:rPr>
              <a:t>Learner finds most effective way to  perform task.  Makes subtle adjustments.</a:t>
            </a:r>
          </a:p>
          <a:p>
            <a:pPr marL="182880" indent="-182880">
              <a:buFont typeface="Arial" panose="020B0604020202020204" pitchFamily="34" charset="0"/>
              <a:buChar char="•"/>
            </a:pPr>
            <a:r>
              <a:rPr lang="en-US" altLang="en-US" dirty="0">
                <a:latin typeface="Calibri" panose="020F0502020204030204" pitchFamily="34" charset="0"/>
                <a:ea typeface="ＭＳ Ｐゴシック" charset="-128"/>
                <a:cs typeface="Calibri" panose="020F0502020204030204" pitchFamily="34" charset="0"/>
              </a:rPr>
              <a:t> Able to identify errors &amp; makes fewer errors.  Concentrates on refining skill. </a:t>
            </a:r>
          </a:p>
          <a:p>
            <a:pPr marL="182880" indent="-182880">
              <a:buFont typeface="Arial" panose="020B0604020202020204" pitchFamily="34" charset="0"/>
              <a:buChar char="•"/>
            </a:pPr>
            <a:r>
              <a:rPr lang="en-US" altLang="en-US" dirty="0">
                <a:latin typeface="Calibri" panose="020F0502020204030204" pitchFamily="34" charset="0"/>
                <a:ea typeface="ＭＳ Ｐゴシック" charset="-128"/>
                <a:cs typeface="Calibri" panose="020F0502020204030204" pitchFamily="34" charset="0"/>
              </a:rPr>
              <a:t>Improvement is more gradual.</a:t>
            </a:r>
          </a:p>
        </p:txBody>
      </p:sp>
      <p:sp>
        <p:nvSpPr>
          <p:cNvPr id="14" name="Rectangle 13">
            <a:extLst>
              <a:ext uri="{FF2B5EF4-FFF2-40B4-BE49-F238E27FC236}">
                <a16:creationId xmlns:a16="http://schemas.microsoft.com/office/drawing/2014/main" xmlns="" id="{C4C4E26D-FD8E-9D4E-A757-735C6E772E36}"/>
              </a:ext>
            </a:extLst>
          </p:cNvPr>
          <p:cNvSpPr/>
          <p:nvPr/>
        </p:nvSpPr>
        <p:spPr>
          <a:xfrm>
            <a:off x="8597851" y="2636778"/>
            <a:ext cx="2585058" cy="2862322"/>
          </a:xfrm>
          <a:prstGeom prst="rect">
            <a:avLst/>
          </a:prstGeom>
        </p:spPr>
        <p:txBody>
          <a:bodyPr wrap="square">
            <a:spAutoFit/>
          </a:bodyPr>
          <a:lstStyle/>
          <a:p>
            <a:pPr marL="182880" indent="-182880">
              <a:buFont typeface="Arial" panose="020B0604020202020204" pitchFamily="34" charset="0"/>
              <a:buChar char="•"/>
            </a:pPr>
            <a:r>
              <a:rPr lang="en-US" altLang="en-US" dirty="0">
                <a:latin typeface="Calibri" panose="020F0502020204030204" pitchFamily="34" charset="0"/>
                <a:ea typeface="ＭＳ Ｐゴシック" charset="-128"/>
                <a:cs typeface="Calibri" panose="020F0502020204030204" pitchFamily="34" charset="0"/>
              </a:rPr>
              <a:t>Expert after months-to-years of practice.</a:t>
            </a:r>
          </a:p>
          <a:p>
            <a:pPr marL="182880" indent="-182880">
              <a:buFont typeface="Arial" panose="020B0604020202020204" pitchFamily="34" charset="0"/>
              <a:buChar char="•"/>
            </a:pPr>
            <a:r>
              <a:rPr lang="en-US" altLang="en-US" dirty="0">
                <a:latin typeface="Calibri" panose="020F0502020204030204" pitchFamily="34" charset="0"/>
                <a:ea typeface="ＭＳ Ｐゴシック" charset="-128"/>
                <a:cs typeface="Calibri" panose="020F0502020204030204" pitchFamily="34" charset="0"/>
              </a:rPr>
              <a:t>Performance becomes automatic. No longer have to attend to production of skill; do most things without thinking. </a:t>
            </a:r>
          </a:p>
          <a:p>
            <a:pPr marL="182880" indent="-182880">
              <a:buFont typeface="Arial" panose="020B0604020202020204" pitchFamily="34" charset="0"/>
              <a:buChar char="•"/>
            </a:pPr>
            <a:r>
              <a:rPr lang="en-US" altLang="en-US" dirty="0">
                <a:latin typeface="Calibri" panose="020F0502020204030204" pitchFamily="34" charset="0"/>
                <a:ea typeface="ＭＳ Ｐゴシック" charset="-128"/>
                <a:cs typeface="Calibri" panose="020F0502020204030204" pitchFamily="34" charset="0"/>
              </a:rPr>
              <a:t>Improvement is minimal.</a:t>
            </a:r>
          </a:p>
        </p:txBody>
      </p:sp>
    </p:spTree>
    <p:extLst>
      <p:ext uri="{BB962C8B-B14F-4D97-AF65-F5344CB8AC3E}">
        <p14:creationId xmlns:p14="http://schemas.microsoft.com/office/powerpoint/2010/main" val="771661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4B2634F4-AACD-184C-92F1-BD32A5582757}"/>
              </a:ext>
            </a:extLst>
          </p:cNvPr>
          <p:cNvSpPr/>
          <p:nvPr/>
        </p:nvSpPr>
        <p:spPr>
          <a:xfrm>
            <a:off x="731520" y="640080"/>
            <a:ext cx="10808839" cy="584775"/>
          </a:xfrm>
          <a:prstGeom prst="rect">
            <a:avLst/>
          </a:prstGeom>
        </p:spPr>
        <p:txBody>
          <a:bodyPr wrap="square">
            <a:spAutoFit/>
          </a:bodyPr>
          <a:lstStyle/>
          <a:p>
            <a:r>
              <a:rPr lang="en-US" sz="3200" dirty="0">
                <a:solidFill>
                  <a:srgbClr val="FFC000"/>
                </a:solidFill>
                <a:latin typeface="Calibri" panose="020F0502020204030204" pitchFamily="34" charset="0"/>
                <a:cs typeface="Calibri" panose="020F0502020204030204" pitchFamily="34" charset="0"/>
              </a:rPr>
              <a:t>3-Stage Models: </a:t>
            </a:r>
            <a:r>
              <a:rPr lang="en-US" sz="3200" dirty="0">
                <a:latin typeface="Calibri" panose="020F0502020204030204" pitchFamily="34" charset="0"/>
                <a:cs typeface="Calibri" panose="020F0502020204030204" pitchFamily="34" charset="0"/>
              </a:rPr>
              <a:t>Bernstein</a:t>
            </a:r>
            <a:endParaRPr lang="en-US" sz="3200" dirty="0"/>
          </a:p>
        </p:txBody>
      </p:sp>
      <p:grpSp>
        <p:nvGrpSpPr>
          <p:cNvPr id="4" name="Group 3">
            <a:extLst>
              <a:ext uri="{FF2B5EF4-FFF2-40B4-BE49-F238E27FC236}">
                <a16:creationId xmlns:a16="http://schemas.microsoft.com/office/drawing/2014/main" xmlns="" id="{E17ACBC1-7437-4A4C-9FC3-8A9C1416BE8E}"/>
              </a:ext>
            </a:extLst>
          </p:cNvPr>
          <p:cNvGrpSpPr/>
          <p:nvPr/>
        </p:nvGrpSpPr>
        <p:grpSpPr>
          <a:xfrm>
            <a:off x="1088968" y="1473199"/>
            <a:ext cx="10093941" cy="1163579"/>
            <a:chOff x="762000" y="1926771"/>
            <a:chExt cx="8469088" cy="1371600"/>
          </a:xfrm>
        </p:grpSpPr>
        <p:sp>
          <p:nvSpPr>
            <p:cNvPr id="5" name="Rectangle 3">
              <a:extLst>
                <a:ext uri="{FF2B5EF4-FFF2-40B4-BE49-F238E27FC236}">
                  <a16:creationId xmlns:a16="http://schemas.microsoft.com/office/drawing/2014/main" xmlns="" id="{D795A301-9C69-634B-A7D8-51FCB227DC22}"/>
                </a:ext>
              </a:extLst>
            </p:cNvPr>
            <p:cNvSpPr>
              <a:spLocks noChangeArrowheads="1"/>
            </p:cNvSpPr>
            <p:nvPr/>
          </p:nvSpPr>
          <p:spPr bwMode="auto">
            <a:xfrm>
              <a:off x="762000" y="1926771"/>
              <a:ext cx="2133600" cy="1371600"/>
            </a:xfrm>
            <a:prstGeom prst="rect">
              <a:avLst/>
            </a:prstGeom>
            <a:solidFill>
              <a:srgbClr val="92D050">
                <a:alpha val="50000"/>
              </a:srgbClr>
            </a:solidFill>
            <a:ln w="12700">
              <a:solidFill>
                <a:schemeClr val="tx1"/>
              </a:solidFill>
              <a:miter lim="800000"/>
              <a:headEnd/>
              <a:tailEnd/>
            </a:ln>
            <a:effectLst/>
            <a:scene3d>
              <a:camera prst="orthographicFront"/>
              <a:lightRig rig="threePt" dir="t"/>
            </a:scene3d>
            <a:sp3d>
              <a:bevelT w="165100" prst="coolSlant"/>
            </a:sp3d>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a:r>
                <a:rPr lang="en-US" altLang="en-US" dirty="0">
                  <a:effectLst>
                    <a:outerShdw blurRad="38100" dist="38100" dir="2700000" algn="tl">
                      <a:srgbClr val="C0C0C0"/>
                    </a:outerShdw>
                  </a:effectLst>
                  <a:latin typeface="Helvetica" charset="0"/>
                </a:rPr>
                <a:t>Novice</a:t>
              </a:r>
            </a:p>
            <a:p>
              <a:pPr algn="ctr"/>
              <a:r>
                <a:rPr lang="en-US" altLang="en-US" dirty="0">
                  <a:effectLst>
                    <a:outerShdw blurRad="38100" dist="38100" dir="2700000" algn="tl">
                      <a:srgbClr val="C0C0C0"/>
                    </a:outerShdw>
                  </a:effectLst>
                  <a:latin typeface="Helvetica" charset="0"/>
                </a:rPr>
                <a:t>Stage</a:t>
              </a:r>
            </a:p>
          </p:txBody>
        </p:sp>
        <p:sp>
          <p:nvSpPr>
            <p:cNvPr id="8" name="Rectangle 4">
              <a:extLst>
                <a:ext uri="{FF2B5EF4-FFF2-40B4-BE49-F238E27FC236}">
                  <a16:creationId xmlns:a16="http://schemas.microsoft.com/office/drawing/2014/main" xmlns="" id="{EFF31DFC-894F-CB47-8488-17C739C33C96}"/>
                </a:ext>
              </a:extLst>
            </p:cNvPr>
            <p:cNvSpPr>
              <a:spLocks noChangeArrowheads="1"/>
            </p:cNvSpPr>
            <p:nvPr/>
          </p:nvSpPr>
          <p:spPr bwMode="auto">
            <a:xfrm>
              <a:off x="3929744" y="1926771"/>
              <a:ext cx="2133600" cy="1371600"/>
            </a:xfrm>
            <a:prstGeom prst="rect">
              <a:avLst/>
            </a:prstGeom>
            <a:solidFill>
              <a:srgbClr val="92D050">
                <a:alpha val="50000"/>
              </a:srgbClr>
            </a:solidFill>
            <a:ln w="12700">
              <a:solidFill>
                <a:schemeClr val="tx1"/>
              </a:solidFill>
              <a:miter lim="800000"/>
              <a:headEnd/>
              <a:tailEnd/>
            </a:ln>
            <a:effectLst/>
            <a:scene3d>
              <a:camera prst="orthographicFront"/>
              <a:lightRig rig="threePt" dir="t"/>
            </a:scene3d>
            <a:sp3d>
              <a:bevelT w="165100" prst="coolSlant"/>
            </a:sp3d>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a:r>
                <a:rPr lang="en-US" altLang="en-US" dirty="0">
                  <a:effectLst>
                    <a:outerShdw blurRad="38100" dist="38100" dir="2700000" algn="tl">
                      <a:srgbClr val="C0C0C0"/>
                    </a:outerShdw>
                  </a:effectLst>
                  <a:latin typeface="Helvetica" charset="0"/>
                </a:rPr>
                <a:t>Intermediate </a:t>
              </a:r>
            </a:p>
            <a:p>
              <a:pPr algn="ctr"/>
              <a:r>
                <a:rPr lang="en-US" altLang="en-US" dirty="0">
                  <a:effectLst>
                    <a:outerShdw blurRad="38100" dist="38100" dir="2700000" algn="tl">
                      <a:srgbClr val="C0C0C0"/>
                    </a:outerShdw>
                  </a:effectLst>
                  <a:latin typeface="Helvetica" charset="0"/>
                </a:rPr>
                <a:t>Stage</a:t>
              </a:r>
            </a:p>
          </p:txBody>
        </p:sp>
        <p:sp>
          <p:nvSpPr>
            <p:cNvPr id="9" name="Rectangle 5">
              <a:extLst>
                <a:ext uri="{FF2B5EF4-FFF2-40B4-BE49-F238E27FC236}">
                  <a16:creationId xmlns:a16="http://schemas.microsoft.com/office/drawing/2014/main" xmlns="" id="{5AC2555B-6E42-BE4F-9B5B-619831262DC4}"/>
                </a:ext>
              </a:extLst>
            </p:cNvPr>
            <p:cNvSpPr>
              <a:spLocks noChangeArrowheads="1"/>
            </p:cNvSpPr>
            <p:nvPr/>
          </p:nvSpPr>
          <p:spPr bwMode="auto">
            <a:xfrm>
              <a:off x="7097488" y="1926771"/>
              <a:ext cx="2133600" cy="1371600"/>
            </a:xfrm>
            <a:prstGeom prst="rect">
              <a:avLst/>
            </a:prstGeom>
            <a:solidFill>
              <a:srgbClr val="92D050">
                <a:alpha val="50000"/>
              </a:srgbClr>
            </a:solidFill>
            <a:ln w="12700">
              <a:solidFill>
                <a:schemeClr val="tx1"/>
              </a:solidFill>
              <a:miter lim="800000"/>
              <a:headEnd/>
              <a:tailEnd/>
            </a:ln>
            <a:effectLst/>
            <a:scene3d>
              <a:camera prst="orthographicFront"/>
              <a:lightRig rig="threePt" dir="t"/>
            </a:scene3d>
            <a:sp3d>
              <a:bevelT w="165100" prst="coolSlant"/>
            </a:sp3d>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a:r>
                <a:rPr lang="en-US" altLang="en-US" dirty="0">
                  <a:effectLst>
                    <a:outerShdw blurRad="38100" dist="38100" dir="2700000" algn="tl">
                      <a:srgbClr val="C0C0C0"/>
                    </a:outerShdw>
                  </a:effectLst>
                  <a:latin typeface="Helvetica" charset="0"/>
                </a:rPr>
                <a:t>Expert </a:t>
              </a:r>
            </a:p>
            <a:p>
              <a:pPr algn="ctr"/>
              <a:r>
                <a:rPr lang="en-US" altLang="en-US" dirty="0">
                  <a:effectLst>
                    <a:outerShdw blurRad="38100" dist="38100" dir="2700000" algn="tl">
                      <a:srgbClr val="C0C0C0"/>
                    </a:outerShdw>
                  </a:effectLst>
                  <a:latin typeface="Helvetica" charset="0"/>
                </a:rPr>
                <a:t>Stage</a:t>
              </a:r>
            </a:p>
          </p:txBody>
        </p:sp>
        <p:sp>
          <p:nvSpPr>
            <p:cNvPr id="10" name="AutoShape 6">
              <a:extLst>
                <a:ext uri="{FF2B5EF4-FFF2-40B4-BE49-F238E27FC236}">
                  <a16:creationId xmlns:a16="http://schemas.microsoft.com/office/drawing/2014/main" xmlns="" id="{0F559438-5E44-A74F-ABEE-7B85F154F9C2}"/>
                </a:ext>
              </a:extLst>
            </p:cNvPr>
            <p:cNvSpPr>
              <a:spLocks noChangeArrowheads="1"/>
            </p:cNvSpPr>
            <p:nvPr/>
          </p:nvSpPr>
          <p:spPr bwMode="auto">
            <a:xfrm>
              <a:off x="3124201" y="2422071"/>
              <a:ext cx="609600" cy="457200"/>
            </a:xfrm>
            <a:prstGeom prst="rightArrow">
              <a:avLst>
                <a:gd name="adj1" fmla="val 50000"/>
                <a:gd name="adj2" fmla="val 25000"/>
              </a:avLst>
            </a:prstGeom>
            <a:solidFill>
              <a:srgbClr val="92D050"/>
            </a:solidFill>
            <a:ln w="12700">
              <a:solidFill>
                <a:schemeClr val="tx1"/>
              </a:solidFill>
              <a:miter lim="800000"/>
              <a:headEnd/>
              <a:tailEnd/>
            </a:ln>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endParaRPr lang="en-US" altLang="en-US"/>
            </a:p>
          </p:txBody>
        </p:sp>
        <p:sp>
          <p:nvSpPr>
            <p:cNvPr id="11" name="AutoShape 7">
              <a:extLst>
                <a:ext uri="{FF2B5EF4-FFF2-40B4-BE49-F238E27FC236}">
                  <a16:creationId xmlns:a16="http://schemas.microsoft.com/office/drawing/2014/main" xmlns="" id="{BB7C92E2-4FA2-B14D-8B8C-937494E2F6FA}"/>
                </a:ext>
              </a:extLst>
            </p:cNvPr>
            <p:cNvSpPr>
              <a:spLocks noChangeArrowheads="1"/>
            </p:cNvSpPr>
            <p:nvPr/>
          </p:nvSpPr>
          <p:spPr bwMode="auto">
            <a:xfrm>
              <a:off x="6237515" y="2345871"/>
              <a:ext cx="609600" cy="533400"/>
            </a:xfrm>
            <a:prstGeom prst="rightArrow">
              <a:avLst>
                <a:gd name="adj1" fmla="val 50000"/>
                <a:gd name="adj2" fmla="val 25000"/>
              </a:avLst>
            </a:prstGeom>
            <a:solidFill>
              <a:srgbClr val="92D050"/>
            </a:solidFill>
            <a:ln w="12700">
              <a:solidFill>
                <a:schemeClr val="tx1"/>
              </a:solidFill>
              <a:miter lim="800000"/>
              <a:headEnd/>
              <a:tailEnd/>
            </a:ln>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endParaRPr lang="en-US" altLang="en-US"/>
            </a:p>
          </p:txBody>
        </p:sp>
      </p:grpSp>
      <p:sp>
        <p:nvSpPr>
          <p:cNvPr id="12" name="Rectangle 11">
            <a:extLst>
              <a:ext uri="{FF2B5EF4-FFF2-40B4-BE49-F238E27FC236}">
                <a16:creationId xmlns:a16="http://schemas.microsoft.com/office/drawing/2014/main" xmlns="" id="{BE2018FB-E19B-A648-9756-6C88B7584726}"/>
              </a:ext>
            </a:extLst>
          </p:cNvPr>
          <p:cNvSpPr/>
          <p:nvPr/>
        </p:nvSpPr>
        <p:spPr>
          <a:xfrm>
            <a:off x="1088968" y="2636778"/>
            <a:ext cx="2556984" cy="1754326"/>
          </a:xfrm>
          <a:prstGeom prst="rect">
            <a:avLst/>
          </a:prstGeom>
        </p:spPr>
        <p:txBody>
          <a:bodyPr wrap="square">
            <a:spAutoFit/>
          </a:bodyPr>
          <a:lstStyle/>
          <a:p>
            <a:pPr marL="285750" lvl="1" indent="-285750">
              <a:lnSpc>
                <a:spcPct val="90000"/>
              </a:lnSpc>
              <a:buFont typeface="Arial" panose="020B0604020202020204" pitchFamily="34" charset="0"/>
              <a:buChar char="•"/>
            </a:pPr>
            <a:r>
              <a:rPr lang="en-US" altLang="en-US" sz="2000" dirty="0">
                <a:latin typeface="Calibri" panose="020F0502020204030204" pitchFamily="34" charset="0"/>
                <a:ea typeface="ＭＳ Ｐゴシック" charset="-128"/>
                <a:cs typeface="Calibri" panose="020F0502020204030204" pitchFamily="34" charset="0"/>
              </a:rPr>
              <a:t>Learner attempts to simplify movement </a:t>
            </a:r>
            <a:r>
              <a:rPr lang="ja-JP" altLang="en-US" sz="2000">
                <a:latin typeface="Calibri" panose="020F0502020204030204" pitchFamily="34" charset="0"/>
                <a:ea typeface="ＭＳ Ｐゴシック" charset="-128"/>
                <a:cs typeface="Calibri" panose="020F0502020204030204" pitchFamily="34" charset="0"/>
              </a:rPr>
              <a:t>‘</a:t>
            </a:r>
            <a:r>
              <a:rPr lang="en-US" altLang="ja-JP" sz="2000" dirty="0">
                <a:latin typeface="Calibri" panose="020F0502020204030204" pitchFamily="34" charset="0"/>
                <a:ea typeface="ＭＳ Ｐゴシック" charset="-128"/>
                <a:cs typeface="Calibri" panose="020F0502020204030204" pitchFamily="34" charset="0"/>
              </a:rPr>
              <a:t>problem</a:t>
            </a:r>
            <a:r>
              <a:rPr lang="ja-JP" altLang="en-US" sz="2000">
                <a:latin typeface="Calibri" panose="020F0502020204030204" pitchFamily="34" charset="0"/>
                <a:ea typeface="ＭＳ Ｐゴシック" charset="-128"/>
                <a:cs typeface="Calibri" panose="020F0502020204030204" pitchFamily="34" charset="0"/>
              </a:rPr>
              <a:t>’</a:t>
            </a:r>
            <a:r>
              <a:rPr lang="en-US" altLang="ja-JP" sz="2000" dirty="0">
                <a:latin typeface="Calibri" panose="020F0502020204030204" pitchFamily="34" charset="0"/>
                <a:ea typeface="ＭＳ Ｐゴシック" charset="-128"/>
                <a:cs typeface="Calibri" panose="020F0502020204030204" pitchFamily="34" charset="0"/>
              </a:rPr>
              <a:t> by </a:t>
            </a:r>
            <a:r>
              <a:rPr lang="ja-JP" altLang="en-US" sz="2000">
                <a:latin typeface="Calibri" panose="020F0502020204030204" pitchFamily="34" charset="0"/>
                <a:ea typeface="ＭＳ Ｐゴシック" charset="-128"/>
                <a:cs typeface="Calibri" panose="020F0502020204030204" pitchFamily="34" charset="0"/>
              </a:rPr>
              <a:t>“</a:t>
            </a:r>
            <a:r>
              <a:rPr lang="en-US" altLang="ja-JP" sz="2000" dirty="0">
                <a:latin typeface="Calibri" panose="020F0502020204030204" pitchFamily="34" charset="0"/>
                <a:ea typeface="ＭＳ Ｐゴシック" charset="-128"/>
                <a:cs typeface="Calibri" panose="020F0502020204030204" pitchFamily="34" charset="0"/>
              </a:rPr>
              <a:t>freezing out</a:t>
            </a:r>
            <a:r>
              <a:rPr lang="ja-JP" altLang="en-US" sz="2000">
                <a:latin typeface="Calibri" panose="020F0502020204030204" pitchFamily="34" charset="0"/>
                <a:ea typeface="ＭＳ Ｐゴシック" charset="-128"/>
                <a:cs typeface="Calibri" panose="020F0502020204030204" pitchFamily="34" charset="0"/>
              </a:rPr>
              <a:t>”</a:t>
            </a:r>
            <a:r>
              <a:rPr lang="en-US" altLang="ja-JP" sz="2000" dirty="0">
                <a:latin typeface="Calibri" panose="020F0502020204030204" pitchFamily="34" charset="0"/>
                <a:ea typeface="ＭＳ Ｐゴシック" charset="-128"/>
                <a:cs typeface="Calibri" panose="020F0502020204030204" pitchFamily="34" charset="0"/>
              </a:rPr>
              <a:t> a portion of available degrees-of-freedom</a:t>
            </a:r>
          </a:p>
        </p:txBody>
      </p:sp>
      <p:sp>
        <p:nvSpPr>
          <p:cNvPr id="13" name="Rectangle 12">
            <a:extLst>
              <a:ext uri="{FF2B5EF4-FFF2-40B4-BE49-F238E27FC236}">
                <a16:creationId xmlns:a16="http://schemas.microsoft.com/office/drawing/2014/main" xmlns="" id="{73652A99-75C1-5D4F-B5BB-7F1C327FB8DD}"/>
              </a:ext>
            </a:extLst>
          </p:cNvPr>
          <p:cNvSpPr/>
          <p:nvPr/>
        </p:nvSpPr>
        <p:spPr>
          <a:xfrm>
            <a:off x="4850428" y="2636778"/>
            <a:ext cx="2542947" cy="1754326"/>
          </a:xfrm>
          <a:prstGeom prst="rect">
            <a:avLst/>
          </a:prstGeom>
        </p:spPr>
        <p:txBody>
          <a:bodyPr wrap="square">
            <a:spAutoFit/>
          </a:bodyPr>
          <a:lstStyle/>
          <a:p>
            <a:pPr marL="182880" lvl="1" indent="-182880">
              <a:lnSpc>
                <a:spcPct val="90000"/>
              </a:lnSpc>
              <a:buFont typeface="Arial" panose="020B0604020202020204" pitchFamily="34" charset="0"/>
              <a:buChar char="•"/>
            </a:pPr>
            <a:r>
              <a:rPr lang="en-US" altLang="en-US" sz="2000" dirty="0">
                <a:latin typeface="Calibri" panose="020F0502020204030204" pitchFamily="34" charset="0"/>
                <a:ea typeface="ＭＳ Ｐゴシック" charset="-128"/>
                <a:cs typeface="Calibri" panose="020F0502020204030204" pitchFamily="34" charset="0"/>
              </a:rPr>
              <a:t>Learner begins to reinstate/release degrees of freedom.</a:t>
            </a:r>
          </a:p>
          <a:p>
            <a:pPr marL="182880" lvl="1" indent="-182880">
              <a:lnSpc>
                <a:spcPct val="90000"/>
              </a:lnSpc>
              <a:buFont typeface="Arial" panose="020B0604020202020204" pitchFamily="34" charset="0"/>
              <a:buChar char="•"/>
            </a:pPr>
            <a:r>
              <a:rPr lang="en-US" altLang="en-US" sz="2000" dirty="0">
                <a:latin typeface="Calibri" panose="020F0502020204030204" pitchFamily="34" charset="0"/>
                <a:ea typeface="ＭＳ Ｐゴシック" charset="-128"/>
                <a:cs typeface="Calibri" panose="020F0502020204030204" pitchFamily="34" charset="0"/>
              </a:rPr>
              <a:t>Dynamics of action become more apparent to learner</a:t>
            </a:r>
          </a:p>
        </p:txBody>
      </p:sp>
      <p:sp>
        <p:nvSpPr>
          <p:cNvPr id="14" name="Rectangle 13">
            <a:extLst>
              <a:ext uri="{FF2B5EF4-FFF2-40B4-BE49-F238E27FC236}">
                <a16:creationId xmlns:a16="http://schemas.microsoft.com/office/drawing/2014/main" xmlns="" id="{C4C4E26D-FD8E-9D4E-A757-735C6E772E36}"/>
              </a:ext>
            </a:extLst>
          </p:cNvPr>
          <p:cNvSpPr/>
          <p:nvPr/>
        </p:nvSpPr>
        <p:spPr>
          <a:xfrm>
            <a:off x="8597851" y="2636778"/>
            <a:ext cx="2585058" cy="2031325"/>
          </a:xfrm>
          <a:prstGeom prst="rect">
            <a:avLst/>
          </a:prstGeom>
        </p:spPr>
        <p:txBody>
          <a:bodyPr wrap="square">
            <a:spAutoFit/>
          </a:bodyPr>
          <a:lstStyle/>
          <a:p>
            <a:pPr marL="182880" lvl="1" indent="-182880">
              <a:lnSpc>
                <a:spcPct val="90000"/>
              </a:lnSpc>
              <a:buFont typeface="Arial" panose="020B0604020202020204" pitchFamily="34" charset="0"/>
              <a:buChar char="•"/>
            </a:pPr>
            <a:r>
              <a:rPr lang="en-US" altLang="en-US" sz="2000" dirty="0">
                <a:latin typeface="Calibri" panose="020F0502020204030204" pitchFamily="34" charset="0"/>
                <a:ea typeface="ＭＳ Ｐゴシック" charset="-128"/>
                <a:cs typeface="Calibri" panose="020F0502020204030204" pitchFamily="34" charset="0"/>
              </a:rPr>
              <a:t>Learner continues to release and reorganize degrees of freedom.</a:t>
            </a:r>
          </a:p>
          <a:p>
            <a:pPr marL="182880" lvl="1" indent="-182880">
              <a:lnSpc>
                <a:spcPct val="90000"/>
              </a:lnSpc>
              <a:buFont typeface="Arial" panose="020B0604020202020204" pitchFamily="34" charset="0"/>
              <a:buChar char="•"/>
            </a:pPr>
            <a:r>
              <a:rPr lang="en-US" altLang="en-US" sz="2000" dirty="0">
                <a:latin typeface="Calibri" panose="020F0502020204030204" pitchFamily="34" charset="0"/>
                <a:ea typeface="ＭＳ Ｐゴシック" charset="-128"/>
                <a:cs typeface="Calibri" panose="020F0502020204030204" pitchFamily="34" charset="0"/>
              </a:rPr>
              <a:t>Also learns to exploit additional passive forces</a:t>
            </a:r>
          </a:p>
        </p:txBody>
      </p:sp>
    </p:spTree>
    <p:extLst>
      <p:ext uri="{BB962C8B-B14F-4D97-AF65-F5344CB8AC3E}">
        <p14:creationId xmlns:p14="http://schemas.microsoft.com/office/powerpoint/2010/main" val="754338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Line 3"/>
          <p:cNvSpPr>
            <a:spLocks noChangeShapeType="1"/>
          </p:cNvSpPr>
          <p:nvPr/>
        </p:nvSpPr>
        <p:spPr bwMode="auto">
          <a:xfrm>
            <a:off x="2692400" y="1253064"/>
            <a:ext cx="0" cy="411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099" name="Line 4"/>
          <p:cNvSpPr>
            <a:spLocks noChangeShapeType="1"/>
          </p:cNvSpPr>
          <p:nvPr/>
        </p:nvSpPr>
        <p:spPr bwMode="auto">
          <a:xfrm>
            <a:off x="2673350" y="5405964"/>
            <a:ext cx="6987886" cy="222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00" name="Text Box 5"/>
          <p:cNvSpPr txBox="1">
            <a:spLocks noChangeArrowheads="1"/>
          </p:cNvSpPr>
          <p:nvPr/>
        </p:nvSpPr>
        <p:spPr bwMode="auto">
          <a:xfrm rot="-5400000">
            <a:off x="1117087" y="3378726"/>
            <a:ext cx="23320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spcBef>
                <a:spcPct val="50000"/>
              </a:spcBef>
            </a:pPr>
            <a:r>
              <a:rPr lang="en-US" altLang="en-US" sz="2000" dirty="0">
                <a:solidFill>
                  <a:schemeClr val="accent5"/>
                </a:solidFill>
                <a:latin typeface="Arial" charset="0"/>
              </a:rPr>
              <a:t>Improvement</a:t>
            </a:r>
          </a:p>
        </p:txBody>
      </p:sp>
      <p:sp>
        <p:nvSpPr>
          <p:cNvPr id="628742" name="Freeform 6"/>
          <p:cNvSpPr>
            <a:spLocks/>
          </p:cNvSpPr>
          <p:nvPr/>
        </p:nvSpPr>
        <p:spPr bwMode="auto">
          <a:xfrm>
            <a:off x="2768600" y="1786464"/>
            <a:ext cx="5791200" cy="3581400"/>
          </a:xfrm>
          <a:custGeom>
            <a:avLst/>
            <a:gdLst>
              <a:gd name="T0" fmla="*/ 0 w 3648"/>
              <a:gd name="T1" fmla="*/ 2147483647 h 2256"/>
              <a:gd name="T2" fmla="*/ 2147483647 w 3648"/>
              <a:gd name="T3" fmla="*/ 2147483647 h 2256"/>
              <a:gd name="T4" fmla="*/ 2147483647 w 3648"/>
              <a:gd name="T5" fmla="*/ 2147483647 h 2256"/>
              <a:gd name="T6" fmla="*/ 2147483647 w 3648"/>
              <a:gd name="T7" fmla="*/ 2147483647 h 2256"/>
              <a:gd name="T8" fmla="*/ 2147483647 w 3648"/>
              <a:gd name="T9" fmla="*/ 0 h 2256"/>
              <a:gd name="T10" fmla="*/ 0 60000 65536"/>
              <a:gd name="T11" fmla="*/ 0 60000 65536"/>
              <a:gd name="T12" fmla="*/ 0 60000 65536"/>
              <a:gd name="T13" fmla="*/ 0 60000 65536"/>
              <a:gd name="T14" fmla="*/ 0 60000 65536"/>
              <a:gd name="T15" fmla="*/ 0 w 3648"/>
              <a:gd name="T16" fmla="*/ 0 h 2256"/>
              <a:gd name="T17" fmla="*/ 3648 w 3648"/>
              <a:gd name="T18" fmla="*/ 2256 h 2256"/>
            </a:gdLst>
            <a:ahLst/>
            <a:cxnLst>
              <a:cxn ang="T10">
                <a:pos x="T0" y="T1"/>
              </a:cxn>
              <a:cxn ang="T11">
                <a:pos x="T2" y="T3"/>
              </a:cxn>
              <a:cxn ang="T12">
                <a:pos x="T4" y="T5"/>
              </a:cxn>
              <a:cxn ang="T13">
                <a:pos x="T6" y="T7"/>
              </a:cxn>
              <a:cxn ang="T14">
                <a:pos x="T8" y="T9"/>
              </a:cxn>
            </a:cxnLst>
            <a:rect l="T15" t="T16" r="T17" b="T18"/>
            <a:pathLst>
              <a:path w="3648" h="2256">
                <a:moveTo>
                  <a:pt x="0" y="2256"/>
                </a:moveTo>
                <a:lnTo>
                  <a:pt x="240" y="1584"/>
                </a:lnTo>
                <a:lnTo>
                  <a:pt x="624" y="1008"/>
                </a:lnTo>
                <a:lnTo>
                  <a:pt x="2016" y="144"/>
                </a:lnTo>
                <a:lnTo>
                  <a:pt x="3648"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 name="Group 7"/>
          <p:cNvGrpSpPr>
            <a:grpSpLocks/>
          </p:cNvGrpSpPr>
          <p:nvPr/>
        </p:nvGrpSpPr>
        <p:grpSpPr bwMode="auto">
          <a:xfrm>
            <a:off x="2692400" y="3500964"/>
            <a:ext cx="3743325" cy="1905000"/>
            <a:chOff x="576" y="2472"/>
            <a:chExt cx="2358" cy="1200"/>
          </a:xfrm>
        </p:grpSpPr>
        <p:sp>
          <p:nvSpPr>
            <p:cNvPr id="132112" name="Oval 8"/>
            <p:cNvSpPr>
              <a:spLocks noChangeArrowheads="1"/>
            </p:cNvSpPr>
            <p:nvPr/>
          </p:nvSpPr>
          <p:spPr bwMode="auto">
            <a:xfrm rot="1725832">
              <a:off x="576" y="2472"/>
              <a:ext cx="768" cy="1200"/>
            </a:xfrm>
            <a:prstGeom prst="ellipse">
              <a:avLst/>
            </a:prstGeom>
            <a:noFill/>
            <a:ln w="76200">
              <a:solidFill>
                <a:srgbClr val="0066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endParaRPr lang="en-US" altLang="en-US" sz="1800">
                <a:latin typeface="Arial" charset="0"/>
              </a:endParaRPr>
            </a:p>
          </p:txBody>
        </p:sp>
        <p:sp>
          <p:nvSpPr>
            <p:cNvPr id="132113" name="Text Box 9"/>
            <p:cNvSpPr txBox="1">
              <a:spLocks noChangeArrowheads="1"/>
            </p:cNvSpPr>
            <p:nvPr/>
          </p:nvSpPr>
          <p:spPr bwMode="auto">
            <a:xfrm>
              <a:off x="1344" y="3072"/>
              <a:ext cx="159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50000"/>
                </a:spcBef>
              </a:pPr>
              <a:r>
                <a:rPr lang="en-US" altLang="en-US">
                  <a:latin typeface="Arial" charset="0"/>
                </a:rPr>
                <a:t>Cognitive/Novice</a:t>
              </a:r>
            </a:p>
          </p:txBody>
        </p:sp>
      </p:grpSp>
      <p:grpSp>
        <p:nvGrpSpPr>
          <p:cNvPr id="3" name="Group 10"/>
          <p:cNvGrpSpPr>
            <a:grpSpLocks/>
          </p:cNvGrpSpPr>
          <p:nvPr/>
        </p:nvGrpSpPr>
        <p:grpSpPr bwMode="auto">
          <a:xfrm>
            <a:off x="3530600" y="1938865"/>
            <a:ext cx="5553075" cy="1833563"/>
            <a:chOff x="1104" y="1488"/>
            <a:chExt cx="3498" cy="1155"/>
          </a:xfrm>
        </p:grpSpPr>
        <p:sp>
          <p:nvSpPr>
            <p:cNvPr id="132110" name="Oval 11"/>
            <p:cNvSpPr>
              <a:spLocks noChangeArrowheads="1"/>
            </p:cNvSpPr>
            <p:nvPr/>
          </p:nvSpPr>
          <p:spPr bwMode="auto">
            <a:xfrm rot="-1686224">
              <a:off x="1104" y="1488"/>
              <a:ext cx="1680" cy="1056"/>
            </a:xfrm>
            <a:prstGeom prst="ellipse">
              <a:avLst/>
            </a:prstGeom>
            <a:noFill/>
            <a:ln w="76200">
              <a:solidFill>
                <a:srgbClr val="7FCDC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endParaRPr lang="en-US" altLang="en-US" sz="1800">
                <a:latin typeface="Arial" charset="0"/>
              </a:endParaRPr>
            </a:p>
          </p:txBody>
        </p:sp>
        <p:sp>
          <p:nvSpPr>
            <p:cNvPr id="132111" name="Text Box 12"/>
            <p:cNvSpPr txBox="1">
              <a:spLocks noChangeArrowheads="1"/>
            </p:cNvSpPr>
            <p:nvPr/>
          </p:nvSpPr>
          <p:spPr bwMode="auto">
            <a:xfrm>
              <a:off x="2352" y="2352"/>
              <a:ext cx="22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50000"/>
                </a:spcBef>
              </a:pPr>
              <a:r>
                <a:rPr lang="en-US" altLang="en-US">
                  <a:latin typeface="Arial" charset="0"/>
                </a:rPr>
                <a:t>Associative/Intermediate</a:t>
              </a:r>
            </a:p>
          </p:txBody>
        </p:sp>
      </p:grpSp>
      <p:grpSp>
        <p:nvGrpSpPr>
          <p:cNvPr id="4" name="Group 13"/>
          <p:cNvGrpSpPr>
            <a:grpSpLocks/>
          </p:cNvGrpSpPr>
          <p:nvPr/>
        </p:nvGrpSpPr>
        <p:grpSpPr bwMode="auto">
          <a:xfrm>
            <a:off x="6045200" y="1329264"/>
            <a:ext cx="4392613" cy="1528763"/>
            <a:chOff x="2688" y="1104"/>
            <a:chExt cx="2767" cy="963"/>
          </a:xfrm>
        </p:grpSpPr>
        <p:sp>
          <p:nvSpPr>
            <p:cNvPr id="132108" name="Oval 14"/>
            <p:cNvSpPr>
              <a:spLocks noChangeArrowheads="1"/>
            </p:cNvSpPr>
            <p:nvPr/>
          </p:nvSpPr>
          <p:spPr bwMode="auto">
            <a:xfrm>
              <a:off x="2688" y="1104"/>
              <a:ext cx="1632" cy="672"/>
            </a:xfrm>
            <a:prstGeom prst="ellipse">
              <a:avLst/>
            </a:prstGeom>
            <a:noFill/>
            <a:ln w="762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endParaRPr lang="en-US" altLang="en-US" sz="1800">
                <a:latin typeface="Arial" charset="0"/>
              </a:endParaRPr>
            </a:p>
          </p:txBody>
        </p:sp>
        <p:sp>
          <p:nvSpPr>
            <p:cNvPr id="132109" name="Text Box 15"/>
            <p:cNvSpPr txBox="1">
              <a:spLocks noChangeArrowheads="1"/>
            </p:cNvSpPr>
            <p:nvPr/>
          </p:nvSpPr>
          <p:spPr bwMode="auto">
            <a:xfrm>
              <a:off x="3558" y="1776"/>
              <a:ext cx="18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50000"/>
                </a:spcBef>
              </a:pPr>
              <a:r>
                <a:rPr lang="en-US" altLang="en-US">
                  <a:latin typeface="Arial" charset="0"/>
                </a:rPr>
                <a:t>Autonomous/Expert</a:t>
              </a:r>
            </a:p>
          </p:txBody>
        </p:sp>
      </p:grpSp>
      <p:sp>
        <p:nvSpPr>
          <p:cNvPr id="132105" name="Text Box 16"/>
          <p:cNvSpPr txBox="1">
            <a:spLocks noChangeArrowheads="1"/>
          </p:cNvSpPr>
          <p:nvPr/>
        </p:nvSpPr>
        <p:spPr bwMode="auto">
          <a:xfrm>
            <a:off x="5858933" y="5634032"/>
            <a:ext cx="863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50000"/>
              </a:spcBef>
            </a:pPr>
            <a:r>
              <a:rPr lang="en-US" altLang="en-US" sz="2000" dirty="0">
                <a:solidFill>
                  <a:srgbClr val="92D050"/>
                </a:solidFill>
                <a:latin typeface="Arial" charset="0"/>
              </a:rPr>
              <a:t>Time</a:t>
            </a:r>
          </a:p>
        </p:txBody>
      </p:sp>
      <p:sp>
        <p:nvSpPr>
          <p:cNvPr id="132106" name="Line 17"/>
          <p:cNvSpPr>
            <a:spLocks noChangeShapeType="1"/>
          </p:cNvSpPr>
          <p:nvPr/>
        </p:nvSpPr>
        <p:spPr bwMode="auto">
          <a:xfrm>
            <a:off x="4309533" y="5596465"/>
            <a:ext cx="3962400" cy="0"/>
          </a:xfrm>
          <a:prstGeom prst="line">
            <a:avLst/>
          </a:prstGeom>
          <a:noFill/>
          <a:ln w="25400">
            <a:solidFill>
              <a:schemeClr val="accent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2107" name="Line 18"/>
          <p:cNvSpPr>
            <a:spLocks noChangeShapeType="1"/>
          </p:cNvSpPr>
          <p:nvPr/>
        </p:nvSpPr>
        <p:spPr bwMode="auto">
          <a:xfrm flipV="1">
            <a:off x="2463800" y="1557864"/>
            <a:ext cx="0" cy="3810000"/>
          </a:xfrm>
          <a:prstGeom prst="line">
            <a:avLst/>
          </a:prstGeom>
          <a:noFill/>
          <a:ln w="25400">
            <a:solidFill>
              <a:schemeClr val="accent5"/>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solidFill>
            </a:endParaRPr>
          </a:p>
        </p:txBody>
      </p:sp>
      <p:sp>
        <p:nvSpPr>
          <p:cNvPr id="23" name="Rectangle 22">
            <a:extLst>
              <a:ext uri="{FF2B5EF4-FFF2-40B4-BE49-F238E27FC236}">
                <a16:creationId xmlns:a16="http://schemas.microsoft.com/office/drawing/2014/main" xmlns="" id="{7F7DE225-A8B0-4743-9ED6-155EC6D94999}"/>
              </a:ext>
            </a:extLst>
          </p:cNvPr>
          <p:cNvSpPr/>
          <p:nvPr/>
        </p:nvSpPr>
        <p:spPr>
          <a:xfrm>
            <a:off x="731520" y="640080"/>
            <a:ext cx="10808839" cy="584775"/>
          </a:xfrm>
          <a:prstGeom prst="rect">
            <a:avLst/>
          </a:prstGeom>
        </p:spPr>
        <p:txBody>
          <a:bodyPr wrap="square">
            <a:spAutoFit/>
          </a:bodyPr>
          <a:lstStyle/>
          <a:p>
            <a:r>
              <a:rPr lang="en-US" sz="3200" dirty="0">
                <a:solidFill>
                  <a:srgbClr val="FFC000"/>
                </a:solidFill>
                <a:latin typeface="Calibri" panose="020F0502020204030204" pitchFamily="34" charset="0"/>
                <a:cs typeface="Calibri" panose="020F0502020204030204" pitchFamily="34" charset="0"/>
              </a:rPr>
              <a:t>Improvement in Motor Learning</a:t>
            </a:r>
            <a:endParaRPr lang="en-US" sz="3200" dirty="0">
              <a:solidFill>
                <a:srgbClr val="FFC000"/>
              </a:solidFill>
            </a:endParaRPr>
          </a:p>
        </p:txBody>
      </p:sp>
    </p:spTree>
    <p:extLst>
      <p:ext uri="{BB962C8B-B14F-4D97-AF65-F5344CB8AC3E}">
        <p14:creationId xmlns:p14="http://schemas.microsoft.com/office/powerpoint/2010/main" val="30478817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9" name="Rectangle 3"/>
          <p:cNvSpPr>
            <a:spLocks noChangeArrowheads="1"/>
          </p:cNvSpPr>
          <p:nvPr/>
        </p:nvSpPr>
        <p:spPr bwMode="auto">
          <a:xfrm>
            <a:off x="1687176" y="2559242"/>
            <a:ext cx="3325091" cy="1981199"/>
          </a:xfrm>
          <a:prstGeom prst="rect">
            <a:avLst/>
          </a:prstGeom>
          <a:solidFill>
            <a:srgbClr val="0070C0"/>
          </a:solidFill>
          <a:ln w="38100">
            <a:noFill/>
            <a:miter lim="800000"/>
            <a:headEnd/>
            <a:tailEnd/>
          </a:ln>
          <a:scene3d>
            <a:camera prst="orthographicFront"/>
            <a:lightRig rig="threePt" dir="t"/>
          </a:scene3d>
          <a:sp3d>
            <a:bevelT w="165100" prst="coolSlant"/>
          </a:sp3d>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a:r>
              <a:rPr lang="en-US" altLang="en-US" b="1" dirty="0">
                <a:latin typeface="Helvetica" charset="0"/>
              </a:rPr>
              <a:t>Initial Stage:</a:t>
            </a:r>
          </a:p>
          <a:p>
            <a:pPr algn="ctr"/>
            <a:r>
              <a:rPr lang="ja-JP" altLang="en-US" sz="2800" b="1">
                <a:latin typeface="Helvetica" charset="0"/>
              </a:rPr>
              <a:t>“</a:t>
            </a:r>
            <a:r>
              <a:rPr lang="en-US" altLang="ja-JP" sz="2800" b="1" dirty="0">
                <a:latin typeface="Helvetica" charset="0"/>
              </a:rPr>
              <a:t>Getting the </a:t>
            </a:r>
            <a:r>
              <a:rPr lang="en-US" altLang="en-US" sz="2800" b="1" dirty="0">
                <a:latin typeface="Helvetica" charset="0"/>
              </a:rPr>
              <a:t>Idea</a:t>
            </a:r>
            <a:r>
              <a:rPr lang="ja-JP" altLang="en-US" sz="2800" b="1">
                <a:latin typeface="Helvetica" charset="0"/>
              </a:rPr>
              <a:t>”</a:t>
            </a:r>
            <a:endParaRPr lang="en-US" altLang="en-US" sz="2800" b="1" dirty="0">
              <a:latin typeface="Helvetica" charset="0"/>
            </a:endParaRPr>
          </a:p>
        </p:txBody>
      </p:sp>
      <p:sp>
        <p:nvSpPr>
          <p:cNvPr id="260100" name="Rectangle 4"/>
          <p:cNvSpPr>
            <a:spLocks noChangeArrowheads="1"/>
          </p:cNvSpPr>
          <p:nvPr/>
        </p:nvSpPr>
        <p:spPr bwMode="auto">
          <a:xfrm>
            <a:off x="7679267" y="2074333"/>
            <a:ext cx="2743200" cy="1295400"/>
          </a:xfrm>
          <a:prstGeom prst="rect">
            <a:avLst/>
          </a:prstGeom>
          <a:solidFill>
            <a:srgbClr val="0070C0"/>
          </a:solidFill>
          <a:ln w="38100">
            <a:noFill/>
            <a:miter lim="800000"/>
            <a:headEnd/>
            <a:tailEnd/>
          </a:ln>
          <a:scene3d>
            <a:camera prst="orthographicFront"/>
            <a:lightRig rig="threePt" dir="t"/>
          </a:scene3d>
          <a:sp3d>
            <a:bevelT w="165100" prst="coolSlant"/>
          </a:sp3d>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a:r>
              <a:rPr lang="en-US" altLang="en-US" b="1" dirty="0">
                <a:latin typeface="Helvetica" charset="0"/>
              </a:rPr>
              <a:t>Later Stage:</a:t>
            </a:r>
          </a:p>
          <a:p>
            <a:pPr algn="ctr"/>
            <a:r>
              <a:rPr lang="en-US" altLang="en-US" sz="2800" b="1" i="1" dirty="0">
                <a:latin typeface="Helvetica" charset="0"/>
              </a:rPr>
              <a:t>Fixation</a:t>
            </a:r>
          </a:p>
        </p:txBody>
      </p:sp>
      <p:sp>
        <p:nvSpPr>
          <p:cNvPr id="260101" name="Rectangle 5"/>
          <p:cNvSpPr>
            <a:spLocks noChangeArrowheads="1"/>
          </p:cNvSpPr>
          <p:nvPr/>
        </p:nvSpPr>
        <p:spPr bwMode="auto">
          <a:xfrm>
            <a:off x="7679267" y="3750733"/>
            <a:ext cx="2743200" cy="1295400"/>
          </a:xfrm>
          <a:prstGeom prst="rect">
            <a:avLst/>
          </a:prstGeom>
          <a:solidFill>
            <a:srgbClr val="0070C0"/>
          </a:solidFill>
          <a:ln w="38100">
            <a:noFill/>
            <a:miter lim="800000"/>
            <a:headEnd/>
            <a:tailEnd/>
          </a:ln>
          <a:scene3d>
            <a:camera prst="orthographicFront"/>
            <a:lightRig rig="threePt" dir="t"/>
          </a:scene3d>
          <a:sp3d>
            <a:bevelT w="165100" prst="coolSlant"/>
          </a:sp3d>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a:r>
              <a:rPr lang="en-US" altLang="en-US" b="1" dirty="0">
                <a:latin typeface="Helvetica" charset="0"/>
              </a:rPr>
              <a:t>Later Stage:</a:t>
            </a:r>
          </a:p>
          <a:p>
            <a:pPr algn="ctr"/>
            <a:r>
              <a:rPr lang="en-US" altLang="en-US" sz="2800" b="1" i="1" dirty="0">
                <a:latin typeface="Helvetica" charset="0"/>
              </a:rPr>
              <a:t>Diversification</a:t>
            </a:r>
          </a:p>
        </p:txBody>
      </p:sp>
      <p:sp>
        <p:nvSpPr>
          <p:cNvPr id="260102" name="AutoShape 6"/>
          <p:cNvSpPr>
            <a:spLocks noChangeArrowheads="1"/>
          </p:cNvSpPr>
          <p:nvPr/>
        </p:nvSpPr>
        <p:spPr bwMode="auto">
          <a:xfrm>
            <a:off x="5240867" y="2455333"/>
            <a:ext cx="2209800" cy="762000"/>
          </a:xfrm>
          <a:prstGeom prst="rightArrow">
            <a:avLst>
              <a:gd name="adj1" fmla="val 50000"/>
              <a:gd name="adj2" fmla="val 72500"/>
            </a:avLst>
          </a:prstGeom>
          <a:solidFill>
            <a:schemeClr val="accent2">
              <a:lumMod val="75000"/>
            </a:schemeClr>
          </a:solidFill>
          <a:ln w="12700">
            <a:noFill/>
            <a:miter lim="800000"/>
            <a:headEnd/>
            <a:tailEnd/>
          </a:ln>
          <a:scene3d>
            <a:camera prst="orthographicFront"/>
            <a:lightRig rig="threePt" dir="t"/>
          </a:scene3d>
          <a:sp3d>
            <a:bevelT w="165100" prst="coolSlant"/>
          </a:sp3d>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a:r>
              <a:rPr lang="en-US" altLang="en-US" dirty="0">
                <a:latin typeface="Helvetica" charset="0"/>
              </a:rPr>
              <a:t>closed</a:t>
            </a:r>
          </a:p>
        </p:txBody>
      </p:sp>
      <p:sp>
        <p:nvSpPr>
          <p:cNvPr id="260103" name="AutoShape 7"/>
          <p:cNvSpPr>
            <a:spLocks noChangeArrowheads="1"/>
          </p:cNvSpPr>
          <p:nvPr/>
        </p:nvSpPr>
        <p:spPr bwMode="auto">
          <a:xfrm>
            <a:off x="5240867" y="3903133"/>
            <a:ext cx="2209800" cy="762000"/>
          </a:xfrm>
          <a:prstGeom prst="rightArrow">
            <a:avLst>
              <a:gd name="adj1" fmla="val 50000"/>
              <a:gd name="adj2" fmla="val 82500"/>
            </a:avLst>
          </a:prstGeom>
          <a:solidFill>
            <a:schemeClr val="accent6"/>
          </a:solidFill>
          <a:ln w="12700">
            <a:noFill/>
            <a:miter lim="800000"/>
            <a:headEnd/>
            <a:tailEnd/>
          </a:ln>
          <a:scene3d>
            <a:camera prst="orthographicFront"/>
            <a:lightRig rig="threePt" dir="t"/>
          </a:scene3d>
          <a:sp3d>
            <a:bevelT w="165100" prst="coolSlant"/>
          </a:sp3d>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a:r>
              <a:rPr lang="en-US" altLang="en-US">
                <a:latin typeface="Helvetica" charset="0"/>
              </a:rPr>
              <a:t>open</a:t>
            </a:r>
          </a:p>
        </p:txBody>
      </p:sp>
      <p:sp>
        <p:nvSpPr>
          <p:cNvPr id="135175" name="Text Box 9"/>
          <p:cNvSpPr txBox="1">
            <a:spLocks noChangeArrowheads="1"/>
          </p:cNvSpPr>
          <p:nvPr/>
        </p:nvSpPr>
        <p:spPr bwMode="auto">
          <a:xfrm>
            <a:off x="5240867" y="4893733"/>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50000"/>
              </a:spcBef>
            </a:pPr>
            <a:r>
              <a:rPr lang="en-US" altLang="en-US" b="1">
                <a:latin typeface="Arial" charset="0"/>
              </a:rPr>
              <a:t>Environment</a:t>
            </a:r>
          </a:p>
        </p:txBody>
      </p:sp>
      <p:sp>
        <p:nvSpPr>
          <p:cNvPr id="9" name="Rectangle 8">
            <a:extLst>
              <a:ext uri="{FF2B5EF4-FFF2-40B4-BE49-F238E27FC236}">
                <a16:creationId xmlns:a16="http://schemas.microsoft.com/office/drawing/2014/main" xmlns="" id="{F1034F86-0F00-224E-8A78-03456D60FAE5}"/>
              </a:ext>
            </a:extLst>
          </p:cNvPr>
          <p:cNvSpPr/>
          <p:nvPr/>
        </p:nvSpPr>
        <p:spPr>
          <a:xfrm>
            <a:off x="731520" y="640080"/>
            <a:ext cx="10808839" cy="584775"/>
          </a:xfrm>
          <a:prstGeom prst="rect">
            <a:avLst/>
          </a:prstGeom>
        </p:spPr>
        <p:txBody>
          <a:bodyPr wrap="square">
            <a:spAutoFit/>
          </a:bodyPr>
          <a:lstStyle/>
          <a:p>
            <a:r>
              <a:rPr lang="en-US" sz="3200" dirty="0">
                <a:solidFill>
                  <a:srgbClr val="FFC000"/>
                </a:solidFill>
                <a:latin typeface="Calibri" panose="020F0502020204030204" pitchFamily="34" charset="0"/>
                <a:cs typeface="Calibri" panose="020F0502020204030204" pitchFamily="34" charset="0"/>
              </a:rPr>
              <a:t>Gentile’s 2-Stage Model</a:t>
            </a:r>
            <a:endParaRPr lang="en-US" sz="3200" dirty="0">
              <a:solidFill>
                <a:srgbClr val="FFC000"/>
              </a:solidFill>
            </a:endParaRPr>
          </a:p>
        </p:txBody>
      </p:sp>
    </p:spTree>
    <p:extLst>
      <p:ext uri="{BB962C8B-B14F-4D97-AF65-F5344CB8AC3E}">
        <p14:creationId xmlns:p14="http://schemas.microsoft.com/office/powerpoint/2010/main" val="26322812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F1034F86-0F00-224E-8A78-03456D60FAE5}"/>
              </a:ext>
            </a:extLst>
          </p:cNvPr>
          <p:cNvSpPr/>
          <p:nvPr/>
        </p:nvSpPr>
        <p:spPr>
          <a:xfrm>
            <a:off x="731520" y="640080"/>
            <a:ext cx="10808839" cy="584775"/>
          </a:xfrm>
          <a:prstGeom prst="rect">
            <a:avLst/>
          </a:prstGeom>
        </p:spPr>
        <p:txBody>
          <a:bodyPr wrap="square">
            <a:spAutoFit/>
          </a:bodyPr>
          <a:lstStyle/>
          <a:p>
            <a:r>
              <a:rPr lang="en-US" sz="3200" dirty="0">
                <a:solidFill>
                  <a:srgbClr val="FFC000"/>
                </a:solidFill>
                <a:latin typeface="Calibri" panose="020F0502020204030204" pitchFamily="34" charset="0"/>
                <a:cs typeface="Calibri" panose="020F0502020204030204" pitchFamily="34" charset="0"/>
              </a:rPr>
              <a:t>Gentile’s 2-Stage Model</a:t>
            </a:r>
            <a:endParaRPr lang="en-US" sz="3200" dirty="0">
              <a:solidFill>
                <a:srgbClr val="FFC000"/>
              </a:solidFill>
            </a:endParaRPr>
          </a:p>
        </p:txBody>
      </p:sp>
      <p:sp>
        <p:nvSpPr>
          <p:cNvPr id="2" name="TextBox 1">
            <a:extLst>
              <a:ext uri="{FF2B5EF4-FFF2-40B4-BE49-F238E27FC236}">
                <a16:creationId xmlns:a16="http://schemas.microsoft.com/office/drawing/2014/main" xmlns="" id="{F1153DD3-6534-B34D-A74C-1BDADC6C0394}"/>
              </a:ext>
            </a:extLst>
          </p:cNvPr>
          <p:cNvSpPr txBox="1"/>
          <p:nvPr/>
        </p:nvSpPr>
        <p:spPr>
          <a:xfrm>
            <a:off x="731520" y="1224855"/>
            <a:ext cx="10808839" cy="3785652"/>
          </a:xfrm>
          <a:prstGeom prst="rect">
            <a:avLst/>
          </a:prstGeom>
          <a:noFill/>
        </p:spPr>
        <p:txBody>
          <a:bodyPr wrap="square" rtlCol="0">
            <a:spAutoFit/>
          </a:bodyPr>
          <a:lstStyle/>
          <a:p>
            <a:pPr marL="342900" indent="-342900">
              <a:buFont typeface="Arial" panose="020B0604020202020204" pitchFamily="34" charset="0"/>
              <a:buChar char="•"/>
            </a:pPr>
            <a:r>
              <a:rPr lang="ja-JP" altLang="en-US" sz="2400" b="1">
                <a:latin typeface="Calibri" panose="020F0502020204030204" pitchFamily="34" charset="0"/>
                <a:ea typeface="ＭＳ Ｐゴシック" charset="-128"/>
                <a:cs typeface="Calibri" panose="020F0502020204030204" pitchFamily="34" charset="0"/>
              </a:rPr>
              <a:t>“</a:t>
            </a:r>
            <a:r>
              <a:rPr lang="en-US" altLang="ja-JP" sz="2400" b="1" dirty="0">
                <a:latin typeface="Calibri" panose="020F0502020204030204" pitchFamily="34" charset="0"/>
                <a:ea typeface="ＭＳ Ｐゴシック" charset="-128"/>
                <a:cs typeface="Calibri" panose="020F0502020204030204" pitchFamily="34" charset="0"/>
              </a:rPr>
              <a:t>Getting the idea</a:t>
            </a:r>
            <a:r>
              <a:rPr lang="ja-JP" altLang="en-US" sz="2400" b="1">
                <a:latin typeface="Calibri" panose="020F0502020204030204" pitchFamily="34" charset="0"/>
                <a:ea typeface="ＭＳ Ｐゴシック" charset="-128"/>
                <a:cs typeface="Calibri" panose="020F0502020204030204" pitchFamily="34" charset="0"/>
              </a:rPr>
              <a:t>”</a:t>
            </a:r>
            <a:r>
              <a:rPr lang="en-US" altLang="ja-JP" sz="2400" b="1" dirty="0">
                <a:latin typeface="Calibri" panose="020F0502020204030204" pitchFamily="34" charset="0"/>
                <a:ea typeface="ＭＳ Ｐゴシック" charset="-128"/>
                <a:cs typeface="Calibri" panose="020F0502020204030204" pitchFamily="34" charset="0"/>
              </a:rPr>
              <a:t> of the movement</a:t>
            </a:r>
          </a:p>
          <a:p>
            <a:pPr marL="800100" lvl="1" indent="-342900">
              <a:buFont typeface="Arial" panose="020B0604020202020204" pitchFamily="34" charset="0"/>
              <a:buChar char="•"/>
            </a:pPr>
            <a:r>
              <a:rPr lang="en-US" altLang="en-US" sz="2000" dirty="0">
                <a:latin typeface="Calibri" panose="020F0502020204030204" pitchFamily="34" charset="0"/>
                <a:ea typeface="ＭＳ Ｐゴシック" charset="-128"/>
                <a:cs typeface="Calibri" panose="020F0502020204030204" pitchFamily="34" charset="0"/>
              </a:rPr>
              <a:t>Getting the general concept of what must be done to accomplish the goal of the skill</a:t>
            </a:r>
          </a:p>
          <a:p>
            <a:pPr marL="1257300" lvl="2" indent="-342900">
              <a:buFont typeface="Arial" panose="020B0604020202020204" pitchFamily="34" charset="0"/>
              <a:buChar char="•"/>
            </a:pPr>
            <a:r>
              <a:rPr lang="en-US" altLang="en-US" sz="2000" dirty="0">
                <a:latin typeface="Calibri" panose="020F0502020204030204" pitchFamily="34" charset="0"/>
                <a:ea typeface="ＭＳ Ｐゴシック" charset="-128"/>
                <a:cs typeface="Calibri" panose="020F0502020204030204" pitchFamily="34" charset="0"/>
              </a:rPr>
              <a:t>Learner must establish relevant and non-relevant stimuli</a:t>
            </a:r>
          </a:p>
          <a:p>
            <a:pPr marL="1257300" lvl="2" indent="-342900">
              <a:buFont typeface="Arial" panose="020B0604020202020204" pitchFamily="34" charset="0"/>
              <a:buChar char="•"/>
            </a:pPr>
            <a:r>
              <a:rPr lang="en-US" altLang="en-US" sz="2000" dirty="0">
                <a:latin typeface="Calibri" panose="020F0502020204030204" pitchFamily="34" charset="0"/>
                <a:ea typeface="ＭＳ Ｐゴシック" charset="-128"/>
                <a:cs typeface="Calibri" panose="020F0502020204030204" pitchFamily="34" charset="0"/>
              </a:rPr>
              <a:t>Learner must establish most appropriate movement pattern to effectively attain the goal of the skill—involves coordination</a:t>
            </a:r>
          </a:p>
          <a:p>
            <a:pPr marL="342900" indent="-342900">
              <a:buFont typeface="Arial" panose="020B0604020202020204" pitchFamily="34" charset="0"/>
              <a:buChar char="•"/>
            </a:pPr>
            <a:endParaRPr lang="en-US" altLang="en-US" sz="2400" b="1" dirty="0">
              <a:latin typeface="Calibri" panose="020F0502020204030204" pitchFamily="34" charset="0"/>
              <a:ea typeface="ＭＳ Ｐゴシック" charset="-128"/>
              <a:cs typeface="Calibri" panose="020F0502020204030204" pitchFamily="34" charset="0"/>
            </a:endParaRPr>
          </a:p>
          <a:p>
            <a:pPr marL="342900" indent="-342900">
              <a:buFont typeface="Arial" panose="020B0604020202020204" pitchFamily="34" charset="0"/>
              <a:buChar char="•"/>
            </a:pPr>
            <a:r>
              <a:rPr lang="en-US" altLang="en-US" sz="2400" b="1" dirty="0">
                <a:latin typeface="Calibri" panose="020F0502020204030204" pitchFamily="34" charset="0"/>
                <a:ea typeface="ＭＳ Ｐゴシック" charset="-128"/>
                <a:cs typeface="Calibri" panose="020F0502020204030204" pitchFamily="34" charset="0"/>
              </a:rPr>
              <a:t>Later Stage: Fixation </a:t>
            </a:r>
            <a:r>
              <a:rPr lang="en-US" altLang="en-US" sz="2400" dirty="0">
                <a:latin typeface="Calibri" panose="020F0502020204030204" pitchFamily="34" charset="0"/>
                <a:ea typeface="ＭＳ Ｐゴシック" charset="-128"/>
                <a:cs typeface="Calibri" panose="020F0502020204030204" pitchFamily="34" charset="0"/>
              </a:rPr>
              <a:t>(closed skill requirement)</a:t>
            </a:r>
          </a:p>
          <a:p>
            <a:pPr marL="800100" lvl="1" indent="-342900">
              <a:buFont typeface="Arial" panose="020B0604020202020204" pitchFamily="34" charset="0"/>
              <a:buChar char="•"/>
            </a:pPr>
            <a:r>
              <a:rPr lang="en-US" altLang="en-US" sz="2000" dirty="0">
                <a:latin typeface="Calibri" panose="020F0502020204030204" pitchFamily="34" charset="0"/>
                <a:ea typeface="ＭＳ Ｐゴシック" charset="-128"/>
                <a:cs typeface="Calibri" panose="020F0502020204030204" pitchFamily="34" charset="0"/>
              </a:rPr>
              <a:t>Learner must develop capability of doing what is needed-regardless of the situation—adapting</a:t>
            </a:r>
          </a:p>
          <a:p>
            <a:pPr marL="342900" indent="-342900">
              <a:buFont typeface="Arial" panose="020B0604020202020204" pitchFamily="34" charset="0"/>
              <a:buChar char="•"/>
            </a:pPr>
            <a:endParaRPr lang="en-US" altLang="en-US" sz="2400" b="1" dirty="0">
              <a:latin typeface="Calibri" panose="020F0502020204030204" pitchFamily="34" charset="0"/>
              <a:ea typeface="ＭＳ Ｐゴシック" charset="-128"/>
              <a:cs typeface="Calibri" panose="020F0502020204030204" pitchFamily="34" charset="0"/>
            </a:endParaRPr>
          </a:p>
          <a:p>
            <a:pPr marL="342900" indent="-342900">
              <a:buFont typeface="Arial" panose="020B0604020202020204" pitchFamily="34" charset="0"/>
              <a:buChar char="•"/>
            </a:pPr>
            <a:r>
              <a:rPr lang="en-US" altLang="en-US" sz="2400" b="1" dirty="0">
                <a:latin typeface="Calibri" panose="020F0502020204030204" pitchFamily="34" charset="0"/>
                <a:ea typeface="ＭＳ Ｐゴシック" charset="-128"/>
                <a:cs typeface="Calibri" panose="020F0502020204030204" pitchFamily="34" charset="0"/>
              </a:rPr>
              <a:t>Later Stage: Diversification </a:t>
            </a:r>
            <a:r>
              <a:rPr lang="en-US" altLang="en-US" sz="2400" dirty="0">
                <a:latin typeface="Calibri" panose="020F0502020204030204" pitchFamily="34" charset="0"/>
                <a:ea typeface="ＭＳ Ｐゴシック" charset="-128"/>
                <a:cs typeface="Calibri" panose="020F0502020204030204" pitchFamily="34" charset="0"/>
              </a:rPr>
              <a:t>(open skill performance)</a:t>
            </a:r>
          </a:p>
          <a:p>
            <a:pPr marL="800100" lvl="1" indent="-342900">
              <a:buFont typeface="Arial" panose="020B0604020202020204" pitchFamily="34" charset="0"/>
              <a:buChar char="•"/>
            </a:pPr>
            <a:r>
              <a:rPr lang="en-US" altLang="en-US" sz="2000" dirty="0">
                <a:latin typeface="Calibri" panose="020F0502020204030204" pitchFamily="34" charset="0"/>
                <a:ea typeface="ＭＳ Ｐゴシック" charset="-128"/>
                <a:cs typeface="Calibri" panose="020F0502020204030204" pitchFamily="34" charset="0"/>
              </a:rPr>
              <a:t>Learner must develop a larger repertoire of motor patterns</a:t>
            </a:r>
          </a:p>
        </p:txBody>
      </p:sp>
    </p:spTree>
    <p:extLst>
      <p:ext uri="{BB962C8B-B14F-4D97-AF65-F5344CB8AC3E}">
        <p14:creationId xmlns:p14="http://schemas.microsoft.com/office/powerpoint/2010/main" val="9829798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dissolve">
                                      <p:cBhvr>
                                        <p:cTn id="7" dur="500"/>
                                        <p:tgtEl>
                                          <p:spTgt spid="2">
                                            <p:txEl>
                                              <p:pRg st="5" end="5"/>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dissolve">
                                      <p:cBhvr>
                                        <p:cTn id="10" dur="500"/>
                                        <p:tgtEl>
                                          <p:spTgt spid="2">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animEffect transition="in" filter="dissolve">
                                      <p:cBhvr>
                                        <p:cTn id="15" dur="500"/>
                                        <p:tgtEl>
                                          <p:spTgt spid="2">
                                            <p:txEl>
                                              <p:pRg st="8" end="8"/>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2">
                                            <p:txEl>
                                              <p:pRg st="9" end="9"/>
                                            </p:txEl>
                                          </p:spTgt>
                                        </p:tgtEl>
                                        <p:attrNameLst>
                                          <p:attrName>style.visibility</p:attrName>
                                        </p:attrNameLst>
                                      </p:cBhvr>
                                      <p:to>
                                        <p:strVal val="visible"/>
                                      </p:to>
                                    </p:set>
                                    <p:animEffect transition="in" filter="dissolve">
                                      <p:cBhvr>
                                        <p:cTn id="18"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43363" name="Picture 2" descr="Snowboarding 101: All About The Snowboard Lengt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6431" y="2954769"/>
            <a:ext cx="2557597" cy="2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64" name="Picture 4" descr="Awesome Surfing Sport wallpapers">
            <a:hlinkClick r:id="rId4" tooltip="Awesome Surfing Sport wallpapers"/>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639"/>
          <a:stretch/>
        </p:blipFill>
        <p:spPr bwMode="auto">
          <a:xfrm>
            <a:off x="9034028" y="2954768"/>
            <a:ext cx="2829756" cy="2557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65" name="Picture 4" descr="http://mikesmixrecoverydrink.com/wp-content/uploads/2012/01/2012.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1519" y="2715660"/>
            <a:ext cx="2633422" cy="305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329351" y="1873878"/>
            <a:ext cx="3147080" cy="1231106"/>
          </a:xfrm>
          <a:prstGeom prst="rect">
            <a:avLst/>
          </a:prstGeom>
          <a:noFill/>
        </p:spPr>
        <p:txBody>
          <a:bodyPr wrap="none" rtlCol="0">
            <a:spAutoFit/>
          </a:bodyPr>
          <a:lstStyle/>
          <a:p>
            <a:pPr algn="ctr"/>
            <a:r>
              <a:rPr lang="en-US" altLang="en-US" sz="2400" b="1" dirty="0">
                <a:ea typeface="ＭＳ Ｐゴシック" charset="-128"/>
              </a:rPr>
              <a:t>FIXATION</a:t>
            </a:r>
          </a:p>
          <a:p>
            <a:pPr algn="ctr"/>
            <a:r>
              <a:rPr lang="en-US" altLang="en-US" sz="2200" dirty="0">
                <a:latin typeface="Calibri" charset="0"/>
                <a:ea typeface="ＭＳ Ｐゴシック" charset="-128"/>
              </a:rPr>
              <a:t>Skills refined and retained</a:t>
            </a:r>
          </a:p>
          <a:p>
            <a:pPr algn="ctr"/>
            <a:endParaRPr lang="en-US" sz="2800" dirty="0"/>
          </a:p>
        </p:txBody>
      </p:sp>
      <p:sp>
        <p:nvSpPr>
          <p:cNvPr id="8" name="TextBox 7"/>
          <p:cNvSpPr txBox="1"/>
          <p:nvPr/>
        </p:nvSpPr>
        <p:spPr>
          <a:xfrm>
            <a:off x="7664842" y="1873878"/>
            <a:ext cx="2746778" cy="800219"/>
          </a:xfrm>
          <a:prstGeom prst="rect">
            <a:avLst/>
          </a:prstGeom>
          <a:noFill/>
        </p:spPr>
        <p:txBody>
          <a:bodyPr wrap="none" rtlCol="0">
            <a:spAutoFit/>
          </a:bodyPr>
          <a:lstStyle/>
          <a:p>
            <a:pPr algn="ctr"/>
            <a:r>
              <a:rPr lang="en-US" altLang="en-US" sz="2400" b="1" dirty="0">
                <a:ea typeface="ＭＳ Ｐゴシック" charset="-128"/>
              </a:rPr>
              <a:t>DIVERSIFICATION</a:t>
            </a:r>
          </a:p>
          <a:p>
            <a:pPr algn="ctr"/>
            <a:r>
              <a:rPr lang="en-US" altLang="en-US" sz="2200" dirty="0">
                <a:latin typeface="Calibri" charset="0"/>
                <a:ea typeface="ＭＳ Ｐゴシック" charset="-128"/>
              </a:rPr>
              <a:t>Skills markedly altered</a:t>
            </a:r>
          </a:p>
        </p:txBody>
      </p:sp>
      <p:sp>
        <p:nvSpPr>
          <p:cNvPr id="9" name="TextBox 8"/>
          <p:cNvSpPr txBox="1"/>
          <p:nvPr/>
        </p:nvSpPr>
        <p:spPr>
          <a:xfrm>
            <a:off x="830091" y="1776593"/>
            <a:ext cx="2037161" cy="800219"/>
          </a:xfrm>
          <a:prstGeom prst="rect">
            <a:avLst/>
          </a:prstGeom>
          <a:noFill/>
        </p:spPr>
        <p:txBody>
          <a:bodyPr wrap="none" rtlCol="0">
            <a:spAutoFit/>
          </a:bodyPr>
          <a:lstStyle/>
          <a:p>
            <a:pPr algn="ctr"/>
            <a:r>
              <a:rPr lang="en-US" altLang="en-US" sz="2400" b="1" dirty="0">
                <a:ea typeface="ＭＳ Ｐゴシック" charset="-128"/>
              </a:rPr>
              <a:t>INITIAL STAGE</a:t>
            </a:r>
          </a:p>
          <a:p>
            <a:pPr algn="ctr"/>
            <a:r>
              <a:rPr lang="en-US" altLang="en-US" sz="2200" dirty="0">
                <a:latin typeface="Calibri" charset="0"/>
                <a:ea typeface="ＭＳ Ｐゴシック" charset="-128"/>
              </a:rPr>
              <a:t>Getting the Idea</a:t>
            </a:r>
          </a:p>
        </p:txBody>
      </p:sp>
      <p:pic>
        <p:nvPicPr>
          <p:cNvPr id="4" name="Picture 3"/>
          <p:cNvPicPr>
            <a:picLocks noChangeAspect="1"/>
          </p:cNvPicPr>
          <p:nvPr/>
        </p:nvPicPr>
        <p:blipFill rotWithShape="1">
          <a:blip r:embed="rId7">
            <a:extLst>
              <a:ext uri="{28A0092B-C50C-407E-A947-70E740481C1C}">
                <a14:useLocalDpi xmlns:a14="http://schemas.microsoft.com/office/drawing/2010/main" val="0"/>
              </a:ext>
            </a:extLst>
          </a:blip>
          <a:srcRect l="25364" r="13699"/>
          <a:stretch/>
        </p:blipFill>
        <p:spPr>
          <a:xfrm>
            <a:off x="601763" y="2699452"/>
            <a:ext cx="2493818" cy="3069340"/>
          </a:xfrm>
          <a:prstGeom prst="rect">
            <a:avLst/>
          </a:prstGeom>
        </p:spPr>
      </p:pic>
      <p:sp>
        <p:nvSpPr>
          <p:cNvPr id="5" name="Half Frame 4"/>
          <p:cNvSpPr/>
          <p:nvPr/>
        </p:nvSpPr>
        <p:spPr>
          <a:xfrm>
            <a:off x="3431519" y="1593207"/>
            <a:ext cx="7924800" cy="583496"/>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p:cNvSpPr txBox="1"/>
          <p:nvPr/>
        </p:nvSpPr>
        <p:spPr>
          <a:xfrm>
            <a:off x="6045325" y="1069987"/>
            <a:ext cx="2264338" cy="523220"/>
          </a:xfrm>
          <a:prstGeom prst="rect">
            <a:avLst/>
          </a:prstGeom>
          <a:noFill/>
        </p:spPr>
        <p:txBody>
          <a:bodyPr wrap="none" rtlCol="0">
            <a:spAutoFit/>
          </a:bodyPr>
          <a:lstStyle/>
          <a:p>
            <a:r>
              <a:rPr lang="en-US" sz="2800" b="1" dirty="0"/>
              <a:t>LATER STAGES</a:t>
            </a:r>
          </a:p>
        </p:txBody>
      </p:sp>
      <p:sp>
        <p:nvSpPr>
          <p:cNvPr id="12" name="Rectangle 11">
            <a:extLst>
              <a:ext uri="{FF2B5EF4-FFF2-40B4-BE49-F238E27FC236}">
                <a16:creationId xmlns:a16="http://schemas.microsoft.com/office/drawing/2014/main" xmlns="" id="{D46719C9-34A1-4246-B8AD-AE692A578D02}"/>
              </a:ext>
            </a:extLst>
          </p:cNvPr>
          <p:cNvSpPr/>
          <p:nvPr/>
        </p:nvSpPr>
        <p:spPr>
          <a:xfrm>
            <a:off x="731520" y="640080"/>
            <a:ext cx="10808839" cy="584775"/>
          </a:xfrm>
          <a:prstGeom prst="rect">
            <a:avLst/>
          </a:prstGeom>
        </p:spPr>
        <p:txBody>
          <a:bodyPr wrap="square">
            <a:spAutoFit/>
          </a:bodyPr>
          <a:lstStyle/>
          <a:p>
            <a:r>
              <a:rPr lang="en-US" sz="3200" dirty="0">
                <a:solidFill>
                  <a:srgbClr val="FFC000"/>
                </a:solidFill>
                <a:latin typeface="Calibri" panose="020F0502020204030204" pitchFamily="34" charset="0"/>
                <a:cs typeface="Calibri" panose="020F0502020204030204" pitchFamily="34" charset="0"/>
              </a:rPr>
              <a:t>Gentile’s 2-Stage Model</a:t>
            </a:r>
            <a:endParaRPr lang="en-US" sz="3200" dirty="0">
              <a:solidFill>
                <a:srgbClr val="FFC000"/>
              </a:solidFill>
            </a:endParaRPr>
          </a:p>
        </p:txBody>
      </p:sp>
    </p:spTree>
    <p:extLst>
      <p:ext uri="{BB962C8B-B14F-4D97-AF65-F5344CB8AC3E}">
        <p14:creationId xmlns:p14="http://schemas.microsoft.com/office/powerpoint/2010/main" val="4035048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nodeType="withEffect">
                                  <p:stCondLst>
                                    <p:cond delay="0"/>
                                  </p:stCondLst>
                                  <p:childTnLst>
                                    <p:set>
                                      <p:cBhvr>
                                        <p:cTn id="9" dur="1" fill="hold">
                                          <p:stCondLst>
                                            <p:cond delay="0"/>
                                          </p:stCondLst>
                                        </p:cTn>
                                        <p:tgtEl>
                                          <p:spTgt spid="143365"/>
                                        </p:tgtEl>
                                        <p:attrNameLst>
                                          <p:attrName>style.visibility</p:attrName>
                                        </p:attrNameLst>
                                      </p:cBhvr>
                                      <p:to>
                                        <p:strVal val="visible"/>
                                      </p:to>
                                    </p:set>
                                    <p:animEffect transition="in" filter="dissolve">
                                      <p:cBhvr>
                                        <p:cTn id="10" dur="500"/>
                                        <p:tgtEl>
                                          <p:spTgt spid="143365"/>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par>
                                <p:cTn id="16" presetID="9" presetClass="entr" presetSubtype="0" fill="hold" nodeType="withEffect">
                                  <p:stCondLst>
                                    <p:cond delay="0"/>
                                  </p:stCondLst>
                                  <p:childTnLst>
                                    <p:set>
                                      <p:cBhvr>
                                        <p:cTn id="17" dur="1" fill="hold">
                                          <p:stCondLst>
                                            <p:cond delay="0"/>
                                          </p:stCondLst>
                                        </p:cTn>
                                        <p:tgtEl>
                                          <p:spTgt spid="143363"/>
                                        </p:tgtEl>
                                        <p:attrNameLst>
                                          <p:attrName>style.visibility</p:attrName>
                                        </p:attrNameLst>
                                      </p:cBhvr>
                                      <p:to>
                                        <p:strVal val="visible"/>
                                      </p:to>
                                    </p:set>
                                    <p:animEffect transition="in" filter="dissolve">
                                      <p:cBhvr>
                                        <p:cTn id="18" dur="500"/>
                                        <p:tgtEl>
                                          <p:spTgt spid="143363"/>
                                        </p:tgtEl>
                                      </p:cBhvr>
                                    </p:animEffect>
                                  </p:childTnLst>
                                </p:cTn>
                              </p:par>
                              <p:par>
                                <p:cTn id="19" presetID="9" presetClass="entr" presetSubtype="0" fill="hold" nodeType="withEffect">
                                  <p:stCondLst>
                                    <p:cond delay="0"/>
                                  </p:stCondLst>
                                  <p:childTnLst>
                                    <p:set>
                                      <p:cBhvr>
                                        <p:cTn id="20" dur="1" fill="hold">
                                          <p:stCondLst>
                                            <p:cond delay="0"/>
                                          </p:stCondLst>
                                        </p:cTn>
                                        <p:tgtEl>
                                          <p:spTgt spid="143364"/>
                                        </p:tgtEl>
                                        <p:attrNameLst>
                                          <p:attrName>style.visibility</p:attrName>
                                        </p:attrNameLst>
                                      </p:cBhvr>
                                      <p:to>
                                        <p:strVal val="visible"/>
                                      </p:to>
                                    </p:set>
                                    <p:animEffect transition="in" filter="dissolve">
                                      <p:cBhvr>
                                        <p:cTn id="21" dur="500"/>
                                        <p:tgtEl>
                                          <p:spTgt spid="143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5593CDB7-23B3-9F41-A171-BF70D9D8B057}"/>
              </a:ext>
            </a:extLst>
          </p:cNvPr>
          <p:cNvSpPr/>
          <p:nvPr/>
        </p:nvSpPr>
        <p:spPr>
          <a:xfrm>
            <a:off x="731520" y="640080"/>
            <a:ext cx="10808839" cy="584775"/>
          </a:xfrm>
          <a:prstGeom prst="rect">
            <a:avLst/>
          </a:prstGeom>
        </p:spPr>
        <p:txBody>
          <a:bodyPr wrap="square">
            <a:spAutoFit/>
          </a:bodyPr>
          <a:lstStyle/>
          <a:p>
            <a:r>
              <a:rPr lang="en-US" sz="3200" dirty="0">
                <a:solidFill>
                  <a:srgbClr val="FFC000"/>
                </a:solidFill>
                <a:latin typeface="Calibri" panose="020F0502020204030204" pitchFamily="34" charset="0"/>
                <a:cs typeface="Calibri" panose="020F0502020204030204" pitchFamily="34" charset="0"/>
              </a:rPr>
              <a:t>Motor Learning Theory:  “Take Home” Message</a:t>
            </a:r>
            <a:endParaRPr lang="en-US" sz="3200" dirty="0">
              <a:solidFill>
                <a:srgbClr val="FFC000"/>
              </a:solidFill>
            </a:endParaRPr>
          </a:p>
        </p:txBody>
      </p:sp>
      <p:sp>
        <p:nvSpPr>
          <p:cNvPr id="6" name="TextBox 5">
            <a:extLst>
              <a:ext uri="{FF2B5EF4-FFF2-40B4-BE49-F238E27FC236}">
                <a16:creationId xmlns:a16="http://schemas.microsoft.com/office/drawing/2014/main" xmlns="" id="{26CD9B72-27B2-F546-842F-AD29A3F842EC}"/>
              </a:ext>
            </a:extLst>
          </p:cNvPr>
          <p:cNvSpPr txBox="1"/>
          <p:nvPr/>
        </p:nvSpPr>
        <p:spPr>
          <a:xfrm>
            <a:off x="731520" y="1676400"/>
            <a:ext cx="10808839" cy="4062651"/>
          </a:xfrm>
          <a:prstGeom prst="rect">
            <a:avLst/>
          </a:prstGeom>
          <a:noFill/>
        </p:spPr>
        <p:txBody>
          <a:bodyPr wrap="square" rtlCol="0">
            <a:spAutoFit/>
          </a:bodyPr>
          <a:lstStyle/>
          <a:p>
            <a:pPr marL="342900" indent="-342900">
              <a:buFont typeface="Arial" panose="020B0604020202020204" pitchFamily="34" charset="0"/>
              <a:buChar char="•"/>
              <a:defRPr/>
            </a:pPr>
            <a:r>
              <a:rPr lang="en-US" sz="2400" b="1" dirty="0">
                <a:latin typeface="Calibri" panose="020F0502020204030204" pitchFamily="34" charset="0"/>
                <a:cs typeface="Calibri" panose="020F0502020204030204" pitchFamily="34" charset="0"/>
              </a:rPr>
              <a:t>Motor learning probably occurs in stages</a:t>
            </a:r>
          </a:p>
          <a:p>
            <a:pPr marL="800100" lvl="1" indent="-342900">
              <a:buFont typeface="Arial" panose="020B0604020202020204" pitchFamily="34" charset="0"/>
              <a:buChar char="•"/>
              <a:defRPr/>
            </a:pPr>
            <a:endParaRPr lang="en-US" sz="2400" dirty="0">
              <a:latin typeface="Calibri" panose="020F0502020204030204" pitchFamily="34" charset="0"/>
              <a:cs typeface="Calibri" panose="020F0502020204030204" pitchFamily="34" charset="0"/>
            </a:endParaRPr>
          </a:p>
          <a:p>
            <a:pPr marL="800100" lvl="1" indent="-342900">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Should we give instruction to patients based on activity or based on stage of learning? Or both?</a:t>
            </a:r>
          </a:p>
          <a:p>
            <a:pPr marL="800100" lvl="1" indent="-342900">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Activity of the learner is different in the different stages</a:t>
            </a:r>
          </a:p>
          <a:p>
            <a:pPr marL="342900" indent="-342900">
              <a:buFont typeface="Arial" panose="020B0604020202020204" pitchFamily="34" charset="0"/>
              <a:buChar char="•"/>
              <a:defRPr/>
            </a:pPr>
            <a:endParaRPr lang="en-US" sz="24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defRPr/>
            </a:pPr>
            <a:endParaRPr lang="en-US" sz="2400" b="1"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defRPr/>
            </a:pPr>
            <a:r>
              <a:rPr lang="en-US" sz="2400" b="1" dirty="0">
                <a:latin typeface="Calibri" panose="020F0502020204030204" pitchFamily="34" charset="0"/>
                <a:cs typeface="Calibri" panose="020F0502020204030204" pitchFamily="34" charset="0"/>
              </a:rPr>
              <a:t>Activities of the clinician/instructor should be different in the different stages</a:t>
            </a:r>
          </a:p>
          <a:p>
            <a:pPr marL="804862" lvl="1" indent="-342900">
              <a:buFont typeface="Arial" panose="020B0604020202020204" pitchFamily="34" charset="0"/>
              <a:buChar char="•"/>
              <a:defRPr/>
            </a:pPr>
            <a:endParaRPr lang="en-US" sz="2400" dirty="0">
              <a:latin typeface="Calibri" panose="020F0502020204030204" pitchFamily="34" charset="0"/>
              <a:cs typeface="Calibri" panose="020F0502020204030204" pitchFamily="34" charset="0"/>
            </a:endParaRPr>
          </a:p>
          <a:p>
            <a:pPr marL="804862" lvl="1" indent="-342900">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What will be different in your </a:t>
            </a:r>
            <a:r>
              <a:rPr lang="en-US" sz="2400" dirty="0" smtClean="0">
                <a:latin typeface="Calibri" panose="020F0502020204030204" pitchFamily="34" charset="0"/>
                <a:cs typeface="Calibri" panose="020F0502020204030204" pitchFamily="34" charset="0"/>
              </a:rPr>
              <a:t>practice </a:t>
            </a:r>
            <a:r>
              <a:rPr lang="en-US" sz="2400" dirty="0">
                <a:latin typeface="Calibri" panose="020F0502020204030204" pitchFamily="34" charset="0"/>
                <a:cs typeface="Calibri" panose="020F0502020204030204" pitchFamily="34" charset="0"/>
              </a:rPr>
              <a:t>from beginning to advanced stages?</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427402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animEffect transition="in" filter="dissolve">
                                      <p:cBhvr>
                                        <p:cTn id="7" dur="500"/>
                                        <p:tgtEl>
                                          <p:spTgt spid="6">
                                            <p:txEl>
                                              <p:pRg st="6" end="6"/>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
                                            <p:txEl>
                                              <p:pRg st="8" end="8"/>
                                            </p:txEl>
                                          </p:spTgt>
                                        </p:tgtEl>
                                        <p:attrNameLst>
                                          <p:attrName>style.visibility</p:attrName>
                                        </p:attrNameLst>
                                      </p:cBhvr>
                                      <p:to>
                                        <p:strVal val="visible"/>
                                      </p:to>
                                    </p:set>
                                    <p:animEffect transition="in" filter="dissolve">
                                      <p:cBhvr>
                                        <p:cTn id="10"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F6BB357E-C8B2-BD40-BF2D-05CFD1835F99}"/>
              </a:ext>
            </a:extLst>
          </p:cNvPr>
          <p:cNvSpPr txBox="1"/>
          <p:nvPr/>
        </p:nvSpPr>
        <p:spPr>
          <a:xfrm>
            <a:off x="1826947" y="2235200"/>
            <a:ext cx="8538107" cy="707886"/>
          </a:xfrm>
          <a:prstGeom prst="rect">
            <a:avLst/>
          </a:prstGeom>
          <a:noFill/>
        </p:spPr>
        <p:txBody>
          <a:bodyPr wrap="none" rtlCol="0">
            <a:spAutoFit/>
          </a:bodyPr>
          <a:lstStyle/>
          <a:p>
            <a:r>
              <a:rPr lang="en-US" sz="4000" b="1" dirty="0">
                <a:solidFill>
                  <a:srgbClr val="FFC000"/>
                </a:solidFill>
                <a:latin typeface="Calibri" panose="020F0502020204030204" pitchFamily="34" charset="0"/>
                <a:cs typeface="Calibri" panose="020F0502020204030204" pitchFamily="34" charset="0"/>
              </a:rPr>
              <a:t>Integrating Motor Control and Learning</a:t>
            </a:r>
          </a:p>
        </p:txBody>
      </p:sp>
    </p:spTree>
    <p:extLst>
      <p:ext uri="{BB962C8B-B14F-4D97-AF65-F5344CB8AC3E}">
        <p14:creationId xmlns:p14="http://schemas.microsoft.com/office/powerpoint/2010/main" val="25097693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idx="4294967295"/>
          </p:nvPr>
        </p:nvSpPr>
        <p:spPr>
          <a:xfrm>
            <a:off x="1871134" y="87313"/>
            <a:ext cx="8449733" cy="1066800"/>
          </a:xfrm>
        </p:spPr>
        <p:txBody>
          <a:bodyPr>
            <a:noAutofit/>
          </a:bodyPr>
          <a:lstStyle/>
          <a:p>
            <a:pPr eaLnBrk="1" hangingPunct="1"/>
            <a:r>
              <a:rPr lang="en-US" altLang="en-US" b="1" dirty="0">
                <a:solidFill>
                  <a:srgbClr val="FFC000"/>
                </a:solidFill>
                <a:latin typeface="Calibri" panose="020F0502020204030204" pitchFamily="34" charset="0"/>
                <a:ea typeface="ＭＳ Ｐゴシック" charset="-128"/>
                <a:cs typeface="Calibri" panose="020F0502020204030204" pitchFamily="34" charset="0"/>
              </a:rPr>
              <a:t>Dynamic Interaction of 3 Elements </a:t>
            </a:r>
            <a:r>
              <a:rPr lang="en-US" altLang="en-US" b="1" dirty="0">
                <a:solidFill>
                  <a:srgbClr val="FFC000"/>
                </a:solidFill>
                <a:latin typeface="Calibri" panose="020F0502020204030204" pitchFamily="34" charset="0"/>
                <a:ea typeface="ＭＳ Ｐゴシック" charset="-128"/>
                <a:cs typeface="Calibri" panose="020F0502020204030204" pitchFamily="34" charset="0"/>
                <a:sym typeface="Wingdings" charset="2"/>
              </a:rPr>
              <a:t> Movement</a:t>
            </a:r>
            <a:endParaRPr lang="en-US" altLang="en-US" b="1" dirty="0">
              <a:solidFill>
                <a:srgbClr val="FFC000"/>
              </a:solidFill>
              <a:latin typeface="Calibri" panose="020F0502020204030204" pitchFamily="34" charset="0"/>
              <a:ea typeface="ＭＳ Ｐゴシック" charset="-128"/>
              <a:cs typeface="Calibri" panose="020F0502020204030204" pitchFamily="34" charset="0"/>
            </a:endParaRPr>
          </a:p>
        </p:txBody>
      </p:sp>
      <p:sp>
        <p:nvSpPr>
          <p:cNvPr id="15363" name="Text Box 3"/>
          <p:cNvSpPr txBox="1">
            <a:spLocks noChangeArrowheads="1"/>
          </p:cNvSpPr>
          <p:nvPr/>
        </p:nvSpPr>
        <p:spPr bwMode="auto">
          <a:xfrm>
            <a:off x="1727200" y="4413250"/>
            <a:ext cx="2362200" cy="641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Times New Roman" pitchFamily="18" charset="0"/>
                <a:cs typeface="Arial" pitchFamily="34" charset="0"/>
              </a:defRPr>
            </a:lvl1pPr>
            <a:lvl2pPr marL="742950" indent="-285750" eaLnBrk="0" hangingPunct="0">
              <a:defRPr>
                <a:solidFill>
                  <a:schemeClr val="tx1"/>
                </a:solidFill>
                <a:latin typeface="Times New Roman" pitchFamily="18" charset="0"/>
                <a:cs typeface="Arial" pitchFamily="34" charset="0"/>
              </a:defRPr>
            </a:lvl2pPr>
            <a:lvl3pPr marL="1143000" indent="-228600" eaLnBrk="0" hangingPunct="0">
              <a:defRPr>
                <a:solidFill>
                  <a:schemeClr val="tx1"/>
                </a:solidFill>
                <a:latin typeface="Times New Roman" pitchFamily="18" charset="0"/>
                <a:cs typeface="Arial" pitchFamily="34" charset="0"/>
              </a:defRPr>
            </a:lvl3pPr>
            <a:lvl4pPr marL="1600200" indent="-228600" eaLnBrk="0" hangingPunct="0">
              <a:defRPr>
                <a:solidFill>
                  <a:schemeClr val="tx1"/>
                </a:solidFill>
                <a:latin typeface="Times New Roman" pitchFamily="18" charset="0"/>
                <a:cs typeface="Arial" pitchFamily="34" charset="0"/>
              </a:defRPr>
            </a:lvl4pPr>
            <a:lvl5pPr marL="2057400" indent="-228600" eaLnBrk="0" hangingPunct="0">
              <a:defRPr>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a:solidFill>
                  <a:schemeClr val="tx1"/>
                </a:solidFill>
                <a:latin typeface="Times New Roman" pitchFamily="18" charset="0"/>
                <a:cs typeface="Arial" pitchFamily="34" charset="0"/>
              </a:defRPr>
            </a:lvl9pPr>
          </a:lstStyle>
          <a:p>
            <a:pPr algn="ctr" eaLnBrk="1" hangingPunct="1">
              <a:spcBef>
                <a:spcPct val="50000"/>
              </a:spcBef>
              <a:defRPr/>
            </a:pPr>
            <a:r>
              <a:rPr lang="en-US" sz="3600" b="1" dirty="0">
                <a:solidFill>
                  <a:srgbClr val="92D050"/>
                </a:solidFill>
              </a:rPr>
              <a:t>WHO?</a:t>
            </a:r>
          </a:p>
        </p:txBody>
      </p:sp>
      <p:sp>
        <p:nvSpPr>
          <p:cNvPr id="15364" name="Text Box 4"/>
          <p:cNvSpPr txBox="1">
            <a:spLocks noChangeArrowheads="1"/>
          </p:cNvSpPr>
          <p:nvPr/>
        </p:nvSpPr>
        <p:spPr bwMode="auto">
          <a:xfrm>
            <a:off x="4622800" y="1154113"/>
            <a:ext cx="2387600"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Times New Roman" pitchFamily="18" charset="0"/>
                <a:cs typeface="Arial" pitchFamily="34" charset="0"/>
              </a:defRPr>
            </a:lvl1pPr>
            <a:lvl2pPr marL="742950" indent="-285750" eaLnBrk="0" hangingPunct="0">
              <a:defRPr>
                <a:solidFill>
                  <a:schemeClr val="tx1"/>
                </a:solidFill>
                <a:latin typeface="Times New Roman" pitchFamily="18" charset="0"/>
                <a:cs typeface="Arial" pitchFamily="34" charset="0"/>
              </a:defRPr>
            </a:lvl2pPr>
            <a:lvl3pPr marL="1143000" indent="-228600" eaLnBrk="0" hangingPunct="0">
              <a:defRPr>
                <a:solidFill>
                  <a:schemeClr val="tx1"/>
                </a:solidFill>
                <a:latin typeface="Times New Roman" pitchFamily="18" charset="0"/>
                <a:cs typeface="Arial" pitchFamily="34" charset="0"/>
              </a:defRPr>
            </a:lvl3pPr>
            <a:lvl4pPr marL="1600200" indent="-228600" eaLnBrk="0" hangingPunct="0">
              <a:defRPr>
                <a:solidFill>
                  <a:schemeClr val="tx1"/>
                </a:solidFill>
                <a:latin typeface="Times New Roman" pitchFamily="18" charset="0"/>
                <a:cs typeface="Arial" pitchFamily="34" charset="0"/>
              </a:defRPr>
            </a:lvl4pPr>
            <a:lvl5pPr marL="2057400" indent="-228600" eaLnBrk="0" hangingPunct="0">
              <a:defRPr>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a:solidFill>
                  <a:schemeClr val="tx1"/>
                </a:solidFill>
                <a:latin typeface="Times New Roman" pitchFamily="18" charset="0"/>
                <a:cs typeface="Arial" pitchFamily="34" charset="0"/>
              </a:defRPr>
            </a:lvl9pPr>
          </a:lstStyle>
          <a:p>
            <a:pPr algn="ctr" eaLnBrk="1" hangingPunct="1">
              <a:spcBef>
                <a:spcPct val="50000"/>
              </a:spcBef>
              <a:defRPr/>
            </a:pPr>
            <a:r>
              <a:rPr lang="en-US" sz="3600" b="1" dirty="0">
                <a:solidFill>
                  <a:srgbClr val="92D050"/>
                </a:solidFill>
              </a:rPr>
              <a:t>WHAT?</a:t>
            </a:r>
          </a:p>
        </p:txBody>
      </p:sp>
      <p:sp>
        <p:nvSpPr>
          <p:cNvPr id="15365" name="Text Box 5"/>
          <p:cNvSpPr txBox="1">
            <a:spLocks noChangeArrowheads="1"/>
          </p:cNvSpPr>
          <p:nvPr/>
        </p:nvSpPr>
        <p:spPr bwMode="auto">
          <a:xfrm>
            <a:off x="8128000" y="4384675"/>
            <a:ext cx="2362200" cy="646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Times New Roman" pitchFamily="18" charset="0"/>
                <a:cs typeface="Arial" pitchFamily="34" charset="0"/>
              </a:defRPr>
            </a:lvl1pPr>
            <a:lvl2pPr marL="742950" indent="-285750" eaLnBrk="0" hangingPunct="0">
              <a:defRPr>
                <a:solidFill>
                  <a:schemeClr val="tx1"/>
                </a:solidFill>
                <a:latin typeface="Times New Roman" pitchFamily="18" charset="0"/>
                <a:cs typeface="Arial" pitchFamily="34" charset="0"/>
              </a:defRPr>
            </a:lvl2pPr>
            <a:lvl3pPr marL="1143000" indent="-228600" eaLnBrk="0" hangingPunct="0">
              <a:defRPr>
                <a:solidFill>
                  <a:schemeClr val="tx1"/>
                </a:solidFill>
                <a:latin typeface="Times New Roman" pitchFamily="18" charset="0"/>
                <a:cs typeface="Arial" pitchFamily="34" charset="0"/>
              </a:defRPr>
            </a:lvl3pPr>
            <a:lvl4pPr marL="1600200" indent="-228600" eaLnBrk="0" hangingPunct="0">
              <a:defRPr>
                <a:solidFill>
                  <a:schemeClr val="tx1"/>
                </a:solidFill>
                <a:latin typeface="Times New Roman" pitchFamily="18" charset="0"/>
                <a:cs typeface="Arial" pitchFamily="34" charset="0"/>
              </a:defRPr>
            </a:lvl4pPr>
            <a:lvl5pPr marL="2057400" indent="-228600" eaLnBrk="0" hangingPunct="0">
              <a:defRPr>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a:solidFill>
                  <a:schemeClr val="tx1"/>
                </a:solidFill>
                <a:latin typeface="Times New Roman" pitchFamily="18" charset="0"/>
                <a:cs typeface="Arial" pitchFamily="34" charset="0"/>
              </a:defRPr>
            </a:lvl9pPr>
          </a:lstStyle>
          <a:p>
            <a:pPr algn="ctr" eaLnBrk="1" hangingPunct="1">
              <a:spcBef>
                <a:spcPct val="50000"/>
              </a:spcBef>
              <a:defRPr/>
            </a:pPr>
            <a:r>
              <a:rPr lang="en-US" sz="3600" b="1" dirty="0">
                <a:solidFill>
                  <a:srgbClr val="92D050"/>
                </a:solidFill>
              </a:rPr>
              <a:t>WHERE?</a:t>
            </a:r>
          </a:p>
        </p:txBody>
      </p:sp>
      <p:grpSp>
        <p:nvGrpSpPr>
          <p:cNvPr id="38917" name="Group 9"/>
          <p:cNvGrpSpPr>
            <a:grpSpLocks/>
          </p:cNvGrpSpPr>
          <p:nvPr/>
        </p:nvGrpSpPr>
        <p:grpSpPr bwMode="auto">
          <a:xfrm>
            <a:off x="3746502" y="3287712"/>
            <a:ext cx="2400298" cy="2286000"/>
            <a:chOff x="2171702" y="3886200"/>
            <a:chExt cx="2400298" cy="2286000"/>
          </a:xfrm>
        </p:grpSpPr>
        <p:sp>
          <p:nvSpPr>
            <p:cNvPr id="38928" name="Oval 7"/>
            <p:cNvSpPr>
              <a:spLocks noChangeArrowheads="1"/>
            </p:cNvSpPr>
            <p:nvPr/>
          </p:nvSpPr>
          <p:spPr bwMode="auto">
            <a:xfrm>
              <a:off x="2286000" y="3886200"/>
              <a:ext cx="2286000" cy="2286000"/>
            </a:xfrm>
            <a:prstGeom prst="ellipse">
              <a:avLst/>
            </a:prstGeom>
            <a:solidFill>
              <a:srgbClr val="8EC6CC">
                <a:alpha val="34901"/>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endParaRPr lang="en-US" altLang="en-US">
                <a:latin typeface="Arial" charset="0"/>
              </a:endParaRPr>
            </a:p>
          </p:txBody>
        </p:sp>
        <p:sp>
          <p:nvSpPr>
            <p:cNvPr id="38929" name="Text Box 8"/>
            <p:cNvSpPr txBox="1">
              <a:spLocks noChangeArrowheads="1"/>
            </p:cNvSpPr>
            <p:nvPr/>
          </p:nvSpPr>
          <p:spPr bwMode="auto">
            <a:xfrm>
              <a:off x="2171702" y="4690072"/>
              <a:ext cx="213359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spcBef>
                  <a:spcPct val="50000"/>
                </a:spcBef>
              </a:pPr>
              <a:r>
                <a:rPr lang="en-US" altLang="en-US" sz="1800" b="1" dirty="0"/>
                <a:t>Person/               Body Structure / Function  </a:t>
              </a:r>
            </a:p>
          </p:txBody>
        </p:sp>
      </p:grpSp>
      <p:sp>
        <p:nvSpPr>
          <p:cNvPr id="38918" name="Line 12"/>
          <p:cNvSpPr>
            <a:spLocks noChangeShapeType="1"/>
          </p:cNvSpPr>
          <p:nvPr/>
        </p:nvSpPr>
        <p:spPr bwMode="auto">
          <a:xfrm>
            <a:off x="6096000" y="0"/>
            <a:ext cx="0" cy="72390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38919" name="Group 5"/>
          <p:cNvGrpSpPr>
            <a:grpSpLocks/>
          </p:cNvGrpSpPr>
          <p:nvPr/>
        </p:nvGrpSpPr>
        <p:grpSpPr bwMode="auto">
          <a:xfrm>
            <a:off x="5689600" y="3287712"/>
            <a:ext cx="2364782" cy="2286000"/>
            <a:chOff x="4114800" y="3886200"/>
            <a:chExt cx="2364782" cy="2286000"/>
          </a:xfrm>
        </p:grpSpPr>
        <p:sp>
          <p:nvSpPr>
            <p:cNvPr id="38926" name="Oval 11"/>
            <p:cNvSpPr>
              <a:spLocks noChangeArrowheads="1"/>
            </p:cNvSpPr>
            <p:nvPr/>
          </p:nvSpPr>
          <p:spPr bwMode="auto">
            <a:xfrm>
              <a:off x="4114800" y="3886200"/>
              <a:ext cx="2286000" cy="2286000"/>
            </a:xfrm>
            <a:prstGeom prst="ellipse">
              <a:avLst/>
            </a:prstGeom>
            <a:solidFill>
              <a:srgbClr val="33CCFF">
                <a:alpha val="2666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endParaRPr lang="en-US" altLang="en-US">
                <a:latin typeface="Arial" charset="0"/>
              </a:endParaRPr>
            </a:p>
          </p:txBody>
        </p:sp>
        <p:sp>
          <p:nvSpPr>
            <p:cNvPr id="38927" name="Text Box 10"/>
            <p:cNvSpPr txBox="1">
              <a:spLocks noChangeArrowheads="1"/>
            </p:cNvSpPr>
            <p:nvPr/>
          </p:nvSpPr>
          <p:spPr bwMode="auto">
            <a:xfrm>
              <a:off x="4422182" y="4825942"/>
              <a:ext cx="20574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spcBef>
                  <a:spcPct val="50000"/>
                </a:spcBef>
              </a:pPr>
              <a:r>
                <a:rPr lang="en-US" altLang="en-US" sz="1800" b="1" dirty="0"/>
                <a:t>Participation/ Environment</a:t>
              </a:r>
            </a:p>
          </p:txBody>
        </p:sp>
      </p:grpSp>
      <p:grpSp>
        <p:nvGrpSpPr>
          <p:cNvPr id="11" name="Group 10"/>
          <p:cNvGrpSpPr>
            <a:grpSpLocks/>
          </p:cNvGrpSpPr>
          <p:nvPr/>
        </p:nvGrpSpPr>
        <p:grpSpPr bwMode="auto">
          <a:xfrm>
            <a:off x="5854700" y="2191961"/>
            <a:ext cx="5789386" cy="1756152"/>
            <a:chOff x="4343400" y="2663447"/>
            <a:chExt cx="5789386" cy="1756153"/>
          </a:xfrm>
        </p:grpSpPr>
        <p:sp>
          <p:nvSpPr>
            <p:cNvPr id="9229" name="Text Box 17"/>
            <p:cNvSpPr txBox="1">
              <a:spLocks noChangeArrowheads="1"/>
            </p:cNvSpPr>
            <p:nvPr/>
          </p:nvSpPr>
          <p:spPr bwMode="auto">
            <a:xfrm>
              <a:off x="6934200" y="2663447"/>
              <a:ext cx="3198586" cy="8617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Times New Roman" pitchFamily="18" charset="0"/>
                  <a:cs typeface="Arial" pitchFamily="34" charset="0"/>
                </a:defRPr>
              </a:lvl1pPr>
              <a:lvl2pPr marL="742950" indent="-285750" eaLnBrk="0" hangingPunct="0">
                <a:defRPr>
                  <a:solidFill>
                    <a:schemeClr val="tx1"/>
                  </a:solidFill>
                  <a:latin typeface="Times New Roman" pitchFamily="18" charset="0"/>
                  <a:cs typeface="Arial" pitchFamily="34" charset="0"/>
                </a:defRPr>
              </a:lvl2pPr>
              <a:lvl3pPr marL="1143000" indent="-228600" eaLnBrk="0" hangingPunct="0">
                <a:defRPr>
                  <a:solidFill>
                    <a:schemeClr val="tx1"/>
                  </a:solidFill>
                  <a:latin typeface="Times New Roman" pitchFamily="18" charset="0"/>
                  <a:cs typeface="Arial" pitchFamily="34" charset="0"/>
                </a:defRPr>
              </a:lvl3pPr>
              <a:lvl4pPr marL="1600200" indent="-228600" eaLnBrk="0" hangingPunct="0">
                <a:defRPr>
                  <a:solidFill>
                    <a:schemeClr val="tx1"/>
                  </a:solidFill>
                  <a:latin typeface="Times New Roman" pitchFamily="18" charset="0"/>
                  <a:cs typeface="Arial" pitchFamily="34" charset="0"/>
                </a:defRPr>
              </a:lvl4pPr>
              <a:lvl5pPr marL="2057400" indent="-228600" eaLnBrk="0" hangingPunct="0">
                <a:defRPr>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a:solidFill>
                    <a:schemeClr val="tx1"/>
                  </a:solidFill>
                  <a:latin typeface="Times New Roman" pitchFamily="18" charset="0"/>
                  <a:cs typeface="Arial" pitchFamily="34" charset="0"/>
                </a:defRPr>
              </a:lvl9pPr>
            </a:lstStyle>
            <a:p>
              <a:pPr algn="ctr" eaLnBrk="1" hangingPunct="1">
                <a:spcBef>
                  <a:spcPct val="50000"/>
                </a:spcBef>
                <a:defRPr/>
              </a:pPr>
              <a:r>
                <a:rPr lang="en-US" sz="5000" b="1" dirty="0">
                  <a:solidFill>
                    <a:srgbClr val="FF0000"/>
                  </a:solidFill>
                </a:rPr>
                <a:t>Movement</a:t>
              </a:r>
            </a:p>
          </p:txBody>
        </p:sp>
        <p:sp>
          <p:nvSpPr>
            <p:cNvPr id="38925" name="Line 19"/>
            <p:cNvSpPr>
              <a:spLocks noChangeShapeType="1"/>
            </p:cNvSpPr>
            <p:nvPr/>
          </p:nvSpPr>
          <p:spPr bwMode="auto">
            <a:xfrm flipH="1">
              <a:off x="4343400" y="3200400"/>
              <a:ext cx="2590800" cy="12192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38921" name="Group 8"/>
          <p:cNvGrpSpPr>
            <a:grpSpLocks/>
          </p:cNvGrpSpPr>
          <p:nvPr/>
        </p:nvGrpSpPr>
        <p:grpSpPr bwMode="auto">
          <a:xfrm>
            <a:off x="4622800" y="1916112"/>
            <a:ext cx="2286000" cy="2286000"/>
            <a:chOff x="3048000" y="2514600"/>
            <a:chExt cx="2286000" cy="2286000"/>
          </a:xfrm>
        </p:grpSpPr>
        <p:sp>
          <p:nvSpPr>
            <p:cNvPr id="38922" name="Oval 15"/>
            <p:cNvSpPr>
              <a:spLocks noChangeArrowheads="1"/>
            </p:cNvSpPr>
            <p:nvPr/>
          </p:nvSpPr>
          <p:spPr bwMode="auto">
            <a:xfrm>
              <a:off x="3048000" y="2514600"/>
              <a:ext cx="2286000" cy="2286000"/>
            </a:xfrm>
            <a:prstGeom prst="ellipse">
              <a:avLst/>
            </a:prstGeom>
            <a:solidFill>
              <a:srgbClr val="8EC6CC">
                <a:alpha val="43921"/>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endParaRPr lang="en-US" altLang="en-US">
                <a:latin typeface="Arial" charset="0"/>
              </a:endParaRPr>
            </a:p>
          </p:txBody>
        </p:sp>
        <p:sp>
          <p:nvSpPr>
            <p:cNvPr id="38923" name="Text Box 14"/>
            <p:cNvSpPr txBox="1">
              <a:spLocks noChangeArrowheads="1"/>
            </p:cNvSpPr>
            <p:nvPr/>
          </p:nvSpPr>
          <p:spPr bwMode="auto">
            <a:xfrm>
              <a:off x="3450203" y="3103050"/>
              <a:ext cx="14942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spcBef>
                  <a:spcPct val="50000"/>
                </a:spcBef>
              </a:pPr>
              <a:r>
                <a:rPr lang="en-US" altLang="en-US" sz="1800" b="1"/>
                <a:t>Activity/Task</a:t>
              </a:r>
              <a:endParaRPr lang="en-US" altLang="en-US" sz="1800" b="1" dirty="0"/>
            </a:p>
          </p:txBody>
        </p:sp>
      </p:grpSp>
    </p:spTree>
    <p:extLst>
      <p:ext uri="{BB962C8B-B14F-4D97-AF65-F5344CB8AC3E}">
        <p14:creationId xmlns:p14="http://schemas.microsoft.com/office/powerpoint/2010/main" val="32432738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P spid="15364" grpId="0"/>
      <p:bldP spid="1536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F6BB357E-C8B2-BD40-BF2D-05CFD1835F99}"/>
              </a:ext>
            </a:extLst>
          </p:cNvPr>
          <p:cNvSpPr txBox="1"/>
          <p:nvPr/>
        </p:nvSpPr>
        <p:spPr>
          <a:xfrm>
            <a:off x="1826947" y="2235200"/>
            <a:ext cx="5813451" cy="1631216"/>
          </a:xfrm>
          <a:prstGeom prst="rect">
            <a:avLst/>
          </a:prstGeom>
          <a:noFill/>
        </p:spPr>
        <p:txBody>
          <a:bodyPr wrap="none" rtlCol="0">
            <a:spAutoFit/>
          </a:bodyPr>
          <a:lstStyle/>
          <a:p>
            <a:r>
              <a:rPr lang="en-US" sz="4000" b="1" dirty="0">
                <a:solidFill>
                  <a:srgbClr val="FFC000"/>
                </a:solidFill>
                <a:latin typeface="Calibri" panose="020F0502020204030204" pitchFamily="34" charset="0"/>
                <a:cs typeface="Calibri" panose="020F0502020204030204" pitchFamily="34" charset="0"/>
              </a:rPr>
              <a:t>The Person</a:t>
            </a:r>
          </a:p>
          <a:p>
            <a:r>
              <a:rPr lang="en-US" sz="4000" b="1" dirty="0">
                <a:solidFill>
                  <a:srgbClr val="FFC000"/>
                </a:solidFill>
                <a:latin typeface="Calibri" panose="020F0502020204030204" pitchFamily="34" charset="0"/>
                <a:cs typeface="Calibri" panose="020F0502020204030204" pitchFamily="34" charset="0"/>
              </a:rPr>
              <a:t>Body Structure &amp; Function</a:t>
            </a:r>
          </a:p>
          <a:p>
            <a:r>
              <a:rPr lang="en-US" sz="2000" b="1" dirty="0">
                <a:solidFill>
                  <a:srgbClr val="FFC000"/>
                </a:solidFill>
                <a:latin typeface="Calibri" panose="020F0502020204030204" pitchFamily="34" charset="0"/>
                <a:cs typeface="Calibri" panose="020F0502020204030204" pitchFamily="34" charset="0"/>
              </a:rPr>
              <a:t>Movement System</a:t>
            </a:r>
          </a:p>
        </p:txBody>
      </p:sp>
    </p:spTree>
    <p:extLst>
      <p:ext uri="{BB962C8B-B14F-4D97-AF65-F5344CB8AC3E}">
        <p14:creationId xmlns:p14="http://schemas.microsoft.com/office/powerpoint/2010/main" val="21744815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44"/>
          <p:cNvGraphicFramePr>
            <a:graphicFrameLocks noGrp="1"/>
          </p:cNvGraphicFramePr>
          <p:nvPr>
            <p:extLst/>
          </p:nvPr>
        </p:nvGraphicFramePr>
        <p:xfrm>
          <a:off x="3845090" y="735382"/>
          <a:ext cx="7923034" cy="4722053"/>
        </p:xfrm>
        <a:graphic>
          <a:graphicData uri="http://schemas.openxmlformats.org/drawingml/2006/table">
            <a:tbl>
              <a:tblPr/>
              <a:tblGrid>
                <a:gridCol w="3594709">
                  <a:extLst>
                    <a:ext uri="{9D8B030D-6E8A-4147-A177-3AD203B41FA5}">
                      <a16:colId xmlns:a16="http://schemas.microsoft.com/office/drawing/2014/main" xmlns="" val="20000"/>
                    </a:ext>
                  </a:extLst>
                </a:gridCol>
                <a:gridCol w="4328325">
                  <a:extLst>
                    <a:ext uri="{9D8B030D-6E8A-4147-A177-3AD203B41FA5}">
                      <a16:colId xmlns:a16="http://schemas.microsoft.com/office/drawing/2014/main" xmlns="" val="20001"/>
                    </a:ext>
                  </a:extLst>
                </a:gridCol>
              </a:tblGrid>
              <a:tr h="365913">
                <a:tc>
                  <a:txBody>
                    <a:bodyPr/>
                    <a:lstStyle/>
                    <a:p>
                      <a:pPr marL="0" marR="0" lvl="0" indent="0" algn="ctr" defTabSz="914400" rtl="0" eaLnBrk="1" fontAlgn="base" latinLnBrk="0" hangingPunct="1">
                        <a:lnSpc>
                          <a:spcPct val="100000"/>
                        </a:lnSpc>
                        <a:spcBef>
                          <a:spcPct val="20000"/>
                        </a:spcBef>
                        <a:spcAft>
                          <a:spcPct val="0"/>
                        </a:spcAft>
                        <a:buClr>
                          <a:srgbClr val="006E6B"/>
                        </a:buClr>
                        <a:buSzTx/>
                        <a:buFontTx/>
                        <a:buNone/>
                        <a:tabLst/>
                      </a:pPr>
                      <a:r>
                        <a:rPr kumimoji="0" lang="en-US" sz="2000" b="1" i="0" u="none" strike="noStrike" cap="none" normalizeH="0" baseline="0" dirty="0">
                          <a:ln>
                            <a:noFill/>
                          </a:ln>
                          <a:solidFill>
                            <a:srgbClr val="92D050"/>
                          </a:solidFill>
                          <a:effectLst/>
                          <a:latin typeface="Times New Roman" pitchFamily="18" charset="0"/>
                        </a:rPr>
                        <a:t>ABILITY/ATTRIBUTE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6E6B"/>
                        </a:buClr>
                        <a:buSzTx/>
                        <a:buFontTx/>
                        <a:buNone/>
                        <a:tabLst/>
                      </a:pPr>
                      <a:r>
                        <a:rPr kumimoji="0" lang="en-US" sz="2000" b="1" i="0" u="none" strike="noStrike" cap="none" normalizeH="0" baseline="0" dirty="0">
                          <a:ln>
                            <a:noFill/>
                          </a:ln>
                          <a:solidFill>
                            <a:srgbClr val="92D050"/>
                          </a:solidFill>
                          <a:effectLst/>
                          <a:latin typeface="Times New Roman" pitchFamily="18" charset="0"/>
                        </a:rPr>
                        <a:t>EXAMPLE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647384">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Attitudes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Open, closed, or neutral to new experiences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65913">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Body type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a:ln>
                            <a:noFill/>
                          </a:ln>
                          <a:solidFill>
                            <a:schemeClr val="tx1"/>
                          </a:solidFill>
                          <a:effectLst/>
                          <a:latin typeface="Calibri" panose="020F0502020204030204" pitchFamily="34" charset="0"/>
                          <a:cs typeface="Calibri" panose="020F0502020204030204" pitchFamily="34" charset="0"/>
                        </a:rPr>
                        <a:t>Stocky, tall, short, lean, muscular, round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54853">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Cultural background</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Ethnicity, race, religion, socioeconomic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65913">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Emotional makeup</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a:ln>
                            <a:noFill/>
                          </a:ln>
                          <a:solidFill>
                            <a:schemeClr val="tx1"/>
                          </a:solidFill>
                          <a:effectLst/>
                          <a:latin typeface="Calibri" panose="020F0502020204030204" pitchFamily="34" charset="0"/>
                          <a:cs typeface="Calibri" panose="020F0502020204030204" pitchFamily="34" charset="0"/>
                        </a:rPr>
                        <a:t>Boredom, excitement, fear, joy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65913">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Fitness level</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Low, moderate, high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65913">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Learning style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a:ln>
                            <a:noFill/>
                          </a:ln>
                          <a:solidFill>
                            <a:schemeClr val="tx1"/>
                          </a:solidFill>
                          <a:effectLst/>
                          <a:latin typeface="Calibri" panose="020F0502020204030204" pitchFamily="34" charset="0"/>
                          <a:cs typeface="Calibri" panose="020F0502020204030204" pitchFamily="34" charset="0"/>
                        </a:rPr>
                        <a:t>Visual, verbal, kinesthetic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365913">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Maturational level</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Immature, intermediate, mature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65913">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a:ln>
                            <a:noFill/>
                          </a:ln>
                          <a:solidFill>
                            <a:schemeClr val="tx1"/>
                          </a:solidFill>
                          <a:effectLst/>
                          <a:latin typeface="Calibri" panose="020F0502020204030204" pitchFamily="34" charset="0"/>
                          <a:cs typeface="Calibri" panose="020F0502020204030204" pitchFamily="34" charset="0"/>
                        </a:rPr>
                        <a:t>Motivational level</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Low moderate, high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365913">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a:ln>
                            <a:noFill/>
                          </a:ln>
                          <a:solidFill>
                            <a:schemeClr val="tx1"/>
                          </a:solidFill>
                          <a:effectLst/>
                          <a:latin typeface="Calibri" panose="020F0502020204030204" pitchFamily="34" charset="0"/>
                          <a:cs typeface="Calibri" panose="020F0502020204030204" pitchFamily="34" charset="0"/>
                        </a:rPr>
                        <a:t>Previous social experiences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One-on-one, small group, large group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365913">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a:ln>
                            <a:noFill/>
                          </a:ln>
                          <a:solidFill>
                            <a:schemeClr val="tx1"/>
                          </a:solidFill>
                          <a:effectLst/>
                          <a:latin typeface="Calibri" panose="020F0502020204030204" pitchFamily="34" charset="0"/>
                          <a:cs typeface="Calibri" panose="020F0502020204030204" pitchFamily="34" charset="0"/>
                        </a:rPr>
                        <a:t>Previous movement experiences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6E6B"/>
                        </a:buClr>
                        <a:buSzTx/>
                        <a:buFontTx/>
                        <a:buNone/>
                        <a:tabLst/>
                      </a:pPr>
                      <a:r>
                        <a:rPr kumimoji="0" lang="en-US"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Recreational, instructional, competitive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bl>
          </a:graphicData>
        </a:graphic>
      </p:graphicFrame>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390" y="2064795"/>
            <a:ext cx="2929382" cy="2345840"/>
          </a:xfrm>
          <a:prstGeom prst="rect">
            <a:avLst/>
          </a:prstGeom>
        </p:spPr>
      </p:pic>
      <p:sp>
        <p:nvSpPr>
          <p:cNvPr id="5" name="Rectangle 4">
            <a:extLst>
              <a:ext uri="{FF2B5EF4-FFF2-40B4-BE49-F238E27FC236}">
                <a16:creationId xmlns:a16="http://schemas.microsoft.com/office/drawing/2014/main" xmlns="" id="{2279C3E3-48E9-6D4C-8909-B90ADCDE65BA}"/>
              </a:ext>
            </a:extLst>
          </p:cNvPr>
          <p:cNvSpPr/>
          <p:nvPr/>
        </p:nvSpPr>
        <p:spPr>
          <a:xfrm>
            <a:off x="731520" y="640080"/>
            <a:ext cx="10808839" cy="584775"/>
          </a:xfrm>
          <a:prstGeom prst="rect">
            <a:avLst/>
          </a:prstGeom>
        </p:spPr>
        <p:txBody>
          <a:bodyPr wrap="square">
            <a:spAutoFit/>
          </a:bodyPr>
          <a:lstStyle/>
          <a:p>
            <a:r>
              <a:rPr lang="en-US" sz="3200" dirty="0">
                <a:solidFill>
                  <a:srgbClr val="FFC000"/>
                </a:solidFill>
                <a:latin typeface="Calibri" panose="020F0502020204030204" pitchFamily="34" charset="0"/>
                <a:cs typeface="Calibri" panose="020F0502020204030204" pitchFamily="34" charset="0"/>
              </a:rPr>
              <a:t>The Person</a:t>
            </a:r>
            <a:endParaRPr lang="en-US" sz="3200" dirty="0">
              <a:solidFill>
                <a:srgbClr val="FFC000"/>
              </a:solidFill>
            </a:endParaRPr>
          </a:p>
        </p:txBody>
      </p:sp>
    </p:spTree>
    <p:extLst>
      <p:ext uri="{BB962C8B-B14F-4D97-AF65-F5344CB8AC3E}">
        <p14:creationId xmlns:p14="http://schemas.microsoft.com/office/powerpoint/2010/main" val="24024034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F6BB357E-C8B2-BD40-BF2D-05CFD1835F99}"/>
              </a:ext>
            </a:extLst>
          </p:cNvPr>
          <p:cNvSpPr txBox="1"/>
          <p:nvPr/>
        </p:nvSpPr>
        <p:spPr>
          <a:xfrm>
            <a:off x="1826947" y="2235200"/>
            <a:ext cx="3826240" cy="707886"/>
          </a:xfrm>
          <a:prstGeom prst="rect">
            <a:avLst/>
          </a:prstGeom>
          <a:noFill/>
        </p:spPr>
        <p:txBody>
          <a:bodyPr wrap="none" rtlCol="0">
            <a:spAutoFit/>
          </a:bodyPr>
          <a:lstStyle/>
          <a:p>
            <a:r>
              <a:rPr lang="en-US" sz="4000" b="1" dirty="0">
                <a:solidFill>
                  <a:srgbClr val="FFC000"/>
                </a:solidFill>
                <a:latin typeface="Calibri" panose="020F0502020204030204" pitchFamily="34" charset="0"/>
                <a:cs typeface="Calibri" panose="020F0502020204030204" pitchFamily="34" charset="0"/>
              </a:rPr>
              <a:t>The Task/Activity</a:t>
            </a:r>
            <a:endParaRPr lang="en-US" sz="2000" b="1" dirty="0">
              <a:solidFill>
                <a:srgbClr val="FFC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943460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8C281516-60B4-1A4A-9137-69377AD67977}"/>
              </a:ext>
            </a:extLst>
          </p:cNvPr>
          <p:cNvSpPr/>
          <p:nvPr/>
        </p:nvSpPr>
        <p:spPr>
          <a:xfrm>
            <a:off x="731520" y="640080"/>
            <a:ext cx="10808839" cy="584775"/>
          </a:xfrm>
          <a:prstGeom prst="rect">
            <a:avLst/>
          </a:prstGeom>
        </p:spPr>
        <p:txBody>
          <a:bodyPr wrap="square">
            <a:spAutoFit/>
          </a:bodyPr>
          <a:lstStyle/>
          <a:p>
            <a:r>
              <a:rPr lang="en-US" sz="3200" dirty="0">
                <a:solidFill>
                  <a:srgbClr val="FFC000"/>
                </a:solidFill>
                <a:latin typeface="Calibri" panose="020F0502020204030204" pitchFamily="34" charset="0"/>
                <a:cs typeface="Calibri" panose="020F0502020204030204" pitchFamily="34" charset="0"/>
              </a:rPr>
              <a:t>The Task</a:t>
            </a:r>
            <a:endParaRPr lang="en-US" sz="3200" dirty="0">
              <a:solidFill>
                <a:srgbClr val="FFC000"/>
              </a:solidFill>
            </a:endParaRPr>
          </a:p>
        </p:txBody>
      </p:sp>
      <p:sp>
        <p:nvSpPr>
          <p:cNvPr id="7" name="TextBox 6">
            <a:extLst>
              <a:ext uri="{FF2B5EF4-FFF2-40B4-BE49-F238E27FC236}">
                <a16:creationId xmlns:a16="http://schemas.microsoft.com/office/drawing/2014/main" xmlns="" id="{FB56709C-48F4-C14D-82D3-8E351E9E0727}"/>
              </a:ext>
            </a:extLst>
          </p:cNvPr>
          <p:cNvSpPr txBox="1"/>
          <p:nvPr/>
        </p:nvSpPr>
        <p:spPr>
          <a:xfrm>
            <a:off x="731520" y="1224855"/>
            <a:ext cx="8326125" cy="4339650"/>
          </a:xfrm>
          <a:prstGeom prst="rect">
            <a:avLst/>
          </a:prstGeom>
          <a:noFill/>
        </p:spPr>
        <p:txBody>
          <a:bodyPr wrap="none" rtlCol="0">
            <a:spAutoFit/>
          </a:bodyPr>
          <a:lstStyle/>
          <a:p>
            <a:pPr indent="-274320">
              <a:spcBef>
                <a:spcPct val="50000"/>
              </a:spcBef>
              <a:buFont typeface="+mj-lt"/>
              <a:buAutoNum type="arabicPeriod"/>
            </a:pPr>
            <a:r>
              <a:rPr lang="en-US" altLang="en-US" sz="2400" dirty="0">
                <a:latin typeface="Calibri" panose="020F0502020204030204" pitchFamily="34" charset="0"/>
                <a:ea typeface="Arial" charset="0"/>
              </a:rPr>
              <a:t>What are the component elements of the task?</a:t>
            </a:r>
          </a:p>
          <a:p>
            <a:pPr indent="-274320">
              <a:spcBef>
                <a:spcPct val="50000"/>
              </a:spcBef>
              <a:buFont typeface="+mj-lt"/>
              <a:buAutoNum type="arabicPeriod"/>
            </a:pPr>
            <a:r>
              <a:rPr lang="en-US" altLang="en-US" sz="2400" dirty="0">
                <a:latin typeface="Calibri" panose="020F0502020204030204" pitchFamily="34" charset="0"/>
                <a:ea typeface="Arial" charset="0"/>
              </a:rPr>
              <a:t>What body movements are required? </a:t>
            </a:r>
          </a:p>
          <a:p>
            <a:pPr indent="-274320">
              <a:spcBef>
                <a:spcPct val="50000"/>
              </a:spcBef>
              <a:buFont typeface="+mj-lt"/>
              <a:buAutoNum type="arabicPeriod"/>
            </a:pPr>
            <a:r>
              <a:rPr lang="en-US" altLang="en-US" sz="2400" dirty="0">
                <a:latin typeface="Calibri" panose="020F0502020204030204" pitchFamily="34" charset="0"/>
                <a:ea typeface="Arial" charset="0"/>
              </a:rPr>
              <a:t>How is the task paced? </a:t>
            </a:r>
          </a:p>
          <a:p>
            <a:pPr indent="-274320">
              <a:spcBef>
                <a:spcPct val="50000"/>
              </a:spcBef>
              <a:buFont typeface="+mj-lt"/>
              <a:buAutoNum type="arabicPeriod"/>
            </a:pPr>
            <a:r>
              <a:rPr lang="en-US" altLang="en-US" sz="2400" dirty="0">
                <a:latin typeface="Calibri" panose="020F0502020204030204" pitchFamily="34" charset="0"/>
                <a:ea typeface="Arial" charset="0"/>
              </a:rPr>
              <a:t>Is there a high perceptual or cognitive component to the task?</a:t>
            </a:r>
          </a:p>
          <a:p>
            <a:pPr indent="-274320">
              <a:spcBef>
                <a:spcPct val="50000"/>
              </a:spcBef>
              <a:buFont typeface="+mj-lt"/>
              <a:buAutoNum type="arabicPeriod"/>
            </a:pPr>
            <a:r>
              <a:rPr lang="en-US" altLang="en-US" sz="2400" dirty="0">
                <a:latin typeface="Calibri" panose="020F0502020204030204" pitchFamily="34" charset="0"/>
                <a:ea typeface="Arial" charset="0"/>
              </a:rPr>
              <a:t>How much precision is needed? Is it gross motor or fine motor?</a:t>
            </a:r>
          </a:p>
          <a:p>
            <a:pPr indent="-274320">
              <a:spcBef>
                <a:spcPct val="50000"/>
              </a:spcBef>
              <a:buFont typeface="+mj-lt"/>
              <a:buAutoNum type="arabicPeriod"/>
            </a:pPr>
            <a:r>
              <a:rPr lang="en-US" altLang="en-US" sz="2400" dirty="0">
                <a:latin typeface="Calibri" panose="020F0502020204030204" pitchFamily="34" charset="0"/>
                <a:ea typeface="Arial" charset="0"/>
              </a:rPr>
              <a:t>Is object manipulation required?</a:t>
            </a:r>
          </a:p>
          <a:p>
            <a:pPr indent="-274320">
              <a:spcBef>
                <a:spcPct val="50000"/>
              </a:spcBef>
              <a:buFont typeface="+mj-lt"/>
              <a:buAutoNum type="arabicPeriod"/>
            </a:pPr>
            <a:r>
              <a:rPr lang="en-US" altLang="en-US" sz="2400" dirty="0">
                <a:latin typeface="Calibri" panose="020F0502020204030204" pitchFamily="34" charset="0"/>
                <a:ea typeface="Arial" charset="0"/>
              </a:rPr>
              <a:t>Must the task be performed under differing conditions?</a:t>
            </a:r>
          </a:p>
          <a:p>
            <a:pPr indent="-274320">
              <a:spcBef>
                <a:spcPct val="50000"/>
              </a:spcBef>
              <a:buFont typeface="+mj-lt"/>
              <a:buAutoNum type="arabicPeriod"/>
            </a:pPr>
            <a:r>
              <a:rPr lang="en-US" altLang="en-US" sz="2400" dirty="0">
                <a:latin typeface="Calibri" panose="020F0502020204030204" pitchFamily="34" charset="0"/>
                <a:ea typeface="Arial" charset="0"/>
              </a:rPr>
              <a:t>How is the task organized? </a:t>
            </a:r>
          </a:p>
        </p:txBody>
      </p:sp>
    </p:spTree>
    <p:extLst>
      <p:ext uri="{BB962C8B-B14F-4D97-AF65-F5344CB8AC3E}">
        <p14:creationId xmlns:p14="http://schemas.microsoft.com/office/powerpoint/2010/main" val="33881982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ChangeArrowheads="1"/>
          </p:cNvSpPr>
          <p:nvPr>
            <p:ph type="title" idx="4294967295"/>
          </p:nvPr>
        </p:nvSpPr>
        <p:spPr>
          <a:xfrm>
            <a:off x="731520" y="483325"/>
            <a:ext cx="11480563" cy="830263"/>
          </a:xfrm>
        </p:spPr>
        <p:txBody>
          <a:bodyPr>
            <a:normAutofit/>
          </a:bodyPr>
          <a:lstStyle/>
          <a:p>
            <a:pPr eaLnBrk="1" hangingPunct="1"/>
            <a:r>
              <a:rPr lang="en-US" altLang="en-US" b="1" dirty="0">
                <a:solidFill>
                  <a:srgbClr val="FFC000"/>
                </a:solidFill>
                <a:latin typeface="Calibri" panose="020F0502020204030204" pitchFamily="34" charset="0"/>
                <a:ea typeface="ＭＳ Ｐゴシック" charset="-128"/>
                <a:cs typeface="Calibri" panose="020F0502020204030204" pitchFamily="34" charset="0"/>
              </a:rPr>
              <a:t>Skill/Task: Nature of Movement Organization</a:t>
            </a:r>
          </a:p>
        </p:txBody>
      </p:sp>
      <p:sp>
        <p:nvSpPr>
          <p:cNvPr id="72706" name="Line 4"/>
          <p:cNvSpPr>
            <a:spLocks noChangeShapeType="1"/>
          </p:cNvSpPr>
          <p:nvPr/>
        </p:nvSpPr>
        <p:spPr bwMode="auto">
          <a:xfrm>
            <a:off x="457198" y="2367395"/>
            <a:ext cx="11207931" cy="63499"/>
          </a:xfrm>
          <a:prstGeom prst="line">
            <a:avLst/>
          </a:prstGeom>
          <a:noFill/>
          <a:ln w="127000">
            <a:solidFill>
              <a:srgbClr val="92D05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07" name="Text Box 5"/>
          <p:cNvSpPr txBox="1">
            <a:spLocks noChangeArrowheads="1"/>
          </p:cNvSpPr>
          <p:nvPr/>
        </p:nvSpPr>
        <p:spPr bwMode="auto">
          <a:xfrm>
            <a:off x="1107921" y="2394156"/>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spcBef>
                <a:spcPct val="50000"/>
              </a:spcBef>
            </a:pPr>
            <a:r>
              <a:rPr lang="en-US" altLang="en-US" dirty="0">
                <a:solidFill>
                  <a:srgbClr val="92D050"/>
                </a:solidFill>
                <a:latin typeface="Arial" charset="0"/>
              </a:rPr>
              <a:t>Discrete</a:t>
            </a:r>
          </a:p>
        </p:txBody>
      </p:sp>
      <p:sp>
        <p:nvSpPr>
          <p:cNvPr id="72708" name="Text Box 6"/>
          <p:cNvSpPr txBox="1">
            <a:spLocks noChangeArrowheads="1"/>
          </p:cNvSpPr>
          <p:nvPr/>
        </p:nvSpPr>
        <p:spPr bwMode="auto">
          <a:xfrm>
            <a:off x="8766264" y="2405356"/>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50000"/>
              </a:spcBef>
            </a:pPr>
            <a:r>
              <a:rPr lang="en-US" altLang="en-US" dirty="0">
                <a:solidFill>
                  <a:srgbClr val="92D050"/>
                </a:solidFill>
                <a:latin typeface="Arial" charset="0"/>
              </a:rPr>
              <a:t>Continuous</a:t>
            </a:r>
          </a:p>
        </p:txBody>
      </p:sp>
      <p:sp>
        <p:nvSpPr>
          <p:cNvPr id="72709" name="Text Box 7"/>
          <p:cNvSpPr txBox="1">
            <a:spLocks noChangeArrowheads="1"/>
          </p:cNvSpPr>
          <p:nvPr/>
        </p:nvSpPr>
        <p:spPr bwMode="auto">
          <a:xfrm>
            <a:off x="5238750" y="2394156"/>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50000"/>
              </a:spcBef>
            </a:pPr>
            <a:r>
              <a:rPr lang="en-US" altLang="en-US">
                <a:solidFill>
                  <a:srgbClr val="92D050"/>
                </a:solidFill>
                <a:latin typeface="Arial" charset="0"/>
              </a:rPr>
              <a:t>Serial</a:t>
            </a:r>
          </a:p>
        </p:txBody>
      </p:sp>
      <p:sp>
        <p:nvSpPr>
          <p:cNvPr id="44041" name="Text Box 9"/>
          <p:cNvSpPr txBox="1">
            <a:spLocks noChangeArrowheads="1"/>
          </p:cNvSpPr>
          <p:nvPr/>
        </p:nvSpPr>
        <p:spPr bwMode="auto">
          <a:xfrm>
            <a:off x="711437" y="2840690"/>
            <a:ext cx="2697968" cy="7078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2000" dirty="0">
                <a:latin typeface="Calibri" panose="020F0502020204030204" pitchFamily="34" charset="0"/>
                <a:cs typeface="Calibri" panose="020F0502020204030204" pitchFamily="34" charset="0"/>
              </a:rPr>
              <a:t>Distinct Beginning </a:t>
            </a:r>
          </a:p>
          <a:p>
            <a:pPr algn="ctr" eaLnBrk="1" hangingPunct="1"/>
            <a:r>
              <a:rPr lang="en-US" altLang="en-US" sz="2000" dirty="0">
                <a:latin typeface="Calibri" panose="020F0502020204030204" pitchFamily="34" charset="0"/>
                <a:cs typeface="Calibri" panose="020F0502020204030204" pitchFamily="34" charset="0"/>
              </a:rPr>
              <a:t>&amp; End</a:t>
            </a:r>
          </a:p>
        </p:txBody>
      </p:sp>
      <p:sp>
        <p:nvSpPr>
          <p:cNvPr id="44042" name="Text Box 10"/>
          <p:cNvSpPr txBox="1">
            <a:spLocks noChangeArrowheads="1"/>
          </p:cNvSpPr>
          <p:nvPr/>
        </p:nvSpPr>
        <p:spPr bwMode="auto">
          <a:xfrm>
            <a:off x="4222431" y="2841187"/>
            <a:ext cx="3108959" cy="7078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2000" dirty="0">
                <a:latin typeface="Calibri" panose="020F0502020204030204" pitchFamily="34" charset="0"/>
                <a:cs typeface="Calibri" panose="020F0502020204030204" pitchFamily="34" charset="0"/>
              </a:rPr>
              <a:t>Discrete actions</a:t>
            </a:r>
          </a:p>
          <a:p>
            <a:pPr algn="ctr" eaLnBrk="1" hangingPunct="1"/>
            <a:r>
              <a:rPr lang="en-US" altLang="en-US" sz="2000" dirty="0">
                <a:latin typeface="Calibri" panose="020F0502020204030204" pitchFamily="34" charset="0"/>
                <a:cs typeface="Calibri" panose="020F0502020204030204" pitchFamily="34" charset="0"/>
              </a:rPr>
              <a:t>linked together</a:t>
            </a:r>
          </a:p>
        </p:txBody>
      </p:sp>
      <p:sp>
        <p:nvSpPr>
          <p:cNvPr id="44043" name="Text Box 11"/>
          <p:cNvSpPr txBox="1">
            <a:spLocks noChangeArrowheads="1"/>
          </p:cNvSpPr>
          <p:nvPr/>
        </p:nvSpPr>
        <p:spPr bwMode="auto">
          <a:xfrm>
            <a:off x="8183877" y="2900517"/>
            <a:ext cx="3069772" cy="10156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2000" dirty="0">
                <a:latin typeface="Calibri" panose="020F0502020204030204" pitchFamily="34" charset="0"/>
                <a:cs typeface="Calibri" panose="020F0502020204030204" pitchFamily="34" charset="0"/>
              </a:rPr>
              <a:t>Repetitive &amp; Rhythmic </a:t>
            </a:r>
          </a:p>
          <a:p>
            <a:pPr algn="ctr" eaLnBrk="1" hangingPunct="1"/>
            <a:r>
              <a:rPr lang="en-US" altLang="en-US" sz="2000" dirty="0">
                <a:latin typeface="Calibri" panose="020F0502020204030204" pitchFamily="34" charset="0"/>
                <a:cs typeface="Calibri" panose="020F0502020204030204" pitchFamily="34" charset="0"/>
              </a:rPr>
              <a:t>Beginning or end arbitrary or set by environment</a:t>
            </a:r>
          </a:p>
        </p:txBody>
      </p:sp>
      <p:sp>
        <p:nvSpPr>
          <p:cNvPr id="44044" name="Text Box 12"/>
          <p:cNvSpPr txBox="1">
            <a:spLocks noChangeArrowheads="1"/>
          </p:cNvSpPr>
          <p:nvPr/>
        </p:nvSpPr>
        <p:spPr bwMode="auto">
          <a:xfrm>
            <a:off x="711437" y="4070068"/>
            <a:ext cx="2697968"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2000" dirty="0">
                <a:latin typeface="Calibri" panose="020F0502020204030204" pitchFamily="34" charset="0"/>
                <a:cs typeface="Calibri" panose="020F0502020204030204" pitchFamily="34" charset="0"/>
              </a:rPr>
              <a:t>Short duration</a:t>
            </a:r>
          </a:p>
        </p:txBody>
      </p:sp>
      <p:sp>
        <p:nvSpPr>
          <p:cNvPr id="44045" name="Text Box 13"/>
          <p:cNvSpPr txBox="1">
            <a:spLocks noChangeArrowheads="1"/>
          </p:cNvSpPr>
          <p:nvPr/>
        </p:nvSpPr>
        <p:spPr bwMode="auto">
          <a:xfrm>
            <a:off x="4210105" y="3812507"/>
            <a:ext cx="3108959" cy="10156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2000" dirty="0">
                <a:latin typeface="Calibri" panose="020F0502020204030204" pitchFamily="34" charset="0"/>
                <a:cs typeface="Calibri" panose="020F0502020204030204" pitchFamily="34" charset="0"/>
              </a:rPr>
              <a:t>Order is important</a:t>
            </a:r>
          </a:p>
          <a:p>
            <a:pPr algn="ctr" eaLnBrk="1" hangingPunct="1"/>
            <a:r>
              <a:rPr lang="en-US" altLang="en-US" sz="2000" dirty="0">
                <a:latin typeface="Calibri" panose="020F0502020204030204" pitchFamily="34" charset="0"/>
                <a:cs typeface="Calibri" panose="020F0502020204030204" pitchFamily="34" charset="0"/>
              </a:rPr>
              <a:t>Longer movement time</a:t>
            </a:r>
          </a:p>
          <a:p>
            <a:pPr algn="ctr" eaLnBrk="1" hangingPunct="1"/>
            <a:r>
              <a:rPr lang="en-US" altLang="en-US" sz="2000" dirty="0">
                <a:latin typeface="Calibri" panose="020F0502020204030204" pitchFamily="34" charset="0"/>
                <a:cs typeface="Calibri" panose="020F0502020204030204" pitchFamily="34" charset="0"/>
              </a:rPr>
              <a:t>Practice in parts</a:t>
            </a:r>
          </a:p>
        </p:txBody>
      </p:sp>
      <p:sp>
        <p:nvSpPr>
          <p:cNvPr id="44046" name="Text Box 14"/>
          <p:cNvSpPr txBox="1">
            <a:spLocks noChangeArrowheads="1"/>
          </p:cNvSpPr>
          <p:nvPr/>
        </p:nvSpPr>
        <p:spPr bwMode="auto">
          <a:xfrm>
            <a:off x="8183877" y="3916180"/>
            <a:ext cx="3069772" cy="10156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2000" dirty="0">
                <a:latin typeface="Calibri" panose="020F0502020204030204" pitchFamily="34" charset="0"/>
                <a:cs typeface="Calibri" panose="020F0502020204030204" pitchFamily="34" charset="0"/>
              </a:rPr>
              <a:t>Longer time span</a:t>
            </a:r>
          </a:p>
          <a:p>
            <a:pPr algn="ctr" eaLnBrk="1" hangingPunct="1"/>
            <a:r>
              <a:rPr lang="en-US" altLang="en-US" sz="2000" dirty="0">
                <a:latin typeface="Calibri" panose="020F0502020204030204" pitchFamily="34" charset="0"/>
                <a:cs typeface="Calibri" panose="020F0502020204030204" pitchFamily="34" charset="0"/>
              </a:rPr>
              <a:t>Determined by goal or person</a:t>
            </a:r>
          </a:p>
        </p:txBody>
      </p:sp>
      <p:sp>
        <p:nvSpPr>
          <p:cNvPr id="13" name="Text Box 12"/>
          <p:cNvSpPr txBox="1">
            <a:spLocks noChangeArrowheads="1"/>
          </p:cNvSpPr>
          <p:nvPr/>
        </p:nvSpPr>
        <p:spPr bwMode="auto">
          <a:xfrm>
            <a:off x="711435" y="5131826"/>
            <a:ext cx="2697969" cy="7078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2000" dirty="0">
                <a:latin typeface="Calibri" panose="020F0502020204030204" pitchFamily="34" charset="0"/>
                <a:cs typeface="Calibri" panose="020F0502020204030204" pitchFamily="34" charset="0"/>
              </a:rPr>
              <a:t>Movement prepared in advanced</a:t>
            </a:r>
          </a:p>
        </p:txBody>
      </p:sp>
      <p:sp>
        <p:nvSpPr>
          <p:cNvPr id="14" name="Text Box 12"/>
          <p:cNvSpPr txBox="1">
            <a:spLocks noChangeArrowheads="1"/>
          </p:cNvSpPr>
          <p:nvPr/>
        </p:nvSpPr>
        <p:spPr bwMode="auto">
          <a:xfrm>
            <a:off x="4222431" y="5091604"/>
            <a:ext cx="3108959" cy="10156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2000" dirty="0">
                <a:latin typeface="Calibri" panose="020F0502020204030204" pitchFamily="34" charset="0"/>
                <a:cs typeface="Calibri" panose="020F0502020204030204" pitchFamily="34" charset="0"/>
              </a:rPr>
              <a:t>Some prepared in advanced, others adjusted during task</a:t>
            </a:r>
          </a:p>
        </p:txBody>
      </p:sp>
      <p:sp>
        <p:nvSpPr>
          <p:cNvPr id="15" name="Text Box 12"/>
          <p:cNvSpPr txBox="1">
            <a:spLocks noChangeArrowheads="1"/>
          </p:cNvSpPr>
          <p:nvPr/>
        </p:nvSpPr>
        <p:spPr bwMode="auto">
          <a:xfrm>
            <a:off x="8144417" y="5131826"/>
            <a:ext cx="3109232" cy="7078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2000" dirty="0">
                <a:latin typeface="Calibri" panose="020F0502020204030204" pitchFamily="34" charset="0"/>
                <a:cs typeface="Calibri" panose="020F0502020204030204" pitchFamily="34" charset="0"/>
              </a:rPr>
              <a:t>Ongoing movement adjusted during task</a:t>
            </a:r>
          </a:p>
        </p:txBody>
      </p:sp>
      <p:pic>
        <p:nvPicPr>
          <p:cNvPr id="16" name="Picture 7" descr="archer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1646286" y="1222287"/>
            <a:ext cx="828269" cy="1104359"/>
          </a:xfrm>
          <a:prstGeom prst="rect">
            <a:avLst/>
          </a:prstGeom>
          <a:noFill/>
        </p:spPr>
      </p:pic>
      <p:pic>
        <p:nvPicPr>
          <p:cNvPr id="17" name="Picture 9" descr="danci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38750" y="1247935"/>
            <a:ext cx="865004" cy="1081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1" descr="walki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a:xfrm>
            <a:off x="9129347" y="1160485"/>
            <a:ext cx="1178832" cy="1186039"/>
          </a:xfrm>
          <a:prstGeom prst="rect">
            <a:avLst/>
          </a:prstGeom>
          <a:noFill/>
        </p:spPr>
      </p:pic>
    </p:spTree>
    <p:extLst>
      <p:ext uri="{BB962C8B-B14F-4D97-AF65-F5344CB8AC3E}">
        <p14:creationId xmlns:p14="http://schemas.microsoft.com/office/powerpoint/2010/main" val="32251768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44041"/>
                                        </p:tgtEl>
                                        <p:attrNameLst>
                                          <p:attrName>style.visibility</p:attrName>
                                        </p:attrNameLst>
                                      </p:cBhvr>
                                      <p:to>
                                        <p:strVal val="visible"/>
                                      </p:to>
                                    </p:set>
                                    <p:anim calcmode="lin" valueType="num">
                                      <p:cBhvr>
                                        <p:cTn id="7" dur="1000" fill="hold"/>
                                        <p:tgtEl>
                                          <p:spTgt spid="44041"/>
                                        </p:tgtEl>
                                        <p:attrNameLst>
                                          <p:attrName>ppt_x</p:attrName>
                                        </p:attrNameLst>
                                      </p:cBhvr>
                                      <p:tavLst>
                                        <p:tav tm="0">
                                          <p:val>
                                            <p:strVal val="#ppt_x-.2"/>
                                          </p:val>
                                        </p:tav>
                                        <p:tav tm="100000">
                                          <p:val>
                                            <p:strVal val="#ppt_x"/>
                                          </p:val>
                                        </p:tav>
                                      </p:tavLst>
                                    </p:anim>
                                    <p:anim calcmode="lin" valueType="num">
                                      <p:cBhvr>
                                        <p:cTn id="8" dur="1000" fill="hold"/>
                                        <p:tgtEl>
                                          <p:spTgt spid="44041"/>
                                        </p:tgtEl>
                                        <p:attrNameLst>
                                          <p:attrName>ppt_y</p:attrName>
                                        </p:attrNameLst>
                                      </p:cBhvr>
                                      <p:tavLst>
                                        <p:tav tm="0">
                                          <p:val>
                                            <p:strVal val="#ppt_y"/>
                                          </p:val>
                                        </p:tav>
                                        <p:tav tm="100000">
                                          <p:val>
                                            <p:strVal val="#ppt_y"/>
                                          </p:val>
                                        </p:tav>
                                      </p:tavLst>
                                    </p:anim>
                                    <p:animEffect transition="in" filter="wipe(right)" prLst="gradientSize: 0.1">
                                      <p:cBhvr>
                                        <p:cTn id="9" dur="1000"/>
                                        <p:tgtEl>
                                          <p:spTgt spid="4404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4044"/>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9" presetClass="entr" presetSubtype="0" fill="hold" grpId="0" nodeType="clickEffect">
                                  <p:stCondLst>
                                    <p:cond delay="0"/>
                                  </p:stCondLst>
                                  <p:childTnLst>
                                    <p:set>
                                      <p:cBhvr>
                                        <p:cTn id="21" dur="1" fill="hold">
                                          <p:stCondLst>
                                            <p:cond delay="0"/>
                                          </p:stCondLst>
                                        </p:cTn>
                                        <p:tgtEl>
                                          <p:spTgt spid="44042"/>
                                        </p:tgtEl>
                                        <p:attrNameLst>
                                          <p:attrName>style.visibility</p:attrName>
                                        </p:attrNameLst>
                                      </p:cBhvr>
                                      <p:to>
                                        <p:strVal val="visible"/>
                                      </p:to>
                                    </p:set>
                                    <p:anim calcmode="lin" valueType="num">
                                      <p:cBhvr>
                                        <p:cTn id="22" dur="1000" fill="hold"/>
                                        <p:tgtEl>
                                          <p:spTgt spid="44042"/>
                                        </p:tgtEl>
                                        <p:attrNameLst>
                                          <p:attrName>ppt_x</p:attrName>
                                        </p:attrNameLst>
                                      </p:cBhvr>
                                      <p:tavLst>
                                        <p:tav tm="0">
                                          <p:val>
                                            <p:strVal val="#ppt_x-.2"/>
                                          </p:val>
                                        </p:tav>
                                        <p:tav tm="100000">
                                          <p:val>
                                            <p:strVal val="#ppt_x"/>
                                          </p:val>
                                        </p:tav>
                                      </p:tavLst>
                                    </p:anim>
                                    <p:anim calcmode="lin" valueType="num">
                                      <p:cBhvr>
                                        <p:cTn id="23" dur="1000" fill="hold"/>
                                        <p:tgtEl>
                                          <p:spTgt spid="44042"/>
                                        </p:tgtEl>
                                        <p:attrNameLst>
                                          <p:attrName>ppt_y</p:attrName>
                                        </p:attrNameLst>
                                      </p:cBhvr>
                                      <p:tavLst>
                                        <p:tav tm="0">
                                          <p:val>
                                            <p:strVal val="#ppt_y"/>
                                          </p:val>
                                        </p:tav>
                                        <p:tav tm="100000">
                                          <p:val>
                                            <p:strVal val="#ppt_y"/>
                                          </p:val>
                                        </p:tav>
                                      </p:tavLst>
                                    </p:anim>
                                    <p:animEffect transition="in" filter="wipe(right)" prLst="gradientSize: 0.1">
                                      <p:cBhvr>
                                        <p:cTn id="24" dur="1000"/>
                                        <p:tgtEl>
                                          <p:spTgt spid="4404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4045"/>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9" presetClass="entr" presetSubtype="0" fill="hold" grpId="0" nodeType="clickEffect">
                                  <p:stCondLst>
                                    <p:cond delay="0"/>
                                  </p:stCondLst>
                                  <p:childTnLst>
                                    <p:set>
                                      <p:cBhvr>
                                        <p:cTn id="36" dur="1" fill="hold">
                                          <p:stCondLst>
                                            <p:cond delay="0"/>
                                          </p:stCondLst>
                                        </p:cTn>
                                        <p:tgtEl>
                                          <p:spTgt spid="44043"/>
                                        </p:tgtEl>
                                        <p:attrNameLst>
                                          <p:attrName>style.visibility</p:attrName>
                                        </p:attrNameLst>
                                      </p:cBhvr>
                                      <p:to>
                                        <p:strVal val="visible"/>
                                      </p:to>
                                    </p:set>
                                    <p:anim calcmode="lin" valueType="num">
                                      <p:cBhvr>
                                        <p:cTn id="37" dur="1000" fill="hold"/>
                                        <p:tgtEl>
                                          <p:spTgt spid="44043"/>
                                        </p:tgtEl>
                                        <p:attrNameLst>
                                          <p:attrName>ppt_x</p:attrName>
                                        </p:attrNameLst>
                                      </p:cBhvr>
                                      <p:tavLst>
                                        <p:tav tm="0">
                                          <p:val>
                                            <p:strVal val="#ppt_x-.2"/>
                                          </p:val>
                                        </p:tav>
                                        <p:tav tm="100000">
                                          <p:val>
                                            <p:strVal val="#ppt_x"/>
                                          </p:val>
                                        </p:tav>
                                      </p:tavLst>
                                    </p:anim>
                                    <p:anim calcmode="lin" valueType="num">
                                      <p:cBhvr>
                                        <p:cTn id="38" dur="1000" fill="hold"/>
                                        <p:tgtEl>
                                          <p:spTgt spid="44043"/>
                                        </p:tgtEl>
                                        <p:attrNameLst>
                                          <p:attrName>ppt_y</p:attrName>
                                        </p:attrNameLst>
                                      </p:cBhvr>
                                      <p:tavLst>
                                        <p:tav tm="0">
                                          <p:val>
                                            <p:strVal val="#ppt_y"/>
                                          </p:val>
                                        </p:tav>
                                        <p:tav tm="100000">
                                          <p:val>
                                            <p:strVal val="#ppt_y"/>
                                          </p:val>
                                        </p:tav>
                                      </p:tavLst>
                                    </p:anim>
                                    <p:animEffect transition="in" filter="wipe(right)" prLst="gradientSize: 0.1">
                                      <p:cBhvr>
                                        <p:cTn id="39" dur="1000"/>
                                        <p:tgtEl>
                                          <p:spTgt spid="4404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4046"/>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1" grpId="0" animBg="1"/>
      <p:bldP spid="44042" grpId="0" animBg="1"/>
      <p:bldP spid="44043" grpId="0" animBg="1"/>
      <p:bldP spid="44044" grpId="0" animBg="1"/>
      <p:bldP spid="44045" grpId="0" animBg="1"/>
      <p:bldP spid="44046" grpId="0" animBg="1"/>
      <p:bldP spid="13" grpId="0" animBg="1"/>
      <p:bldP spid="14" grpId="0" animBg="1"/>
      <p:bldP spid="1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044574A7-7723-2545-9A31-16E382C3222E}"/>
              </a:ext>
            </a:extLst>
          </p:cNvPr>
          <p:cNvSpPr txBox="1"/>
          <p:nvPr/>
        </p:nvSpPr>
        <p:spPr>
          <a:xfrm>
            <a:off x="1826947" y="2235200"/>
            <a:ext cx="3826047" cy="707886"/>
          </a:xfrm>
          <a:prstGeom prst="rect">
            <a:avLst/>
          </a:prstGeom>
          <a:noFill/>
        </p:spPr>
        <p:txBody>
          <a:bodyPr wrap="none" rtlCol="0">
            <a:spAutoFit/>
          </a:bodyPr>
          <a:lstStyle/>
          <a:p>
            <a:r>
              <a:rPr lang="en-US" sz="4000" b="1" dirty="0">
                <a:solidFill>
                  <a:srgbClr val="FFC000"/>
                </a:solidFill>
                <a:latin typeface="Calibri" panose="020F0502020204030204" pitchFamily="34" charset="0"/>
                <a:cs typeface="Calibri" panose="020F0502020204030204" pitchFamily="34" charset="0"/>
              </a:rPr>
              <a:t>The Environment</a:t>
            </a:r>
            <a:endParaRPr lang="en-US" sz="2000" b="1" dirty="0">
              <a:solidFill>
                <a:srgbClr val="FFC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0257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99417B20-029E-A04F-A222-8E815A7CCBD7}"/>
              </a:ext>
            </a:extLst>
          </p:cNvPr>
          <p:cNvSpPr/>
          <p:nvPr/>
        </p:nvSpPr>
        <p:spPr>
          <a:xfrm>
            <a:off x="731520" y="640080"/>
            <a:ext cx="10808839" cy="584775"/>
          </a:xfrm>
          <a:prstGeom prst="rect">
            <a:avLst/>
          </a:prstGeom>
        </p:spPr>
        <p:txBody>
          <a:bodyPr wrap="square">
            <a:spAutoFit/>
          </a:bodyPr>
          <a:lstStyle/>
          <a:p>
            <a:r>
              <a:rPr lang="en-US" sz="3200" dirty="0">
                <a:solidFill>
                  <a:srgbClr val="FFC000"/>
                </a:solidFill>
                <a:latin typeface="Calibri" panose="020F0502020204030204" pitchFamily="34" charset="0"/>
                <a:cs typeface="Calibri" panose="020F0502020204030204" pitchFamily="34" charset="0"/>
              </a:rPr>
              <a:t>The Environment</a:t>
            </a:r>
            <a:endParaRPr lang="en-US" sz="3200" dirty="0">
              <a:solidFill>
                <a:srgbClr val="FFC000"/>
              </a:solidFill>
            </a:endParaRPr>
          </a:p>
        </p:txBody>
      </p:sp>
      <p:sp>
        <p:nvSpPr>
          <p:cNvPr id="7" name="TextBox 6">
            <a:extLst>
              <a:ext uri="{FF2B5EF4-FFF2-40B4-BE49-F238E27FC236}">
                <a16:creationId xmlns:a16="http://schemas.microsoft.com/office/drawing/2014/main" xmlns="" id="{8A1A88AE-E578-834D-8092-F71B65DED37F}"/>
              </a:ext>
            </a:extLst>
          </p:cNvPr>
          <p:cNvSpPr txBox="1"/>
          <p:nvPr/>
        </p:nvSpPr>
        <p:spPr>
          <a:xfrm>
            <a:off x="731519" y="1224855"/>
            <a:ext cx="11008723" cy="4585871"/>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What are the conditions in which the person performs the task/skill?</a:t>
            </a:r>
          </a:p>
          <a:p>
            <a:pPr marL="800100" lvl="1" indent="-3429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800100" lvl="1"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What are the regulatory features of the environment?</a:t>
            </a:r>
          </a:p>
          <a:p>
            <a:pPr marL="1257300" lvl="2"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Regulatory: </a:t>
            </a:r>
          </a:p>
          <a:p>
            <a:pPr marL="1714500" lvl="3"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Objects/People: Size, shape, weight, location</a:t>
            </a:r>
          </a:p>
          <a:p>
            <a:pPr marL="1714500" lvl="3"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Support surface</a:t>
            </a:r>
          </a:p>
          <a:p>
            <a:pPr marL="1714500" lvl="3"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Movement: Predictable/Unpredictable</a:t>
            </a:r>
          </a:p>
          <a:p>
            <a:pPr marL="1257300" lvl="2"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Non-Regulatory</a:t>
            </a:r>
          </a:p>
          <a:p>
            <a:pPr marL="1714500" lvl="3"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Background noises and Distractions</a:t>
            </a:r>
          </a:p>
          <a:p>
            <a:pPr marL="800100" lvl="1" indent="-3429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800100" lvl="1"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Do the regulatory conditions remain fixed or do they change with each attempt?</a:t>
            </a:r>
          </a:p>
          <a:p>
            <a:pPr marL="1257300" lvl="2"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Inter-Trial Variability: </a:t>
            </a:r>
          </a:p>
          <a:p>
            <a:pPr marL="1714500" lvl="3"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Fixed: Movement is stable and does not require much if any monitoring</a:t>
            </a:r>
          </a:p>
          <a:p>
            <a:pPr marL="1714500" lvl="3"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Changes: Movement diversifies and requires ongoing monitoring</a:t>
            </a:r>
          </a:p>
        </p:txBody>
      </p:sp>
    </p:spTree>
    <p:extLst>
      <p:ext uri="{BB962C8B-B14F-4D97-AF65-F5344CB8AC3E}">
        <p14:creationId xmlns:p14="http://schemas.microsoft.com/office/powerpoint/2010/main" val="23882639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title"/>
          </p:nvPr>
        </p:nvSpPr>
        <p:spPr>
          <a:xfrm>
            <a:off x="414068" y="190478"/>
            <a:ext cx="11516264" cy="1021449"/>
          </a:xfrm>
        </p:spPr>
        <p:txBody>
          <a:bodyPr/>
          <a:lstStyle/>
          <a:p>
            <a:pPr algn="ctr" eaLnBrk="1" hangingPunct="1"/>
            <a:r>
              <a:rPr lang="en-US" altLang="en-US" b="1" dirty="0">
                <a:solidFill>
                  <a:srgbClr val="FFC000"/>
                </a:solidFill>
                <a:latin typeface="Calibri" panose="020F0502020204030204" pitchFamily="34" charset="0"/>
                <a:ea typeface="ＭＳ Ｐゴシック" charset="-128"/>
                <a:cs typeface="Calibri" panose="020F0502020204030204" pitchFamily="34" charset="0"/>
              </a:rPr>
              <a:t>Environmental Predictability</a:t>
            </a:r>
            <a:endParaRPr lang="en-US" altLang="en-US" sz="3600" b="1" dirty="0">
              <a:solidFill>
                <a:srgbClr val="FFC000"/>
              </a:solidFill>
              <a:latin typeface="Calibri" panose="020F0502020204030204" pitchFamily="34" charset="0"/>
              <a:ea typeface="ＭＳ Ｐゴシック" charset="-128"/>
              <a:cs typeface="Calibri" panose="020F0502020204030204" pitchFamily="34" charset="0"/>
            </a:endParaRPr>
          </a:p>
        </p:txBody>
      </p:sp>
      <p:pic>
        <p:nvPicPr>
          <p:cNvPr id="10" name="Picture 6" descr="putt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8100" y="1507327"/>
            <a:ext cx="1976846" cy="2491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5" descr="avalanchepic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2615" y="1483650"/>
            <a:ext cx="2904701" cy="2515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xmlns="" id="{8656069C-576B-AC45-BAF5-341EE6D20FE6}"/>
              </a:ext>
            </a:extLst>
          </p:cNvPr>
          <p:cNvSpPr txBox="1"/>
          <p:nvPr/>
        </p:nvSpPr>
        <p:spPr>
          <a:xfrm>
            <a:off x="897190" y="3362397"/>
            <a:ext cx="5094515" cy="2308324"/>
          </a:xfrm>
          <a:prstGeom prst="rect">
            <a:avLst/>
          </a:prstGeom>
          <a:noFill/>
        </p:spPr>
        <p:txBody>
          <a:bodyPr wrap="square" rtlCol="0">
            <a:spAutoFit/>
          </a:bodyPr>
          <a:lstStyle/>
          <a:p>
            <a:r>
              <a:rPr lang="en-US" altLang="en-US" sz="2400" b="1" dirty="0">
                <a:latin typeface="Calibri" panose="020F0502020204030204" pitchFamily="34" charset="0"/>
                <a:ea typeface="ＭＳ Ｐゴシック" charset="-128"/>
                <a:cs typeface="Calibri" panose="020F0502020204030204" pitchFamily="34" charset="0"/>
              </a:rPr>
              <a:t>Closed</a:t>
            </a:r>
            <a:endParaRPr lang="en-US" altLang="en-US" sz="2400" dirty="0">
              <a:latin typeface="Calibri" panose="020F0502020204030204" pitchFamily="34" charset="0"/>
              <a:ea typeface="ＭＳ Ｐゴシック" charset="-128"/>
              <a:cs typeface="Calibri" panose="020F0502020204030204" pitchFamily="34" charset="0"/>
            </a:endParaRPr>
          </a:p>
          <a:p>
            <a:pPr marL="342900" indent="-342900">
              <a:buFont typeface="Arial" panose="020B0604020202020204" pitchFamily="34" charset="0"/>
              <a:buChar char="•"/>
            </a:pPr>
            <a:endParaRPr lang="en-US" altLang="en-US" sz="2400" dirty="0">
              <a:latin typeface="Calibri" panose="020F0502020204030204" pitchFamily="34" charset="0"/>
              <a:ea typeface="ＭＳ Ｐゴシック" charset="-128"/>
              <a:cs typeface="Calibri" panose="020F0502020204030204" pitchFamily="34" charset="0"/>
            </a:endParaRPr>
          </a:p>
          <a:p>
            <a:pPr marL="342900" indent="-342900">
              <a:buFont typeface="Arial" panose="020B0604020202020204" pitchFamily="34" charset="0"/>
              <a:buChar char="•"/>
            </a:pPr>
            <a:r>
              <a:rPr lang="en-US" altLang="en-US" sz="2400" dirty="0">
                <a:latin typeface="Calibri" panose="020F0502020204030204" pitchFamily="34" charset="0"/>
                <a:ea typeface="ＭＳ Ｐゴシック" charset="-128"/>
                <a:cs typeface="Calibri" panose="020F0502020204030204" pitchFamily="34" charset="0"/>
              </a:rPr>
              <a:t>Stable and predictable. Allows learner to control the situation. Individuals can pre-plan without fear of environmental change. </a:t>
            </a:r>
          </a:p>
        </p:txBody>
      </p:sp>
      <p:sp>
        <p:nvSpPr>
          <p:cNvPr id="8" name="TextBox 7">
            <a:extLst>
              <a:ext uri="{FF2B5EF4-FFF2-40B4-BE49-F238E27FC236}">
                <a16:creationId xmlns:a16="http://schemas.microsoft.com/office/drawing/2014/main" xmlns="" id="{32C7ED35-AE3B-4346-8394-E1A27CCADF9C}"/>
              </a:ext>
            </a:extLst>
          </p:cNvPr>
          <p:cNvSpPr txBox="1"/>
          <p:nvPr/>
        </p:nvSpPr>
        <p:spPr>
          <a:xfrm>
            <a:off x="6352491" y="3355942"/>
            <a:ext cx="5094515" cy="3046988"/>
          </a:xfrm>
          <a:prstGeom prst="rect">
            <a:avLst/>
          </a:prstGeom>
          <a:noFill/>
        </p:spPr>
        <p:txBody>
          <a:bodyPr wrap="square" rtlCol="0">
            <a:spAutoFit/>
          </a:bodyPr>
          <a:lstStyle/>
          <a:p>
            <a:r>
              <a:rPr lang="en-US" altLang="en-US" sz="2400" b="1" dirty="0">
                <a:latin typeface="Calibri" panose="020F0502020204030204" pitchFamily="34" charset="0"/>
                <a:ea typeface="ＭＳ Ｐゴシック" charset="-128"/>
                <a:cs typeface="Calibri" panose="020F0502020204030204" pitchFamily="34" charset="0"/>
              </a:rPr>
              <a:t>Open</a:t>
            </a:r>
            <a:endParaRPr lang="en-US" altLang="en-US" sz="2400" dirty="0">
              <a:latin typeface="Calibri" panose="020F0502020204030204" pitchFamily="34" charset="0"/>
              <a:ea typeface="ＭＳ Ｐゴシック" charset="-128"/>
              <a:cs typeface="Calibri" panose="020F0502020204030204" pitchFamily="34" charset="0"/>
            </a:endParaRPr>
          </a:p>
          <a:p>
            <a:pPr marL="342900" indent="-342900">
              <a:buFont typeface="Arial" panose="020B0604020202020204" pitchFamily="34" charset="0"/>
              <a:buChar char="•"/>
            </a:pPr>
            <a:endParaRPr lang="en-US" altLang="en-US" sz="2400" dirty="0">
              <a:latin typeface="Calibri" panose="020F0502020204030204" pitchFamily="34" charset="0"/>
              <a:ea typeface="ＭＳ Ｐゴシック" charset="-128"/>
              <a:cs typeface="Calibri" panose="020F0502020204030204" pitchFamily="34" charset="0"/>
            </a:endParaRPr>
          </a:p>
          <a:p>
            <a:pPr marL="342900" indent="-342900">
              <a:buFont typeface="Arial" panose="020B0604020202020204" pitchFamily="34" charset="0"/>
              <a:buChar char="•"/>
            </a:pPr>
            <a:r>
              <a:rPr lang="en-US" altLang="en-US" sz="2400" dirty="0">
                <a:latin typeface="Calibri" panose="020F0502020204030204" pitchFamily="34" charset="0"/>
                <a:ea typeface="ＭＳ Ｐゴシック" charset="-128"/>
                <a:cs typeface="Calibri" panose="020F0502020204030204" pitchFamily="34" charset="0"/>
              </a:rPr>
              <a:t>Unpredictable, ever-changing environment. Requires individual to adjust to environment containing objects that have spatial and/or temporal qualities.</a:t>
            </a:r>
          </a:p>
          <a:p>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465541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Line 131"/>
          <p:cNvSpPr>
            <a:spLocks noChangeShapeType="1"/>
          </p:cNvSpPr>
          <p:nvPr/>
        </p:nvSpPr>
        <p:spPr bwMode="auto">
          <a:xfrm>
            <a:off x="4729842" y="419100"/>
            <a:ext cx="0" cy="965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a:lstStyle/>
          <a:p>
            <a:endParaRPr lang="en-US"/>
          </a:p>
        </p:txBody>
      </p:sp>
      <p:sp>
        <p:nvSpPr>
          <p:cNvPr id="97282" name="Line 176"/>
          <p:cNvSpPr>
            <a:spLocks noChangeShapeType="1"/>
          </p:cNvSpPr>
          <p:nvPr/>
        </p:nvSpPr>
        <p:spPr bwMode="auto">
          <a:xfrm>
            <a:off x="4729842" y="1384300"/>
            <a:ext cx="0" cy="10160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a:lstStyle/>
          <a:p>
            <a:endParaRPr lang="en-US"/>
          </a:p>
        </p:txBody>
      </p:sp>
      <p:sp>
        <p:nvSpPr>
          <p:cNvPr id="97283" name="Line 179"/>
          <p:cNvSpPr>
            <a:spLocks noChangeShapeType="1"/>
          </p:cNvSpPr>
          <p:nvPr/>
        </p:nvSpPr>
        <p:spPr bwMode="auto">
          <a:xfrm>
            <a:off x="4729842" y="2400300"/>
            <a:ext cx="0" cy="10160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a:lstStyle/>
          <a:p>
            <a:endParaRPr lang="en-US"/>
          </a:p>
        </p:txBody>
      </p:sp>
      <p:sp>
        <p:nvSpPr>
          <p:cNvPr id="97284" name="Line 183"/>
          <p:cNvSpPr>
            <a:spLocks noChangeShapeType="1"/>
          </p:cNvSpPr>
          <p:nvPr/>
        </p:nvSpPr>
        <p:spPr bwMode="auto">
          <a:xfrm>
            <a:off x="4729842" y="3416300"/>
            <a:ext cx="0" cy="10160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a:lstStyle/>
          <a:p>
            <a:endParaRPr lang="en-US"/>
          </a:p>
        </p:txBody>
      </p:sp>
      <p:sp>
        <p:nvSpPr>
          <p:cNvPr id="97285" name="Line 187"/>
          <p:cNvSpPr>
            <a:spLocks noChangeShapeType="1"/>
          </p:cNvSpPr>
          <p:nvPr/>
        </p:nvSpPr>
        <p:spPr bwMode="auto">
          <a:xfrm>
            <a:off x="4729842" y="4432300"/>
            <a:ext cx="0" cy="10160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a:lstStyle/>
          <a:p>
            <a:endParaRPr lang="en-US"/>
          </a:p>
        </p:txBody>
      </p:sp>
      <p:grpSp>
        <p:nvGrpSpPr>
          <p:cNvPr id="97286" name="Group 242"/>
          <p:cNvGrpSpPr>
            <a:grpSpLocks/>
          </p:cNvGrpSpPr>
          <p:nvPr/>
        </p:nvGrpSpPr>
        <p:grpSpPr bwMode="auto">
          <a:xfrm>
            <a:off x="3736067" y="342900"/>
            <a:ext cx="8156575" cy="5410200"/>
            <a:chOff x="334" y="528"/>
            <a:chExt cx="5138" cy="3408"/>
          </a:xfrm>
        </p:grpSpPr>
        <p:sp>
          <p:nvSpPr>
            <p:cNvPr id="97308" name="Text Box 93"/>
            <p:cNvSpPr txBox="1">
              <a:spLocks noChangeArrowheads="1"/>
            </p:cNvSpPr>
            <p:nvPr/>
          </p:nvSpPr>
          <p:spPr bwMode="auto">
            <a:xfrm>
              <a:off x="864" y="3384"/>
              <a:ext cx="104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50000"/>
                </a:spcBef>
              </a:pPr>
              <a:r>
                <a:rPr lang="en-US" altLang="en-US" sz="2000" dirty="0">
                  <a:latin typeface="Calibri" panose="020F0502020204030204" pitchFamily="34" charset="0"/>
                  <a:cs typeface="Calibri" panose="020F0502020204030204" pitchFamily="34" charset="0"/>
                </a:rPr>
                <a:t>In-motion </a:t>
              </a:r>
              <a:r>
                <a:rPr lang="en-US" altLang="en-US" sz="2000" dirty="0" err="1">
                  <a:latin typeface="Calibri" panose="020F0502020204030204" pitchFamily="34" charset="0"/>
                  <a:cs typeface="Calibri" panose="020F0502020204030204" pitchFamily="34" charset="0"/>
                </a:rPr>
                <a:t>Intertrial</a:t>
              </a:r>
              <a:r>
                <a:rPr lang="en-US" altLang="en-US" sz="2000" dirty="0">
                  <a:latin typeface="Calibri" panose="020F0502020204030204" pitchFamily="34" charset="0"/>
                  <a:cs typeface="Calibri" panose="020F0502020204030204" pitchFamily="34" charset="0"/>
                </a:rPr>
                <a:t> </a:t>
              </a:r>
              <a:r>
                <a:rPr lang="en-US" altLang="en-US" sz="2000" dirty="0" err="1">
                  <a:latin typeface="Calibri" panose="020F0502020204030204" pitchFamily="34" charset="0"/>
                  <a:cs typeface="Calibri" panose="020F0502020204030204" pitchFamily="34" charset="0"/>
                </a:rPr>
                <a:t>Var</a:t>
              </a:r>
              <a:endParaRPr lang="en-US" altLang="en-US" sz="2000" dirty="0">
                <a:latin typeface="Calibri" panose="020F0502020204030204" pitchFamily="34" charset="0"/>
                <a:cs typeface="Calibri" panose="020F0502020204030204" pitchFamily="34" charset="0"/>
              </a:endParaRPr>
            </a:p>
          </p:txBody>
        </p:sp>
        <p:sp>
          <p:nvSpPr>
            <p:cNvPr id="97309" name="Text Box 94"/>
            <p:cNvSpPr txBox="1">
              <a:spLocks noChangeArrowheads="1"/>
            </p:cNvSpPr>
            <p:nvPr/>
          </p:nvSpPr>
          <p:spPr bwMode="auto">
            <a:xfrm>
              <a:off x="864" y="2748"/>
              <a:ext cx="100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50000"/>
                </a:spcBef>
              </a:pPr>
              <a:r>
                <a:rPr lang="en-US" altLang="en-US" sz="2000" dirty="0">
                  <a:latin typeface="Calibri" panose="020F0502020204030204" pitchFamily="34" charset="0"/>
                  <a:cs typeface="Calibri" panose="020F0502020204030204" pitchFamily="34" charset="0"/>
                </a:rPr>
                <a:t>In-motion   No </a:t>
              </a:r>
              <a:r>
                <a:rPr lang="en-US" altLang="en-US" sz="2000" dirty="0" err="1">
                  <a:latin typeface="Calibri" panose="020F0502020204030204" pitchFamily="34" charset="0"/>
                  <a:cs typeface="Calibri" panose="020F0502020204030204" pitchFamily="34" charset="0"/>
                </a:rPr>
                <a:t>Intertrial</a:t>
              </a:r>
              <a:endParaRPr lang="en-US" altLang="en-US" sz="2000" dirty="0">
                <a:latin typeface="Calibri" panose="020F0502020204030204" pitchFamily="34" charset="0"/>
                <a:cs typeface="Calibri" panose="020F0502020204030204" pitchFamily="34" charset="0"/>
              </a:endParaRPr>
            </a:p>
          </p:txBody>
        </p:sp>
        <p:sp>
          <p:nvSpPr>
            <p:cNvPr id="97310" name="Text Box 95"/>
            <p:cNvSpPr txBox="1">
              <a:spLocks noChangeArrowheads="1"/>
            </p:cNvSpPr>
            <p:nvPr/>
          </p:nvSpPr>
          <p:spPr bwMode="auto">
            <a:xfrm>
              <a:off x="864" y="2100"/>
              <a:ext cx="100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50000"/>
                </a:spcBef>
              </a:pPr>
              <a:r>
                <a:rPr lang="en-US" altLang="en-US" sz="2000" dirty="0">
                  <a:latin typeface="Calibri" panose="020F0502020204030204" pitchFamily="34" charset="0"/>
                  <a:cs typeface="Calibri" panose="020F0502020204030204" pitchFamily="34" charset="0"/>
                </a:rPr>
                <a:t>Stationary </a:t>
              </a:r>
              <a:r>
                <a:rPr lang="en-US" altLang="en-US" sz="2000" dirty="0" err="1">
                  <a:latin typeface="Calibri" panose="020F0502020204030204" pitchFamily="34" charset="0"/>
                  <a:cs typeface="Calibri" panose="020F0502020204030204" pitchFamily="34" charset="0"/>
                </a:rPr>
                <a:t>Intertrial</a:t>
              </a:r>
              <a:r>
                <a:rPr lang="en-US" altLang="en-US" sz="2000" dirty="0">
                  <a:latin typeface="Calibri" panose="020F0502020204030204" pitchFamily="34" charset="0"/>
                  <a:cs typeface="Calibri" panose="020F0502020204030204" pitchFamily="34" charset="0"/>
                </a:rPr>
                <a:t> </a:t>
              </a:r>
              <a:r>
                <a:rPr lang="en-US" altLang="en-US" sz="2000" dirty="0" err="1">
                  <a:latin typeface="Calibri" panose="020F0502020204030204" pitchFamily="34" charset="0"/>
                  <a:cs typeface="Calibri" panose="020F0502020204030204" pitchFamily="34" charset="0"/>
                </a:rPr>
                <a:t>Var</a:t>
              </a:r>
              <a:endParaRPr lang="en-US" altLang="en-US" sz="2000" dirty="0">
                <a:latin typeface="Calibri" panose="020F0502020204030204" pitchFamily="34" charset="0"/>
                <a:cs typeface="Calibri" panose="020F0502020204030204" pitchFamily="34" charset="0"/>
              </a:endParaRPr>
            </a:p>
          </p:txBody>
        </p:sp>
        <p:sp>
          <p:nvSpPr>
            <p:cNvPr id="97311" name="Text Box 96"/>
            <p:cNvSpPr txBox="1">
              <a:spLocks noChangeArrowheads="1"/>
            </p:cNvSpPr>
            <p:nvPr/>
          </p:nvSpPr>
          <p:spPr bwMode="auto">
            <a:xfrm>
              <a:off x="864" y="1476"/>
              <a:ext cx="100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50000"/>
                </a:spcBef>
              </a:pPr>
              <a:r>
                <a:rPr lang="en-US" altLang="en-US" sz="2000" dirty="0">
                  <a:latin typeface="Calibri" panose="020F0502020204030204" pitchFamily="34" charset="0"/>
                  <a:cs typeface="Calibri" panose="020F0502020204030204" pitchFamily="34" charset="0"/>
                </a:rPr>
                <a:t>Stationary  No </a:t>
              </a:r>
              <a:r>
                <a:rPr lang="en-US" altLang="en-US" sz="2000" dirty="0" err="1">
                  <a:latin typeface="Calibri" panose="020F0502020204030204" pitchFamily="34" charset="0"/>
                  <a:cs typeface="Calibri" panose="020F0502020204030204" pitchFamily="34" charset="0"/>
                </a:rPr>
                <a:t>Intertrial</a:t>
              </a:r>
              <a:endParaRPr lang="en-US" altLang="en-US" sz="2000" dirty="0">
                <a:latin typeface="Calibri" panose="020F0502020204030204" pitchFamily="34" charset="0"/>
                <a:cs typeface="Calibri" panose="020F0502020204030204" pitchFamily="34" charset="0"/>
              </a:endParaRPr>
            </a:p>
          </p:txBody>
        </p:sp>
        <p:sp>
          <p:nvSpPr>
            <p:cNvPr id="97312" name="Rectangle 146"/>
            <p:cNvSpPr>
              <a:spLocks noChangeArrowheads="1"/>
            </p:cNvSpPr>
            <p:nvPr/>
          </p:nvSpPr>
          <p:spPr bwMode="auto">
            <a:xfrm>
              <a:off x="4512" y="3296"/>
              <a:ext cx="96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13" name="Rectangle 144"/>
            <p:cNvSpPr>
              <a:spLocks noChangeArrowheads="1"/>
            </p:cNvSpPr>
            <p:nvPr/>
          </p:nvSpPr>
          <p:spPr bwMode="auto">
            <a:xfrm>
              <a:off x="3648" y="3296"/>
              <a:ext cx="864"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14" name="Rectangle 142"/>
            <p:cNvSpPr>
              <a:spLocks noChangeArrowheads="1"/>
            </p:cNvSpPr>
            <p:nvPr/>
          </p:nvSpPr>
          <p:spPr bwMode="auto">
            <a:xfrm>
              <a:off x="2688" y="3296"/>
              <a:ext cx="96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15" name="Rectangle 140"/>
            <p:cNvSpPr>
              <a:spLocks noChangeArrowheads="1"/>
            </p:cNvSpPr>
            <p:nvPr/>
          </p:nvSpPr>
          <p:spPr bwMode="auto">
            <a:xfrm>
              <a:off x="1728" y="3296"/>
              <a:ext cx="96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16" name="Rectangle 138"/>
            <p:cNvSpPr>
              <a:spLocks noChangeArrowheads="1"/>
            </p:cNvSpPr>
            <p:nvPr/>
          </p:nvSpPr>
          <p:spPr bwMode="auto">
            <a:xfrm>
              <a:off x="960" y="3296"/>
              <a:ext cx="76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17" name="Rectangle 125"/>
            <p:cNvSpPr>
              <a:spLocks noChangeArrowheads="1"/>
            </p:cNvSpPr>
            <p:nvPr/>
          </p:nvSpPr>
          <p:spPr bwMode="auto">
            <a:xfrm>
              <a:off x="4512" y="2656"/>
              <a:ext cx="96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18" name="Rectangle 124"/>
            <p:cNvSpPr>
              <a:spLocks noChangeArrowheads="1"/>
            </p:cNvSpPr>
            <p:nvPr/>
          </p:nvSpPr>
          <p:spPr bwMode="auto">
            <a:xfrm>
              <a:off x="3648" y="2656"/>
              <a:ext cx="864"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19" name="Rectangle 123"/>
            <p:cNvSpPr>
              <a:spLocks noChangeArrowheads="1"/>
            </p:cNvSpPr>
            <p:nvPr/>
          </p:nvSpPr>
          <p:spPr bwMode="auto">
            <a:xfrm>
              <a:off x="2688" y="2656"/>
              <a:ext cx="96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20" name="Rectangle 122"/>
            <p:cNvSpPr>
              <a:spLocks noChangeArrowheads="1"/>
            </p:cNvSpPr>
            <p:nvPr/>
          </p:nvSpPr>
          <p:spPr bwMode="auto">
            <a:xfrm>
              <a:off x="1728" y="2656"/>
              <a:ext cx="96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21" name="Rectangle 121"/>
            <p:cNvSpPr>
              <a:spLocks noChangeArrowheads="1"/>
            </p:cNvSpPr>
            <p:nvPr/>
          </p:nvSpPr>
          <p:spPr bwMode="auto">
            <a:xfrm>
              <a:off x="960" y="2656"/>
              <a:ext cx="76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22" name="Rectangle 120"/>
            <p:cNvSpPr>
              <a:spLocks noChangeArrowheads="1"/>
            </p:cNvSpPr>
            <p:nvPr/>
          </p:nvSpPr>
          <p:spPr bwMode="auto">
            <a:xfrm>
              <a:off x="4512" y="2016"/>
              <a:ext cx="96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23" name="Rectangle 119"/>
            <p:cNvSpPr>
              <a:spLocks noChangeArrowheads="1"/>
            </p:cNvSpPr>
            <p:nvPr/>
          </p:nvSpPr>
          <p:spPr bwMode="auto">
            <a:xfrm>
              <a:off x="3648" y="2016"/>
              <a:ext cx="864"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24" name="Rectangle 118"/>
            <p:cNvSpPr>
              <a:spLocks noChangeArrowheads="1"/>
            </p:cNvSpPr>
            <p:nvPr/>
          </p:nvSpPr>
          <p:spPr bwMode="auto">
            <a:xfrm>
              <a:off x="2688" y="2016"/>
              <a:ext cx="96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25" name="Rectangle 117"/>
            <p:cNvSpPr>
              <a:spLocks noChangeArrowheads="1"/>
            </p:cNvSpPr>
            <p:nvPr/>
          </p:nvSpPr>
          <p:spPr bwMode="auto">
            <a:xfrm>
              <a:off x="1728" y="2016"/>
              <a:ext cx="96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26" name="Rectangle 116"/>
            <p:cNvSpPr>
              <a:spLocks noChangeArrowheads="1"/>
            </p:cNvSpPr>
            <p:nvPr/>
          </p:nvSpPr>
          <p:spPr bwMode="auto">
            <a:xfrm>
              <a:off x="960" y="2016"/>
              <a:ext cx="76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27" name="Rectangle 115"/>
            <p:cNvSpPr>
              <a:spLocks noChangeArrowheads="1"/>
            </p:cNvSpPr>
            <p:nvPr/>
          </p:nvSpPr>
          <p:spPr bwMode="auto">
            <a:xfrm>
              <a:off x="4512" y="1376"/>
              <a:ext cx="96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28" name="Rectangle 114"/>
            <p:cNvSpPr>
              <a:spLocks noChangeArrowheads="1"/>
            </p:cNvSpPr>
            <p:nvPr/>
          </p:nvSpPr>
          <p:spPr bwMode="auto">
            <a:xfrm>
              <a:off x="3648" y="1376"/>
              <a:ext cx="864"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29" name="Rectangle 113"/>
            <p:cNvSpPr>
              <a:spLocks noChangeArrowheads="1"/>
            </p:cNvSpPr>
            <p:nvPr/>
          </p:nvSpPr>
          <p:spPr bwMode="auto">
            <a:xfrm>
              <a:off x="2688" y="1376"/>
              <a:ext cx="96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30" name="Rectangle 112"/>
            <p:cNvSpPr>
              <a:spLocks noChangeArrowheads="1"/>
            </p:cNvSpPr>
            <p:nvPr/>
          </p:nvSpPr>
          <p:spPr bwMode="auto">
            <a:xfrm>
              <a:off x="1728" y="1376"/>
              <a:ext cx="96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31" name="Rectangle 111"/>
            <p:cNvSpPr>
              <a:spLocks noChangeArrowheads="1"/>
            </p:cNvSpPr>
            <p:nvPr/>
          </p:nvSpPr>
          <p:spPr bwMode="auto">
            <a:xfrm>
              <a:off x="960" y="1376"/>
              <a:ext cx="76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32" name="Rectangle 110"/>
            <p:cNvSpPr>
              <a:spLocks noChangeArrowheads="1"/>
            </p:cNvSpPr>
            <p:nvPr/>
          </p:nvSpPr>
          <p:spPr bwMode="auto">
            <a:xfrm>
              <a:off x="4512" y="768"/>
              <a:ext cx="960"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33" name="Rectangle 109"/>
            <p:cNvSpPr>
              <a:spLocks noChangeArrowheads="1"/>
            </p:cNvSpPr>
            <p:nvPr/>
          </p:nvSpPr>
          <p:spPr bwMode="auto">
            <a:xfrm>
              <a:off x="3648" y="768"/>
              <a:ext cx="864"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34" name="Rectangle 108"/>
            <p:cNvSpPr>
              <a:spLocks noChangeArrowheads="1"/>
            </p:cNvSpPr>
            <p:nvPr/>
          </p:nvSpPr>
          <p:spPr bwMode="auto">
            <a:xfrm>
              <a:off x="2688" y="768"/>
              <a:ext cx="960"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35" name="Rectangle 107"/>
            <p:cNvSpPr>
              <a:spLocks noChangeArrowheads="1"/>
            </p:cNvSpPr>
            <p:nvPr/>
          </p:nvSpPr>
          <p:spPr bwMode="auto">
            <a:xfrm>
              <a:off x="1728" y="768"/>
              <a:ext cx="960"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36" name="Rectangle 106"/>
            <p:cNvSpPr>
              <a:spLocks noChangeArrowheads="1"/>
            </p:cNvSpPr>
            <p:nvPr/>
          </p:nvSpPr>
          <p:spPr bwMode="auto">
            <a:xfrm>
              <a:off x="960" y="768"/>
              <a:ext cx="768"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20000"/>
                </a:spcBef>
              </a:pPr>
              <a:endParaRPr lang="en-US" altLang="en-US" sz="2600">
                <a:latin typeface="Calibri" panose="020F0502020204030204" pitchFamily="34" charset="0"/>
                <a:cs typeface="Calibri" panose="020F0502020204030204" pitchFamily="34" charset="0"/>
              </a:endParaRPr>
            </a:p>
          </p:txBody>
        </p:sp>
        <p:sp>
          <p:nvSpPr>
            <p:cNvPr id="97337" name="Line 126"/>
            <p:cNvSpPr>
              <a:spLocks noChangeShapeType="1"/>
            </p:cNvSpPr>
            <p:nvPr/>
          </p:nvSpPr>
          <p:spPr bwMode="auto">
            <a:xfrm>
              <a:off x="960" y="768"/>
              <a:ext cx="4512" cy="0"/>
            </a:xfrm>
            <a:prstGeom prst="line">
              <a:avLst/>
            </a:prstGeom>
            <a:noFill/>
            <a:ln w="12700">
              <a:solidFill>
                <a:srgbClr val="33CCFF"/>
              </a:solidFill>
              <a:round/>
              <a:headEnd/>
              <a:tailEn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97338" name="Line 127"/>
            <p:cNvSpPr>
              <a:spLocks noChangeShapeType="1"/>
            </p:cNvSpPr>
            <p:nvPr/>
          </p:nvSpPr>
          <p:spPr bwMode="auto">
            <a:xfrm>
              <a:off x="960" y="1376"/>
              <a:ext cx="4512" cy="0"/>
            </a:xfrm>
            <a:prstGeom prst="line">
              <a:avLst/>
            </a:prstGeom>
            <a:noFill/>
            <a:ln w="12700">
              <a:solidFill>
                <a:srgbClr val="33CCFF"/>
              </a:solidFill>
              <a:round/>
              <a:headEnd/>
              <a:tailEn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97339" name="Line 128"/>
            <p:cNvSpPr>
              <a:spLocks noChangeShapeType="1"/>
            </p:cNvSpPr>
            <p:nvPr/>
          </p:nvSpPr>
          <p:spPr bwMode="auto">
            <a:xfrm>
              <a:off x="960" y="2016"/>
              <a:ext cx="4512" cy="0"/>
            </a:xfrm>
            <a:prstGeom prst="line">
              <a:avLst/>
            </a:prstGeom>
            <a:noFill/>
            <a:ln w="12700">
              <a:solidFill>
                <a:srgbClr val="33CCFF"/>
              </a:solidFill>
              <a:round/>
              <a:headEnd/>
              <a:tailEn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97340" name="Line 129"/>
            <p:cNvSpPr>
              <a:spLocks noChangeShapeType="1"/>
            </p:cNvSpPr>
            <p:nvPr/>
          </p:nvSpPr>
          <p:spPr bwMode="auto">
            <a:xfrm>
              <a:off x="960" y="2656"/>
              <a:ext cx="4512" cy="0"/>
            </a:xfrm>
            <a:prstGeom prst="line">
              <a:avLst/>
            </a:prstGeom>
            <a:noFill/>
            <a:ln w="12700">
              <a:solidFill>
                <a:srgbClr val="33CCFF"/>
              </a:solidFill>
              <a:round/>
              <a:headEnd/>
              <a:tailEn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97341" name="Line 130"/>
            <p:cNvSpPr>
              <a:spLocks noChangeShapeType="1"/>
            </p:cNvSpPr>
            <p:nvPr/>
          </p:nvSpPr>
          <p:spPr bwMode="auto">
            <a:xfrm>
              <a:off x="960" y="3936"/>
              <a:ext cx="4512" cy="0"/>
            </a:xfrm>
            <a:prstGeom prst="line">
              <a:avLst/>
            </a:prstGeom>
            <a:noFill/>
            <a:ln w="12700">
              <a:solidFill>
                <a:srgbClr val="33CCFF"/>
              </a:solidFill>
              <a:round/>
              <a:headEnd/>
              <a:tailEn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97342" name="Line 132"/>
            <p:cNvSpPr>
              <a:spLocks noChangeShapeType="1"/>
            </p:cNvSpPr>
            <p:nvPr/>
          </p:nvSpPr>
          <p:spPr bwMode="auto">
            <a:xfrm>
              <a:off x="1728" y="768"/>
              <a:ext cx="0" cy="3168"/>
            </a:xfrm>
            <a:prstGeom prst="line">
              <a:avLst/>
            </a:prstGeom>
            <a:noFill/>
            <a:ln w="12700">
              <a:solidFill>
                <a:srgbClr val="33CCFF"/>
              </a:solidFill>
              <a:round/>
              <a:headEnd/>
              <a:tailEn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97343" name="Line 133"/>
            <p:cNvSpPr>
              <a:spLocks noChangeShapeType="1"/>
            </p:cNvSpPr>
            <p:nvPr/>
          </p:nvSpPr>
          <p:spPr bwMode="auto">
            <a:xfrm>
              <a:off x="2688" y="768"/>
              <a:ext cx="0" cy="3168"/>
            </a:xfrm>
            <a:prstGeom prst="line">
              <a:avLst/>
            </a:prstGeom>
            <a:noFill/>
            <a:ln w="12700">
              <a:solidFill>
                <a:srgbClr val="33CCFF"/>
              </a:solidFill>
              <a:round/>
              <a:headEnd/>
              <a:tailEn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97344" name="Line 134"/>
            <p:cNvSpPr>
              <a:spLocks noChangeShapeType="1"/>
            </p:cNvSpPr>
            <p:nvPr/>
          </p:nvSpPr>
          <p:spPr bwMode="auto">
            <a:xfrm>
              <a:off x="3648" y="768"/>
              <a:ext cx="0" cy="3168"/>
            </a:xfrm>
            <a:prstGeom prst="line">
              <a:avLst/>
            </a:prstGeom>
            <a:noFill/>
            <a:ln w="12700">
              <a:solidFill>
                <a:srgbClr val="33CCFF"/>
              </a:solidFill>
              <a:round/>
              <a:headEnd/>
              <a:tailEn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97345" name="Line 135"/>
            <p:cNvSpPr>
              <a:spLocks noChangeShapeType="1"/>
            </p:cNvSpPr>
            <p:nvPr/>
          </p:nvSpPr>
          <p:spPr bwMode="auto">
            <a:xfrm>
              <a:off x="4512" y="768"/>
              <a:ext cx="0" cy="3168"/>
            </a:xfrm>
            <a:prstGeom prst="line">
              <a:avLst/>
            </a:prstGeom>
            <a:noFill/>
            <a:ln w="12700">
              <a:solidFill>
                <a:srgbClr val="33CCFF"/>
              </a:solidFill>
              <a:round/>
              <a:headEnd/>
              <a:tailEn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97346" name="Line 136"/>
            <p:cNvSpPr>
              <a:spLocks noChangeShapeType="1"/>
            </p:cNvSpPr>
            <p:nvPr/>
          </p:nvSpPr>
          <p:spPr bwMode="auto">
            <a:xfrm>
              <a:off x="5472" y="768"/>
              <a:ext cx="0" cy="3168"/>
            </a:xfrm>
            <a:prstGeom prst="line">
              <a:avLst/>
            </a:prstGeom>
            <a:noFill/>
            <a:ln w="12700">
              <a:solidFill>
                <a:srgbClr val="33CCFF"/>
              </a:solidFill>
              <a:round/>
              <a:headEnd/>
              <a:tailEn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97347" name="Line 139"/>
            <p:cNvSpPr>
              <a:spLocks noChangeShapeType="1"/>
            </p:cNvSpPr>
            <p:nvPr/>
          </p:nvSpPr>
          <p:spPr bwMode="auto">
            <a:xfrm>
              <a:off x="960" y="3296"/>
              <a:ext cx="4512" cy="0"/>
            </a:xfrm>
            <a:prstGeom prst="line">
              <a:avLst/>
            </a:prstGeom>
            <a:noFill/>
            <a:ln w="12700">
              <a:solidFill>
                <a:srgbClr val="33CCFF"/>
              </a:solidFill>
              <a:round/>
              <a:headEnd/>
              <a:tailEnd/>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97348" name="Text Box 149"/>
            <p:cNvSpPr txBox="1">
              <a:spLocks noChangeArrowheads="1"/>
            </p:cNvSpPr>
            <p:nvPr/>
          </p:nvSpPr>
          <p:spPr bwMode="auto">
            <a:xfrm rot="16200000">
              <a:off x="-84" y="2378"/>
              <a:ext cx="112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r>
                <a:rPr lang="en-US" altLang="en-US">
                  <a:latin typeface="Calibri" panose="020F0502020204030204" pitchFamily="34" charset="0"/>
                  <a:cs typeface="Calibri" panose="020F0502020204030204" pitchFamily="34" charset="0"/>
                </a:rPr>
                <a:t>Environment</a:t>
              </a:r>
            </a:p>
          </p:txBody>
        </p:sp>
        <p:sp>
          <p:nvSpPr>
            <p:cNvPr id="97349" name="Text Box 150"/>
            <p:cNvSpPr txBox="1">
              <a:spLocks noChangeArrowheads="1"/>
            </p:cNvSpPr>
            <p:nvPr/>
          </p:nvSpPr>
          <p:spPr bwMode="auto">
            <a:xfrm>
              <a:off x="3072" y="528"/>
              <a:ext cx="14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eaLnBrk="1" hangingPunct="1">
                <a:spcBef>
                  <a:spcPct val="50000"/>
                </a:spcBef>
              </a:pPr>
              <a:r>
                <a:rPr lang="en-US" altLang="en-US" dirty="0">
                  <a:latin typeface="Calibri" panose="020F0502020204030204" pitchFamily="34" charset="0"/>
                  <a:cs typeface="Calibri" panose="020F0502020204030204" pitchFamily="34" charset="0"/>
                </a:rPr>
                <a:t>Task</a:t>
              </a:r>
            </a:p>
          </p:txBody>
        </p:sp>
        <p:sp>
          <p:nvSpPr>
            <p:cNvPr id="97350" name="Text Box 151"/>
            <p:cNvSpPr txBox="1">
              <a:spLocks noChangeArrowheads="1"/>
            </p:cNvSpPr>
            <p:nvPr/>
          </p:nvSpPr>
          <p:spPr bwMode="auto">
            <a:xfrm>
              <a:off x="1756" y="844"/>
              <a:ext cx="81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800" dirty="0">
                  <a:latin typeface="Calibri" panose="020F0502020204030204" pitchFamily="34" charset="0"/>
                  <a:cs typeface="Calibri" panose="020F0502020204030204" pitchFamily="34" charset="0"/>
                </a:rPr>
                <a:t>Body Stable</a:t>
              </a:r>
            </a:p>
            <a:p>
              <a:pPr algn="ctr" eaLnBrk="1" hangingPunct="1"/>
              <a:r>
                <a:rPr lang="en-US" altLang="en-US" sz="1800" dirty="0">
                  <a:latin typeface="Calibri" panose="020F0502020204030204" pitchFamily="34" charset="0"/>
                  <a:cs typeface="Calibri" panose="020F0502020204030204" pitchFamily="34" charset="0"/>
                </a:rPr>
                <a:t>No </a:t>
              </a:r>
              <a:r>
                <a:rPr lang="en-US" altLang="en-US" sz="1800" dirty="0" err="1">
                  <a:latin typeface="Calibri" panose="020F0502020204030204" pitchFamily="34" charset="0"/>
                  <a:cs typeface="Calibri" panose="020F0502020204030204" pitchFamily="34" charset="0"/>
                </a:rPr>
                <a:t>manip</a:t>
              </a:r>
              <a:endParaRPr lang="en-US" altLang="en-US" sz="1800" dirty="0">
                <a:latin typeface="Calibri" panose="020F0502020204030204" pitchFamily="34" charset="0"/>
                <a:cs typeface="Calibri" panose="020F0502020204030204" pitchFamily="34" charset="0"/>
              </a:endParaRPr>
            </a:p>
          </p:txBody>
        </p:sp>
        <p:sp>
          <p:nvSpPr>
            <p:cNvPr id="97351" name="Text Box 152"/>
            <p:cNvSpPr txBox="1">
              <a:spLocks noChangeArrowheads="1"/>
            </p:cNvSpPr>
            <p:nvPr/>
          </p:nvSpPr>
          <p:spPr bwMode="auto">
            <a:xfrm>
              <a:off x="2791" y="844"/>
              <a:ext cx="81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800">
                  <a:latin typeface="Calibri" panose="020F0502020204030204" pitchFamily="34" charset="0"/>
                  <a:cs typeface="Calibri" panose="020F0502020204030204" pitchFamily="34" charset="0"/>
                </a:rPr>
                <a:t>Body Stable</a:t>
              </a:r>
              <a:endParaRPr lang="en-US" altLang="en-US" sz="1800" dirty="0">
                <a:latin typeface="Calibri" panose="020F0502020204030204" pitchFamily="34" charset="0"/>
                <a:cs typeface="Calibri" panose="020F0502020204030204" pitchFamily="34" charset="0"/>
              </a:endParaRPr>
            </a:p>
            <a:p>
              <a:pPr algn="ctr" eaLnBrk="1" hangingPunct="1"/>
              <a:r>
                <a:rPr lang="en-US" altLang="en-US" sz="1800" dirty="0" err="1">
                  <a:latin typeface="Calibri" panose="020F0502020204030204" pitchFamily="34" charset="0"/>
                  <a:cs typeface="Calibri" panose="020F0502020204030204" pitchFamily="34" charset="0"/>
                </a:rPr>
                <a:t>Manip</a:t>
              </a:r>
              <a:endParaRPr lang="en-US" altLang="en-US" sz="1800" dirty="0">
                <a:latin typeface="Calibri" panose="020F0502020204030204" pitchFamily="34" charset="0"/>
                <a:cs typeface="Calibri" panose="020F0502020204030204" pitchFamily="34" charset="0"/>
              </a:endParaRPr>
            </a:p>
          </p:txBody>
        </p:sp>
        <p:sp>
          <p:nvSpPr>
            <p:cNvPr id="97352" name="Text Box 153"/>
            <p:cNvSpPr txBox="1">
              <a:spLocks noChangeArrowheads="1"/>
            </p:cNvSpPr>
            <p:nvPr/>
          </p:nvSpPr>
          <p:spPr bwMode="auto">
            <a:xfrm>
              <a:off x="3681" y="844"/>
              <a:ext cx="76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800">
                  <a:latin typeface="Calibri" panose="020F0502020204030204" pitchFamily="34" charset="0"/>
                  <a:cs typeface="Calibri" panose="020F0502020204030204" pitchFamily="34" charset="0"/>
                </a:rPr>
                <a:t>Body </a:t>
              </a:r>
              <a:r>
                <a:rPr lang="en-US" altLang="en-US" sz="1800" dirty="0" err="1">
                  <a:latin typeface="Calibri" panose="020F0502020204030204" pitchFamily="34" charset="0"/>
                  <a:cs typeface="Calibri" panose="020F0502020204030204" pitchFamily="34" charset="0"/>
                </a:rPr>
                <a:t>xport</a:t>
              </a:r>
              <a:endParaRPr lang="en-US" altLang="en-US" sz="1800" dirty="0">
                <a:latin typeface="Calibri" panose="020F0502020204030204" pitchFamily="34" charset="0"/>
                <a:cs typeface="Calibri" panose="020F0502020204030204" pitchFamily="34" charset="0"/>
              </a:endParaRPr>
            </a:p>
            <a:p>
              <a:pPr algn="ctr" eaLnBrk="1" hangingPunct="1"/>
              <a:r>
                <a:rPr lang="en-US" altLang="en-US" sz="1800" dirty="0">
                  <a:latin typeface="Calibri" panose="020F0502020204030204" pitchFamily="34" charset="0"/>
                  <a:cs typeface="Calibri" panose="020F0502020204030204" pitchFamily="34" charset="0"/>
                </a:rPr>
                <a:t> No </a:t>
              </a:r>
              <a:r>
                <a:rPr lang="en-US" altLang="en-US" sz="1800" dirty="0" err="1">
                  <a:latin typeface="Calibri" panose="020F0502020204030204" pitchFamily="34" charset="0"/>
                  <a:cs typeface="Calibri" panose="020F0502020204030204" pitchFamily="34" charset="0"/>
                </a:rPr>
                <a:t>Manip</a:t>
              </a:r>
              <a:endParaRPr lang="en-US" altLang="en-US" sz="1800" dirty="0">
                <a:latin typeface="Calibri" panose="020F0502020204030204" pitchFamily="34" charset="0"/>
                <a:cs typeface="Calibri" panose="020F0502020204030204" pitchFamily="34" charset="0"/>
              </a:endParaRPr>
            </a:p>
          </p:txBody>
        </p:sp>
        <p:sp>
          <p:nvSpPr>
            <p:cNvPr id="97353" name="Text Box 154"/>
            <p:cNvSpPr txBox="1">
              <a:spLocks noChangeArrowheads="1"/>
            </p:cNvSpPr>
            <p:nvPr/>
          </p:nvSpPr>
          <p:spPr bwMode="auto">
            <a:xfrm>
              <a:off x="4593" y="840"/>
              <a:ext cx="76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800" dirty="0">
                  <a:latin typeface="Calibri" panose="020F0502020204030204" pitchFamily="34" charset="0"/>
                  <a:cs typeface="Calibri" panose="020F0502020204030204" pitchFamily="34" charset="0"/>
                </a:rPr>
                <a:t>Body </a:t>
              </a:r>
              <a:r>
                <a:rPr lang="en-US" altLang="en-US" sz="1800" dirty="0" err="1">
                  <a:latin typeface="Calibri" panose="020F0502020204030204" pitchFamily="34" charset="0"/>
                  <a:cs typeface="Calibri" panose="020F0502020204030204" pitchFamily="34" charset="0"/>
                </a:rPr>
                <a:t>xport</a:t>
              </a:r>
              <a:endParaRPr lang="en-US" altLang="en-US" sz="1800" dirty="0">
                <a:latin typeface="Calibri" panose="020F0502020204030204" pitchFamily="34" charset="0"/>
                <a:cs typeface="Calibri" panose="020F0502020204030204" pitchFamily="34" charset="0"/>
              </a:endParaRPr>
            </a:p>
            <a:p>
              <a:pPr algn="ctr" eaLnBrk="1" hangingPunct="1"/>
              <a:r>
                <a:rPr lang="en-US" altLang="en-US" sz="1800" dirty="0" err="1">
                  <a:latin typeface="Calibri" panose="020F0502020204030204" pitchFamily="34" charset="0"/>
                  <a:cs typeface="Calibri" panose="020F0502020204030204" pitchFamily="34" charset="0"/>
                </a:rPr>
                <a:t>Manip</a:t>
              </a:r>
              <a:endParaRPr lang="en-US" altLang="en-US" sz="1800" dirty="0">
                <a:latin typeface="Calibri" panose="020F0502020204030204" pitchFamily="34" charset="0"/>
                <a:cs typeface="Calibri" panose="020F0502020204030204" pitchFamily="34" charset="0"/>
              </a:endParaRPr>
            </a:p>
          </p:txBody>
        </p:sp>
      </p:grpSp>
      <p:grpSp>
        <p:nvGrpSpPr>
          <p:cNvPr id="3" name="Group 263"/>
          <p:cNvGrpSpPr>
            <a:grpSpLocks/>
          </p:cNvGrpSpPr>
          <p:nvPr/>
        </p:nvGrpSpPr>
        <p:grpSpPr bwMode="auto">
          <a:xfrm>
            <a:off x="6036355" y="1768477"/>
            <a:ext cx="5856288" cy="779463"/>
            <a:chOff x="1783" y="1618"/>
            <a:chExt cx="3689" cy="491"/>
          </a:xfrm>
        </p:grpSpPr>
        <p:sp>
          <p:nvSpPr>
            <p:cNvPr id="97304" name="Text Box 245"/>
            <p:cNvSpPr txBox="1">
              <a:spLocks noChangeArrowheads="1"/>
            </p:cNvSpPr>
            <p:nvPr/>
          </p:nvSpPr>
          <p:spPr bwMode="auto">
            <a:xfrm>
              <a:off x="1783" y="1618"/>
              <a:ext cx="834"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Closed</a:t>
              </a:r>
            </a:p>
            <a:p>
              <a:pPr algn="ctr" eaLnBrk="1" hangingPunct="1"/>
              <a:r>
                <a:rPr lang="en-US" altLang="en-US" sz="1400" dirty="0">
                  <a:latin typeface="Calibri" panose="020F0502020204030204" pitchFamily="34" charset="0"/>
                  <a:cs typeface="Calibri" panose="020F0502020204030204" pitchFamily="34" charset="0"/>
                </a:rPr>
                <a:t>Standing</a:t>
              </a:r>
            </a:p>
            <a:p>
              <a:pPr algn="ctr" eaLnBrk="1" hangingPunct="1"/>
              <a:r>
                <a:rPr lang="en-US" altLang="en-US" sz="1400" dirty="0">
                  <a:latin typeface="Calibri" panose="020F0502020204030204" pitchFamily="34" charset="0"/>
                  <a:cs typeface="Calibri" panose="020F0502020204030204" pitchFamily="34" charset="0"/>
                </a:rPr>
                <a:t>Balance</a:t>
              </a:r>
            </a:p>
          </p:txBody>
        </p:sp>
        <p:sp>
          <p:nvSpPr>
            <p:cNvPr id="97305" name="Text Box 246"/>
            <p:cNvSpPr txBox="1">
              <a:spLocks noChangeArrowheads="1"/>
            </p:cNvSpPr>
            <p:nvPr/>
          </p:nvSpPr>
          <p:spPr bwMode="auto">
            <a:xfrm>
              <a:off x="2713" y="1626"/>
              <a:ext cx="950"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Closed</a:t>
              </a:r>
            </a:p>
            <a:p>
              <a:pPr algn="ctr" eaLnBrk="1" hangingPunct="1"/>
              <a:r>
                <a:rPr lang="en-US" altLang="en-US" sz="1400" dirty="0">
                  <a:latin typeface="Calibri" panose="020F0502020204030204" pitchFamily="34" charset="0"/>
                  <a:cs typeface="Calibri" panose="020F0502020204030204" pitchFamily="34" charset="0"/>
                </a:rPr>
                <a:t>Standing </a:t>
              </a:r>
            </a:p>
            <a:p>
              <a:pPr algn="ctr" eaLnBrk="1" hangingPunct="1"/>
              <a:r>
                <a:rPr lang="en-US" altLang="en-US" sz="1400" dirty="0">
                  <a:latin typeface="Calibri" panose="020F0502020204030204" pitchFamily="34" charset="0"/>
                  <a:cs typeface="Calibri" panose="020F0502020204030204" pitchFamily="34" charset="0"/>
                </a:rPr>
                <a:t>Holding a ball</a:t>
              </a:r>
            </a:p>
          </p:txBody>
        </p:sp>
        <p:sp>
          <p:nvSpPr>
            <p:cNvPr id="97306" name="Text Box 247"/>
            <p:cNvSpPr txBox="1">
              <a:spLocks noChangeArrowheads="1"/>
            </p:cNvSpPr>
            <p:nvPr/>
          </p:nvSpPr>
          <p:spPr bwMode="auto">
            <a:xfrm>
              <a:off x="3686" y="1644"/>
              <a:ext cx="799"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Closed</a:t>
              </a:r>
            </a:p>
            <a:p>
              <a:pPr algn="ctr" eaLnBrk="1" hangingPunct="1"/>
              <a:r>
                <a:rPr lang="en-US" altLang="en-US" sz="1400" dirty="0">
                  <a:latin typeface="Calibri" panose="020F0502020204030204" pitchFamily="34" charset="0"/>
                  <a:cs typeface="Calibri" panose="020F0502020204030204" pitchFamily="34" charset="0"/>
                </a:rPr>
                <a:t>Walking</a:t>
              </a:r>
              <a:endParaRPr lang="en-US" altLang="en-US" sz="1400" i="1" dirty="0">
                <a:latin typeface="Calibri" panose="020F0502020204030204" pitchFamily="34" charset="0"/>
                <a:cs typeface="Calibri" panose="020F0502020204030204" pitchFamily="34" charset="0"/>
              </a:endParaRPr>
            </a:p>
            <a:p>
              <a:pPr algn="ctr" eaLnBrk="1" hangingPunct="1"/>
              <a:r>
                <a:rPr lang="en-US" altLang="en-US" sz="1400" dirty="0">
                  <a:latin typeface="Calibri" panose="020F0502020204030204" pitchFamily="34" charset="0"/>
                  <a:cs typeface="Calibri" panose="020F0502020204030204" pitchFamily="34" charset="0"/>
                </a:rPr>
                <a:t>Hallway </a:t>
              </a:r>
            </a:p>
          </p:txBody>
        </p:sp>
        <p:sp>
          <p:nvSpPr>
            <p:cNvPr id="97307" name="Text Box 248"/>
            <p:cNvSpPr txBox="1">
              <a:spLocks noChangeArrowheads="1"/>
            </p:cNvSpPr>
            <p:nvPr/>
          </p:nvSpPr>
          <p:spPr bwMode="auto">
            <a:xfrm>
              <a:off x="4560" y="1632"/>
              <a:ext cx="912"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Closed</a:t>
              </a:r>
            </a:p>
            <a:p>
              <a:pPr algn="ctr" eaLnBrk="1" hangingPunct="1"/>
              <a:r>
                <a:rPr lang="en-US" altLang="en-US" sz="1400" dirty="0">
                  <a:latin typeface="Calibri" panose="020F0502020204030204" pitchFamily="34" charset="0"/>
                  <a:cs typeface="Calibri" panose="020F0502020204030204" pitchFamily="34" charset="0"/>
                </a:rPr>
                <a:t>Walking</a:t>
              </a:r>
            </a:p>
            <a:p>
              <a:pPr algn="ctr" eaLnBrk="1" hangingPunct="1"/>
              <a:r>
                <a:rPr lang="en-US" altLang="en-US" sz="1400" dirty="0">
                  <a:latin typeface="Calibri" panose="020F0502020204030204" pitchFamily="34" charset="0"/>
                  <a:cs typeface="Calibri" panose="020F0502020204030204" pitchFamily="34" charset="0"/>
                </a:rPr>
                <a:t>Holding a Ball</a:t>
              </a:r>
            </a:p>
          </p:txBody>
        </p:sp>
      </p:grpSp>
      <p:grpSp>
        <p:nvGrpSpPr>
          <p:cNvPr id="4" name="Group 264"/>
          <p:cNvGrpSpPr>
            <a:grpSpLocks/>
          </p:cNvGrpSpPr>
          <p:nvPr/>
        </p:nvGrpSpPr>
        <p:grpSpPr bwMode="auto">
          <a:xfrm>
            <a:off x="6083981" y="2705105"/>
            <a:ext cx="5713413" cy="977901"/>
            <a:chOff x="1813" y="2208"/>
            <a:chExt cx="3599" cy="616"/>
          </a:xfrm>
        </p:grpSpPr>
        <p:sp>
          <p:nvSpPr>
            <p:cNvPr id="97300" name="Text Box 250"/>
            <p:cNvSpPr txBox="1">
              <a:spLocks noChangeArrowheads="1"/>
            </p:cNvSpPr>
            <p:nvPr/>
          </p:nvSpPr>
          <p:spPr bwMode="auto">
            <a:xfrm>
              <a:off x="1813" y="2239"/>
              <a:ext cx="830"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Closed</a:t>
              </a:r>
            </a:p>
            <a:p>
              <a:pPr algn="ctr" eaLnBrk="1" hangingPunct="1"/>
              <a:r>
                <a:rPr lang="en-US" altLang="en-US" sz="1400" dirty="0">
                  <a:latin typeface="Calibri" panose="020F0502020204030204" pitchFamily="34" charset="0"/>
                  <a:cs typeface="Calibri" panose="020F0502020204030204" pitchFamily="34" charset="0"/>
                </a:rPr>
                <a:t>Standing</a:t>
              </a:r>
            </a:p>
            <a:p>
              <a:pPr algn="ctr" eaLnBrk="1" hangingPunct="1"/>
              <a:r>
                <a:rPr lang="en-US" altLang="en-US" sz="1400" dirty="0">
                  <a:latin typeface="Calibri" panose="020F0502020204030204" pitchFamily="34" charset="0"/>
                  <a:cs typeface="Calibri" panose="020F0502020204030204" pitchFamily="34" charset="0"/>
                </a:rPr>
                <a:t>Varied Surfaces</a:t>
              </a:r>
            </a:p>
          </p:txBody>
        </p:sp>
        <p:sp>
          <p:nvSpPr>
            <p:cNvPr id="97301" name="Text Box 251"/>
            <p:cNvSpPr txBox="1">
              <a:spLocks noChangeArrowheads="1"/>
            </p:cNvSpPr>
            <p:nvPr/>
          </p:nvSpPr>
          <p:spPr bwMode="auto">
            <a:xfrm>
              <a:off x="2723" y="2223"/>
              <a:ext cx="89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Closed</a:t>
              </a:r>
            </a:p>
            <a:p>
              <a:pPr algn="ctr" eaLnBrk="1" hangingPunct="1"/>
              <a:r>
                <a:rPr lang="en-US" altLang="en-US" sz="1400" dirty="0">
                  <a:latin typeface="Calibri" panose="020F0502020204030204" pitchFamily="34" charset="0"/>
                  <a:cs typeface="Calibri" panose="020F0502020204030204" pitchFamily="34" charset="0"/>
                </a:rPr>
                <a:t>Standing</a:t>
              </a:r>
            </a:p>
            <a:p>
              <a:pPr algn="ctr" eaLnBrk="1" hangingPunct="1"/>
              <a:r>
                <a:rPr lang="en-US" altLang="en-US" sz="1400" dirty="0">
                  <a:latin typeface="Calibri" panose="020F0502020204030204" pitchFamily="34" charset="0"/>
                  <a:cs typeface="Calibri" panose="020F0502020204030204" pitchFamily="34" charset="0"/>
                </a:rPr>
                <a:t>Varied Surface</a:t>
              </a:r>
            </a:p>
            <a:p>
              <a:pPr algn="ctr" eaLnBrk="1" hangingPunct="1"/>
              <a:r>
                <a:rPr lang="en-US" altLang="en-US" sz="1400" dirty="0">
                  <a:latin typeface="Calibri" panose="020F0502020204030204" pitchFamily="34" charset="0"/>
                  <a:cs typeface="Calibri" panose="020F0502020204030204" pitchFamily="34" charset="0"/>
                </a:rPr>
                <a:t>Tossing Ball</a:t>
              </a:r>
            </a:p>
          </p:txBody>
        </p:sp>
        <p:sp>
          <p:nvSpPr>
            <p:cNvPr id="97302" name="Text Box 252"/>
            <p:cNvSpPr txBox="1">
              <a:spLocks noChangeArrowheads="1"/>
            </p:cNvSpPr>
            <p:nvPr/>
          </p:nvSpPr>
          <p:spPr bwMode="auto">
            <a:xfrm>
              <a:off x="3696" y="2232"/>
              <a:ext cx="825"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Closed</a:t>
              </a:r>
            </a:p>
            <a:p>
              <a:pPr algn="ctr" eaLnBrk="1" hangingPunct="1"/>
              <a:r>
                <a:rPr lang="en-US" altLang="en-US" sz="1400" dirty="0">
                  <a:latin typeface="Calibri" panose="020F0502020204030204" pitchFamily="34" charset="0"/>
                  <a:cs typeface="Calibri" panose="020F0502020204030204" pitchFamily="34" charset="0"/>
                </a:rPr>
                <a:t>Walking</a:t>
              </a:r>
            </a:p>
            <a:p>
              <a:pPr algn="ctr" eaLnBrk="1" hangingPunct="1"/>
              <a:r>
                <a:rPr lang="en-US" altLang="en-US" sz="1400" dirty="0">
                  <a:latin typeface="Calibri" panose="020F0502020204030204" pitchFamily="34" charset="0"/>
                  <a:cs typeface="Calibri" panose="020F0502020204030204" pitchFamily="34" charset="0"/>
                </a:rPr>
                <a:t>Varied Surfaces</a:t>
              </a:r>
            </a:p>
          </p:txBody>
        </p:sp>
        <p:sp>
          <p:nvSpPr>
            <p:cNvPr id="97303" name="Text Box 253"/>
            <p:cNvSpPr txBox="1">
              <a:spLocks noChangeArrowheads="1"/>
            </p:cNvSpPr>
            <p:nvPr/>
          </p:nvSpPr>
          <p:spPr bwMode="auto">
            <a:xfrm>
              <a:off x="4560" y="2208"/>
              <a:ext cx="852"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Closed</a:t>
              </a:r>
            </a:p>
            <a:p>
              <a:pPr algn="ctr" eaLnBrk="1" hangingPunct="1"/>
              <a:r>
                <a:rPr lang="en-US" altLang="en-US" sz="1400" dirty="0">
                  <a:latin typeface="Calibri" panose="020F0502020204030204" pitchFamily="34" charset="0"/>
                  <a:cs typeface="Calibri" panose="020F0502020204030204" pitchFamily="34" charset="0"/>
                </a:rPr>
                <a:t>Walking</a:t>
              </a:r>
            </a:p>
            <a:p>
              <a:pPr algn="ctr" eaLnBrk="1" hangingPunct="1"/>
              <a:r>
                <a:rPr lang="en-US" altLang="en-US" sz="1400" dirty="0">
                  <a:latin typeface="Calibri" panose="020F0502020204030204" pitchFamily="34" charset="0"/>
                  <a:cs typeface="Calibri" panose="020F0502020204030204" pitchFamily="34" charset="0"/>
                </a:rPr>
                <a:t>Varied Surfaces</a:t>
              </a:r>
            </a:p>
            <a:p>
              <a:pPr algn="ctr" eaLnBrk="1" hangingPunct="1"/>
              <a:r>
                <a:rPr lang="en-US" altLang="en-US" sz="1400" dirty="0">
                  <a:latin typeface="Calibri" panose="020F0502020204030204" pitchFamily="34" charset="0"/>
                  <a:cs typeface="Calibri" panose="020F0502020204030204" pitchFamily="34" charset="0"/>
                </a:rPr>
                <a:t>Tossing Ball</a:t>
              </a:r>
            </a:p>
          </p:txBody>
        </p:sp>
      </p:grpSp>
      <p:grpSp>
        <p:nvGrpSpPr>
          <p:cNvPr id="5" name="Group 265"/>
          <p:cNvGrpSpPr>
            <a:grpSpLocks/>
          </p:cNvGrpSpPr>
          <p:nvPr/>
        </p:nvGrpSpPr>
        <p:grpSpPr bwMode="auto">
          <a:xfrm>
            <a:off x="6103031" y="3713166"/>
            <a:ext cx="5865814" cy="1003301"/>
            <a:chOff x="1825" y="2843"/>
            <a:chExt cx="3695" cy="632"/>
          </a:xfrm>
        </p:grpSpPr>
        <p:sp>
          <p:nvSpPr>
            <p:cNvPr id="97296" name="Text Box 254"/>
            <p:cNvSpPr txBox="1">
              <a:spLocks noChangeArrowheads="1"/>
            </p:cNvSpPr>
            <p:nvPr/>
          </p:nvSpPr>
          <p:spPr bwMode="auto">
            <a:xfrm>
              <a:off x="1825" y="2928"/>
              <a:ext cx="848"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Open </a:t>
              </a:r>
            </a:p>
            <a:p>
              <a:pPr algn="ctr" eaLnBrk="1" hangingPunct="1"/>
              <a:r>
                <a:rPr lang="en-US" altLang="en-US" sz="1400" dirty="0">
                  <a:latin typeface="Calibri" panose="020F0502020204030204" pitchFamily="34" charset="0"/>
                  <a:cs typeface="Calibri" panose="020F0502020204030204" pitchFamily="34" charset="0"/>
                </a:rPr>
                <a:t>Standing </a:t>
              </a:r>
            </a:p>
            <a:p>
              <a:pPr algn="ctr" eaLnBrk="1" hangingPunct="1"/>
              <a:r>
                <a:rPr lang="en-US" altLang="en-US" sz="1400" dirty="0">
                  <a:latin typeface="Calibri" panose="020F0502020204030204" pitchFamily="34" charset="0"/>
                  <a:cs typeface="Calibri" panose="020F0502020204030204" pitchFamily="34" charset="0"/>
                </a:rPr>
                <a:t>Moving Surface</a:t>
              </a:r>
            </a:p>
          </p:txBody>
        </p:sp>
        <p:sp>
          <p:nvSpPr>
            <p:cNvPr id="97297" name="Text Box 255"/>
            <p:cNvSpPr txBox="1">
              <a:spLocks noChangeArrowheads="1"/>
            </p:cNvSpPr>
            <p:nvPr/>
          </p:nvSpPr>
          <p:spPr bwMode="auto">
            <a:xfrm>
              <a:off x="2736" y="2867"/>
              <a:ext cx="84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Open</a:t>
              </a:r>
            </a:p>
            <a:p>
              <a:pPr algn="ctr" eaLnBrk="1" hangingPunct="1"/>
              <a:r>
                <a:rPr lang="en-US" altLang="en-US" sz="1400" dirty="0">
                  <a:latin typeface="Calibri" panose="020F0502020204030204" pitchFamily="34" charset="0"/>
                  <a:cs typeface="Calibri" panose="020F0502020204030204" pitchFamily="34" charset="0"/>
                </a:rPr>
                <a:t>Standing</a:t>
              </a:r>
            </a:p>
            <a:p>
              <a:pPr algn="ctr" eaLnBrk="1" hangingPunct="1"/>
              <a:r>
                <a:rPr lang="en-US" altLang="en-US" sz="1400" dirty="0">
                  <a:latin typeface="Calibri" panose="020F0502020204030204" pitchFamily="34" charset="0"/>
                  <a:cs typeface="Calibri" panose="020F0502020204030204" pitchFamily="34" charset="0"/>
                </a:rPr>
                <a:t>Moving Surface</a:t>
              </a:r>
            </a:p>
            <a:p>
              <a:pPr algn="ctr" eaLnBrk="1" hangingPunct="1"/>
              <a:r>
                <a:rPr lang="en-US" altLang="en-US" sz="1400" dirty="0">
                  <a:latin typeface="Calibri" panose="020F0502020204030204" pitchFamily="34" charset="0"/>
                  <a:cs typeface="Calibri" panose="020F0502020204030204" pitchFamily="34" charset="0"/>
                </a:rPr>
                <a:t>Holding Ball</a:t>
              </a:r>
            </a:p>
          </p:txBody>
        </p:sp>
        <p:sp>
          <p:nvSpPr>
            <p:cNvPr id="97298" name="Text Box 256"/>
            <p:cNvSpPr txBox="1">
              <a:spLocks noChangeArrowheads="1"/>
            </p:cNvSpPr>
            <p:nvPr/>
          </p:nvSpPr>
          <p:spPr bwMode="auto">
            <a:xfrm>
              <a:off x="3667" y="2843"/>
              <a:ext cx="827"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Open</a:t>
              </a:r>
            </a:p>
            <a:p>
              <a:pPr algn="ctr" eaLnBrk="1" hangingPunct="1"/>
              <a:r>
                <a:rPr lang="en-US" altLang="en-US" sz="1400" dirty="0">
                  <a:latin typeface="Calibri" panose="020F0502020204030204" pitchFamily="34" charset="0"/>
                  <a:cs typeface="Calibri" panose="020F0502020204030204" pitchFamily="34" charset="0"/>
                </a:rPr>
                <a:t>Walk up Escalator</a:t>
              </a:r>
            </a:p>
            <a:p>
              <a:pPr algn="ctr" eaLnBrk="1" hangingPunct="1"/>
              <a:r>
                <a:rPr lang="en-US" altLang="en-US" sz="1400" dirty="0">
                  <a:latin typeface="Calibri" panose="020F0502020204030204" pitchFamily="34" charset="0"/>
                  <a:cs typeface="Calibri" panose="020F0502020204030204" pitchFamily="34" charset="0"/>
                </a:rPr>
                <a:t>Holding Ball</a:t>
              </a:r>
            </a:p>
          </p:txBody>
        </p:sp>
        <p:sp>
          <p:nvSpPr>
            <p:cNvPr id="97299" name="Text Box 257"/>
            <p:cNvSpPr txBox="1">
              <a:spLocks noChangeArrowheads="1"/>
            </p:cNvSpPr>
            <p:nvPr/>
          </p:nvSpPr>
          <p:spPr bwMode="auto">
            <a:xfrm>
              <a:off x="4512" y="2874"/>
              <a:ext cx="100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Open</a:t>
              </a:r>
            </a:p>
            <a:p>
              <a:pPr algn="ctr" eaLnBrk="1" hangingPunct="1"/>
              <a:r>
                <a:rPr lang="en-US" altLang="en-US" sz="1400" dirty="0">
                  <a:latin typeface="Calibri" panose="020F0502020204030204" pitchFamily="34" charset="0"/>
                  <a:cs typeface="Calibri" panose="020F0502020204030204" pitchFamily="34" charset="0"/>
                </a:rPr>
                <a:t>Walking</a:t>
              </a:r>
            </a:p>
            <a:p>
              <a:pPr algn="ctr" eaLnBrk="1" hangingPunct="1"/>
              <a:r>
                <a:rPr lang="en-US" altLang="en-US" sz="1400" dirty="0">
                  <a:latin typeface="Calibri" panose="020F0502020204030204" pitchFamily="34" charset="0"/>
                  <a:cs typeface="Calibri" panose="020F0502020204030204" pitchFamily="34" charset="0"/>
                </a:rPr>
                <a:t>Tossing Ball</a:t>
              </a:r>
            </a:p>
            <a:p>
              <a:pPr algn="ctr" eaLnBrk="1" hangingPunct="1"/>
              <a:r>
                <a:rPr lang="en-US" altLang="en-US" sz="1400" dirty="0">
                  <a:latin typeface="Calibri" panose="020F0502020204030204" pitchFamily="34" charset="0"/>
                  <a:cs typeface="Calibri" panose="020F0502020204030204" pitchFamily="34" charset="0"/>
                </a:rPr>
                <a:t>(semi quiet hall)</a:t>
              </a:r>
            </a:p>
          </p:txBody>
        </p:sp>
      </p:grpSp>
      <p:grpSp>
        <p:nvGrpSpPr>
          <p:cNvPr id="6" name="Group 266"/>
          <p:cNvGrpSpPr>
            <a:grpSpLocks/>
          </p:cNvGrpSpPr>
          <p:nvPr/>
        </p:nvGrpSpPr>
        <p:grpSpPr bwMode="auto">
          <a:xfrm>
            <a:off x="5963331" y="4756155"/>
            <a:ext cx="5929313" cy="993776"/>
            <a:chOff x="1737" y="3500"/>
            <a:chExt cx="3735" cy="626"/>
          </a:xfrm>
        </p:grpSpPr>
        <p:sp>
          <p:nvSpPr>
            <p:cNvPr id="97292" name="Text Box 258"/>
            <p:cNvSpPr txBox="1">
              <a:spLocks noChangeArrowheads="1"/>
            </p:cNvSpPr>
            <p:nvPr/>
          </p:nvSpPr>
          <p:spPr bwMode="auto">
            <a:xfrm>
              <a:off x="1737" y="3500"/>
              <a:ext cx="989"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Open</a:t>
              </a:r>
            </a:p>
            <a:p>
              <a:pPr algn="ctr" eaLnBrk="1" hangingPunct="1"/>
              <a:r>
                <a:rPr lang="en-US" altLang="en-US" sz="1400" dirty="0">
                  <a:latin typeface="Calibri" panose="020F0502020204030204" pitchFamily="34" charset="0"/>
                  <a:cs typeface="Calibri" panose="020F0502020204030204" pitchFamily="34" charset="0"/>
                </a:rPr>
                <a:t>Standing</a:t>
              </a:r>
            </a:p>
            <a:p>
              <a:pPr algn="ctr" eaLnBrk="1" hangingPunct="1"/>
              <a:r>
                <a:rPr lang="en-US" altLang="en-US" sz="1400" dirty="0">
                  <a:latin typeface="Calibri" panose="020F0502020204030204" pitchFamily="34" charset="0"/>
                  <a:cs typeface="Calibri" panose="020F0502020204030204" pitchFamily="34" charset="0"/>
                </a:rPr>
                <a:t>Moving Surface</a:t>
              </a:r>
            </a:p>
            <a:p>
              <a:pPr algn="ctr" eaLnBrk="1" hangingPunct="1"/>
              <a:r>
                <a:rPr lang="en-US" altLang="en-US" sz="1400" dirty="0">
                  <a:latin typeface="Calibri" panose="020F0502020204030204" pitchFamily="34" charset="0"/>
                  <a:cs typeface="Calibri" panose="020F0502020204030204" pitchFamily="34" charset="0"/>
                </a:rPr>
                <a:t>Weight Shifting</a:t>
              </a:r>
            </a:p>
          </p:txBody>
        </p:sp>
        <p:sp>
          <p:nvSpPr>
            <p:cNvPr id="97293" name="Text Box 259"/>
            <p:cNvSpPr txBox="1">
              <a:spLocks noChangeArrowheads="1"/>
            </p:cNvSpPr>
            <p:nvPr/>
          </p:nvSpPr>
          <p:spPr bwMode="auto">
            <a:xfrm>
              <a:off x="2736" y="3525"/>
              <a:ext cx="84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Open</a:t>
              </a:r>
            </a:p>
            <a:p>
              <a:pPr algn="ctr" eaLnBrk="1" hangingPunct="1"/>
              <a:r>
                <a:rPr lang="en-US" altLang="en-US" sz="1400" dirty="0">
                  <a:latin typeface="Calibri" panose="020F0502020204030204" pitchFamily="34" charset="0"/>
                  <a:cs typeface="Calibri" panose="020F0502020204030204" pitchFamily="34" charset="0"/>
                </a:rPr>
                <a:t>Standing</a:t>
              </a:r>
            </a:p>
            <a:p>
              <a:pPr algn="ctr" eaLnBrk="1" hangingPunct="1"/>
              <a:r>
                <a:rPr lang="en-US" altLang="en-US" sz="1400" dirty="0">
                  <a:latin typeface="Calibri" panose="020F0502020204030204" pitchFamily="34" charset="0"/>
                  <a:cs typeface="Calibri" panose="020F0502020204030204" pitchFamily="34" charset="0"/>
                </a:rPr>
                <a:t>Moving Surface</a:t>
              </a:r>
            </a:p>
            <a:p>
              <a:pPr algn="ctr" eaLnBrk="1" hangingPunct="1"/>
              <a:r>
                <a:rPr lang="en-US" altLang="en-US" sz="1400" dirty="0">
                  <a:latin typeface="Calibri" panose="020F0502020204030204" pitchFamily="34" charset="0"/>
                  <a:cs typeface="Calibri" panose="020F0502020204030204" pitchFamily="34" charset="0"/>
                </a:rPr>
                <a:t>Tossing Ball</a:t>
              </a:r>
            </a:p>
          </p:txBody>
        </p:sp>
        <p:sp>
          <p:nvSpPr>
            <p:cNvPr id="97294" name="Text Box 260"/>
            <p:cNvSpPr txBox="1">
              <a:spLocks noChangeArrowheads="1"/>
            </p:cNvSpPr>
            <p:nvPr/>
          </p:nvSpPr>
          <p:spPr bwMode="auto">
            <a:xfrm>
              <a:off x="3675" y="3534"/>
              <a:ext cx="885"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Open</a:t>
              </a:r>
            </a:p>
            <a:p>
              <a:pPr algn="ctr" eaLnBrk="1" hangingPunct="1"/>
              <a:r>
                <a:rPr lang="en-US" altLang="en-US" sz="1400" dirty="0">
                  <a:latin typeface="Calibri" panose="020F0502020204030204" pitchFamily="34" charset="0"/>
                  <a:cs typeface="Calibri" panose="020F0502020204030204" pitchFamily="34" charset="0"/>
                </a:rPr>
                <a:t>Walking</a:t>
              </a:r>
            </a:p>
            <a:p>
              <a:pPr algn="ctr" eaLnBrk="1" hangingPunct="1"/>
              <a:r>
                <a:rPr lang="en-US" altLang="en-US" sz="1400" dirty="0">
                  <a:latin typeface="Calibri" panose="020F0502020204030204" pitchFamily="34" charset="0"/>
                  <a:cs typeface="Calibri" panose="020F0502020204030204" pitchFamily="34" charset="0"/>
                </a:rPr>
                <a:t>Dribbling Ball</a:t>
              </a:r>
            </a:p>
          </p:txBody>
        </p:sp>
        <p:sp>
          <p:nvSpPr>
            <p:cNvPr id="97295" name="Text Box 261"/>
            <p:cNvSpPr txBox="1">
              <a:spLocks noChangeArrowheads="1"/>
            </p:cNvSpPr>
            <p:nvPr/>
          </p:nvSpPr>
          <p:spPr bwMode="auto">
            <a:xfrm>
              <a:off x="4549" y="3512"/>
              <a:ext cx="923"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128"/>
                </a:defRPr>
              </a:lvl1pPr>
              <a:lvl2pPr marL="742950" indent="-285750" eaLnBrk="0" hangingPunct="0">
                <a:defRPr sz="2400">
                  <a:solidFill>
                    <a:schemeClr val="tx1"/>
                  </a:solidFill>
                  <a:latin typeface="Times New Roman" charset="0"/>
                  <a:ea typeface="ＭＳ Ｐゴシック" charset="-128"/>
                </a:defRPr>
              </a:lvl2pPr>
              <a:lvl3pPr marL="1143000" indent="-228600" eaLnBrk="0" hangingPunct="0">
                <a:defRPr sz="2400">
                  <a:solidFill>
                    <a:schemeClr val="tx1"/>
                  </a:solidFill>
                  <a:latin typeface="Times New Roman" charset="0"/>
                  <a:ea typeface="ＭＳ Ｐゴシック" charset="-128"/>
                </a:defRPr>
              </a:lvl3pPr>
              <a:lvl4pPr marL="1600200" indent="-228600" eaLnBrk="0" hangingPunct="0">
                <a:defRPr sz="2400">
                  <a:solidFill>
                    <a:schemeClr val="tx1"/>
                  </a:solidFill>
                  <a:latin typeface="Times New Roman" charset="0"/>
                  <a:ea typeface="ＭＳ Ｐゴシック" charset="-128"/>
                </a:defRPr>
              </a:lvl4pPr>
              <a:lvl5pPr marL="2057400" indent="-228600" eaLnBrk="0" hangingPunct="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pPr algn="ctr" eaLnBrk="1" hangingPunct="1"/>
              <a:r>
                <a:rPr lang="en-US" altLang="en-US" sz="1400" dirty="0">
                  <a:latin typeface="Calibri" panose="020F0502020204030204" pitchFamily="34" charset="0"/>
                  <a:cs typeface="Calibri" panose="020F0502020204030204" pitchFamily="34" charset="0"/>
                </a:rPr>
                <a:t>Open</a:t>
              </a:r>
            </a:p>
            <a:p>
              <a:pPr algn="ctr" eaLnBrk="1" hangingPunct="1"/>
              <a:r>
                <a:rPr lang="en-US" altLang="en-US" sz="1400" dirty="0">
                  <a:latin typeface="Calibri" panose="020F0502020204030204" pitchFamily="34" charset="0"/>
                  <a:cs typeface="Calibri" panose="020F0502020204030204" pitchFamily="34" charset="0"/>
                </a:rPr>
                <a:t>Dribbling Ball </a:t>
              </a:r>
            </a:p>
            <a:p>
              <a:pPr algn="ctr" eaLnBrk="1" hangingPunct="1"/>
              <a:r>
                <a:rPr lang="en-US" altLang="en-US" sz="1400" dirty="0">
                  <a:latin typeface="Calibri" panose="020F0502020204030204" pitchFamily="34" charset="0"/>
                  <a:cs typeface="Calibri" panose="020F0502020204030204" pitchFamily="34" charset="0"/>
                </a:rPr>
                <a:t>(against </a:t>
              </a:r>
            </a:p>
            <a:p>
              <a:pPr algn="ctr" eaLnBrk="1" hangingPunct="1"/>
              <a:r>
                <a:rPr lang="en-US" altLang="en-US" sz="1400" dirty="0">
                  <a:latin typeface="Calibri" panose="020F0502020204030204" pitchFamily="34" charset="0"/>
                  <a:cs typeface="Calibri" panose="020F0502020204030204" pitchFamily="34" charset="0"/>
                </a:rPr>
                <a:t>Defender)</a:t>
              </a:r>
            </a:p>
          </p:txBody>
        </p:sp>
      </p:grpSp>
      <p:sp>
        <p:nvSpPr>
          <p:cNvPr id="77" name="Rectangle 76">
            <a:extLst>
              <a:ext uri="{FF2B5EF4-FFF2-40B4-BE49-F238E27FC236}">
                <a16:creationId xmlns:a16="http://schemas.microsoft.com/office/drawing/2014/main" xmlns="" id="{17A5114E-EE90-F34C-A932-A8CCACA44A44}"/>
              </a:ext>
            </a:extLst>
          </p:cNvPr>
          <p:cNvSpPr/>
          <p:nvPr/>
        </p:nvSpPr>
        <p:spPr>
          <a:xfrm>
            <a:off x="731520" y="640080"/>
            <a:ext cx="10808839" cy="584775"/>
          </a:xfrm>
          <a:prstGeom prst="rect">
            <a:avLst/>
          </a:prstGeom>
        </p:spPr>
        <p:txBody>
          <a:bodyPr wrap="square">
            <a:spAutoFit/>
          </a:bodyPr>
          <a:lstStyle/>
          <a:p>
            <a:r>
              <a:rPr lang="en-US" sz="3200" dirty="0">
                <a:solidFill>
                  <a:srgbClr val="FFC000"/>
                </a:solidFill>
                <a:latin typeface="Calibri" panose="020F0502020204030204" pitchFamily="34" charset="0"/>
                <a:cs typeface="Calibri" panose="020F0502020204030204" pitchFamily="34" charset="0"/>
              </a:rPr>
              <a:t>Gentile’s Taxonomy</a:t>
            </a:r>
            <a:endParaRPr lang="en-US" sz="3200" dirty="0">
              <a:solidFill>
                <a:srgbClr val="FFC000"/>
              </a:solidFill>
            </a:endParaRPr>
          </a:p>
        </p:txBody>
      </p:sp>
    </p:spTree>
    <p:extLst>
      <p:ext uri="{BB962C8B-B14F-4D97-AF65-F5344CB8AC3E}">
        <p14:creationId xmlns:p14="http://schemas.microsoft.com/office/powerpoint/2010/main" val="17865716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Line 2">
            <a:extLst>
              <a:ext uri="{FF2B5EF4-FFF2-40B4-BE49-F238E27FC236}">
                <a16:creationId xmlns:a16="http://schemas.microsoft.com/office/drawing/2014/main" xmlns="" id="{03EE8A7A-A698-1B4D-A433-BB5AE5485AE3}"/>
              </a:ext>
            </a:extLst>
          </p:cNvPr>
          <p:cNvSpPr>
            <a:spLocks noChangeShapeType="1"/>
          </p:cNvSpPr>
          <p:nvPr/>
        </p:nvSpPr>
        <p:spPr bwMode="auto">
          <a:xfrm>
            <a:off x="1828800" y="2590800"/>
            <a:ext cx="8001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0" name="Line 3">
            <a:extLst>
              <a:ext uri="{FF2B5EF4-FFF2-40B4-BE49-F238E27FC236}">
                <a16:creationId xmlns:a16="http://schemas.microsoft.com/office/drawing/2014/main" xmlns="" id="{EA08249A-F94D-0444-BF3B-061E4BBD6E3F}"/>
              </a:ext>
            </a:extLst>
          </p:cNvPr>
          <p:cNvSpPr>
            <a:spLocks noChangeShapeType="1"/>
          </p:cNvSpPr>
          <p:nvPr/>
        </p:nvSpPr>
        <p:spPr bwMode="auto">
          <a:xfrm>
            <a:off x="1828800" y="2590800"/>
            <a:ext cx="0" cy="762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891" name="Line 4">
            <a:extLst>
              <a:ext uri="{FF2B5EF4-FFF2-40B4-BE49-F238E27FC236}">
                <a16:creationId xmlns:a16="http://schemas.microsoft.com/office/drawing/2014/main" xmlns="" id="{8659025D-3D0E-984C-BD38-2E2DBB3E7F74}"/>
              </a:ext>
            </a:extLst>
          </p:cNvPr>
          <p:cNvSpPr>
            <a:spLocks noChangeShapeType="1"/>
          </p:cNvSpPr>
          <p:nvPr/>
        </p:nvSpPr>
        <p:spPr bwMode="auto">
          <a:xfrm>
            <a:off x="4953000" y="2590800"/>
            <a:ext cx="0" cy="685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892" name="Line 5">
            <a:extLst>
              <a:ext uri="{FF2B5EF4-FFF2-40B4-BE49-F238E27FC236}">
                <a16:creationId xmlns:a16="http://schemas.microsoft.com/office/drawing/2014/main" xmlns="" id="{6CEF9F1D-236C-A741-A7B1-84A08E0ECCC1}"/>
              </a:ext>
            </a:extLst>
          </p:cNvPr>
          <p:cNvSpPr>
            <a:spLocks noChangeShapeType="1"/>
          </p:cNvSpPr>
          <p:nvPr/>
        </p:nvSpPr>
        <p:spPr bwMode="auto">
          <a:xfrm>
            <a:off x="7239000" y="2590800"/>
            <a:ext cx="0" cy="762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893" name="Line 6">
            <a:extLst>
              <a:ext uri="{FF2B5EF4-FFF2-40B4-BE49-F238E27FC236}">
                <a16:creationId xmlns:a16="http://schemas.microsoft.com/office/drawing/2014/main" xmlns="" id="{9E2DBDEB-DDAC-724C-A3B2-0866DF1915DF}"/>
              </a:ext>
            </a:extLst>
          </p:cNvPr>
          <p:cNvSpPr>
            <a:spLocks noChangeShapeType="1"/>
          </p:cNvSpPr>
          <p:nvPr/>
        </p:nvSpPr>
        <p:spPr bwMode="auto">
          <a:xfrm>
            <a:off x="9829800" y="2590800"/>
            <a:ext cx="0" cy="762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1671" name="Text Box 7">
            <a:extLst>
              <a:ext uri="{FF2B5EF4-FFF2-40B4-BE49-F238E27FC236}">
                <a16:creationId xmlns:a16="http://schemas.microsoft.com/office/drawing/2014/main" xmlns="" id="{2C56CD34-1103-C948-AEC9-7D527CFFCF39}"/>
              </a:ext>
            </a:extLst>
          </p:cNvPr>
          <p:cNvSpPr txBox="1">
            <a:spLocks noChangeArrowheads="1"/>
          </p:cNvSpPr>
          <p:nvPr/>
        </p:nvSpPr>
        <p:spPr bwMode="auto">
          <a:xfrm>
            <a:off x="1600200" y="3200400"/>
            <a:ext cx="2287588" cy="946150"/>
          </a:xfrm>
          <a:prstGeom prst="rect">
            <a:avLst/>
          </a:prstGeom>
          <a:noFill/>
          <a:ln w="9525">
            <a:noFill/>
            <a:miter lim="800000"/>
            <a:headEnd/>
            <a:tailEnd/>
          </a:ln>
          <a:effectLst/>
        </p:spPr>
        <p:txBody>
          <a:bodyPr wrap="none">
            <a:spAutoFit/>
          </a:bodyPr>
          <a:lstStyle>
            <a:lvl1pPr>
              <a:defRPr>
                <a:solidFill>
                  <a:schemeClr val="tx1"/>
                </a:solidFill>
                <a:latin typeface="Tahoma" panose="020B0604030504040204" pitchFamily="34" charset="0"/>
                <a:ea typeface="MS PGothic" panose="020B0600070205080204" pitchFamily="34" charset="-128"/>
              </a:defRPr>
            </a:lvl1pPr>
            <a:lvl2pPr marL="37931725" indent="-37474525">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r>
              <a:rPr lang="en-US" altLang="en-US" sz="2800" b="1">
                <a:effectLst>
                  <a:outerShdw blurRad="38100" dist="38100" dir="2700000" algn="tl">
                    <a:srgbClr val="C0C0C0"/>
                  </a:outerShdw>
                </a:effectLst>
                <a:latin typeface="Times" pitchFamily="2" charset="0"/>
              </a:rPr>
              <a:t>Stationary</a:t>
            </a:r>
          </a:p>
          <a:p>
            <a:r>
              <a:rPr lang="en-US" altLang="en-US" sz="2800" b="1">
                <a:effectLst>
                  <a:outerShdw blurRad="38100" dist="38100" dir="2700000" algn="tl">
                    <a:srgbClr val="C0C0C0"/>
                  </a:outerShdw>
                </a:effectLst>
                <a:latin typeface="Times" pitchFamily="2" charset="0"/>
              </a:rPr>
              <a:t>No variability</a:t>
            </a:r>
            <a:endParaRPr lang="en-US" altLang="en-US">
              <a:latin typeface="Times" pitchFamily="2" charset="0"/>
            </a:endParaRPr>
          </a:p>
        </p:txBody>
      </p:sp>
      <p:sp>
        <p:nvSpPr>
          <p:cNvPr id="241672" name="Text Box 8">
            <a:extLst>
              <a:ext uri="{FF2B5EF4-FFF2-40B4-BE49-F238E27FC236}">
                <a16:creationId xmlns:a16="http://schemas.microsoft.com/office/drawing/2014/main" xmlns="" id="{97F1B8F1-6B21-5744-ABDA-E3CEE764F31E}"/>
              </a:ext>
            </a:extLst>
          </p:cNvPr>
          <p:cNvSpPr txBox="1">
            <a:spLocks noChangeArrowheads="1"/>
          </p:cNvSpPr>
          <p:nvPr/>
        </p:nvSpPr>
        <p:spPr bwMode="auto">
          <a:xfrm>
            <a:off x="4175125" y="3232150"/>
            <a:ext cx="1843088" cy="946150"/>
          </a:xfrm>
          <a:prstGeom prst="rect">
            <a:avLst/>
          </a:prstGeom>
          <a:noFill/>
          <a:ln w="9525">
            <a:noFill/>
            <a:miter lim="800000"/>
            <a:headEnd/>
            <a:tailEnd/>
          </a:ln>
          <a:effectLst/>
        </p:spPr>
        <p:txBody>
          <a:bodyPr wrap="none">
            <a:spAutoFit/>
          </a:bodyPr>
          <a:lstStyle>
            <a:lvl1pPr>
              <a:defRPr>
                <a:solidFill>
                  <a:schemeClr val="tx1"/>
                </a:solidFill>
                <a:latin typeface="Tahoma" panose="020B0604030504040204" pitchFamily="34" charset="0"/>
                <a:ea typeface="MS PGothic" panose="020B0600070205080204" pitchFamily="34" charset="-128"/>
              </a:defRPr>
            </a:lvl1pPr>
            <a:lvl2pPr marL="37931725" indent="-37474525">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r>
              <a:rPr lang="en-US" altLang="en-US" sz="2800" b="1">
                <a:effectLst>
                  <a:outerShdw blurRad="38100" dist="38100" dir="2700000" algn="tl">
                    <a:srgbClr val="C0C0C0"/>
                  </a:outerShdw>
                </a:effectLst>
                <a:latin typeface="Times" pitchFamily="2" charset="0"/>
              </a:rPr>
              <a:t>Stationary</a:t>
            </a:r>
          </a:p>
          <a:p>
            <a:r>
              <a:rPr lang="en-US" altLang="en-US" sz="2800" b="1">
                <a:effectLst>
                  <a:outerShdw blurRad="38100" dist="38100" dir="2700000" algn="tl">
                    <a:srgbClr val="C0C0C0"/>
                  </a:outerShdw>
                </a:effectLst>
                <a:latin typeface="Times" pitchFamily="2" charset="0"/>
              </a:rPr>
              <a:t>Variability</a:t>
            </a:r>
            <a:endParaRPr lang="en-US" altLang="en-US">
              <a:latin typeface="Times" pitchFamily="2" charset="0"/>
            </a:endParaRPr>
          </a:p>
        </p:txBody>
      </p:sp>
      <p:sp>
        <p:nvSpPr>
          <p:cNvPr id="241673" name="Text Box 9">
            <a:extLst>
              <a:ext uri="{FF2B5EF4-FFF2-40B4-BE49-F238E27FC236}">
                <a16:creationId xmlns:a16="http://schemas.microsoft.com/office/drawing/2014/main" xmlns="" id="{565001EE-157D-3D49-9DAD-5CC802DD096E}"/>
              </a:ext>
            </a:extLst>
          </p:cNvPr>
          <p:cNvSpPr txBox="1">
            <a:spLocks noChangeArrowheads="1"/>
          </p:cNvSpPr>
          <p:nvPr/>
        </p:nvSpPr>
        <p:spPr bwMode="auto">
          <a:xfrm>
            <a:off x="6248401" y="3230563"/>
            <a:ext cx="2366963" cy="946150"/>
          </a:xfrm>
          <a:prstGeom prst="rect">
            <a:avLst/>
          </a:prstGeom>
          <a:noFill/>
          <a:ln w="9525">
            <a:noFill/>
            <a:miter lim="800000"/>
            <a:headEnd/>
            <a:tailEnd/>
          </a:ln>
          <a:effectLst/>
        </p:spPr>
        <p:txBody>
          <a:bodyPr wrap="none">
            <a:spAutoFit/>
          </a:bodyPr>
          <a:lstStyle>
            <a:lvl1pPr>
              <a:defRPr>
                <a:solidFill>
                  <a:schemeClr val="tx1"/>
                </a:solidFill>
                <a:latin typeface="Tahoma" panose="020B0604030504040204" pitchFamily="34" charset="0"/>
                <a:ea typeface="MS PGothic" panose="020B0600070205080204" pitchFamily="34" charset="-128"/>
              </a:defRPr>
            </a:lvl1pPr>
            <a:lvl2pPr marL="37931725" indent="-37474525">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r>
              <a:rPr lang="en-US" altLang="en-US" sz="2800" b="1" dirty="0">
                <a:effectLst>
                  <a:outerShdw blurRad="38100" dist="38100" dir="2700000" algn="tl">
                    <a:srgbClr val="C0C0C0"/>
                  </a:outerShdw>
                </a:effectLst>
                <a:latin typeface="Times" pitchFamily="2" charset="0"/>
              </a:rPr>
              <a:t>In Motion</a:t>
            </a:r>
          </a:p>
          <a:p>
            <a:r>
              <a:rPr lang="en-US" altLang="en-US" sz="2800" b="1" dirty="0">
                <a:effectLst>
                  <a:outerShdw blurRad="38100" dist="38100" dir="2700000" algn="tl">
                    <a:srgbClr val="C0C0C0"/>
                  </a:outerShdw>
                </a:effectLst>
                <a:latin typeface="Times" pitchFamily="2" charset="0"/>
              </a:rPr>
              <a:t>No Variability</a:t>
            </a:r>
            <a:endParaRPr lang="en-US" altLang="en-US" dirty="0">
              <a:latin typeface="Times" pitchFamily="2" charset="0"/>
            </a:endParaRPr>
          </a:p>
        </p:txBody>
      </p:sp>
      <p:sp>
        <p:nvSpPr>
          <p:cNvPr id="241674" name="Text Box 10">
            <a:extLst>
              <a:ext uri="{FF2B5EF4-FFF2-40B4-BE49-F238E27FC236}">
                <a16:creationId xmlns:a16="http://schemas.microsoft.com/office/drawing/2014/main" xmlns="" id="{819A79FD-A2A1-C845-8E96-0F2C64F2B3F9}"/>
              </a:ext>
            </a:extLst>
          </p:cNvPr>
          <p:cNvSpPr txBox="1">
            <a:spLocks noChangeArrowheads="1"/>
          </p:cNvSpPr>
          <p:nvPr/>
        </p:nvSpPr>
        <p:spPr bwMode="auto">
          <a:xfrm>
            <a:off x="8763000" y="3230563"/>
            <a:ext cx="1843088" cy="946150"/>
          </a:xfrm>
          <a:prstGeom prst="rect">
            <a:avLst/>
          </a:prstGeom>
          <a:noFill/>
          <a:ln w="9525">
            <a:noFill/>
            <a:miter lim="800000"/>
            <a:headEnd/>
            <a:tailEnd/>
          </a:ln>
          <a:effectLst/>
        </p:spPr>
        <p:txBody>
          <a:bodyPr wrap="none">
            <a:spAutoFit/>
          </a:bodyPr>
          <a:lstStyle>
            <a:lvl1pPr>
              <a:defRPr>
                <a:solidFill>
                  <a:schemeClr val="tx1"/>
                </a:solidFill>
                <a:latin typeface="Tahoma" panose="020B0604030504040204" pitchFamily="34" charset="0"/>
                <a:ea typeface="MS PGothic" panose="020B0600070205080204" pitchFamily="34" charset="-128"/>
              </a:defRPr>
            </a:lvl1pPr>
            <a:lvl2pPr marL="37931725" indent="-37474525">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r>
              <a:rPr lang="en-US" altLang="en-US" sz="2800" b="1" dirty="0">
                <a:effectLst>
                  <a:outerShdw blurRad="38100" dist="38100" dir="2700000" algn="tl">
                    <a:srgbClr val="C0C0C0"/>
                  </a:outerShdw>
                </a:effectLst>
                <a:latin typeface="Times" pitchFamily="2" charset="0"/>
              </a:rPr>
              <a:t>In Motion</a:t>
            </a:r>
          </a:p>
          <a:p>
            <a:r>
              <a:rPr lang="en-US" altLang="en-US" sz="2800" b="1" dirty="0">
                <a:effectLst>
                  <a:outerShdw blurRad="38100" dist="38100" dir="2700000" algn="tl">
                    <a:srgbClr val="C0C0C0"/>
                  </a:outerShdw>
                </a:effectLst>
                <a:latin typeface="Times" pitchFamily="2" charset="0"/>
              </a:rPr>
              <a:t>Variability</a:t>
            </a:r>
            <a:endParaRPr lang="en-US" altLang="en-US" dirty="0">
              <a:latin typeface="Times" pitchFamily="2" charset="0"/>
            </a:endParaRPr>
          </a:p>
        </p:txBody>
      </p:sp>
      <p:sp>
        <p:nvSpPr>
          <p:cNvPr id="37898" name="Text Box 12">
            <a:extLst>
              <a:ext uri="{FF2B5EF4-FFF2-40B4-BE49-F238E27FC236}">
                <a16:creationId xmlns:a16="http://schemas.microsoft.com/office/drawing/2014/main" xmlns="" id="{30939EA9-26FA-0144-98BE-04FBE3516402}"/>
              </a:ext>
            </a:extLst>
          </p:cNvPr>
          <p:cNvSpPr txBox="1">
            <a:spLocks noChangeArrowheads="1"/>
          </p:cNvSpPr>
          <p:nvPr/>
        </p:nvSpPr>
        <p:spPr bwMode="auto">
          <a:xfrm>
            <a:off x="5097463" y="1931988"/>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MS PGothic"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MS PGothic"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MS PGothic"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MS PGothic"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MS PGothic" panose="020B0600070205080204" pitchFamily="34" charset="-128"/>
              </a:defRPr>
            </a:lvl9pPr>
          </a:lstStyle>
          <a:p>
            <a:pPr>
              <a:spcBef>
                <a:spcPct val="50000"/>
              </a:spcBef>
              <a:buClrTx/>
              <a:buSzTx/>
              <a:buFontTx/>
              <a:buNone/>
            </a:pPr>
            <a:endParaRPr lang="en-US" altLang="en-US" sz="1800">
              <a:latin typeface="Times" pitchFamily="2" charset="0"/>
            </a:endParaRPr>
          </a:p>
        </p:txBody>
      </p:sp>
      <p:pic>
        <p:nvPicPr>
          <p:cNvPr id="37899" name="Picture 1">
            <a:extLst>
              <a:ext uri="{FF2B5EF4-FFF2-40B4-BE49-F238E27FC236}">
                <a16:creationId xmlns:a16="http://schemas.microsoft.com/office/drawing/2014/main" xmlns="" id="{59FA47C5-D20D-3C4E-BA7C-8145761828D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6830" y="4130675"/>
            <a:ext cx="1750104" cy="1750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0" name="Picture 3">
            <a:extLst>
              <a:ext uri="{FF2B5EF4-FFF2-40B4-BE49-F238E27FC236}">
                <a16:creationId xmlns:a16="http://schemas.microsoft.com/office/drawing/2014/main" xmlns="" id="{8FD2E780-D587-AB4A-88D3-69D5C7F7971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24900" y="996966"/>
            <a:ext cx="3149828" cy="1593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1" name="Picture 4">
            <a:extLst>
              <a:ext uri="{FF2B5EF4-FFF2-40B4-BE49-F238E27FC236}">
                <a16:creationId xmlns:a16="http://schemas.microsoft.com/office/drawing/2014/main" xmlns="" id="{55A244B7-F839-5441-8EE2-50293CCB1D1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62685" y="4130675"/>
            <a:ext cx="1734230" cy="1734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2" name="Picture 4" descr="DSCF3169.JPG">
            <a:extLst>
              <a:ext uri="{FF2B5EF4-FFF2-40B4-BE49-F238E27FC236}">
                <a16:creationId xmlns:a16="http://schemas.microsoft.com/office/drawing/2014/main" xmlns="" id="{50771A8D-4895-4D49-BADD-D4E10E491A5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06664" y="858765"/>
            <a:ext cx="1573212" cy="1732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3" name="Picture 15" descr="LungeENDside.JPG">
            <a:extLst>
              <a:ext uri="{FF2B5EF4-FFF2-40B4-BE49-F238E27FC236}">
                <a16:creationId xmlns:a16="http://schemas.microsoft.com/office/drawing/2014/main" xmlns="" id="{273BB208-E797-8146-9053-41AA91AA51A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383051" y="4146550"/>
            <a:ext cx="1284950" cy="1718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07384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7903"/>
                                        </p:tgtEl>
                                        <p:attrNameLst>
                                          <p:attrName>style.visibility</p:attrName>
                                        </p:attrNameLst>
                                      </p:cBhvr>
                                      <p:to>
                                        <p:strVal val="visible"/>
                                      </p:to>
                                    </p:set>
                                    <p:animEffect transition="in" filter="dissolve">
                                      <p:cBhvr>
                                        <p:cTn id="7" dur="500"/>
                                        <p:tgtEl>
                                          <p:spTgt spid="3790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41672"/>
                                        </p:tgtEl>
                                        <p:attrNameLst>
                                          <p:attrName>style.visibility</p:attrName>
                                        </p:attrNameLst>
                                      </p:cBhvr>
                                      <p:to>
                                        <p:strVal val="visible"/>
                                      </p:to>
                                    </p:set>
                                    <p:animEffect transition="in" filter="dissolve">
                                      <p:cBhvr>
                                        <p:cTn id="10" dur="500"/>
                                        <p:tgtEl>
                                          <p:spTgt spid="24167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41673"/>
                                        </p:tgtEl>
                                        <p:attrNameLst>
                                          <p:attrName>style.visibility</p:attrName>
                                        </p:attrNameLst>
                                      </p:cBhvr>
                                      <p:to>
                                        <p:strVal val="visible"/>
                                      </p:to>
                                    </p:set>
                                    <p:animEffect transition="in" filter="dissolve">
                                      <p:cBhvr>
                                        <p:cTn id="15" dur="500"/>
                                        <p:tgtEl>
                                          <p:spTgt spid="241673"/>
                                        </p:tgtEl>
                                      </p:cBhvr>
                                    </p:animEffect>
                                  </p:childTnLst>
                                </p:cTn>
                              </p:par>
                              <p:par>
                                <p:cTn id="16" presetID="9" presetClass="entr" presetSubtype="0" fill="hold" nodeType="withEffect">
                                  <p:stCondLst>
                                    <p:cond delay="0"/>
                                  </p:stCondLst>
                                  <p:childTnLst>
                                    <p:set>
                                      <p:cBhvr>
                                        <p:cTn id="17" dur="1" fill="hold">
                                          <p:stCondLst>
                                            <p:cond delay="0"/>
                                          </p:stCondLst>
                                        </p:cTn>
                                        <p:tgtEl>
                                          <p:spTgt spid="37899"/>
                                        </p:tgtEl>
                                        <p:attrNameLst>
                                          <p:attrName>style.visibility</p:attrName>
                                        </p:attrNameLst>
                                      </p:cBhvr>
                                      <p:to>
                                        <p:strVal val="visible"/>
                                      </p:to>
                                    </p:set>
                                    <p:animEffect transition="in" filter="dissolve">
                                      <p:cBhvr>
                                        <p:cTn id="18" dur="500"/>
                                        <p:tgtEl>
                                          <p:spTgt spid="3789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41674"/>
                                        </p:tgtEl>
                                        <p:attrNameLst>
                                          <p:attrName>style.visibility</p:attrName>
                                        </p:attrNameLst>
                                      </p:cBhvr>
                                      <p:to>
                                        <p:strVal val="visible"/>
                                      </p:to>
                                    </p:set>
                                    <p:animEffect transition="in" filter="dissolve">
                                      <p:cBhvr>
                                        <p:cTn id="23" dur="500"/>
                                        <p:tgtEl>
                                          <p:spTgt spid="241674"/>
                                        </p:tgtEl>
                                      </p:cBhvr>
                                    </p:animEffect>
                                  </p:childTnLst>
                                </p:cTn>
                              </p:par>
                              <p:par>
                                <p:cTn id="24" presetID="9" presetClass="entr" presetSubtype="0" fill="hold" nodeType="withEffect">
                                  <p:stCondLst>
                                    <p:cond delay="0"/>
                                  </p:stCondLst>
                                  <p:childTnLst>
                                    <p:set>
                                      <p:cBhvr>
                                        <p:cTn id="25" dur="1" fill="hold">
                                          <p:stCondLst>
                                            <p:cond delay="0"/>
                                          </p:stCondLst>
                                        </p:cTn>
                                        <p:tgtEl>
                                          <p:spTgt spid="37901"/>
                                        </p:tgtEl>
                                        <p:attrNameLst>
                                          <p:attrName>style.visibility</p:attrName>
                                        </p:attrNameLst>
                                      </p:cBhvr>
                                      <p:to>
                                        <p:strVal val="visible"/>
                                      </p:to>
                                    </p:set>
                                    <p:animEffect transition="in" filter="dissolve">
                                      <p:cBhvr>
                                        <p:cTn id="26" dur="500"/>
                                        <p:tgtEl>
                                          <p:spTgt spid="3790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7900"/>
                                        </p:tgtEl>
                                        <p:attrNameLst>
                                          <p:attrName>style.visibility</p:attrName>
                                        </p:attrNameLst>
                                      </p:cBhvr>
                                      <p:to>
                                        <p:strVal val="visible"/>
                                      </p:to>
                                    </p:set>
                                    <p:animEffect transition="in" filter="dissolve">
                                      <p:cBhvr>
                                        <p:cTn id="31" dur="500"/>
                                        <p:tgtEl>
                                          <p:spTgt spid="37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72" grpId="0"/>
      <p:bldP spid="241673" grpId="0"/>
      <p:bldP spid="24167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4F3118D8-4234-1D40-A554-721E502B6443}"/>
              </a:ext>
            </a:extLst>
          </p:cNvPr>
          <p:cNvSpPr/>
          <p:nvPr/>
        </p:nvSpPr>
        <p:spPr>
          <a:xfrm>
            <a:off x="731520" y="640080"/>
            <a:ext cx="10808839" cy="584775"/>
          </a:xfrm>
          <a:prstGeom prst="rect">
            <a:avLst/>
          </a:prstGeom>
        </p:spPr>
        <p:txBody>
          <a:bodyPr wrap="square">
            <a:spAutoFit/>
          </a:bodyPr>
          <a:lstStyle/>
          <a:p>
            <a:r>
              <a:rPr lang="en-US" sz="3200" dirty="0">
                <a:solidFill>
                  <a:srgbClr val="FFC000"/>
                </a:solidFill>
                <a:latin typeface="Calibri" panose="020F0502020204030204" pitchFamily="34" charset="0"/>
                <a:cs typeface="Calibri" panose="020F0502020204030204" pitchFamily="34" charset="0"/>
              </a:rPr>
              <a:t>Clinical Implications…</a:t>
            </a:r>
            <a:endParaRPr lang="en-US" sz="3200" dirty="0">
              <a:solidFill>
                <a:srgbClr val="FFC000"/>
              </a:solidFill>
            </a:endParaRPr>
          </a:p>
        </p:txBody>
      </p:sp>
      <p:sp>
        <p:nvSpPr>
          <p:cNvPr id="2" name="TextBox 1">
            <a:extLst>
              <a:ext uri="{FF2B5EF4-FFF2-40B4-BE49-F238E27FC236}">
                <a16:creationId xmlns:a16="http://schemas.microsoft.com/office/drawing/2014/main" xmlns="" id="{4A972D8C-CE1C-DC4C-BEED-0E6746AFC791}"/>
              </a:ext>
            </a:extLst>
          </p:cNvPr>
          <p:cNvSpPr txBox="1"/>
          <p:nvPr/>
        </p:nvSpPr>
        <p:spPr>
          <a:xfrm>
            <a:off x="865414" y="1436914"/>
            <a:ext cx="10674945" cy="3416320"/>
          </a:xfrm>
          <a:prstGeom prst="rect">
            <a:avLst/>
          </a:prstGeom>
          <a:noFill/>
        </p:spPr>
        <p:txBody>
          <a:bodyPr wrap="square" rtlCol="0">
            <a:spAutoFit/>
          </a:bodyPr>
          <a:lstStyle/>
          <a:p>
            <a:pPr marL="182880" indent="-182880">
              <a:buFont typeface="Arial" panose="020B0604020202020204" pitchFamily="34" charset="0"/>
              <a:buChar char="•"/>
            </a:pPr>
            <a:r>
              <a:rPr lang="en-US" altLang="en-US" sz="2400" dirty="0">
                <a:latin typeface="Calibri" panose="020F0502020204030204" pitchFamily="34" charset="0"/>
                <a:ea typeface="ＭＳ Ｐゴシック" charset="-128"/>
                <a:cs typeface="Calibri" panose="020F0502020204030204" pitchFamily="34" charset="0"/>
              </a:rPr>
              <a:t>The stability of the environment may impact the learner differently depending on the stage of learning. </a:t>
            </a:r>
          </a:p>
          <a:p>
            <a:pPr marL="182880" indent="-182880">
              <a:buFont typeface="Arial" panose="020B0604020202020204" pitchFamily="34" charset="0"/>
              <a:buChar char="•"/>
            </a:pPr>
            <a:endParaRPr lang="en-US" altLang="en-US" sz="2400" dirty="0">
              <a:latin typeface="Calibri" panose="020F0502020204030204" pitchFamily="34" charset="0"/>
              <a:ea typeface="ＭＳ Ｐゴシック" charset="-128"/>
              <a:cs typeface="Calibri" panose="020F0502020204030204" pitchFamily="34" charset="0"/>
            </a:endParaRPr>
          </a:p>
          <a:p>
            <a:pPr marL="182880" indent="-182880">
              <a:buFont typeface="Arial" panose="020B0604020202020204" pitchFamily="34" charset="0"/>
              <a:buChar char="•"/>
            </a:pPr>
            <a:r>
              <a:rPr lang="en-US" altLang="en-US" sz="2400" dirty="0">
                <a:latin typeface="Calibri" panose="020F0502020204030204" pitchFamily="34" charset="0"/>
                <a:ea typeface="ＭＳ Ｐゴシック" charset="-128"/>
                <a:cs typeface="Calibri" panose="020F0502020204030204" pitchFamily="34" charset="0"/>
              </a:rPr>
              <a:t>During early learning, a closed environment maybe beneficial because it requires fewer demands on information processing systems.</a:t>
            </a:r>
          </a:p>
          <a:p>
            <a:pPr marL="182880" indent="-182880">
              <a:buFont typeface="Arial" panose="020B0604020202020204" pitchFamily="34" charset="0"/>
              <a:buChar char="•"/>
            </a:pPr>
            <a:endParaRPr lang="en-US" altLang="en-US" sz="2400" dirty="0">
              <a:latin typeface="Calibri" panose="020F0502020204030204" pitchFamily="34" charset="0"/>
              <a:ea typeface="ＭＳ Ｐゴシック" charset="-128"/>
              <a:cs typeface="Calibri" panose="020F0502020204030204" pitchFamily="34" charset="0"/>
            </a:endParaRPr>
          </a:p>
          <a:p>
            <a:pPr marL="182880" indent="-182880">
              <a:buFont typeface="Arial" panose="020B0604020202020204" pitchFamily="34" charset="0"/>
              <a:buChar char="•"/>
            </a:pPr>
            <a:r>
              <a:rPr lang="en-US" altLang="en-US" sz="2400" dirty="0">
                <a:latin typeface="Calibri" panose="020F0502020204030204" pitchFamily="34" charset="0"/>
                <a:ea typeface="ＭＳ Ｐゴシック" charset="-128"/>
                <a:cs typeface="Calibri" panose="020F0502020204030204" pitchFamily="34" charset="0"/>
              </a:rPr>
              <a:t>During </a:t>
            </a:r>
            <a:r>
              <a:rPr lang="en-US" altLang="en-US" sz="2400" dirty="0">
                <a:latin typeface="Calibri" charset="0"/>
                <a:ea typeface="ＭＳ Ｐゴシック" charset="-128"/>
              </a:rPr>
              <a:t>advanced learning, an open environment maybe beneficial because it provides greater variability. </a:t>
            </a:r>
          </a:p>
          <a:p>
            <a:pPr marL="182880" indent="-182880"/>
            <a:endParaRPr lang="en-US" sz="2400" dirty="0"/>
          </a:p>
        </p:txBody>
      </p:sp>
    </p:spTree>
    <p:extLst>
      <p:ext uri="{BB962C8B-B14F-4D97-AF65-F5344CB8AC3E}">
        <p14:creationId xmlns:p14="http://schemas.microsoft.com/office/powerpoint/2010/main" val="968779884"/>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91"/>
          <p:cNvSpPr txBox="1">
            <a:spLocks/>
          </p:cNvSpPr>
          <p:nvPr/>
        </p:nvSpPr>
        <p:spPr>
          <a:xfrm>
            <a:off x="865154" y="2632360"/>
            <a:ext cx="8520600" cy="3766800"/>
          </a:xfrm>
          <a:prstGeom prst="rect">
            <a:avLst/>
          </a:prstGeom>
        </p:spPr>
        <p:txBody>
          <a:bodyPr vert="horz"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Font typeface="Arial" panose="020B0604020202020204" pitchFamily="34" charset="0"/>
              <a:buNone/>
            </a:pPr>
            <a:endParaRPr lang="en" dirty="0"/>
          </a:p>
        </p:txBody>
      </p:sp>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3" r="67276"/>
          <a:stretch/>
        </p:blipFill>
        <p:spPr>
          <a:xfrm>
            <a:off x="7200899" y="1941566"/>
            <a:ext cx="4050620" cy="2903872"/>
          </a:xfrm>
          <a:prstGeom prst="rect">
            <a:avLst/>
          </a:prstGeom>
          <a:ln>
            <a:solidFill>
              <a:schemeClr val="bg2">
                <a:lumMod val="50000"/>
              </a:schemeClr>
            </a:solidFill>
          </a:ln>
        </p:spPr>
      </p:pic>
      <p:sp>
        <p:nvSpPr>
          <p:cNvPr id="6" name="Rectangle 5">
            <a:extLst>
              <a:ext uri="{FF2B5EF4-FFF2-40B4-BE49-F238E27FC236}">
                <a16:creationId xmlns:a16="http://schemas.microsoft.com/office/drawing/2014/main" xmlns="" id="{3EB9EE25-4996-0F41-A5D0-03FE67D18D9A}"/>
              </a:ext>
            </a:extLst>
          </p:cNvPr>
          <p:cNvSpPr/>
          <p:nvPr/>
        </p:nvSpPr>
        <p:spPr>
          <a:xfrm>
            <a:off x="731520" y="640080"/>
            <a:ext cx="10808839" cy="584775"/>
          </a:xfrm>
          <a:prstGeom prst="rect">
            <a:avLst/>
          </a:prstGeom>
        </p:spPr>
        <p:txBody>
          <a:bodyPr wrap="square">
            <a:spAutoFit/>
          </a:bodyPr>
          <a:lstStyle/>
          <a:p>
            <a:r>
              <a:rPr lang="en-US" sz="3200" dirty="0">
                <a:solidFill>
                  <a:srgbClr val="FFC000"/>
                </a:solidFill>
                <a:latin typeface="Calibri" panose="020F0502020204030204" pitchFamily="34" charset="0"/>
                <a:cs typeface="Calibri" panose="020F0502020204030204" pitchFamily="34" charset="0"/>
              </a:rPr>
              <a:t>Steps of Motor Learning</a:t>
            </a:r>
            <a:endParaRPr lang="en-US" sz="3200" dirty="0">
              <a:solidFill>
                <a:srgbClr val="FFC000"/>
              </a:solidFill>
            </a:endParaRPr>
          </a:p>
        </p:txBody>
      </p:sp>
      <p:sp>
        <p:nvSpPr>
          <p:cNvPr id="9" name="TextBox 8">
            <a:extLst>
              <a:ext uri="{FF2B5EF4-FFF2-40B4-BE49-F238E27FC236}">
                <a16:creationId xmlns:a16="http://schemas.microsoft.com/office/drawing/2014/main" xmlns="" id="{45ECFD1C-8CCA-1B47-8F6F-7A0D90FDABB2}"/>
              </a:ext>
            </a:extLst>
          </p:cNvPr>
          <p:cNvSpPr txBox="1"/>
          <p:nvPr/>
        </p:nvSpPr>
        <p:spPr>
          <a:xfrm>
            <a:off x="713474" y="1915649"/>
            <a:ext cx="6149569" cy="2862322"/>
          </a:xfrm>
          <a:prstGeom prst="rect">
            <a:avLst/>
          </a:prstGeom>
          <a:noFill/>
        </p:spPr>
        <p:txBody>
          <a:bodyPr wrap="none" rtlCol="0">
            <a:spAutoFit/>
          </a:bodyPr>
          <a:lstStyle/>
          <a:p>
            <a:pPr marL="342900" indent="-342900">
              <a:lnSpc>
                <a:spcPct val="100000"/>
              </a:lnSpc>
              <a:spcBef>
                <a:spcPts val="0"/>
              </a:spcBef>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Present the motor problem to your patient</a:t>
            </a:r>
            <a:br>
              <a:rPr lang="en-US" sz="2400" dirty="0">
                <a:latin typeface="Calibri" panose="020F0502020204030204" pitchFamily="34" charset="0"/>
                <a:cs typeface="Calibri" panose="020F0502020204030204" pitchFamily="34" charset="0"/>
              </a:rPr>
            </a:br>
            <a:endParaRPr lang="en-US" sz="2400" dirty="0">
              <a:latin typeface="Calibri" panose="020F0502020204030204" pitchFamily="34" charset="0"/>
              <a:cs typeface="Calibri" panose="020F0502020204030204" pitchFamily="34" charset="0"/>
            </a:endParaRPr>
          </a:p>
          <a:p>
            <a:pPr marL="342900" indent="-342900">
              <a:lnSpc>
                <a:spcPct val="100000"/>
              </a:lnSpc>
              <a:spcBef>
                <a:spcPts val="0"/>
              </a:spcBef>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Provide opportunity for </a:t>
            </a:r>
            <a:r>
              <a:rPr lang="en-US" sz="2800" b="1" dirty="0">
                <a:latin typeface="Calibri" panose="020F0502020204030204" pitchFamily="34" charset="0"/>
                <a:cs typeface="Calibri" panose="020F0502020204030204" pitchFamily="34" charset="0"/>
              </a:rPr>
              <a:t>PRACTICE</a:t>
            </a:r>
            <a:r>
              <a:rPr lang="en-US" sz="2400" dirty="0">
                <a:latin typeface="Calibri" panose="020F0502020204030204" pitchFamily="34" charset="0"/>
                <a:cs typeface="Calibri" panose="020F0502020204030204" pitchFamily="34" charset="0"/>
              </a:rPr>
              <a:t/>
            </a:r>
            <a:br>
              <a:rPr lang="en-US" sz="2400" dirty="0">
                <a:latin typeface="Calibri" panose="020F0502020204030204" pitchFamily="34" charset="0"/>
                <a:cs typeface="Calibri" panose="020F0502020204030204" pitchFamily="34" charset="0"/>
              </a:rPr>
            </a:br>
            <a:endParaRPr lang="en-US" sz="2400" dirty="0">
              <a:latin typeface="Calibri" panose="020F0502020204030204" pitchFamily="34" charset="0"/>
              <a:cs typeface="Calibri" panose="020F0502020204030204" pitchFamily="34" charset="0"/>
            </a:endParaRPr>
          </a:p>
          <a:p>
            <a:pPr marL="342900" indent="-342900">
              <a:lnSpc>
                <a:spcPct val="100000"/>
              </a:lnSpc>
              <a:spcBef>
                <a:spcPts val="0"/>
              </a:spcBef>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Provide </a:t>
            </a:r>
            <a:r>
              <a:rPr lang="en-US" sz="2800" b="1" dirty="0">
                <a:latin typeface="Calibri" panose="020F0502020204030204" pitchFamily="34" charset="0"/>
                <a:cs typeface="Calibri" panose="020F0502020204030204" pitchFamily="34" charset="0"/>
              </a:rPr>
              <a:t>FEEDBACK</a:t>
            </a:r>
            <a:r>
              <a:rPr lang="en-US" sz="2400" dirty="0">
                <a:latin typeface="Calibri" panose="020F0502020204030204" pitchFamily="34" charset="0"/>
                <a:cs typeface="Calibri" panose="020F0502020204030204" pitchFamily="34" charset="0"/>
              </a:rPr>
              <a:t/>
            </a:r>
            <a:br>
              <a:rPr lang="en-US" sz="2400" dirty="0">
                <a:latin typeface="Calibri" panose="020F0502020204030204" pitchFamily="34" charset="0"/>
                <a:cs typeface="Calibri" panose="020F0502020204030204" pitchFamily="34" charset="0"/>
              </a:rPr>
            </a:br>
            <a:endParaRPr lang="en-US" sz="2400" dirty="0">
              <a:latin typeface="Calibri" panose="020F0502020204030204" pitchFamily="34" charset="0"/>
              <a:cs typeface="Calibri" panose="020F0502020204030204" pitchFamily="34" charset="0"/>
            </a:endParaRPr>
          </a:p>
          <a:p>
            <a:pPr marL="342900" indent="-342900">
              <a:lnSpc>
                <a:spcPct val="100000"/>
              </a:lnSpc>
              <a:spcBef>
                <a:spcPts val="0"/>
              </a:spcBef>
              <a:buFont typeface="Arial" panose="020B0604020202020204" pitchFamily="34" charset="0"/>
              <a:buChar char="•"/>
              <a:defRPr/>
            </a:pPr>
            <a:r>
              <a:rPr lang="en-US" sz="2800" b="1" dirty="0">
                <a:latin typeface="Calibri" panose="020F0502020204030204" pitchFamily="34" charset="0"/>
                <a:cs typeface="Calibri" panose="020F0502020204030204" pitchFamily="34" charset="0"/>
              </a:rPr>
              <a:t>EVALUATE</a:t>
            </a:r>
            <a:r>
              <a:rPr lang="en-US" sz="2400" dirty="0">
                <a:latin typeface="Calibri" panose="020F0502020204030204" pitchFamily="34" charset="0"/>
                <a:cs typeface="Calibri" panose="020F0502020204030204" pitchFamily="34" charset="0"/>
              </a:rPr>
              <a:t> performance, retention, transfer</a:t>
            </a:r>
          </a:p>
        </p:txBody>
      </p:sp>
    </p:spTree>
    <p:extLst>
      <p:ext uri="{BB962C8B-B14F-4D97-AF65-F5344CB8AC3E}">
        <p14:creationId xmlns:p14="http://schemas.microsoft.com/office/powerpoint/2010/main" val="20871731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Assignment one </a:t>
            </a:r>
            <a:endParaRPr lang="en-US" dirty="0"/>
          </a:p>
        </p:txBody>
      </p:sp>
      <p:sp>
        <p:nvSpPr>
          <p:cNvPr id="3" name="Content Placeholder 2"/>
          <p:cNvSpPr>
            <a:spLocks noGrp="1"/>
          </p:cNvSpPr>
          <p:nvPr>
            <p:ph idx="1"/>
          </p:nvPr>
        </p:nvSpPr>
        <p:spPr/>
        <p:txBody>
          <a:bodyPr/>
          <a:lstStyle/>
          <a:p>
            <a:r>
              <a:rPr lang="en-GB" dirty="0" smtClean="0"/>
              <a:t>Differentiate between motor learning and control.</a:t>
            </a:r>
          </a:p>
          <a:p>
            <a:r>
              <a:rPr lang="en-GB" dirty="0" smtClean="0"/>
              <a:t>Outline the characteristics of motor learning. 10 marks</a:t>
            </a:r>
          </a:p>
          <a:p>
            <a:r>
              <a:rPr lang="en-GB" dirty="0" smtClean="0"/>
              <a:t>Submit by end of day one by 6.00 pm. </a:t>
            </a:r>
            <a:endParaRPr lang="en-US" dirty="0"/>
          </a:p>
        </p:txBody>
      </p:sp>
    </p:spTree>
    <p:extLst>
      <p:ext uri="{BB962C8B-B14F-4D97-AF65-F5344CB8AC3E}">
        <p14:creationId xmlns:p14="http://schemas.microsoft.com/office/powerpoint/2010/main" val="26765366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End of lesson one</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67357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TotalTime>
  <Words>5156</Words>
  <Application>Microsoft Office PowerPoint</Application>
  <PresentationFormat>Widescreen</PresentationFormat>
  <Paragraphs>740</Paragraphs>
  <Slides>70</Slides>
  <Notes>24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70</vt:i4>
      </vt:variant>
    </vt:vector>
  </HeadingPairs>
  <TitlesOfParts>
    <vt:vector size="85" baseType="lpstr">
      <vt:lpstr>ＭＳ Ｐゴシック</vt:lpstr>
      <vt:lpstr>ＭＳ Ｐゴシック</vt:lpstr>
      <vt:lpstr>Arial</vt:lpstr>
      <vt:lpstr>Book Antiqua</vt:lpstr>
      <vt:lpstr>Calibri</vt:lpstr>
      <vt:lpstr>Calibri Light</vt:lpstr>
      <vt:lpstr>Franklin Gothic Book</vt:lpstr>
      <vt:lpstr>Helvetica</vt:lpstr>
      <vt:lpstr>Mangal</vt:lpstr>
      <vt:lpstr>Symbol</vt:lpstr>
      <vt:lpstr>Tahoma</vt:lpstr>
      <vt:lpstr>Times</vt:lpstr>
      <vt:lpstr>Times New Roman</vt:lpstr>
      <vt:lpstr>Wingdings</vt:lpstr>
      <vt:lpstr>Office Theme</vt:lpstr>
      <vt:lpstr>NEUROSCIENCE</vt:lpstr>
      <vt:lpstr>Lesson one</vt:lpstr>
      <vt:lpstr>What is neuroscience. </vt:lpstr>
      <vt:lpstr>PowerPoint Presentation</vt:lpstr>
      <vt:lpstr>Nervous System Overview</vt:lpstr>
      <vt:lpstr>Organization of the Nervous System</vt:lpstr>
      <vt:lpstr>Two Major Divisions</vt:lpstr>
      <vt:lpstr>PowerPoint Presentation</vt:lpstr>
      <vt:lpstr>The Brain</vt:lpstr>
      <vt:lpstr>Cerebrum</vt:lpstr>
      <vt:lpstr>Cerebrum</vt:lpstr>
      <vt:lpstr>Brain Stem and Diencephalon</vt:lpstr>
      <vt:lpstr>The Brain</vt:lpstr>
      <vt:lpstr>Spinal Cord</vt:lpstr>
      <vt:lpstr>Functional Anatomy of the Peripheral  Nervous System</vt:lpstr>
      <vt:lpstr>Nerve Structure</vt:lpstr>
      <vt:lpstr>Autonomic Nervous System</vt:lpstr>
      <vt:lpstr>The Efferent Nerves</vt:lpstr>
      <vt:lpstr>Nervous Tissues</vt:lpstr>
      <vt:lpstr>Neuroglia</vt:lpstr>
      <vt:lpstr>Neuroglia</vt:lpstr>
      <vt:lpstr>Neurons</vt:lpstr>
      <vt:lpstr>Neuron Types by Function</vt:lpstr>
      <vt:lpstr>Neuron Structures</vt:lpstr>
      <vt:lpstr>Transmission of Nerve Impulses</vt:lpstr>
      <vt:lpstr>Action Potentials</vt:lpstr>
      <vt:lpstr>Impulse Transmission</vt:lpstr>
      <vt:lpstr>A neuron</vt:lpstr>
      <vt:lpstr>Classification of nerve injuries</vt:lpstr>
      <vt:lpstr>Reflexes</vt:lpstr>
      <vt:lpstr>PowerPoint Presentation</vt:lpstr>
      <vt:lpstr>Disorders of the nervous</vt:lpstr>
      <vt:lpstr>Cont’d</vt:lpstr>
      <vt:lpstr>General Signs and symptoms of nervous system disorders</vt:lpstr>
      <vt:lpstr>Cont’d </vt:lpstr>
      <vt:lpstr>Injuries to the Brain and Spinal Cord</vt:lpstr>
      <vt:lpstr>Traumatic Brain Injury</vt:lpstr>
      <vt:lpstr>Cerebral Palsy</vt:lpstr>
      <vt:lpstr>Spinal Cord Injuries</vt:lpstr>
      <vt:lpstr>Theoretical models of motor  learning and control.</vt:lpstr>
      <vt:lpstr>Motor control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Dynamic Interaction of 3 Elements  Movement</vt:lpstr>
      <vt:lpstr>PowerPoint Presentation</vt:lpstr>
      <vt:lpstr>PowerPoint Presentation</vt:lpstr>
      <vt:lpstr>PowerPoint Presentation</vt:lpstr>
      <vt:lpstr>PowerPoint Presentation</vt:lpstr>
      <vt:lpstr>Skill/Task: Nature of Movement Organization</vt:lpstr>
      <vt:lpstr>PowerPoint Presentation</vt:lpstr>
      <vt:lpstr>PowerPoint Presentation</vt:lpstr>
      <vt:lpstr>Environmental Predictability</vt:lpstr>
      <vt:lpstr>PowerPoint Presentation</vt:lpstr>
      <vt:lpstr>PowerPoint Presentation</vt:lpstr>
      <vt:lpstr>PowerPoint Presentation</vt:lpstr>
      <vt:lpstr>PowerPoint Presentation</vt:lpstr>
      <vt:lpstr>Assignment one </vt:lpstr>
      <vt:lpstr>End of lesson one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NEUROSCIENCE</dc:title>
  <dc:creator>user</dc:creator>
  <cp:lastModifiedBy>emily nyanumba</cp:lastModifiedBy>
  <cp:revision>61</cp:revision>
  <dcterms:created xsi:type="dcterms:W3CDTF">2019-09-16T18:36:29Z</dcterms:created>
  <dcterms:modified xsi:type="dcterms:W3CDTF">2021-04-15T05:02:33Z</dcterms:modified>
</cp:coreProperties>
</file>