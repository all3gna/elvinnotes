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7" d="100"/>
          <a:sy n="67" d="100"/>
        </p:scale>
        <p:origin x="-54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4289437-5ABF-4C83-90F4-30155454A408}" type="datetimeFigureOut">
              <a:rPr lang="en-US" smtClean="0"/>
              <a:pPr/>
              <a:t>12/1/2020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42C975-789A-4BC2-8DD2-4063898ECA5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289437-5ABF-4C83-90F4-30155454A408}" type="datetimeFigureOut">
              <a:rPr lang="en-US" smtClean="0"/>
              <a:pPr/>
              <a:t>12/1/2020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42C975-789A-4BC2-8DD2-4063898ECA5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4289437-5ABF-4C83-90F4-30155454A408}" type="datetimeFigureOut">
              <a:rPr lang="en-US" smtClean="0"/>
              <a:pPr/>
              <a:t>12/1/2020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42C975-789A-4BC2-8DD2-4063898ECA5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4289437-5ABF-4C83-90F4-30155454A408}" type="datetimeFigureOut">
              <a:rPr lang="en-US" smtClean="0"/>
              <a:pPr/>
              <a:t>12/1/2020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42C975-789A-4BC2-8DD2-4063898ECA5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4289437-5ABF-4C83-90F4-30155454A408}" type="datetimeFigureOut">
              <a:rPr lang="en-US" smtClean="0"/>
              <a:pPr/>
              <a:t>12/1/2020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42C975-789A-4BC2-8DD2-4063898ECA5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4289437-5ABF-4C83-90F4-30155454A408}" type="datetimeFigureOut">
              <a:rPr lang="en-US" smtClean="0"/>
              <a:pPr/>
              <a:t>12/1/2020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42C975-789A-4BC2-8DD2-4063898ECA5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289437-5ABF-4C83-90F4-30155454A408}" type="datetimeFigureOut">
              <a:rPr lang="en-US" smtClean="0"/>
              <a:pPr/>
              <a:t>12/1/2020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42C975-789A-4BC2-8DD2-4063898ECA5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289437-5ABF-4C83-90F4-30155454A408}" type="datetimeFigureOut">
              <a:rPr lang="en-US" smtClean="0"/>
              <a:pPr/>
              <a:t>12/1/2020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42C975-789A-4BC2-8DD2-4063898ECA5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289437-5ABF-4C83-90F4-30155454A408}" type="datetimeFigureOut">
              <a:rPr lang="en-US" smtClean="0"/>
              <a:pPr/>
              <a:t>12/1/2020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42C975-789A-4BC2-8DD2-4063898ECA5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289437-5ABF-4C83-90F4-30155454A408}" type="datetimeFigureOut">
              <a:rPr lang="en-US" smtClean="0"/>
              <a:pPr/>
              <a:t>12/1/2020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42C975-789A-4BC2-8DD2-4063898ECA5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289437-5ABF-4C83-90F4-30155454A408}" type="datetimeFigureOut">
              <a:rPr lang="en-US" smtClean="0"/>
              <a:pPr/>
              <a:t>12/1/2020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42C975-789A-4BC2-8DD2-4063898ECA5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289437-5ABF-4C83-90F4-30155454A408}" type="datetimeFigureOut">
              <a:rPr lang="en-US" smtClean="0"/>
              <a:pPr/>
              <a:t>12/1/2020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42C975-789A-4BC2-8DD2-4063898ECA5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FF0000"/>
                </a:solidFill>
              </a:rPr>
              <a:t>TOPIC;BIO-MOLECULES</a:t>
            </a:r>
            <a:endParaRPr lang="en-US" dirty="0"/>
          </a:p>
        </p:txBody>
      </p:sp>
      <p:sp>
        <p:nvSpPr>
          <p:cNvPr id="3" name="Subtitle 2"/>
          <p:cNvSpPr>
            <a:spLocks noGrp="1"/>
          </p:cNvSpPr>
          <p:nvPr>
            <p:ph type="subTitle" idx="1"/>
          </p:nvPr>
        </p:nvSpPr>
        <p:spPr/>
        <p:txBody>
          <a:bodyPr/>
          <a:lstStyle/>
          <a:p>
            <a:r>
              <a:rPr lang="en-US" dirty="0" smtClean="0"/>
              <a:t>Lecture 3</a:t>
            </a:r>
            <a:endParaRPr lang="en-US" dirty="0"/>
          </a:p>
        </p:txBody>
      </p:sp>
      <p:sp>
        <p:nvSpPr>
          <p:cNvPr id="4" name="Footer Placeholder 3"/>
          <p:cNvSpPr>
            <a:spLocks noGrp="1"/>
          </p:cNvSpPr>
          <p:nvPr>
            <p:ph type="ftr" sz="quarter" idx="11"/>
          </p:nvPr>
        </p:nvSpPr>
        <p:spPr/>
        <p:txBody>
          <a:bodyPr/>
          <a:lstStyle/>
          <a:p>
            <a:r>
              <a:rPr lang="en-US" smtClean="0"/>
              <a:t>rkoech@kmtc.ac.ke</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SUB TOPIC 4: CARBOHYDRATES </a:t>
            </a:r>
            <a:r>
              <a:rPr lang="en-US" b="1" dirty="0" smtClean="0"/>
              <a:t>BIOMOLECULE</a:t>
            </a:r>
            <a:endParaRPr lang="en-US" dirty="0"/>
          </a:p>
        </p:txBody>
      </p:sp>
      <p:sp>
        <p:nvSpPr>
          <p:cNvPr id="3" name="Content Placeholder 2"/>
          <p:cNvSpPr>
            <a:spLocks noGrp="1"/>
          </p:cNvSpPr>
          <p:nvPr>
            <p:ph idx="1"/>
          </p:nvPr>
        </p:nvSpPr>
        <p:spPr/>
        <p:txBody>
          <a:bodyPr>
            <a:normAutofit fontScale="92500" lnSpcReduction="20000"/>
          </a:bodyPr>
          <a:lstStyle/>
          <a:p>
            <a:r>
              <a:rPr lang="en-US" b="1" dirty="0"/>
              <a:t>Learning Objectives</a:t>
            </a:r>
            <a:endParaRPr lang="en-US" dirty="0"/>
          </a:p>
          <a:p>
            <a:pPr lvl="1"/>
            <a:r>
              <a:rPr lang="en-US" dirty="0" smtClean="0"/>
              <a:t>Define </a:t>
            </a:r>
            <a:r>
              <a:rPr lang="en-US" dirty="0"/>
              <a:t>carbohydrates in chemical terms</a:t>
            </a:r>
          </a:p>
          <a:p>
            <a:pPr lvl="1"/>
            <a:r>
              <a:rPr lang="en-US" dirty="0" smtClean="0"/>
              <a:t>Classify </a:t>
            </a:r>
            <a:r>
              <a:rPr lang="en-US" dirty="0"/>
              <a:t>carbohydrates in to three major groups with examples of each group</a:t>
            </a:r>
          </a:p>
          <a:p>
            <a:pPr lvl="1"/>
            <a:r>
              <a:rPr lang="en-US" dirty="0" smtClean="0"/>
              <a:t>List </a:t>
            </a:r>
            <a:r>
              <a:rPr lang="en-US" dirty="0"/>
              <a:t>the </a:t>
            </a:r>
            <a:r>
              <a:rPr lang="en-US" dirty="0" err="1"/>
              <a:t>monosaccharides</a:t>
            </a:r>
            <a:r>
              <a:rPr lang="en-US" dirty="0"/>
              <a:t> of biological importance and learn their properties</a:t>
            </a:r>
          </a:p>
          <a:p>
            <a:pPr lvl="1"/>
            <a:r>
              <a:rPr lang="en-US" dirty="0" smtClean="0"/>
              <a:t> List </a:t>
            </a:r>
            <a:r>
              <a:rPr lang="en-US" dirty="0"/>
              <a:t>the disaccharides of biological importance and learn their properties</a:t>
            </a:r>
          </a:p>
          <a:p>
            <a:pPr lvl="1"/>
            <a:r>
              <a:rPr lang="en-US" dirty="0" smtClean="0"/>
              <a:t>List </a:t>
            </a:r>
            <a:r>
              <a:rPr lang="en-US" dirty="0"/>
              <a:t>the polysaccharides of biological importance and learn their properties</a:t>
            </a:r>
          </a:p>
          <a:p>
            <a:pPr lvl="1"/>
            <a:r>
              <a:rPr lang="en-US" dirty="0" smtClean="0"/>
              <a:t> </a:t>
            </a:r>
            <a:r>
              <a:rPr lang="en-US" dirty="0"/>
              <a:t>Study the chemistry and functions of </a:t>
            </a:r>
            <a:r>
              <a:rPr lang="en-US" dirty="0" err="1"/>
              <a:t>glycoproteins</a:t>
            </a:r>
            <a:endParaRPr lang="en-US"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Cn(H20)n</a:t>
            </a:r>
            <a:endParaRPr lang="en-US" dirty="0"/>
          </a:p>
        </p:txBody>
      </p:sp>
      <p:sp>
        <p:nvSpPr>
          <p:cNvPr id="3" name="Content Placeholder 2"/>
          <p:cNvSpPr>
            <a:spLocks noGrp="1"/>
          </p:cNvSpPr>
          <p:nvPr>
            <p:ph idx="1"/>
          </p:nvPr>
        </p:nvSpPr>
        <p:spPr/>
        <p:txBody>
          <a:bodyPr>
            <a:normAutofit/>
          </a:bodyPr>
          <a:lstStyle/>
          <a:p>
            <a:r>
              <a:rPr lang="en-US" b="1" dirty="0"/>
              <a:t>Main source of energy</a:t>
            </a:r>
            <a:r>
              <a:rPr lang="en-US" dirty="0"/>
              <a:t> : providing energy= 4kcal/g .  Carbohydrates are based upon the general formula Cn(H20)n</a:t>
            </a:r>
          </a:p>
          <a:p>
            <a:r>
              <a:rPr lang="en-US" dirty="0"/>
              <a:t>– As if they were hydrates of carbon (most abundant organic molecules in our biosphere)</a:t>
            </a:r>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Functions of Carbohydrates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 </a:t>
            </a:r>
            <a:r>
              <a:rPr lang="en-US" b="1" dirty="0" smtClean="0"/>
              <a:t>Energy source </a:t>
            </a:r>
            <a:r>
              <a:rPr lang="en-US" dirty="0" smtClean="0"/>
              <a:t>(glucose)</a:t>
            </a:r>
          </a:p>
          <a:p>
            <a:r>
              <a:rPr lang="en-US" dirty="0" smtClean="0"/>
              <a:t>– </a:t>
            </a:r>
            <a:r>
              <a:rPr lang="en-US" b="1" dirty="0" smtClean="0"/>
              <a:t>Energy storage </a:t>
            </a:r>
            <a:r>
              <a:rPr lang="en-US" dirty="0" smtClean="0"/>
              <a:t>(glycogen, starch)</a:t>
            </a:r>
          </a:p>
          <a:p>
            <a:r>
              <a:rPr lang="en-US" dirty="0" smtClean="0"/>
              <a:t>– </a:t>
            </a:r>
            <a:r>
              <a:rPr lang="en-US" b="1" dirty="0" smtClean="0"/>
              <a:t>Carbon source </a:t>
            </a:r>
            <a:r>
              <a:rPr lang="en-US" dirty="0" smtClean="0"/>
              <a:t>(</a:t>
            </a:r>
            <a:r>
              <a:rPr lang="en-US" dirty="0" err="1" smtClean="0"/>
              <a:t>pyruvate</a:t>
            </a:r>
            <a:r>
              <a:rPr lang="en-US" dirty="0" smtClean="0"/>
              <a:t> used to make Ile, </a:t>
            </a:r>
            <a:r>
              <a:rPr lang="en-US" dirty="0" err="1" smtClean="0"/>
              <a:t>Leu</a:t>
            </a:r>
            <a:r>
              <a:rPr lang="en-US" dirty="0" smtClean="0"/>
              <a:t>, Val, Ala)</a:t>
            </a:r>
          </a:p>
          <a:p>
            <a:r>
              <a:rPr lang="en-US" dirty="0" smtClean="0"/>
              <a:t>– </a:t>
            </a:r>
            <a:r>
              <a:rPr lang="en-US" b="1" dirty="0" smtClean="0"/>
              <a:t>Structure/Protection </a:t>
            </a:r>
            <a:r>
              <a:rPr lang="en-US" dirty="0" smtClean="0"/>
              <a:t>(chitin, cellulose, connective tissue)</a:t>
            </a:r>
          </a:p>
          <a:p>
            <a:r>
              <a:rPr lang="en-US" dirty="0" smtClean="0"/>
              <a:t>– </a:t>
            </a:r>
            <a:r>
              <a:rPr lang="en-US" b="1" dirty="0" smtClean="0"/>
              <a:t>Recognition/Signaling </a:t>
            </a:r>
            <a:r>
              <a:rPr lang="en-US" dirty="0" smtClean="0"/>
              <a:t>(Antibodies used for immune system recognition)</a:t>
            </a:r>
          </a:p>
          <a:p>
            <a:r>
              <a:rPr lang="en-US" dirty="0" smtClean="0"/>
              <a:t>– Can be </a:t>
            </a:r>
            <a:r>
              <a:rPr lang="en-US" b="1" dirty="0" smtClean="0"/>
              <a:t>attached </a:t>
            </a:r>
            <a:r>
              <a:rPr lang="en-US" dirty="0" smtClean="0"/>
              <a:t>to other </a:t>
            </a:r>
            <a:r>
              <a:rPr lang="en-US" b="1" dirty="0" smtClean="0"/>
              <a:t>macromolecules </a:t>
            </a:r>
            <a:r>
              <a:rPr lang="en-US" dirty="0" smtClean="0"/>
              <a:t>(</a:t>
            </a:r>
            <a:r>
              <a:rPr lang="en-US" dirty="0" err="1" smtClean="0"/>
              <a:t>glycoproteins</a:t>
            </a:r>
            <a:r>
              <a:rPr lang="en-US" dirty="0" smtClean="0"/>
              <a:t> and </a:t>
            </a:r>
            <a:r>
              <a:rPr lang="en-US" dirty="0" err="1" smtClean="0"/>
              <a:t>glycolipids</a:t>
            </a:r>
            <a:r>
              <a:rPr lang="en-US" dirty="0" smtClean="0"/>
              <a:t>)</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Classes </a:t>
            </a:r>
            <a:r>
              <a:rPr lang="en-US" dirty="0" smtClean="0"/>
              <a:t>of carbohydrates</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Ø"/>
            </a:pPr>
            <a:r>
              <a:rPr lang="en-US" dirty="0" smtClean="0"/>
              <a:t> </a:t>
            </a:r>
            <a:r>
              <a:rPr lang="en-US" dirty="0" err="1" smtClean="0"/>
              <a:t>Monosaccharides</a:t>
            </a:r>
            <a:r>
              <a:rPr lang="en-US" dirty="0" smtClean="0"/>
              <a:t> </a:t>
            </a:r>
            <a:r>
              <a:rPr lang="en-US" dirty="0"/>
              <a:t>(simple sugars like glucose)</a:t>
            </a:r>
          </a:p>
          <a:p>
            <a:pPr>
              <a:buFont typeface="Wingdings" pitchFamily="2" charset="2"/>
              <a:buChar char="Ø"/>
            </a:pPr>
            <a:r>
              <a:rPr lang="en-US" dirty="0"/>
              <a:t>D</a:t>
            </a:r>
            <a:r>
              <a:rPr lang="en-US" dirty="0" smtClean="0"/>
              <a:t>isaccharides </a:t>
            </a:r>
            <a:r>
              <a:rPr lang="en-US" dirty="0"/>
              <a:t>(sucrose)</a:t>
            </a:r>
          </a:p>
          <a:p>
            <a:pPr>
              <a:buFont typeface="Wingdings" pitchFamily="2" charset="2"/>
              <a:buChar char="Ø"/>
            </a:pPr>
            <a:r>
              <a:rPr lang="en-US" dirty="0" err="1"/>
              <a:t>T</a:t>
            </a:r>
            <a:r>
              <a:rPr lang="en-US" dirty="0" err="1" smtClean="0"/>
              <a:t>risaccharides</a:t>
            </a:r>
            <a:endParaRPr lang="en-US" dirty="0"/>
          </a:p>
          <a:p>
            <a:pPr>
              <a:buFont typeface="Wingdings" pitchFamily="2" charset="2"/>
              <a:buChar char="Ø"/>
            </a:pPr>
            <a:r>
              <a:rPr lang="en-US" dirty="0" smtClean="0"/>
              <a:t> Polysaccharides </a:t>
            </a:r>
            <a:r>
              <a:rPr lang="en-US" dirty="0"/>
              <a:t>(oligosaccharides) (starch, cellulose, glycogen) – long chains </a:t>
            </a:r>
            <a:r>
              <a:rPr lang="en-US" dirty="0" smtClean="0"/>
              <a:t>of </a:t>
            </a:r>
            <a:r>
              <a:rPr lang="en-US" dirty="0" err="1" smtClean="0"/>
              <a:t>monosaccharides</a:t>
            </a:r>
            <a:r>
              <a:rPr lang="en-US" dirty="0"/>
              <a:t>; chains of </a:t>
            </a:r>
            <a:r>
              <a:rPr lang="en-US" dirty="0" err="1"/>
              <a:t>monosaccharides</a:t>
            </a:r>
            <a:r>
              <a:rPr lang="en-US" dirty="0"/>
              <a:t> bridged through oxygen atoms – can be thousands long and can be branched</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fontScale="90000"/>
          </a:bodyPr>
          <a:lstStyle/>
          <a:p>
            <a:r>
              <a:rPr lang="en-US" b="1" dirty="0" smtClean="0"/>
              <a:t>TYPES</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b="1" dirty="0" smtClean="0"/>
              <a:t>A</a:t>
            </a:r>
            <a:r>
              <a:rPr lang="en-US" b="1" dirty="0"/>
              <a:t>. Simple carbohydrates</a:t>
            </a:r>
            <a:r>
              <a:rPr lang="en-US" dirty="0"/>
              <a:t> 1. Sugars (Simple </a:t>
            </a:r>
            <a:r>
              <a:rPr lang="en-US" dirty="0" err="1"/>
              <a:t>carb</a:t>
            </a:r>
            <a:r>
              <a:rPr lang="en-US" dirty="0"/>
              <a:t>.) : </a:t>
            </a:r>
            <a:r>
              <a:rPr lang="en-US" dirty="0" err="1"/>
              <a:t>Monosaccharides</a:t>
            </a:r>
            <a:r>
              <a:rPr lang="en-US" dirty="0"/>
              <a:t> : The most abundant </a:t>
            </a:r>
            <a:r>
              <a:rPr lang="en-US" dirty="0" err="1"/>
              <a:t>monosaccharides</a:t>
            </a:r>
            <a:r>
              <a:rPr lang="en-US" dirty="0"/>
              <a:t> in nature are the 6-carbon sugars </a:t>
            </a:r>
            <a:r>
              <a:rPr lang="en-US" dirty="0" err="1"/>
              <a:t>i.e</a:t>
            </a:r>
            <a:r>
              <a:rPr lang="en-US" dirty="0"/>
              <a:t> glucose, Fructose; </a:t>
            </a:r>
            <a:endParaRPr lang="en-US" dirty="0" smtClean="0"/>
          </a:p>
          <a:p>
            <a:r>
              <a:rPr lang="en-US" dirty="0" smtClean="0"/>
              <a:t>• </a:t>
            </a:r>
            <a:r>
              <a:rPr lang="en-US" dirty="0"/>
              <a:t>Formula </a:t>
            </a:r>
            <a:r>
              <a:rPr lang="en-US" b="1" dirty="0"/>
              <a:t>Cn(H20)n </a:t>
            </a:r>
            <a:r>
              <a:rPr lang="en-US" dirty="0"/>
              <a:t>only holds for </a:t>
            </a:r>
            <a:r>
              <a:rPr lang="en-US" dirty="0" err="1" smtClean="0"/>
              <a:t>monosaccharides</a:t>
            </a:r>
            <a:endParaRPr lang="en-US" dirty="0" smtClean="0"/>
          </a:p>
          <a:p>
            <a:r>
              <a:rPr lang="en-US" dirty="0" smtClean="0"/>
              <a:t>Common </a:t>
            </a:r>
            <a:r>
              <a:rPr lang="en-US" dirty="0" err="1"/>
              <a:t>monosaccharides</a:t>
            </a:r>
            <a:r>
              <a:rPr lang="en-US" dirty="0"/>
              <a:t> contain from 3 to 6 carbon </a:t>
            </a:r>
            <a:r>
              <a:rPr lang="en-US" dirty="0" smtClean="0"/>
              <a:t>atoms– </a:t>
            </a:r>
            <a:r>
              <a:rPr lang="en-US" dirty="0"/>
              <a:t>these sugars are called </a:t>
            </a:r>
            <a:r>
              <a:rPr lang="en-US" b="1" dirty="0" err="1"/>
              <a:t>trioses</a:t>
            </a:r>
            <a:r>
              <a:rPr lang="en-US" b="1" dirty="0"/>
              <a:t>, </a:t>
            </a:r>
            <a:r>
              <a:rPr lang="en-US" b="1" dirty="0" err="1"/>
              <a:t>tetroses</a:t>
            </a:r>
            <a:r>
              <a:rPr lang="en-US" b="1" dirty="0"/>
              <a:t>, </a:t>
            </a:r>
            <a:r>
              <a:rPr lang="en-US" b="1" dirty="0" err="1"/>
              <a:t>pentoses</a:t>
            </a:r>
            <a:r>
              <a:rPr lang="en-US" b="1" dirty="0"/>
              <a:t>, </a:t>
            </a:r>
            <a:r>
              <a:rPr lang="en-US" b="1" dirty="0" err="1"/>
              <a:t>hexoses</a:t>
            </a:r>
            <a:endParaRPr lang="en-US" b="1" dirty="0"/>
          </a:p>
          <a:p>
            <a:endParaRPr lang="en-US"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b. Disaccharides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When </a:t>
            </a:r>
            <a:r>
              <a:rPr lang="en-US" dirty="0"/>
              <a:t>two </a:t>
            </a:r>
            <a:r>
              <a:rPr lang="en-US" dirty="0" err="1"/>
              <a:t>monosaccharides</a:t>
            </a:r>
            <a:r>
              <a:rPr lang="en-US" dirty="0"/>
              <a:t> are covalently bonded together by </a:t>
            </a:r>
            <a:r>
              <a:rPr lang="en-US" dirty="0" err="1"/>
              <a:t>glycosidic</a:t>
            </a:r>
            <a:r>
              <a:rPr lang="en-US" dirty="0"/>
              <a:t> linkages a disaccharide is formed. </a:t>
            </a:r>
            <a:r>
              <a:rPr lang="en-US" dirty="0" err="1"/>
              <a:t>Glycosidic</a:t>
            </a:r>
            <a:r>
              <a:rPr lang="en-US" dirty="0"/>
              <a:t> bond is formed when the hydroxyl group on one of the sugars reacts with the </a:t>
            </a:r>
            <a:r>
              <a:rPr lang="en-US" dirty="0" err="1"/>
              <a:t>anomeric</a:t>
            </a:r>
            <a:r>
              <a:rPr lang="en-US" dirty="0"/>
              <a:t> carbon on the second sugar.</a:t>
            </a:r>
          </a:p>
          <a:p>
            <a:r>
              <a:rPr lang="en-US" dirty="0"/>
              <a:t>Biologically important disaccharides are sucrose, maltose, and Lactose.</a:t>
            </a:r>
          </a:p>
          <a:p>
            <a:pPr lvl="0"/>
            <a:r>
              <a:rPr lang="en-US" dirty="0"/>
              <a:t>Maltose contains two D glucose residues</a:t>
            </a:r>
          </a:p>
          <a:p>
            <a:pPr lvl="0"/>
            <a:r>
              <a:rPr lang="en-US" dirty="0"/>
              <a:t>Lactose is a disaccharide of β-D </a:t>
            </a:r>
            <a:r>
              <a:rPr lang="en-US" dirty="0" err="1"/>
              <a:t>galactose</a:t>
            </a:r>
            <a:r>
              <a:rPr lang="en-US" dirty="0"/>
              <a:t> and β-D- glucose</a:t>
            </a:r>
          </a:p>
          <a:p>
            <a:pPr lvl="0"/>
            <a:r>
              <a:rPr lang="en-US" dirty="0"/>
              <a:t>Sucrose is a disaccharide of α- D- glucose and β-D-fructose.</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B. Complex Carbohydrates</a:t>
            </a:r>
            <a:r>
              <a:rPr lang="en-US" dirty="0"/>
              <a:t> (</a:t>
            </a:r>
            <a:r>
              <a:rPr lang="en-US" b="1" dirty="0"/>
              <a:t>Polysaccharides</a:t>
            </a:r>
            <a:r>
              <a:rPr lang="en-US" b="1" dirty="0" smtClean="0"/>
              <a:t>)</a:t>
            </a:r>
            <a:endParaRPr lang="en-US" dirty="0"/>
          </a:p>
        </p:txBody>
      </p:sp>
      <p:sp>
        <p:nvSpPr>
          <p:cNvPr id="3" name="Content Placeholder 2"/>
          <p:cNvSpPr>
            <a:spLocks noGrp="1"/>
          </p:cNvSpPr>
          <p:nvPr>
            <p:ph idx="1"/>
          </p:nvPr>
        </p:nvSpPr>
        <p:spPr/>
        <p:txBody>
          <a:bodyPr>
            <a:normAutofit fontScale="92500" lnSpcReduction="10000"/>
          </a:bodyPr>
          <a:lstStyle/>
          <a:p>
            <a:r>
              <a:rPr lang="en-US" dirty="0"/>
              <a:t>There are two types of polysaccharides .These are:</a:t>
            </a:r>
          </a:p>
          <a:p>
            <a:r>
              <a:rPr lang="en-US" b="1" dirty="0" err="1" smtClean="0"/>
              <a:t>Homopolysaccharides</a:t>
            </a:r>
            <a:r>
              <a:rPr lang="en-US" dirty="0" smtClean="0"/>
              <a:t> </a:t>
            </a:r>
            <a:r>
              <a:rPr lang="en-US" dirty="0"/>
              <a:t>that contain only one type of monosaccharide building blocks. Example of </a:t>
            </a:r>
            <a:r>
              <a:rPr lang="en-US" dirty="0" err="1"/>
              <a:t>Homopolysaccharides</a:t>
            </a:r>
            <a:r>
              <a:rPr lang="en-US" dirty="0"/>
              <a:t>: </a:t>
            </a:r>
            <a:r>
              <a:rPr lang="en-US" b="1" dirty="0"/>
              <a:t>Starch, glycogen, Cellulose and </a:t>
            </a:r>
            <a:r>
              <a:rPr lang="en-US" b="1" dirty="0" err="1"/>
              <a:t>dextrins</a:t>
            </a:r>
            <a:r>
              <a:rPr lang="en-US" b="1" dirty="0" smtClean="0"/>
              <a:t>.</a:t>
            </a:r>
          </a:p>
          <a:p>
            <a:r>
              <a:rPr lang="en-US" b="1" dirty="0" err="1" smtClean="0"/>
              <a:t>Dextrins</a:t>
            </a:r>
            <a:r>
              <a:rPr lang="en-US" b="1" dirty="0" smtClean="0"/>
              <a:t>-</a:t>
            </a:r>
            <a:r>
              <a:rPr lang="en-US" dirty="0" smtClean="0"/>
              <a:t>Since </a:t>
            </a:r>
            <a:r>
              <a:rPr lang="en-US" dirty="0"/>
              <a:t>they do not easily go out of vascular compartment they are used for intravenous infusion as plasma volume expander in the treatment of </a:t>
            </a:r>
            <a:r>
              <a:rPr lang="en-US" dirty="0" err="1"/>
              <a:t>hypovolumic</a:t>
            </a:r>
            <a:r>
              <a:rPr lang="en-US" dirty="0"/>
              <a:t> shock.</a:t>
            </a:r>
          </a:p>
          <a:p>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B. Complex Carbohydrates</a:t>
            </a:r>
            <a:r>
              <a:rPr lang="en-US" dirty="0" smtClean="0"/>
              <a:t> (</a:t>
            </a:r>
            <a:r>
              <a:rPr lang="en-US" b="1" dirty="0" smtClean="0"/>
              <a:t>Polysaccharides)</a:t>
            </a:r>
            <a:endParaRPr lang="en-US" dirty="0"/>
          </a:p>
        </p:txBody>
      </p:sp>
      <p:sp>
        <p:nvSpPr>
          <p:cNvPr id="3" name="Content Placeholder 2"/>
          <p:cNvSpPr>
            <a:spLocks noGrp="1"/>
          </p:cNvSpPr>
          <p:nvPr>
            <p:ph idx="1"/>
          </p:nvPr>
        </p:nvSpPr>
        <p:spPr/>
        <p:txBody>
          <a:bodyPr/>
          <a:lstStyle/>
          <a:p>
            <a:r>
              <a:rPr lang="en-US" dirty="0" smtClean="0"/>
              <a:t> </a:t>
            </a:r>
            <a:r>
              <a:rPr lang="en-US" b="1" dirty="0" smtClean="0"/>
              <a:t>Heteropolysaccharides, </a:t>
            </a:r>
            <a:r>
              <a:rPr lang="en-US" dirty="0" smtClean="0"/>
              <a:t>which contain two or more different kinds monosaccharide building blocks. Example;  </a:t>
            </a:r>
            <a:r>
              <a:rPr lang="en-US" b="1" dirty="0" err="1" smtClean="0"/>
              <a:t>Glycosaminoglycans</a:t>
            </a:r>
            <a:r>
              <a:rPr lang="en-US" b="1" dirty="0" smtClean="0"/>
              <a:t>, (GAGs or </a:t>
            </a:r>
            <a:r>
              <a:rPr lang="en-US" b="1" dirty="0" err="1" smtClean="0"/>
              <a:t>mucopolysaccharides</a:t>
            </a:r>
            <a:r>
              <a:rPr lang="en-US" b="1" dirty="0" smtClean="0"/>
              <a:t>)</a:t>
            </a:r>
          </a:p>
          <a:p>
            <a:pPr>
              <a:buNone/>
            </a:pPr>
            <a:r>
              <a:rPr lang="en-US" dirty="0" smtClean="0"/>
              <a:t>1</a:t>
            </a:r>
            <a:r>
              <a:rPr lang="en-US" dirty="0"/>
              <a:t>. </a:t>
            </a:r>
            <a:r>
              <a:rPr lang="en-US" b="1" dirty="0" err="1"/>
              <a:t>Glycosaminoglycans</a:t>
            </a:r>
            <a:r>
              <a:rPr lang="en-US" b="1" dirty="0"/>
              <a:t>, (GAGs </a:t>
            </a:r>
            <a:r>
              <a:rPr lang="en-US" b="1" dirty="0" smtClean="0"/>
              <a:t>or </a:t>
            </a:r>
            <a:r>
              <a:rPr lang="en-US" b="1" dirty="0" err="1" smtClean="0"/>
              <a:t>mucopolysaccharides</a:t>
            </a:r>
            <a:r>
              <a:rPr lang="en-US" b="1" dirty="0" smtClean="0"/>
              <a:t>)-</a:t>
            </a:r>
            <a:r>
              <a:rPr lang="en-US" dirty="0" smtClean="0"/>
              <a:t>They </a:t>
            </a:r>
            <a:r>
              <a:rPr lang="en-US" dirty="0"/>
              <a:t>are long, </a:t>
            </a:r>
            <a:r>
              <a:rPr lang="en-US" dirty="0" smtClean="0"/>
              <a:t>usually </a:t>
            </a:r>
            <a:r>
              <a:rPr lang="en-US" dirty="0" err="1" smtClean="0"/>
              <a:t>unbranched</a:t>
            </a:r>
            <a:r>
              <a:rPr lang="en-US" dirty="0"/>
              <a:t>, composed of a repeating disaccharide units</a:t>
            </a:r>
          </a:p>
          <a:p>
            <a:endParaRPr lang="en-US" dirty="0" smtClean="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Heteropolysaccharides cont….</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a:t>Function of </a:t>
            </a:r>
            <a:r>
              <a:rPr lang="en-US" b="1" dirty="0" err="1"/>
              <a:t>Glycosammoglycans</a:t>
            </a:r>
            <a:r>
              <a:rPr lang="en-US" b="1" dirty="0"/>
              <a:t>. (GAGS)</a:t>
            </a:r>
            <a:endParaRPr lang="en-US" dirty="0"/>
          </a:p>
          <a:p>
            <a:pPr lvl="1">
              <a:buNone/>
            </a:pPr>
            <a:r>
              <a:rPr lang="en-US" dirty="0"/>
              <a:t>1. They have the special ability to bind large amounts of water, there by producing the gel-like matrix that forms the basis of the body’s ground substance.</a:t>
            </a:r>
          </a:p>
          <a:p>
            <a:pPr lvl="1">
              <a:buNone/>
            </a:pPr>
            <a:r>
              <a:rPr lang="en-US" dirty="0"/>
              <a:t>2. Since they are negatively charged, for example, in bone, </a:t>
            </a:r>
            <a:r>
              <a:rPr lang="en-US" dirty="0" err="1"/>
              <a:t>glycosaminoglycans</a:t>
            </a:r>
            <a:r>
              <a:rPr lang="en-US" dirty="0"/>
              <a:t> attract and tightly bind </a:t>
            </a:r>
            <a:r>
              <a:rPr lang="en-US" dirty="0" err="1"/>
              <a:t>cattions</a:t>
            </a:r>
            <a:r>
              <a:rPr lang="en-US" dirty="0"/>
              <a:t> like ca++, they also take-up </a:t>
            </a:r>
            <a:r>
              <a:rPr lang="en-US" dirty="0" err="1"/>
              <a:t>Na+and</a:t>
            </a:r>
            <a:r>
              <a:rPr lang="en-US" dirty="0"/>
              <a:t> K+</a:t>
            </a:r>
          </a:p>
          <a:p>
            <a:pPr lvl="1">
              <a:buNone/>
            </a:pPr>
            <a:r>
              <a:rPr lang="en-US" dirty="0"/>
              <a:t>3. GAGs stabilize and support cellular and fibrous components of tissue while helping maintain the water and salt balance of the body.</a:t>
            </a:r>
          </a:p>
          <a:p>
            <a:pPr lvl="1">
              <a:buNone/>
            </a:pPr>
            <a:r>
              <a:rPr lang="en-US" dirty="0"/>
              <a:t>4. Its essential components of the extra cellular matrix, </a:t>
            </a:r>
            <a:r>
              <a:rPr lang="en-US" dirty="0" err="1"/>
              <a:t>GAGs’</a:t>
            </a:r>
            <a:r>
              <a:rPr lang="en-US" dirty="0"/>
              <a:t> play an important role in mediating cell-cell interactions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Heteropolysaccharides cont….</a:t>
            </a:r>
            <a:endParaRPr lang="en-US" dirty="0"/>
          </a:p>
        </p:txBody>
      </p:sp>
      <p:sp>
        <p:nvSpPr>
          <p:cNvPr id="3" name="Content Placeholder 2"/>
          <p:cNvSpPr>
            <a:spLocks noGrp="1"/>
          </p:cNvSpPr>
          <p:nvPr>
            <p:ph idx="1"/>
          </p:nvPr>
        </p:nvSpPr>
        <p:spPr/>
        <p:txBody>
          <a:bodyPr/>
          <a:lstStyle/>
          <a:p>
            <a:pPr>
              <a:buNone/>
            </a:pPr>
            <a:r>
              <a:rPr lang="en-US" b="1" dirty="0" smtClean="0"/>
              <a:t>•2.Ground </a:t>
            </a:r>
            <a:r>
              <a:rPr lang="en-US" b="1" dirty="0"/>
              <a:t>substance</a:t>
            </a:r>
            <a:r>
              <a:rPr lang="en-US" dirty="0"/>
              <a:t> is a part of connective tissue, which is a gel like substance containing water, salt, proteins and polysaccharides</a:t>
            </a:r>
            <a:r>
              <a:rPr lang="en-US" dirty="0" smtClean="0"/>
              <a:t>.</a:t>
            </a:r>
          </a:p>
          <a:p>
            <a:pPr>
              <a:buNone/>
            </a:pPr>
            <a:r>
              <a:rPr lang="en-US" dirty="0" smtClean="0"/>
              <a:t> </a:t>
            </a:r>
            <a:r>
              <a:rPr lang="en-US" dirty="0"/>
              <a:t>An example of specialized ground substance is the </a:t>
            </a:r>
            <a:r>
              <a:rPr lang="en-US" b="1" dirty="0"/>
              <a:t>synovial fluid</a:t>
            </a:r>
            <a:r>
              <a:rPr lang="en-US" dirty="0"/>
              <a:t>, which serves as a lubricant in joints, and tendon sheaths.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Heteropolysaccharides cont….</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a:t>3. Heparin:</a:t>
            </a:r>
            <a:endParaRPr lang="en-US" dirty="0"/>
          </a:p>
          <a:p>
            <a:r>
              <a:rPr lang="en-US" dirty="0"/>
              <a:t>• Contains a repeating unit of </a:t>
            </a:r>
            <a:r>
              <a:rPr lang="en-US" b="1" dirty="0"/>
              <a:t>D-</a:t>
            </a:r>
            <a:r>
              <a:rPr lang="en-US" b="1" dirty="0" err="1"/>
              <a:t>glucuronic</a:t>
            </a:r>
            <a:r>
              <a:rPr lang="en-US" dirty="0"/>
              <a:t> and </a:t>
            </a:r>
            <a:r>
              <a:rPr lang="en-US" b="1" dirty="0"/>
              <a:t>D-</a:t>
            </a:r>
            <a:r>
              <a:rPr lang="en-US" b="1" dirty="0" err="1"/>
              <a:t>gluconsamine</a:t>
            </a:r>
            <a:r>
              <a:rPr lang="en-US" b="1" dirty="0"/>
              <a:t>, </a:t>
            </a:r>
            <a:r>
              <a:rPr lang="en-US" dirty="0"/>
              <a:t>with sulfate groups on some of the hydroxyl and </a:t>
            </a:r>
            <a:r>
              <a:rPr lang="en-US" dirty="0" err="1"/>
              <a:t>aminx</a:t>
            </a:r>
            <a:r>
              <a:rPr lang="en-US" dirty="0"/>
              <a:t>-groups</a:t>
            </a:r>
          </a:p>
          <a:p>
            <a:r>
              <a:rPr lang="en-US" dirty="0"/>
              <a:t>• It is an important </a:t>
            </a:r>
            <a:r>
              <a:rPr lang="en-US" dirty="0" err="1" smtClean="0"/>
              <a:t>anticoagualant</a:t>
            </a:r>
            <a:r>
              <a:rPr lang="en-US" dirty="0" smtClean="0"/>
              <a:t>, </a:t>
            </a:r>
            <a:r>
              <a:rPr lang="en-US" dirty="0"/>
              <a:t>prevents the clotting of blood by </a:t>
            </a:r>
            <a:r>
              <a:rPr lang="en-US" dirty="0" err="1"/>
              <a:t>inhiginting</a:t>
            </a:r>
            <a:r>
              <a:rPr lang="en-US" dirty="0"/>
              <a:t> the conversion of </a:t>
            </a:r>
            <a:r>
              <a:rPr lang="en-US" b="1" dirty="0" smtClean="0"/>
              <a:t>pro-thrombin</a:t>
            </a:r>
            <a:r>
              <a:rPr lang="en-US" dirty="0" smtClean="0"/>
              <a:t> </a:t>
            </a:r>
            <a:r>
              <a:rPr lang="en-US" dirty="0"/>
              <a:t>to </a:t>
            </a:r>
            <a:r>
              <a:rPr lang="en-US" b="1" dirty="0" smtClean="0"/>
              <a:t>thrombin</a:t>
            </a:r>
            <a:r>
              <a:rPr lang="en-US" b="1" dirty="0"/>
              <a:t>. </a:t>
            </a:r>
            <a:endParaRPr lang="en-US" b="1" dirty="0" smtClean="0"/>
          </a:p>
          <a:p>
            <a:r>
              <a:rPr lang="en-US" dirty="0" smtClean="0"/>
              <a:t>Thrombin </a:t>
            </a:r>
            <a:r>
              <a:rPr lang="en-US" dirty="0"/>
              <a:t>is an enzyme that acts on the conversion of plasma </a:t>
            </a:r>
            <a:r>
              <a:rPr lang="en-US" b="1" dirty="0"/>
              <a:t>fibrinogen</a:t>
            </a:r>
            <a:r>
              <a:rPr lang="en-US" dirty="0"/>
              <a:t> into the </a:t>
            </a:r>
            <a:r>
              <a:rPr lang="en-US" b="1" dirty="0"/>
              <a:t>fibrin.</a:t>
            </a:r>
          </a:p>
          <a:p>
            <a:r>
              <a:rPr lang="en-US" dirty="0" smtClean="0"/>
              <a:t> </a:t>
            </a:r>
            <a:r>
              <a:rPr lang="en-US" dirty="0"/>
              <a:t>It is found in mast cells in</a:t>
            </a:r>
            <a:r>
              <a:rPr lang="en-US" b="1" dirty="0"/>
              <a:t> lung, liver skin and intestinal mucosa.</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Heteropolysaccharides cont….</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4. </a:t>
            </a:r>
            <a:r>
              <a:rPr lang="en-US" sz="3300" b="1" dirty="0" err="1" smtClean="0"/>
              <a:t>Glycoproteins</a:t>
            </a:r>
            <a:r>
              <a:rPr lang="en-US" sz="3300" b="1" dirty="0" smtClean="0"/>
              <a:t> (</a:t>
            </a:r>
            <a:r>
              <a:rPr lang="en-US" sz="3300" b="1" dirty="0" err="1" smtClean="0"/>
              <a:t>Mucoproteins</a:t>
            </a:r>
            <a:r>
              <a:rPr lang="en-US" sz="3300" b="1" dirty="0" smtClean="0"/>
              <a:t>)</a:t>
            </a:r>
            <a:endParaRPr lang="en-US" sz="3300" dirty="0" smtClean="0"/>
          </a:p>
          <a:p>
            <a:pPr lvl="1"/>
            <a:r>
              <a:rPr lang="en-US" sz="3300" dirty="0" err="1" smtClean="0"/>
              <a:t>Glycoprotiens</a:t>
            </a:r>
            <a:r>
              <a:rPr lang="en-US" sz="3300" dirty="0" smtClean="0"/>
              <a:t> </a:t>
            </a:r>
            <a:r>
              <a:rPr lang="en-US" sz="3300" dirty="0"/>
              <a:t>are proteins to which oligosaccharides are covalently attached.</a:t>
            </a:r>
            <a:r>
              <a:rPr lang="en-US" sz="3300" b="1" dirty="0"/>
              <a:t> </a:t>
            </a:r>
            <a:endParaRPr lang="en-US" sz="3300" b="1" dirty="0" smtClean="0"/>
          </a:p>
          <a:p>
            <a:pPr lvl="1"/>
            <a:r>
              <a:rPr lang="en-US" sz="3300" dirty="0" smtClean="0"/>
              <a:t>Oligosaccharides </a:t>
            </a:r>
            <a:r>
              <a:rPr lang="en-US" sz="3300" dirty="0"/>
              <a:t>can also be attached to proteins</a:t>
            </a:r>
            <a:r>
              <a:rPr lang="en-US" sz="3300" b="1" dirty="0"/>
              <a:t>. </a:t>
            </a:r>
            <a:r>
              <a:rPr lang="en-US" sz="3300" dirty="0"/>
              <a:t>Through </a:t>
            </a:r>
            <a:r>
              <a:rPr lang="en-US" sz="3300" dirty="0" err="1"/>
              <a:t>glycosidic</a:t>
            </a:r>
            <a:r>
              <a:rPr lang="en-US" sz="3300" dirty="0"/>
              <a:t> linkages to </a:t>
            </a:r>
            <a:r>
              <a:rPr lang="en-US" sz="3300" b="1" dirty="0"/>
              <a:t>serine, </a:t>
            </a:r>
            <a:r>
              <a:rPr lang="en-US" sz="3300" b="1" dirty="0" err="1"/>
              <a:t>threonine</a:t>
            </a:r>
            <a:r>
              <a:rPr lang="en-US" sz="3300" b="1" dirty="0"/>
              <a:t> or </a:t>
            </a:r>
            <a:r>
              <a:rPr lang="en-US" sz="3300" b="1" dirty="0" smtClean="0"/>
              <a:t>asparagines</a:t>
            </a:r>
          </a:p>
          <a:p>
            <a:pPr>
              <a:buNone/>
            </a:pPr>
            <a:r>
              <a:rPr lang="en-US" sz="3300" b="1" dirty="0" smtClean="0"/>
              <a:t>Functions:</a:t>
            </a:r>
          </a:p>
          <a:p>
            <a:pPr marL="914400" lvl="1" indent="-514350">
              <a:buFont typeface="+mj-lt"/>
              <a:buAutoNum type="alphaLcPeriod"/>
            </a:pPr>
            <a:r>
              <a:rPr lang="en-US" sz="2900" dirty="0" smtClean="0"/>
              <a:t>Influence </a:t>
            </a:r>
            <a:r>
              <a:rPr lang="en-US" sz="2900" dirty="0"/>
              <a:t>structure, folding and stability of protein</a:t>
            </a:r>
          </a:p>
          <a:p>
            <a:pPr marL="914400" lvl="1" indent="-514350">
              <a:buFont typeface="+mj-lt"/>
              <a:buAutoNum type="alphaLcPeriod"/>
            </a:pPr>
            <a:r>
              <a:rPr lang="en-US" sz="2900" dirty="0"/>
              <a:t>May determine the lifetime of a protein (mark protein for age)</a:t>
            </a:r>
          </a:p>
          <a:p>
            <a:pPr marL="914400" lvl="1" indent="-514350">
              <a:buFont typeface="+mj-lt"/>
              <a:buAutoNum type="alphaLcPeriod"/>
            </a:pPr>
            <a:r>
              <a:rPr lang="en-US" sz="2900" dirty="0"/>
              <a:t>Serve as markers to identify a cell type</a:t>
            </a:r>
          </a:p>
          <a:p>
            <a:endParaRPr lang="en-US" dirty="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Heteropolysaccharides cont….</a:t>
            </a:r>
            <a:endParaRPr lang="en-US" dirty="0"/>
          </a:p>
        </p:txBody>
      </p:sp>
      <p:sp>
        <p:nvSpPr>
          <p:cNvPr id="3" name="Content Placeholder 2"/>
          <p:cNvSpPr>
            <a:spLocks noGrp="1"/>
          </p:cNvSpPr>
          <p:nvPr>
            <p:ph idx="1"/>
          </p:nvPr>
        </p:nvSpPr>
        <p:spPr>
          <a:xfrm>
            <a:off x="304800" y="1524000"/>
            <a:ext cx="8229600" cy="4525963"/>
          </a:xfrm>
        </p:spPr>
        <p:txBody>
          <a:bodyPr>
            <a:normAutofit/>
          </a:bodyPr>
          <a:lstStyle/>
          <a:p>
            <a:pPr marL="914400" lvl="1" indent="-514350">
              <a:buNone/>
            </a:pPr>
            <a:r>
              <a:rPr lang="en-US" dirty="0" smtClean="0"/>
              <a:t>d. When </a:t>
            </a:r>
            <a:r>
              <a:rPr lang="en-US" dirty="0" err="1" smtClean="0"/>
              <a:t>glycosylated</a:t>
            </a:r>
            <a:r>
              <a:rPr lang="en-US" dirty="0" smtClean="0"/>
              <a:t> proteins are at the cell surface:</a:t>
            </a:r>
            <a:endParaRPr lang="en-US" sz="2400" dirty="0" smtClean="0"/>
          </a:p>
          <a:p>
            <a:pPr marL="1828800" lvl="3" indent="-514350">
              <a:buNone/>
            </a:pPr>
            <a:r>
              <a:rPr lang="en-US" dirty="0" smtClean="0"/>
              <a:t>Can </a:t>
            </a:r>
            <a:r>
              <a:rPr lang="en-US" b="1" dirty="0" smtClean="0"/>
              <a:t>modulate cell-cell interactions</a:t>
            </a:r>
            <a:endParaRPr lang="en-US" sz="1600" dirty="0" smtClean="0"/>
          </a:p>
          <a:p>
            <a:pPr marL="914400" lvl="1" indent="-514350">
              <a:buNone/>
            </a:pPr>
            <a:r>
              <a:rPr lang="en-US" dirty="0" smtClean="0"/>
              <a:t>e. Changes in carbohydrate content may influence contact inhibition of cells</a:t>
            </a:r>
            <a:endParaRPr lang="en-US" sz="2400" dirty="0" smtClean="0"/>
          </a:p>
          <a:p>
            <a:pPr marL="1828800" lvl="3" indent="-514350">
              <a:buNone/>
            </a:pPr>
            <a:r>
              <a:rPr lang="en-US" dirty="0" smtClean="0"/>
              <a:t>Can </a:t>
            </a:r>
            <a:r>
              <a:rPr lang="en-US" b="1" dirty="0" smtClean="0"/>
              <a:t>modulate cell – molecule interactions </a:t>
            </a:r>
            <a:r>
              <a:rPr lang="en-US" dirty="0" smtClean="0"/>
              <a:t>(e.g. hormone w/receptor)</a:t>
            </a:r>
            <a:endParaRPr lang="en-US" sz="1600" dirty="0" smtClean="0"/>
          </a:p>
          <a:p>
            <a:pPr marL="1828800" lvl="3" indent="-514350">
              <a:buNone/>
            </a:pPr>
            <a:r>
              <a:rPr lang="en-US" dirty="0" smtClean="0"/>
              <a:t>Can serve as </a:t>
            </a:r>
            <a:r>
              <a:rPr lang="en-US" b="1" dirty="0" smtClean="0"/>
              <a:t>antigenic determinants </a:t>
            </a:r>
            <a:r>
              <a:rPr lang="en-US" dirty="0" smtClean="0"/>
              <a:t>(how antibody recognizes the protein) on proteins</a:t>
            </a:r>
            <a:endParaRPr lang="en-US" sz="1600" dirty="0" smtClean="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Heteropolysaccharides cont….</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err="1"/>
              <a:t>Proteoglycans</a:t>
            </a:r>
            <a:endParaRPr lang="en-US" dirty="0"/>
          </a:p>
          <a:p>
            <a:r>
              <a:rPr lang="en-US" dirty="0"/>
              <a:t>When </a:t>
            </a:r>
            <a:r>
              <a:rPr lang="en-US" dirty="0" err="1"/>
              <a:t>glycosamnoglycans</a:t>
            </a:r>
            <a:r>
              <a:rPr lang="en-US" dirty="0"/>
              <a:t> are attached to a protein molecule the compound is </a:t>
            </a:r>
            <a:r>
              <a:rPr lang="en-US" dirty="0" smtClean="0"/>
              <a:t>called </a:t>
            </a:r>
            <a:r>
              <a:rPr lang="en-US" dirty="0" err="1" smtClean="0"/>
              <a:t>proteoglycan</a:t>
            </a:r>
            <a:r>
              <a:rPr lang="en-US" dirty="0" smtClean="0"/>
              <a:t> </a:t>
            </a:r>
            <a:r>
              <a:rPr lang="en-US" dirty="0"/>
              <a:t>[</a:t>
            </a:r>
            <a:r>
              <a:rPr lang="en-US" dirty="0" err="1"/>
              <a:t>proteoglycans</a:t>
            </a:r>
            <a:r>
              <a:rPr lang="en-US" dirty="0"/>
              <a:t> </a:t>
            </a:r>
            <a:r>
              <a:rPr lang="en-US" dirty="0" smtClean="0"/>
              <a:t>= </a:t>
            </a:r>
            <a:r>
              <a:rPr lang="en-US" dirty="0" err="1" smtClean="0"/>
              <a:t>Glycosaminoglycans</a:t>
            </a:r>
            <a:r>
              <a:rPr lang="en-US" dirty="0" smtClean="0"/>
              <a:t> </a:t>
            </a:r>
            <a:r>
              <a:rPr lang="en-US" dirty="0"/>
              <a:t>+ proteins]</a:t>
            </a:r>
          </a:p>
          <a:p>
            <a:r>
              <a:rPr lang="en-US" b="1" dirty="0" smtClean="0"/>
              <a:t>BLOOD TYPES AND GLYCOSYLATION</a:t>
            </a:r>
            <a:endParaRPr lang="en-US" dirty="0" smtClean="0"/>
          </a:p>
          <a:p>
            <a:r>
              <a:rPr lang="en-US" dirty="0" smtClean="0"/>
              <a:t>Presence or absence of the terminal carbohydrate is genetically determined and determines the blood type.</a:t>
            </a:r>
          </a:p>
          <a:p>
            <a:r>
              <a:rPr lang="en-US" dirty="0" smtClean="0"/>
              <a:t>Blood plasma contains antibodies against foreign blood-group antigens that aggregate the foreign blood cells</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Heteropolysaccharides cont….</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Type </a:t>
            </a:r>
            <a:r>
              <a:rPr lang="en-US" dirty="0"/>
              <a:t>A blood has antibodies that recognize B sugars</a:t>
            </a:r>
          </a:p>
          <a:p>
            <a:r>
              <a:rPr lang="en-US" dirty="0" smtClean="0"/>
              <a:t>Type </a:t>
            </a:r>
            <a:r>
              <a:rPr lang="en-US" dirty="0"/>
              <a:t>B blood contains antibodies against A sugars</a:t>
            </a:r>
          </a:p>
          <a:p>
            <a:r>
              <a:rPr lang="en-US" dirty="0" smtClean="0"/>
              <a:t>Type </a:t>
            </a:r>
            <a:r>
              <a:rPr lang="en-US" dirty="0"/>
              <a:t>O blood has antibodies against both A and B sugars (universal donor)</a:t>
            </a:r>
          </a:p>
          <a:p>
            <a:r>
              <a:rPr lang="en-US" dirty="0" smtClean="0"/>
              <a:t>Type </a:t>
            </a:r>
            <a:r>
              <a:rPr lang="en-US" dirty="0"/>
              <a:t>AB blood contains neither antibody (universal acceptor)</a:t>
            </a:r>
          </a:p>
          <a:p>
            <a:r>
              <a:rPr lang="en-US" dirty="0" smtClean="0"/>
              <a:t> </a:t>
            </a:r>
            <a:r>
              <a:rPr lang="en-US" dirty="0"/>
              <a:t>Incompatible blood types cause precipitation of RBCs, block blood flow in organs and can cause death</a:t>
            </a:r>
          </a:p>
          <a:p>
            <a:r>
              <a:rPr lang="en-US" dirty="0" smtClean="0"/>
              <a:t> </a:t>
            </a:r>
            <a:r>
              <a:rPr lang="en-US" dirty="0"/>
              <a:t>Also influenced by the presence or absence of </a:t>
            </a:r>
            <a:r>
              <a:rPr lang="en-US" dirty="0" err="1"/>
              <a:t>Rh</a:t>
            </a:r>
            <a:r>
              <a:rPr lang="en-US" dirty="0"/>
              <a:t> factor (blood protein) cell proteins </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SUB TOPIC 5: WATER  MOLECULE</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b="1" dirty="0" smtClean="0"/>
              <a:t>Learning </a:t>
            </a:r>
            <a:r>
              <a:rPr lang="en-US" b="1" dirty="0"/>
              <a:t>Objectives</a:t>
            </a:r>
            <a:endParaRPr lang="en-US" dirty="0"/>
          </a:p>
          <a:p>
            <a:pPr lvl="2"/>
            <a:r>
              <a:rPr lang="en-US" sz="3200" dirty="0" smtClean="0"/>
              <a:t>Define </a:t>
            </a:r>
            <a:r>
              <a:rPr lang="en-US" sz="3200" b="1" dirty="0"/>
              <a:t>Water </a:t>
            </a:r>
            <a:r>
              <a:rPr lang="en-US" sz="3200" dirty="0"/>
              <a:t>in chemical terms</a:t>
            </a:r>
          </a:p>
          <a:p>
            <a:pPr lvl="2"/>
            <a:r>
              <a:rPr lang="en-US" sz="3200" dirty="0" smtClean="0"/>
              <a:t>Explain </a:t>
            </a:r>
            <a:r>
              <a:rPr lang="en-US" sz="3200" dirty="0"/>
              <a:t>the biological importance  of </a:t>
            </a:r>
            <a:r>
              <a:rPr lang="en-US" sz="3200" b="1" dirty="0"/>
              <a:t>Water </a:t>
            </a:r>
            <a:r>
              <a:rPr lang="en-US" sz="3200" dirty="0"/>
              <a:t>and learn their properties</a:t>
            </a:r>
          </a:p>
          <a:p>
            <a:pPr lvl="2"/>
            <a:r>
              <a:rPr lang="en-US" sz="3200" dirty="0" smtClean="0"/>
              <a:t>Explain </a:t>
            </a:r>
            <a:r>
              <a:rPr lang="en-US" sz="3200" b="1" dirty="0"/>
              <a:t>the role of Water  in biochemical processes </a:t>
            </a:r>
            <a:endParaRPr lang="en-US" sz="3200" dirty="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Introduction</a:t>
            </a:r>
            <a:endParaRPr lang="en-US" dirty="0"/>
          </a:p>
        </p:txBody>
      </p:sp>
      <p:sp>
        <p:nvSpPr>
          <p:cNvPr id="3" name="Content Placeholder 2"/>
          <p:cNvSpPr>
            <a:spLocks noGrp="1"/>
          </p:cNvSpPr>
          <p:nvPr>
            <p:ph idx="1"/>
          </p:nvPr>
        </p:nvSpPr>
        <p:spPr/>
        <p:txBody>
          <a:bodyPr/>
          <a:lstStyle/>
          <a:p>
            <a:pPr>
              <a:buNone/>
            </a:pPr>
            <a:r>
              <a:rPr lang="en-US" dirty="0" smtClean="0"/>
              <a:t>Regulates </a:t>
            </a:r>
            <a:r>
              <a:rPr lang="en-US" dirty="0"/>
              <a:t>many processes in the body.</a:t>
            </a:r>
            <a:r>
              <a:rPr lang="en-US" b="1" dirty="0"/>
              <a:t> </a:t>
            </a:r>
            <a:endParaRPr lang="en-US" dirty="0"/>
          </a:p>
          <a:p>
            <a:pPr lvl="0"/>
            <a:r>
              <a:rPr lang="en-US" b="1" dirty="0"/>
              <a:t>Homeostasis</a:t>
            </a:r>
            <a:r>
              <a:rPr lang="en-US" dirty="0"/>
              <a:t> ◦ Process of maintaining a steady state in the body</a:t>
            </a:r>
            <a:r>
              <a:rPr lang="en-US" b="1" dirty="0"/>
              <a:t>. </a:t>
            </a:r>
            <a:endParaRPr lang="en-US" dirty="0"/>
          </a:p>
          <a:p>
            <a:pPr lvl="0"/>
            <a:r>
              <a:rPr lang="en-US" b="1" dirty="0"/>
              <a:t>Dehydration</a:t>
            </a:r>
            <a:r>
              <a:rPr lang="en-US" dirty="0"/>
              <a:t> ◦ Severe reduction in the body’s water content. ◦ Condition that results in the body’s loss of important electrolytes.</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Water</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a:t>Water </a:t>
            </a:r>
            <a:r>
              <a:rPr lang="en-US" dirty="0"/>
              <a:t>is the solvent of choice for biological systems</a:t>
            </a:r>
          </a:p>
          <a:p>
            <a:pPr lvl="1"/>
            <a:r>
              <a:rPr lang="en-US" dirty="0" smtClean="0"/>
              <a:t>Constitutes </a:t>
            </a:r>
            <a:r>
              <a:rPr lang="en-US" dirty="0"/>
              <a:t>70-85% of cell weight, typically</a:t>
            </a:r>
          </a:p>
          <a:p>
            <a:pPr lvl="1"/>
            <a:r>
              <a:rPr lang="en-US" dirty="0" smtClean="0"/>
              <a:t> </a:t>
            </a:r>
            <a:r>
              <a:rPr lang="en-US" dirty="0"/>
              <a:t>Important as a </a:t>
            </a:r>
            <a:r>
              <a:rPr lang="en-US" b="1" dirty="0"/>
              <a:t>solvent </a:t>
            </a:r>
            <a:r>
              <a:rPr lang="en-US" dirty="0"/>
              <a:t>and a </a:t>
            </a:r>
            <a:r>
              <a:rPr lang="en-US" b="1" dirty="0"/>
              <a:t>reactant </a:t>
            </a:r>
            <a:r>
              <a:rPr lang="en-US" dirty="0"/>
              <a:t>in biochemical reactions</a:t>
            </a:r>
          </a:p>
          <a:p>
            <a:pPr lvl="1"/>
            <a:r>
              <a:rPr lang="en-US" dirty="0" smtClean="0"/>
              <a:t> </a:t>
            </a:r>
            <a:r>
              <a:rPr lang="en-US" dirty="0"/>
              <a:t>Helps regulate </a:t>
            </a:r>
            <a:r>
              <a:rPr lang="en-US" b="1" dirty="0"/>
              <a:t>temperature </a:t>
            </a:r>
            <a:r>
              <a:rPr lang="en-US" dirty="0"/>
              <a:t>since it is able to absorb large amounts of heat</a:t>
            </a:r>
          </a:p>
          <a:p>
            <a:pPr lvl="1"/>
            <a:r>
              <a:rPr lang="en-US" dirty="0" smtClean="0"/>
              <a:t>Helps </a:t>
            </a:r>
            <a:r>
              <a:rPr lang="en-US" dirty="0"/>
              <a:t>regulate </a:t>
            </a:r>
            <a:r>
              <a:rPr lang="en-US" b="1" dirty="0"/>
              <a:t>intracellular pH</a:t>
            </a:r>
            <a:endParaRPr lang="en-US" dirty="0"/>
          </a:p>
          <a:p>
            <a:pPr lvl="1"/>
            <a:r>
              <a:rPr lang="en-US" dirty="0" smtClean="0"/>
              <a:t>Used </a:t>
            </a:r>
            <a:r>
              <a:rPr lang="en-US" dirty="0"/>
              <a:t>for transport – delivers nutrients and removes waste from cells </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Water</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is </a:t>
            </a:r>
            <a:r>
              <a:rPr lang="en-US" dirty="0"/>
              <a:t>a unique solvent whose properties are extremely important to biochemistry.</a:t>
            </a:r>
          </a:p>
          <a:p>
            <a:r>
              <a:rPr lang="en-US" dirty="0"/>
              <a:t>- In water, the hydrogen atoms have a partial positive charge,</a:t>
            </a:r>
          </a:p>
          <a:p>
            <a:r>
              <a:rPr lang="en-US" dirty="0"/>
              <a:t>- The polar nature and geometry of the water molecule allows water molecules to form hydrogen bonds with each other and with dissolved hydrophilic substances.</a:t>
            </a:r>
          </a:p>
          <a:p>
            <a:r>
              <a:rPr lang="en-US" dirty="0"/>
              <a:t>- Hydrogen bonds between water molecules= electrostatic attraction between the oxygen atom of one water and the hydrogen of another</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SUB TOPIC 5: VITAMIN MICROMOLECULE</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b="1" dirty="0"/>
              <a:t>Learning Objectives</a:t>
            </a:r>
            <a:endParaRPr lang="en-US" dirty="0"/>
          </a:p>
          <a:p>
            <a:pPr lvl="1"/>
            <a:r>
              <a:rPr lang="en-US" dirty="0" smtClean="0"/>
              <a:t>Define </a:t>
            </a:r>
            <a:r>
              <a:rPr lang="en-US" dirty="0"/>
              <a:t>vitamins in chemical terms</a:t>
            </a:r>
          </a:p>
          <a:p>
            <a:pPr lvl="1"/>
            <a:r>
              <a:rPr lang="en-US" dirty="0" smtClean="0"/>
              <a:t>Classify </a:t>
            </a:r>
            <a:r>
              <a:rPr lang="en-US" dirty="0"/>
              <a:t>Vitamins into two major groups with examples of each group</a:t>
            </a:r>
          </a:p>
          <a:p>
            <a:pPr lvl="1"/>
            <a:r>
              <a:rPr lang="en-US" dirty="0" smtClean="0"/>
              <a:t>List </a:t>
            </a:r>
            <a:r>
              <a:rPr lang="en-US" dirty="0"/>
              <a:t>the Fat soluble Vitamins of biological importance and learn their properties</a:t>
            </a:r>
          </a:p>
          <a:p>
            <a:pPr lvl="1"/>
            <a:r>
              <a:rPr lang="en-US" dirty="0" smtClean="0"/>
              <a:t>List </a:t>
            </a:r>
            <a:r>
              <a:rPr lang="en-US" dirty="0"/>
              <a:t>the </a:t>
            </a:r>
            <a:r>
              <a:rPr lang="en-US" b="1" dirty="0"/>
              <a:t>Water soluble</a:t>
            </a:r>
            <a:r>
              <a:rPr lang="en-US" dirty="0"/>
              <a:t> Vitamins of biological importance and learn their properties</a:t>
            </a:r>
          </a:p>
          <a:p>
            <a:pPr lvl="1"/>
            <a:r>
              <a:rPr lang="en-US" dirty="0" smtClean="0"/>
              <a:t>Explain </a:t>
            </a:r>
            <a:r>
              <a:rPr lang="en-US" dirty="0"/>
              <a:t>biological importance/functions of each Vitamin.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a:sym typeface="Symbol"/>
              </a:rPr>
              <a:t></a:t>
            </a:r>
            <a:r>
              <a:rPr lang="en-US" dirty="0"/>
              <a:t> Human body cannot synthesize it except for vitamin D and K. </a:t>
            </a:r>
          </a:p>
          <a:p>
            <a:r>
              <a:rPr lang="en-US" dirty="0">
                <a:sym typeface="Symbol"/>
              </a:rPr>
              <a:t></a:t>
            </a:r>
            <a:r>
              <a:rPr lang="en-US" dirty="0"/>
              <a:t> Important for proper body functioning. </a:t>
            </a:r>
          </a:p>
          <a:p>
            <a:r>
              <a:rPr lang="en-US" dirty="0">
                <a:sym typeface="Symbol"/>
              </a:rPr>
              <a:t></a:t>
            </a:r>
            <a:r>
              <a:rPr lang="en-US" dirty="0"/>
              <a:t> Unlike carbohydrates, fats, and proteins, vitamins DO NOT provide energy (calories). </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TYPES OF VITAMINS</a:t>
            </a:r>
            <a:r>
              <a:rPr lang="en-US" dirty="0" smtClean="0"/>
              <a:t>: </a:t>
            </a:r>
            <a:endParaRPr lang="en-US" dirty="0"/>
          </a:p>
        </p:txBody>
      </p:sp>
      <p:sp>
        <p:nvSpPr>
          <p:cNvPr id="3" name="Content Placeholder 2"/>
          <p:cNvSpPr>
            <a:spLocks noGrp="1"/>
          </p:cNvSpPr>
          <p:nvPr>
            <p:ph idx="1"/>
          </p:nvPr>
        </p:nvSpPr>
        <p:spPr/>
        <p:txBody>
          <a:bodyPr>
            <a:normAutofit/>
          </a:bodyPr>
          <a:lstStyle/>
          <a:p>
            <a:r>
              <a:rPr lang="en-US" b="1" dirty="0" smtClean="0">
                <a:sym typeface="Symbol"/>
              </a:rPr>
              <a:t></a:t>
            </a:r>
            <a:r>
              <a:rPr lang="en-US" b="1" dirty="0" smtClean="0"/>
              <a:t> </a:t>
            </a:r>
            <a:r>
              <a:rPr lang="en-US" b="1" dirty="0"/>
              <a:t>FAT SOLUBLE</a:t>
            </a:r>
            <a:r>
              <a:rPr lang="en-US" dirty="0"/>
              <a:t>- A,D,E,K </a:t>
            </a:r>
            <a:r>
              <a:rPr lang="en-US" dirty="0">
                <a:sym typeface="Symbol"/>
              </a:rPr>
              <a:t></a:t>
            </a:r>
            <a:r>
              <a:rPr lang="en-US" dirty="0"/>
              <a:t> </a:t>
            </a:r>
            <a:r>
              <a:rPr lang="en-US" dirty="0" err="1"/>
              <a:t>Fatsoluble</a:t>
            </a:r>
            <a:r>
              <a:rPr lang="en-US" dirty="0"/>
              <a:t> vitamins can be stored in the body while water- soluble vitamins are not and get easily excreted in urine</a:t>
            </a:r>
          </a:p>
          <a:p>
            <a:r>
              <a:rPr lang="en-US" dirty="0"/>
              <a:t> </a:t>
            </a:r>
            <a:r>
              <a:rPr lang="en-US" b="1" dirty="0">
                <a:sym typeface="Symbol"/>
              </a:rPr>
              <a:t></a:t>
            </a:r>
            <a:r>
              <a:rPr lang="en-US" b="1" dirty="0"/>
              <a:t> WATER SOLUBLE</a:t>
            </a:r>
            <a:r>
              <a:rPr lang="en-US" dirty="0"/>
              <a:t>- B and C </a:t>
            </a:r>
            <a:r>
              <a:rPr lang="en-US" dirty="0">
                <a:sym typeface="Symbol"/>
              </a:rPr>
              <a:t></a:t>
            </a:r>
            <a:r>
              <a:rPr lang="en-US" dirty="0"/>
              <a:t> Vitamins B-complex and C are heat labile vitamins and are easily destroyed by heat, air or during drying, cooking and food processing. </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Vitamin A</a:t>
            </a:r>
            <a:endParaRPr lang="en-US" dirty="0"/>
          </a:p>
        </p:txBody>
      </p:sp>
      <p:sp>
        <p:nvSpPr>
          <p:cNvPr id="3" name="Content Placeholder 2"/>
          <p:cNvSpPr>
            <a:spLocks noGrp="1"/>
          </p:cNvSpPr>
          <p:nvPr>
            <p:ph idx="1"/>
          </p:nvPr>
        </p:nvSpPr>
        <p:spPr/>
        <p:txBody>
          <a:bodyPr>
            <a:normAutofit fontScale="92500" lnSpcReduction="10000"/>
          </a:bodyPr>
          <a:lstStyle/>
          <a:p>
            <a:r>
              <a:rPr lang="en-US" dirty="0"/>
              <a:t>Ample reserves of fat soluble vitamins are stored in the tissues as they are not readily absorbed from the food. With the exception of Vit. K, they do not serve as coenzymes. Indeed Vit D act more like hormone</a:t>
            </a:r>
            <a:r>
              <a:rPr lang="en-US" dirty="0" smtClean="0"/>
              <a:t>.</a:t>
            </a:r>
            <a:r>
              <a:rPr lang="en-US" b="1" dirty="0" smtClean="0"/>
              <a:t> </a:t>
            </a:r>
          </a:p>
          <a:p>
            <a:r>
              <a:rPr lang="en-US" b="1" dirty="0" smtClean="0"/>
              <a:t>Vit A deficiency leads to ; </a:t>
            </a:r>
            <a:endParaRPr lang="en-US" dirty="0" smtClean="0"/>
          </a:p>
          <a:p>
            <a:pPr lvl="0"/>
            <a:r>
              <a:rPr lang="en-US" b="1" dirty="0" smtClean="0"/>
              <a:t>Carrier protein</a:t>
            </a:r>
            <a:r>
              <a:rPr lang="en-US" dirty="0" smtClean="0"/>
              <a:t>. Low plasma [Vitamin A] has been shown to be associated with an increased risk of developing cancer.</a:t>
            </a:r>
          </a:p>
          <a:p>
            <a:pPr lvl="0"/>
            <a:r>
              <a:rPr lang="en-US" dirty="0" smtClean="0"/>
              <a:t>Failure of bone formation (Thick, solid bones).</a:t>
            </a:r>
          </a:p>
          <a:p>
            <a:endParaRPr lang="en-US" dirty="0"/>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Vitamin A</a:t>
            </a:r>
            <a:endParaRPr lang="en-US" dirty="0"/>
          </a:p>
        </p:txBody>
      </p:sp>
      <p:sp>
        <p:nvSpPr>
          <p:cNvPr id="3" name="Content Placeholder 2"/>
          <p:cNvSpPr>
            <a:spLocks noGrp="1"/>
          </p:cNvSpPr>
          <p:nvPr>
            <p:ph idx="1"/>
          </p:nvPr>
        </p:nvSpPr>
        <p:spPr/>
        <p:txBody>
          <a:bodyPr>
            <a:normAutofit fontScale="77500" lnSpcReduction="20000"/>
          </a:bodyPr>
          <a:lstStyle/>
          <a:p>
            <a:pPr lvl="0">
              <a:buNone/>
            </a:pPr>
            <a:endParaRPr lang="en-US" dirty="0"/>
          </a:p>
          <a:p>
            <a:pPr lvl="0"/>
            <a:r>
              <a:rPr lang="en-US" b="1" dirty="0"/>
              <a:t>Effect on Skin; </a:t>
            </a:r>
            <a:r>
              <a:rPr lang="en-US" dirty="0"/>
              <a:t>The </a:t>
            </a:r>
            <a:r>
              <a:rPr lang="en-US" dirty="0" err="1"/>
              <a:t>deficeiency</a:t>
            </a:r>
            <a:r>
              <a:rPr lang="en-US" dirty="0"/>
              <a:t> causes dryness and roughness of skin developing </a:t>
            </a:r>
            <a:r>
              <a:rPr lang="en-US" dirty="0" err="1"/>
              <a:t>keratosis</a:t>
            </a:r>
            <a:r>
              <a:rPr lang="en-US" dirty="0"/>
              <a:t> of hair </a:t>
            </a:r>
            <a:r>
              <a:rPr lang="en-US" dirty="0" err="1"/>
              <a:t>follicileswith</a:t>
            </a:r>
            <a:r>
              <a:rPr lang="en-US" dirty="0"/>
              <a:t> concomitant deficiency of </a:t>
            </a:r>
            <a:r>
              <a:rPr lang="en-US" dirty="0" err="1"/>
              <a:t>Vit</a:t>
            </a:r>
            <a:r>
              <a:rPr lang="en-US" dirty="0"/>
              <a:t>-B complex.</a:t>
            </a:r>
          </a:p>
          <a:p>
            <a:pPr lvl="0"/>
            <a:r>
              <a:rPr lang="en-US" b="1" dirty="0"/>
              <a:t>Effect on Bone and teeth </a:t>
            </a:r>
            <a:r>
              <a:rPr lang="en-US" dirty="0"/>
              <a:t>Bone growth is markedly impaired .</a:t>
            </a:r>
            <a:r>
              <a:rPr lang="en-US" dirty="0" err="1"/>
              <a:t>Osteoclastic</a:t>
            </a:r>
            <a:r>
              <a:rPr lang="en-US" dirty="0"/>
              <a:t> activity is also hampered, causing defective bone formation</a:t>
            </a:r>
          </a:p>
          <a:p>
            <a:pPr lvl="0"/>
            <a:r>
              <a:rPr lang="en-US" b="1" dirty="0"/>
              <a:t>Effect on general </a:t>
            </a:r>
            <a:r>
              <a:rPr lang="en-US" b="1" dirty="0" err="1"/>
              <a:t>Metabolism</a:t>
            </a:r>
            <a:r>
              <a:rPr lang="en-US" dirty="0" err="1"/>
              <a:t>Zinc</a:t>
            </a:r>
            <a:r>
              <a:rPr lang="en-US" dirty="0"/>
              <a:t> is necessary to maintain normal plasma concentration of Vit A. This vitamin is also necessary for the conversion of </a:t>
            </a:r>
            <a:r>
              <a:rPr lang="en-US" dirty="0" err="1"/>
              <a:t>trioses</a:t>
            </a:r>
            <a:r>
              <a:rPr lang="en-US" dirty="0"/>
              <a:t> to glucose perhaps indirectly through adrenal cortex that synthesizes hormones concerned with </a:t>
            </a:r>
            <a:r>
              <a:rPr lang="en-US" dirty="0" err="1"/>
              <a:t>Gluconeogenesis</a:t>
            </a:r>
            <a:r>
              <a:rPr lang="en-US" dirty="0"/>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Vitamin -D </a:t>
            </a:r>
            <a:endParaRPr lang="en-US" dirty="0"/>
          </a:p>
        </p:txBody>
      </p:sp>
      <p:sp>
        <p:nvSpPr>
          <p:cNvPr id="3" name="Content Placeholder 2"/>
          <p:cNvSpPr>
            <a:spLocks noGrp="1"/>
          </p:cNvSpPr>
          <p:nvPr>
            <p:ph idx="1"/>
          </p:nvPr>
        </p:nvSpPr>
        <p:spPr/>
        <p:txBody>
          <a:bodyPr>
            <a:normAutofit fontScale="85000" lnSpcReduction="10000"/>
          </a:bodyPr>
          <a:lstStyle/>
          <a:p>
            <a:pPr lvl="0"/>
            <a:r>
              <a:rPr lang="en-US" b="1" dirty="0" smtClean="0"/>
              <a:t>The </a:t>
            </a:r>
            <a:r>
              <a:rPr lang="en-US" b="1" dirty="0"/>
              <a:t>sterol, 7-dehydrocholesterol</a:t>
            </a:r>
            <a:r>
              <a:rPr lang="en-US" dirty="0"/>
              <a:t>) Vitamin D is the only vitamin that is usually not required in the diet, for this reason it is rather classified as a hormone since under conditions of inadequate exposure to sunlight that dietary intake is required.</a:t>
            </a:r>
          </a:p>
          <a:p>
            <a:pPr lvl="0"/>
            <a:r>
              <a:rPr lang="en-US" dirty="0" err="1"/>
              <a:t>Calciferol</a:t>
            </a:r>
            <a:r>
              <a:rPr lang="en-US" dirty="0"/>
              <a:t>, </a:t>
            </a:r>
            <a:r>
              <a:rPr lang="en-US" dirty="0" err="1"/>
              <a:t>cholecalciferol</a:t>
            </a:r>
            <a:r>
              <a:rPr lang="en-US" dirty="0"/>
              <a:t> (D3) Bound to specific D -binding protein, </a:t>
            </a:r>
            <a:r>
              <a:rPr lang="en-US" dirty="0" err="1"/>
              <a:t>chloecalciferol</a:t>
            </a:r>
            <a:r>
              <a:rPr lang="en-US" dirty="0"/>
              <a:t> moves via circulation directly to the liver.</a:t>
            </a:r>
          </a:p>
          <a:p>
            <a:pPr lvl="0"/>
            <a:r>
              <a:rPr lang="en-US" dirty="0"/>
              <a:t>The 25 (OH)-</a:t>
            </a:r>
            <a:r>
              <a:rPr lang="en-US" dirty="0" err="1"/>
              <a:t>chloecalciferol</a:t>
            </a:r>
            <a:r>
              <a:rPr lang="en-US" dirty="0"/>
              <a:t> is a potent Vit.D3 and is also produced in a smaller proportion in the kidney</a:t>
            </a:r>
            <a:r>
              <a:rPr lang="en-US" dirty="0" smtClean="0"/>
              <a:t>.</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Vitamin -D </a:t>
            </a: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smtClean="0"/>
              <a:t>Vit D3 is also found in the diet where its absorption is associated with other fats, and is transported to the liver by </a:t>
            </a:r>
            <a:r>
              <a:rPr lang="en-US" dirty="0" err="1" smtClean="0"/>
              <a:t>chylomicrons</a:t>
            </a:r>
            <a:r>
              <a:rPr lang="en-US" dirty="0" smtClean="0"/>
              <a:t>.</a:t>
            </a:r>
          </a:p>
          <a:p>
            <a:pPr lvl="0"/>
            <a:r>
              <a:rPr lang="en-US" dirty="0" smtClean="0"/>
              <a:t>A significant proportion of 25 (OH)-D3 is excreted in the bile and is reabsorbed in the small bowel, producing an </a:t>
            </a:r>
            <a:r>
              <a:rPr lang="en-US" dirty="0" err="1" smtClean="0"/>
              <a:t>enetrohepatic</a:t>
            </a:r>
            <a:r>
              <a:rPr lang="en-US" dirty="0" smtClean="0"/>
              <a:t> circulation. </a:t>
            </a:r>
          </a:p>
          <a:p>
            <a:pPr lvl="0"/>
            <a:r>
              <a:rPr lang="en-US" dirty="0" err="1" smtClean="0"/>
              <a:t>Hypocalcemia</a:t>
            </a:r>
            <a:r>
              <a:rPr lang="en-US" dirty="0" smtClean="0"/>
              <a:t>, </a:t>
            </a:r>
            <a:r>
              <a:rPr lang="en-US" dirty="0" err="1" smtClean="0"/>
              <a:t>Phosphatemia</a:t>
            </a:r>
            <a:r>
              <a:rPr lang="en-US" dirty="0" smtClean="0"/>
              <a:t> stimulates the release of PTH which enhances the synthesis of Vitamin D. On the other hand, high calcium, phosphate inhibit the synthesis.</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Vitamin -D </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a:t>Functions: </a:t>
            </a:r>
            <a:endParaRPr lang="en-US" b="1" dirty="0" smtClean="0"/>
          </a:p>
          <a:p>
            <a:r>
              <a:rPr lang="en-US" dirty="0" smtClean="0"/>
              <a:t>Target </a:t>
            </a:r>
            <a:r>
              <a:rPr lang="en-US" dirty="0"/>
              <a:t>organs are bone, Kidney and Intestine. </a:t>
            </a:r>
            <a:r>
              <a:rPr lang="en-US" dirty="0" err="1"/>
              <a:t>Calcitriol</a:t>
            </a:r>
            <a:r>
              <a:rPr lang="en-US" dirty="0"/>
              <a:t> promotes bone mineralization.</a:t>
            </a:r>
          </a:p>
          <a:p>
            <a:r>
              <a:rPr lang="en-US" b="1" dirty="0"/>
              <a:t>Intestine</a:t>
            </a:r>
            <a:r>
              <a:rPr lang="en-US" dirty="0"/>
              <a:t>: This vitamin promotes absorption of calcium, phosphates. The mechanism of action resembles that of steroid </a:t>
            </a:r>
            <a:r>
              <a:rPr lang="en-US" dirty="0" err="1"/>
              <a:t>hormone.It</a:t>
            </a:r>
            <a:r>
              <a:rPr lang="en-US" dirty="0"/>
              <a:t> crosses cell membrane bind to </a:t>
            </a:r>
            <a:r>
              <a:rPr lang="en-US" dirty="0" err="1"/>
              <a:t>cytoplasmic</a:t>
            </a:r>
            <a:r>
              <a:rPr lang="en-US" dirty="0"/>
              <a:t> receptor to form a complex, which is </a:t>
            </a:r>
            <a:r>
              <a:rPr lang="en-US" dirty="0" err="1"/>
              <a:t>translocated</a:t>
            </a:r>
            <a:r>
              <a:rPr lang="en-US" dirty="0"/>
              <a:t> to the </a:t>
            </a:r>
            <a:r>
              <a:rPr lang="en-US" dirty="0" err="1"/>
              <a:t>nucleus.Here</a:t>
            </a:r>
            <a:r>
              <a:rPr lang="en-US" dirty="0"/>
              <a:t> it binds to chromatin, induces the synthesis of calcium binding protein. Thus calcium absorption is </a:t>
            </a:r>
            <a:r>
              <a:rPr lang="en-US" dirty="0" err="1"/>
              <a:t>stimulated.Defect</a:t>
            </a:r>
            <a:r>
              <a:rPr lang="en-US" dirty="0"/>
              <a:t> in </a:t>
            </a:r>
            <a:r>
              <a:rPr lang="en-US" dirty="0" err="1"/>
              <a:t>cytoplsmic</a:t>
            </a:r>
            <a:r>
              <a:rPr lang="en-US" dirty="0"/>
              <a:t> receptor may lead to </a:t>
            </a:r>
            <a:r>
              <a:rPr lang="en-US" dirty="0" err="1"/>
              <a:t>Rickettes</a:t>
            </a:r>
            <a:r>
              <a:rPr lang="en-US" dirty="0"/>
              <a:t>.</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Vitamin -D </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Kidney</a:t>
            </a:r>
            <a:r>
              <a:rPr lang="en-US" dirty="0" smtClean="0"/>
              <a:t>: </a:t>
            </a:r>
            <a:r>
              <a:rPr lang="en-US" dirty="0" err="1" smtClean="0"/>
              <a:t>Reabsorption</a:t>
            </a:r>
            <a:r>
              <a:rPr lang="en-US" dirty="0" smtClean="0"/>
              <a:t> of calcium, phosphate are enhanced.</a:t>
            </a:r>
          </a:p>
          <a:p>
            <a:r>
              <a:rPr lang="en-US" b="1" dirty="0" smtClean="0"/>
              <a:t>Bone</a:t>
            </a:r>
            <a:r>
              <a:rPr lang="en-US" dirty="0" smtClean="0"/>
              <a:t>: It promotes synthesis of </a:t>
            </a:r>
            <a:r>
              <a:rPr lang="en-US" dirty="0" err="1" smtClean="0"/>
              <a:t>osteocalcin</a:t>
            </a:r>
            <a:r>
              <a:rPr lang="en-US" dirty="0" smtClean="0"/>
              <a:t> which is needed for bone mineralization. It also</a:t>
            </a:r>
          </a:p>
          <a:p>
            <a:r>
              <a:rPr lang="en-US" dirty="0" smtClean="0"/>
              <a:t>promotes bone collagen synthesis.</a:t>
            </a:r>
          </a:p>
          <a:p>
            <a:pPr>
              <a:buNone/>
            </a:pPr>
            <a:r>
              <a:rPr lang="en-US" b="1" dirty="0" smtClean="0"/>
              <a:t>Catabolism </a:t>
            </a:r>
            <a:r>
              <a:rPr lang="en-US" b="1" dirty="0"/>
              <a:t>of Vit D:</a:t>
            </a:r>
            <a:endParaRPr lang="en-US" dirty="0"/>
          </a:p>
          <a:p>
            <a:r>
              <a:rPr lang="en-US" dirty="0"/>
              <a:t>Hydroxylation at C26 takes place in Liver by </a:t>
            </a:r>
            <a:r>
              <a:rPr lang="en-US" dirty="0" err="1"/>
              <a:t>oxidases</a:t>
            </a:r>
            <a:r>
              <a:rPr lang="en-US" dirty="0"/>
              <a:t> .This compound has no Vitamin D</a:t>
            </a:r>
          </a:p>
          <a:p>
            <a:r>
              <a:rPr lang="en-US" dirty="0" err="1"/>
              <a:t>acticvity</a:t>
            </a:r>
            <a:r>
              <a:rPr lang="en-US" dirty="0"/>
              <a:t>.</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VITAMIN K</a:t>
            </a:r>
            <a:endParaRPr lang="en-US" dirty="0"/>
          </a:p>
        </p:txBody>
      </p:sp>
      <p:sp>
        <p:nvSpPr>
          <p:cNvPr id="3" name="Content Placeholder 2"/>
          <p:cNvSpPr>
            <a:spLocks noGrp="1"/>
          </p:cNvSpPr>
          <p:nvPr>
            <p:ph idx="1"/>
          </p:nvPr>
        </p:nvSpPr>
        <p:spPr/>
        <p:txBody>
          <a:bodyPr/>
          <a:lstStyle/>
          <a:p>
            <a:pPr>
              <a:buNone/>
            </a:pPr>
            <a:r>
              <a:rPr lang="en-US" dirty="0" smtClean="0"/>
              <a:t>There </a:t>
            </a:r>
            <a:r>
              <a:rPr lang="en-US" dirty="0"/>
              <a:t>are three types, </a:t>
            </a:r>
            <a:r>
              <a:rPr lang="en-US" dirty="0" err="1"/>
              <a:t>Menaquinone</a:t>
            </a:r>
            <a:r>
              <a:rPr lang="en-US" dirty="0"/>
              <a:t> (K2 )present in animals ,</a:t>
            </a:r>
            <a:r>
              <a:rPr lang="en-US" dirty="0" err="1"/>
              <a:t>Phylloquinone</a:t>
            </a:r>
            <a:r>
              <a:rPr lang="en-US" dirty="0"/>
              <a:t> (K1) present  in Plants. </a:t>
            </a:r>
            <a:r>
              <a:rPr lang="en-US" dirty="0" err="1"/>
              <a:t>Menadione</a:t>
            </a:r>
            <a:r>
              <a:rPr lang="en-US" dirty="0"/>
              <a:t> a synthetic water soluble vitamin is available for </a:t>
            </a:r>
            <a:r>
              <a:rPr lang="en-US" dirty="0" err="1"/>
              <a:t>treatment.;</a:t>
            </a:r>
            <a:r>
              <a:rPr lang="en-US" b="1" dirty="0" err="1"/>
              <a:t>K</a:t>
            </a:r>
            <a:r>
              <a:rPr lang="en-US" b="1" dirty="0"/>
              <a:t> K1 &amp; K2</a:t>
            </a:r>
            <a:r>
              <a:rPr lang="en-US" dirty="0"/>
              <a:t> </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Functions</a:t>
            </a: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smtClean="0"/>
              <a:t>It </a:t>
            </a:r>
            <a:r>
              <a:rPr lang="en-US" dirty="0"/>
              <a:t>is the only one acting as co-enzyme from the group of Fat soluble vitamins.</a:t>
            </a:r>
          </a:p>
          <a:p>
            <a:pPr lvl="0"/>
            <a:r>
              <a:rPr lang="en-US" dirty="0"/>
              <a:t>This vitamin is also synthesized by intestinal bacteria</a:t>
            </a:r>
            <a:r>
              <a:rPr lang="en-US" dirty="0" smtClean="0"/>
              <a:t>. It </a:t>
            </a:r>
            <a:r>
              <a:rPr lang="en-US" dirty="0"/>
              <a:t>is required for post translational modifications of several proteins required in the coagulation cascade. For e.g. Factor II, VII. IX and X .</a:t>
            </a:r>
          </a:p>
          <a:p>
            <a:pPr lvl="0"/>
            <a:r>
              <a:rPr lang="en-US" dirty="0"/>
              <a:t>Activation is carried out by the </a:t>
            </a:r>
            <a:r>
              <a:rPr lang="en-US" dirty="0" err="1"/>
              <a:t>carboxylation</a:t>
            </a:r>
            <a:r>
              <a:rPr lang="en-US" dirty="0"/>
              <a:t> of specific glutamate residues on the </a:t>
            </a:r>
            <a:r>
              <a:rPr lang="en-US" dirty="0" err="1"/>
              <a:t>prothrombin</a:t>
            </a:r>
            <a:r>
              <a:rPr lang="en-US" dirty="0"/>
              <a:t> by Vit K dependent enzyme.</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 (B) Water Soluble </a:t>
            </a:r>
            <a:r>
              <a:rPr lang="en-US" b="1" dirty="0" smtClean="0"/>
              <a:t>Vitamins</a:t>
            </a:r>
            <a:endParaRPr lang="en-US" dirty="0"/>
          </a:p>
        </p:txBody>
      </p:sp>
      <p:sp>
        <p:nvSpPr>
          <p:cNvPr id="3" name="Content Placeholder 2"/>
          <p:cNvSpPr>
            <a:spLocks noGrp="1"/>
          </p:cNvSpPr>
          <p:nvPr>
            <p:ph idx="1"/>
          </p:nvPr>
        </p:nvSpPr>
        <p:spPr/>
        <p:txBody>
          <a:bodyPr>
            <a:normAutofit/>
          </a:bodyPr>
          <a:lstStyle/>
          <a:p>
            <a:r>
              <a:rPr lang="en-US" b="1" dirty="0" smtClean="0"/>
              <a:t>The </a:t>
            </a:r>
            <a:r>
              <a:rPr lang="en-US" b="1" dirty="0" smtClean="0"/>
              <a:t>B- Vitamins</a:t>
            </a:r>
            <a:endParaRPr lang="en-US" dirty="0" smtClean="0"/>
          </a:p>
          <a:p>
            <a:pPr lvl="0"/>
            <a:r>
              <a:rPr lang="en-US" dirty="0" smtClean="0"/>
              <a:t>Since they are water soluble excess can be excreted through urine.</a:t>
            </a:r>
          </a:p>
          <a:p>
            <a:pPr lvl="0"/>
            <a:r>
              <a:rPr lang="en-US" dirty="0" smtClean="0"/>
              <a:t>Hyper-</a:t>
            </a:r>
            <a:r>
              <a:rPr lang="en-US" dirty="0" err="1" smtClean="0"/>
              <a:t>vitaminosis</a:t>
            </a:r>
            <a:r>
              <a:rPr lang="en-US" dirty="0" smtClean="0"/>
              <a:t> may not cause toxicity. Most of these vitamins act as coenzymes.</a:t>
            </a:r>
          </a:p>
          <a:p>
            <a:pPr lvl="0"/>
            <a:r>
              <a:rPr lang="en-US" dirty="0" smtClean="0"/>
              <a:t>The B- Vitamins are essential and must be provided through diet: these include:</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 Water Soluble Vitamins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 Thiamine (</a:t>
            </a:r>
            <a:r>
              <a:rPr lang="en-US" dirty="0" err="1" smtClean="0"/>
              <a:t>Vit</a:t>
            </a:r>
            <a:r>
              <a:rPr lang="en-US" dirty="0" smtClean="0"/>
              <a:t> B1)</a:t>
            </a:r>
          </a:p>
          <a:p>
            <a:r>
              <a:rPr lang="en-US" dirty="0" smtClean="0"/>
              <a:t>- Riboflavin (</a:t>
            </a:r>
            <a:r>
              <a:rPr lang="en-US" dirty="0" err="1" smtClean="0"/>
              <a:t>Vit</a:t>
            </a:r>
            <a:r>
              <a:rPr lang="en-US" dirty="0" smtClean="0"/>
              <a:t> B2 )</a:t>
            </a:r>
          </a:p>
          <a:p>
            <a:r>
              <a:rPr lang="en-US" dirty="0" smtClean="0"/>
              <a:t>- Niacin (Nicotinic acid (or </a:t>
            </a:r>
            <a:r>
              <a:rPr lang="en-US" dirty="0" err="1" smtClean="0"/>
              <a:t>Nicotinamide</a:t>
            </a:r>
            <a:r>
              <a:rPr lang="en-US" dirty="0" smtClean="0"/>
              <a:t>)</a:t>
            </a:r>
          </a:p>
          <a:p>
            <a:r>
              <a:rPr lang="en-US" dirty="0" smtClean="0"/>
              <a:t>- </a:t>
            </a:r>
            <a:r>
              <a:rPr lang="en-US" dirty="0" err="1" smtClean="0"/>
              <a:t>Pantothenic</a:t>
            </a:r>
            <a:r>
              <a:rPr lang="en-US" dirty="0" smtClean="0"/>
              <a:t> acid (</a:t>
            </a:r>
            <a:r>
              <a:rPr lang="en-US" dirty="0" err="1" smtClean="0"/>
              <a:t>Vit</a:t>
            </a:r>
            <a:r>
              <a:rPr lang="en-US" dirty="0" smtClean="0"/>
              <a:t> B5)</a:t>
            </a:r>
          </a:p>
          <a:p>
            <a:r>
              <a:rPr lang="en-US" dirty="0" smtClean="0"/>
              <a:t>- Vitamin B6 (</a:t>
            </a:r>
            <a:r>
              <a:rPr lang="en-US" dirty="0" err="1" smtClean="0"/>
              <a:t>Pyrodoxine,pyridoxal</a:t>
            </a:r>
            <a:r>
              <a:rPr lang="en-US" dirty="0" smtClean="0"/>
              <a:t>,&amp; </a:t>
            </a:r>
            <a:r>
              <a:rPr lang="en-US" dirty="0" err="1" smtClean="0"/>
              <a:t>Pyridoxamine</a:t>
            </a:r>
            <a:r>
              <a:rPr lang="en-US" dirty="0" smtClean="0"/>
              <a:t>)</a:t>
            </a:r>
          </a:p>
          <a:p>
            <a:r>
              <a:rPr lang="en-US" dirty="0" smtClean="0"/>
              <a:t>- Biotin</a:t>
            </a:r>
          </a:p>
          <a:p>
            <a:r>
              <a:rPr lang="en-US" dirty="0" smtClean="0"/>
              <a:t>- Vitamin B12 (</a:t>
            </a:r>
            <a:r>
              <a:rPr lang="en-US" dirty="0" err="1" smtClean="0"/>
              <a:t>Cobalamin</a:t>
            </a:r>
            <a:r>
              <a:rPr lang="en-US" dirty="0" smtClean="0"/>
              <a:t>)</a:t>
            </a:r>
          </a:p>
          <a:p>
            <a:r>
              <a:rPr lang="en-US" dirty="0" smtClean="0"/>
              <a:t>- Folic Acid</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VITAMIN- </a:t>
            </a:r>
            <a:r>
              <a:rPr lang="en-US" b="1" dirty="0" smtClean="0"/>
              <a:t>B2</a:t>
            </a:r>
            <a:endParaRPr lang="en-US" dirty="0"/>
          </a:p>
        </p:txBody>
      </p:sp>
      <p:sp>
        <p:nvSpPr>
          <p:cNvPr id="3" name="Content Placeholder 2"/>
          <p:cNvSpPr>
            <a:spLocks noGrp="1"/>
          </p:cNvSpPr>
          <p:nvPr>
            <p:ph idx="1"/>
          </p:nvPr>
        </p:nvSpPr>
        <p:spPr/>
        <p:txBody>
          <a:bodyPr>
            <a:normAutofit fontScale="85000" lnSpcReduction="10000"/>
          </a:bodyPr>
          <a:lstStyle/>
          <a:p>
            <a:pPr lvl="0"/>
            <a:r>
              <a:rPr lang="en-US" b="1" dirty="0" smtClean="0"/>
              <a:t>Riboflavin</a:t>
            </a:r>
            <a:r>
              <a:rPr lang="en-US" dirty="0" smtClean="0"/>
              <a:t>, also known as </a:t>
            </a:r>
            <a:r>
              <a:rPr lang="en-US" b="1" dirty="0" smtClean="0"/>
              <a:t>vitamin B2</a:t>
            </a:r>
            <a:r>
              <a:rPr lang="en-US" dirty="0" smtClean="0"/>
              <a:t>, is a component of the </a:t>
            </a:r>
            <a:r>
              <a:rPr lang="en-US" dirty="0" err="1" smtClean="0"/>
              <a:t>flavin</a:t>
            </a:r>
            <a:r>
              <a:rPr lang="en-US" dirty="0" smtClean="0"/>
              <a:t> coenzymes, </a:t>
            </a:r>
            <a:r>
              <a:rPr lang="en-US" b="1" dirty="0" smtClean="0"/>
              <a:t>FAD</a:t>
            </a:r>
            <a:r>
              <a:rPr lang="en-US" dirty="0" smtClean="0"/>
              <a:t> and </a:t>
            </a:r>
            <a:r>
              <a:rPr lang="en-US" b="1" dirty="0" smtClean="0"/>
              <a:t>FMN</a:t>
            </a:r>
            <a:r>
              <a:rPr lang="en-US" dirty="0" smtClean="0"/>
              <a:t>.</a:t>
            </a:r>
          </a:p>
          <a:p>
            <a:pPr lvl="0"/>
            <a:r>
              <a:rPr lang="en-US" dirty="0" smtClean="0"/>
              <a:t>It is composed of an </a:t>
            </a:r>
            <a:r>
              <a:rPr lang="en-US" dirty="0" err="1" smtClean="0"/>
              <a:t>isoalloxazine</a:t>
            </a:r>
            <a:r>
              <a:rPr lang="en-US" dirty="0" smtClean="0"/>
              <a:t> ring system linked to </a:t>
            </a:r>
            <a:r>
              <a:rPr lang="en-US" dirty="0" err="1" smtClean="0"/>
              <a:t>ribitol</a:t>
            </a:r>
            <a:r>
              <a:rPr lang="en-US" dirty="0" smtClean="0"/>
              <a:t>. </a:t>
            </a:r>
          </a:p>
          <a:p>
            <a:pPr lvl="0"/>
            <a:r>
              <a:rPr lang="en-US" dirty="0" smtClean="0"/>
              <a:t>The ability of the ring system of </a:t>
            </a:r>
            <a:r>
              <a:rPr lang="en-US" b="1" dirty="0" smtClean="0"/>
              <a:t>riboflavin </a:t>
            </a:r>
            <a:r>
              <a:rPr lang="en-US" dirty="0" smtClean="0"/>
              <a:t>to exist as a </a:t>
            </a:r>
            <a:r>
              <a:rPr lang="en-US" dirty="0" err="1" smtClean="0"/>
              <a:t>semiquinone</a:t>
            </a:r>
            <a:r>
              <a:rPr lang="en-US" dirty="0" smtClean="0"/>
              <a:t> allows the </a:t>
            </a:r>
            <a:r>
              <a:rPr lang="en-US" dirty="0" err="1" smtClean="0"/>
              <a:t>flavin</a:t>
            </a:r>
            <a:r>
              <a:rPr lang="en-US" dirty="0" smtClean="0"/>
              <a:t> coenzymes to accept electrons either singly or in pairs</a:t>
            </a:r>
            <a:r>
              <a:rPr lang="en-US" b="1" dirty="0" smtClean="0"/>
              <a:t>. NAD+</a:t>
            </a:r>
            <a:r>
              <a:rPr lang="en-US" dirty="0" smtClean="0"/>
              <a:t> and </a:t>
            </a:r>
            <a:r>
              <a:rPr lang="en-US" b="1" dirty="0" smtClean="0"/>
              <a:t>NADP+</a:t>
            </a:r>
            <a:r>
              <a:rPr lang="en-US" dirty="0" smtClean="0"/>
              <a:t> can </a:t>
            </a:r>
            <a:r>
              <a:rPr lang="en-US" b="1" dirty="0" smtClean="0"/>
              <a:t>only </a:t>
            </a:r>
            <a:r>
              <a:rPr lang="en-US" dirty="0" smtClean="0"/>
              <a:t>accept electrons in pairs.</a:t>
            </a:r>
          </a:p>
          <a:p>
            <a:pPr lvl="0"/>
            <a:r>
              <a:rPr lang="en-US" dirty="0" smtClean="0"/>
              <a:t>It is mainly used in the energy metabolism of Sugars and Lipids. The activation of FMN and</a:t>
            </a:r>
          </a:p>
          <a:p>
            <a:pPr lvl="0"/>
            <a:r>
              <a:rPr lang="en-US" dirty="0" smtClean="0"/>
              <a:t>FAD is an ATP-dependent.</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VITAMIN- </a:t>
            </a:r>
            <a:r>
              <a:rPr lang="en-US" b="1" dirty="0" smtClean="0"/>
              <a:t>B3</a:t>
            </a:r>
            <a:endParaRPr lang="en-US" dirty="0"/>
          </a:p>
        </p:txBody>
      </p:sp>
      <p:sp>
        <p:nvSpPr>
          <p:cNvPr id="3" name="Content Placeholder 2"/>
          <p:cNvSpPr>
            <a:spLocks noGrp="1"/>
          </p:cNvSpPr>
          <p:nvPr>
            <p:ph idx="1"/>
          </p:nvPr>
        </p:nvSpPr>
        <p:spPr/>
        <p:txBody>
          <a:bodyPr>
            <a:normAutofit fontScale="85000" lnSpcReduction="20000"/>
          </a:bodyPr>
          <a:lstStyle/>
          <a:p>
            <a:pPr lvl="0"/>
            <a:r>
              <a:rPr lang="en-US" dirty="0" smtClean="0"/>
              <a:t>Niacin </a:t>
            </a:r>
            <a:r>
              <a:rPr lang="en-US" dirty="0" smtClean="0"/>
              <a:t>is not a vitamin in a strictest sense of the word, since it can be synthesized from </a:t>
            </a:r>
            <a:r>
              <a:rPr lang="en-US" b="1" dirty="0" smtClean="0"/>
              <a:t>Tryptophan. </a:t>
            </a:r>
          </a:p>
          <a:p>
            <a:pPr lvl="0"/>
            <a:r>
              <a:rPr lang="en-US" dirty="0" smtClean="0"/>
              <a:t>However, conversion of </a:t>
            </a:r>
            <a:r>
              <a:rPr lang="en-US" b="1" dirty="0" smtClean="0"/>
              <a:t>Tryptophan</a:t>
            </a:r>
            <a:r>
              <a:rPr lang="en-US" dirty="0" smtClean="0"/>
              <a:t> to </a:t>
            </a:r>
            <a:r>
              <a:rPr lang="en-US" b="1" dirty="0" smtClean="0"/>
              <a:t>Niacin</a:t>
            </a:r>
            <a:r>
              <a:rPr lang="en-US" dirty="0" smtClean="0"/>
              <a:t> is relatively inefficient (60 mg of</a:t>
            </a:r>
          </a:p>
          <a:p>
            <a:pPr lvl="0"/>
            <a:r>
              <a:rPr lang="en-US" dirty="0" smtClean="0"/>
              <a:t>Tryptophan is required to produce 1mg of Niacin) and occurs only after all the body requirements for Tryptophan is met. Thus most people require dietary sources of both </a:t>
            </a:r>
            <a:r>
              <a:rPr lang="en-US" b="1" dirty="0" smtClean="0"/>
              <a:t>Tryptophan</a:t>
            </a:r>
            <a:r>
              <a:rPr lang="en-US" dirty="0" smtClean="0"/>
              <a:t> and </a:t>
            </a:r>
            <a:r>
              <a:rPr lang="en-US" b="1" dirty="0" smtClean="0"/>
              <a:t>Niacin</a:t>
            </a:r>
            <a:r>
              <a:rPr lang="en-US" dirty="0" smtClean="0"/>
              <a:t>.</a:t>
            </a:r>
          </a:p>
          <a:p>
            <a:pPr lvl="0"/>
            <a:r>
              <a:rPr lang="en-US" dirty="0" smtClean="0"/>
              <a:t>Niacin contains a substituted Pyridine ring and when gets activated forms </a:t>
            </a:r>
            <a:r>
              <a:rPr lang="en-US" b="1" dirty="0" smtClean="0"/>
              <a:t>NAD+ </a:t>
            </a:r>
            <a:r>
              <a:rPr lang="en-US" dirty="0" smtClean="0"/>
              <a:t>and its </a:t>
            </a:r>
            <a:r>
              <a:rPr lang="en-US" dirty="0" err="1" smtClean="0"/>
              <a:t>phosphorylated</a:t>
            </a:r>
            <a:r>
              <a:rPr lang="en-US" dirty="0" smtClean="0"/>
              <a:t> derivative is </a:t>
            </a:r>
            <a:r>
              <a:rPr lang="en-US" b="1" dirty="0" smtClean="0"/>
              <a:t>NADP+ </a:t>
            </a:r>
            <a:r>
              <a:rPr lang="en-US" dirty="0" smtClean="0"/>
              <a:t>.which are co enzymes of many </a:t>
            </a:r>
            <a:r>
              <a:rPr lang="en-US" dirty="0" err="1" smtClean="0"/>
              <a:t>dehydrogenases</a:t>
            </a:r>
            <a:r>
              <a:rPr lang="en-US" dirty="0" smtClean="0"/>
              <a:t>.</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VITAMIN- B 6</a:t>
            </a:r>
            <a:r>
              <a:rPr lang="en-US" dirty="0" smtClean="0"/>
              <a:t> (</a:t>
            </a:r>
            <a:r>
              <a:rPr lang="en-US" b="1" dirty="0" smtClean="0"/>
              <a:t>Pyridoxine </a:t>
            </a:r>
            <a:r>
              <a:rPr lang="en-US" b="1" dirty="0" smtClean="0"/>
              <a:t>)</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Exists </a:t>
            </a:r>
            <a:r>
              <a:rPr lang="en-US" b="1" dirty="0" smtClean="0"/>
              <a:t>in three forms: </a:t>
            </a:r>
            <a:r>
              <a:rPr lang="en-US" dirty="0" smtClean="0"/>
              <a:t>Pyridoxine, </a:t>
            </a:r>
            <a:r>
              <a:rPr lang="en-US" dirty="0" err="1" smtClean="0"/>
              <a:t>Pyrodoxal</a:t>
            </a:r>
            <a:r>
              <a:rPr lang="en-US" dirty="0" smtClean="0"/>
              <a:t> &amp; </a:t>
            </a:r>
            <a:r>
              <a:rPr lang="en-US" dirty="0" err="1" smtClean="0"/>
              <a:t>pyridoxamine</a:t>
            </a:r>
            <a:r>
              <a:rPr lang="en-US" dirty="0" smtClean="0"/>
              <a:t> and their corresponding phosphates.</a:t>
            </a:r>
          </a:p>
          <a:p>
            <a:r>
              <a:rPr lang="en-US" b="1" dirty="0" err="1" smtClean="0"/>
              <a:t>Pyridoxal</a:t>
            </a:r>
            <a:r>
              <a:rPr lang="en-US" b="1" dirty="0" smtClean="0"/>
              <a:t> phosphate (PLP)-</a:t>
            </a:r>
            <a:r>
              <a:rPr lang="en-US" dirty="0" smtClean="0"/>
              <a:t> </a:t>
            </a:r>
            <a:r>
              <a:rPr lang="en-US" dirty="0" err="1" smtClean="0"/>
              <a:t>Pyridoxal</a:t>
            </a:r>
            <a:r>
              <a:rPr lang="en-US" dirty="0" smtClean="0"/>
              <a:t> phosphate participates in </a:t>
            </a:r>
            <a:r>
              <a:rPr lang="en-US" dirty="0" err="1" smtClean="0"/>
              <a:t>transaminations</a:t>
            </a:r>
            <a:r>
              <a:rPr lang="en-US" dirty="0" smtClean="0"/>
              <a:t>, </a:t>
            </a:r>
            <a:r>
              <a:rPr lang="en-US" dirty="0" err="1" smtClean="0"/>
              <a:t>decarboxylations</a:t>
            </a:r>
            <a:r>
              <a:rPr lang="en-US" dirty="0" smtClean="0"/>
              <a:t>, </a:t>
            </a:r>
            <a:r>
              <a:rPr lang="en-US" dirty="0" err="1" smtClean="0"/>
              <a:t>racemizations</a:t>
            </a:r>
            <a:r>
              <a:rPr lang="en-US" dirty="0" smtClean="0"/>
              <a:t>, and numerous modifications of amino acid side chains. </a:t>
            </a:r>
          </a:p>
          <a:p>
            <a:pPr lvl="0"/>
            <a:r>
              <a:rPr lang="en-US" dirty="0" smtClean="0"/>
              <a:t>It is also used for the synthesis of Neurotransmitter, Serotonin and Nor-Adrenalin.</a:t>
            </a:r>
          </a:p>
          <a:p>
            <a:pPr lvl="0"/>
            <a:r>
              <a:rPr lang="en-US" dirty="0" smtClean="0"/>
              <a:t>Used as a component of </a:t>
            </a:r>
            <a:r>
              <a:rPr lang="en-US" dirty="0" err="1" smtClean="0"/>
              <a:t>Sphingolipids</a:t>
            </a:r>
            <a:r>
              <a:rPr lang="en-US" dirty="0" smtClean="0"/>
              <a:t> necessary for myelin formation and </a:t>
            </a:r>
            <a:r>
              <a:rPr lang="en-US" dirty="0" err="1" smtClean="0"/>
              <a:t>Heme</a:t>
            </a:r>
            <a:r>
              <a:rPr lang="en-US" dirty="0" smtClean="0"/>
              <a:t> synthesis as well.</a:t>
            </a:r>
          </a:p>
          <a:p>
            <a:pPr lvl="0"/>
            <a:r>
              <a:rPr lang="en-US" dirty="0" err="1" smtClean="0"/>
              <a:t>Hypochromic</a:t>
            </a:r>
            <a:r>
              <a:rPr lang="en-US" dirty="0" smtClean="0"/>
              <a:t> </a:t>
            </a:r>
            <a:r>
              <a:rPr lang="en-US" dirty="0" err="1" smtClean="0"/>
              <a:t>microcytic</a:t>
            </a:r>
            <a:r>
              <a:rPr lang="en-US" dirty="0" smtClean="0"/>
              <a:t> anemia since PLP is required for </a:t>
            </a:r>
            <a:r>
              <a:rPr lang="en-US" dirty="0" err="1" smtClean="0"/>
              <a:t>Heme</a:t>
            </a:r>
            <a:r>
              <a:rPr lang="en-US" dirty="0" smtClean="0"/>
              <a:t> synthesis.</a:t>
            </a:r>
          </a:p>
          <a:p>
            <a:pPr lvl="0"/>
            <a:r>
              <a:rPr lang="en-US" dirty="0" smtClean="0"/>
              <a:t>Deficiency in infants cause </a:t>
            </a:r>
            <a:r>
              <a:rPr lang="en-US" dirty="0" err="1" smtClean="0"/>
              <a:t>convelsions</a:t>
            </a:r>
            <a:r>
              <a:rPr lang="en-US" dirty="0" smtClean="0"/>
              <a:t> due to inactive glutamate</a:t>
            </a:r>
          </a:p>
          <a:p>
            <a:r>
              <a:rPr lang="en-US" dirty="0" err="1" smtClean="0"/>
              <a:t>decarboxylase</a:t>
            </a:r>
            <a:r>
              <a:rPr lang="en-US" dirty="0" smtClean="0"/>
              <a:t>, GABA not formed there by impaired neurotransmission.</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VITAMIN-B5</a:t>
            </a:r>
            <a:endParaRPr lang="en-US" dirty="0"/>
          </a:p>
        </p:txBody>
      </p:sp>
      <p:sp>
        <p:nvSpPr>
          <p:cNvPr id="3" name="Content Placeholder 2"/>
          <p:cNvSpPr>
            <a:spLocks noGrp="1"/>
          </p:cNvSpPr>
          <p:nvPr>
            <p:ph idx="1"/>
          </p:nvPr>
        </p:nvSpPr>
        <p:spPr/>
        <p:txBody>
          <a:bodyPr>
            <a:normAutofit fontScale="92500" lnSpcReduction="10000"/>
          </a:bodyPr>
          <a:lstStyle/>
          <a:p>
            <a:r>
              <a:rPr lang="en-US" dirty="0" err="1" smtClean="0"/>
              <a:t>Pantothenic</a:t>
            </a:r>
            <a:r>
              <a:rPr lang="en-US" b="1" dirty="0" smtClean="0"/>
              <a:t> </a:t>
            </a:r>
            <a:r>
              <a:rPr lang="en-US" b="1" dirty="0" smtClean="0"/>
              <a:t>Acid </a:t>
            </a:r>
            <a:r>
              <a:rPr lang="en-US" dirty="0" smtClean="0"/>
              <a:t>(</a:t>
            </a:r>
            <a:r>
              <a:rPr lang="en-US" dirty="0" err="1" smtClean="0"/>
              <a:t>Vit</a:t>
            </a:r>
            <a:r>
              <a:rPr lang="en-US" dirty="0" smtClean="0"/>
              <a:t> B 5) Coenzyme A. </a:t>
            </a:r>
          </a:p>
          <a:p>
            <a:pPr lvl="0"/>
            <a:r>
              <a:rPr lang="en-US" b="1" dirty="0" err="1" smtClean="0"/>
              <a:t>Pantothenic</a:t>
            </a:r>
            <a:r>
              <a:rPr lang="en-US" b="1" dirty="0" smtClean="0"/>
              <a:t> acid </a:t>
            </a:r>
            <a:r>
              <a:rPr lang="en-US" dirty="0" smtClean="0"/>
              <a:t>is a vitamin that forms an essential part of the </a:t>
            </a:r>
            <a:r>
              <a:rPr lang="en-US" dirty="0" err="1" smtClean="0"/>
              <a:t>acyl</a:t>
            </a:r>
            <a:r>
              <a:rPr lang="en-US" dirty="0" smtClean="0"/>
              <a:t>-carrier moiety, </a:t>
            </a:r>
            <a:r>
              <a:rPr lang="en-US" b="1" dirty="0" smtClean="0"/>
              <a:t>coenzyme A</a:t>
            </a:r>
            <a:r>
              <a:rPr lang="en-US" dirty="0" smtClean="0"/>
              <a:t>.</a:t>
            </a:r>
          </a:p>
          <a:p>
            <a:pPr lvl="0"/>
            <a:r>
              <a:rPr lang="en-US" b="1" dirty="0" smtClean="0"/>
              <a:t>Coenzyme A </a:t>
            </a:r>
            <a:r>
              <a:rPr lang="en-US" dirty="0" smtClean="0"/>
              <a:t>(A for </a:t>
            </a:r>
            <a:r>
              <a:rPr lang="en-US" dirty="0" err="1" smtClean="0"/>
              <a:t>acyl</a:t>
            </a:r>
            <a:r>
              <a:rPr lang="en-US" dirty="0" smtClean="0"/>
              <a:t>) participates in the activation of </a:t>
            </a:r>
            <a:r>
              <a:rPr lang="en-US" dirty="0" err="1" smtClean="0"/>
              <a:t>acyl</a:t>
            </a:r>
            <a:r>
              <a:rPr lang="en-US" dirty="0" smtClean="0"/>
              <a:t> groups in general, including the acetyl group derived from </a:t>
            </a:r>
            <a:r>
              <a:rPr lang="en-US" b="1" dirty="0" err="1" smtClean="0"/>
              <a:t>pyruvate</a:t>
            </a:r>
            <a:r>
              <a:rPr lang="en-US" dirty="0" smtClean="0"/>
              <a:t>. </a:t>
            </a:r>
          </a:p>
          <a:p>
            <a:pPr lvl="0"/>
            <a:r>
              <a:rPr lang="en-US" dirty="0" smtClean="0"/>
              <a:t>The coenzyme is derived metabolically from </a:t>
            </a:r>
            <a:r>
              <a:rPr lang="en-US" b="1" dirty="0" smtClean="0"/>
              <a:t>ATP</a:t>
            </a:r>
            <a:r>
              <a:rPr lang="en-US" dirty="0" smtClean="0"/>
              <a:t>, the vitamin </a:t>
            </a:r>
            <a:r>
              <a:rPr lang="en-US" b="1" dirty="0" err="1" smtClean="0"/>
              <a:t>pantothenic</a:t>
            </a:r>
            <a:r>
              <a:rPr lang="en-US" b="1" dirty="0" smtClean="0"/>
              <a:t> acid</a:t>
            </a:r>
            <a:r>
              <a:rPr lang="en-US" dirty="0" smtClean="0"/>
              <a:t>, and </a:t>
            </a:r>
            <a:r>
              <a:rPr lang="en-US" b="1" dirty="0" smtClean="0"/>
              <a:t>-</a:t>
            </a:r>
            <a:r>
              <a:rPr lang="en-US" b="1" dirty="0" err="1" smtClean="0"/>
              <a:t>mercaptoethylamine</a:t>
            </a:r>
            <a:r>
              <a:rPr lang="en-US" dirty="0" smtClean="0"/>
              <a:t>. </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1143000"/>
          </a:xfrm>
        </p:spPr>
        <p:txBody>
          <a:bodyPr>
            <a:normAutofit fontScale="90000"/>
          </a:bodyPr>
          <a:lstStyle/>
          <a:p>
            <a:r>
              <a:rPr lang="en-US" b="1" dirty="0" smtClean="0"/>
              <a:t>VITAMIN-C</a:t>
            </a:r>
            <a:r>
              <a:rPr lang="en-US" dirty="0" smtClean="0"/>
              <a:t> </a:t>
            </a:r>
            <a:br>
              <a:rPr lang="en-US" dirty="0" smtClean="0"/>
            </a:br>
            <a:r>
              <a:rPr lang="en-US" dirty="0" smtClean="0"/>
              <a:t>.</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dirty="0" smtClean="0"/>
              <a:t>The hydroxylation reactions in collagen involve </a:t>
            </a:r>
            <a:r>
              <a:rPr lang="en-US" b="1" dirty="0" smtClean="0"/>
              <a:t>vitamin C </a:t>
            </a:r>
            <a:endParaRPr lang="en-US" b="1" dirty="0" smtClean="0"/>
          </a:p>
          <a:p>
            <a:pPr>
              <a:buNone/>
            </a:pPr>
            <a:r>
              <a:rPr lang="en-US" dirty="0" smtClean="0"/>
              <a:t>In </a:t>
            </a:r>
            <a:r>
              <a:rPr lang="en-US" dirty="0" smtClean="0"/>
              <a:t>general hydroxylation reactions require </a:t>
            </a:r>
            <a:r>
              <a:rPr lang="en-US" dirty="0" err="1" smtClean="0"/>
              <a:t>Vit</a:t>
            </a:r>
            <a:r>
              <a:rPr lang="en-US" dirty="0" smtClean="0"/>
              <a:t> </a:t>
            </a:r>
            <a:r>
              <a:rPr lang="en-US" dirty="0" smtClean="0"/>
              <a:t>C.</a:t>
            </a:r>
          </a:p>
          <a:p>
            <a:pPr>
              <a:buNone/>
            </a:pPr>
            <a:r>
              <a:rPr lang="en-US" b="1" dirty="0" smtClean="0">
                <a:solidFill>
                  <a:srgbClr val="FF0000"/>
                </a:solidFill>
              </a:rPr>
              <a:t>Example</a:t>
            </a:r>
            <a:r>
              <a:rPr lang="en-US" b="1" dirty="0" smtClean="0">
                <a:solidFill>
                  <a:srgbClr val="FF0000"/>
                </a:solidFill>
              </a:rPr>
              <a:t>: </a:t>
            </a:r>
            <a:r>
              <a:rPr lang="en-US" b="1" dirty="0" smtClean="0"/>
              <a:t>Hydroxylation of cholesterol.</a:t>
            </a:r>
            <a:endParaRPr lang="en-US" dirty="0" smtClean="0"/>
          </a:p>
          <a:p>
            <a:pPr>
              <a:buNone/>
            </a:pPr>
            <a:r>
              <a:rPr lang="en-US" b="1" dirty="0" smtClean="0">
                <a:solidFill>
                  <a:srgbClr val="FF0000"/>
                </a:solidFill>
              </a:rPr>
              <a:t>Functions:</a:t>
            </a:r>
            <a:endParaRPr lang="en-US" dirty="0" smtClean="0">
              <a:solidFill>
                <a:srgbClr val="FF0000"/>
              </a:solidFill>
            </a:endParaRPr>
          </a:p>
          <a:p>
            <a:r>
              <a:rPr lang="en-US" dirty="0" smtClean="0"/>
              <a:t>• Collagen biosynthesis</a:t>
            </a:r>
          </a:p>
          <a:p>
            <a:r>
              <a:rPr lang="en-US" dirty="0" smtClean="0"/>
              <a:t>• Degradation of Tyrosine</a:t>
            </a:r>
          </a:p>
          <a:p>
            <a:r>
              <a:rPr lang="en-US" dirty="0" smtClean="0"/>
              <a:t>• Absorption of Iron</a:t>
            </a:r>
          </a:p>
          <a:p>
            <a:r>
              <a:rPr lang="en-US" dirty="0" smtClean="0"/>
              <a:t>• </a:t>
            </a:r>
            <a:r>
              <a:rPr lang="en-US" dirty="0" err="1" smtClean="0"/>
              <a:t>Steroidogenesis</a:t>
            </a:r>
            <a:endParaRPr lang="en-US" dirty="0" smtClean="0"/>
          </a:p>
          <a:p>
            <a:r>
              <a:rPr lang="en-US" dirty="0" smtClean="0"/>
              <a:t>• Adrenaline synthesis</a:t>
            </a:r>
          </a:p>
          <a:p>
            <a:r>
              <a:rPr lang="en-US" dirty="0" smtClean="0"/>
              <a:t>• Bile acid formation</a:t>
            </a:r>
          </a:p>
          <a:p>
            <a:r>
              <a:rPr lang="en-US" dirty="0" smtClean="0"/>
              <a:t>• Degradation of tyrosine</a:t>
            </a:r>
          </a:p>
          <a:p>
            <a:r>
              <a:rPr lang="en-US" dirty="0" smtClean="0"/>
              <a:t>• Bone mineral metabolism</a:t>
            </a:r>
          </a:p>
          <a:p>
            <a:r>
              <a:rPr lang="en-US" dirty="0" smtClean="0"/>
              <a:t>• Potent anti oxidant</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TotalTime>
  <Words>2472</Words>
  <Application>Microsoft Office PowerPoint</Application>
  <PresentationFormat>On-screen Show (4:3)</PresentationFormat>
  <Paragraphs>207</Paragraphs>
  <Slides>38</Slides>
  <Notes>0</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TOPIC;BIO-MOLECULES</vt:lpstr>
      <vt:lpstr>SUB TOPIC 4: CARBOHYDRATES BIOMOLECULE</vt:lpstr>
      <vt:lpstr>Cn(H20)n</vt:lpstr>
      <vt:lpstr>Functions of Carbohydrates </vt:lpstr>
      <vt:lpstr>Classes of carbohydrates</vt:lpstr>
      <vt:lpstr>TYPES </vt:lpstr>
      <vt:lpstr>b. Disaccharides </vt:lpstr>
      <vt:lpstr>B. Complex Carbohydrates (Polysaccharides)</vt:lpstr>
      <vt:lpstr>B. Complex Carbohydrates (Polysaccharides)</vt:lpstr>
      <vt:lpstr>Heteropolysaccharides cont….</vt:lpstr>
      <vt:lpstr>Heteropolysaccharides cont….</vt:lpstr>
      <vt:lpstr>Heteropolysaccharides cont….</vt:lpstr>
      <vt:lpstr>Heteropolysaccharides cont….</vt:lpstr>
      <vt:lpstr>Heteropolysaccharides cont….</vt:lpstr>
      <vt:lpstr>Heteropolysaccharides cont….</vt:lpstr>
      <vt:lpstr>Heteropolysaccharides cont….</vt:lpstr>
      <vt:lpstr>SUB TOPIC 5: WATER  MOLECULE </vt:lpstr>
      <vt:lpstr>Introduction</vt:lpstr>
      <vt:lpstr>Water</vt:lpstr>
      <vt:lpstr>Water</vt:lpstr>
      <vt:lpstr>SUB TOPIC 5: VITAMIN MICROMOLECULE </vt:lpstr>
      <vt:lpstr>Introduction</vt:lpstr>
      <vt:lpstr>TYPES OF VITAMINS: </vt:lpstr>
      <vt:lpstr>Vitamin A</vt:lpstr>
      <vt:lpstr>Vitamin A</vt:lpstr>
      <vt:lpstr>Vitamin -D </vt:lpstr>
      <vt:lpstr>Vitamin -D </vt:lpstr>
      <vt:lpstr>Vitamin -D </vt:lpstr>
      <vt:lpstr>Vitamin -D </vt:lpstr>
      <vt:lpstr>VITAMIN K</vt:lpstr>
      <vt:lpstr>Functions</vt:lpstr>
      <vt:lpstr> (B) Water Soluble Vitamins</vt:lpstr>
      <vt:lpstr>(B) Water Soluble Vitamins</vt:lpstr>
      <vt:lpstr>VITAMIN- B2</vt:lpstr>
      <vt:lpstr>VITAMIN- B3</vt:lpstr>
      <vt:lpstr>VITAMIN- B 6 (Pyridoxine )</vt:lpstr>
      <vt:lpstr>VITAMIN-B5</vt:lpstr>
      <vt:lpstr>VITAMIN-C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TOPIC;BIO-MOLECULES</dc:title>
  <dc:creator>user</dc:creator>
  <cp:lastModifiedBy>user</cp:lastModifiedBy>
  <cp:revision>8</cp:revision>
  <dcterms:created xsi:type="dcterms:W3CDTF">2020-11-25T13:01:24Z</dcterms:created>
  <dcterms:modified xsi:type="dcterms:W3CDTF">2020-12-01T11:25:23Z</dcterms:modified>
</cp:coreProperties>
</file>